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0"/>
  </p:notesMasterIdLst>
  <p:sldIdLst>
    <p:sldId id="256" r:id="rId2"/>
    <p:sldId id="314" r:id="rId3"/>
    <p:sldId id="315" r:id="rId4"/>
    <p:sldId id="257" r:id="rId5"/>
    <p:sldId id="258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</p:sldIdLst>
  <p:sldSz cx="9144000" cy="6858000" type="screen4x3"/>
  <p:notesSz cx="9144000" cy="6858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3" d="100"/>
          <a:sy n="53" d="100"/>
        </p:scale>
        <p:origin x="1099" y="3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35BDEF3-0A39-40A9-AE75-BE56AA4A7A08}" type="doc">
      <dgm:prSet loTypeId="urn:microsoft.com/office/officeart/2005/8/layout/venn1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E5927AD-FA09-4BF2-821E-CB3911D55D90}">
      <dgm:prSet/>
      <dgm:spPr>
        <a:solidFill>
          <a:schemeClr val="accent4">
            <a:lumMod val="40000"/>
            <a:lumOff val="60000"/>
            <a:alpha val="50000"/>
          </a:schemeClr>
        </a:solidFill>
      </dgm:spPr>
      <dgm:t>
        <a:bodyPr/>
        <a:lstStyle/>
        <a:p>
          <a:r>
            <a:rPr lang="en-US" b="1" smtClean="0">
              <a:solidFill>
                <a:srgbClr val="002060"/>
              </a:solidFill>
            </a:rPr>
            <a:t>Small group</a:t>
          </a:r>
          <a:endParaRPr lang="en-US" b="1">
            <a:solidFill>
              <a:srgbClr val="002060"/>
            </a:solidFill>
          </a:endParaRPr>
        </a:p>
      </dgm:t>
    </dgm:pt>
    <dgm:pt modelId="{0D9FA654-1805-4FA0-81CA-016E56FFC5DD}" type="parTrans" cxnId="{1AE00ADF-7145-485C-9461-5BD71056DDCB}">
      <dgm:prSet/>
      <dgm:spPr/>
      <dgm:t>
        <a:bodyPr/>
        <a:lstStyle/>
        <a:p>
          <a:endParaRPr lang="en-US"/>
        </a:p>
      </dgm:t>
    </dgm:pt>
    <dgm:pt modelId="{1B6D5C71-0A7D-4318-A171-BA32774C94E7}" type="sibTrans" cxnId="{1AE00ADF-7145-485C-9461-5BD71056DDCB}">
      <dgm:prSet/>
      <dgm:spPr/>
      <dgm:t>
        <a:bodyPr/>
        <a:lstStyle/>
        <a:p>
          <a:endParaRPr lang="en-US"/>
        </a:p>
      </dgm:t>
    </dgm:pt>
    <dgm:pt modelId="{F7646EB7-BD3A-45CA-B391-A93111D87FBE}">
      <dgm:prSet/>
      <dgm:spPr>
        <a:solidFill>
          <a:schemeClr val="accent6">
            <a:lumMod val="40000"/>
            <a:lumOff val="60000"/>
            <a:alpha val="50000"/>
          </a:schemeClr>
        </a:solidFill>
      </dgm:spPr>
      <dgm:t>
        <a:bodyPr/>
        <a:lstStyle/>
        <a:p>
          <a:r>
            <a:rPr lang="en-US" b="1" smtClean="0">
              <a:solidFill>
                <a:srgbClr val="0000CC"/>
              </a:solidFill>
            </a:rPr>
            <a:t>Group Leader</a:t>
          </a:r>
          <a:endParaRPr lang="en-US" b="1">
            <a:solidFill>
              <a:srgbClr val="0000CC"/>
            </a:solidFill>
          </a:endParaRPr>
        </a:p>
      </dgm:t>
    </dgm:pt>
    <dgm:pt modelId="{386AD30A-80E9-4C29-B887-C6F00194D620}" type="parTrans" cxnId="{42DC6828-8673-4DF9-9996-39E5385985D0}">
      <dgm:prSet/>
      <dgm:spPr/>
      <dgm:t>
        <a:bodyPr/>
        <a:lstStyle/>
        <a:p>
          <a:endParaRPr lang="en-US"/>
        </a:p>
      </dgm:t>
    </dgm:pt>
    <dgm:pt modelId="{7506DCCA-0554-449E-A461-6CE00A10746D}" type="sibTrans" cxnId="{42DC6828-8673-4DF9-9996-39E5385985D0}">
      <dgm:prSet/>
      <dgm:spPr/>
      <dgm:t>
        <a:bodyPr/>
        <a:lstStyle/>
        <a:p>
          <a:endParaRPr lang="en-US"/>
        </a:p>
      </dgm:t>
    </dgm:pt>
    <dgm:pt modelId="{412B1C53-1C66-46A5-B3AC-17C3E505B83B}">
      <dgm:prSet/>
      <dgm:spPr>
        <a:solidFill>
          <a:schemeClr val="accent2">
            <a:lumMod val="40000"/>
            <a:lumOff val="60000"/>
            <a:alpha val="50000"/>
          </a:schemeClr>
        </a:solidFill>
      </dgm:spPr>
      <dgm:t>
        <a:bodyPr/>
        <a:lstStyle/>
        <a:p>
          <a:r>
            <a:rPr lang="en-US" b="1" smtClean="0">
              <a:solidFill>
                <a:srgbClr val="FF0000"/>
              </a:solidFill>
            </a:rPr>
            <a:t>Name, icon, </a:t>
          </a:r>
          <a:r>
            <a:rPr lang="en-US" b="1">
              <a:solidFill>
                <a:srgbClr val="FF0000"/>
              </a:solidFill>
            </a:rPr>
            <a:t>SLOGAN</a:t>
          </a:r>
        </a:p>
      </dgm:t>
    </dgm:pt>
    <dgm:pt modelId="{0601D4E7-8A9C-442B-942C-8F4123A4724B}" type="parTrans" cxnId="{05959243-A4D6-45B8-8DDD-4698C6D7BEEA}">
      <dgm:prSet/>
      <dgm:spPr/>
      <dgm:t>
        <a:bodyPr/>
        <a:lstStyle/>
        <a:p>
          <a:endParaRPr lang="en-US"/>
        </a:p>
      </dgm:t>
    </dgm:pt>
    <dgm:pt modelId="{9729E392-0948-4284-AC25-5B5097FDA66E}" type="sibTrans" cxnId="{05959243-A4D6-45B8-8DDD-4698C6D7BEEA}">
      <dgm:prSet/>
      <dgm:spPr/>
      <dgm:t>
        <a:bodyPr/>
        <a:lstStyle/>
        <a:p>
          <a:endParaRPr lang="en-US"/>
        </a:p>
      </dgm:t>
    </dgm:pt>
    <dgm:pt modelId="{D1727129-C97F-48BC-BA86-77200313E563}" type="pres">
      <dgm:prSet presAssocID="{135BDEF3-0A39-40A9-AE75-BE56AA4A7A08}" presName="compositeShape" presStyleCnt="0">
        <dgm:presLayoutVars>
          <dgm:chMax val="7"/>
          <dgm:dir/>
          <dgm:resizeHandles val="exact"/>
        </dgm:presLayoutVars>
      </dgm:prSet>
      <dgm:spPr/>
      <dgm:t>
        <a:bodyPr/>
        <a:lstStyle/>
        <a:p>
          <a:endParaRPr lang="vi-VN"/>
        </a:p>
      </dgm:t>
    </dgm:pt>
    <dgm:pt modelId="{E2530F85-7D82-41A9-85FD-F3169345B0F1}" type="pres">
      <dgm:prSet presAssocID="{1E5927AD-FA09-4BF2-821E-CB3911D55D90}" presName="circ1" presStyleLbl="vennNode1" presStyleIdx="0" presStyleCnt="3"/>
      <dgm:spPr/>
      <dgm:t>
        <a:bodyPr/>
        <a:lstStyle/>
        <a:p>
          <a:endParaRPr lang="vi-VN"/>
        </a:p>
      </dgm:t>
    </dgm:pt>
    <dgm:pt modelId="{7C953528-1B5D-4EEE-93CE-808CB9633407}" type="pres">
      <dgm:prSet presAssocID="{1E5927AD-FA09-4BF2-821E-CB3911D55D90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vi-VN"/>
        </a:p>
      </dgm:t>
    </dgm:pt>
    <dgm:pt modelId="{DF9B7BF5-974D-4F95-ABEB-B64DE824F107}" type="pres">
      <dgm:prSet presAssocID="{F7646EB7-BD3A-45CA-B391-A93111D87FBE}" presName="circ2" presStyleLbl="vennNode1" presStyleIdx="1" presStyleCnt="3"/>
      <dgm:spPr/>
      <dgm:t>
        <a:bodyPr/>
        <a:lstStyle/>
        <a:p>
          <a:endParaRPr lang="vi-VN"/>
        </a:p>
      </dgm:t>
    </dgm:pt>
    <dgm:pt modelId="{F1505063-5778-4AB6-A8C3-053AA8FA2BE4}" type="pres">
      <dgm:prSet presAssocID="{F7646EB7-BD3A-45CA-B391-A93111D87FBE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vi-VN"/>
        </a:p>
      </dgm:t>
    </dgm:pt>
    <dgm:pt modelId="{C7364929-45B8-4992-8463-3FC7A1E67C46}" type="pres">
      <dgm:prSet presAssocID="{412B1C53-1C66-46A5-B3AC-17C3E505B83B}" presName="circ3" presStyleLbl="vennNode1" presStyleIdx="2" presStyleCnt="3"/>
      <dgm:spPr/>
      <dgm:t>
        <a:bodyPr/>
        <a:lstStyle/>
        <a:p>
          <a:endParaRPr lang="vi-VN"/>
        </a:p>
      </dgm:t>
    </dgm:pt>
    <dgm:pt modelId="{E87C1A4D-029D-4511-A190-C317563CCC3B}" type="pres">
      <dgm:prSet presAssocID="{412B1C53-1C66-46A5-B3AC-17C3E505B83B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vi-VN"/>
        </a:p>
      </dgm:t>
    </dgm:pt>
  </dgm:ptLst>
  <dgm:cxnLst>
    <dgm:cxn modelId="{42DC6828-8673-4DF9-9996-39E5385985D0}" srcId="{135BDEF3-0A39-40A9-AE75-BE56AA4A7A08}" destId="{F7646EB7-BD3A-45CA-B391-A93111D87FBE}" srcOrd="1" destOrd="0" parTransId="{386AD30A-80E9-4C29-B887-C6F00194D620}" sibTransId="{7506DCCA-0554-449E-A461-6CE00A10746D}"/>
    <dgm:cxn modelId="{E921B8B2-9A2B-4730-AB13-F5DECD17B957}" type="presOf" srcId="{412B1C53-1C66-46A5-B3AC-17C3E505B83B}" destId="{C7364929-45B8-4992-8463-3FC7A1E67C46}" srcOrd="0" destOrd="0" presId="urn:microsoft.com/office/officeart/2005/8/layout/venn1"/>
    <dgm:cxn modelId="{2F8EED81-7363-4817-80FB-6E18C01E6F6F}" type="presOf" srcId="{135BDEF3-0A39-40A9-AE75-BE56AA4A7A08}" destId="{D1727129-C97F-48BC-BA86-77200313E563}" srcOrd="0" destOrd="0" presId="urn:microsoft.com/office/officeart/2005/8/layout/venn1"/>
    <dgm:cxn modelId="{0900C7EA-52F7-4335-B937-49EAC3AE6C66}" type="presOf" srcId="{412B1C53-1C66-46A5-B3AC-17C3E505B83B}" destId="{E87C1A4D-029D-4511-A190-C317563CCC3B}" srcOrd="1" destOrd="0" presId="urn:microsoft.com/office/officeart/2005/8/layout/venn1"/>
    <dgm:cxn modelId="{5E6E7FCE-27B8-483D-8B64-80A9BE5ABB9C}" type="presOf" srcId="{1E5927AD-FA09-4BF2-821E-CB3911D55D90}" destId="{E2530F85-7D82-41A9-85FD-F3169345B0F1}" srcOrd="0" destOrd="0" presId="urn:microsoft.com/office/officeart/2005/8/layout/venn1"/>
    <dgm:cxn modelId="{05959243-A4D6-45B8-8DDD-4698C6D7BEEA}" srcId="{135BDEF3-0A39-40A9-AE75-BE56AA4A7A08}" destId="{412B1C53-1C66-46A5-B3AC-17C3E505B83B}" srcOrd="2" destOrd="0" parTransId="{0601D4E7-8A9C-442B-942C-8F4123A4724B}" sibTransId="{9729E392-0948-4284-AC25-5B5097FDA66E}"/>
    <dgm:cxn modelId="{1AE00ADF-7145-485C-9461-5BD71056DDCB}" srcId="{135BDEF3-0A39-40A9-AE75-BE56AA4A7A08}" destId="{1E5927AD-FA09-4BF2-821E-CB3911D55D90}" srcOrd="0" destOrd="0" parTransId="{0D9FA654-1805-4FA0-81CA-016E56FFC5DD}" sibTransId="{1B6D5C71-0A7D-4318-A171-BA32774C94E7}"/>
    <dgm:cxn modelId="{0C6D13A2-8F2B-43DA-8429-306C2FED17EF}" type="presOf" srcId="{F7646EB7-BD3A-45CA-B391-A93111D87FBE}" destId="{DF9B7BF5-974D-4F95-ABEB-B64DE824F107}" srcOrd="0" destOrd="0" presId="urn:microsoft.com/office/officeart/2005/8/layout/venn1"/>
    <dgm:cxn modelId="{AD7EAC90-E950-4B54-9497-ED1148BF3F9A}" type="presOf" srcId="{F7646EB7-BD3A-45CA-B391-A93111D87FBE}" destId="{F1505063-5778-4AB6-A8C3-053AA8FA2BE4}" srcOrd="1" destOrd="0" presId="urn:microsoft.com/office/officeart/2005/8/layout/venn1"/>
    <dgm:cxn modelId="{4948AEA7-682D-4340-83B6-1B4AE23A124C}" type="presOf" srcId="{1E5927AD-FA09-4BF2-821E-CB3911D55D90}" destId="{7C953528-1B5D-4EEE-93CE-808CB9633407}" srcOrd="1" destOrd="0" presId="urn:microsoft.com/office/officeart/2005/8/layout/venn1"/>
    <dgm:cxn modelId="{2193987E-4131-4AEF-81B5-1A77ABE83264}" type="presParOf" srcId="{D1727129-C97F-48BC-BA86-77200313E563}" destId="{E2530F85-7D82-41A9-85FD-F3169345B0F1}" srcOrd="0" destOrd="0" presId="urn:microsoft.com/office/officeart/2005/8/layout/venn1"/>
    <dgm:cxn modelId="{BACE7ED9-4C1E-4CEE-9B15-585D0FF8503A}" type="presParOf" srcId="{D1727129-C97F-48BC-BA86-77200313E563}" destId="{7C953528-1B5D-4EEE-93CE-808CB9633407}" srcOrd="1" destOrd="0" presId="urn:microsoft.com/office/officeart/2005/8/layout/venn1"/>
    <dgm:cxn modelId="{59F451F1-8015-4610-8884-8FEB101A37B2}" type="presParOf" srcId="{D1727129-C97F-48BC-BA86-77200313E563}" destId="{DF9B7BF5-974D-4F95-ABEB-B64DE824F107}" srcOrd="2" destOrd="0" presId="urn:microsoft.com/office/officeart/2005/8/layout/venn1"/>
    <dgm:cxn modelId="{CD1BE221-547D-45AC-8F2A-2650CC594209}" type="presParOf" srcId="{D1727129-C97F-48BC-BA86-77200313E563}" destId="{F1505063-5778-4AB6-A8C3-053AA8FA2BE4}" srcOrd="3" destOrd="0" presId="urn:microsoft.com/office/officeart/2005/8/layout/venn1"/>
    <dgm:cxn modelId="{4F56B9A4-36A6-47F5-BA26-01D040E8F3D0}" type="presParOf" srcId="{D1727129-C97F-48BC-BA86-77200313E563}" destId="{C7364929-45B8-4992-8463-3FC7A1E67C46}" srcOrd="4" destOrd="0" presId="urn:microsoft.com/office/officeart/2005/8/layout/venn1"/>
    <dgm:cxn modelId="{7820F124-CFC5-4EB9-A619-A00A1933AC82}" type="presParOf" srcId="{D1727129-C97F-48BC-BA86-77200313E563}" destId="{E87C1A4D-029D-4511-A190-C317563CCC3B}" srcOrd="5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530F85-7D82-41A9-85FD-F3169345B0F1}">
      <dsp:nvSpPr>
        <dsp:cNvPr id="0" name=""/>
        <dsp:cNvSpPr/>
      </dsp:nvSpPr>
      <dsp:spPr>
        <a:xfrm>
          <a:off x="1281024" y="40928"/>
          <a:ext cx="1964582" cy="1964582"/>
        </a:xfrm>
        <a:prstGeom prst="ellipse">
          <a:avLst/>
        </a:prstGeom>
        <a:solidFill>
          <a:schemeClr val="accent4">
            <a:lumMod val="40000"/>
            <a:lumOff val="60000"/>
            <a:alpha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b="1" kern="1200" smtClean="0">
              <a:solidFill>
                <a:srgbClr val="002060"/>
              </a:solidFill>
            </a:rPr>
            <a:t>Small group</a:t>
          </a:r>
          <a:endParaRPr lang="en-US" sz="2500" b="1" kern="1200">
            <a:solidFill>
              <a:srgbClr val="002060"/>
            </a:solidFill>
          </a:endParaRPr>
        </a:p>
      </dsp:txBody>
      <dsp:txXfrm>
        <a:off x="1542968" y="384730"/>
        <a:ext cx="1440693" cy="884062"/>
      </dsp:txXfrm>
    </dsp:sp>
    <dsp:sp modelId="{DF9B7BF5-974D-4F95-ABEB-B64DE824F107}">
      <dsp:nvSpPr>
        <dsp:cNvPr id="0" name=""/>
        <dsp:cNvSpPr/>
      </dsp:nvSpPr>
      <dsp:spPr>
        <a:xfrm>
          <a:off x="1989911" y="1268792"/>
          <a:ext cx="1964582" cy="1964582"/>
        </a:xfrm>
        <a:prstGeom prst="ellipse">
          <a:avLst/>
        </a:prstGeom>
        <a:solidFill>
          <a:schemeClr val="accent6">
            <a:lumMod val="40000"/>
            <a:lumOff val="60000"/>
            <a:alpha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b="1" kern="1200" smtClean="0">
              <a:solidFill>
                <a:srgbClr val="0000CC"/>
              </a:solidFill>
            </a:rPr>
            <a:t>Group Leader</a:t>
          </a:r>
          <a:endParaRPr lang="en-US" sz="2500" b="1" kern="1200">
            <a:solidFill>
              <a:srgbClr val="0000CC"/>
            </a:solidFill>
          </a:endParaRPr>
        </a:p>
      </dsp:txBody>
      <dsp:txXfrm>
        <a:off x="2590745" y="1776309"/>
        <a:ext cx="1178749" cy="1080520"/>
      </dsp:txXfrm>
    </dsp:sp>
    <dsp:sp modelId="{C7364929-45B8-4992-8463-3FC7A1E67C46}">
      <dsp:nvSpPr>
        <dsp:cNvPr id="0" name=""/>
        <dsp:cNvSpPr/>
      </dsp:nvSpPr>
      <dsp:spPr>
        <a:xfrm>
          <a:off x="572137" y="1268792"/>
          <a:ext cx="1964582" cy="1964582"/>
        </a:xfrm>
        <a:prstGeom prst="ellipse">
          <a:avLst/>
        </a:prstGeom>
        <a:solidFill>
          <a:schemeClr val="accent2">
            <a:lumMod val="40000"/>
            <a:lumOff val="60000"/>
            <a:alpha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b="1" kern="1200" smtClean="0">
              <a:solidFill>
                <a:srgbClr val="FF0000"/>
              </a:solidFill>
            </a:rPr>
            <a:t>Name, icon, </a:t>
          </a:r>
          <a:r>
            <a:rPr lang="en-US" sz="2500" b="1" kern="1200">
              <a:solidFill>
                <a:srgbClr val="FF0000"/>
              </a:solidFill>
            </a:rPr>
            <a:t>SLOGAN</a:t>
          </a:r>
        </a:p>
      </dsp:txBody>
      <dsp:txXfrm>
        <a:off x="757135" y="1776309"/>
        <a:ext cx="1178749" cy="10805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BB663C-646C-44AD-8F91-AF75CDFCB012}" type="datetimeFigureOut">
              <a:rPr lang="vi-VN" smtClean="0"/>
              <a:t>06/02/2023</a:t>
            </a:fld>
            <a:endParaRPr lang="vi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vi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3FE5C3-7E7A-4193-904F-B21BCF460ED5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153086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93327B-6CF9-A347-987C-23AC4570C6D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0388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3 group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14400" fontAlgn="auto">
              <a:spcBef>
                <a:spcPts val="0"/>
              </a:spcBef>
              <a:spcAft>
                <a:spcPts val="0"/>
              </a:spcAft>
              <a:defRPr/>
            </a:pPr>
            <a:fld id="{21B2AA4F-B828-4D7C-AFD3-893933DAFCB4}" type="slidenum">
              <a:rPr lang="en-US" sz="1200" smtClean="0">
                <a:solidFill>
                  <a:prstClr val="black"/>
                </a:solidFill>
                <a:latin typeface="Calibri" panose="020F0502020204030204"/>
              </a:rPr>
              <a:pPr defTabSz="914400" fontAlgn="auto">
                <a:spcBef>
                  <a:spcPts val="0"/>
                </a:spcBef>
                <a:spcAft>
                  <a:spcPts val="0"/>
                </a:spcAft>
                <a:defRPr/>
              </a:pPr>
              <a:t>3</a:t>
            </a:fld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9267474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10362" y="1219961"/>
            <a:ext cx="7924800" cy="914400"/>
          </a:xfrm>
          <a:custGeom>
            <a:avLst/>
            <a:gdLst/>
            <a:ahLst/>
            <a:cxnLst/>
            <a:rect l="l" t="t" r="r" b="b"/>
            <a:pathLst>
              <a:path w="7924800" h="914400">
                <a:moveTo>
                  <a:pt x="0" y="914400"/>
                </a:moveTo>
                <a:lnTo>
                  <a:pt x="0" y="0"/>
                </a:lnTo>
                <a:lnTo>
                  <a:pt x="7924800" y="0"/>
                </a:lnTo>
              </a:path>
            </a:pathLst>
          </a:custGeom>
          <a:ln w="25908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981961" y="3963161"/>
            <a:ext cx="6512559" cy="0"/>
          </a:xfrm>
          <a:custGeom>
            <a:avLst/>
            <a:gdLst/>
            <a:ahLst/>
            <a:cxnLst/>
            <a:rect l="l" t="t" r="r" b="b"/>
            <a:pathLst>
              <a:path w="6512559">
                <a:moveTo>
                  <a:pt x="0" y="0"/>
                </a:moveTo>
                <a:lnTo>
                  <a:pt x="6512052" y="0"/>
                </a:lnTo>
              </a:path>
            </a:pathLst>
          </a:custGeom>
          <a:ln w="19812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05840" y="1511934"/>
            <a:ext cx="7332319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003399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60194" y="3981450"/>
            <a:ext cx="5023611" cy="696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2/6/2023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003399"/>
                </a:solidFill>
                <a:latin typeface="Arial Black"/>
                <a:cs typeface="Arial Black"/>
              </a:defRPr>
            </a:lvl1pPr>
          </a:lstStyle>
          <a:p>
            <a:pPr marL="12700">
              <a:lnSpc>
                <a:spcPts val="1889"/>
              </a:lnSpc>
              <a:tabLst>
                <a:tab pos="1996439" algn="l"/>
                <a:tab pos="8046720" algn="l"/>
              </a:tabLst>
            </a:pPr>
            <a:r>
              <a:rPr dirty="0"/>
              <a:t>[501043 Lecture 1: Intro</a:t>
            </a:r>
            <a:r>
              <a:rPr spc="-6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Java]	</a:t>
            </a:r>
            <a:r>
              <a:rPr u="heavy" dirty="0">
                <a:uFill>
                  <a:solidFill>
                    <a:srgbClr val="009999"/>
                  </a:solidFill>
                </a:uFill>
              </a:rPr>
              <a:t> 	</a:t>
            </a:r>
            <a:fld id="{81D60167-4931-47E6-BA6A-407CBD079E47}" type="slidenum">
              <a:rPr sz="1600" b="1" i="1" spc="-5" dirty="0">
                <a:solidFill>
                  <a:srgbClr val="C00000"/>
                </a:solidFill>
                <a:latin typeface="Arial"/>
                <a:cs typeface="Arial"/>
              </a:rPr>
              <a:t>‹#›</a:t>
            </a:fld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003399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2/6/2023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003399"/>
                </a:solidFill>
                <a:latin typeface="Arial Black"/>
                <a:cs typeface="Arial Black"/>
              </a:defRPr>
            </a:lvl1pPr>
          </a:lstStyle>
          <a:p>
            <a:pPr marL="12700">
              <a:lnSpc>
                <a:spcPts val="1889"/>
              </a:lnSpc>
              <a:tabLst>
                <a:tab pos="1996439" algn="l"/>
                <a:tab pos="8046720" algn="l"/>
              </a:tabLst>
            </a:pPr>
            <a:r>
              <a:rPr dirty="0"/>
              <a:t>[501043 Lecture 1: Intro</a:t>
            </a:r>
            <a:r>
              <a:rPr spc="-6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Java]	</a:t>
            </a:r>
            <a:r>
              <a:rPr u="heavy" dirty="0">
                <a:uFill>
                  <a:solidFill>
                    <a:srgbClr val="009999"/>
                  </a:solidFill>
                </a:uFill>
              </a:rPr>
              <a:t> 	</a:t>
            </a:r>
            <a:fld id="{81D60167-4931-47E6-BA6A-407CBD079E47}" type="slidenum">
              <a:rPr sz="1600" b="1" i="1" spc="-5" dirty="0">
                <a:solidFill>
                  <a:srgbClr val="C00000"/>
                </a:solidFill>
                <a:latin typeface="Arial"/>
                <a:cs typeface="Arial"/>
              </a:rPr>
              <a:t>‹#›</a:t>
            </a:fld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003399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2/6/2023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003399"/>
                </a:solidFill>
                <a:latin typeface="Arial Black"/>
                <a:cs typeface="Arial Black"/>
              </a:defRPr>
            </a:lvl1pPr>
          </a:lstStyle>
          <a:p>
            <a:pPr marL="12700">
              <a:lnSpc>
                <a:spcPts val="1889"/>
              </a:lnSpc>
              <a:tabLst>
                <a:tab pos="1996439" algn="l"/>
                <a:tab pos="8046720" algn="l"/>
              </a:tabLst>
            </a:pPr>
            <a:r>
              <a:rPr dirty="0"/>
              <a:t>[501043 Lecture 1: Intro</a:t>
            </a:r>
            <a:r>
              <a:rPr spc="-6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Java]	</a:t>
            </a:r>
            <a:r>
              <a:rPr u="heavy" dirty="0">
                <a:uFill>
                  <a:solidFill>
                    <a:srgbClr val="009999"/>
                  </a:solidFill>
                </a:uFill>
              </a:rPr>
              <a:t> 	</a:t>
            </a:r>
            <a:fld id="{81D60167-4931-47E6-BA6A-407CBD079E47}" type="slidenum">
              <a:rPr sz="1600" b="1" i="1" spc="-5" dirty="0">
                <a:solidFill>
                  <a:srgbClr val="C00000"/>
                </a:solidFill>
                <a:latin typeface="Arial"/>
                <a:cs typeface="Arial"/>
              </a:rPr>
              <a:t>‹#›</a:t>
            </a:fld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81761" y="153162"/>
            <a:ext cx="8229600" cy="609600"/>
          </a:xfrm>
          <a:custGeom>
            <a:avLst/>
            <a:gdLst/>
            <a:ahLst/>
            <a:cxnLst/>
            <a:rect l="l" t="t" r="r" b="b"/>
            <a:pathLst>
              <a:path w="8229600" h="609600">
                <a:moveTo>
                  <a:pt x="0" y="609600"/>
                </a:moveTo>
                <a:lnTo>
                  <a:pt x="0" y="0"/>
                </a:lnTo>
                <a:lnTo>
                  <a:pt x="8229600" y="0"/>
                </a:lnTo>
              </a:path>
            </a:pathLst>
          </a:custGeom>
          <a:ln w="19812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003399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2/6/2023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003399"/>
                </a:solidFill>
                <a:latin typeface="Arial Black"/>
                <a:cs typeface="Arial Black"/>
              </a:defRPr>
            </a:lvl1pPr>
          </a:lstStyle>
          <a:p>
            <a:pPr marL="12700">
              <a:lnSpc>
                <a:spcPts val="1889"/>
              </a:lnSpc>
              <a:tabLst>
                <a:tab pos="1996439" algn="l"/>
                <a:tab pos="8046720" algn="l"/>
              </a:tabLst>
            </a:pPr>
            <a:r>
              <a:rPr dirty="0"/>
              <a:t>[501043 Lecture 1: Intro</a:t>
            </a:r>
            <a:r>
              <a:rPr spc="-6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Java]	</a:t>
            </a:r>
            <a:r>
              <a:rPr u="heavy" dirty="0">
                <a:uFill>
                  <a:solidFill>
                    <a:srgbClr val="009999"/>
                  </a:solidFill>
                </a:uFill>
              </a:rPr>
              <a:t> 	</a:t>
            </a:r>
            <a:fld id="{81D60167-4931-47E6-BA6A-407CBD079E47}" type="slidenum">
              <a:rPr sz="1600" b="1" i="1" spc="-5" dirty="0">
                <a:solidFill>
                  <a:srgbClr val="C00000"/>
                </a:solidFill>
                <a:latin typeface="Arial"/>
                <a:cs typeface="Arial"/>
              </a:rPr>
              <a:t>‹#›</a:t>
            </a:fld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81761" y="153162"/>
            <a:ext cx="8229600" cy="609600"/>
          </a:xfrm>
          <a:custGeom>
            <a:avLst/>
            <a:gdLst/>
            <a:ahLst/>
            <a:cxnLst/>
            <a:rect l="l" t="t" r="r" b="b"/>
            <a:pathLst>
              <a:path w="8229600" h="609600">
                <a:moveTo>
                  <a:pt x="0" y="609600"/>
                </a:moveTo>
                <a:lnTo>
                  <a:pt x="0" y="0"/>
                </a:lnTo>
                <a:lnTo>
                  <a:pt x="8229600" y="0"/>
                </a:lnTo>
              </a:path>
            </a:pathLst>
          </a:custGeom>
          <a:ln w="19812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457962" y="6630161"/>
            <a:ext cx="75565" cy="0"/>
          </a:xfrm>
          <a:custGeom>
            <a:avLst/>
            <a:gdLst/>
            <a:ahLst/>
            <a:cxnLst/>
            <a:rect l="l" t="t" r="r" b="b"/>
            <a:pathLst>
              <a:path w="75565">
                <a:moveTo>
                  <a:pt x="0" y="0"/>
                </a:moveTo>
                <a:lnTo>
                  <a:pt x="75437" y="0"/>
                </a:lnTo>
              </a:path>
            </a:pathLst>
          </a:custGeom>
          <a:ln w="19812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8173211" y="155447"/>
            <a:ext cx="944879" cy="9875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720595" y="979932"/>
            <a:ext cx="5701283" cy="36073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2/6/2023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003399"/>
                </a:solidFill>
                <a:latin typeface="Arial Black"/>
                <a:cs typeface="Arial Black"/>
              </a:defRPr>
            </a:lvl1pPr>
          </a:lstStyle>
          <a:p>
            <a:pPr marL="12700">
              <a:lnSpc>
                <a:spcPts val="1889"/>
              </a:lnSpc>
              <a:tabLst>
                <a:tab pos="1996439" algn="l"/>
                <a:tab pos="8046720" algn="l"/>
              </a:tabLst>
            </a:pPr>
            <a:r>
              <a:rPr dirty="0"/>
              <a:t>[501043 Lecture 1: Intro</a:t>
            </a:r>
            <a:r>
              <a:rPr spc="-6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Java]	</a:t>
            </a:r>
            <a:r>
              <a:rPr u="heavy" dirty="0">
                <a:uFill>
                  <a:solidFill>
                    <a:srgbClr val="009999"/>
                  </a:solidFill>
                </a:uFill>
              </a:rPr>
              <a:t> 	</a:t>
            </a:r>
            <a:fld id="{81D60167-4931-47E6-BA6A-407CBD079E47}" type="slidenum">
              <a:rPr sz="1600" b="1" i="1" spc="-5" dirty="0">
                <a:solidFill>
                  <a:srgbClr val="C00000"/>
                </a:solidFill>
                <a:latin typeface="Arial"/>
                <a:cs typeface="Arial"/>
              </a:rPr>
              <a:t>‹#›</a:t>
            </a:fld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81761" y="153162"/>
            <a:ext cx="8229600" cy="609600"/>
          </a:xfrm>
          <a:custGeom>
            <a:avLst/>
            <a:gdLst/>
            <a:ahLst/>
            <a:cxnLst/>
            <a:rect l="l" t="t" r="r" b="b"/>
            <a:pathLst>
              <a:path w="8229600" h="609600">
                <a:moveTo>
                  <a:pt x="0" y="609600"/>
                </a:moveTo>
                <a:lnTo>
                  <a:pt x="0" y="0"/>
                </a:lnTo>
                <a:lnTo>
                  <a:pt x="8229600" y="0"/>
                </a:lnTo>
              </a:path>
            </a:pathLst>
          </a:custGeom>
          <a:ln w="19812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457962" y="6630161"/>
            <a:ext cx="75565" cy="0"/>
          </a:xfrm>
          <a:custGeom>
            <a:avLst/>
            <a:gdLst/>
            <a:ahLst/>
            <a:cxnLst/>
            <a:rect l="l" t="t" r="r" b="b"/>
            <a:pathLst>
              <a:path w="75565">
                <a:moveTo>
                  <a:pt x="0" y="0"/>
                </a:moveTo>
                <a:lnTo>
                  <a:pt x="75437" y="0"/>
                </a:lnTo>
              </a:path>
            </a:pathLst>
          </a:custGeom>
          <a:ln w="19812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5940" y="248158"/>
            <a:ext cx="5274945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003399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69" y="1089101"/>
            <a:ext cx="8074660" cy="20078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2/6/2023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70051" y="6449696"/>
            <a:ext cx="8345170" cy="2527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rgbClr val="003399"/>
                </a:solidFill>
                <a:latin typeface="Arial Black"/>
                <a:cs typeface="Arial Black"/>
              </a:defRPr>
            </a:lvl1pPr>
          </a:lstStyle>
          <a:p>
            <a:pPr marL="12700">
              <a:lnSpc>
                <a:spcPts val="1889"/>
              </a:lnSpc>
              <a:tabLst>
                <a:tab pos="1996439" algn="l"/>
                <a:tab pos="8046720" algn="l"/>
              </a:tabLst>
            </a:pPr>
            <a:r>
              <a:rPr dirty="0"/>
              <a:t>[501043 Lecture 1: Intro</a:t>
            </a:r>
            <a:r>
              <a:rPr spc="-6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Java]	</a:t>
            </a:r>
            <a:r>
              <a:rPr u="heavy" dirty="0">
                <a:uFill>
                  <a:solidFill>
                    <a:srgbClr val="009999"/>
                  </a:solidFill>
                </a:uFill>
              </a:rPr>
              <a:t> 	</a:t>
            </a:r>
            <a:fld id="{81D60167-4931-47E6-BA6A-407CBD079E47}" type="slidenum">
              <a:rPr sz="1600" b="1" i="1" spc="-5" dirty="0">
                <a:solidFill>
                  <a:srgbClr val="C00000"/>
                </a:solidFill>
                <a:latin typeface="Arial"/>
                <a:cs typeface="Arial"/>
              </a:rPr>
              <a:t>‹#›</a:t>
            </a:fld>
            <a:endParaRPr sz="1600">
              <a:latin typeface="Arial"/>
              <a:cs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hyperlink" Target="http://sakai.it.tdt.edu.vn/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hyperlink" Target="http://sakai.it.tdt.edu.vn/" TargetMode="External"/><Relationship Id="rId2" Type="http://schemas.openxmlformats.org/officeDocument/2006/relationships/hyperlink" Target="http://docs.oracle.com/javase/7/docs/api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jp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10362" y="1219961"/>
              <a:ext cx="7924800" cy="914400"/>
            </a:xfrm>
            <a:custGeom>
              <a:avLst/>
              <a:gdLst/>
              <a:ahLst/>
              <a:cxnLst/>
              <a:rect l="l" t="t" r="r" b="b"/>
              <a:pathLst>
                <a:path w="7924800" h="914400">
                  <a:moveTo>
                    <a:pt x="0" y="914400"/>
                  </a:moveTo>
                  <a:lnTo>
                    <a:pt x="0" y="0"/>
                  </a:lnTo>
                  <a:lnTo>
                    <a:pt x="7924800" y="0"/>
                  </a:lnTo>
                </a:path>
              </a:pathLst>
            </a:custGeom>
            <a:ln w="25908">
              <a:solidFill>
                <a:srgbClr val="00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981961" y="3963161"/>
              <a:ext cx="6512559" cy="0"/>
            </a:xfrm>
            <a:custGeom>
              <a:avLst/>
              <a:gdLst/>
              <a:ahLst/>
              <a:cxnLst/>
              <a:rect l="l" t="t" r="r" b="b"/>
              <a:pathLst>
                <a:path w="6512559">
                  <a:moveTo>
                    <a:pt x="0" y="0"/>
                  </a:moveTo>
                  <a:lnTo>
                    <a:pt x="6512052" y="0"/>
                  </a:lnTo>
                </a:path>
              </a:pathLst>
            </a:custGeom>
            <a:ln w="19812">
              <a:solidFill>
                <a:srgbClr val="00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066800" y="3981450"/>
            <a:ext cx="7772400" cy="13798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vi-VN" sz="4400" spc="-5">
                <a:solidFill>
                  <a:srgbClr val="FF0000"/>
                </a:solidFill>
                <a:latin typeface="Arial"/>
                <a:cs typeface="Arial"/>
              </a:rPr>
              <a:t>Object Oriented</a:t>
            </a:r>
            <a:r>
              <a:rPr lang="vi-VN" sz="4400" spc="-3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vi-VN" sz="4400">
                <a:solidFill>
                  <a:srgbClr val="FF0000"/>
                </a:solidFill>
                <a:latin typeface="Arial"/>
                <a:cs typeface="Arial"/>
              </a:rPr>
              <a:t>Programming 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mtClean="0">
                <a:solidFill>
                  <a:srgbClr val="FF0000"/>
                </a:solidFill>
                <a:latin typeface="Arial"/>
                <a:cs typeface="Arial"/>
              </a:rPr>
              <a:t>Introduction </a:t>
            </a:r>
            <a:r>
              <a:rPr sz="4400" dirty="0">
                <a:solidFill>
                  <a:srgbClr val="FF0000"/>
                </a:solidFill>
                <a:latin typeface="Arial"/>
                <a:cs typeface="Arial"/>
              </a:rPr>
              <a:t>to</a:t>
            </a:r>
            <a:r>
              <a:rPr sz="4400" spc="-6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4400" dirty="0">
                <a:solidFill>
                  <a:srgbClr val="FF0000"/>
                </a:solidFill>
                <a:latin typeface="Arial"/>
                <a:cs typeface="Arial"/>
              </a:rPr>
              <a:t>Java</a:t>
            </a:r>
            <a:endParaRPr sz="4400">
              <a:latin typeface="Arial"/>
              <a:cs typeface="Arial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vi-V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About me - Dr. Hai </a:t>
            </a:r>
            <a:r>
              <a:rPr lang="en-US" smtClean="0"/>
              <a:t>Tran</a:t>
            </a:r>
            <a:endParaRPr lang="vi-VN"/>
          </a:p>
        </p:txBody>
      </p:sp>
      <p:pic>
        <p:nvPicPr>
          <p:cNvPr id="130050" name="Picture 2" descr="No photo description available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0505" y="1828801"/>
            <a:ext cx="1796549" cy="1796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0052" name="Picture 4" descr="No photo description available.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9241" y="1824922"/>
            <a:ext cx="1800428" cy="1800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0054" name="Picture 6" descr="No photo description available.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9873" y="1824922"/>
            <a:ext cx="1796549" cy="1796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97452" y="3609225"/>
            <a:ext cx="5060966" cy="2375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444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0C8B4A1A-036E-4B01-8127-273FE41AAF4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7250" y="2007915"/>
            <a:ext cx="433388" cy="148978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 defTabSz="557213">
              <a:defRPr/>
            </a:pPr>
            <a:fld id="{1AD93096-5B34-4342-9326-69289CEAE4C2}" type="slidenum">
              <a:rPr lang="en-US" sz="640" b="1">
                <a:solidFill>
                  <a:srgbClr val="FFFFFF"/>
                </a:solidFill>
                <a:latin typeface="Tw Cen MT"/>
              </a:rPr>
              <a:pPr algn="ctr" defTabSz="557213">
                <a:defRPr/>
              </a:pPr>
              <a:t>3</a:t>
            </a:fld>
            <a:endParaRPr lang="en-US" sz="640" b="1">
              <a:solidFill>
                <a:srgbClr val="FFFFFF"/>
              </a:solidFill>
              <a:latin typeface="Tw Cen MT"/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="" xmlns:a16="http://schemas.microsoft.com/office/drawing/2014/main" id="{9A57150B-CC6F-4A41-9FC5-5118B72BD584}"/>
              </a:ext>
            </a:extLst>
          </p:cNvPr>
          <p:cNvGraphicFramePr>
            <a:graphicFrameLocks noGrp="1"/>
          </p:cNvGraphicFramePr>
          <p:nvPr>
            <p:ph sz="quarter" idx="1"/>
            <p:extLst/>
          </p:nvPr>
        </p:nvGraphicFramePr>
        <p:xfrm>
          <a:off x="966847" y="2112604"/>
          <a:ext cx="4526631" cy="32743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Title 3">
            <a:extLst>
              <a:ext uri="{FF2B5EF4-FFF2-40B4-BE49-F238E27FC236}">
                <a16:creationId xmlns="" xmlns:a16="http://schemas.microsoft.com/office/drawing/2014/main" id="{A1855615-A007-4E13-BC2E-1E6952F37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2474" y="1028700"/>
            <a:ext cx="5819777" cy="629091"/>
          </a:xfrm>
        </p:spPr>
        <p:txBody>
          <a:bodyPr>
            <a:normAutofit/>
          </a:bodyPr>
          <a:lstStyle/>
          <a:p>
            <a:r>
              <a:rPr lang="en-US"/>
              <a:t>Initial– Find a group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0DCB0C6B-C4E0-490C-A06C-F722F4701B7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23040" y="2464097"/>
            <a:ext cx="3254114" cy="2440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857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81761" y="153162"/>
            <a:ext cx="8229600" cy="609600"/>
          </a:xfrm>
          <a:custGeom>
            <a:avLst/>
            <a:gdLst/>
            <a:ahLst/>
            <a:cxnLst/>
            <a:rect l="l" t="t" r="r" b="b"/>
            <a:pathLst>
              <a:path w="8229600" h="609600">
                <a:moveTo>
                  <a:pt x="0" y="609600"/>
                </a:moveTo>
                <a:lnTo>
                  <a:pt x="0" y="0"/>
                </a:lnTo>
                <a:lnTo>
                  <a:pt x="8229600" y="0"/>
                </a:lnTo>
              </a:path>
            </a:pathLst>
          </a:custGeom>
          <a:ln w="19812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7962" y="6630161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600" y="0"/>
                </a:lnTo>
              </a:path>
            </a:pathLst>
          </a:custGeom>
          <a:ln w="19812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35940" y="219202"/>
            <a:ext cx="389191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90" dirty="0">
                <a:latin typeface="Times New Roman"/>
                <a:cs typeface="Times New Roman"/>
              </a:rPr>
              <a:t>Acknowledgement</a:t>
            </a:r>
            <a:endParaRPr sz="4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796528" y="6451556"/>
            <a:ext cx="218440" cy="310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15"/>
              </a:lnSpc>
            </a:pPr>
            <a:fld id="{81D60167-4931-47E6-BA6A-407CBD079E47}" type="slidenum">
              <a:rPr sz="2000" b="1" i="1" dirty="0">
                <a:solidFill>
                  <a:srgbClr val="C00000"/>
                </a:solidFill>
                <a:latin typeface="Arial"/>
                <a:cs typeface="Arial"/>
              </a:rPr>
              <a:t>4</a:t>
            </a:fld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1089101"/>
            <a:ext cx="8072755" cy="2861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100"/>
              </a:spcBef>
              <a:buClr>
                <a:srgbClr val="009999"/>
              </a:buClr>
              <a:buSzPct val="65000"/>
              <a:buFont typeface="Wingdings"/>
              <a:buChar char=""/>
              <a:tabLst>
                <a:tab pos="355600" algn="l"/>
              </a:tabLst>
            </a:pPr>
            <a:r>
              <a:rPr sz="3000" dirty="0">
                <a:latin typeface="Arial"/>
                <a:cs typeface="Arial"/>
              </a:rPr>
              <a:t>The </a:t>
            </a:r>
            <a:r>
              <a:rPr sz="3000" spc="-5" dirty="0">
                <a:latin typeface="Arial"/>
                <a:cs typeface="Arial"/>
              </a:rPr>
              <a:t>contents of </a:t>
            </a:r>
            <a:r>
              <a:rPr sz="3000" dirty="0">
                <a:latin typeface="Arial"/>
                <a:cs typeface="Arial"/>
              </a:rPr>
              <a:t>these slides </a:t>
            </a:r>
            <a:r>
              <a:rPr sz="3000" spc="-5" dirty="0">
                <a:latin typeface="Arial"/>
                <a:cs typeface="Arial"/>
              </a:rPr>
              <a:t>have </a:t>
            </a:r>
            <a:r>
              <a:rPr sz="3000" dirty="0">
                <a:latin typeface="Arial"/>
                <a:cs typeface="Arial"/>
              </a:rPr>
              <a:t>origin from  </a:t>
            </a:r>
            <a:r>
              <a:rPr sz="3000" spc="-5" dirty="0">
                <a:latin typeface="Arial"/>
                <a:cs typeface="Arial"/>
              </a:rPr>
              <a:t>School </a:t>
            </a:r>
            <a:r>
              <a:rPr sz="3000" dirty="0">
                <a:latin typeface="Arial"/>
                <a:cs typeface="Arial"/>
              </a:rPr>
              <a:t>of Computing, </a:t>
            </a:r>
            <a:r>
              <a:rPr sz="3000" spc="-5" dirty="0">
                <a:latin typeface="Arial"/>
                <a:cs typeface="Arial"/>
              </a:rPr>
              <a:t>National University of  Singapore.</a:t>
            </a:r>
            <a:endParaRPr sz="3000">
              <a:latin typeface="Arial"/>
              <a:cs typeface="Arial"/>
            </a:endParaRPr>
          </a:p>
          <a:p>
            <a:pPr marL="355600" marR="5715" indent="-342900" algn="just">
              <a:lnSpc>
                <a:spcPct val="100000"/>
              </a:lnSpc>
              <a:spcBef>
                <a:spcPts val="725"/>
              </a:spcBef>
              <a:buClr>
                <a:srgbClr val="009999"/>
              </a:buClr>
              <a:buSzPct val="65000"/>
              <a:buFont typeface="Wingdings"/>
              <a:buChar char=""/>
              <a:tabLst>
                <a:tab pos="355600" algn="l"/>
              </a:tabLst>
            </a:pPr>
            <a:r>
              <a:rPr sz="3000" dirty="0">
                <a:latin typeface="Arial"/>
                <a:cs typeface="Arial"/>
              </a:rPr>
              <a:t>We </a:t>
            </a:r>
            <a:r>
              <a:rPr sz="3000" spc="-5" dirty="0">
                <a:latin typeface="Arial"/>
                <a:cs typeface="Arial"/>
              </a:rPr>
              <a:t>greatly appreciate support from Mr.  </a:t>
            </a:r>
            <a:r>
              <a:rPr sz="3000" dirty="0">
                <a:latin typeface="Arial"/>
                <a:cs typeface="Arial"/>
              </a:rPr>
              <a:t>Aaron </a:t>
            </a:r>
            <a:r>
              <a:rPr sz="3000" spc="-5" dirty="0">
                <a:latin typeface="Arial"/>
                <a:cs typeface="Arial"/>
              </a:rPr>
              <a:t>Tan </a:t>
            </a:r>
            <a:r>
              <a:rPr sz="3000" dirty="0">
                <a:latin typeface="Arial"/>
                <a:cs typeface="Arial"/>
              </a:rPr>
              <a:t>Tuck </a:t>
            </a:r>
            <a:r>
              <a:rPr sz="3000" spc="-5" dirty="0">
                <a:latin typeface="Arial"/>
                <a:cs typeface="Arial"/>
              </a:rPr>
              <a:t>Choy, and </a:t>
            </a:r>
            <a:r>
              <a:rPr sz="3000" dirty="0">
                <a:latin typeface="Arial"/>
                <a:cs typeface="Arial"/>
              </a:rPr>
              <a:t>Dr. </a:t>
            </a:r>
            <a:r>
              <a:rPr sz="3000" spc="-5" dirty="0">
                <a:latin typeface="Arial"/>
                <a:cs typeface="Arial"/>
              </a:rPr>
              <a:t>Low </a:t>
            </a:r>
            <a:r>
              <a:rPr sz="3000" dirty="0">
                <a:latin typeface="Arial"/>
                <a:cs typeface="Arial"/>
              </a:rPr>
              <a:t>Kok </a:t>
            </a:r>
            <a:r>
              <a:rPr sz="3000" spc="-5" dirty="0">
                <a:latin typeface="Arial"/>
                <a:cs typeface="Arial"/>
              </a:rPr>
              <a:t>Lim  </a:t>
            </a:r>
            <a:r>
              <a:rPr sz="3000" dirty="0">
                <a:latin typeface="Arial"/>
                <a:cs typeface="Arial"/>
              </a:rPr>
              <a:t>for kindly </a:t>
            </a:r>
            <a:r>
              <a:rPr sz="3000" spc="-5" dirty="0">
                <a:latin typeface="Arial"/>
                <a:cs typeface="Arial"/>
              </a:rPr>
              <a:t>sharing these</a:t>
            </a:r>
            <a:r>
              <a:rPr sz="3000" spc="-50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materials.</a:t>
            </a:r>
            <a:endParaRPr sz="30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81761" y="153162"/>
            <a:ext cx="8229600" cy="609600"/>
          </a:xfrm>
          <a:custGeom>
            <a:avLst/>
            <a:gdLst/>
            <a:ahLst/>
            <a:cxnLst/>
            <a:rect l="l" t="t" r="r" b="b"/>
            <a:pathLst>
              <a:path w="8229600" h="609600">
                <a:moveTo>
                  <a:pt x="0" y="609600"/>
                </a:moveTo>
                <a:lnTo>
                  <a:pt x="0" y="0"/>
                </a:lnTo>
                <a:lnTo>
                  <a:pt x="8229600" y="0"/>
                </a:lnTo>
              </a:path>
            </a:pathLst>
          </a:custGeom>
          <a:ln w="19812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7962" y="6630161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600" y="0"/>
                </a:lnTo>
              </a:path>
            </a:pathLst>
          </a:custGeom>
          <a:ln w="19812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35940" y="219202"/>
            <a:ext cx="421830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110" dirty="0">
                <a:latin typeface="Times New Roman"/>
                <a:cs typeface="Times New Roman"/>
              </a:rPr>
              <a:t>Policies </a:t>
            </a:r>
            <a:r>
              <a:rPr sz="4200" dirty="0">
                <a:latin typeface="Times New Roman"/>
                <a:cs typeface="Times New Roman"/>
              </a:rPr>
              <a:t>for</a:t>
            </a:r>
            <a:r>
              <a:rPr sz="4200" spc="35" dirty="0">
                <a:latin typeface="Times New Roman"/>
                <a:cs typeface="Times New Roman"/>
              </a:rPr>
              <a:t> </a:t>
            </a:r>
            <a:r>
              <a:rPr sz="4200" spc="-30" dirty="0">
                <a:latin typeface="Times New Roman"/>
                <a:cs typeface="Times New Roman"/>
              </a:rPr>
              <a:t>students</a:t>
            </a:r>
            <a:endParaRPr sz="4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796528" y="6451556"/>
            <a:ext cx="218440" cy="310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15"/>
              </a:lnSpc>
            </a:pPr>
            <a:fld id="{81D60167-4931-47E6-BA6A-407CBD079E47}" type="slidenum">
              <a:rPr sz="2000" b="1" i="1" dirty="0">
                <a:solidFill>
                  <a:srgbClr val="C00000"/>
                </a:solidFill>
                <a:latin typeface="Arial"/>
                <a:cs typeface="Arial"/>
              </a:rPr>
              <a:t>5</a:t>
            </a:fld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1089101"/>
            <a:ext cx="8072120" cy="2404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715" indent="-342900" algn="just">
              <a:lnSpc>
                <a:spcPct val="100000"/>
              </a:lnSpc>
              <a:spcBef>
                <a:spcPts val="100"/>
              </a:spcBef>
              <a:buClr>
                <a:srgbClr val="009999"/>
              </a:buClr>
              <a:buSzPct val="65000"/>
              <a:buFont typeface="Wingdings"/>
              <a:buChar char=""/>
              <a:tabLst>
                <a:tab pos="355600" algn="l"/>
              </a:tabLst>
            </a:pPr>
            <a:r>
              <a:rPr sz="3000" dirty="0">
                <a:latin typeface="Arial"/>
                <a:cs typeface="Arial"/>
              </a:rPr>
              <a:t>These </a:t>
            </a:r>
            <a:r>
              <a:rPr sz="3000" spc="-5" dirty="0">
                <a:latin typeface="Arial"/>
                <a:cs typeface="Arial"/>
              </a:rPr>
              <a:t>contents </a:t>
            </a:r>
            <a:r>
              <a:rPr sz="3000" dirty="0">
                <a:latin typeface="Arial"/>
                <a:cs typeface="Arial"/>
              </a:rPr>
              <a:t>are only </a:t>
            </a:r>
            <a:r>
              <a:rPr sz="3000" spc="-5" dirty="0">
                <a:latin typeface="Arial"/>
                <a:cs typeface="Arial"/>
              </a:rPr>
              <a:t>used </a:t>
            </a:r>
            <a:r>
              <a:rPr sz="3000" dirty="0">
                <a:latin typeface="Arial"/>
                <a:cs typeface="Arial"/>
              </a:rPr>
              <a:t>for </a:t>
            </a:r>
            <a:r>
              <a:rPr sz="3000" spc="-5" dirty="0">
                <a:latin typeface="Arial"/>
                <a:cs typeface="Arial"/>
              </a:rPr>
              <a:t>students  </a:t>
            </a:r>
            <a:r>
              <a:rPr sz="3000" dirty="0">
                <a:latin typeface="Arial"/>
                <a:cs typeface="Arial"/>
              </a:rPr>
              <a:t>PERSONALLY.</a:t>
            </a:r>
            <a:endParaRPr sz="3000">
              <a:latin typeface="Arial"/>
              <a:cs typeface="Arial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725"/>
              </a:spcBef>
              <a:buClr>
                <a:srgbClr val="009999"/>
              </a:buClr>
              <a:buSzPct val="65000"/>
              <a:buFont typeface="Wingdings"/>
              <a:buChar char=""/>
              <a:tabLst>
                <a:tab pos="355600" algn="l"/>
              </a:tabLst>
            </a:pPr>
            <a:r>
              <a:rPr sz="3000" dirty="0">
                <a:latin typeface="Arial"/>
                <a:cs typeface="Arial"/>
              </a:rPr>
              <a:t>Students </a:t>
            </a:r>
            <a:r>
              <a:rPr sz="3000" spc="-5" dirty="0">
                <a:latin typeface="Arial"/>
                <a:cs typeface="Arial"/>
              </a:rPr>
              <a:t>are </a:t>
            </a:r>
            <a:r>
              <a:rPr sz="3000" spc="5" dirty="0">
                <a:latin typeface="Arial"/>
                <a:cs typeface="Arial"/>
              </a:rPr>
              <a:t>NOT </a:t>
            </a:r>
            <a:r>
              <a:rPr sz="3000" spc="-5" dirty="0">
                <a:latin typeface="Arial"/>
                <a:cs typeface="Arial"/>
              </a:rPr>
              <a:t>allowed to modify or  deliver these contents to anywhere or anyone  </a:t>
            </a:r>
            <a:r>
              <a:rPr sz="3000" dirty="0">
                <a:latin typeface="Arial"/>
                <a:cs typeface="Arial"/>
              </a:rPr>
              <a:t>for </a:t>
            </a:r>
            <a:r>
              <a:rPr sz="3000" spc="-5" dirty="0">
                <a:latin typeface="Arial"/>
                <a:cs typeface="Arial"/>
              </a:rPr>
              <a:t>any</a:t>
            </a:r>
            <a:r>
              <a:rPr sz="3000" spc="-20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purpose.</a:t>
            </a:r>
            <a:endParaRPr sz="30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962" y="6630161"/>
            <a:ext cx="75565" cy="0"/>
          </a:xfrm>
          <a:custGeom>
            <a:avLst/>
            <a:gdLst/>
            <a:ahLst/>
            <a:cxnLst/>
            <a:rect l="l" t="t" r="r" b="b"/>
            <a:pathLst>
              <a:path w="75565">
                <a:moveTo>
                  <a:pt x="0" y="0"/>
                </a:moveTo>
                <a:lnTo>
                  <a:pt x="75437" y="0"/>
                </a:lnTo>
              </a:path>
            </a:pathLst>
          </a:custGeom>
          <a:ln w="19812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57200" y="228600"/>
            <a:ext cx="8229600" cy="789940"/>
          </a:xfrm>
          <a:prstGeom prst="rect">
            <a:avLst/>
          </a:prstGeom>
          <a:solidFill>
            <a:srgbClr val="FFCCFF">
              <a:alpha val="39999"/>
            </a:srgbClr>
          </a:solidFill>
        </p:spPr>
        <p:txBody>
          <a:bodyPr vert="horz" wrap="square" lIns="0" tIns="3175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50"/>
              </a:spcBef>
            </a:pPr>
            <a:r>
              <a:rPr sz="4000" spc="-120" dirty="0">
                <a:solidFill>
                  <a:srgbClr val="003399"/>
                </a:solidFill>
                <a:latin typeface="Trebuchet MS"/>
                <a:cs typeface="Trebuchet MS"/>
              </a:rPr>
              <a:t>Objectives</a:t>
            </a:r>
            <a:endParaRPr sz="400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842516" y="2298192"/>
            <a:ext cx="2500884" cy="167792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238882" y="2334259"/>
            <a:ext cx="1678939" cy="1520825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12700" marR="5080">
              <a:lnSpc>
                <a:spcPct val="86300"/>
              </a:lnSpc>
              <a:spcBef>
                <a:spcPts val="690"/>
              </a:spcBef>
            </a:pPr>
            <a:r>
              <a:rPr sz="3600" dirty="0">
                <a:latin typeface="Arial"/>
                <a:cs typeface="Arial"/>
              </a:rPr>
              <a:t>Basic  </a:t>
            </a:r>
            <a:r>
              <a:rPr sz="3600" spc="-5" dirty="0">
                <a:latin typeface="Arial"/>
                <a:cs typeface="Arial"/>
              </a:rPr>
              <a:t>Java  </a:t>
            </a:r>
            <a:r>
              <a:rPr sz="3600" dirty="0">
                <a:latin typeface="Arial"/>
                <a:cs typeface="Arial"/>
              </a:rPr>
              <a:t>features</a:t>
            </a:r>
            <a:endParaRPr sz="36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26719" y="1629155"/>
            <a:ext cx="1866900" cy="173888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71550" y="2085289"/>
            <a:ext cx="1179195" cy="680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300" spc="-5" dirty="0">
                <a:solidFill>
                  <a:srgbClr val="FFFFFF"/>
                </a:solidFill>
                <a:latin typeface="Arial"/>
                <a:cs typeface="Arial"/>
              </a:rPr>
              <a:t>Java</a:t>
            </a:r>
            <a:endParaRPr sz="43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967984" y="2298192"/>
            <a:ext cx="2502408" cy="266852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365494" y="2637536"/>
            <a:ext cx="1901189" cy="1924050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12700" marR="5080">
              <a:lnSpc>
                <a:spcPct val="86300"/>
              </a:lnSpc>
              <a:spcBef>
                <a:spcPts val="555"/>
              </a:spcBef>
            </a:pPr>
            <a:r>
              <a:rPr sz="2800" spc="-15" dirty="0">
                <a:latin typeface="Arial"/>
                <a:cs typeface="Arial"/>
              </a:rPr>
              <a:t>Translate </a:t>
            </a:r>
            <a:r>
              <a:rPr sz="2800" spc="-5" dirty="0">
                <a:latin typeface="Arial"/>
                <a:cs typeface="Arial"/>
              </a:rPr>
              <a:t>C  </a:t>
            </a:r>
            <a:r>
              <a:rPr sz="2800" dirty="0">
                <a:latin typeface="Arial"/>
                <a:cs typeface="Arial"/>
              </a:rPr>
              <a:t>programs</a:t>
            </a:r>
            <a:r>
              <a:rPr sz="2800" spc="-110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in  501042 into  </a:t>
            </a:r>
            <a:r>
              <a:rPr sz="2800" dirty="0">
                <a:latin typeface="Arial"/>
                <a:cs typeface="Arial"/>
              </a:rPr>
              <a:t>Java  </a:t>
            </a:r>
            <a:r>
              <a:rPr sz="2800" spc="-5" dirty="0">
                <a:latin typeface="Arial"/>
                <a:cs typeface="Arial"/>
              </a:rPr>
              <a:t>programs</a:t>
            </a:r>
            <a:endParaRPr sz="28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552188" y="1629155"/>
            <a:ext cx="1868424" cy="179374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4898263" y="1803018"/>
            <a:ext cx="1177925" cy="12458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7625">
              <a:lnSpc>
                <a:spcPts val="4805"/>
              </a:lnSpc>
              <a:spcBef>
                <a:spcPts val="95"/>
              </a:spcBef>
            </a:pPr>
            <a:r>
              <a:rPr sz="4300" spc="-5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sz="43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300" spc="-5" dirty="0">
                <a:solidFill>
                  <a:srgbClr val="FFFFFF"/>
                </a:solidFill>
                <a:latin typeface="Wingdings"/>
                <a:cs typeface="Wingdings"/>
              </a:rPr>
              <a:t></a:t>
            </a:r>
            <a:endParaRPr sz="4300">
              <a:latin typeface="Wingdings"/>
              <a:cs typeface="Wingdings"/>
            </a:endParaRPr>
          </a:p>
          <a:p>
            <a:pPr marL="12700">
              <a:lnSpc>
                <a:spcPts val="4805"/>
              </a:lnSpc>
            </a:pPr>
            <a:r>
              <a:rPr sz="4300" spc="-10" dirty="0">
                <a:solidFill>
                  <a:srgbClr val="FFFFFF"/>
                </a:solidFill>
                <a:latin typeface="Arial"/>
                <a:cs typeface="Arial"/>
              </a:rPr>
              <a:t>Java</a:t>
            </a:r>
            <a:endParaRPr sz="43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825483" y="6449696"/>
            <a:ext cx="189230" cy="252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z="1600" b="1" i="1" spc="-5" dirty="0">
                <a:solidFill>
                  <a:srgbClr val="C00000"/>
                </a:solidFill>
                <a:latin typeface="Arial"/>
                <a:cs typeface="Arial"/>
              </a:rPr>
              <a:t>6</a:t>
            </a:fld>
            <a:endParaRPr sz="16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70051" y="6524133"/>
            <a:ext cx="8060055" cy="16954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  <a:tabLst>
                <a:tab pos="1996439" algn="l"/>
                <a:tab pos="8046720" algn="l"/>
              </a:tabLst>
            </a:pPr>
            <a:r>
              <a:rPr sz="800" dirty="0">
                <a:solidFill>
                  <a:srgbClr val="003399"/>
                </a:solidFill>
                <a:latin typeface="Arial Black"/>
                <a:cs typeface="Arial Black"/>
              </a:rPr>
              <a:t>[501043 Lecture 1: Intro to</a:t>
            </a:r>
            <a:r>
              <a:rPr sz="800" spc="-160" dirty="0">
                <a:solidFill>
                  <a:srgbClr val="003399"/>
                </a:solidFill>
                <a:latin typeface="Arial Black"/>
                <a:cs typeface="Arial Black"/>
              </a:rPr>
              <a:t> </a:t>
            </a:r>
            <a:r>
              <a:rPr sz="800" dirty="0">
                <a:solidFill>
                  <a:srgbClr val="003399"/>
                </a:solidFill>
                <a:latin typeface="Arial Black"/>
                <a:cs typeface="Arial Black"/>
              </a:rPr>
              <a:t>Java]	</a:t>
            </a:r>
            <a:r>
              <a:rPr sz="800" u="heavy" dirty="0">
                <a:solidFill>
                  <a:srgbClr val="003399"/>
                </a:solidFill>
                <a:uFill>
                  <a:solidFill>
                    <a:srgbClr val="009999"/>
                  </a:solidFill>
                </a:uFill>
                <a:latin typeface="Arial Black"/>
                <a:cs typeface="Arial Black"/>
              </a:rPr>
              <a:t> 	</a:t>
            </a:r>
            <a:endParaRPr sz="800">
              <a:latin typeface="Arial Black"/>
              <a:cs typeface="Arial Black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8229600" cy="789940"/>
          </a:xfrm>
          <a:prstGeom prst="rect">
            <a:avLst/>
          </a:prstGeom>
          <a:solidFill>
            <a:srgbClr val="FFCCFF">
              <a:alpha val="39999"/>
            </a:srgbClr>
          </a:solidFill>
        </p:spPr>
        <p:txBody>
          <a:bodyPr vert="horz" wrap="square" lIns="0" tIns="3175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50"/>
              </a:spcBef>
            </a:pPr>
            <a:r>
              <a:rPr sz="4000" spc="-80" dirty="0"/>
              <a:t>Outline</a:t>
            </a:r>
            <a:endParaRPr sz="4000"/>
          </a:p>
        </p:txBody>
      </p:sp>
      <p:sp>
        <p:nvSpPr>
          <p:cNvPr id="4" name="object 4"/>
          <p:cNvSpPr txBox="1"/>
          <p:nvPr/>
        </p:nvSpPr>
        <p:spPr>
          <a:xfrm>
            <a:off x="8825483" y="6449696"/>
            <a:ext cx="189230" cy="252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z="1600" b="1" i="1" spc="-5" dirty="0">
                <a:solidFill>
                  <a:srgbClr val="C00000"/>
                </a:solidFill>
                <a:latin typeface="Arial"/>
                <a:cs typeface="Arial"/>
              </a:rPr>
              <a:t>7</a:t>
            </a:fld>
            <a:endParaRPr sz="16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0051" y="6524133"/>
            <a:ext cx="8060055" cy="16954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  <a:tabLst>
                <a:tab pos="1996439" algn="l"/>
                <a:tab pos="8046720" algn="l"/>
              </a:tabLst>
            </a:pPr>
            <a:r>
              <a:rPr sz="800" dirty="0">
                <a:solidFill>
                  <a:srgbClr val="003399"/>
                </a:solidFill>
                <a:latin typeface="Arial Black"/>
                <a:cs typeface="Arial Black"/>
              </a:rPr>
              <a:t>[501043 Lecture 1: Intro to</a:t>
            </a:r>
            <a:r>
              <a:rPr sz="800" spc="-160" dirty="0">
                <a:solidFill>
                  <a:srgbClr val="003399"/>
                </a:solidFill>
                <a:latin typeface="Arial Black"/>
                <a:cs typeface="Arial Black"/>
              </a:rPr>
              <a:t> </a:t>
            </a:r>
            <a:r>
              <a:rPr sz="800" dirty="0">
                <a:solidFill>
                  <a:srgbClr val="003399"/>
                </a:solidFill>
                <a:latin typeface="Arial Black"/>
                <a:cs typeface="Arial Black"/>
              </a:rPr>
              <a:t>Java]	</a:t>
            </a:r>
            <a:r>
              <a:rPr sz="800" u="heavy" dirty="0">
                <a:solidFill>
                  <a:srgbClr val="003399"/>
                </a:solidFill>
                <a:uFill>
                  <a:solidFill>
                    <a:srgbClr val="009999"/>
                  </a:solidFill>
                </a:uFill>
                <a:latin typeface="Arial Black"/>
                <a:cs typeface="Arial Black"/>
              </a:rPr>
              <a:t> 	</a:t>
            </a:r>
            <a:endParaRPr sz="80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997267"/>
            <a:ext cx="7953375" cy="4859020"/>
          </a:xfrm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 marL="527685" indent="-515620">
              <a:lnSpc>
                <a:spcPct val="100000"/>
              </a:lnSpc>
              <a:spcBef>
                <a:spcPts val="825"/>
              </a:spcBef>
              <a:buClr>
                <a:srgbClr val="C00000"/>
              </a:buClr>
              <a:buAutoNum type="arabicPeriod"/>
              <a:tabLst>
                <a:tab pos="527685" algn="l"/>
                <a:tab pos="528320" algn="l"/>
              </a:tabLst>
            </a:pPr>
            <a:r>
              <a:rPr sz="3000" dirty="0">
                <a:latin typeface="Arial"/>
                <a:cs typeface="Arial"/>
              </a:rPr>
              <a:t>Java: Brief </a:t>
            </a:r>
            <a:r>
              <a:rPr sz="3000" spc="-5" dirty="0">
                <a:latin typeface="Arial"/>
                <a:cs typeface="Arial"/>
              </a:rPr>
              <a:t>history </a:t>
            </a:r>
            <a:r>
              <a:rPr sz="3000" dirty="0">
                <a:latin typeface="Arial"/>
                <a:cs typeface="Arial"/>
              </a:rPr>
              <a:t>and</a:t>
            </a:r>
            <a:r>
              <a:rPr sz="3000" spc="-45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background</a:t>
            </a:r>
            <a:endParaRPr sz="3000">
              <a:latin typeface="Arial"/>
              <a:cs typeface="Arial"/>
            </a:endParaRPr>
          </a:p>
          <a:p>
            <a:pPr marL="527685" indent="-515620">
              <a:lnSpc>
                <a:spcPct val="100000"/>
              </a:lnSpc>
              <a:spcBef>
                <a:spcPts val="720"/>
              </a:spcBef>
              <a:buClr>
                <a:srgbClr val="C00000"/>
              </a:buClr>
              <a:buAutoNum type="arabicPeriod"/>
              <a:tabLst>
                <a:tab pos="527685" algn="l"/>
                <a:tab pos="528320" algn="l"/>
              </a:tabLst>
            </a:pPr>
            <a:r>
              <a:rPr sz="3000" spc="-5" dirty="0">
                <a:latin typeface="Arial"/>
                <a:cs typeface="Arial"/>
              </a:rPr>
              <a:t>Run</a:t>
            </a:r>
            <a:r>
              <a:rPr sz="3000" spc="-20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cycle</a:t>
            </a:r>
            <a:endParaRPr sz="3000">
              <a:latin typeface="Arial"/>
              <a:cs typeface="Arial"/>
            </a:endParaRPr>
          </a:p>
          <a:p>
            <a:pPr marL="527685" indent="-515620">
              <a:lnSpc>
                <a:spcPct val="100000"/>
              </a:lnSpc>
              <a:spcBef>
                <a:spcPts val="720"/>
              </a:spcBef>
              <a:buClr>
                <a:srgbClr val="C00000"/>
              </a:buClr>
              <a:buAutoNum type="arabicPeriod"/>
              <a:tabLst>
                <a:tab pos="527685" algn="l"/>
                <a:tab pos="528320" algn="l"/>
              </a:tabLst>
            </a:pPr>
            <a:r>
              <a:rPr sz="3000" spc="-5" dirty="0">
                <a:latin typeface="Arial"/>
                <a:cs typeface="Arial"/>
              </a:rPr>
              <a:t>Basic program</a:t>
            </a:r>
            <a:r>
              <a:rPr sz="3000" spc="-25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structure</a:t>
            </a:r>
            <a:endParaRPr sz="3000">
              <a:latin typeface="Arial"/>
              <a:cs typeface="Arial"/>
            </a:endParaRPr>
          </a:p>
          <a:p>
            <a:pPr marL="527685" indent="-515620">
              <a:lnSpc>
                <a:spcPct val="100000"/>
              </a:lnSpc>
              <a:spcBef>
                <a:spcPts val="725"/>
              </a:spcBef>
              <a:buClr>
                <a:srgbClr val="C00000"/>
              </a:buClr>
              <a:buAutoNum type="arabicPeriod"/>
              <a:tabLst>
                <a:tab pos="527685" algn="l"/>
                <a:tab pos="528320" algn="l"/>
              </a:tabLst>
            </a:pPr>
            <a:r>
              <a:rPr sz="3000" spc="-5" dirty="0">
                <a:latin typeface="Arial"/>
                <a:cs typeface="Arial"/>
              </a:rPr>
              <a:t>Basic Java</a:t>
            </a:r>
            <a:r>
              <a:rPr sz="3000" spc="-10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elements</a:t>
            </a:r>
            <a:endParaRPr sz="3000">
              <a:latin typeface="Arial"/>
              <a:cs typeface="Arial"/>
            </a:endParaRPr>
          </a:p>
          <a:p>
            <a:pPr marL="1215390" lvl="1" indent="-628015">
              <a:lnSpc>
                <a:spcPct val="100000"/>
              </a:lnSpc>
              <a:spcBef>
                <a:spcPts val="600"/>
              </a:spcBef>
              <a:buClr>
                <a:srgbClr val="C00000"/>
              </a:buClr>
              <a:buAutoNum type="arabicPeriod"/>
              <a:tabLst>
                <a:tab pos="1214755" algn="l"/>
                <a:tab pos="1215390" algn="l"/>
              </a:tabLst>
            </a:pPr>
            <a:r>
              <a:rPr sz="2400" dirty="0">
                <a:latin typeface="Arial"/>
                <a:cs typeface="Arial"/>
              </a:rPr>
              <a:t>Arithmetic</a:t>
            </a:r>
            <a:r>
              <a:rPr sz="2400" spc="-5" dirty="0">
                <a:latin typeface="Arial"/>
                <a:cs typeface="Arial"/>
              </a:rPr>
              <a:t> Expressions</a:t>
            </a:r>
            <a:endParaRPr sz="2400">
              <a:latin typeface="Arial"/>
              <a:cs typeface="Arial"/>
            </a:endParaRPr>
          </a:p>
          <a:p>
            <a:pPr marL="1215390" lvl="1" indent="-628015">
              <a:lnSpc>
                <a:spcPct val="100000"/>
              </a:lnSpc>
              <a:spcBef>
                <a:spcPts val="575"/>
              </a:spcBef>
              <a:buClr>
                <a:srgbClr val="C00000"/>
              </a:buClr>
              <a:buAutoNum type="arabicPeriod"/>
              <a:tabLst>
                <a:tab pos="1214755" algn="l"/>
                <a:tab pos="1215390" algn="l"/>
              </a:tabLst>
            </a:pPr>
            <a:r>
              <a:rPr sz="2400" spc="-5" dirty="0">
                <a:latin typeface="Arial"/>
                <a:cs typeface="Arial"/>
              </a:rPr>
              <a:t>Control Flow </a:t>
            </a:r>
            <a:r>
              <a:rPr sz="2400" dirty="0">
                <a:latin typeface="Arial"/>
                <a:cs typeface="Arial"/>
              </a:rPr>
              <a:t>Statements </a:t>
            </a:r>
            <a:r>
              <a:rPr sz="2400" spc="-5" dirty="0">
                <a:latin typeface="Arial"/>
                <a:cs typeface="Arial"/>
              </a:rPr>
              <a:t>and Logical</a:t>
            </a:r>
            <a:r>
              <a:rPr sz="2400" spc="4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Expressions</a:t>
            </a:r>
            <a:endParaRPr sz="2400">
              <a:latin typeface="Arial"/>
              <a:cs typeface="Arial"/>
            </a:endParaRPr>
          </a:p>
          <a:p>
            <a:pPr marL="1215390" lvl="1" indent="-628015">
              <a:lnSpc>
                <a:spcPct val="100000"/>
              </a:lnSpc>
              <a:spcBef>
                <a:spcPts val="580"/>
              </a:spcBef>
              <a:buClr>
                <a:srgbClr val="C00000"/>
              </a:buClr>
              <a:buAutoNum type="arabicPeriod"/>
              <a:tabLst>
                <a:tab pos="1214755" algn="l"/>
                <a:tab pos="1215390" algn="l"/>
              </a:tabLst>
            </a:pPr>
            <a:r>
              <a:rPr sz="2400" spc="-5" dirty="0">
                <a:latin typeface="Arial"/>
                <a:cs typeface="Arial"/>
              </a:rPr>
              <a:t>Basic </a:t>
            </a:r>
            <a:r>
              <a:rPr sz="2400" dirty="0">
                <a:latin typeface="Arial"/>
                <a:cs typeface="Arial"/>
              </a:rPr>
              <a:t>Input </a:t>
            </a:r>
            <a:r>
              <a:rPr sz="2400" spc="-5" dirty="0">
                <a:latin typeface="Arial"/>
                <a:cs typeface="Arial"/>
              </a:rPr>
              <a:t>(Scanner class) and</a:t>
            </a:r>
            <a:r>
              <a:rPr sz="2400" spc="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Output</a:t>
            </a:r>
            <a:endParaRPr sz="2400">
              <a:latin typeface="Arial"/>
              <a:cs typeface="Arial"/>
            </a:endParaRPr>
          </a:p>
          <a:p>
            <a:pPr marL="1215390" lvl="1" indent="-628015">
              <a:lnSpc>
                <a:spcPct val="100000"/>
              </a:lnSpc>
              <a:spcBef>
                <a:spcPts val="575"/>
              </a:spcBef>
              <a:buClr>
                <a:srgbClr val="C00000"/>
              </a:buClr>
              <a:buAutoNum type="arabicPeriod"/>
              <a:tabLst>
                <a:tab pos="1214755" algn="l"/>
                <a:tab pos="1215390" algn="l"/>
              </a:tabLst>
            </a:pPr>
            <a:r>
              <a:rPr sz="2400" spc="-5" dirty="0">
                <a:latin typeface="Arial"/>
                <a:cs typeface="Arial"/>
              </a:rPr>
              <a:t>API</a:t>
            </a:r>
            <a:endParaRPr sz="2400">
              <a:latin typeface="Arial"/>
              <a:cs typeface="Arial"/>
            </a:endParaRPr>
          </a:p>
          <a:p>
            <a:pPr marL="1215390" lvl="1" indent="-628015">
              <a:lnSpc>
                <a:spcPct val="100000"/>
              </a:lnSpc>
              <a:spcBef>
                <a:spcPts val="575"/>
              </a:spcBef>
              <a:buClr>
                <a:srgbClr val="C00000"/>
              </a:buClr>
              <a:buAutoNum type="arabicPeriod"/>
              <a:tabLst>
                <a:tab pos="1214755" algn="l"/>
                <a:tab pos="1215390" algn="l"/>
              </a:tabLst>
            </a:pPr>
            <a:r>
              <a:rPr sz="2400" dirty="0">
                <a:latin typeface="Arial"/>
                <a:cs typeface="Arial"/>
              </a:rPr>
              <a:t>Math </a:t>
            </a:r>
            <a:r>
              <a:rPr sz="2400" spc="-5" dirty="0">
                <a:latin typeface="Arial"/>
                <a:cs typeface="Arial"/>
              </a:rPr>
              <a:t>class, Class</a:t>
            </a:r>
            <a:r>
              <a:rPr sz="2400" dirty="0">
                <a:latin typeface="Arial"/>
                <a:cs typeface="Arial"/>
              </a:rPr>
              <a:t> Attributes</a:t>
            </a:r>
            <a:endParaRPr sz="2400">
              <a:latin typeface="Arial"/>
              <a:cs typeface="Arial"/>
            </a:endParaRPr>
          </a:p>
          <a:p>
            <a:pPr marL="1215390" lvl="1" indent="-628015">
              <a:lnSpc>
                <a:spcPct val="100000"/>
              </a:lnSpc>
              <a:spcBef>
                <a:spcPts val="580"/>
              </a:spcBef>
              <a:buClr>
                <a:srgbClr val="C00000"/>
              </a:buClr>
              <a:buAutoNum type="arabicPeriod"/>
              <a:tabLst>
                <a:tab pos="1214755" algn="l"/>
                <a:tab pos="1215390" algn="l"/>
              </a:tabLst>
            </a:pPr>
            <a:r>
              <a:rPr sz="2400" spc="-5" dirty="0">
                <a:latin typeface="Arial"/>
                <a:cs typeface="Arial"/>
              </a:rPr>
              <a:t>User-defined</a:t>
            </a:r>
            <a:r>
              <a:rPr sz="2400" spc="1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Functions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8458200" cy="789940"/>
          </a:xfrm>
          <a:prstGeom prst="rect">
            <a:avLst/>
          </a:prstGeom>
          <a:solidFill>
            <a:srgbClr val="FFCCFF">
              <a:alpha val="39999"/>
            </a:srgbClr>
          </a:solidFill>
        </p:spPr>
        <p:txBody>
          <a:bodyPr vert="horz" wrap="square" lIns="0" tIns="3175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50"/>
              </a:spcBef>
            </a:pPr>
            <a:r>
              <a:rPr sz="4000" dirty="0">
                <a:solidFill>
                  <a:srgbClr val="C00000"/>
                </a:solidFill>
              </a:rPr>
              <a:t>1. </a:t>
            </a:r>
            <a:r>
              <a:rPr sz="4000" spc="-160" dirty="0"/>
              <a:t>Java: </a:t>
            </a:r>
            <a:r>
              <a:rPr sz="4000" spc="-15" dirty="0"/>
              <a:t>Brief </a:t>
            </a:r>
            <a:r>
              <a:rPr sz="4000" spc="-10" dirty="0"/>
              <a:t>History </a:t>
            </a:r>
            <a:r>
              <a:rPr sz="4000" spc="-290" dirty="0"/>
              <a:t>&amp;</a:t>
            </a:r>
            <a:r>
              <a:rPr sz="4000" spc="215" dirty="0"/>
              <a:t> </a:t>
            </a:r>
            <a:r>
              <a:rPr sz="4000" spc="60" dirty="0"/>
              <a:t>Background</a:t>
            </a:r>
            <a:endParaRPr sz="4000"/>
          </a:p>
        </p:txBody>
      </p:sp>
      <p:sp>
        <p:nvSpPr>
          <p:cNvPr id="3" name="object 3"/>
          <p:cNvSpPr/>
          <p:nvPr/>
        </p:nvSpPr>
        <p:spPr>
          <a:xfrm>
            <a:off x="533400" y="1181100"/>
            <a:ext cx="2438400" cy="1828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277361" y="1181861"/>
            <a:ext cx="4038600" cy="893444"/>
          </a:xfrm>
          <a:prstGeom prst="rect">
            <a:avLst/>
          </a:prstGeom>
          <a:ln w="25907">
            <a:solidFill>
              <a:srgbClr val="AAC9C9"/>
            </a:solidFill>
          </a:ln>
        </p:spPr>
        <p:txBody>
          <a:bodyPr vert="horz" wrap="square" lIns="0" tIns="3619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85"/>
              </a:spcBef>
            </a:pPr>
            <a:r>
              <a:rPr sz="2800" spc="-5" dirty="0">
                <a:solidFill>
                  <a:srgbClr val="000099"/>
                </a:solidFill>
                <a:latin typeface="Arial"/>
                <a:cs typeface="Arial"/>
              </a:rPr>
              <a:t>James </a:t>
            </a:r>
            <a:r>
              <a:rPr sz="2800" dirty="0">
                <a:solidFill>
                  <a:srgbClr val="000099"/>
                </a:solidFill>
                <a:latin typeface="Arial"/>
                <a:cs typeface="Arial"/>
              </a:rPr>
              <a:t>Gosling</a:t>
            </a:r>
            <a:endParaRPr sz="2800">
              <a:latin typeface="Arial"/>
              <a:cs typeface="Arial"/>
            </a:endParaRPr>
          </a:p>
          <a:p>
            <a:pPr marL="90805">
              <a:lnSpc>
                <a:spcPct val="100000"/>
              </a:lnSpc>
              <a:spcBef>
                <a:spcPts val="20"/>
              </a:spcBef>
            </a:pPr>
            <a:r>
              <a:rPr sz="2400" spc="-5" dirty="0">
                <a:latin typeface="Arial"/>
                <a:cs typeface="Arial"/>
              </a:rPr>
              <a:t>1995, Sun</a:t>
            </a:r>
            <a:r>
              <a:rPr sz="2400" dirty="0">
                <a:latin typeface="Arial"/>
                <a:cs typeface="Arial"/>
              </a:rPr>
              <a:t> Microsystems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801304" y="3762692"/>
            <a:ext cx="5092065" cy="2588260"/>
            <a:chOff x="1801304" y="3762692"/>
            <a:chExt cx="5092065" cy="2588260"/>
          </a:xfrm>
        </p:grpSpPr>
        <p:sp>
          <p:nvSpPr>
            <p:cNvPr id="6" name="object 6"/>
            <p:cNvSpPr/>
            <p:nvPr/>
          </p:nvSpPr>
          <p:spPr>
            <a:xfrm>
              <a:off x="1814322" y="3775709"/>
              <a:ext cx="5066030" cy="2562225"/>
            </a:xfrm>
            <a:custGeom>
              <a:avLst/>
              <a:gdLst/>
              <a:ahLst/>
              <a:cxnLst/>
              <a:rect l="l" t="t" r="r" b="b"/>
              <a:pathLst>
                <a:path w="5066030" h="2562225">
                  <a:moveTo>
                    <a:pt x="5065776" y="177800"/>
                  </a:moveTo>
                  <a:lnTo>
                    <a:pt x="4352544" y="177800"/>
                  </a:lnTo>
                  <a:lnTo>
                    <a:pt x="4352544" y="0"/>
                  </a:lnTo>
                  <a:lnTo>
                    <a:pt x="0" y="0"/>
                  </a:lnTo>
                  <a:lnTo>
                    <a:pt x="0" y="177800"/>
                  </a:lnTo>
                  <a:lnTo>
                    <a:pt x="0" y="2561844"/>
                  </a:lnTo>
                  <a:lnTo>
                    <a:pt x="5065776" y="2561844"/>
                  </a:lnTo>
                  <a:lnTo>
                    <a:pt x="5065776" y="177800"/>
                  </a:lnTo>
                  <a:close/>
                </a:path>
              </a:pathLst>
            </a:custGeom>
            <a:solidFill>
              <a:srgbClr val="BB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814322" y="3775709"/>
              <a:ext cx="5066030" cy="2562225"/>
            </a:xfrm>
            <a:custGeom>
              <a:avLst/>
              <a:gdLst/>
              <a:ahLst/>
              <a:cxnLst/>
              <a:rect l="l" t="t" r="r" b="b"/>
              <a:pathLst>
                <a:path w="5066030" h="2562225">
                  <a:moveTo>
                    <a:pt x="0" y="2561844"/>
                  </a:moveTo>
                  <a:lnTo>
                    <a:pt x="5065776" y="2561844"/>
                  </a:lnTo>
                  <a:lnTo>
                    <a:pt x="5065776" y="0"/>
                  </a:lnTo>
                  <a:lnTo>
                    <a:pt x="0" y="0"/>
                  </a:lnTo>
                  <a:lnTo>
                    <a:pt x="0" y="2561844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827910" y="4303903"/>
            <a:ext cx="2593975" cy="1775460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269240" marR="69215" indent="-231775">
              <a:lnSpc>
                <a:spcPts val="2480"/>
              </a:lnSpc>
              <a:spcBef>
                <a:spcPts val="515"/>
              </a:spcBef>
              <a:buClr>
                <a:srgbClr val="000000"/>
              </a:buClr>
              <a:buFont typeface="Wingdings"/>
              <a:buChar char=""/>
              <a:tabLst>
                <a:tab pos="269875" algn="l"/>
              </a:tabLst>
            </a:pPr>
            <a:r>
              <a:rPr sz="2400" spc="-10" dirty="0">
                <a:solidFill>
                  <a:srgbClr val="C00000"/>
                </a:solidFill>
                <a:latin typeface="Arial"/>
                <a:cs typeface="Arial"/>
              </a:rPr>
              <a:t>Write </a:t>
            </a:r>
            <a:r>
              <a:rPr sz="2400" dirty="0">
                <a:solidFill>
                  <a:srgbClr val="C00000"/>
                </a:solidFill>
                <a:latin typeface="Arial"/>
                <a:cs typeface="Arial"/>
              </a:rPr>
              <a:t>Once,</a:t>
            </a:r>
            <a:r>
              <a:rPr sz="2400" spc="-8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C00000"/>
                </a:solidFill>
                <a:latin typeface="Arial"/>
                <a:cs typeface="Arial"/>
              </a:rPr>
              <a:t>Run  Everywhere</a:t>
            </a:r>
            <a:r>
              <a:rPr sz="2400" spc="-7" baseline="24305" dirty="0">
                <a:solidFill>
                  <a:srgbClr val="C00000"/>
                </a:solidFill>
                <a:latin typeface="Arial"/>
                <a:cs typeface="Arial"/>
              </a:rPr>
              <a:t>TM</a:t>
            </a:r>
            <a:endParaRPr sz="2400" baseline="24305">
              <a:latin typeface="Arial"/>
              <a:cs typeface="Arial"/>
            </a:endParaRPr>
          </a:p>
          <a:p>
            <a:pPr marL="269240" marR="30480" indent="-231775">
              <a:lnSpc>
                <a:spcPts val="2480"/>
              </a:lnSpc>
              <a:spcBef>
                <a:spcPts val="969"/>
              </a:spcBef>
              <a:buFont typeface="Wingdings"/>
              <a:buChar char=""/>
              <a:tabLst>
                <a:tab pos="269875" algn="l"/>
              </a:tabLst>
            </a:pPr>
            <a:r>
              <a:rPr sz="2400" spc="-5" dirty="0">
                <a:latin typeface="Arial"/>
                <a:cs typeface="Arial"/>
              </a:rPr>
              <a:t>Extensive and  well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documented  standard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library</a:t>
            </a:r>
            <a:endParaRPr sz="2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47971" y="4392929"/>
            <a:ext cx="1301115" cy="706755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244475" marR="5080" indent="-232410">
              <a:lnSpc>
                <a:spcPts val="2480"/>
              </a:lnSpc>
              <a:spcBef>
                <a:spcPts val="515"/>
              </a:spcBef>
              <a:buSzPct val="83333"/>
              <a:buFont typeface="Wingdings"/>
              <a:buChar char=""/>
              <a:tabLst>
                <a:tab pos="245110" algn="l"/>
              </a:tabLst>
            </a:pPr>
            <a:r>
              <a:rPr sz="2400" spc="-5" dirty="0">
                <a:latin typeface="Arial"/>
                <a:cs typeface="Arial"/>
              </a:rPr>
              <a:t>Less  </a:t>
            </a:r>
            <a:r>
              <a:rPr sz="2400" dirty="0">
                <a:latin typeface="Arial"/>
                <a:cs typeface="Arial"/>
              </a:rPr>
              <a:t>e</a:t>
            </a:r>
            <a:r>
              <a:rPr sz="2400" spc="-50" dirty="0">
                <a:latin typeface="Arial"/>
                <a:cs typeface="Arial"/>
              </a:rPr>
              <a:t>f</a:t>
            </a:r>
            <a:r>
              <a:rPr sz="2400" spc="-5" dirty="0">
                <a:latin typeface="Arial"/>
                <a:cs typeface="Arial"/>
              </a:rPr>
              <a:t>ficie</a:t>
            </a:r>
            <a:r>
              <a:rPr sz="2400" spc="-15" dirty="0">
                <a:latin typeface="Arial"/>
                <a:cs typeface="Arial"/>
              </a:rPr>
              <a:t>n</a:t>
            </a:r>
            <a:r>
              <a:rPr sz="2400" dirty="0">
                <a:latin typeface="Arial"/>
                <a:cs typeface="Arial"/>
              </a:rPr>
              <a:t>t</a:t>
            </a:r>
            <a:endParaRPr sz="24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277361" y="2227326"/>
            <a:ext cx="5334000" cy="1262380"/>
          </a:xfrm>
          <a:prstGeom prst="rect">
            <a:avLst/>
          </a:prstGeom>
          <a:ln w="25907">
            <a:solidFill>
              <a:srgbClr val="AAC9C9"/>
            </a:solidFill>
          </a:ln>
        </p:spPr>
        <p:txBody>
          <a:bodyPr vert="horz" wrap="square" lIns="0" tIns="3619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85"/>
              </a:spcBef>
            </a:pPr>
            <a:r>
              <a:rPr sz="2800" spc="-5" dirty="0">
                <a:latin typeface="Arial"/>
                <a:cs typeface="Arial"/>
              </a:rPr>
              <a:t>Use C/C++ as</a:t>
            </a:r>
            <a:r>
              <a:rPr sz="2800" spc="25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foundation</a:t>
            </a:r>
            <a:endParaRPr sz="2800">
              <a:latin typeface="Arial"/>
              <a:cs typeface="Arial"/>
            </a:endParaRPr>
          </a:p>
          <a:p>
            <a:pPr marL="433705" indent="-343535">
              <a:lnSpc>
                <a:spcPct val="100000"/>
              </a:lnSpc>
              <a:spcBef>
                <a:spcPts val="15"/>
              </a:spcBef>
              <a:buFont typeface="Wingdings"/>
              <a:buChar char=""/>
              <a:tabLst>
                <a:tab pos="433705" algn="l"/>
                <a:tab pos="434340" algn="l"/>
              </a:tabLst>
            </a:pPr>
            <a:r>
              <a:rPr sz="2400" spc="-5" dirty="0">
                <a:latin typeface="Arial"/>
                <a:cs typeface="Arial"/>
              </a:rPr>
              <a:t>“Cleaner” in</a:t>
            </a:r>
            <a:r>
              <a:rPr sz="2400" spc="2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syntax</a:t>
            </a:r>
            <a:endParaRPr sz="2400">
              <a:latin typeface="Arial"/>
              <a:cs typeface="Arial"/>
            </a:endParaRPr>
          </a:p>
          <a:p>
            <a:pPr marL="433705" indent="-343535">
              <a:lnSpc>
                <a:spcPct val="100000"/>
              </a:lnSpc>
              <a:buFont typeface="Wingdings"/>
              <a:buChar char=""/>
              <a:tabLst>
                <a:tab pos="433705" algn="l"/>
                <a:tab pos="434340" algn="l"/>
              </a:tabLst>
            </a:pPr>
            <a:r>
              <a:rPr sz="2400" spc="-5" dirty="0">
                <a:latin typeface="Arial"/>
                <a:cs typeface="Arial"/>
              </a:rPr>
              <a:t>Less low-level machine</a:t>
            </a:r>
            <a:r>
              <a:rPr sz="2400" spc="6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interaction</a:t>
            </a:r>
            <a:endParaRPr sz="2400">
              <a:latin typeface="Arial"/>
              <a:cs typeface="Arial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1368552" y="3288791"/>
          <a:ext cx="993140" cy="98221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3850"/>
                <a:gridCol w="345440"/>
                <a:gridCol w="323850"/>
              </a:tblGrid>
              <a:tr h="33070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34009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0099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17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BBD3D3"/>
                    </a:solidFill>
                  </a:tcPr>
                </a:tc>
              </a:tr>
            </a:tbl>
          </a:graphicData>
        </a:graphic>
      </p:graphicFrame>
      <p:grpSp>
        <p:nvGrpSpPr>
          <p:cNvPr id="12" name="object 12"/>
          <p:cNvGrpSpPr/>
          <p:nvPr/>
        </p:nvGrpSpPr>
        <p:grpSpPr>
          <a:xfrm>
            <a:off x="1368552" y="3288791"/>
            <a:ext cx="993775" cy="995680"/>
            <a:chOff x="1368552" y="3288791"/>
            <a:chExt cx="993775" cy="995680"/>
          </a:xfrm>
        </p:grpSpPr>
        <p:sp>
          <p:nvSpPr>
            <p:cNvPr id="13" name="object 13"/>
            <p:cNvSpPr/>
            <p:nvPr/>
          </p:nvSpPr>
          <p:spPr>
            <a:xfrm>
              <a:off x="1381506" y="3301999"/>
              <a:ext cx="967740" cy="969010"/>
            </a:xfrm>
            <a:custGeom>
              <a:avLst/>
              <a:gdLst/>
              <a:ahLst/>
              <a:cxnLst/>
              <a:rect l="l" t="t" r="r" b="b"/>
              <a:pathLst>
                <a:path w="967739" h="969010">
                  <a:moveTo>
                    <a:pt x="967740" y="317500"/>
                  </a:moveTo>
                  <a:lnTo>
                    <a:pt x="650240" y="317500"/>
                  </a:lnTo>
                  <a:lnTo>
                    <a:pt x="650240" y="0"/>
                  </a:lnTo>
                  <a:lnTo>
                    <a:pt x="317500" y="0"/>
                  </a:lnTo>
                  <a:lnTo>
                    <a:pt x="317500" y="317500"/>
                  </a:lnTo>
                  <a:lnTo>
                    <a:pt x="0" y="317500"/>
                  </a:lnTo>
                  <a:lnTo>
                    <a:pt x="0" y="651510"/>
                  </a:lnTo>
                  <a:lnTo>
                    <a:pt x="317500" y="651510"/>
                  </a:lnTo>
                  <a:lnTo>
                    <a:pt x="317500" y="969010"/>
                  </a:lnTo>
                  <a:lnTo>
                    <a:pt x="650240" y="969010"/>
                  </a:lnTo>
                  <a:lnTo>
                    <a:pt x="650240" y="651510"/>
                  </a:lnTo>
                  <a:lnTo>
                    <a:pt x="967740" y="651510"/>
                  </a:lnTo>
                  <a:lnTo>
                    <a:pt x="967740" y="31750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381506" y="3301745"/>
              <a:ext cx="967740" cy="969644"/>
            </a:xfrm>
            <a:custGeom>
              <a:avLst/>
              <a:gdLst/>
              <a:ahLst/>
              <a:cxnLst/>
              <a:rect l="l" t="t" r="r" b="b"/>
              <a:pathLst>
                <a:path w="967739" h="969645">
                  <a:moveTo>
                    <a:pt x="0" y="317499"/>
                  </a:moveTo>
                  <a:lnTo>
                    <a:pt x="317500" y="317499"/>
                  </a:lnTo>
                  <a:lnTo>
                    <a:pt x="317500" y="0"/>
                  </a:lnTo>
                  <a:lnTo>
                    <a:pt x="650239" y="0"/>
                  </a:lnTo>
                  <a:lnTo>
                    <a:pt x="650239" y="317499"/>
                  </a:lnTo>
                  <a:lnTo>
                    <a:pt x="967739" y="317499"/>
                  </a:lnTo>
                  <a:lnTo>
                    <a:pt x="967739" y="651763"/>
                  </a:lnTo>
                  <a:lnTo>
                    <a:pt x="650239" y="651763"/>
                  </a:lnTo>
                  <a:lnTo>
                    <a:pt x="650239" y="969263"/>
                  </a:lnTo>
                  <a:lnTo>
                    <a:pt x="317500" y="969263"/>
                  </a:lnTo>
                  <a:lnTo>
                    <a:pt x="317500" y="651763"/>
                  </a:lnTo>
                  <a:lnTo>
                    <a:pt x="0" y="651763"/>
                  </a:lnTo>
                  <a:lnTo>
                    <a:pt x="0" y="317499"/>
                  </a:lnTo>
                  <a:close/>
                </a:path>
              </a:pathLst>
            </a:custGeom>
            <a:ln w="25908">
              <a:solidFill>
                <a:srgbClr val="00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4657344" y="3637788"/>
            <a:ext cx="2433955" cy="2570480"/>
            <a:chOff x="4657344" y="3637788"/>
            <a:chExt cx="2433955" cy="2570480"/>
          </a:xfrm>
        </p:grpSpPr>
        <p:sp>
          <p:nvSpPr>
            <p:cNvPr id="16" name="object 16"/>
            <p:cNvSpPr/>
            <p:nvPr/>
          </p:nvSpPr>
          <p:spPr>
            <a:xfrm>
              <a:off x="6166866" y="3650742"/>
              <a:ext cx="911860" cy="312420"/>
            </a:xfrm>
            <a:custGeom>
              <a:avLst/>
              <a:gdLst/>
              <a:ahLst/>
              <a:cxnLst/>
              <a:rect l="l" t="t" r="r" b="b"/>
              <a:pathLst>
                <a:path w="911859" h="312420">
                  <a:moveTo>
                    <a:pt x="911352" y="0"/>
                  </a:moveTo>
                  <a:lnTo>
                    <a:pt x="0" y="0"/>
                  </a:lnTo>
                  <a:lnTo>
                    <a:pt x="0" y="312419"/>
                  </a:lnTo>
                  <a:lnTo>
                    <a:pt x="911352" y="312419"/>
                  </a:lnTo>
                  <a:lnTo>
                    <a:pt x="911352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166866" y="3650742"/>
              <a:ext cx="911860" cy="312420"/>
            </a:xfrm>
            <a:custGeom>
              <a:avLst/>
              <a:gdLst/>
              <a:ahLst/>
              <a:cxnLst/>
              <a:rect l="l" t="t" r="r" b="b"/>
              <a:pathLst>
                <a:path w="911859" h="312420">
                  <a:moveTo>
                    <a:pt x="0" y="312419"/>
                  </a:moveTo>
                  <a:lnTo>
                    <a:pt x="911352" y="312419"/>
                  </a:lnTo>
                  <a:lnTo>
                    <a:pt x="911352" y="0"/>
                  </a:lnTo>
                  <a:lnTo>
                    <a:pt x="0" y="0"/>
                  </a:lnTo>
                  <a:lnTo>
                    <a:pt x="0" y="312419"/>
                  </a:lnTo>
                  <a:close/>
                </a:path>
              </a:pathLst>
            </a:custGeom>
            <a:ln w="25908">
              <a:solidFill>
                <a:srgbClr val="00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670298" y="4115562"/>
              <a:ext cx="0" cy="2092960"/>
            </a:xfrm>
            <a:custGeom>
              <a:avLst/>
              <a:gdLst/>
              <a:ahLst/>
              <a:cxnLst/>
              <a:rect l="l" t="t" r="r" b="b"/>
              <a:pathLst>
                <a:path h="2092960">
                  <a:moveTo>
                    <a:pt x="0" y="0"/>
                  </a:moveTo>
                  <a:lnTo>
                    <a:pt x="0" y="2092452"/>
                  </a:lnTo>
                </a:path>
              </a:pathLst>
            </a:custGeom>
            <a:ln w="25908">
              <a:solidFill>
                <a:srgbClr val="0079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89"/>
              </a:lnSpc>
              <a:tabLst>
                <a:tab pos="1996439" algn="l"/>
                <a:tab pos="8046720" algn="l"/>
              </a:tabLst>
            </a:pPr>
            <a:r>
              <a:rPr dirty="0"/>
              <a:t>[501043 Lecture 1: Intro</a:t>
            </a:r>
            <a:r>
              <a:rPr spc="-6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Java]	</a:t>
            </a:r>
            <a:r>
              <a:rPr u="heavy" dirty="0">
                <a:uFill>
                  <a:solidFill>
                    <a:srgbClr val="009999"/>
                  </a:solidFill>
                </a:uFill>
              </a:rPr>
              <a:t> 	</a:t>
            </a:r>
            <a:r>
              <a:rPr sz="1600" b="1" i="1" spc="-5" dirty="0">
                <a:solidFill>
                  <a:srgbClr val="C00000"/>
                </a:solidFill>
                <a:latin typeface="Arial"/>
                <a:cs typeface="Arial"/>
              </a:rPr>
              <a:t>9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248158"/>
            <a:ext cx="31235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0" dirty="0"/>
              <a:t>Recap:</a:t>
            </a:r>
            <a:r>
              <a:rPr spc="-110" dirty="0"/>
              <a:t> </a:t>
            </a:r>
            <a:r>
              <a:rPr spc="85" dirty="0"/>
              <a:t>Process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90955" y="1365532"/>
            <a:ext cx="1814195" cy="954405"/>
            <a:chOff x="790955" y="1365532"/>
            <a:chExt cx="1814195" cy="954405"/>
          </a:xfrm>
        </p:grpSpPr>
        <p:sp>
          <p:nvSpPr>
            <p:cNvPr id="4" name="object 4"/>
            <p:cNvSpPr/>
            <p:nvPr/>
          </p:nvSpPr>
          <p:spPr>
            <a:xfrm>
              <a:off x="804664" y="1365532"/>
              <a:ext cx="1799859" cy="9539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90955" y="1405127"/>
              <a:ext cx="1377695" cy="697991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38199" y="1376171"/>
              <a:ext cx="1732788" cy="886967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996492" y="1481709"/>
            <a:ext cx="9683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FFFFFF"/>
                </a:solidFill>
                <a:latin typeface="Arial"/>
                <a:cs typeface="Arial"/>
              </a:rPr>
              <a:t>W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riting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961453" y="2188273"/>
            <a:ext cx="2218055" cy="1637664"/>
            <a:chOff x="961453" y="2188273"/>
            <a:chExt cx="2218055" cy="1637664"/>
          </a:xfrm>
        </p:grpSpPr>
        <p:sp>
          <p:nvSpPr>
            <p:cNvPr id="9" name="object 9"/>
            <p:cNvSpPr/>
            <p:nvPr/>
          </p:nvSpPr>
          <p:spPr>
            <a:xfrm>
              <a:off x="966216" y="2193035"/>
              <a:ext cx="2208530" cy="1628139"/>
            </a:xfrm>
            <a:custGeom>
              <a:avLst/>
              <a:gdLst/>
              <a:ahLst/>
              <a:cxnLst/>
              <a:rect l="l" t="t" r="r" b="b"/>
              <a:pathLst>
                <a:path w="2208530" h="1628139">
                  <a:moveTo>
                    <a:pt x="2045462" y="0"/>
                  </a:moveTo>
                  <a:lnTo>
                    <a:pt x="162763" y="0"/>
                  </a:lnTo>
                  <a:lnTo>
                    <a:pt x="119494" y="5816"/>
                  </a:lnTo>
                  <a:lnTo>
                    <a:pt x="80613" y="22229"/>
                  </a:lnTo>
                  <a:lnTo>
                    <a:pt x="47672" y="47688"/>
                  </a:lnTo>
                  <a:lnTo>
                    <a:pt x="22222" y="80640"/>
                  </a:lnTo>
                  <a:lnTo>
                    <a:pt x="5814" y="119532"/>
                  </a:lnTo>
                  <a:lnTo>
                    <a:pt x="0" y="162813"/>
                  </a:lnTo>
                  <a:lnTo>
                    <a:pt x="0" y="1464818"/>
                  </a:lnTo>
                  <a:lnTo>
                    <a:pt x="5814" y="1508099"/>
                  </a:lnTo>
                  <a:lnTo>
                    <a:pt x="22222" y="1546991"/>
                  </a:lnTo>
                  <a:lnTo>
                    <a:pt x="47672" y="1579943"/>
                  </a:lnTo>
                  <a:lnTo>
                    <a:pt x="80613" y="1605402"/>
                  </a:lnTo>
                  <a:lnTo>
                    <a:pt x="119494" y="1621815"/>
                  </a:lnTo>
                  <a:lnTo>
                    <a:pt x="162763" y="1627632"/>
                  </a:lnTo>
                  <a:lnTo>
                    <a:pt x="2045462" y="1627632"/>
                  </a:lnTo>
                  <a:lnTo>
                    <a:pt x="2088743" y="1621815"/>
                  </a:lnTo>
                  <a:lnTo>
                    <a:pt x="2127635" y="1605402"/>
                  </a:lnTo>
                  <a:lnTo>
                    <a:pt x="2160587" y="1579943"/>
                  </a:lnTo>
                  <a:lnTo>
                    <a:pt x="2186046" y="1546991"/>
                  </a:lnTo>
                  <a:lnTo>
                    <a:pt x="2202459" y="1508099"/>
                  </a:lnTo>
                  <a:lnTo>
                    <a:pt x="2208276" y="1464818"/>
                  </a:lnTo>
                  <a:lnTo>
                    <a:pt x="2208276" y="162813"/>
                  </a:lnTo>
                  <a:lnTo>
                    <a:pt x="2202459" y="119532"/>
                  </a:lnTo>
                  <a:lnTo>
                    <a:pt x="2186046" y="80640"/>
                  </a:lnTo>
                  <a:lnTo>
                    <a:pt x="2160587" y="47688"/>
                  </a:lnTo>
                  <a:lnTo>
                    <a:pt x="2127635" y="22229"/>
                  </a:lnTo>
                  <a:lnTo>
                    <a:pt x="2088743" y="5816"/>
                  </a:lnTo>
                  <a:lnTo>
                    <a:pt x="2045462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66216" y="2193035"/>
              <a:ext cx="2208530" cy="1628139"/>
            </a:xfrm>
            <a:custGeom>
              <a:avLst/>
              <a:gdLst/>
              <a:ahLst/>
              <a:cxnLst/>
              <a:rect l="l" t="t" r="r" b="b"/>
              <a:pathLst>
                <a:path w="2208530" h="1628139">
                  <a:moveTo>
                    <a:pt x="0" y="162813"/>
                  </a:moveTo>
                  <a:lnTo>
                    <a:pt x="5814" y="119532"/>
                  </a:lnTo>
                  <a:lnTo>
                    <a:pt x="22222" y="80640"/>
                  </a:lnTo>
                  <a:lnTo>
                    <a:pt x="47672" y="47688"/>
                  </a:lnTo>
                  <a:lnTo>
                    <a:pt x="80613" y="22229"/>
                  </a:lnTo>
                  <a:lnTo>
                    <a:pt x="119494" y="5816"/>
                  </a:lnTo>
                  <a:lnTo>
                    <a:pt x="162763" y="0"/>
                  </a:lnTo>
                  <a:lnTo>
                    <a:pt x="2045462" y="0"/>
                  </a:lnTo>
                  <a:lnTo>
                    <a:pt x="2088743" y="5816"/>
                  </a:lnTo>
                  <a:lnTo>
                    <a:pt x="2127635" y="22229"/>
                  </a:lnTo>
                  <a:lnTo>
                    <a:pt x="2160587" y="47688"/>
                  </a:lnTo>
                  <a:lnTo>
                    <a:pt x="2186046" y="80640"/>
                  </a:lnTo>
                  <a:lnTo>
                    <a:pt x="2202459" y="119532"/>
                  </a:lnTo>
                  <a:lnTo>
                    <a:pt x="2208276" y="162813"/>
                  </a:lnTo>
                  <a:lnTo>
                    <a:pt x="2208276" y="1464818"/>
                  </a:lnTo>
                  <a:lnTo>
                    <a:pt x="2202459" y="1508099"/>
                  </a:lnTo>
                  <a:lnTo>
                    <a:pt x="2186046" y="1546991"/>
                  </a:lnTo>
                  <a:lnTo>
                    <a:pt x="2160587" y="1579943"/>
                  </a:lnTo>
                  <a:lnTo>
                    <a:pt x="2127635" y="1605402"/>
                  </a:lnTo>
                  <a:lnTo>
                    <a:pt x="2088743" y="1621815"/>
                  </a:lnTo>
                  <a:lnTo>
                    <a:pt x="2045462" y="1627632"/>
                  </a:lnTo>
                  <a:lnTo>
                    <a:pt x="162763" y="1627632"/>
                  </a:lnTo>
                  <a:lnTo>
                    <a:pt x="119494" y="1621815"/>
                  </a:lnTo>
                  <a:lnTo>
                    <a:pt x="80613" y="1605402"/>
                  </a:lnTo>
                  <a:lnTo>
                    <a:pt x="47672" y="1579943"/>
                  </a:lnTo>
                  <a:lnTo>
                    <a:pt x="22222" y="1546991"/>
                  </a:lnTo>
                  <a:lnTo>
                    <a:pt x="5814" y="1508099"/>
                  </a:lnTo>
                  <a:lnTo>
                    <a:pt x="0" y="1464818"/>
                  </a:lnTo>
                  <a:lnTo>
                    <a:pt x="0" y="162813"/>
                  </a:lnTo>
                  <a:close/>
                </a:path>
              </a:pathLst>
            </a:custGeom>
            <a:ln w="9144">
              <a:solidFill>
                <a:srgbClr val="00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43711" y="2213935"/>
            <a:ext cx="1821814" cy="1209675"/>
          </a:xfrm>
          <a:prstGeom prst="rect">
            <a:avLst/>
          </a:prstGeom>
        </p:spPr>
        <p:txBody>
          <a:bodyPr vert="horz" wrap="square" lIns="0" tIns="15367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1210"/>
              </a:spcBef>
              <a:buChar char="•"/>
              <a:tabLst>
                <a:tab pos="240665" algn="l"/>
                <a:tab pos="241935" algn="l"/>
              </a:tabLst>
            </a:pPr>
            <a:r>
              <a:rPr sz="2000" spc="-45" dirty="0">
                <a:latin typeface="Arial"/>
                <a:cs typeface="Arial"/>
              </a:rPr>
              <a:t>Tool: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Editor</a:t>
            </a:r>
            <a:endParaRPr sz="2000">
              <a:latin typeface="Arial"/>
              <a:cs typeface="Arial"/>
            </a:endParaRPr>
          </a:p>
          <a:p>
            <a:pPr marL="241300" indent="-229235">
              <a:lnSpc>
                <a:spcPts val="2350"/>
              </a:lnSpc>
              <a:spcBef>
                <a:spcPts val="1105"/>
              </a:spcBef>
              <a:buChar char="•"/>
              <a:tabLst>
                <a:tab pos="240665" algn="l"/>
                <a:tab pos="241935" algn="l"/>
              </a:tabLst>
            </a:pPr>
            <a:r>
              <a:rPr sz="2000" dirty="0">
                <a:latin typeface="Arial"/>
                <a:cs typeface="Arial"/>
              </a:rPr>
              <a:t>Produce:</a:t>
            </a:r>
            <a:endParaRPr sz="2000">
              <a:latin typeface="Arial"/>
              <a:cs typeface="Arial"/>
            </a:endParaRPr>
          </a:p>
          <a:p>
            <a:pPr marL="241300">
              <a:lnSpc>
                <a:spcPts val="2350"/>
              </a:lnSpc>
            </a:pPr>
            <a:r>
              <a:rPr sz="2000" b="1" dirty="0">
                <a:latin typeface="Arial"/>
                <a:cs typeface="Arial"/>
              </a:rPr>
              <a:t>Source</a:t>
            </a:r>
            <a:r>
              <a:rPr sz="2000" b="1" spc="-8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Code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831533" y="1446115"/>
            <a:ext cx="681990" cy="480695"/>
            <a:chOff x="2831533" y="1446115"/>
            <a:chExt cx="681990" cy="480695"/>
          </a:xfrm>
        </p:grpSpPr>
        <p:sp>
          <p:nvSpPr>
            <p:cNvPr id="13" name="object 13"/>
            <p:cNvSpPr/>
            <p:nvPr/>
          </p:nvSpPr>
          <p:spPr>
            <a:xfrm>
              <a:off x="2831533" y="1446115"/>
              <a:ext cx="681403" cy="48038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864357" y="1447673"/>
              <a:ext cx="623316" cy="431546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3698747" y="1350278"/>
            <a:ext cx="1814195" cy="952500"/>
            <a:chOff x="3698747" y="1350278"/>
            <a:chExt cx="1814195" cy="952500"/>
          </a:xfrm>
        </p:grpSpPr>
        <p:sp>
          <p:nvSpPr>
            <p:cNvPr id="16" name="object 16"/>
            <p:cNvSpPr/>
            <p:nvPr/>
          </p:nvSpPr>
          <p:spPr>
            <a:xfrm>
              <a:off x="3712456" y="1350278"/>
              <a:ext cx="1799859" cy="952471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698747" y="1388363"/>
              <a:ext cx="1787652" cy="699515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745991" y="1360931"/>
              <a:ext cx="1732788" cy="885443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3904869" y="1465834"/>
            <a:ext cx="13779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sz="2400" spc="-15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mpil</a:t>
            </a:r>
            <a:r>
              <a:rPr sz="2400" spc="-2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ng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933253" y="1944433"/>
            <a:ext cx="2072005" cy="2032000"/>
            <a:chOff x="3933253" y="1944433"/>
            <a:chExt cx="2072005" cy="2032000"/>
          </a:xfrm>
        </p:grpSpPr>
        <p:sp>
          <p:nvSpPr>
            <p:cNvPr id="21" name="object 21"/>
            <p:cNvSpPr/>
            <p:nvPr/>
          </p:nvSpPr>
          <p:spPr>
            <a:xfrm>
              <a:off x="3938015" y="1949195"/>
              <a:ext cx="2062480" cy="2022475"/>
            </a:xfrm>
            <a:custGeom>
              <a:avLst/>
              <a:gdLst/>
              <a:ahLst/>
              <a:cxnLst/>
              <a:rect l="l" t="t" r="r" b="b"/>
              <a:pathLst>
                <a:path w="2062479" h="2022475">
                  <a:moveTo>
                    <a:pt x="1859788" y="0"/>
                  </a:moveTo>
                  <a:lnTo>
                    <a:pt x="202184" y="0"/>
                  </a:lnTo>
                  <a:lnTo>
                    <a:pt x="155834" y="5341"/>
                  </a:lnTo>
                  <a:lnTo>
                    <a:pt x="113281" y="20555"/>
                  </a:lnTo>
                  <a:lnTo>
                    <a:pt x="75740" y="44427"/>
                  </a:lnTo>
                  <a:lnTo>
                    <a:pt x="44427" y="75740"/>
                  </a:lnTo>
                  <a:lnTo>
                    <a:pt x="20555" y="113281"/>
                  </a:lnTo>
                  <a:lnTo>
                    <a:pt x="5341" y="155834"/>
                  </a:lnTo>
                  <a:lnTo>
                    <a:pt x="0" y="202183"/>
                  </a:lnTo>
                  <a:lnTo>
                    <a:pt x="0" y="1820164"/>
                  </a:lnTo>
                  <a:lnTo>
                    <a:pt x="5341" y="1866513"/>
                  </a:lnTo>
                  <a:lnTo>
                    <a:pt x="20555" y="1909066"/>
                  </a:lnTo>
                  <a:lnTo>
                    <a:pt x="44427" y="1946607"/>
                  </a:lnTo>
                  <a:lnTo>
                    <a:pt x="75740" y="1977920"/>
                  </a:lnTo>
                  <a:lnTo>
                    <a:pt x="113281" y="2001792"/>
                  </a:lnTo>
                  <a:lnTo>
                    <a:pt x="155834" y="2017006"/>
                  </a:lnTo>
                  <a:lnTo>
                    <a:pt x="202184" y="2022347"/>
                  </a:lnTo>
                  <a:lnTo>
                    <a:pt x="1859788" y="2022347"/>
                  </a:lnTo>
                  <a:lnTo>
                    <a:pt x="1906137" y="2017006"/>
                  </a:lnTo>
                  <a:lnTo>
                    <a:pt x="1948690" y="2001792"/>
                  </a:lnTo>
                  <a:lnTo>
                    <a:pt x="1986231" y="1977920"/>
                  </a:lnTo>
                  <a:lnTo>
                    <a:pt x="2017544" y="1946607"/>
                  </a:lnTo>
                  <a:lnTo>
                    <a:pt x="2041416" y="1909066"/>
                  </a:lnTo>
                  <a:lnTo>
                    <a:pt x="2056630" y="1866513"/>
                  </a:lnTo>
                  <a:lnTo>
                    <a:pt x="2061972" y="1820164"/>
                  </a:lnTo>
                  <a:lnTo>
                    <a:pt x="2061972" y="202183"/>
                  </a:lnTo>
                  <a:lnTo>
                    <a:pt x="2056630" y="155834"/>
                  </a:lnTo>
                  <a:lnTo>
                    <a:pt x="2041416" y="113281"/>
                  </a:lnTo>
                  <a:lnTo>
                    <a:pt x="2017544" y="75740"/>
                  </a:lnTo>
                  <a:lnTo>
                    <a:pt x="1986231" y="44427"/>
                  </a:lnTo>
                  <a:lnTo>
                    <a:pt x="1948690" y="20555"/>
                  </a:lnTo>
                  <a:lnTo>
                    <a:pt x="1906137" y="5341"/>
                  </a:lnTo>
                  <a:lnTo>
                    <a:pt x="1859788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938015" y="1949195"/>
              <a:ext cx="2062480" cy="2022475"/>
            </a:xfrm>
            <a:custGeom>
              <a:avLst/>
              <a:gdLst/>
              <a:ahLst/>
              <a:cxnLst/>
              <a:rect l="l" t="t" r="r" b="b"/>
              <a:pathLst>
                <a:path w="2062479" h="2022475">
                  <a:moveTo>
                    <a:pt x="0" y="202183"/>
                  </a:moveTo>
                  <a:lnTo>
                    <a:pt x="5341" y="155834"/>
                  </a:lnTo>
                  <a:lnTo>
                    <a:pt x="20555" y="113281"/>
                  </a:lnTo>
                  <a:lnTo>
                    <a:pt x="44427" y="75740"/>
                  </a:lnTo>
                  <a:lnTo>
                    <a:pt x="75740" y="44427"/>
                  </a:lnTo>
                  <a:lnTo>
                    <a:pt x="113281" y="20555"/>
                  </a:lnTo>
                  <a:lnTo>
                    <a:pt x="155834" y="5341"/>
                  </a:lnTo>
                  <a:lnTo>
                    <a:pt x="202184" y="0"/>
                  </a:lnTo>
                  <a:lnTo>
                    <a:pt x="1859788" y="0"/>
                  </a:lnTo>
                  <a:lnTo>
                    <a:pt x="1906137" y="5341"/>
                  </a:lnTo>
                  <a:lnTo>
                    <a:pt x="1948690" y="20555"/>
                  </a:lnTo>
                  <a:lnTo>
                    <a:pt x="1986231" y="44427"/>
                  </a:lnTo>
                  <a:lnTo>
                    <a:pt x="2017544" y="75740"/>
                  </a:lnTo>
                  <a:lnTo>
                    <a:pt x="2041416" y="113281"/>
                  </a:lnTo>
                  <a:lnTo>
                    <a:pt x="2056630" y="155834"/>
                  </a:lnTo>
                  <a:lnTo>
                    <a:pt x="2061972" y="202183"/>
                  </a:lnTo>
                  <a:lnTo>
                    <a:pt x="2061972" y="1820164"/>
                  </a:lnTo>
                  <a:lnTo>
                    <a:pt x="2056630" y="1866513"/>
                  </a:lnTo>
                  <a:lnTo>
                    <a:pt x="2041416" y="1909066"/>
                  </a:lnTo>
                  <a:lnTo>
                    <a:pt x="2017544" y="1946607"/>
                  </a:lnTo>
                  <a:lnTo>
                    <a:pt x="1986231" y="1977920"/>
                  </a:lnTo>
                  <a:lnTo>
                    <a:pt x="1948690" y="2001792"/>
                  </a:lnTo>
                  <a:lnTo>
                    <a:pt x="1906137" y="2017006"/>
                  </a:lnTo>
                  <a:lnTo>
                    <a:pt x="1859788" y="2022347"/>
                  </a:lnTo>
                  <a:lnTo>
                    <a:pt x="202184" y="2022347"/>
                  </a:lnTo>
                  <a:lnTo>
                    <a:pt x="155834" y="2017006"/>
                  </a:lnTo>
                  <a:lnTo>
                    <a:pt x="113281" y="2001792"/>
                  </a:lnTo>
                  <a:lnTo>
                    <a:pt x="75740" y="1977920"/>
                  </a:lnTo>
                  <a:lnTo>
                    <a:pt x="44427" y="1946607"/>
                  </a:lnTo>
                  <a:lnTo>
                    <a:pt x="20555" y="1909066"/>
                  </a:lnTo>
                  <a:lnTo>
                    <a:pt x="5341" y="1866513"/>
                  </a:lnTo>
                  <a:lnTo>
                    <a:pt x="0" y="1820164"/>
                  </a:lnTo>
                  <a:lnTo>
                    <a:pt x="0" y="202183"/>
                  </a:lnTo>
                  <a:close/>
                </a:path>
              </a:pathLst>
            </a:custGeom>
            <a:ln w="9144">
              <a:solidFill>
                <a:srgbClr val="00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4127372" y="2122424"/>
            <a:ext cx="1598930" cy="16529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ts val="2350"/>
              </a:lnSpc>
              <a:spcBef>
                <a:spcPts val="105"/>
              </a:spcBef>
              <a:buChar char="•"/>
              <a:tabLst>
                <a:tab pos="240665" algn="l"/>
                <a:tab pos="241300" algn="l"/>
              </a:tabLst>
            </a:pPr>
            <a:r>
              <a:rPr sz="2000" spc="-45" dirty="0">
                <a:latin typeface="Arial"/>
                <a:cs typeface="Arial"/>
              </a:rPr>
              <a:t>Tool:</a:t>
            </a:r>
            <a:endParaRPr sz="2000">
              <a:latin typeface="Arial"/>
              <a:cs typeface="Arial"/>
            </a:endParaRPr>
          </a:p>
          <a:p>
            <a:pPr marL="241300">
              <a:lnSpc>
                <a:spcPts val="2350"/>
              </a:lnSpc>
            </a:pPr>
            <a:r>
              <a:rPr sz="2000" b="1" dirty="0">
                <a:latin typeface="Arial"/>
                <a:cs typeface="Arial"/>
              </a:rPr>
              <a:t>Compiler</a:t>
            </a:r>
            <a:endParaRPr sz="2000">
              <a:latin typeface="Arial"/>
              <a:cs typeface="Arial"/>
            </a:endParaRPr>
          </a:p>
          <a:p>
            <a:pPr marL="241300" marR="5080" indent="-228600">
              <a:lnSpc>
                <a:spcPct val="95700"/>
              </a:lnSpc>
              <a:spcBef>
                <a:spcPts val="1205"/>
              </a:spcBef>
              <a:buChar char="•"/>
              <a:tabLst>
                <a:tab pos="240665" algn="l"/>
                <a:tab pos="241300" algn="l"/>
              </a:tabLst>
            </a:pPr>
            <a:r>
              <a:rPr sz="2000" dirty="0">
                <a:latin typeface="Arial"/>
                <a:cs typeface="Arial"/>
              </a:rPr>
              <a:t>Produce:  </a:t>
            </a:r>
            <a:r>
              <a:rPr sz="2000" b="1" dirty="0">
                <a:latin typeface="Arial"/>
                <a:cs typeface="Arial"/>
              </a:rPr>
              <a:t>Executable  </a:t>
            </a:r>
            <a:r>
              <a:rPr sz="2000" b="1" spc="-5" dirty="0">
                <a:latin typeface="Arial"/>
                <a:cs typeface="Arial"/>
              </a:rPr>
              <a:t>Bytecode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757616" y="1348754"/>
            <a:ext cx="2734310" cy="952500"/>
            <a:chOff x="5757616" y="1348754"/>
            <a:chExt cx="2734310" cy="952500"/>
          </a:xfrm>
        </p:grpSpPr>
        <p:sp>
          <p:nvSpPr>
            <p:cNvPr id="25" name="object 25"/>
            <p:cNvSpPr/>
            <p:nvPr/>
          </p:nvSpPr>
          <p:spPr>
            <a:xfrm>
              <a:off x="5757616" y="1438495"/>
              <a:ext cx="717971" cy="480380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790692" y="1439672"/>
              <a:ext cx="660019" cy="431545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691876" y="1348754"/>
              <a:ext cx="1799859" cy="952471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678168" y="1386840"/>
              <a:ext cx="1770887" cy="699515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725412" y="1359408"/>
              <a:ext cx="1732788" cy="885443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6884034" y="1464055"/>
            <a:ext cx="13620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2400" spc="-20" dirty="0">
                <a:solidFill>
                  <a:srgbClr val="FFFFFF"/>
                </a:solidFill>
                <a:latin typeface="Arial"/>
                <a:cs typeface="Arial"/>
              </a:rPr>
              <a:t>x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ecuting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7075741" y="1944433"/>
            <a:ext cx="1739264" cy="2032000"/>
            <a:chOff x="7075741" y="1944433"/>
            <a:chExt cx="1739264" cy="2032000"/>
          </a:xfrm>
        </p:grpSpPr>
        <p:sp>
          <p:nvSpPr>
            <p:cNvPr id="32" name="object 32"/>
            <p:cNvSpPr/>
            <p:nvPr/>
          </p:nvSpPr>
          <p:spPr>
            <a:xfrm>
              <a:off x="7080504" y="1949195"/>
              <a:ext cx="1729739" cy="2022475"/>
            </a:xfrm>
            <a:custGeom>
              <a:avLst/>
              <a:gdLst/>
              <a:ahLst/>
              <a:cxnLst/>
              <a:rect l="l" t="t" r="r" b="b"/>
              <a:pathLst>
                <a:path w="1729740" h="2022475">
                  <a:moveTo>
                    <a:pt x="1556766" y="0"/>
                  </a:moveTo>
                  <a:lnTo>
                    <a:pt x="172974" y="0"/>
                  </a:lnTo>
                  <a:lnTo>
                    <a:pt x="127000" y="6180"/>
                  </a:lnTo>
                  <a:lnTo>
                    <a:pt x="85682" y="23622"/>
                  </a:lnTo>
                  <a:lnTo>
                    <a:pt x="50673" y="50673"/>
                  </a:lnTo>
                  <a:lnTo>
                    <a:pt x="23622" y="85682"/>
                  </a:lnTo>
                  <a:lnTo>
                    <a:pt x="6180" y="127000"/>
                  </a:lnTo>
                  <a:lnTo>
                    <a:pt x="0" y="172974"/>
                  </a:lnTo>
                  <a:lnTo>
                    <a:pt x="0" y="1849373"/>
                  </a:lnTo>
                  <a:lnTo>
                    <a:pt x="6180" y="1895347"/>
                  </a:lnTo>
                  <a:lnTo>
                    <a:pt x="23622" y="1936665"/>
                  </a:lnTo>
                  <a:lnTo>
                    <a:pt x="50673" y="1971674"/>
                  </a:lnTo>
                  <a:lnTo>
                    <a:pt x="85682" y="1998725"/>
                  </a:lnTo>
                  <a:lnTo>
                    <a:pt x="127000" y="2016167"/>
                  </a:lnTo>
                  <a:lnTo>
                    <a:pt x="172974" y="2022347"/>
                  </a:lnTo>
                  <a:lnTo>
                    <a:pt x="1556766" y="2022347"/>
                  </a:lnTo>
                  <a:lnTo>
                    <a:pt x="1602740" y="2016167"/>
                  </a:lnTo>
                  <a:lnTo>
                    <a:pt x="1644057" y="1998725"/>
                  </a:lnTo>
                  <a:lnTo>
                    <a:pt x="1679067" y="1971674"/>
                  </a:lnTo>
                  <a:lnTo>
                    <a:pt x="1706118" y="1936665"/>
                  </a:lnTo>
                  <a:lnTo>
                    <a:pt x="1723559" y="1895347"/>
                  </a:lnTo>
                  <a:lnTo>
                    <a:pt x="1729740" y="1849373"/>
                  </a:lnTo>
                  <a:lnTo>
                    <a:pt x="1729740" y="172974"/>
                  </a:lnTo>
                  <a:lnTo>
                    <a:pt x="1723559" y="127000"/>
                  </a:lnTo>
                  <a:lnTo>
                    <a:pt x="1706118" y="85682"/>
                  </a:lnTo>
                  <a:lnTo>
                    <a:pt x="1679067" y="50673"/>
                  </a:lnTo>
                  <a:lnTo>
                    <a:pt x="1644057" y="23622"/>
                  </a:lnTo>
                  <a:lnTo>
                    <a:pt x="1602740" y="6180"/>
                  </a:lnTo>
                  <a:lnTo>
                    <a:pt x="1556766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080504" y="1949195"/>
              <a:ext cx="1729739" cy="2022475"/>
            </a:xfrm>
            <a:custGeom>
              <a:avLst/>
              <a:gdLst/>
              <a:ahLst/>
              <a:cxnLst/>
              <a:rect l="l" t="t" r="r" b="b"/>
              <a:pathLst>
                <a:path w="1729740" h="2022475">
                  <a:moveTo>
                    <a:pt x="0" y="172974"/>
                  </a:moveTo>
                  <a:lnTo>
                    <a:pt x="6180" y="127000"/>
                  </a:lnTo>
                  <a:lnTo>
                    <a:pt x="23622" y="85682"/>
                  </a:lnTo>
                  <a:lnTo>
                    <a:pt x="50673" y="50673"/>
                  </a:lnTo>
                  <a:lnTo>
                    <a:pt x="85682" y="23622"/>
                  </a:lnTo>
                  <a:lnTo>
                    <a:pt x="127000" y="6180"/>
                  </a:lnTo>
                  <a:lnTo>
                    <a:pt x="172974" y="0"/>
                  </a:lnTo>
                  <a:lnTo>
                    <a:pt x="1556766" y="0"/>
                  </a:lnTo>
                  <a:lnTo>
                    <a:pt x="1602740" y="6180"/>
                  </a:lnTo>
                  <a:lnTo>
                    <a:pt x="1644057" y="23622"/>
                  </a:lnTo>
                  <a:lnTo>
                    <a:pt x="1679067" y="50673"/>
                  </a:lnTo>
                  <a:lnTo>
                    <a:pt x="1706118" y="85682"/>
                  </a:lnTo>
                  <a:lnTo>
                    <a:pt x="1723559" y="127000"/>
                  </a:lnTo>
                  <a:lnTo>
                    <a:pt x="1729740" y="172974"/>
                  </a:lnTo>
                  <a:lnTo>
                    <a:pt x="1729740" y="1849373"/>
                  </a:lnTo>
                  <a:lnTo>
                    <a:pt x="1723559" y="1895347"/>
                  </a:lnTo>
                  <a:lnTo>
                    <a:pt x="1706118" y="1936665"/>
                  </a:lnTo>
                  <a:lnTo>
                    <a:pt x="1679067" y="1971674"/>
                  </a:lnTo>
                  <a:lnTo>
                    <a:pt x="1644057" y="1998725"/>
                  </a:lnTo>
                  <a:lnTo>
                    <a:pt x="1602740" y="2016167"/>
                  </a:lnTo>
                  <a:lnTo>
                    <a:pt x="1556766" y="2022347"/>
                  </a:lnTo>
                  <a:lnTo>
                    <a:pt x="172974" y="2022347"/>
                  </a:lnTo>
                  <a:lnTo>
                    <a:pt x="127000" y="2016167"/>
                  </a:lnTo>
                  <a:lnTo>
                    <a:pt x="85682" y="1998725"/>
                  </a:lnTo>
                  <a:lnTo>
                    <a:pt x="50673" y="1971674"/>
                  </a:lnTo>
                  <a:lnTo>
                    <a:pt x="23622" y="1936665"/>
                  </a:lnTo>
                  <a:lnTo>
                    <a:pt x="6180" y="1895347"/>
                  </a:lnTo>
                  <a:lnTo>
                    <a:pt x="0" y="1849373"/>
                  </a:lnTo>
                  <a:lnTo>
                    <a:pt x="0" y="172974"/>
                  </a:lnTo>
                  <a:close/>
                </a:path>
              </a:pathLst>
            </a:custGeom>
            <a:ln w="9144">
              <a:solidFill>
                <a:srgbClr val="00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7261986" y="2113914"/>
            <a:ext cx="1273810" cy="13601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27965" marR="473709" indent="-227965">
              <a:lnSpc>
                <a:spcPts val="2350"/>
              </a:lnSpc>
              <a:spcBef>
                <a:spcPts val="105"/>
              </a:spcBef>
              <a:buChar char="•"/>
              <a:tabLst>
                <a:tab pos="227965" algn="l"/>
                <a:tab pos="241300" algn="l"/>
              </a:tabLst>
            </a:pPr>
            <a:r>
              <a:rPr sz="2000" spc="-220" dirty="0">
                <a:latin typeface="Arial"/>
                <a:cs typeface="Arial"/>
              </a:rPr>
              <a:t>T</a:t>
            </a:r>
            <a:r>
              <a:rPr sz="2000" dirty="0">
                <a:latin typeface="Arial"/>
                <a:cs typeface="Arial"/>
              </a:rPr>
              <a:t>ool:</a:t>
            </a:r>
            <a:endParaRPr sz="2000">
              <a:latin typeface="Arial"/>
              <a:cs typeface="Arial"/>
            </a:endParaRPr>
          </a:p>
          <a:p>
            <a:pPr marR="147320" algn="ctr">
              <a:lnSpc>
                <a:spcPts val="2350"/>
              </a:lnSpc>
            </a:pPr>
            <a:r>
              <a:rPr sz="2000" b="1" dirty="0">
                <a:latin typeface="Arial"/>
                <a:cs typeface="Arial"/>
              </a:rPr>
              <a:t>None</a:t>
            </a:r>
            <a:endParaRPr sz="2000">
              <a:latin typeface="Arial"/>
              <a:cs typeface="Arial"/>
            </a:endParaRPr>
          </a:p>
          <a:p>
            <a:pPr marL="227965" indent="-227965">
              <a:lnSpc>
                <a:spcPts val="2345"/>
              </a:lnSpc>
              <a:spcBef>
                <a:spcPts val="1105"/>
              </a:spcBef>
              <a:buChar char="•"/>
              <a:tabLst>
                <a:tab pos="227965" algn="l"/>
                <a:tab pos="241300" algn="l"/>
              </a:tabLst>
            </a:pPr>
            <a:r>
              <a:rPr sz="2000" dirty="0">
                <a:latin typeface="Arial"/>
                <a:cs typeface="Arial"/>
              </a:rPr>
              <a:t>Produ</a:t>
            </a:r>
            <a:r>
              <a:rPr sz="2000" spc="10" dirty="0">
                <a:latin typeface="Arial"/>
                <a:cs typeface="Arial"/>
              </a:rPr>
              <a:t>c</a:t>
            </a:r>
            <a:r>
              <a:rPr sz="2000" dirty="0">
                <a:latin typeface="Arial"/>
                <a:cs typeface="Arial"/>
              </a:rPr>
              <a:t>e:</a:t>
            </a:r>
            <a:endParaRPr sz="2000">
              <a:latin typeface="Arial"/>
              <a:cs typeface="Arial"/>
            </a:endParaRPr>
          </a:p>
          <a:p>
            <a:pPr marR="5080" algn="ctr">
              <a:lnSpc>
                <a:spcPts val="2345"/>
              </a:lnSpc>
            </a:pPr>
            <a:r>
              <a:rPr sz="2000" b="1" dirty="0">
                <a:latin typeface="Arial"/>
                <a:cs typeface="Arial"/>
              </a:rPr>
              <a:t>Result</a:t>
            </a:r>
            <a:endParaRPr sz="2000">
              <a:latin typeface="Arial"/>
              <a:cs typeface="Arial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1548257" y="3886961"/>
            <a:ext cx="6542405" cy="1232535"/>
          </a:xfrm>
          <a:custGeom>
            <a:avLst/>
            <a:gdLst/>
            <a:ahLst/>
            <a:cxnLst/>
            <a:rect l="l" t="t" r="r" b="b"/>
            <a:pathLst>
              <a:path w="6542405" h="1232535">
                <a:moveTo>
                  <a:pt x="3570732" y="9779"/>
                </a:moveTo>
                <a:lnTo>
                  <a:pt x="3544951" y="7366"/>
                </a:lnTo>
                <a:lnTo>
                  <a:pt x="3541776" y="42672"/>
                </a:lnTo>
                <a:lnTo>
                  <a:pt x="3534791" y="76073"/>
                </a:lnTo>
                <a:lnTo>
                  <a:pt x="3509518" y="141351"/>
                </a:lnTo>
                <a:lnTo>
                  <a:pt x="3469386" y="204724"/>
                </a:lnTo>
                <a:lnTo>
                  <a:pt x="3443859" y="235585"/>
                </a:lnTo>
                <a:lnTo>
                  <a:pt x="3415030" y="265811"/>
                </a:lnTo>
                <a:lnTo>
                  <a:pt x="3382645" y="295402"/>
                </a:lnTo>
                <a:lnTo>
                  <a:pt x="3347085" y="324358"/>
                </a:lnTo>
                <a:lnTo>
                  <a:pt x="3308223" y="352425"/>
                </a:lnTo>
                <a:lnTo>
                  <a:pt x="3266313" y="379603"/>
                </a:lnTo>
                <a:lnTo>
                  <a:pt x="3221482" y="406019"/>
                </a:lnTo>
                <a:lnTo>
                  <a:pt x="3173730" y="431419"/>
                </a:lnTo>
                <a:lnTo>
                  <a:pt x="3123184" y="455676"/>
                </a:lnTo>
                <a:lnTo>
                  <a:pt x="3069844" y="479044"/>
                </a:lnTo>
                <a:lnTo>
                  <a:pt x="3014091" y="501396"/>
                </a:lnTo>
                <a:lnTo>
                  <a:pt x="2955798" y="522478"/>
                </a:lnTo>
                <a:lnTo>
                  <a:pt x="2895092" y="542290"/>
                </a:lnTo>
                <a:lnTo>
                  <a:pt x="2832100" y="560959"/>
                </a:lnTo>
                <a:lnTo>
                  <a:pt x="2767076" y="578358"/>
                </a:lnTo>
                <a:lnTo>
                  <a:pt x="2699893" y="594487"/>
                </a:lnTo>
                <a:lnTo>
                  <a:pt x="2630805" y="609219"/>
                </a:lnTo>
                <a:lnTo>
                  <a:pt x="2559812" y="622427"/>
                </a:lnTo>
                <a:lnTo>
                  <a:pt x="2487168" y="634365"/>
                </a:lnTo>
                <a:lnTo>
                  <a:pt x="2412746" y="644652"/>
                </a:lnTo>
                <a:lnTo>
                  <a:pt x="2336800" y="653542"/>
                </a:lnTo>
                <a:lnTo>
                  <a:pt x="2259457" y="660654"/>
                </a:lnTo>
                <a:lnTo>
                  <a:pt x="2180844" y="666369"/>
                </a:lnTo>
                <a:lnTo>
                  <a:pt x="2100961" y="670179"/>
                </a:lnTo>
                <a:lnTo>
                  <a:pt x="2019808" y="672338"/>
                </a:lnTo>
                <a:lnTo>
                  <a:pt x="1937766" y="672846"/>
                </a:lnTo>
                <a:lnTo>
                  <a:pt x="1856359" y="671576"/>
                </a:lnTo>
                <a:lnTo>
                  <a:pt x="1776209" y="668528"/>
                </a:lnTo>
                <a:lnTo>
                  <a:pt x="1697228" y="663829"/>
                </a:lnTo>
                <a:lnTo>
                  <a:pt x="1619504" y="657479"/>
                </a:lnTo>
                <a:lnTo>
                  <a:pt x="1543177" y="649605"/>
                </a:lnTo>
                <a:lnTo>
                  <a:pt x="1468374" y="640080"/>
                </a:lnTo>
                <a:lnTo>
                  <a:pt x="1395095" y="629158"/>
                </a:lnTo>
                <a:lnTo>
                  <a:pt x="1323594" y="616712"/>
                </a:lnTo>
                <a:lnTo>
                  <a:pt x="1253871" y="602869"/>
                </a:lnTo>
                <a:lnTo>
                  <a:pt x="1185926" y="587629"/>
                </a:lnTo>
                <a:lnTo>
                  <a:pt x="1120140" y="571119"/>
                </a:lnTo>
                <a:lnTo>
                  <a:pt x="1056259" y="553339"/>
                </a:lnTo>
                <a:lnTo>
                  <a:pt x="994791" y="534162"/>
                </a:lnTo>
                <a:lnTo>
                  <a:pt x="935482" y="513842"/>
                </a:lnTo>
                <a:lnTo>
                  <a:pt x="878459" y="492506"/>
                </a:lnTo>
                <a:lnTo>
                  <a:pt x="824103" y="470027"/>
                </a:lnTo>
                <a:lnTo>
                  <a:pt x="772287" y="446405"/>
                </a:lnTo>
                <a:lnTo>
                  <a:pt x="723138" y="421767"/>
                </a:lnTo>
                <a:lnTo>
                  <a:pt x="676783" y="396240"/>
                </a:lnTo>
                <a:lnTo>
                  <a:pt x="633349" y="369697"/>
                </a:lnTo>
                <a:lnTo>
                  <a:pt x="592836" y="342392"/>
                </a:lnTo>
                <a:lnTo>
                  <a:pt x="555371" y="314198"/>
                </a:lnTo>
                <a:lnTo>
                  <a:pt x="521081" y="285242"/>
                </a:lnTo>
                <a:lnTo>
                  <a:pt x="490220" y="255524"/>
                </a:lnTo>
                <a:lnTo>
                  <a:pt x="462661" y="225171"/>
                </a:lnTo>
                <a:lnTo>
                  <a:pt x="438531" y="194310"/>
                </a:lnTo>
                <a:lnTo>
                  <a:pt x="400939" y="130937"/>
                </a:lnTo>
                <a:lnTo>
                  <a:pt x="384200" y="86944"/>
                </a:lnTo>
                <a:lnTo>
                  <a:pt x="438912" y="119761"/>
                </a:lnTo>
                <a:lnTo>
                  <a:pt x="407390" y="73406"/>
                </a:lnTo>
                <a:lnTo>
                  <a:pt x="357505" y="0"/>
                </a:lnTo>
                <a:lnTo>
                  <a:pt x="310515" y="137033"/>
                </a:lnTo>
                <a:lnTo>
                  <a:pt x="357479" y="87871"/>
                </a:lnTo>
                <a:lnTo>
                  <a:pt x="363601" y="108458"/>
                </a:lnTo>
                <a:lnTo>
                  <a:pt x="396240" y="177165"/>
                </a:lnTo>
                <a:lnTo>
                  <a:pt x="418084" y="210312"/>
                </a:lnTo>
                <a:lnTo>
                  <a:pt x="443484" y="242697"/>
                </a:lnTo>
                <a:lnTo>
                  <a:pt x="472313" y="274193"/>
                </a:lnTo>
                <a:lnTo>
                  <a:pt x="504444" y="304927"/>
                </a:lnTo>
                <a:lnTo>
                  <a:pt x="539877" y="334899"/>
                </a:lnTo>
                <a:lnTo>
                  <a:pt x="578231" y="363855"/>
                </a:lnTo>
                <a:lnTo>
                  <a:pt x="619887" y="391922"/>
                </a:lnTo>
                <a:lnTo>
                  <a:pt x="664210" y="418973"/>
                </a:lnTo>
                <a:lnTo>
                  <a:pt x="711581" y="445008"/>
                </a:lnTo>
                <a:lnTo>
                  <a:pt x="761492" y="469900"/>
                </a:lnTo>
                <a:lnTo>
                  <a:pt x="814197" y="493903"/>
                </a:lnTo>
                <a:lnTo>
                  <a:pt x="869442" y="516763"/>
                </a:lnTo>
                <a:lnTo>
                  <a:pt x="927100" y="538480"/>
                </a:lnTo>
                <a:lnTo>
                  <a:pt x="987044" y="558927"/>
                </a:lnTo>
                <a:lnTo>
                  <a:pt x="1049401" y="578231"/>
                </a:lnTo>
                <a:lnTo>
                  <a:pt x="1113790" y="596265"/>
                </a:lnTo>
                <a:lnTo>
                  <a:pt x="1180338" y="612902"/>
                </a:lnTo>
                <a:lnTo>
                  <a:pt x="1248791" y="628269"/>
                </a:lnTo>
                <a:lnTo>
                  <a:pt x="1319149" y="642239"/>
                </a:lnTo>
                <a:lnTo>
                  <a:pt x="1391285" y="654812"/>
                </a:lnTo>
                <a:lnTo>
                  <a:pt x="1465072" y="665734"/>
                </a:lnTo>
                <a:lnTo>
                  <a:pt x="1540510" y="675386"/>
                </a:lnTo>
                <a:lnTo>
                  <a:pt x="1617345" y="683260"/>
                </a:lnTo>
                <a:lnTo>
                  <a:pt x="1695704" y="689737"/>
                </a:lnTo>
                <a:lnTo>
                  <a:pt x="1775206" y="694309"/>
                </a:lnTo>
                <a:lnTo>
                  <a:pt x="1855978" y="697357"/>
                </a:lnTo>
                <a:lnTo>
                  <a:pt x="1937893" y="698754"/>
                </a:lnTo>
                <a:lnTo>
                  <a:pt x="2020570" y="698246"/>
                </a:lnTo>
                <a:lnTo>
                  <a:pt x="2102104" y="696087"/>
                </a:lnTo>
                <a:lnTo>
                  <a:pt x="2182622" y="692150"/>
                </a:lnTo>
                <a:lnTo>
                  <a:pt x="2261870" y="686562"/>
                </a:lnTo>
                <a:lnTo>
                  <a:pt x="2339848" y="679196"/>
                </a:lnTo>
                <a:lnTo>
                  <a:pt x="2394458" y="672846"/>
                </a:lnTo>
                <a:lnTo>
                  <a:pt x="2416302" y="670306"/>
                </a:lnTo>
                <a:lnTo>
                  <a:pt x="2491232" y="659892"/>
                </a:lnTo>
                <a:lnTo>
                  <a:pt x="2564511" y="647954"/>
                </a:lnTo>
                <a:lnTo>
                  <a:pt x="2636266" y="634492"/>
                </a:lnTo>
                <a:lnTo>
                  <a:pt x="2705989" y="619633"/>
                </a:lnTo>
                <a:lnTo>
                  <a:pt x="2773680" y="603504"/>
                </a:lnTo>
                <a:lnTo>
                  <a:pt x="2839466" y="585851"/>
                </a:lnTo>
                <a:lnTo>
                  <a:pt x="2903220" y="566928"/>
                </a:lnTo>
                <a:lnTo>
                  <a:pt x="2964561" y="546862"/>
                </a:lnTo>
                <a:lnTo>
                  <a:pt x="3023743" y="525399"/>
                </a:lnTo>
                <a:lnTo>
                  <a:pt x="3080258" y="502793"/>
                </a:lnTo>
                <a:lnTo>
                  <a:pt x="3134487" y="479044"/>
                </a:lnTo>
                <a:lnTo>
                  <a:pt x="3185795" y="454279"/>
                </a:lnTo>
                <a:lnTo>
                  <a:pt x="3234563" y="428371"/>
                </a:lnTo>
                <a:lnTo>
                  <a:pt x="3280410" y="401447"/>
                </a:lnTo>
                <a:lnTo>
                  <a:pt x="3323463" y="373380"/>
                </a:lnTo>
                <a:lnTo>
                  <a:pt x="3363341" y="344424"/>
                </a:lnTo>
                <a:lnTo>
                  <a:pt x="3400171" y="314579"/>
                </a:lnTo>
                <a:lnTo>
                  <a:pt x="3433699" y="283718"/>
                </a:lnTo>
                <a:lnTo>
                  <a:pt x="3463925" y="252095"/>
                </a:lnTo>
                <a:lnTo>
                  <a:pt x="3490595" y="219456"/>
                </a:lnTo>
                <a:lnTo>
                  <a:pt x="3513709" y="186055"/>
                </a:lnTo>
                <a:lnTo>
                  <a:pt x="3533140" y="151892"/>
                </a:lnTo>
                <a:lnTo>
                  <a:pt x="3548634" y="116840"/>
                </a:lnTo>
                <a:lnTo>
                  <a:pt x="3567557" y="44958"/>
                </a:lnTo>
                <a:lnTo>
                  <a:pt x="3570732" y="9779"/>
                </a:lnTo>
                <a:close/>
              </a:path>
              <a:path w="6542405" h="1232535">
                <a:moveTo>
                  <a:pt x="6542278" y="56388"/>
                </a:moveTo>
                <a:lnTo>
                  <a:pt x="6516497" y="54483"/>
                </a:lnTo>
                <a:lnTo>
                  <a:pt x="6514211" y="84963"/>
                </a:lnTo>
                <a:lnTo>
                  <a:pt x="6509893" y="114300"/>
                </a:lnTo>
                <a:lnTo>
                  <a:pt x="6495415" y="172593"/>
                </a:lnTo>
                <a:lnTo>
                  <a:pt x="6472936" y="229997"/>
                </a:lnTo>
                <a:lnTo>
                  <a:pt x="6442837" y="286639"/>
                </a:lnTo>
                <a:lnTo>
                  <a:pt x="6404991" y="342519"/>
                </a:lnTo>
                <a:lnTo>
                  <a:pt x="6359906" y="397383"/>
                </a:lnTo>
                <a:lnTo>
                  <a:pt x="6307582" y="451231"/>
                </a:lnTo>
                <a:lnTo>
                  <a:pt x="6278626" y="477647"/>
                </a:lnTo>
                <a:lnTo>
                  <a:pt x="6248019" y="503936"/>
                </a:lnTo>
                <a:lnTo>
                  <a:pt x="6215761" y="529717"/>
                </a:lnTo>
                <a:lnTo>
                  <a:pt x="6181725" y="555371"/>
                </a:lnTo>
                <a:lnTo>
                  <a:pt x="6146038" y="580517"/>
                </a:lnTo>
                <a:lnTo>
                  <a:pt x="6108827" y="605536"/>
                </a:lnTo>
                <a:lnTo>
                  <a:pt x="6069838" y="629920"/>
                </a:lnTo>
                <a:lnTo>
                  <a:pt x="6029325" y="654177"/>
                </a:lnTo>
                <a:lnTo>
                  <a:pt x="5987415" y="677926"/>
                </a:lnTo>
                <a:lnTo>
                  <a:pt x="5943727" y="701294"/>
                </a:lnTo>
                <a:lnTo>
                  <a:pt x="5851906" y="747014"/>
                </a:lnTo>
                <a:lnTo>
                  <a:pt x="5754497" y="790829"/>
                </a:lnTo>
                <a:lnTo>
                  <a:pt x="5651500" y="832993"/>
                </a:lnTo>
                <a:lnTo>
                  <a:pt x="5542915" y="873252"/>
                </a:lnTo>
                <a:lnTo>
                  <a:pt x="5429377" y="911606"/>
                </a:lnTo>
                <a:lnTo>
                  <a:pt x="5310759" y="948055"/>
                </a:lnTo>
                <a:lnTo>
                  <a:pt x="5187315" y="982345"/>
                </a:lnTo>
                <a:lnTo>
                  <a:pt x="5059299" y="1014476"/>
                </a:lnTo>
                <a:lnTo>
                  <a:pt x="4926965" y="1044448"/>
                </a:lnTo>
                <a:lnTo>
                  <a:pt x="4790567" y="1072134"/>
                </a:lnTo>
                <a:lnTo>
                  <a:pt x="4650105" y="1097407"/>
                </a:lnTo>
                <a:lnTo>
                  <a:pt x="4505960" y="1120267"/>
                </a:lnTo>
                <a:lnTo>
                  <a:pt x="4358386" y="1140587"/>
                </a:lnTo>
                <a:lnTo>
                  <a:pt x="4207383" y="1158240"/>
                </a:lnTo>
                <a:lnTo>
                  <a:pt x="4053332" y="1173353"/>
                </a:lnTo>
                <a:lnTo>
                  <a:pt x="3896487" y="1185672"/>
                </a:lnTo>
                <a:lnTo>
                  <a:pt x="3736721" y="1195197"/>
                </a:lnTo>
                <a:lnTo>
                  <a:pt x="3574669" y="1201928"/>
                </a:lnTo>
                <a:lnTo>
                  <a:pt x="3410331" y="1205484"/>
                </a:lnTo>
                <a:lnTo>
                  <a:pt x="3243834" y="1206119"/>
                </a:lnTo>
                <a:lnTo>
                  <a:pt x="3079115" y="1203833"/>
                </a:lnTo>
                <a:lnTo>
                  <a:pt x="2916809" y="1198499"/>
                </a:lnTo>
                <a:lnTo>
                  <a:pt x="2756789" y="1190244"/>
                </a:lnTo>
                <a:lnTo>
                  <a:pt x="2599436" y="1179195"/>
                </a:lnTo>
                <a:lnTo>
                  <a:pt x="2445004" y="1165479"/>
                </a:lnTo>
                <a:lnTo>
                  <a:pt x="2293493" y="1149096"/>
                </a:lnTo>
                <a:lnTo>
                  <a:pt x="2145284" y="1130046"/>
                </a:lnTo>
                <a:lnTo>
                  <a:pt x="2000504" y="1108583"/>
                </a:lnTo>
                <a:lnTo>
                  <a:pt x="1859280" y="1084580"/>
                </a:lnTo>
                <a:lnTo>
                  <a:pt x="1721866" y="1058418"/>
                </a:lnTo>
                <a:lnTo>
                  <a:pt x="1588516" y="1029716"/>
                </a:lnTo>
                <a:lnTo>
                  <a:pt x="1459357" y="998982"/>
                </a:lnTo>
                <a:lnTo>
                  <a:pt x="1334643" y="965962"/>
                </a:lnTo>
                <a:lnTo>
                  <a:pt x="1214501" y="930910"/>
                </a:lnTo>
                <a:lnTo>
                  <a:pt x="1099185" y="893826"/>
                </a:lnTo>
                <a:lnTo>
                  <a:pt x="988822" y="854964"/>
                </a:lnTo>
                <a:lnTo>
                  <a:pt x="883793" y="814070"/>
                </a:lnTo>
                <a:lnTo>
                  <a:pt x="784098" y="771652"/>
                </a:lnTo>
                <a:lnTo>
                  <a:pt x="689991" y="727329"/>
                </a:lnTo>
                <a:lnTo>
                  <a:pt x="601726" y="681482"/>
                </a:lnTo>
                <a:lnTo>
                  <a:pt x="559943" y="657987"/>
                </a:lnTo>
                <a:lnTo>
                  <a:pt x="519557" y="634111"/>
                </a:lnTo>
                <a:lnTo>
                  <a:pt x="480822" y="609981"/>
                </a:lnTo>
                <a:lnTo>
                  <a:pt x="443484" y="585343"/>
                </a:lnTo>
                <a:lnTo>
                  <a:pt x="407924" y="560451"/>
                </a:lnTo>
                <a:lnTo>
                  <a:pt x="373761" y="535178"/>
                </a:lnTo>
                <a:lnTo>
                  <a:pt x="341376" y="509651"/>
                </a:lnTo>
                <a:lnTo>
                  <a:pt x="310769" y="483743"/>
                </a:lnTo>
                <a:lnTo>
                  <a:pt x="281813" y="457581"/>
                </a:lnTo>
                <a:lnTo>
                  <a:pt x="229108" y="404495"/>
                </a:lnTo>
                <a:lnTo>
                  <a:pt x="183261" y="350266"/>
                </a:lnTo>
                <a:lnTo>
                  <a:pt x="144907" y="295021"/>
                </a:lnTo>
                <a:lnTo>
                  <a:pt x="113792" y="239268"/>
                </a:lnTo>
                <a:lnTo>
                  <a:pt x="90297" y="182499"/>
                </a:lnTo>
                <a:lnTo>
                  <a:pt x="74599" y="125222"/>
                </a:lnTo>
                <a:lnTo>
                  <a:pt x="129032" y="161163"/>
                </a:lnTo>
                <a:lnTo>
                  <a:pt x="99326" y="113284"/>
                </a:lnTo>
                <a:lnTo>
                  <a:pt x="72517" y="70053"/>
                </a:lnTo>
                <a:lnTo>
                  <a:pt x="72517" y="113284"/>
                </a:lnTo>
                <a:lnTo>
                  <a:pt x="59867" y="115493"/>
                </a:lnTo>
                <a:lnTo>
                  <a:pt x="59740" y="115519"/>
                </a:lnTo>
                <a:lnTo>
                  <a:pt x="59867" y="115493"/>
                </a:lnTo>
                <a:lnTo>
                  <a:pt x="60109" y="115443"/>
                </a:lnTo>
                <a:lnTo>
                  <a:pt x="72517" y="113284"/>
                </a:lnTo>
                <a:lnTo>
                  <a:pt x="72517" y="70053"/>
                </a:lnTo>
                <a:lnTo>
                  <a:pt x="52705" y="38100"/>
                </a:lnTo>
                <a:lnTo>
                  <a:pt x="0" y="172974"/>
                </a:lnTo>
                <a:lnTo>
                  <a:pt x="48526" y="126301"/>
                </a:lnTo>
                <a:lnTo>
                  <a:pt x="49403" y="131064"/>
                </a:lnTo>
                <a:lnTo>
                  <a:pt x="66167" y="191643"/>
                </a:lnTo>
                <a:lnTo>
                  <a:pt x="90805" y="251079"/>
                </a:lnTo>
                <a:lnTo>
                  <a:pt x="123190" y="309372"/>
                </a:lnTo>
                <a:lnTo>
                  <a:pt x="163068" y="366395"/>
                </a:lnTo>
                <a:lnTo>
                  <a:pt x="210312" y="422275"/>
                </a:lnTo>
                <a:lnTo>
                  <a:pt x="264414" y="476758"/>
                </a:lnTo>
                <a:lnTo>
                  <a:pt x="294132" y="503555"/>
                </a:lnTo>
                <a:lnTo>
                  <a:pt x="325374" y="529971"/>
                </a:lnTo>
                <a:lnTo>
                  <a:pt x="358394" y="556006"/>
                </a:lnTo>
                <a:lnTo>
                  <a:pt x="393065" y="581787"/>
                </a:lnTo>
                <a:lnTo>
                  <a:pt x="429260" y="606933"/>
                </a:lnTo>
                <a:lnTo>
                  <a:pt x="466979" y="631952"/>
                </a:lnTo>
                <a:lnTo>
                  <a:pt x="506349" y="656463"/>
                </a:lnTo>
                <a:lnTo>
                  <a:pt x="547243" y="680593"/>
                </a:lnTo>
                <a:lnTo>
                  <a:pt x="589788" y="704596"/>
                </a:lnTo>
                <a:lnTo>
                  <a:pt x="678942" y="750824"/>
                </a:lnTo>
                <a:lnTo>
                  <a:pt x="773938" y="795401"/>
                </a:lnTo>
                <a:lnTo>
                  <a:pt x="874395" y="838327"/>
                </a:lnTo>
                <a:lnTo>
                  <a:pt x="980186" y="879348"/>
                </a:lnTo>
                <a:lnTo>
                  <a:pt x="1091311" y="918591"/>
                </a:lnTo>
                <a:lnTo>
                  <a:pt x="1207262" y="955802"/>
                </a:lnTo>
                <a:lnTo>
                  <a:pt x="1328039" y="990981"/>
                </a:lnTo>
                <a:lnTo>
                  <a:pt x="1453388" y="1024128"/>
                </a:lnTo>
                <a:lnTo>
                  <a:pt x="1583055" y="1055116"/>
                </a:lnTo>
                <a:lnTo>
                  <a:pt x="1717040" y="1083818"/>
                </a:lnTo>
                <a:lnTo>
                  <a:pt x="1854962" y="1110107"/>
                </a:lnTo>
                <a:lnTo>
                  <a:pt x="1996694" y="1134237"/>
                </a:lnTo>
                <a:lnTo>
                  <a:pt x="2141982" y="1155700"/>
                </a:lnTo>
                <a:lnTo>
                  <a:pt x="2290699" y="1174877"/>
                </a:lnTo>
                <a:lnTo>
                  <a:pt x="2442718" y="1191260"/>
                </a:lnTo>
                <a:lnTo>
                  <a:pt x="2597658" y="1205103"/>
                </a:lnTo>
                <a:lnTo>
                  <a:pt x="2755519" y="1216152"/>
                </a:lnTo>
                <a:lnTo>
                  <a:pt x="2915920" y="1224280"/>
                </a:lnTo>
                <a:lnTo>
                  <a:pt x="3078861" y="1229614"/>
                </a:lnTo>
                <a:lnTo>
                  <a:pt x="3243961" y="1232027"/>
                </a:lnTo>
                <a:lnTo>
                  <a:pt x="3410839" y="1231392"/>
                </a:lnTo>
                <a:lnTo>
                  <a:pt x="3575812" y="1227709"/>
                </a:lnTo>
                <a:lnTo>
                  <a:pt x="3738372" y="1221105"/>
                </a:lnTo>
                <a:lnTo>
                  <a:pt x="3898519" y="1211580"/>
                </a:lnTo>
                <a:lnTo>
                  <a:pt x="3967556" y="1206119"/>
                </a:lnTo>
                <a:lnTo>
                  <a:pt x="4055872" y="1199134"/>
                </a:lnTo>
                <a:lnTo>
                  <a:pt x="4210431" y="1184021"/>
                </a:lnTo>
                <a:lnTo>
                  <a:pt x="4361815" y="1166241"/>
                </a:lnTo>
                <a:lnTo>
                  <a:pt x="4510024" y="1145794"/>
                </a:lnTo>
                <a:lnTo>
                  <a:pt x="4654677" y="1122934"/>
                </a:lnTo>
                <a:lnTo>
                  <a:pt x="4795647" y="1097534"/>
                </a:lnTo>
                <a:lnTo>
                  <a:pt x="4932807" y="1069721"/>
                </a:lnTo>
                <a:lnTo>
                  <a:pt x="5065649" y="1039622"/>
                </a:lnTo>
                <a:lnTo>
                  <a:pt x="5194300" y="1007237"/>
                </a:lnTo>
                <a:lnTo>
                  <a:pt x="5318252" y="972820"/>
                </a:lnTo>
                <a:lnTo>
                  <a:pt x="5437632" y="936244"/>
                </a:lnTo>
                <a:lnTo>
                  <a:pt x="5552059" y="897636"/>
                </a:lnTo>
                <a:lnTo>
                  <a:pt x="5661279" y="856996"/>
                </a:lnTo>
                <a:lnTo>
                  <a:pt x="5765165" y="814451"/>
                </a:lnTo>
                <a:lnTo>
                  <a:pt x="5863463" y="770128"/>
                </a:lnTo>
                <a:lnTo>
                  <a:pt x="5956046" y="724154"/>
                </a:lnTo>
                <a:lnTo>
                  <a:pt x="6000115" y="700532"/>
                </a:lnTo>
                <a:lnTo>
                  <a:pt x="6042660" y="676402"/>
                </a:lnTo>
                <a:lnTo>
                  <a:pt x="6083681" y="651891"/>
                </a:lnTo>
                <a:lnTo>
                  <a:pt x="6123305" y="626999"/>
                </a:lnTo>
                <a:lnTo>
                  <a:pt x="6161024" y="601726"/>
                </a:lnTo>
                <a:lnTo>
                  <a:pt x="6197346" y="576072"/>
                </a:lnTo>
                <a:lnTo>
                  <a:pt x="6231890" y="550037"/>
                </a:lnTo>
                <a:lnTo>
                  <a:pt x="6265037" y="523621"/>
                </a:lnTo>
                <a:lnTo>
                  <a:pt x="6296152" y="496697"/>
                </a:lnTo>
                <a:lnTo>
                  <a:pt x="6325743" y="469646"/>
                </a:lnTo>
                <a:lnTo>
                  <a:pt x="6353556" y="442214"/>
                </a:lnTo>
                <a:lnTo>
                  <a:pt x="6379591" y="414274"/>
                </a:lnTo>
                <a:lnTo>
                  <a:pt x="6426200" y="357505"/>
                </a:lnTo>
                <a:lnTo>
                  <a:pt x="6465316" y="299466"/>
                </a:lnTo>
                <a:lnTo>
                  <a:pt x="6496812" y="240157"/>
                </a:lnTo>
                <a:lnTo>
                  <a:pt x="6520307" y="179705"/>
                </a:lnTo>
                <a:lnTo>
                  <a:pt x="6535547" y="118110"/>
                </a:lnTo>
                <a:lnTo>
                  <a:pt x="6539992" y="86868"/>
                </a:lnTo>
                <a:lnTo>
                  <a:pt x="6542278" y="56388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2565273" y="4074414"/>
            <a:ext cx="4141470" cy="861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" dirty="0">
                <a:latin typeface="Arial"/>
                <a:cs typeface="Arial"/>
              </a:rPr>
              <a:t>Compilation</a:t>
            </a:r>
            <a:r>
              <a:rPr sz="1800" i="1" spc="2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Error</a:t>
            </a:r>
            <a:endParaRPr sz="1800">
              <a:latin typeface="Arial"/>
              <a:cs typeface="Arial"/>
            </a:endParaRPr>
          </a:p>
          <a:p>
            <a:pPr marL="2858135" marR="5080" indent="-152400">
              <a:lnSpc>
                <a:spcPct val="100000"/>
              </a:lnSpc>
              <a:spcBef>
                <a:spcPts val="95"/>
              </a:spcBef>
            </a:pPr>
            <a:r>
              <a:rPr sz="1800" i="1" spc="-5" dirty="0">
                <a:latin typeface="Arial"/>
                <a:cs typeface="Arial"/>
              </a:rPr>
              <a:t>Runtime</a:t>
            </a:r>
            <a:r>
              <a:rPr sz="1800" i="1" spc="-7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Error  </a:t>
            </a:r>
            <a:r>
              <a:rPr sz="1800" i="1" spc="-5" dirty="0">
                <a:latin typeface="Arial"/>
                <a:cs typeface="Arial"/>
              </a:rPr>
              <a:t>Logic</a:t>
            </a:r>
            <a:r>
              <a:rPr sz="1800" i="1" spc="-2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Error</a:t>
            </a:r>
            <a:endParaRPr sz="1800">
              <a:latin typeface="Arial"/>
              <a:cs typeface="Arial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163068" y="187452"/>
            <a:ext cx="523240" cy="2251075"/>
          </a:xfrm>
          <a:custGeom>
            <a:avLst/>
            <a:gdLst/>
            <a:ahLst/>
            <a:cxnLst/>
            <a:rect l="l" t="t" r="r" b="b"/>
            <a:pathLst>
              <a:path w="523240" h="2251075">
                <a:moveTo>
                  <a:pt x="522731" y="0"/>
                </a:moveTo>
                <a:lnTo>
                  <a:pt x="0" y="0"/>
                </a:lnTo>
                <a:lnTo>
                  <a:pt x="0" y="2250948"/>
                </a:lnTo>
                <a:lnTo>
                  <a:pt x="522731" y="2250948"/>
                </a:lnTo>
                <a:lnTo>
                  <a:pt x="522731" y="0"/>
                </a:lnTo>
                <a:close/>
              </a:path>
            </a:pathLst>
          </a:custGeom>
          <a:solidFill>
            <a:srgbClr val="FFCCFF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244239" y="352438"/>
            <a:ext cx="381000" cy="200787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990"/>
              </a:lnSpc>
            </a:pPr>
            <a:r>
              <a:rPr sz="2800" dirty="0">
                <a:solidFill>
                  <a:srgbClr val="C00000"/>
                </a:solidFill>
                <a:latin typeface="Trebuchet MS"/>
                <a:cs typeface="Trebuchet MS"/>
              </a:rPr>
              <a:t>2. </a:t>
            </a:r>
            <a:r>
              <a:rPr sz="2800" spc="80" dirty="0">
                <a:solidFill>
                  <a:srgbClr val="000099"/>
                </a:solidFill>
                <a:latin typeface="Trebuchet MS"/>
                <a:cs typeface="Trebuchet MS"/>
              </a:rPr>
              <a:t>Run</a:t>
            </a:r>
            <a:r>
              <a:rPr sz="2800" spc="-60" dirty="0">
                <a:solidFill>
                  <a:srgbClr val="000099"/>
                </a:solidFill>
                <a:latin typeface="Trebuchet MS"/>
                <a:cs typeface="Trebuchet MS"/>
              </a:rPr>
              <a:t> </a:t>
            </a:r>
            <a:r>
              <a:rPr sz="2800" spc="-70" dirty="0">
                <a:solidFill>
                  <a:srgbClr val="000099"/>
                </a:solidFill>
                <a:latin typeface="Trebuchet MS"/>
                <a:cs typeface="Trebuchet MS"/>
              </a:rPr>
              <a:t>Cycle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89"/>
              </a:lnSpc>
              <a:tabLst>
                <a:tab pos="1996439" algn="l"/>
                <a:tab pos="8046720" algn="l"/>
              </a:tabLst>
            </a:pPr>
            <a:r>
              <a:rPr dirty="0"/>
              <a:t>[501043 Lecture 1: Intro</a:t>
            </a:r>
            <a:r>
              <a:rPr spc="-6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Java]	</a:t>
            </a:r>
            <a:r>
              <a:rPr u="heavy" dirty="0">
                <a:uFill>
                  <a:solidFill>
                    <a:srgbClr val="009999"/>
                  </a:solidFill>
                </a:uFill>
              </a:rPr>
              <a:t> 	</a:t>
            </a:r>
            <a:r>
              <a:rPr sz="1600" b="1" i="1" spc="-5" dirty="0">
                <a:solidFill>
                  <a:srgbClr val="C00000"/>
                </a:solidFill>
                <a:latin typeface="Arial"/>
                <a:cs typeface="Arial"/>
              </a:rPr>
              <a:t>10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248158"/>
            <a:ext cx="678560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0" dirty="0"/>
              <a:t>Recap: </a:t>
            </a:r>
            <a:r>
              <a:rPr spc="105" dirty="0"/>
              <a:t>Run </a:t>
            </a:r>
            <a:r>
              <a:rPr spc="-90" dirty="0"/>
              <a:t>Cycle </a:t>
            </a:r>
            <a:r>
              <a:rPr spc="-15" dirty="0"/>
              <a:t>for </a:t>
            </a:r>
            <a:r>
              <a:rPr dirty="0"/>
              <a:t>C</a:t>
            </a:r>
            <a:r>
              <a:rPr spc="-30" dirty="0"/>
              <a:t> </a:t>
            </a:r>
            <a:r>
              <a:rPr spc="95" dirty="0"/>
              <a:t>Programs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426644" y="1740344"/>
            <a:ext cx="1397635" cy="703580"/>
            <a:chOff x="6426644" y="1740344"/>
            <a:chExt cx="1397635" cy="703580"/>
          </a:xfrm>
        </p:grpSpPr>
        <p:sp>
          <p:nvSpPr>
            <p:cNvPr id="4" name="object 4"/>
            <p:cNvSpPr/>
            <p:nvPr/>
          </p:nvSpPr>
          <p:spPr>
            <a:xfrm>
              <a:off x="6439662" y="1753362"/>
              <a:ext cx="1371600" cy="677545"/>
            </a:xfrm>
            <a:custGeom>
              <a:avLst/>
              <a:gdLst/>
              <a:ahLst/>
              <a:cxnLst/>
              <a:rect l="l" t="t" r="r" b="b"/>
              <a:pathLst>
                <a:path w="1371600" h="677544">
                  <a:moveTo>
                    <a:pt x="1371599" y="0"/>
                  </a:moveTo>
                  <a:lnTo>
                    <a:pt x="0" y="0"/>
                  </a:lnTo>
                  <a:lnTo>
                    <a:pt x="0" y="640461"/>
                  </a:lnTo>
                  <a:lnTo>
                    <a:pt x="64272" y="650969"/>
                  </a:lnTo>
                  <a:lnTo>
                    <a:pt x="124540" y="659534"/>
                  </a:lnTo>
                  <a:lnTo>
                    <a:pt x="181078" y="666265"/>
                  </a:lnTo>
                  <a:lnTo>
                    <a:pt x="234163" y="671270"/>
                  </a:lnTo>
                  <a:lnTo>
                    <a:pt x="284071" y="674657"/>
                  </a:lnTo>
                  <a:lnTo>
                    <a:pt x="331079" y="676535"/>
                  </a:lnTo>
                  <a:lnTo>
                    <a:pt x="375462" y="677011"/>
                  </a:lnTo>
                  <a:lnTo>
                    <a:pt x="417497" y="676195"/>
                  </a:lnTo>
                  <a:lnTo>
                    <a:pt x="457460" y="674195"/>
                  </a:lnTo>
                  <a:lnTo>
                    <a:pt x="495628" y="671119"/>
                  </a:lnTo>
                  <a:lnTo>
                    <a:pt x="567682" y="662172"/>
                  </a:lnTo>
                  <a:lnTo>
                    <a:pt x="635868" y="650222"/>
                  </a:lnTo>
                  <a:lnTo>
                    <a:pt x="702397" y="636135"/>
                  </a:lnTo>
                  <a:lnTo>
                    <a:pt x="839322" y="605022"/>
                  </a:lnTo>
                  <a:lnTo>
                    <a:pt x="875971" y="597263"/>
                  </a:lnTo>
                  <a:lnTo>
                    <a:pt x="914139" y="589729"/>
                  </a:lnTo>
                  <a:lnTo>
                    <a:pt x="954102" y="582528"/>
                  </a:lnTo>
                  <a:lnTo>
                    <a:pt x="996137" y="575768"/>
                  </a:lnTo>
                  <a:lnTo>
                    <a:pt x="1040520" y="569558"/>
                  </a:lnTo>
                  <a:lnTo>
                    <a:pt x="1087528" y="564006"/>
                  </a:lnTo>
                  <a:lnTo>
                    <a:pt x="1137436" y="559220"/>
                  </a:lnTo>
                  <a:lnTo>
                    <a:pt x="1190521" y="555309"/>
                  </a:lnTo>
                  <a:lnTo>
                    <a:pt x="1247059" y="552382"/>
                  </a:lnTo>
                  <a:lnTo>
                    <a:pt x="1307327" y="550546"/>
                  </a:lnTo>
                  <a:lnTo>
                    <a:pt x="1371599" y="549910"/>
                  </a:lnTo>
                  <a:lnTo>
                    <a:pt x="1371599" y="0"/>
                  </a:lnTo>
                  <a:close/>
                </a:path>
              </a:pathLst>
            </a:custGeom>
            <a:solidFill>
              <a:srgbClr val="B8C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439662" y="1753362"/>
              <a:ext cx="1371600" cy="677545"/>
            </a:xfrm>
            <a:custGeom>
              <a:avLst/>
              <a:gdLst/>
              <a:ahLst/>
              <a:cxnLst/>
              <a:rect l="l" t="t" r="r" b="b"/>
              <a:pathLst>
                <a:path w="1371600" h="677544">
                  <a:moveTo>
                    <a:pt x="0" y="0"/>
                  </a:moveTo>
                  <a:lnTo>
                    <a:pt x="1371599" y="0"/>
                  </a:lnTo>
                  <a:lnTo>
                    <a:pt x="1371599" y="549910"/>
                  </a:lnTo>
                  <a:lnTo>
                    <a:pt x="1307327" y="550546"/>
                  </a:lnTo>
                  <a:lnTo>
                    <a:pt x="1247059" y="552382"/>
                  </a:lnTo>
                  <a:lnTo>
                    <a:pt x="1190521" y="555309"/>
                  </a:lnTo>
                  <a:lnTo>
                    <a:pt x="1137436" y="559220"/>
                  </a:lnTo>
                  <a:lnTo>
                    <a:pt x="1087528" y="564006"/>
                  </a:lnTo>
                  <a:lnTo>
                    <a:pt x="1040520" y="569558"/>
                  </a:lnTo>
                  <a:lnTo>
                    <a:pt x="996137" y="575768"/>
                  </a:lnTo>
                  <a:lnTo>
                    <a:pt x="954102" y="582528"/>
                  </a:lnTo>
                  <a:lnTo>
                    <a:pt x="914139" y="589729"/>
                  </a:lnTo>
                  <a:lnTo>
                    <a:pt x="875971" y="597263"/>
                  </a:lnTo>
                  <a:lnTo>
                    <a:pt x="803917" y="612897"/>
                  </a:lnTo>
                  <a:lnTo>
                    <a:pt x="735731" y="628562"/>
                  </a:lnTo>
                  <a:lnTo>
                    <a:pt x="702397" y="636135"/>
                  </a:lnTo>
                  <a:lnTo>
                    <a:pt x="635868" y="650222"/>
                  </a:lnTo>
                  <a:lnTo>
                    <a:pt x="567682" y="662172"/>
                  </a:lnTo>
                  <a:lnTo>
                    <a:pt x="495628" y="671119"/>
                  </a:lnTo>
                  <a:lnTo>
                    <a:pt x="457460" y="674195"/>
                  </a:lnTo>
                  <a:lnTo>
                    <a:pt x="417497" y="676195"/>
                  </a:lnTo>
                  <a:lnTo>
                    <a:pt x="375462" y="677011"/>
                  </a:lnTo>
                  <a:lnTo>
                    <a:pt x="331079" y="676535"/>
                  </a:lnTo>
                  <a:lnTo>
                    <a:pt x="284071" y="674657"/>
                  </a:lnTo>
                  <a:lnTo>
                    <a:pt x="234163" y="671270"/>
                  </a:lnTo>
                  <a:lnTo>
                    <a:pt x="181078" y="666265"/>
                  </a:lnTo>
                  <a:lnTo>
                    <a:pt x="124540" y="659534"/>
                  </a:lnTo>
                  <a:lnTo>
                    <a:pt x="64272" y="650969"/>
                  </a:lnTo>
                  <a:lnTo>
                    <a:pt x="0" y="640461"/>
                  </a:lnTo>
                  <a:lnTo>
                    <a:pt x="0" y="0"/>
                  </a:lnTo>
                  <a:close/>
                </a:path>
              </a:pathLst>
            </a:custGeom>
            <a:ln w="25908">
              <a:solidFill>
                <a:srgbClr val="296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6633718" y="1857882"/>
            <a:ext cx="98234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0" dirty="0">
                <a:latin typeface="Arial"/>
                <a:cs typeface="Arial"/>
              </a:rPr>
              <a:t>w</a:t>
            </a:r>
            <a:r>
              <a:rPr sz="1600" spc="-5" dirty="0">
                <a:latin typeface="Arial"/>
                <a:cs typeface="Arial"/>
              </a:rPr>
              <a:t>elcome.c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053071" y="1372361"/>
            <a:ext cx="144780" cy="381000"/>
          </a:xfrm>
          <a:custGeom>
            <a:avLst/>
            <a:gdLst/>
            <a:ahLst/>
            <a:cxnLst/>
            <a:rect l="l" t="t" r="r" b="b"/>
            <a:pathLst>
              <a:path w="144779" h="381000">
                <a:moveTo>
                  <a:pt x="57911" y="294132"/>
                </a:moveTo>
                <a:lnTo>
                  <a:pt x="0" y="294132"/>
                </a:lnTo>
                <a:lnTo>
                  <a:pt x="72389" y="381000"/>
                </a:lnTo>
                <a:lnTo>
                  <a:pt x="132714" y="308610"/>
                </a:lnTo>
                <a:lnTo>
                  <a:pt x="57911" y="308610"/>
                </a:lnTo>
                <a:lnTo>
                  <a:pt x="57911" y="294132"/>
                </a:lnTo>
                <a:close/>
              </a:path>
              <a:path w="144779" h="381000">
                <a:moveTo>
                  <a:pt x="86868" y="0"/>
                </a:moveTo>
                <a:lnTo>
                  <a:pt x="57911" y="0"/>
                </a:lnTo>
                <a:lnTo>
                  <a:pt x="57911" y="308610"/>
                </a:lnTo>
                <a:lnTo>
                  <a:pt x="86868" y="308610"/>
                </a:lnTo>
                <a:lnTo>
                  <a:pt x="86868" y="0"/>
                </a:lnTo>
                <a:close/>
              </a:path>
              <a:path w="144779" h="381000">
                <a:moveTo>
                  <a:pt x="144779" y="294132"/>
                </a:moveTo>
                <a:lnTo>
                  <a:pt x="86868" y="294132"/>
                </a:lnTo>
                <a:lnTo>
                  <a:pt x="86868" y="308610"/>
                </a:lnTo>
                <a:lnTo>
                  <a:pt x="132714" y="308610"/>
                </a:lnTo>
                <a:lnTo>
                  <a:pt x="144779" y="29413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868161" y="991361"/>
            <a:ext cx="2514600" cy="381000"/>
          </a:xfrm>
          <a:prstGeom prst="rect">
            <a:avLst/>
          </a:prstGeom>
          <a:solidFill>
            <a:srgbClr val="FFFFCC"/>
          </a:solidFill>
          <a:ln w="25907">
            <a:solidFill>
              <a:srgbClr val="FFC000"/>
            </a:solidFill>
          </a:ln>
        </p:spPr>
        <p:txBody>
          <a:bodyPr vert="horz" wrap="square" lIns="0" tIns="33655" rIns="0" bIns="0" rtlCol="0">
            <a:spAutoFit/>
          </a:bodyPr>
          <a:lstStyle/>
          <a:p>
            <a:pPr marL="463550">
              <a:lnSpc>
                <a:spcPct val="100000"/>
              </a:lnSpc>
              <a:spcBef>
                <a:spcPts val="265"/>
              </a:spcBef>
            </a:pPr>
            <a:r>
              <a:rPr sz="1600" spc="-5" dirty="0">
                <a:latin typeface="BPG Courier S GPL&amp;GNU"/>
                <a:cs typeface="BPG Courier S GPL&amp;GNU"/>
              </a:rPr>
              <a:t>vim</a:t>
            </a:r>
            <a:r>
              <a:rPr sz="1600" spc="-30" dirty="0">
                <a:latin typeface="BPG Courier S GPL&amp;GNU"/>
                <a:cs typeface="BPG Courier S GPL&amp;GNU"/>
              </a:rPr>
              <a:t> </a:t>
            </a:r>
            <a:r>
              <a:rPr sz="1600" spc="-5" dirty="0">
                <a:latin typeface="BPG Courier S GPL&amp;GNU"/>
                <a:cs typeface="BPG Courier S GPL&amp;GNU"/>
              </a:rPr>
              <a:t>welcome.c</a:t>
            </a:r>
            <a:endParaRPr sz="1600">
              <a:latin typeface="BPG Courier S GPL&amp;GNU"/>
              <a:cs typeface="BPG Courier S GPL&amp;GNU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601461" y="2820161"/>
            <a:ext cx="3048000" cy="381000"/>
          </a:xfrm>
          <a:prstGeom prst="rect">
            <a:avLst/>
          </a:prstGeom>
          <a:solidFill>
            <a:srgbClr val="FFFFCC"/>
          </a:solidFill>
          <a:ln w="25907">
            <a:solidFill>
              <a:srgbClr val="FFC000"/>
            </a:solidFill>
          </a:ln>
        </p:spPr>
        <p:txBody>
          <a:bodyPr vert="horz" wrap="square" lIns="0" tIns="34290" rIns="0" bIns="0" rtlCol="0">
            <a:spAutoFit/>
          </a:bodyPr>
          <a:lstStyle/>
          <a:p>
            <a:pPr marL="363220">
              <a:lnSpc>
                <a:spcPct val="100000"/>
              </a:lnSpc>
              <a:spcBef>
                <a:spcPts val="270"/>
              </a:spcBef>
            </a:pPr>
            <a:r>
              <a:rPr sz="1600" spc="-5" dirty="0">
                <a:latin typeface="BPG Courier S GPL&amp;GNU"/>
                <a:cs typeface="BPG Courier S GPL&amp;GNU"/>
              </a:rPr>
              <a:t>gcc -Wall</a:t>
            </a:r>
            <a:r>
              <a:rPr sz="1600" spc="-40" dirty="0">
                <a:latin typeface="BPG Courier S GPL&amp;GNU"/>
                <a:cs typeface="BPG Courier S GPL&amp;GNU"/>
              </a:rPr>
              <a:t> </a:t>
            </a:r>
            <a:r>
              <a:rPr sz="1600" spc="-5" dirty="0">
                <a:latin typeface="BPG Courier S GPL&amp;GNU"/>
                <a:cs typeface="BPG Courier S GPL&amp;GNU"/>
              </a:rPr>
              <a:t>welcome.c</a:t>
            </a:r>
            <a:endParaRPr sz="1600">
              <a:latin typeface="BPG Courier S GPL&amp;GNU"/>
              <a:cs typeface="BPG Courier S GPL&amp;GNU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426644" y="3569144"/>
            <a:ext cx="1397635" cy="703580"/>
            <a:chOff x="6426644" y="3569144"/>
            <a:chExt cx="1397635" cy="703580"/>
          </a:xfrm>
        </p:grpSpPr>
        <p:sp>
          <p:nvSpPr>
            <p:cNvPr id="11" name="object 11"/>
            <p:cNvSpPr/>
            <p:nvPr/>
          </p:nvSpPr>
          <p:spPr>
            <a:xfrm>
              <a:off x="6439662" y="3582162"/>
              <a:ext cx="1371600" cy="677545"/>
            </a:xfrm>
            <a:custGeom>
              <a:avLst/>
              <a:gdLst/>
              <a:ahLst/>
              <a:cxnLst/>
              <a:rect l="l" t="t" r="r" b="b"/>
              <a:pathLst>
                <a:path w="1371600" h="677545">
                  <a:moveTo>
                    <a:pt x="1371599" y="0"/>
                  </a:moveTo>
                  <a:lnTo>
                    <a:pt x="0" y="0"/>
                  </a:lnTo>
                  <a:lnTo>
                    <a:pt x="0" y="640461"/>
                  </a:lnTo>
                  <a:lnTo>
                    <a:pt x="64272" y="650969"/>
                  </a:lnTo>
                  <a:lnTo>
                    <a:pt x="124540" y="659534"/>
                  </a:lnTo>
                  <a:lnTo>
                    <a:pt x="181078" y="666265"/>
                  </a:lnTo>
                  <a:lnTo>
                    <a:pt x="234163" y="671270"/>
                  </a:lnTo>
                  <a:lnTo>
                    <a:pt x="284071" y="674657"/>
                  </a:lnTo>
                  <a:lnTo>
                    <a:pt x="331079" y="676535"/>
                  </a:lnTo>
                  <a:lnTo>
                    <a:pt x="375462" y="677011"/>
                  </a:lnTo>
                  <a:lnTo>
                    <a:pt x="417497" y="676195"/>
                  </a:lnTo>
                  <a:lnTo>
                    <a:pt x="457460" y="674195"/>
                  </a:lnTo>
                  <a:lnTo>
                    <a:pt x="495628" y="671119"/>
                  </a:lnTo>
                  <a:lnTo>
                    <a:pt x="567682" y="662172"/>
                  </a:lnTo>
                  <a:lnTo>
                    <a:pt x="635868" y="650222"/>
                  </a:lnTo>
                  <a:lnTo>
                    <a:pt x="702397" y="636135"/>
                  </a:lnTo>
                  <a:lnTo>
                    <a:pt x="839322" y="605022"/>
                  </a:lnTo>
                  <a:lnTo>
                    <a:pt x="875971" y="597263"/>
                  </a:lnTo>
                  <a:lnTo>
                    <a:pt x="914139" y="589729"/>
                  </a:lnTo>
                  <a:lnTo>
                    <a:pt x="954102" y="582528"/>
                  </a:lnTo>
                  <a:lnTo>
                    <a:pt x="996137" y="575768"/>
                  </a:lnTo>
                  <a:lnTo>
                    <a:pt x="1040520" y="569558"/>
                  </a:lnTo>
                  <a:lnTo>
                    <a:pt x="1087528" y="564006"/>
                  </a:lnTo>
                  <a:lnTo>
                    <a:pt x="1137436" y="559220"/>
                  </a:lnTo>
                  <a:lnTo>
                    <a:pt x="1190521" y="555309"/>
                  </a:lnTo>
                  <a:lnTo>
                    <a:pt x="1247059" y="552382"/>
                  </a:lnTo>
                  <a:lnTo>
                    <a:pt x="1307327" y="550546"/>
                  </a:lnTo>
                  <a:lnTo>
                    <a:pt x="1371599" y="549910"/>
                  </a:lnTo>
                  <a:lnTo>
                    <a:pt x="1371599" y="0"/>
                  </a:lnTo>
                  <a:close/>
                </a:path>
              </a:pathLst>
            </a:custGeom>
            <a:solidFill>
              <a:srgbClr val="B8C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439662" y="3582162"/>
              <a:ext cx="1371600" cy="677545"/>
            </a:xfrm>
            <a:custGeom>
              <a:avLst/>
              <a:gdLst/>
              <a:ahLst/>
              <a:cxnLst/>
              <a:rect l="l" t="t" r="r" b="b"/>
              <a:pathLst>
                <a:path w="1371600" h="677545">
                  <a:moveTo>
                    <a:pt x="0" y="0"/>
                  </a:moveTo>
                  <a:lnTo>
                    <a:pt x="1371599" y="0"/>
                  </a:lnTo>
                  <a:lnTo>
                    <a:pt x="1371599" y="549910"/>
                  </a:lnTo>
                  <a:lnTo>
                    <a:pt x="1307327" y="550546"/>
                  </a:lnTo>
                  <a:lnTo>
                    <a:pt x="1247059" y="552382"/>
                  </a:lnTo>
                  <a:lnTo>
                    <a:pt x="1190521" y="555309"/>
                  </a:lnTo>
                  <a:lnTo>
                    <a:pt x="1137436" y="559220"/>
                  </a:lnTo>
                  <a:lnTo>
                    <a:pt x="1087528" y="564006"/>
                  </a:lnTo>
                  <a:lnTo>
                    <a:pt x="1040520" y="569558"/>
                  </a:lnTo>
                  <a:lnTo>
                    <a:pt x="996137" y="575768"/>
                  </a:lnTo>
                  <a:lnTo>
                    <a:pt x="954102" y="582528"/>
                  </a:lnTo>
                  <a:lnTo>
                    <a:pt x="914139" y="589729"/>
                  </a:lnTo>
                  <a:lnTo>
                    <a:pt x="875971" y="597263"/>
                  </a:lnTo>
                  <a:lnTo>
                    <a:pt x="803917" y="612897"/>
                  </a:lnTo>
                  <a:lnTo>
                    <a:pt x="735731" y="628562"/>
                  </a:lnTo>
                  <a:lnTo>
                    <a:pt x="702397" y="636135"/>
                  </a:lnTo>
                  <a:lnTo>
                    <a:pt x="635868" y="650222"/>
                  </a:lnTo>
                  <a:lnTo>
                    <a:pt x="567682" y="662172"/>
                  </a:lnTo>
                  <a:lnTo>
                    <a:pt x="495628" y="671119"/>
                  </a:lnTo>
                  <a:lnTo>
                    <a:pt x="457460" y="674195"/>
                  </a:lnTo>
                  <a:lnTo>
                    <a:pt x="417497" y="676195"/>
                  </a:lnTo>
                  <a:lnTo>
                    <a:pt x="375462" y="677011"/>
                  </a:lnTo>
                  <a:lnTo>
                    <a:pt x="331079" y="676535"/>
                  </a:lnTo>
                  <a:lnTo>
                    <a:pt x="284071" y="674657"/>
                  </a:lnTo>
                  <a:lnTo>
                    <a:pt x="234163" y="671270"/>
                  </a:lnTo>
                  <a:lnTo>
                    <a:pt x="181078" y="666265"/>
                  </a:lnTo>
                  <a:lnTo>
                    <a:pt x="124540" y="659534"/>
                  </a:lnTo>
                  <a:lnTo>
                    <a:pt x="64272" y="650969"/>
                  </a:lnTo>
                  <a:lnTo>
                    <a:pt x="0" y="640461"/>
                  </a:lnTo>
                  <a:lnTo>
                    <a:pt x="0" y="0"/>
                  </a:lnTo>
                  <a:close/>
                </a:path>
              </a:pathLst>
            </a:custGeom>
            <a:ln w="25908">
              <a:solidFill>
                <a:srgbClr val="296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886702" y="3686936"/>
            <a:ext cx="47688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Arial"/>
                <a:cs typeface="Arial"/>
              </a:rPr>
              <a:t>a.out</a:t>
            </a:r>
            <a:endParaRPr sz="16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053071" y="2439161"/>
            <a:ext cx="144780" cy="381000"/>
          </a:xfrm>
          <a:custGeom>
            <a:avLst/>
            <a:gdLst/>
            <a:ahLst/>
            <a:cxnLst/>
            <a:rect l="l" t="t" r="r" b="b"/>
            <a:pathLst>
              <a:path w="144779" h="381000">
                <a:moveTo>
                  <a:pt x="57911" y="294132"/>
                </a:moveTo>
                <a:lnTo>
                  <a:pt x="0" y="294132"/>
                </a:lnTo>
                <a:lnTo>
                  <a:pt x="72389" y="381000"/>
                </a:lnTo>
                <a:lnTo>
                  <a:pt x="132714" y="308610"/>
                </a:lnTo>
                <a:lnTo>
                  <a:pt x="57911" y="308610"/>
                </a:lnTo>
                <a:lnTo>
                  <a:pt x="57911" y="294132"/>
                </a:lnTo>
                <a:close/>
              </a:path>
              <a:path w="144779" h="381000">
                <a:moveTo>
                  <a:pt x="86868" y="0"/>
                </a:moveTo>
                <a:lnTo>
                  <a:pt x="57911" y="0"/>
                </a:lnTo>
                <a:lnTo>
                  <a:pt x="57911" y="308610"/>
                </a:lnTo>
                <a:lnTo>
                  <a:pt x="86868" y="308610"/>
                </a:lnTo>
                <a:lnTo>
                  <a:pt x="86868" y="0"/>
                </a:lnTo>
                <a:close/>
              </a:path>
              <a:path w="144779" h="381000">
                <a:moveTo>
                  <a:pt x="144779" y="294132"/>
                </a:moveTo>
                <a:lnTo>
                  <a:pt x="86868" y="294132"/>
                </a:lnTo>
                <a:lnTo>
                  <a:pt x="86868" y="308610"/>
                </a:lnTo>
                <a:lnTo>
                  <a:pt x="132714" y="308610"/>
                </a:lnTo>
                <a:lnTo>
                  <a:pt x="144779" y="29413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053071" y="3201161"/>
            <a:ext cx="144780" cy="381000"/>
          </a:xfrm>
          <a:custGeom>
            <a:avLst/>
            <a:gdLst/>
            <a:ahLst/>
            <a:cxnLst/>
            <a:rect l="l" t="t" r="r" b="b"/>
            <a:pathLst>
              <a:path w="144779" h="381000">
                <a:moveTo>
                  <a:pt x="57911" y="294132"/>
                </a:moveTo>
                <a:lnTo>
                  <a:pt x="0" y="294132"/>
                </a:lnTo>
                <a:lnTo>
                  <a:pt x="72389" y="381000"/>
                </a:lnTo>
                <a:lnTo>
                  <a:pt x="132714" y="308610"/>
                </a:lnTo>
                <a:lnTo>
                  <a:pt x="57911" y="308610"/>
                </a:lnTo>
                <a:lnTo>
                  <a:pt x="57911" y="294132"/>
                </a:lnTo>
                <a:close/>
              </a:path>
              <a:path w="144779" h="381000">
                <a:moveTo>
                  <a:pt x="86868" y="0"/>
                </a:moveTo>
                <a:lnTo>
                  <a:pt x="57911" y="0"/>
                </a:lnTo>
                <a:lnTo>
                  <a:pt x="57911" y="308610"/>
                </a:lnTo>
                <a:lnTo>
                  <a:pt x="86868" y="308610"/>
                </a:lnTo>
                <a:lnTo>
                  <a:pt x="86868" y="0"/>
                </a:lnTo>
                <a:close/>
              </a:path>
              <a:path w="144779" h="381000">
                <a:moveTo>
                  <a:pt x="144779" y="294132"/>
                </a:moveTo>
                <a:lnTo>
                  <a:pt x="86868" y="294132"/>
                </a:lnTo>
                <a:lnTo>
                  <a:pt x="86868" y="308610"/>
                </a:lnTo>
                <a:lnTo>
                  <a:pt x="132714" y="308610"/>
                </a:lnTo>
                <a:lnTo>
                  <a:pt x="144779" y="29413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6172961" y="4648961"/>
            <a:ext cx="1905000" cy="381000"/>
          </a:xfrm>
          <a:prstGeom prst="rect">
            <a:avLst/>
          </a:prstGeom>
          <a:solidFill>
            <a:srgbClr val="FFFFCC"/>
          </a:solidFill>
          <a:ln w="25907">
            <a:solidFill>
              <a:srgbClr val="FFC000"/>
            </a:solidFill>
          </a:ln>
        </p:spPr>
        <p:txBody>
          <a:bodyPr vert="horz" wrap="square" lIns="0" tIns="3492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75"/>
              </a:spcBef>
            </a:pPr>
            <a:r>
              <a:rPr sz="1600" spc="-10" dirty="0">
                <a:latin typeface="BPG Courier S GPL&amp;GNU"/>
                <a:cs typeface="BPG Courier S GPL&amp;GNU"/>
              </a:rPr>
              <a:t>a.out</a:t>
            </a:r>
            <a:endParaRPr sz="1600">
              <a:latin typeface="BPG Courier S GPL&amp;GNU"/>
              <a:cs typeface="BPG Courier S GPL&amp;GNU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464744" y="5397944"/>
            <a:ext cx="1321435" cy="559435"/>
            <a:chOff x="6464744" y="5397944"/>
            <a:chExt cx="1321435" cy="559435"/>
          </a:xfrm>
        </p:grpSpPr>
        <p:sp>
          <p:nvSpPr>
            <p:cNvPr id="18" name="object 18"/>
            <p:cNvSpPr/>
            <p:nvPr/>
          </p:nvSpPr>
          <p:spPr>
            <a:xfrm>
              <a:off x="6477762" y="5410962"/>
              <a:ext cx="1295400" cy="533400"/>
            </a:xfrm>
            <a:custGeom>
              <a:avLst/>
              <a:gdLst/>
              <a:ahLst/>
              <a:cxnLst/>
              <a:rect l="l" t="t" r="r" b="b"/>
              <a:pathLst>
                <a:path w="1295400" h="533400">
                  <a:moveTo>
                    <a:pt x="1206499" y="0"/>
                  </a:moveTo>
                  <a:lnTo>
                    <a:pt x="88899" y="0"/>
                  </a:lnTo>
                  <a:lnTo>
                    <a:pt x="54274" y="6979"/>
                  </a:lnTo>
                  <a:lnTo>
                    <a:pt x="26019" y="26019"/>
                  </a:lnTo>
                  <a:lnTo>
                    <a:pt x="6979" y="54274"/>
                  </a:lnTo>
                  <a:lnTo>
                    <a:pt x="0" y="88900"/>
                  </a:lnTo>
                  <a:lnTo>
                    <a:pt x="0" y="444500"/>
                  </a:lnTo>
                  <a:lnTo>
                    <a:pt x="6979" y="479103"/>
                  </a:lnTo>
                  <a:lnTo>
                    <a:pt x="26019" y="507361"/>
                  </a:lnTo>
                  <a:lnTo>
                    <a:pt x="54274" y="526413"/>
                  </a:lnTo>
                  <a:lnTo>
                    <a:pt x="88899" y="533400"/>
                  </a:lnTo>
                  <a:lnTo>
                    <a:pt x="1206499" y="533400"/>
                  </a:lnTo>
                  <a:lnTo>
                    <a:pt x="1241125" y="526413"/>
                  </a:lnTo>
                  <a:lnTo>
                    <a:pt x="1269380" y="507361"/>
                  </a:lnTo>
                  <a:lnTo>
                    <a:pt x="1288420" y="479103"/>
                  </a:lnTo>
                  <a:lnTo>
                    <a:pt x="1295399" y="444500"/>
                  </a:lnTo>
                  <a:lnTo>
                    <a:pt x="1295399" y="88900"/>
                  </a:lnTo>
                  <a:lnTo>
                    <a:pt x="1288420" y="54274"/>
                  </a:lnTo>
                  <a:lnTo>
                    <a:pt x="1269380" y="26019"/>
                  </a:lnTo>
                  <a:lnTo>
                    <a:pt x="1241125" y="6979"/>
                  </a:lnTo>
                  <a:lnTo>
                    <a:pt x="1206499" y="0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477762" y="5410962"/>
              <a:ext cx="1295400" cy="533400"/>
            </a:xfrm>
            <a:custGeom>
              <a:avLst/>
              <a:gdLst/>
              <a:ahLst/>
              <a:cxnLst/>
              <a:rect l="l" t="t" r="r" b="b"/>
              <a:pathLst>
                <a:path w="1295400" h="533400">
                  <a:moveTo>
                    <a:pt x="0" y="88900"/>
                  </a:moveTo>
                  <a:lnTo>
                    <a:pt x="6979" y="54274"/>
                  </a:lnTo>
                  <a:lnTo>
                    <a:pt x="26019" y="26019"/>
                  </a:lnTo>
                  <a:lnTo>
                    <a:pt x="54274" y="6979"/>
                  </a:lnTo>
                  <a:lnTo>
                    <a:pt x="88899" y="0"/>
                  </a:lnTo>
                  <a:lnTo>
                    <a:pt x="1206499" y="0"/>
                  </a:lnTo>
                  <a:lnTo>
                    <a:pt x="1241125" y="6979"/>
                  </a:lnTo>
                  <a:lnTo>
                    <a:pt x="1269380" y="26019"/>
                  </a:lnTo>
                  <a:lnTo>
                    <a:pt x="1288420" y="54274"/>
                  </a:lnTo>
                  <a:lnTo>
                    <a:pt x="1295399" y="88900"/>
                  </a:lnTo>
                  <a:lnTo>
                    <a:pt x="1295399" y="444500"/>
                  </a:lnTo>
                  <a:lnTo>
                    <a:pt x="1288420" y="479103"/>
                  </a:lnTo>
                  <a:lnTo>
                    <a:pt x="1269380" y="507361"/>
                  </a:lnTo>
                  <a:lnTo>
                    <a:pt x="1241125" y="526413"/>
                  </a:lnTo>
                  <a:lnTo>
                    <a:pt x="1206499" y="533400"/>
                  </a:lnTo>
                  <a:lnTo>
                    <a:pt x="88899" y="533400"/>
                  </a:lnTo>
                  <a:lnTo>
                    <a:pt x="54274" y="526413"/>
                  </a:lnTo>
                  <a:lnTo>
                    <a:pt x="26019" y="507361"/>
                  </a:lnTo>
                  <a:lnTo>
                    <a:pt x="6979" y="479103"/>
                  </a:lnTo>
                  <a:lnTo>
                    <a:pt x="0" y="444500"/>
                  </a:lnTo>
                  <a:lnTo>
                    <a:pt x="0" y="88900"/>
                  </a:lnTo>
                  <a:close/>
                </a:path>
              </a:pathLst>
            </a:custGeom>
            <a:ln w="25908">
              <a:solidFill>
                <a:srgbClr val="006E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6830314" y="5537403"/>
            <a:ext cx="58991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Arial"/>
                <a:cs typeface="Arial"/>
              </a:rPr>
              <a:t>output</a:t>
            </a:r>
            <a:endParaRPr sz="160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7053071" y="4267961"/>
            <a:ext cx="144780" cy="381000"/>
          </a:xfrm>
          <a:custGeom>
            <a:avLst/>
            <a:gdLst/>
            <a:ahLst/>
            <a:cxnLst/>
            <a:rect l="l" t="t" r="r" b="b"/>
            <a:pathLst>
              <a:path w="144779" h="381000">
                <a:moveTo>
                  <a:pt x="57911" y="294131"/>
                </a:moveTo>
                <a:lnTo>
                  <a:pt x="0" y="294131"/>
                </a:lnTo>
                <a:lnTo>
                  <a:pt x="72389" y="381000"/>
                </a:lnTo>
                <a:lnTo>
                  <a:pt x="132714" y="308610"/>
                </a:lnTo>
                <a:lnTo>
                  <a:pt x="57911" y="308610"/>
                </a:lnTo>
                <a:lnTo>
                  <a:pt x="57911" y="294131"/>
                </a:lnTo>
                <a:close/>
              </a:path>
              <a:path w="144779" h="381000">
                <a:moveTo>
                  <a:pt x="86868" y="0"/>
                </a:moveTo>
                <a:lnTo>
                  <a:pt x="57911" y="0"/>
                </a:lnTo>
                <a:lnTo>
                  <a:pt x="57911" y="308610"/>
                </a:lnTo>
                <a:lnTo>
                  <a:pt x="86868" y="308610"/>
                </a:lnTo>
                <a:lnTo>
                  <a:pt x="86868" y="0"/>
                </a:lnTo>
                <a:close/>
              </a:path>
              <a:path w="144779" h="381000">
                <a:moveTo>
                  <a:pt x="144779" y="294131"/>
                </a:moveTo>
                <a:lnTo>
                  <a:pt x="86868" y="294131"/>
                </a:lnTo>
                <a:lnTo>
                  <a:pt x="86868" y="308610"/>
                </a:lnTo>
                <a:lnTo>
                  <a:pt x="132714" y="308610"/>
                </a:lnTo>
                <a:lnTo>
                  <a:pt x="144779" y="2941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053071" y="5029961"/>
            <a:ext cx="144780" cy="381000"/>
          </a:xfrm>
          <a:custGeom>
            <a:avLst/>
            <a:gdLst/>
            <a:ahLst/>
            <a:cxnLst/>
            <a:rect l="l" t="t" r="r" b="b"/>
            <a:pathLst>
              <a:path w="144779" h="381000">
                <a:moveTo>
                  <a:pt x="57911" y="294131"/>
                </a:moveTo>
                <a:lnTo>
                  <a:pt x="0" y="294131"/>
                </a:lnTo>
                <a:lnTo>
                  <a:pt x="72389" y="381000"/>
                </a:lnTo>
                <a:lnTo>
                  <a:pt x="132714" y="308609"/>
                </a:lnTo>
                <a:lnTo>
                  <a:pt x="57911" y="308609"/>
                </a:lnTo>
                <a:lnTo>
                  <a:pt x="57911" y="294131"/>
                </a:lnTo>
                <a:close/>
              </a:path>
              <a:path w="144779" h="381000">
                <a:moveTo>
                  <a:pt x="86868" y="0"/>
                </a:moveTo>
                <a:lnTo>
                  <a:pt x="57911" y="0"/>
                </a:lnTo>
                <a:lnTo>
                  <a:pt x="57911" y="308609"/>
                </a:lnTo>
                <a:lnTo>
                  <a:pt x="86868" y="308609"/>
                </a:lnTo>
                <a:lnTo>
                  <a:pt x="86868" y="0"/>
                </a:lnTo>
                <a:close/>
              </a:path>
              <a:path w="144779" h="381000">
                <a:moveTo>
                  <a:pt x="144779" y="294131"/>
                </a:moveTo>
                <a:lnTo>
                  <a:pt x="86868" y="294131"/>
                </a:lnTo>
                <a:lnTo>
                  <a:pt x="86868" y="308609"/>
                </a:lnTo>
                <a:lnTo>
                  <a:pt x="132714" y="308609"/>
                </a:lnTo>
                <a:lnTo>
                  <a:pt x="144779" y="2941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772159" y="1000688"/>
            <a:ext cx="3947795" cy="1550035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815"/>
              </a:spcBef>
              <a:buClr>
                <a:srgbClr val="009999"/>
              </a:buClr>
              <a:buSzPct val="64583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400" spc="-5" dirty="0">
                <a:solidFill>
                  <a:srgbClr val="C00000"/>
                </a:solidFill>
                <a:latin typeface="Arial"/>
                <a:cs typeface="Arial"/>
              </a:rPr>
              <a:t>Writing/Editing</a:t>
            </a:r>
            <a:r>
              <a:rPr sz="2400" spc="1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C00000"/>
                </a:solidFill>
                <a:latin typeface="Arial"/>
                <a:cs typeface="Arial"/>
              </a:rPr>
              <a:t>Program</a:t>
            </a:r>
            <a:endParaRPr sz="2400">
              <a:latin typeface="Arial"/>
              <a:cs typeface="Arial"/>
            </a:endParaRPr>
          </a:p>
          <a:p>
            <a:pPr marL="683260" lvl="1" indent="-327025">
              <a:lnSpc>
                <a:spcPct val="100000"/>
              </a:lnSpc>
              <a:spcBef>
                <a:spcPts val="605"/>
              </a:spcBef>
              <a:buClr>
                <a:srgbClr val="4B6C4E"/>
              </a:buClr>
              <a:buSzPct val="60000"/>
              <a:buFont typeface="Wingdings"/>
              <a:buChar char=""/>
              <a:tabLst>
                <a:tab pos="683260" algn="l"/>
                <a:tab pos="683895" algn="l"/>
              </a:tabLst>
            </a:pPr>
            <a:r>
              <a:rPr sz="2000" spc="5" dirty="0">
                <a:latin typeface="Arial"/>
                <a:cs typeface="Arial"/>
              </a:rPr>
              <a:t>Use </a:t>
            </a:r>
            <a:r>
              <a:rPr sz="2000" dirty="0">
                <a:latin typeface="Arial"/>
                <a:cs typeface="Arial"/>
              </a:rPr>
              <a:t>an editor, </a:t>
            </a:r>
            <a:r>
              <a:rPr sz="2000" spc="-5" dirty="0">
                <a:latin typeface="Arial"/>
                <a:cs typeface="Arial"/>
              </a:rPr>
              <a:t>e.g.: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vim</a:t>
            </a:r>
            <a:endParaRPr sz="2000">
              <a:latin typeface="Arial"/>
              <a:cs typeface="Arial"/>
            </a:endParaRPr>
          </a:p>
          <a:p>
            <a:pPr marL="683260" lvl="1" indent="-327025">
              <a:lnSpc>
                <a:spcPct val="100000"/>
              </a:lnSpc>
              <a:spcBef>
                <a:spcPts val="470"/>
              </a:spcBef>
              <a:buClr>
                <a:srgbClr val="4B6C4E"/>
              </a:buClr>
              <a:buSzPct val="60000"/>
              <a:buFont typeface="Wingdings"/>
              <a:buChar char=""/>
              <a:tabLst>
                <a:tab pos="683260" algn="l"/>
                <a:tab pos="683895" algn="l"/>
              </a:tabLst>
            </a:pPr>
            <a:r>
              <a:rPr sz="2000" dirty="0">
                <a:latin typeface="Arial"/>
                <a:cs typeface="Arial"/>
              </a:rPr>
              <a:t>Source code must have a</a:t>
            </a:r>
            <a:r>
              <a:rPr sz="2000" spc="-155" dirty="0"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C00000"/>
                </a:solidFill>
                <a:latin typeface="Courier New"/>
                <a:cs typeface="Courier New"/>
              </a:rPr>
              <a:t>.c</a:t>
            </a:r>
            <a:endParaRPr sz="2000">
              <a:latin typeface="Courier New"/>
              <a:cs typeface="Courier New"/>
            </a:endParaRPr>
          </a:p>
          <a:p>
            <a:pPr marL="683260">
              <a:lnSpc>
                <a:spcPct val="100000"/>
              </a:lnSpc>
              <a:spcBef>
                <a:spcPts val="130"/>
              </a:spcBef>
            </a:pPr>
            <a:r>
              <a:rPr sz="2000" dirty="0">
                <a:latin typeface="Arial"/>
                <a:cs typeface="Arial"/>
              </a:rPr>
              <a:t>extension</a:t>
            </a:r>
            <a:endParaRPr sz="20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72159" y="2682178"/>
            <a:ext cx="4097020" cy="2200910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60"/>
              </a:spcBef>
              <a:buClr>
                <a:srgbClr val="009999"/>
              </a:buClr>
              <a:buSzPct val="64583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400" spc="-5" dirty="0">
                <a:solidFill>
                  <a:srgbClr val="C00000"/>
                </a:solidFill>
                <a:latin typeface="Arial"/>
                <a:cs typeface="Arial"/>
              </a:rPr>
              <a:t>Compiling</a:t>
            </a:r>
            <a:r>
              <a:rPr sz="2400" spc="4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C00000"/>
                </a:solidFill>
                <a:latin typeface="Arial"/>
                <a:cs typeface="Arial"/>
              </a:rPr>
              <a:t>Program</a:t>
            </a:r>
            <a:endParaRPr sz="2400">
              <a:latin typeface="Arial"/>
              <a:cs typeface="Arial"/>
            </a:endParaRPr>
          </a:p>
          <a:p>
            <a:pPr marL="683260" lvl="1" indent="-327025">
              <a:lnSpc>
                <a:spcPct val="100000"/>
              </a:lnSpc>
              <a:spcBef>
                <a:spcPts val="470"/>
              </a:spcBef>
              <a:buClr>
                <a:srgbClr val="4B6C4E"/>
              </a:buClr>
              <a:buSzPct val="60000"/>
              <a:buFont typeface="Wingdings"/>
              <a:buChar char=""/>
              <a:tabLst>
                <a:tab pos="683260" algn="l"/>
                <a:tab pos="683895" algn="l"/>
              </a:tabLst>
            </a:pPr>
            <a:r>
              <a:rPr sz="2000" spc="5" dirty="0">
                <a:latin typeface="Arial"/>
                <a:cs typeface="Arial"/>
              </a:rPr>
              <a:t>Use </a:t>
            </a:r>
            <a:r>
              <a:rPr sz="2000" dirty="0">
                <a:latin typeface="Arial"/>
                <a:cs typeface="Arial"/>
              </a:rPr>
              <a:t>a C compiler, eg:</a:t>
            </a:r>
            <a:r>
              <a:rPr sz="2000" spc="-114" dirty="0">
                <a:latin typeface="Arial"/>
                <a:cs typeface="Arial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gcc</a:t>
            </a:r>
            <a:endParaRPr sz="2000">
              <a:latin typeface="Courier New"/>
              <a:cs typeface="Courier New"/>
            </a:endParaRPr>
          </a:p>
          <a:p>
            <a:pPr marL="683260" lvl="1" indent="-327025">
              <a:lnSpc>
                <a:spcPct val="100000"/>
              </a:lnSpc>
              <a:spcBef>
                <a:spcPts val="600"/>
              </a:spcBef>
              <a:buClr>
                <a:srgbClr val="4B6C4E"/>
              </a:buClr>
              <a:buSzPct val="60000"/>
              <a:buFont typeface="Wingdings"/>
              <a:buChar char=""/>
              <a:tabLst>
                <a:tab pos="683260" algn="l"/>
                <a:tab pos="683895" algn="l"/>
              </a:tabLst>
            </a:pPr>
            <a:r>
              <a:rPr sz="2000" dirty="0">
                <a:latin typeface="Arial"/>
                <a:cs typeface="Arial"/>
              </a:rPr>
              <a:t>Default executable </a:t>
            </a:r>
            <a:r>
              <a:rPr sz="2000" spc="-5" dirty="0">
                <a:latin typeface="Arial"/>
                <a:cs typeface="Arial"/>
              </a:rPr>
              <a:t>file: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0000FF"/>
                </a:solidFill>
                <a:latin typeface="Courier New"/>
                <a:cs typeface="Courier New"/>
              </a:rPr>
              <a:t>a.out</a:t>
            </a:r>
            <a:endParaRPr sz="2000">
              <a:latin typeface="Courier New"/>
              <a:cs typeface="Courier New"/>
            </a:endParaRPr>
          </a:p>
          <a:p>
            <a:pPr marL="355600" indent="-343535">
              <a:lnSpc>
                <a:spcPct val="100000"/>
              </a:lnSpc>
              <a:spcBef>
                <a:spcPts val="1930"/>
              </a:spcBef>
              <a:buClr>
                <a:srgbClr val="009999"/>
              </a:buClr>
              <a:buSzPct val="64583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400" spc="-5" dirty="0">
                <a:solidFill>
                  <a:srgbClr val="C00000"/>
                </a:solidFill>
                <a:latin typeface="Arial"/>
                <a:cs typeface="Arial"/>
              </a:rPr>
              <a:t>Executing</a:t>
            </a:r>
            <a:r>
              <a:rPr sz="2400" spc="1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C00000"/>
                </a:solidFill>
                <a:latin typeface="Arial"/>
                <a:cs typeface="Arial"/>
              </a:rPr>
              <a:t>Binary</a:t>
            </a:r>
            <a:endParaRPr sz="2400">
              <a:latin typeface="Arial"/>
              <a:cs typeface="Arial"/>
            </a:endParaRPr>
          </a:p>
          <a:p>
            <a:pPr marL="683260" lvl="1" indent="-327025">
              <a:lnSpc>
                <a:spcPct val="100000"/>
              </a:lnSpc>
              <a:spcBef>
                <a:spcPts val="605"/>
              </a:spcBef>
              <a:buClr>
                <a:srgbClr val="4B6C4E"/>
              </a:buClr>
              <a:buSzPct val="60000"/>
              <a:buFont typeface="Wingdings"/>
              <a:buChar char=""/>
              <a:tabLst>
                <a:tab pos="683260" algn="l"/>
                <a:tab pos="683895" algn="l"/>
              </a:tabLst>
            </a:pPr>
            <a:r>
              <a:rPr sz="2000" spc="-5" dirty="0">
                <a:latin typeface="Arial"/>
                <a:cs typeface="Arial"/>
              </a:rPr>
              <a:t>Type </a:t>
            </a:r>
            <a:r>
              <a:rPr sz="2000" dirty="0">
                <a:latin typeface="Arial"/>
                <a:cs typeface="Arial"/>
              </a:rPr>
              <a:t>name of executable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file</a:t>
            </a:r>
            <a:endParaRPr sz="200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63068" y="187452"/>
            <a:ext cx="523240" cy="2251075"/>
          </a:xfrm>
          <a:custGeom>
            <a:avLst/>
            <a:gdLst/>
            <a:ahLst/>
            <a:cxnLst/>
            <a:rect l="l" t="t" r="r" b="b"/>
            <a:pathLst>
              <a:path w="523240" h="2251075">
                <a:moveTo>
                  <a:pt x="522731" y="0"/>
                </a:moveTo>
                <a:lnTo>
                  <a:pt x="0" y="0"/>
                </a:lnTo>
                <a:lnTo>
                  <a:pt x="0" y="2250948"/>
                </a:lnTo>
                <a:lnTo>
                  <a:pt x="522731" y="2250948"/>
                </a:lnTo>
                <a:lnTo>
                  <a:pt x="522731" y="0"/>
                </a:lnTo>
                <a:close/>
              </a:path>
            </a:pathLst>
          </a:custGeom>
          <a:solidFill>
            <a:srgbClr val="FFCCFF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244239" y="352438"/>
            <a:ext cx="381000" cy="200787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990"/>
              </a:lnSpc>
            </a:pPr>
            <a:r>
              <a:rPr sz="2800" dirty="0">
                <a:solidFill>
                  <a:srgbClr val="C00000"/>
                </a:solidFill>
                <a:latin typeface="Trebuchet MS"/>
                <a:cs typeface="Trebuchet MS"/>
              </a:rPr>
              <a:t>2. </a:t>
            </a:r>
            <a:r>
              <a:rPr sz="2800" spc="80" dirty="0">
                <a:solidFill>
                  <a:srgbClr val="000099"/>
                </a:solidFill>
                <a:latin typeface="Trebuchet MS"/>
                <a:cs typeface="Trebuchet MS"/>
              </a:rPr>
              <a:t>Run</a:t>
            </a:r>
            <a:r>
              <a:rPr sz="2800" spc="-60" dirty="0">
                <a:solidFill>
                  <a:srgbClr val="000099"/>
                </a:solidFill>
                <a:latin typeface="Trebuchet MS"/>
                <a:cs typeface="Trebuchet MS"/>
              </a:rPr>
              <a:t> </a:t>
            </a:r>
            <a:r>
              <a:rPr sz="2800" spc="-70" dirty="0">
                <a:solidFill>
                  <a:srgbClr val="000099"/>
                </a:solidFill>
                <a:latin typeface="Trebuchet MS"/>
                <a:cs typeface="Trebuchet MS"/>
              </a:rPr>
              <a:t>Cycle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89"/>
              </a:lnSpc>
              <a:tabLst>
                <a:tab pos="1996439" algn="l"/>
                <a:tab pos="8046720" algn="l"/>
              </a:tabLst>
            </a:pPr>
            <a:r>
              <a:rPr dirty="0"/>
              <a:t>[501043 Lecture 1: Intro</a:t>
            </a:r>
            <a:r>
              <a:rPr spc="-6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Java]	</a:t>
            </a:r>
            <a:r>
              <a:rPr u="heavy" dirty="0">
                <a:uFill>
                  <a:solidFill>
                    <a:srgbClr val="009999"/>
                  </a:solidFill>
                </a:uFill>
              </a:rPr>
              <a:t> 	</a:t>
            </a:r>
            <a:r>
              <a:rPr sz="1600" b="1" i="1" spc="-5" dirty="0">
                <a:solidFill>
                  <a:srgbClr val="C00000"/>
                </a:solidFill>
                <a:latin typeface="Arial"/>
                <a:cs typeface="Arial"/>
              </a:rPr>
              <a:t>11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7244" y="248158"/>
            <a:ext cx="72910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0" dirty="0"/>
              <a:t>Java: </a:t>
            </a:r>
            <a:r>
              <a:rPr spc="-50" dirty="0"/>
              <a:t>Compile </a:t>
            </a:r>
            <a:r>
              <a:rPr spc="-105" dirty="0"/>
              <a:t>Once, </a:t>
            </a:r>
            <a:r>
              <a:rPr spc="105" dirty="0"/>
              <a:t>Run</a:t>
            </a:r>
            <a:r>
              <a:rPr spc="245" dirty="0"/>
              <a:t> </a:t>
            </a:r>
            <a:r>
              <a:rPr spc="-40" dirty="0"/>
              <a:t>Anywhere?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048258"/>
            <a:ext cx="7817484" cy="541147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355600" marR="132080" indent="-343535" algn="just">
              <a:lnSpc>
                <a:spcPts val="3020"/>
              </a:lnSpc>
              <a:spcBef>
                <a:spcPts val="480"/>
              </a:spcBef>
              <a:buClr>
                <a:srgbClr val="009999"/>
              </a:buClr>
              <a:buSzPct val="64285"/>
              <a:buFont typeface="Wingdings"/>
              <a:buChar char=""/>
              <a:tabLst>
                <a:tab pos="356235" algn="l"/>
              </a:tabLst>
            </a:pPr>
            <a:r>
              <a:rPr sz="2800" spc="-5" dirty="0">
                <a:latin typeface="Arial"/>
                <a:cs typeface="Arial"/>
              </a:rPr>
              <a:t>Normal </a:t>
            </a:r>
            <a:r>
              <a:rPr sz="2800" dirty="0">
                <a:latin typeface="Arial"/>
                <a:cs typeface="Arial"/>
              </a:rPr>
              <a:t>executable files </a:t>
            </a:r>
            <a:r>
              <a:rPr sz="2800" spc="-5" dirty="0">
                <a:latin typeface="Arial"/>
                <a:cs typeface="Arial"/>
              </a:rPr>
              <a:t>are </a:t>
            </a:r>
            <a:r>
              <a:rPr sz="2800" dirty="0">
                <a:latin typeface="Arial"/>
                <a:cs typeface="Arial"/>
              </a:rPr>
              <a:t>directly </a:t>
            </a:r>
            <a:r>
              <a:rPr sz="2800" spc="-5" dirty="0">
                <a:latin typeface="Arial"/>
                <a:cs typeface="Arial"/>
              </a:rPr>
              <a:t>dependent  on the</a:t>
            </a:r>
            <a:r>
              <a:rPr sz="2800" spc="10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OS/Hardware</a:t>
            </a:r>
            <a:endParaRPr sz="2800">
              <a:latin typeface="Arial"/>
              <a:cs typeface="Arial"/>
            </a:endParaRPr>
          </a:p>
          <a:p>
            <a:pPr marL="683260" marR="295275" lvl="1" indent="-326390" algn="just">
              <a:lnSpc>
                <a:spcPts val="2590"/>
              </a:lnSpc>
              <a:spcBef>
                <a:spcPts val="615"/>
              </a:spcBef>
              <a:buClr>
                <a:srgbClr val="4B6C4E"/>
              </a:buClr>
              <a:buSzPct val="60416"/>
              <a:buFont typeface="Wingdings"/>
              <a:buChar char=""/>
              <a:tabLst>
                <a:tab pos="683895" algn="l"/>
              </a:tabLst>
            </a:pPr>
            <a:r>
              <a:rPr sz="2400" spc="-5" dirty="0">
                <a:latin typeface="Arial"/>
                <a:cs typeface="Arial"/>
              </a:rPr>
              <a:t>Hence, an executable file is usually </a:t>
            </a:r>
            <a:r>
              <a:rPr sz="2400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not</a:t>
            </a:r>
            <a:r>
              <a:rPr sz="2400" spc="-5" dirty="0">
                <a:latin typeface="Arial"/>
                <a:cs typeface="Arial"/>
              </a:rPr>
              <a:t> executable  on different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platforms</a:t>
            </a:r>
            <a:endParaRPr sz="2400">
              <a:latin typeface="Arial"/>
              <a:cs typeface="Arial"/>
            </a:endParaRPr>
          </a:p>
          <a:p>
            <a:pPr marL="683260" lvl="1" indent="-327025" algn="just">
              <a:lnSpc>
                <a:spcPts val="2735"/>
              </a:lnSpc>
              <a:spcBef>
                <a:spcPts val="280"/>
              </a:spcBef>
              <a:buClr>
                <a:srgbClr val="4B6C4E"/>
              </a:buClr>
              <a:buSzPct val="60416"/>
              <a:buFont typeface="Wingdings"/>
              <a:buChar char=""/>
              <a:tabLst>
                <a:tab pos="683895" algn="l"/>
              </a:tabLst>
            </a:pPr>
            <a:r>
              <a:rPr sz="2400" spc="-5" dirty="0">
                <a:latin typeface="Arial"/>
                <a:cs typeface="Arial"/>
              </a:rPr>
              <a:t>E.g: The </a:t>
            </a:r>
            <a:r>
              <a:rPr sz="2400" dirty="0">
                <a:solidFill>
                  <a:srgbClr val="C00000"/>
                </a:solidFill>
                <a:latin typeface="Arial"/>
                <a:cs typeface="Arial"/>
              </a:rPr>
              <a:t>a.out </a:t>
            </a:r>
            <a:r>
              <a:rPr sz="2400" dirty="0">
                <a:latin typeface="Arial"/>
                <a:cs typeface="Arial"/>
              </a:rPr>
              <a:t>file </a:t>
            </a:r>
            <a:r>
              <a:rPr sz="2400" spc="-5" dirty="0">
                <a:latin typeface="Arial"/>
                <a:cs typeface="Arial"/>
              </a:rPr>
              <a:t>compiled </a:t>
            </a:r>
            <a:r>
              <a:rPr sz="2400" dirty="0">
                <a:latin typeface="Arial"/>
                <a:cs typeface="Arial"/>
              </a:rPr>
              <a:t>on </a:t>
            </a:r>
            <a:r>
              <a:rPr sz="2400" spc="-5" dirty="0">
                <a:latin typeface="Arial"/>
                <a:cs typeface="Arial"/>
              </a:rPr>
              <a:t>sunfire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2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not</a:t>
            </a:r>
            <a:endParaRPr sz="2400">
              <a:latin typeface="Arial"/>
              <a:cs typeface="Arial"/>
            </a:endParaRPr>
          </a:p>
          <a:p>
            <a:pPr marL="683260" algn="just">
              <a:lnSpc>
                <a:spcPts val="2735"/>
              </a:lnSpc>
            </a:pPr>
            <a:r>
              <a:rPr sz="2400" spc="-5" dirty="0">
                <a:latin typeface="Arial"/>
                <a:cs typeface="Arial"/>
              </a:rPr>
              <a:t>executable on your Windows</a:t>
            </a:r>
            <a:r>
              <a:rPr sz="2400" spc="7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computer</a:t>
            </a:r>
            <a:endParaRPr sz="2400">
              <a:latin typeface="Arial"/>
              <a:cs typeface="Arial"/>
            </a:endParaRPr>
          </a:p>
          <a:p>
            <a:pPr marL="355600" marR="5080" indent="-343535" algn="just">
              <a:lnSpc>
                <a:spcPct val="90000"/>
              </a:lnSpc>
              <a:spcBef>
                <a:spcPts val="1185"/>
              </a:spcBef>
              <a:buClr>
                <a:srgbClr val="009999"/>
              </a:buClr>
              <a:buSzPct val="64285"/>
              <a:buFont typeface="Wingdings"/>
              <a:buChar char=""/>
              <a:tabLst>
                <a:tab pos="356235" algn="l"/>
              </a:tabLst>
            </a:pPr>
            <a:r>
              <a:rPr sz="2800" spc="-5" dirty="0">
                <a:latin typeface="Arial"/>
                <a:cs typeface="Arial"/>
              </a:rPr>
              <a:t>Java overcomes this by running the </a:t>
            </a:r>
            <a:r>
              <a:rPr sz="2800" dirty="0">
                <a:latin typeface="Arial"/>
                <a:cs typeface="Arial"/>
              </a:rPr>
              <a:t>executable  </a:t>
            </a:r>
            <a:r>
              <a:rPr sz="2800" spc="-5" dirty="0">
                <a:latin typeface="Arial"/>
                <a:cs typeface="Arial"/>
              </a:rPr>
              <a:t>on an </a:t>
            </a:r>
            <a:r>
              <a:rPr sz="2800" dirty="0">
                <a:solidFill>
                  <a:srgbClr val="0000FF"/>
                </a:solidFill>
                <a:latin typeface="Arial"/>
                <a:cs typeface="Arial"/>
              </a:rPr>
              <a:t>uniform </a:t>
            </a:r>
            <a:r>
              <a:rPr sz="2800" spc="-5" dirty="0">
                <a:solidFill>
                  <a:srgbClr val="0000FF"/>
                </a:solidFill>
                <a:latin typeface="Arial"/>
                <a:cs typeface="Arial"/>
              </a:rPr>
              <a:t>hardware </a:t>
            </a:r>
            <a:r>
              <a:rPr sz="2800" dirty="0">
                <a:solidFill>
                  <a:srgbClr val="0000FF"/>
                </a:solidFill>
                <a:latin typeface="Arial"/>
                <a:cs typeface="Arial"/>
              </a:rPr>
              <a:t>environment</a:t>
            </a:r>
            <a:r>
              <a:rPr sz="2800" dirty="0">
                <a:latin typeface="Arial"/>
                <a:cs typeface="Arial"/>
              </a:rPr>
              <a:t> </a:t>
            </a:r>
            <a:r>
              <a:rPr sz="2800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simulated  </a:t>
            </a: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by</a:t>
            </a:r>
            <a:r>
              <a:rPr sz="2800" u="heavy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software</a:t>
            </a:r>
            <a:endParaRPr sz="2800">
              <a:latin typeface="Arial"/>
              <a:cs typeface="Arial"/>
            </a:endParaRPr>
          </a:p>
          <a:p>
            <a:pPr marL="683260" marR="734060" lvl="1" indent="-326390">
              <a:lnSpc>
                <a:spcPts val="2590"/>
              </a:lnSpc>
              <a:spcBef>
                <a:spcPts val="655"/>
              </a:spcBef>
              <a:buClr>
                <a:srgbClr val="4B6C4E"/>
              </a:buClr>
              <a:buSzPct val="60416"/>
              <a:buFont typeface="Wingdings"/>
              <a:buChar char=""/>
              <a:tabLst>
                <a:tab pos="683260" algn="l"/>
                <a:tab pos="683895" algn="l"/>
              </a:tabLst>
            </a:pPr>
            <a:r>
              <a:rPr sz="2400" dirty="0">
                <a:latin typeface="Arial"/>
                <a:cs typeface="Arial"/>
              </a:rPr>
              <a:t>The </a:t>
            </a:r>
            <a:r>
              <a:rPr sz="2400" spc="-5" dirty="0">
                <a:latin typeface="Arial"/>
                <a:cs typeface="Arial"/>
              </a:rPr>
              <a:t>hardware environment is know as the </a:t>
            </a: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Java  Virtual Machine</a:t>
            </a:r>
            <a:r>
              <a:rPr sz="2400" spc="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000FF"/>
                </a:solidFill>
                <a:latin typeface="Arial"/>
                <a:cs typeface="Arial"/>
              </a:rPr>
              <a:t>(JVM)</a:t>
            </a:r>
            <a:endParaRPr sz="2400">
              <a:latin typeface="Arial"/>
              <a:cs typeface="Arial"/>
            </a:endParaRPr>
          </a:p>
          <a:p>
            <a:pPr marL="683260" marR="705485" lvl="1" indent="-326390">
              <a:lnSpc>
                <a:spcPts val="2590"/>
              </a:lnSpc>
              <a:spcBef>
                <a:spcPts val="605"/>
              </a:spcBef>
              <a:buClr>
                <a:srgbClr val="4B6C4E"/>
              </a:buClr>
              <a:buSzPct val="60416"/>
              <a:buFont typeface="Wingdings"/>
              <a:buChar char=""/>
              <a:tabLst>
                <a:tab pos="683260" algn="l"/>
                <a:tab pos="683895" algn="l"/>
              </a:tabLst>
            </a:pPr>
            <a:r>
              <a:rPr sz="2400" spc="-5" dirty="0">
                <a:latin typeface="Arial"/>
                <a:cs typeface="Arial"/>
              </a:rPr>
              <a:t>So, </a:t>
            </a:r>
            <a:r>
              <a:rPr sz="2400" spc="-10" dirty="0">
                <a:latin typeface="Arial"/>
                <a:cs typeface="Arial"/>
              </a:rPr>
              <a:t>we </a:t>
            </a:r>
            <a:r>
              <a:rPr sz="2400" spc="-5" dirty="0">
                <a:latin typeface="Arial"/>
                <a:cs typeface="Arial"/>
              </a:rPr>
              <a:t>only need a </a:t>
            </a: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specific </a:t>
            </a:r>
            <a:r>
              <a:rPr sz="2400" dirty="0">
                <a:solidFill>
                  <a:srgbClr val="0000FF"/>
                </a:solidFill>
                <a:latin typeface="Arial"/>
                <a:cs typeface="Arial"/>
              </a:rPr>
              <a:t>JVM </a:t>
            </a:r>
            <a:r>
              <a:rPr sz="2400" dirty="0">
                <a:latin typeface="Arial"/>
                <a:cs typeface="Arial"/>
              </a:rPr>
              <a:t>for </a:t>
            </a:r>
            <a:r>
              <a:rPr sz="2400" spc="-5" dirty="0">
                <a:latin typeface="Arial"/>
                <a:cs typeface="Arial"/>
              </a:rPr>
              <a:t>a particular  platform </a:t>
            </a:r>
            <a:r>
              <a:rPr sz="2400" dirty="0">
                <a:latin typeface="Arial"/>
                <a:cs typeface="Arial"/>
              </a:rPr>
              <a:t>to </a:t>
            </a:r>
            <a:r>
              <a:rPr sz="2400" spc="-5" dirty="0">
                <a:latin typeface="Arial"/>
                <a:cs typeface="Arial"/>
              </a:rPr>
              <a:t>execute all Java bytecodes </a:t>
            </a:r>
            <a:r>
              <a:rPr sz="2400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without </a:t>
            </a:r>
            <a:r>
              <a:rPr sz="2400" spc="-5" dirty="0">
                <a:latin typeface="Arial"/>
                <a:cs typeface="Arial"/>
              </a:rPr>
              <a:t> recompilation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3068" y="187452"/>
            <a:ext cx="523240" cy="2251075"/>
          </a:xfrm>
          <a:custGeom>
            <a:avLst/>
            <a:gdLst/>
            <a:ahLst/>
            <a:cxnLst/>
            <a:rect l="l" t="t" r="r" b="b"/>
            <a:pathLst>
              <a:path w="523240" h="2251075">
                <a:moveTo>
                  <a:pt x="522731" y="0"/>
                </a:moveTo>
                <a:lnTo>
                  <a:pt x="0" y="0"/>
                </a:lnTo>
                <a:lnTo>
                  <a:pt x="0" y="2250948"/>
                </a:lnTo>
                <a:lnTo>
                  <a:pt x="522731" y="2250948"/>
                </a:lnTo>
                <a:lnTo>
                  <a:pt x="522731" y="0"/>
                </a:lnTo>
                <a:close/>
              </a:path>
            </a:pathLst>
          </a:custGeom>
          <a:solidFill>
            <a:srgbClr val="FFCCFF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44239" y="352438"/>
            <a:ext cx="381000" cy="200787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990"/>
              </a:lnSpc>
            </a:pPr>
            <a:r>
              <a:rPr sz="2800" dirty="0">
                <a:solidFill>
                  <a:srgbClr val="C00000"/>
                </a:solidFill>
                <a:latin typeface="Trebuchet MS"/>
                <a:cs typeface="Trebuchet MS"/>
              </a:rPr>
              <a:t>2. </a:t>
            </a:r>
            <a:r>
              <a:rPr sz="2800" spc="80" dirty="0">
                <a:solidFill>
                  <a:srgbClr val="000099"/>
                </a:solidFill>
                <a:latin typeface="Trebuchet MS"/>
                <a:cs typeface="Trebuchet MS"/>
              </a:rPr>
              <a:t>Run</a:t>
            </a:r>
            <a:r>
              <a:rPr sz="2800" spc="-60" dirty="0">
                <a:solidFill>
                  <a:srgbClr val="000099"/>
                </a:solidFill>
                <a:latin typeface="Trebuchet MS"/>
                <a:cs typeface="Trebuchet MS"/>
              </a:rPr>
              <a:t> </a:t>
            </a:r>
            <a:r>
              <a:rPr sz="2800" spc="-70" dirty="0">
                <a:solidFill>
                  <a:srgbClr val="000099"/>
                </a:solidFill>
                <a:latin typeface="Trebuchet MS"/>
                <a:cs typeface="Trebuchet MS"/>
              </a:rPr>
              <a:t>Cycle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89"/>
              </a:lnSpc>
              <a:tabLst>
                <a:tab pos="1996439" algn="l"/>
                <a:tab pos="8046720" algn="l"/>
              </a:tabLst>
            </a:pPr>
            <a:r>
              <a:rPr dirty="0"/>
              <a:t>[501043 Lecture 1: Intro</a:t>
            </a:r>
            <a:r>
              <a:rPr spc="-6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Java]	</a:t>
            </a:r>
            <a:r>
              <a:rPr u="heavy" dirty="0">
                <a:uFill>
                  <a:solidFill>
                    <a:srgbClr val="009999"/>
                  </a:solidFill>
                </a:uFill>
              </a:rPr>
              <a:t> 	</a:t>
            </a:r>
            <a:r>
              <a:rPr sz="1600" b="1" i="1" spc="-5" dirty="0">
                <a:solidFill>
                  <a:srgbClr val="C00000"/>
                </a:solidFill>
                <a:latin typeface="Arial"/>
                <a:cs typeface="Arial"/>
              </a:rPr>
              <a:t>12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248158"/>
            <a:ext cx="58889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5" dirty="0"/>
              <a:t>Run </a:t>
            </a:r>
            <a:r>
              <a:rPr spc="-90" dirty="0"/>
              <a:t>Cycle </a:t>
            </a:r>
            <a:r>
              <a:rPr spc="-15" dirty="0"/>
              <a:t>for </a:t>
            </a:r>
            <a:r>
              <a:rPr spc="-100" dirty="0"/>
              <a:t>Java</a:t>
            </a:r>
            <a:r>
              <a:rPr spc="-80" dirty="0"/>
              <a:t> </a:t>
            </a:r>
            <a:r>
              <a:rPr spc="95" dirty="0"/>
              <a:t>Programs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001670"/>
            <a:ext cx="3711575" cy="864235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815"/>
              </a:spcBef>
              <a:buClr>
                <a:srgbClr val="009999"/>
              </a:buClr>
              <a:buSzPct val="64583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400" spc="-5" dirty="0">
                <a:solidFill>
                  <a:srgbClr val="C00000"/>
                </a:solidFill>
                <a:latin typeface="Arial"/>
                <a:cs typeface="Arial"/>
              </a:rPr>
              <a:t>Writing/Editing</a:t>
            </a:r>
            <a:r>
              <a:rPr sz="2400" spc="1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C00000"/>
                </a:solidFill>
                <a:latin typeface="Arial"/>
                <a:cs typeface="Arial"/>
              </a:rPr>
              <a:t>Program</a:t>
            </a:r>
            <a:endParaRPr sz="2400">
              <a:latin typeface="Arial"/>
              <a:cs typeface="Arial"/>
            </a:endParaRPr>
          </a:p>
          <a:p>
            <a:pPr marL="683260" lvl="1" indent="-327025">
              <a:lnSpc>
                <a:spcPct val="100000"/>
              </a:lnSpc>
              <a:spcBef>
                <a:spcPts val="600"/>
              </a:spcBef>
              <a:buClr>
                <a:srgbClr val="4B6C4E"/>
              </a:buClr>
              <a:buSzPct val="60000"/>
              <a:buFont typeface="Wingdings"/>
              <a:buChar char=""/>
              <a:tabLst>
                <a:tab pos="683260" algn="l"/>
                <a:tab pos="683895" algn="l"/>
              </a:tabLst>
            </a:pPr>
            <a:r>
              <a:rPr sz="2000" spc="5" dirty="0">
                <a:latin typeface="Arial"/>
                <a:cs typeface="Arial"/>
              </a:rPr>
              <a:t>Use </a:t>
            </a:r>
            <a:r>
              <a:rPr sz="2000" dirty="0">
                <a:latin typeface="Arial"/>
                <a:cs typeface="Arial"/>
              </a:rPr>
              <a:t>an </a:t>
            </a:r>
            <a:r>
              <a:rPr sz="2000" spc="-5" dirty="0">
                <a:latin typeface="Arial"/>
                <a:cs typeface="Arial"/>
              </a:rPr>
              <a:t>text </a:t>
            </a:r>
            <a:r>
              <a:rPr sz="2000" dirty="0">
                <a:latin typeface="Arial"/>
                <a:cs typeface="Arial"/>
              </a:rPr>
              <a:t>editor, e.g:</a:t>
            </a:r>
            <a:r>
              <a:rPr sz="2000" spc="-15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vim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9268" y="1899031"/>
            <a:ext cx="509143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8455" indent="-326390">
              <a:lnSpc>
                <a:spcPct val="100000"/>
              </a:lnSpc>
              <a:spcBef>
                <a:spcPts val="105"/>
              </a:spcBef>
              <a:buClr>
                <a:srgbClr val="4B6C4E"/>
              </a:buClr>
              <a:buSzPct val="60000"/>
              <a:buFont typeface="Wingdings"/>
              <a:buChar char=""/>
              <a:tabLst>
                <a:tab pos="338455" algn="l"/>
                <a:tab pos="339090" algn="l"/>
                <a:tab pos="3989070" algn="l"/>
              </a:tabLst>
            </a:pPr>
            <a:r>
              <a:rPr sz="2000" dirty="0">
                <a:latin typeface="Arial"/>
                <a:cs typeface="Arial"/>
              </a:rPr>
              <a:t>Sour</a:t>
            </a:r>
            <a:r>
              <a:rPr sz="2000" spc="5" dirty="0">
                <a:latin typeface="Arial"/>
                <a:cs typeface="Arial"/>
              </a:rPr>
              <a:t>c</a:t>
            </a:r>
            <a:r>
              <a:rPr sz="2000" dirty="0">
                <a:latin typeface="Arial"/>
                <a:cs typeface="Arial"/>
              </a:rPr>
              <a:t>e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</a:t>
            </a:r>
            <a:r>
              <a:rPr sz="2000" spc="5" dirty="0">
                <a:latin typeface="Arial"/>
                <a:cs typeface="Arial"/>
              </a:rPr>
              <a:t>o</a:t>
            </a:r>
            <a:r>
              <a:rPr sz="2000" dirty="0">
                <a:latin typeface="Arial"/>
                <a:cs typeface="Arial"/>
              </a:rPr>
              <a:t>de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must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have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C00000"/>
                </a:solidFill>
                <a:latin typeface="Courier New"/>
                <a:cs typeface="Courier New"/>
              </a:rPr>
              <a:t>.jav</a:t>
            </a:r>
            <a:r>
              <a:rPr sz="2000" b="1" dirty="0">
                <a:solidFill>
                  <a:srgbClr val="C00000"/>
                </a:solidFill>
                <a:latin typeface="Courier New"/>
                <a:cs typeface="Courier New"/>
              </a:rPr>
              <a:t>a	</a:t>
            </a:r>
            <a:r>
              <a:rPr sz="2000" dirty="0">
                <a:latin typeface="Arial"/>
                <a:cs typeface="Arial"/>
              </a:rPr>
              <a:t>ex</a:t>
            </a:r>
            <a:r>
              <a:rPr sz="2000" spc="-10" dirty="0">
                <a:latin typeface="Arial"/>
                <a:cs typeface="Arial"/>
              </a:rPr>
              <a:t>t</a:t>
            </a:r>
            <a:r>
              <a:rPr sz="2000" dirty="0">
                <a:latin typeface="Arial"/>
                <a:cs typeface="Arial"/>
              </a:rPr>
              <a:t>en</a:t>
            </a:r>
            <a:r>
              <a:rPr sz="2000" spc="5" dirty="0">
                <a:latin typeface="Arial"/>
                <a:cs typeface="Arial"/>
              </a:rPr>
              <a:t>s</a:t>
            </a:r>
            <a:r>
              <a:rPr sz="2000" dirty="0">
                <a:latin typeface="Arial"/>
                <a:cs typeface="Arial"/>
              </a:rPr>
              <a:t>ion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4540" y="2301509"/>
            <a:ext cx="5239385" cy="1911985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60"/>
              </a:spcBef>
              <a:buClr>
                <a:srgbClr val="009999"/>
              </a:buClr>
              <a:buSzPct val="64583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400" spc="-5" dirty="0">
                <a:solidFill>
                  <a:srgbClr val="C00000"/>
                </a:solidFill>
                <a:latin typeface="Arial"/>
                <a:cs typeface="Arial"/>
              </a:rPr>
              <a:t>Compiling</a:t>
            </a:r>
            <a:r>
              <a:rPr sz="2400" spc="4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C00000"/>
                </a:solidFill>
                <a:latin typeface="Arial"/>
                <a:cs typeface="Arial"/>
              </a:rPr>
              <a:t>Program</a:t>
            </a:r>
            <a:endParaRPr sz="2400">
              <a:latin typeface="Arial"/>
              <a:cs typeface="Arial"/>
            </a:endParaRPr>
          </a:p>
          <a:p>
            <a:pPr marL="683260" lvl="1" indent="-327025">
              <a:lnSpc>
                <a:spcPct val="100000"/>
              </a:lnSpc>
              <a:spcBef>
                <a:spcPts val="475"/>
              </a:spcBef>
              <a:buClr>
                <a:srgbClr val="4B6C4E"/>
              </a:buClr>
              <a:buSzPct val="60000"/>
              <a:buFont typeface="Wingdings"/>
              <a:buChar char=""/>
              <a:tabLst>
                <a:tab pos="683260" algn="l"/>
                <a:tab pos="683895" algn="l"/>
              </a:tabLst>
            </a:pPr>
            <a:r>
              <a:rPr sz="2000" spc="5" dirty="0">
                <a:latin typeface="Arial"/>
                <a:cs typeface="Arial"/>
              </a:rPr>
              <a:t>Use </a:t>
            </a:r>
            <a:r>
              <a:rPr sz="2000" dirty="0">
                <a:latin typeface="Arial"/>
                <a:cs typeface="Arial"/>
              </a:rPr>
              <a:t>a Java compiler, </a:t>
            </a:r>
            <a:r>
              <a:rPr sz="2000" spc="-5" dirty="0">
                <a:latin typeface="Arial"/>
                <a:cs typeface="Arial"/>
              </a:rPr>
              <a:t>e.g.:</a:t>
            </a:r>
            <a:r>
              <a:rPr sz="2000" spc="-114" dirty="0">
                <a:latin typeface="Arial"/>
                <a:cs typeface="Arial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javac</a:t>
            </a:r>
            <a:endParaRPr sz="2000">
              <a:latin typeface="Courier New"/>
              <a:cs typeface="Courier New"/>
            </a:endParaRPr>
          </a:p>
          <a:p>
            <a:pPr marL="683260" lvl="1" indent="-327025">
              <a:lnSpc>
                <a:spcPct val="100000"/>
              </a:lnSpc>
              <a:spcBef>
                <a:spcPts val="600"/>
              </a:spcBef>
              <a:buClr>
                <a:srgbClr val="4B6C4E"/>
              </a:buClr>
              <a:buSzPct val="60000"/>
              <a:buFont typeface="Wingdings"/>
              <a:buChar char=""/>
              <a:tabLst>
                <a:tab pos="683260" algn="l"/>
                <a:tab pos="683895" algn="l"/>
              </a:tabLst>
            </a:pPr>
            <a:r>
              <a:rPr sz="2000" dirty="0">
                <a:latin typeface="Arial"/>
                <a:cs typeface="Arial"/>
              </a:rPr>
              <a:t>Compiled binary has </a:t>
            </a:r>
            <a:r>
              <a:rPr sz="2000" b="1" spc="-5" dirty="0">
                <a:solidFill>
                  <a:srgbClr val="C00000"/>
                </a:solidFill>
                <a:latin typeface="Courier New"/>
                <a:cs typeface="Courier New"/>
              </a:rPr>
              <a:t>.class</a:t>
            </a:r>
            <a:r>
              <a:rPr sz="2000" b="1" spc="-7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latin typeface="Arial"/>
                <a:cs typeface="Arial"/>
              </a:rPr>
              <a:t>extension</a:t>
            </a:r>
            <a:endParaRPr sz="2000">
              <a:latin typeface="Arial"/>
              <a:cs typeface="Arial"/>
            </a:endParaRPr>
          </a:p>
          <a:p>
            <a:pPr marL="683260" lvl="1" indent="-327025">
              <a:lnSpc>
                <a:spcPct val="100000"/>
              </a:lnSpc>
              <a:spcBef>
                <a:spcPts val="730"/>
              </a:spcBef>
              <a:buClr>
                <a:srgbClr val="4B6C4E"/>
              </a:buClr>
              <a:buSzPct val="60000"/>
              <a:buFont typeface="Wingdings"/>
              <a:buChar char=""/>
              <a:tabLst>
                <a:tab pos="683260" algn="l"/>
                <a:tab pos="683895" algn="l"/>
              </a:tabLst>
            </a:pPr>
            <a:r>
              <a:rPr sz="2000" dirty="0">
                <a:latin typeface="Arial"/>
                <a:cs typeface="Arial"/>
              </a:rPr>
              <a:t>The binary is also known as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Java</a:t>
            </a:r>
            <a:endParaRPr sz="2000">
              <a:latin typeface="Arial"/>
              <a:cs typeface="Arial"/>
            </a:endParaRPr>
          </a:p>
          <a:p>
            <a:pPr marL="683260">
              <a:lnSpc>
                <a:spcPct val="100000"/>
              </a:lnSpc>
            </a:pPr>
            <a:r>
              <a:rPr sz="2000" b="1" dirty="0">
                <a:latin typeface="Arial"/>
                <a:cs typeface="Arial"/>
              </a:rPr>
              <a:t>Executable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Bytecode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4540" y="4248332"/>
            <a:ext cx="5148580" cy="2099310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815"/>
              </a:spcBef>
              <a:buClr>
                <a:srgbClr val="009999"/>
              </a:buClr>
              <a:buSzPct val="64583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400" spc="-5" dirty="0">
                <a:solidFill>
                  <a:srgbClr val="C00000"/>
                </a:solidFill>
                <a:latin typeface="Arial"/>
                <a:cs typeface="Arial"/>
              </a:rPr>
              <a:t>Executing</a:t>
            </a:r>
            <a:r>
              <a:rPr sz="2400" spc="1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C00000"/>
                </a:solidFill>
                <a:latin typeface="Arial"/>
                <a:cs typeface="Arial"/>
              </a:rPr>
              <a:t>Binary</a:t>
            </a:r>
            <a:endParaRPr sz="2400">
              <a:latin typeface="Arial"/>
              <a:cs typeface="Arial"/>
            </a:endParaRPr>
          </a:p>
          <a:p>
            <a:pPr marL="683260" lvl="1" indent="-327025">
              <a:lnSpc>
                <a:spcPts val="2345"/>
              </a:lnSpc>
              <a:spcBef>
                <a:spcPts val="605"/>
              </a:spcBef>
              <a:buClr>
                <a:srgbClr val="4B6C4E"/>
              </a:buClr>
              <a:buSzPct val="60000"/>
              <a:buFont typeface="Wingdings"/>
              <a:buChar char=""/>
              <a:tabLst>
                <a:tab pos="683260" algn="l"/>
                <a:tab pos="683895" algn="l"/>
              </a:tabLst>
            </a:pPr>
            <a:r>
              <a:rPr sz="2000" dirty="0">
                <a:latin typeface="Arial"/>
                <a:cs typeface="Arial"/>
              </a:rPr>
              <a:t>Run on a </a:t>
            </a:r>
            <a:r>
              <a:rPr sz="2000" b="1" i="1" dirty="0">
                <a:latin typeface="Arial"/>
                <a:cs typeface="Arial"/>
              </a:rPr>
              <a:t>Java Virtual Machine</a:t>
            </a:r>
            <a:r>
              <a:rPr sz="2000" b="1" i="1" spc="-135" dirty="0">
                <a:latin typeface="Arial"/>
                <a:cs typeface="Arial"/>
              </a:rPr>
              <a:t> </a:t>
            </a:r>
            <a:r>
              <a:rPr sz="2000" b="1" i="1" spc="-5" dirty="0">
                <a:latin typeface="Arial"/>
                <a:cs typeface="Arial"/>
              </a:rPr>
              <a:t>(JVM)</a:t>
            </a:r>
            <a:endParaRPr sz="2000">
              <a:latin typeface="Arial"/>
              <a:cs typeface="Arial"/>
            </a:endParaRPr>
          </a:p>
          <a:p>
            <a:pPr marL="1035050" lvl="2" indent="-352425">
              <a:lnSpc>
                <a:spcPts val="2105"/>
              </a:lnSpc>
              <a:buClr>
                <a:srgbClr val="009999"/>
              </a:buClr>
              <a:buSzPct val="63888"/>
              <a:buFont typeface="Wingdings"/>
              <a:buChar char=""/>
              <a:tabLst>
                <a:tab pos="1035050" algn="l"/>
                <a:tab pos="1035685" algn="l"/>
              </a:tabLst>
            </a:pPr>
            <a:r>
              <a:rPr sz="1800" spc="-5" dirty="0">
                <a:latin typeface="Arial"/>
                <a:cs typeface="Arial"/>
              </a:rPr>
              <a:t>e.g.: </a:t>
            </a:r>
            <a:r>
              <a:rPr sz="1800" b="1" spc="-5" dirty="0">
                <a:solidFill>
                  <a:srgbClr val="0000FF"/>
                </a:solidFill>
                <a:latin typeface="Courier New"/>
                <a:cs typeface="Courier New"/>
              </a:rPr>
              <a:t>java</a:t>
            </a:r>
            <a:r>
              <a:rPr sz="1800" b="1" spc="-4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800" b="1" spc="-5" dirty="0">
                <a:solidFill>
                  <a:srgbClr val="0000FF"/>
                </a:solidFill>
                <a:latin typeface="Courier New"/>
                <a:cs typeface="Courier New"/>
              </a:rPr>
              <a:t>HelloWorld</a:t>
            </a:r>
            <a:endParaRPr sz="1800">
              <a:latin typeface="Courier New"/>
              <a:cs typeface="Courier New"/>
            </a:endParaRPr>
          </a:p>
          <a:p>
            <a:pPr marL="1035050">
              <a:lnSpc>
                <a:spcPct val="100000"/>
              </a:lnSpc>
              <a:spcBef>
                <a:spcPts val="125"/>
              </a:spcBef>
            </a:pPr>
            <a:r>
              <a:rPr sz="1800" spc="-5" dirty="0">
                <a:latin typeface="Arial"/>
                <a:cs typeface="Arial"/>
              </a:rPr>
              <a:t>(leave out </a:t>
            </a:r>
            <a:r>
              <a:rPr sz="1800" dirty="0">
                <a:latin typeface="Arial"/>
                <a:cs typeface="Arial"/>
              </a:rPr>
              <a:t>the </a:t>
            </a:r>
            <a:r>
              <a:rPr sz="1800" b="1" spc="-5" dirty="0">
                <a:latin typeface="Arial"/>
                <a:cs typeface="Arial"/>
              </a:rPr>
              <a:t>.class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extension)</a:t>
            </a:r>
            <a:endParaRPr sz="1800">
              <a:latin typeface="Arial"/>
              <a:cs typeface="Arial"/>
            </a:endParaRPr>
          </a:p>
          <a:p>
            <a:pPr marL="683260" marR="5080" lvl="1" indent="-326390">
              <a:lnSpc>
                <a:spcPct val="100000"/>
              </a:lnSpc>
              <a:spcBef>
                <a:spcPts val="590"/>
              </a:spcBef>
              <a:buClr>
                <a:srgbClr val="4B6C4E"/>
              </a:buClr>
              <a:buSzPct val="60000"/>
              <a:buFont typeface="Wingdings"/>
              <a:buChar char=""/>
              <a:tabLst>
                <a:tab pos="683260" algn="l"/>
                <a:tab pos="683895" algn="l"/>
              </a:tabLst>
            </a:pPr>
            <a:r>
              <a:rPr sz="2000" dirty="0">
                <a:latin typeface="Arial"/>
                <a:cs typeface="Arial"/>
              </a:rPr>
              <a:t>Note the difference here compared to</a:t>
            </a:r>
            <a:r>
              <a:rPr sz="2000" spc="-2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  executable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617144" y="1816544"/>
            <a:ext cx="1702435" cy="703580"/>
            <a:chOff x="6617144" y="1816544"/>
            <a:chExt cx="1702435" cy="703580"/>
          </a:xfrm>
        </p:grpSpPr>
        <p:sp>
          <p:nvSpPr>
            <p:cNvPr id="8" name="object 8"/>
            <p:cNvSpPr/>
            <p:nvPr/>
          </p:nvSpPr>
          <p:spPr>
            <a:xfrm>
              <a:off x="6630161" y="1829562"/>
              <a:ext cx="1676400" cy="677545"/>
            </a:xfrm>
            <a:custGeom>
              <a:avLst/>
              <a:gdLst/>
              <a:ahLst/>
              <a:cxnLst/>
              <a:rect l="l" t="t" r="r" b="b"/>
              <a:pathLst>
                <a:path w="1676400" h="677544">
                  <a:moveTo>
                    <a:pt x="1676400" y="0"/>
                  </a:moveTo>
                  <a:lnTo>
                    <a:pt x="0" y="0"/>
                  </a:lnTo>
                  <a:lnTo>
                    <a:pt x="0" y="640461"/>
                  </a:lnTo>
                  <a:lnTo>
                    <a:pt x="66158" y="649400"/>
                  </a:lnTo>
                  <a:lnTo>
                    <a:pt x="128841" y="656963"/>
                  </a:lnTo>
                  <a:lnTo>
                    <a:pt x="188248" y="663213"/>
                  </a:lnTo>
                  <a:lnTo>
                    <a:pt x="244577" y="668215"/>
                  </a:lnTo>
                  <a:lnTo>
                    <a:pt x="298027" y="672032"/>
                  </a:lnTo>
                  <a:lnTo>
                    <a:pt x="348796" y="674727"/>
                  </a:lnTo>
                  <a:lnTo>
                    <a:pt x="397083" y="676365"/>
                  </a:lnTo>
                  <a:lnTo>
                    <a:pt x="443086" y="677010"/>
                  </a:lnTo>
                  <a:lnTo>
                    <a:pt x="487004" y="676724"/>
                  </a:lnTo>
                  <a:lnTo>
                    <a:pt x="529035" y="675572"/>
                  </a:lnTo>
                  <a:lnTo>
                    <a:pt x="569379" y="673617"/>
                  </a:lnTo>
                  <a:lnTo>
                    <a:pt x="608234" y="670924"/>
                  </a:lnTo>
                  <a:lnTo>
                    <a:pt x="682269" y="663575"/>
                  </a:lnTo>
                  <a:lnTo>
                    <a:pt x="752730" y="654037"/>
                  </a:lnTo>
                  <a:lnTo>
                    <a:pt x="821205" y="642817"/>
                  </a:lnTo>
                  <a:lnTo>
                    <a:pt x="1030602" y="604176"/>
                  </a:lnTo>
                  <a:lnTo>
                    <a:pt x="1068165" y="597678"/>
                  </a:lnTo>
                  <a:lnTo>
                    <a:pt x="1107020" y="591334"/>
                  </a:lnTo>
                  <a:lnTo>
                    <a:pt x="1147364" y="585207"/>
                  </a:lnTo>
                  <a:lnTo>
                    <a:pt x="1189395" y="579361"/>
                  </a:lnTo>
                  <a:lnTo>
                    <a:pt x="1233313" y="573859"/>
                  </a:lnTo>
                  <a:lnTo>
                    <a:pt x="1279316" y="568767"/>
                  </a:lnTo>
                  <a:lnTo>
                    <a:pt x="1327603" y="564146"/>
                  </a:lnTo>
                  <a:lnTo>
                    <a:pt x="1378372" y="560062"/>
                  </a:lnTo>
                  <a:lnTo>
                    <a:pt x="1431822" y="556577"/>
                  </a:lnTo>
                  <a:lnTo>
                    <a:pt x="1488151" y="553756"/>
                  </a:lnTo>
                  <a:lnTo>
                    <a:pt x="1547558" y="551661"/>
                  </a:lnTo>
                  <a:lnTo>
                    <a:pt x="1610241" y="550358"/>
                  </a:lnTo>
                  <a:lnTo>
                    <a:pt x="1676400" y="549910"/>
                  </a:lnTo>
                  <a:lnTo>
                    <a:pt x="1676400" y="0"/>
                  </a:lnTo>
                  <a:close/>
                </a:path>
              </a:pathLst>
            </a:custGeom>
            <a:solidFill>
              <a:srgbClr val="B8C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630161" y="1829562"/>
              <a:ext cx="1676400" cy="677545"/>
            </a:xfrm>
            <a:custGeom>
              <a:avLst/>
              <a:gdLst/>
              <a:ahLst/>
              <a:cxnLst/>
              <a:rect l="l" t="t" r="r" b="b"/>
              <a:pathLst>
                <a:path w="1676400" h="677544">
                  <a:moveTo>
                    <a:pt x="0" y="0"/>
                  </a:moveTo>
                  <a:lnTo>
                    <a:pt x="1676400" y="0"/>
                  </a:lnTo>
                  <a:lnTo>
                    <a:pt x="1676400" y="549910"/>
                  </a:lnTo>
                  <a:lnTo>
                    <a:pt x="1610241" y="550358"/>
                  </a:lnTo>
                  <a:lnTo>
                    <a:pt x="1547558" y="551661"/>
                  </a:lnTo>
                  <a:lnTo>
                    <a:pt x="1488151" y="553756"/>
                  </a:lnTo>
                  <a:lnTo>
                    <a:pt x="1431822" y="556577"/>
                  </a:lnTo>
                  <a:lnTo>
                    <a:pt x="1378372" y="560062"/>
                  </a:lnTo>
                  <a:lnTo>
                    <a:pt x="1327603" y="564146"/>
                  </a:lnTo>
                  <a:lnTo>
                    <a:pt x="1279316" y="568767"/>
                  </a:lnTo>
                  <a:lnTo>
                    <a:pt x="1233313" y="573859"/>
                  </a:lnTo>
                  <a:lnTo>
                    <a:pt x="1189395" y="579361"/>
                  </a:lnTo>
                  <a:lnTo>
                    <a:pt x="1147364" y="585207"/>
                  </a:lnTo>
                  <a:lnTo>
                    <a:pt x="1107020" y="591334"/>
                  </a:lnTo>
                  <a:lnTo>
                    <a:pt x="1068165" y="597678"/>
                  </a:lnTo>
                  <a:lnTo>
                    <a:pt x="1030602" y="604176"/>
                  </a:lnTo>
                  <a:lnTo>
                    <a:pt x="958552" y="617377"/>
                  </a:lnTo>
                  <a:lnTo>
                    <a:pt x="923669" y="623953"/>
                  </a:lnTo>
                  <a:lnTo>
                    <a:pt x="889283" y="630427"/>
                  </a:lnTo>
                  <a:lnTo>
                    <a:pt x="821205" y="642817"/>
                  </a:lnTo>
                  <a:lnTo>
                    <a:pt x="752730" y="654037"/>
                  </a:lnTo>
                  <a:lnTo>
                    <a:pt x="682269" y="663575"/>
                  </a:lnTo>
                  <a:lnTo>
                    <a:pt x="608234" y="670924"/>
                  </a:lnTo>
                  <a:lnTo>
                    <a:pt x="569379" y="673617"/>
                  </a:lnTo>
                  <a:lnTo>
                    <a:pt x="529035" y="675572"/>
                  </a:lnTo>
                  <a:lnTo>
                    <a:pt x="487004" y="676724"/>
                  </a:lnTo>
                  <a:lnTo>
                    <a:pt x="443086" y="677010"/>
                  </a:lnTo>
                  <a:lnTo>
                    <a:pt x="397083" y="676365"/>
                  </a:lnTo>
                  <a:lnTo>
                    <a:pt x="348796" y="674727"/>
                  </a:lnTo>
                  <a:lnTo>
                    <a:pt x="298027" y="672032"/>
                  </a:lnTo>
                  <a:lnTo>
                    <a:pt x="244577" y="668215"/>
                  </a:lnTo>
                  <a:lnTo>
                    <a:pt x="188248" y="663213"/>
                  </a:lnTo>
                  <a:lnTo>
                    <a:pt x="128841" y="656963"/>
                  </a:lnTo>
                  <a:lnTo>
                    <a:pt x="66158" y="649400"/>
                  </a:lnTo>
                  <a:lnTo>
                    <a:pt x="0" y="640461"/>
                  </a:lnTo>
                  <a:lnTo>
                    <a:pt x="0" y="0"/>
                  </a:lnTo>
                  <a:close/>
                </a:path>
              </a:pathLst>
            </a:custGeom>
            <a:ln w="25908">
              <a:solidFill>
                <a:srgbClr val="296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744969" y="1934082"/>
            <a:ext cx="14452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Arial"/>
                <a:cs typeface="Arial"/>
              </a:rPr>
              <a:t>HelloWorld.java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395971" y="1448561"/>
            <a:ext cx="144780" cy="381000"/>
          </a:xfrm>
          <a:custGeom>
            <a:avLst/>
            <a:gdLst/>
            <a:ahLst/>
            <a:cxnLst/>
            <a:rect l="l" t="t" r="r" b="b"/>
            <a:pathLst>
              <a:path w="144779" h="381000">
                <a:moveTo>
                  <a:pt x="57911" y="294132"/>
                </a:moveTo>
                <a:lnTo>
                  <a:pt x="0" y="294132"/>
                </a:lnTo>
                <a:lnTo>
                  <a:pt x="72389" y="381000"/>
                </a:lnTo>
                <a:lnTo>
                  <a:pt x="132714" y="308610"/>
                </a:lnTo>
                <a:lnTo>
                  <a:pt x="57911" y="308610"/>
                </a:lnTo>
                <a:lnTo>
                  <a:pt x="57911" y="294132"/>
                </a:lnTo>
                <a:close/>
              </a:path>
              <a:path w="144779" h="381000">
                <a:moveTo>
                  <a:pt x="86868" y="0"/>
                </a:moveTo>
                <a:lnTo>
                  <a:pt x="57911" y="0"/>
                </a:lnTo>
                <a:lnTo>
                  <a:pt x="57911" y="308610"/>
                </a:lnTo>
                <a:lnTo>
                  <a:pt x="86868" y="308610"/>
                </a:lnTo>
                <a:lnTo>
                  <a:pt x="86868" y="0"/>
                </a:lnTo>
                <a:close/>
              </a:path>
              <a:path w="144779" h="381000">
                <a:moveTo>
                  <a:pt x="144779" y="294132"/>
                </a:moveTo>
                <a:lnTo>
                  <a:pt x="86868" y="294132"/>
                </a:lnTo>
                <a:lnTo>
                  <a:pt x="86868" y="308610"/>
                </a:lnTo>
                <a:lnTo>
                  <a:pt x="132714" y="308610"/>
                </a:lnTo>
                <a:lnTo>
                  <a:pt x="144779" y="29413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134861" y="1067561"/>
            <a:ext cx="2667000" cy="381000"/>
          </a:xfrm>
          <a:prstGeom prst="rect">
            <a:avLst/>
          </a:prstGeom>
          <a:solidFill>
            <a:srgbClr val="FFFFCC"/>
          </a:solidFill>
          <a:ln w="25907">
            <a:solidFill>
              <a:srgbClr val="FFC000"/>
            </a:solidFill>
          </a:ln>
        </p:spPr>
        <p:txBody>
          <a:bodyPr vert="horz" wrap="square" lIns="0" tIns="33655" rIns="0" bIns="0" rtlCol="0">
            <a:spAutoFit/>
          </a:bodyPr>
          <a:lstStyle/>
          <a:p>
            <a:pPr marL="172720">
              <a:lnSpc>
                <a:spcPct val="100000"/>
              </a:lnSpc>
              <a:spcBef>
                <a:spcPts val="265"/>
              </a:spcBef>
            </a:pPr>
            <a:r>
              <a:rPr sz="1600" spc="-5" dirty="0">
                <a:latin typeface="BPG Courier S GPL&amp;GNU"/>
                <a:cs typeface="BPG Courier S GPL&amp;GNU"/>
              </a:rPr>
              <a:t>vim</a:t>
            </a:r>
            <a:r>
              <a:rPr sz="1600" spc="-10" dirty="0">
                <a:latin typeface="BPG Courier S GPL&amp;GNU"/>
                <a:cs typeface="BPG Courier S GPL&amp;GNU"/>
              </a:rPr>
              <a:t> </a:t>
            </a:r>
            <a:r>
              <a:rPr sz="1600" spc="-5" dirty="0">
                <a:latin typeface="BPG Courier S GPL&amp;GNU"/>
                <a:cs typeface="BPG Courier S GPL&amp;GNU"/>
              </a:rPr>
              <a:t>HelloWorld.java</a:t>
            </a:r>
            <a:endParaRPr sz="1600">
              <a:latin typeface="BPG Courier S GPL&amp;GNU"/>
              <a:cs typeface="BPG Courier S GPL&amp;GNU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134861" y="2896361"/>
            <a:ext cx="2667000" cy="381000"/>
          </a:xfrm>
          <a:prstGeom prst="rect">
            <a:avLst/>
          </a:prstGeom>
          <a:solidFill>
            <a:srgbClr val="FFFFCC"/>
          </a:solidFill>
          <a:ln w="25907">
            <a:solidFill>
              <a:srgbClr val="FFC000"/>
            </a:solidFill>
          </a:ln>
        </p:spPr>
        <p:txBody>
          <a:bodyPr vert="horz" wrap="square" lIns="0" tIns="34290" rIns="0" bIns="0" rtlCol="0">
            <a:spAutoFit/>
          </a:bodyPr>
          <a:lstStyle/>
          <a:p>
            <a:pPr marL="48895">
              <a:lnSpc>
                <a:spcPct val="100000"/>
              </a:lnSpc>
              <a:spcBef>
                <a:spcPts val="270"/>
              </a:spcBef>
            </a:pPr>
            <a:r>
              <a:rPr sz="1600" spc="-10" dirty="0">
                <a:latin typeface="BPG Courier S GPL&amp;GNU"/>
                <a:cs typeface="BPG Courier S GPL&amp;GNU"/>
              </a:rPr>
              <a:t>javac</a:t>
            </a:r>
            <a:r>
              <a:rPr sz="1600" spc="-35" dirty="0">
                <a:latin typeface="BPG Courier S GPL&amp;GNU"/>
                <a:cs typeface="BPG Courier S GPL&amp;GNU"/>
              </a:rPr>
              <a:t> </a:t>
            </a:r>
            <a:r>
              <a:rPr sz="1600" spc="-5" dirty="0">
                <a:latin typeface="BPG Courier S GPL&amp;GNU"/>
                <a:cs typeface="BPG Courier S GPL&amp;GNU"/>
              </a:rPr>
              <a:t>HelloWorld.java</a:t>
            </a:r>
            <a:endParaRPr sz="1600">
              <a:latin typeface="BPG Courier S GPL&amp;GNU"/>
              <a:cs typeface="BPG Courier S GPL&amp;GNU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617144" y="3645344"/>
            <a:ext cx="1702435" cy="703580"/>
            <a:chOff x="6617144" y="3645344"/>
            <a:chExt cx="1702435" cy="703580"/>
          </a:xfrm>
        </p:grpSpPr>
        <p:sp>
          <p:nvSpPr>
            <p:cNvPr id="15" name="object 15"/>
            <p:cNvSpPr/>
            <p:nvPr/>
          </p:nvSpPr>
          <p:spPr>
            <a:xfrm>
              <a:off x="6630161" y="3658362"/>
              <a:ext cx="1676400" cy="677545"/>
            </a:xfrm>
            <a:custGeom>
              <a:avLst/>
              <a:gdLst/>
              <a:ahLst/>
              <a:cxnLst/>
              <a:rect l="l" t="t" r="r" b="b"/>
              <a:pathLst>
                <a:path w="1676400" h="677545">
                  <a:moveTo>
                    <a:pt x="1676400" y="0"/>
                  </a:moveTo>
                  <a:lnTo>
                    <a:pt x="0" y="0"/>
                  </a:lnTo>
                  <a:lnTo>
                    <a:pt x="0" y="640461"/>
                  </a:lnTo>
                  <a:lnTo>
                    <a:pt x="66158" y="649400"/>
                  </a:lnTo>
                  <a:lnTo>
                    <a:pt x="128841" y="656963"/>
                  </a:lnTo>
                  <a:lnTo>
                    <a:pt x="188248" y="663213"/>
                  </a:lnTo>
                  <a:lnTo>
                    <a:pt x="244577" y="668215"/>
                  </a:lnTo>
                  <a:lnTo>
                    <a:pt x="298027" y="672032"/>
                  </a:lnTo>
                  <a:lnTo>
                    <a:pt x="348796" y="674727"/>
                  </a:lnTo>
                  <a:lnTo>
                    <a:pt x="397083" y="676365"/>
                  </a:lnTo>
                  <a:lnTo>
                    <a:pt x="443086" y="677010"/>
                  </a:lnTo>
                  <a:lnTo>
                    <a:pt x="487004" y="676724"/>
                  </a:lnTo>
                  <a:lnTo>
                    <a:pt x="529035" y="675572"/>
                  </a:lnTo>
                  <a:lnTo>
                    <a:pt x="569379" y="673617"/>
                  </a:lnTo>
                  <a:lnTo>
                    <a:pt x="608234" y="670924"/>
                  </a:lnTo>
                  <a:lnTo>
                    <a:pt x="682269" y="663575"/>
                  </a:lnTo>
                  <a:lnTo>
                    <a:pt x="752730" y="654037"/>
                  </a:lnTo>
                  <a:lnTo>
                    <a:pt x="821205" y="642817"/>
                  </a:lnTo>
                  <a:lnTo>
                    <a:pt x="1030602" y="604176"/>
                  </a:lnTo>
                  <a:lnTo>
                    <a:pt x="1068165" y="597678"/>
                  </a:lnTo>
                  <a:lnTo>
                    <a:pt x="1107020" y="591334"/>
                  </a:lnTo>
                  <a:lnTo>
                    <a:pt x="1147364" y="585207"/>
                  </a:lnTo>
                  <a:lnTo>
                    <a:pt x="1189395" y="579361"/>
                  </a:lnTo>
                  <a:lnTo>
                    <a:pt x="1233313" y="573859"/>
                  </a:lnTo>
                  <a:lnTo>
                    <a:pt x="1279316" y="568767"/>
                  </a:lnTo>
                  <a:lnTo>
                    <a:pt x="1327603" y="564146"/>
                  </a:lnTo>
                  <a:lnTo>
                    <a:pt x="1378372" y="560062"/>
                  </a:lnTo>
                  <a:lnTo>
                    <a:pt x="1431822" y="556577"/>
                  </a:lnTo>
                  <a:lnTo>
                    <a:pt x="1488151" y="553756"/>
                  </a:lnTo>
                  <a:lnTo>
                    <a:pt x="1547558" y="551661"/>
                  </a:lnTo>
                  <a:lnTo>
                    <a:pt x="1610241" y="550358"/>
                  </a:lnTo>
                  <a:lnTo>
                    <a:pt x="1676400" y="549910"/>
                  </a:lnTo>
                  <a:lnTo>
                    <a:pt x="1676400" y="0"/>
                  </a:lnTo>
                  <a:close/>
                </a:path>
              </a:pathLst>
            </a:custGeom>
            <a:solidFill>
              <a:srgbClr val="B8C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630161" y="3658362"/>
              <a:ext cx="1676400" cy="677545"/>
            </a:xfrm>
            <a:custGeom>
              <a:avLst/>
              <a:gdLst/>
              <a:ahLst/>
              <a:cxnLst/>
              <a:rect l="l" t="t" r="r" b="b"/>
              <a:pathLst>
                <a:path w="1676400" h="677545">
                  <a:moveTo>
                    <a:pt x="0" y="0"/>
                  </a:moveTo>
                  <a:lnTo>
                    <a:pt x="1676400" y="0"/>
                  </a:lnTo>
                  <a:lnTo>
                    <a:pt x="1676400" y="549910"/>
                  </a:lnTo>
                  <a:lnTo>
                    <a:pt x="1610241" y="550358"/>
                  </a:lnTo>
                  <a:lnTo>
                    <a:pt x="1547558" y="551661"/>
                  </a:lnTo>
                  <a:lnTo>
                    <a:pt x="1488151" y="553756"/>
                  </a:lnTo>
                  <a:lnTo>
                    <a:pt x="1431822" y="556577"/>
                  </a:lnTo>
                  <a:lnTo>
                    <a:pt x="1378372" y="560062"/>
                  </a:lnTo>
                  <a:lnTo>
                    <a:pt x="1327603" y="564146"/>
                  </a:lnTo>
                  <a:lnTo>
                    <a:pt x="1279316" y="568767"/>
                  </a:lnTo>
                  <a:lnTo>
                    <a:pt x="1233313" y="573859"/>
                  </a:lnTo>
                  <a:lnTo>
                    <a:pt x="1189395" y="579361"/>
                  </a:lnTo>
                  <a:lnTo>
                    <a:pt x="1147364" y="585207"/>
                  </a:lnTo>
                  <a:lnTo>
                    <a:pt x="1107020" y="591334"/>
                  </a:lnTo>
                  <a:lnTo>
                    <a:pt x="1068165" y="597678"/>
                  </a:lnTo>
                  <a:lnTo>
                    <a:pt x="1030602" y="604176"/>
                  </a:lnTo>
                  <a:lnTo>
                    <a:pt x="958552" y="617377"/>
                  </a:lnTo>
                  <a:lnTo>
                    <a:pt x="923669" y="623953"/>
                  </a:lnTo>
                  <a:lnTo>
                    <a:pt x="889283" y="630427"/>
                  </a:lnTo>
                  <a:lnTo>
                    <a:pt x="821205" y="642817"/>
                  </a:lnTo>
                  <a:lnTo>
                    <a:pt x="752730" y="654037"/>
                  </a:lnTo>
                  <a:lnTo>
                    <a:pt x="682269" y="663575"/>
                  </a:lnTo>
                  <a:lnTo>
                    <a:pt x="608234" y="670924"/>
                  </a:lnTo>
                  <a:lnTo>
                    <a:pt x="569379" y="673617"/>
                  </a:lnTo>
                  <a:lnTo>
                    <a:pt x="529035" y="675572"/>
                  </a:lnTo>
                  <a:lnTo>
                    <a:pt x="487004" y="676724"/>
                  </a:lnTo>
                  <a:lnTo>
                    <a:pt x="443086" y="677010"/>
                  </a:lnTo>
                  <a:lnTo>
                    <a:pt x="397083" y="676365"/>
                  </a:lnTo>
                  <a:lnTo>
                    <a:pt x="348796" y="674727"/>
                  </a:lnTo>
                  <a:lnTo>
                    <a:pt x="298027" y="672032"/>
                  </a:lnTo>
                  <a:lnTo>
                    <a:pt x="244577" y="668215"/>
                  </a:lnTo>
                  <a:lnTo>
                    <a:pt x="188248" y="663213"/>
                  </a:lnTo>
                  <a:lnTo>
                    <a:pt x="128841" y="656963"/>
                  </a:lnTo>
                  <a:lnTo>
                    <a:pt x="66158" y="649400"/>
                  </a:lnTo>
                  <a:lnTo>
                    <a:pt x="0" y="640461"/>
                  </a:lnTo>
                  <a:lnTo>
                    <a:pt x="0" y="0"/>
                  </a:lnTo>
                  <a:close/>
                </a:path>
              </a:pathLst>
            </a:custGeom>
            <a:ln w="25908">
              <a:solidFill>
                <a:srgbClr val="296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6643116" y="3763136"/>
            <a:ext cx="16510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985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Arial"/>
                <a:cs typeface="Arial"/>
              </a:rPr>
              <a:t>HelloWorld.class</a:t>
            </a:r>
            <a:endParaRPr sz="16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7395971" y="2515361"/>
            <a:ext cx="144780" cy="381000"/>
          </a:xfrm>
          <a:custGeom>
            <a:avLst/>
            <a:gdLst/>
            <a:ahLst/>
            <a:cxnLst/>
            <a:rect l="l" t="t" r="r" b="b"/>
            <a:pathLst>
              <a:path w="144779" h="381000">
                <a:moveTo>
                  <a:pt x="57911" y="294132"/>
                </a:moveTo>
                <a:lnTo>
                  <a:pt x="0" y="294132"/>
                </a:lnTo>
                <a:lnTo>
                  <a:pt x="72389" y="381000"/>
                </a:lnTo>
                <a:lnTo>
                  <a:pt x="132714" y="308610"/>
                </a:lnTo>
                <a:lnTo>
                  <a:pt x="57911" y="308610"/>
                </a:lnTo>
                <a:lnTo>
                  <a:pt x="57911" y="294132"/>
                </a:lnTo>
                <a:close/>
              </a:path>
              <a:path w="144779" h="381000">
                <a:moveTo>
                  <a:pt x="86868" y="0"/>
                </a:moveTo>
                <a:lnTo>
                  <a:pt x="57911" y="0"/>
                </a:lnTo>
                <a:lnTo>
                  <a:pt x="57911" y="308610"/>
                </a:lnTo>
                <a:lnTo>
                  <a:pt x="86868" y="308610"/>
                </a:lnTo>
                <a:lnTo>
                  <a:pt x="86868" y="0"/>
                </a:lnTo>
                <a:close/>
              </a:path>
              <a:path w="144779" h="381000">
                <a:moveTo>
                  <a:pt x="144779" y="294132"/>
                </a:moveTo>
                <a:lnTo>
                  <a:pt x="86868" y="294132"/>
                </a:lnTo>
                <a:lnTo>
                  <a:pt x="86868" y="308610"/>
                </a:lnTo>
                <a:lnTo>
                  <a:pt x="132714" y="308610"/>
                </a:lnTo>
                <a:lnTo>
                  <a:pt x="144779" y="29413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395971" y="3277361"/>
            <a:ext cx="144780" cy="381000"/>
          </a:xfrm>
          <a:custGeom>
            <a:avLst/>
            <a:gdLst/>
            <a:ahLst/>
            <a:cxnLst/>
            <a:rect l="l" t="t" r="r" b="b"/>
            <a:pathLst>
              <a:path w="144779" h="381000">
                <a:moveTo>
                  <a:pt x="57911" y="294132"/>
                </a:moveTo>
                <a:lnTo>
                  <a:pt x="0" y="294132"/>
                </a:lnTo>
                <a:lnTo>
                  <a:pt x="72389" y="381000"/>
                </a:lnTo>
                <a:lnTo>
                  <a:pt x="132714" y="308610"/>
                </a:lnTo>
                <a:lnTo>
                  <a:pt x="57911" y="308610"/>
                </a:lnTo>
                <a:lnTo>
                  <a:pt x="57911" y="294132"/>
                </a:lnTo>
                <a:close/>
              </a:path>
              <a:path w="144779" h="381000">
                <a:moveTo>
                  <a:pt x="86868" y="0"/>
                </a:moveTo>
                <a:lnTo>
                  <a:pt x="57911" y="0"/>
                </a:lnTo>
                <a:lnTo>
                  <a:pt x="57911" y="308610"/>
                </a:lnTo>
                <a:lnTo>
                  <a:pt x="86868" y="308610"/>
                </a:lnTo>
                <a:lnTo>
                  <a:pt x="86868" y="0"/>
                </a:lnTo>
                <a:close/>
              </a:path>
              <a:path w="144779" h="381000">
                <a:moveTo>
                  <a:pt x="144779" y="294132"/>
                </a:moveTo>
                <a:lnTo>
                  <a:pt x="86868" y="294132"/>
                </a:lnTo>
                <a:lnTo>
                  <a:pt x="86868" y="308610"/>
                </a:lnTo>
                <a:lnTo>
                  <a:pt x="132714" y="308610"/>
                </a:lnTo>
                <a:lnTo>
                  <a:pt x="144779" y="29413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6325361" y="4725161"/>
            <a:ext cx="2209800" cy="381000"/>
          </a:xfrm>
          <a:prstGeom prst="rect">
            <a:avLst/>
          </a:prstGeom>
          <a:solidFill>
            <a:srgbClr val="FFFFCC"/>
          </a:solidFill>
          <a:ln w="25907">
            <a:solidFill>
              <a:srgbClr val="FFC000"/>
            </a:solidFill>
          </a:ln>
        </p:spPr>
        <p:txBody>
          <a:bodyPr vert="horz" wrap="square" lIns="0" tIns="34925" rIns="0" bIns="0" rtlCol="0">
            <a:spAutoFit/>
          </a:bodyPr>
          <a:lstStyle/>
          <a:p>
            <a:pPr marL="187960">
              <a:lnSpc>
                <a:spcPct val="100000"/>
              </a:lnSpc>
              <a:spcBef>
                <a:spcPts val="275"/>
              </a:spcBef>
            </a:pPr>
            <a:r>
              <a:rPr sz="1600" spc="-5" dirty="0">
                <a:latin typeface="BPG Courier S GPL&amp;GNU"/>
                <a:cs typeface="BPG Courier S GPL&amp;GNU"/>
              </a:rPr>
              <a:t>java</a:t>
            </a:r>
            <a:r>
              <a:rPr sz="1600" spc="-30" dirty="0">
                <a:latin typeface="BPG Courier S GPL&amp;GNU"/>
                <a:cs typeface="BPG Courier S GPL&amp;GNU"/>
              </a:rPr>
              <a:t> </a:t>
            </a:r>
            <a:r>
              <a:rPr sz="1600" spc="-5" dirty="0">
                <a:latin typeface="BPG Courier S GPL&amp;GNU"/>
                <a:cs typeface="BPG Courier S GPL&amp;GNU"/>
              </a:rPr>
              <a:t>HelloWorld</a:t>
            </a:r>
            <a:endParaRPr sz="1600">
              <a:latin typeface="BPG Courier S GPL&amp;GNU"/>
              <a:cs typeface="BPG Courier S GPL&amp;GNU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807644" y="5474144"/>
            <a:ext cx="1321435" cy="559435"/>
            <a:chOff x="6807644" y="5474144"/>
            <a:chExt cx="1321435" cy="559435"/>
          </a:xfrm>
        </p:grpSpPr>
        <p:sp>
          <p:nvSpPr>
            <p:cNvPr id="22" name="object 22"/>
            <p:cNvSpPr/>
            <p:nvPr/>
          </p:nvSpPr>
          <p:spPr>
            <a:xfrm>
              <a:off x="6820661" y="5487162"/>
              <a:ext cx="1295400" cy="533400"/>
            </a:xfrm>
            <a:custGeom>
              <a:avLst/>
              <a:gdLst/>
              <a:ahLst/>
              <a:cxnLst/>
              <a:rect l="l" t="t" r="r" b="b"/>
              <a:pathLst>
                <a:path w="1295400" h="533400">
                  <a:moveTo>
                    <a:pt x="1206500" y="0"/>
                  </a:moveTo>
                  <a:lnTo>
                    <a:pt x="88900" y="0"/>
                  </a:lnTo>
                  <a:lnTo>
                    <a:pt x="54274" y="6979"/>
                  </a:lnTo>
                  <a:lnTo>
                    <a:pt x="26019" y="26019"/>
                  </a:lnTo>
                  <a:lnTo>
                    <a:pt x="6979" y="54274"/>
                  </a:lnTo>
                  <a:lnTo>
                    <a:pt x="0" y="88900"/>
                  </a:lnTo>
                  <a:lnTo>
                    <a:pt x="0" y="444500"/>
                  </a:lnTo>
                  <a:lnTo>
                    <a:pt x="6979" y="479103"/>
                  </a:lnTo>
                  <a:lnTo>
                    <a:pt x="26019" y="507361"/>
                  </a:lnTo>
                  <a:lnTo>
                    <a:pt x="54274" y="526413"/>
                  </a:lnTo>
                  <a:lnTo>
                    <a:pt x="88900" y="533400"/>
                  </a:lnTo>
                  <a:lnTo>
                    <a:pt x="1206500" y="533400"/>
                  </a:lnTo>
                  <a:lnTo>
                    <a:pt x="1241125" y="526413"/>
                  </a:lnTo>
                  <a:lnTo>
                    <a:pt x="1269380" y="507361"/>
                  </a:lnTo>
                  <a:lnTo>
                    <a:pt x="1288420" y="479103"/>
                  </a:lnTo>
                  <a:lnTo>
                    <a:pt x="1295400" y="444500"/>
                  </a:lnTo>
                  <a:lnTo>
                    <a:pt x="1295400" y="88900"/>
                  </a:lnTo>
                  <a:lnTo>
                    <a:pt x="1288420" y="54274"/>
                  </a:lnTo>
                  <a:lnTo>
                    <a:pt x="1269380" y="26019"/>
                  </a:lnTo>
                  <a:lnTo>
                    <a:pt x="1241125" y="6979"/>
                  </a:lnTo>
                  <a:lnTo>
                    <a:pt x="1206500" y="0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820661" y="5487162"/>
              <a:ext cx="1295400" cy="533400"/>
            </a:xfrm>
            <a:custGeom>
              <a:avLst/>
              <a:gdLst/>
              <a:ahLst/>
              <a:cxnLst/>
              <a:rect l="l" t="t" r="r" b="b"/>
              <a:pathLst>
                <a:path w="1295400" h="533400">
                  <a:moveTo>
                    <a:pt x="0" y="88900"/>
                  </a:moveTo>
                  <a:lnTo>
                    <a:pt x="6979" y="54274"/>
                  </a:lnTo>
                  <a:lnTo>
                    <a:pt x="26019" y="26019"/>
                  </a:lnTo>
                  <a:lnTo>
                    <a:pt x="54274" y="6979"/>
                  </a:lnTo>
                  <a:lnTo>
                    <a:pt x="88900" y="0"/>
                  </a:lnTo>
                  <a:lnTo>
                    <a:pt x="1206500" y="0"/>
                  </a:lnTo>
                  <a:lnTo>
                    <a:pt x="1241125" y="6979"/>
                  </a:lnTo>
                  <a:lnTo>
                    <a:pt x="1269380" y="26019"/>
                  </a:lnTo>
                  <a:lnTo>
                    <a:pt x="1288420" y="54274"/>
                  </a:lnTo>
                  <a:lnTo>
                    <a:pt x="1295400" y="88900"/>
                  </a:lnTo>
                  <a:lnTo>
                    <a:pt x="1295400" y="444500"/>
                  </a:lnTo>
                  <a:lnTo>
                    <a:pt x="1288420" y="479103"/>
                  </a:lnTo>
                  <a:lnTo>
                    <a:pt x="1269380" y="507361"/>
                  </a:lnTo>
                  <a:lnTo>
                    <a:pt x="1241125" y="526413"/>
                  </a:lnTo>
                  <a:lnTo>
                    <a:pt x="1206500" y="533400"/>
                  </a:lnTo>
                  <a:lnTo>
                    <a:pt x="88900" y="533400"/>
                  </a:lnTo>
                  <a:lnTo>
                    <a:pt x="54274" y="526413"/>
                  </a:lnTo>
                  <a:lnTo>
                    <a:pt x="26019" y="507361"/>
                  </a:lnTo>
                  <a:lnTo>
                    <a:pt x="6979" y="479103"/>
                  </a:lnTo>
                  <a:lnTo>
                    <a:pt x="0" y="444500"/>
                  </a:lnTo>
                  <a:lnTo>
                    <a:pt x="0" y="88900"/>
                  </a:lnTo>
                  <a:close/>
                </a:path>
              </a:pathLst>
            </a:custGeom>
            <a:ln w="25908">
              <a:solidFill>
                <a:srgbClr val="006E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7173214" y="5613298"/>
            <a:ext cx="58928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Arial"/>
                <a:cs typeface="Arial"/>
              </a:rPr>
              <a:t>output</a:t>
            </a:r>
            <a:endParaRPr sz="160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7395971" y="4344161"/>
            <a:ext cx="144780" cy="381000"/>
          </a:xfrm>
          <a:custGeom>
            <a:avLst/>
            <a:gdLst/>
            <a:ahLst/>
            <a:cxnLst/>
            <a:rect l="l" t="t" r="r" b="b"/>
            <a:pathLst>
              <a:path w="144779" h="381000">
                <a:moveTo>
                  <a:pt x="57911" y="294131"/>
                </a:moveTo>
                <a:lnTo>
                  <a:pt x="0" y="294131"/>
                </a:lnTo>
                <a:lnTo>
                  <a:pt x="72389" y="381000"/>
                </a:lnTo>
                <a:lnTo>
                  <a:pt x="132714" y="308610"/>
                </a:lnTo>
                <a:lnTo>
                  <a:pt x="57911" y="308610"/>
                </a:lnTo>
                <a:lnTo>
                  <a:pt x="57911" y="294131"/>
                </a:lnTo>
                <a:close/>
              </a:path>
              <a:path w="144779" h="381000">
                <a:moveTo>
                  <a:pt x="86868" y="0"/>
                </a:moveTo>
                <a:lnTo>
                  <a:pt x="57911" y="0"/>
                </a:lnTo>
                <a:lnTo>
                  <a:pt x="57911" y="308610"/>
                </a:lnTo>
                <a:lnTo>
                  <a:pt x="86868" y="308610"/>
                </a:lnTo>
                <a:lnTo>
                  <a:pt x="86868" y="0"/>
                </a:lnTo>
                <a:close/>
              </a:path>
              <a:path w="144779" h="381000">
                <a:moveTo>
                  <a:pt x="144779" y="294131"/>
                </a:moveTo>
                <a:lnTo>
                  <a:pt x="86868" y="294131"/>
                </a:lnTo>
                <a:lnTo>
                  <a:pt x="86868" y="308610"/>
                </a:lnTo>
                <a:lnTo>
                  <a:pt x="132714" y="308610"/>
                </a:lnTo>
                <a:lnTo>
                  <a:pt x="144779" y="2941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7395971" y="5106161"/>
            <a:ext cx="144780" cy="381000"/>
          </a:xfrm>
          <a:custGeom>
            <a:avLst/>
            <a:gdLst/>
            <a:ahLst/>
            <a:cxnLst/>
            <a:rect l="l" t="t" r="r" b="b"/>
            <a:pathLst>
              <a:path w="144779" h="381000">
                <a:moveTo>
                  <a:pt x="57911" y="294131"/>
                </a:moveTo>
                <a:lnTo>
                  <a:pt x="0" y="294131"/>
                </a:lnTo>
                <a:lnTo>
                  <a:pt x="72389" y="381000"/>
                </a:lnTo>
                <a:lnTo>
                  <a:pt x="132714" y="308609"/>
                </a:lnTo>
                <a:lnTo>
                  <a:pt x="57911" y="308609"/>
                </a:lnTo>
                <a:lnTo>
                  <a:pt x="57911" y="294131"/>
                </a:lnTo>
                <a:close/>
              </a:path>
              <a:path w="144779" h="381000">
                <a:moveTo>
                  <a:pt x="86868" y="0"/>
                </a:moveTo>
                <a:lnTo>
                  <a:pt x="57911" y="0"/>
                </a:lnTo>
                <a:lnTo>
                  <a:pt x="57911" y="308609"/>
                </a:lnTo>
                <a:lnTo>
                  <a:pt x="86868" y="308609"/>
                </a:lnTo>
                <a:lnTo>
                  <a:pt x="86868" y="0"/>
                </a:lnTo>
                <a:close/>
              </a:path>
              <a:path w="144779" h="381000">
                <a:moveTo>
                  <a:pt x="144779" y="294131"/>
                </a:moveTo>
                <a:lnTo>
                  <a:pt x="86868" y="294131"/>
                </a:lnTo>
                <a:lnTo>
                  <a:pt x="86868" y="308609"/>
                </a:lnTo>
                <a:lnTo>
                  <a:pt x="132714" y="308609"/>
                </a:lnTo>
                <a:lnTo>
                  <a:pt x="144779" y="2941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63068" y="187452"/>
            <a:ext cx="523240" cy="2251075"/>
          </a:xfrm>
          <a:custGeom>
            <a:avLst/>
            <a:gdLst/>
            <a:ahLst/>
            <a:cxnLst/>
            <a:rect l="l" t="t" r="r" b="b"/>
            <a:pathLst>
              <a:path w="523240" h="2251075">
                <a:moveTo>
                  <a:pt x="522731" y="0"/>
                </a:moveTo>
                <a:lnTo>
                  <a:pt x="0" y="0"/>
                </a:lnTo>
                <a:lnTo>
                  <a:pt x="0" y="2250948"/>
                </a:lnTo>
                <a:lnTo>
                  <a:pt x="522731" y="2250948"/>
                </a:lnTo>
                <a:lnTo>
                  <a:pt x="522731" y="0"/>
                </a:lnTo>
                <a:close/>
              </a:path>
            </a:pathLst>
          </a:custGeom>
          <a:solidFill>
            <a:srgbClr val="FFCCFF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244239" y="352438"/>
            <a:ext cx="381000" cy="200787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990"/>
              </a:lnSpc>
            </a:pPr>
            <a:r>
              <a:rPr sz="2800" dirty="0">
                <a:solidFill>
                  <a:srgbClr val="C00000"/>
                </a:solidFill>
                <a:latin typeface="Trebuchet MS"/>
                <a:cs typeface="Trebuchet MS"/>
              </a:rPr>
              <a:t>2. </a:t>
            </a:r>
            <a:r>
              <a:rPr sz="2800" spc="80" dirty="0">
                <a:solidFill>
                  <a:srgbClr val="000099"/>
                </a:solidFill>
                <a:latin typeface="Trebuchet MS"/>
                <a:cs typeface="Trebuchet MS"/>
              </a:rPr>
              <a:t>Run</a:t>
            </a:r>
            <a:r>
              <a:rPr sz="2800" spc="-60" dirty="0">
                <a:solidFill>
                  <a:srgbClr val="000099"/>
                </a:solidFill>
                <a:latin typeface="Trebuchet MS"/>
                <a:cs typeface="Trebuchet MS"/>
              </a:rPr>
              <a:t> </a:t>
            </a:r>
            <a:r>
              <a:rPr sz="2800" spc="-70" dirty="0">
                <a:solidFill>
                  <a:srgbClr val="000099"/>
                </a:solidFill>
                <a:latin typeface="Trebuchet MS"/>
                <a:cs typeface="Trebuchet MS"/>
              </a:rPr>
              <a:t>Cycle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70051" y="6449696"/>
            <a:ext cx="8319770" cy="252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89"/>
              </a:lnSpc>
              <a:tabLst>
                <a:tab pos="1996439" algn="l"/>
                <a:tab pos="8046720" algn="l"/>
              </a:tabLst>
            </a:pPr>
            <a:r>
              <a:rPr sz="800" spc="-5" dirty="0">
                <a:solidFill>
                  <a:srgbClr val="003399"/>
                </a:solidFill>
                <a:latin typeface="Arial Black"/>
                <a:cs typeface="Arial Black"/>
              </a:rPr>
              <a:t>[</a:t>
            </a:r>
            <a:r>
              <a:rPr sz="800" dirty="0">
                <a:solidFill>
                  <a:srgbClr val="003399"/>
                </a:solidFill>
                <a:latin typeface="Arial Black"/>
                <a:cs typeface="Arial Black"/>
              </a:rPr>
              <a:t>501043</a:t>
            </a:r>
            <a:r>
              <a:rPr sz="800" spc="-15" dirty="0">
                <a:solidFill>
                  <a:srgbClr val="003399"/>
                </a:solidFill>
                <a:latin typeface="Arial Black"/>
                <a:cs typeface="Arial Black"/>
              </a:rPr>
              <a:t> </a:t>
            </a:r>
            <a:r>
              <a:rPr sz="800" dirty="0">
                <a:solidFill>
                  <a:srgbClr val="003399"/>
                </a:solidFill>
                <a:latin typeface="Arial Black"/>
                <a:cs typeface="Arial Black"/>
              </a:rPr>
              <a:t>Lecture</a:t>
            </a:r>
            <a:r>
              <a:rPr sz="800" spc="-30" dirty="0">
                <a:solidFill>
                  <a:srgbClr val="003399"/>
                </a:solidFill>
                <a:latin typeface="Arial Black"/>
                <a:cs typeface="Arial Black"/>
              </a:rPr>
              <a:t> </a:t>
            </a:r>
            <a:r>
              <a:rPr sz="800" dirty="0">
                <a:solidFill>
                  <a:srgbClr val="003399"/>
                </a:solidFill>
                <a:latin typeface="Arial Black"/>
                <a:cs typeface="Arial Black"/>
              </a:rPr>
              <a:t>1:</a:t>
            </a:r>
            <a:r>
              <a:rPr sz="800" spc="-20" dirty="0">
                <a:solidFill>
                  <a:srgbClr val="003399"/>
                </a:solidFill>
                <a:latin typeface="Arial Black"/>
                <a:cs typeface="Arial Black"/>
              </a:rPr>
              <a:t> </a:t>
            </a:r>
            <a:r>
              <a:rPr sz="800" spc="-5" dirty="0">
                <a:solidFill>
                  <a:srgbClr val="003399"/>
                </a:solidFill>
                <a:latin typeface="Arial Black"/>
                <a:cs typeface="Arial Black"/>
              </a:rPr>
              <a:t>I</a:t>
            </a:r>
            <a:r>
              <a:rPr sz="800" dirty="0">
                <a:solidFill>
                  <a:srgbClr val="003399"/>
                </a:solidFill>
                <a:latin typeface="Arial Black"/>
                <a:cs typeface="Arial Black"/>
              </a:rPr>
              <a:t>ntro</a:t>
            </a:r>
            <a:r>
              <a:rPr sz="800" spc="-25" dirty="0">
                <a:solidFill>
                  <a:srgbClr val="003399"/>
                </a:solidFill>
                <a:latin typeface="Arial Black"/>
                <a:cs typeface="Arial Black"/>
              </a:rPr>
              <a:t> </a:t>
            </a:r>
            <a:r>
              <a:rPr sz="800" dirty="0">
                <a:solidFill>
                  <a:srgbClr val="003399"/>
                </a:solidFill>
                <a:latin typeface="Arial Black"/>
                <a:cs typeface="Arial Black"/>
              </a:rPr>
              <a:t>to</a:t>
            </a:r>
            <a:r>
              <a:rPr sz="800" spc="-15" dirty="0">
                <a:solidFill>
                  <a:srgbClr val="003399"/>
                </a:solidFill>
                <a:latin typeface="Arial Black"/>
                <a:cs typeface="Arial Black"/>
              </a:rPr>
              <a:t> </a:t>
            </a:r>
            <a:r>
              <a:rPr sz="800" dirty="0">
                <a:solidFill>
                  <a:srgbClr val="003399"/>
                </a:solidFill>
                <a:latin typeface="Arial Black"/>
                <a:cs typeface="Arial Black"/>
              </a:rPr>
              <a:t>Java]	</a:t>
            </a:r>
            <a:r>
              <a:rPr sz="800" u="heavy" dirty="0">
                <a:solidFill>
                  <a:srgbClr val="003399"/>
                </a:solidFill>
                <a:uFill>
                  <a:solidFill>
                    <a:srgbClr val="009999"/>
                  </a:solidFill>
                </a:uFill>
                <a:latin typeface="Arial Black"/>
                <a:cs typeface="Arial Black"/>
              </a:rPr>
              <a:t> 	</a:t>
            </a:r>
            <a:r>
              <a:rPr sz="800" spc="-10" dirty="0">
                <a:solidFill>
                  <a:srgbClr val="003399"/>
                </a:solidFill>
                <a:latin typeface="Arial Black"/>
                <a:cs typeface="Arial Black"/>
              </a:rPr>
              <a:t> </a:t>
            </a:r>
            <a:r>
              <a:rPr sz="1600" b="1" i="1" spc="-5" dirty="0">
                <a:solidFill>
                  <a:srgbClr val="C00000"/>
                </a:solidFill>
                <a:latin typeface="Arial"/>
                <a:cs typeface="Arial"/>
              </a:rPr>
              <a:t>13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7244" y="248158"/>
            <a:ext cx="53606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0" dirty="0"/>
              <a:t>Java </a:t>
            </a:r>
            <a:r>
              <a:rPr spc="-50" dirty="0"/>
              <a:t>Execution</a:t>
            </a:r>
            <a:r>
              <a:rPr spc="10" dirty="0"/>
              <a:t> </a:t>
            </a:r>
            <a:r>
              <a:rPr spc="-5" dirty="0"/>
              <a:t>Illustration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5800" y="1828800"/>
            <a:ext cx="3200400" cy="533400"/>
          </a:xfrm>
          <a:prstGeom prst="rect">
            <a:avLst/>
          </a:prstGeom>
          <a:solidFill>
            <a:srgbClr val="FF99CC"/>
          </a:solidFill>
          <a:ln w="9144">
            <a:solidFill>
              <a:srgbClr val="000000"/>
            </a:solidFill>
          </a:ln>
        </p:spPr>
        <p:txBody>
          <a:bodyPr vert="horz" wrap="square" lIns="0" tIns="76835" rIns="0" bIns="0" rtlCol="0">
            <a:spAutoFit/>
          </a:bodyPr>
          <a:lstStyle/>
          <a:p>
            <a:pPr marL="99695">
              <a:lnSpc>
                <a:spcPct val="100000"/>
              </a:lnSpc>
              <a:spcBef>
                <a:spcPts val="605"/>
              </a:spcBef>
            </a:pPr>
            <a:r>
              <a:rPr sz="2400" spc="-5" dirty="0">
                <a:latin typeface="Arial"/>
                <a:cs typeface="Arial"/>
              </a:rPr>
              <a:t>Windows 7 on Core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2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5800" y="1219200"/>
            <a:ext cx="3200400" cy="533400"/>
          </a:xfrm>
          <a:prstGeom prst="rect">
            <a:avLst/>
          </a:prstGeom>
          <a:solidFill>
            <a:srgbClr val="99CCFF"/>
          </a:solidFill>
          <a:ln w="9144">
            <a:solidFill>
              <a:srgbClr val="000000"/>
            </a:solidFill>
          </a:ln>
        </p:spPr>
        <p:txBody>
          <a:bodyPr vert="horz" wrap="square" lIns="0" tIns="762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sz="2400" dirty="0">
                <a:latin typeface="Arial"/>
                <a:cs typeface="Arial"/>
              </a:rPr>
              <a:t>a.out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91000" y="1295400"/>
            <a:ext cx="4267200" cy="990600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vert="horz" wrap="square" lIns="0" tIns="2540" rIns="0" bIns="0" rtlCol="0">
            <a:spAutoFit/>
          </a:bodyPr>
          <a:lstStyle/>
          <a:p>
            <a:pPr marL="211454" marR="196850" indent="-2540" algn="ctr">
              <a:lnSpc>
                <a:spcPct val="100000"/>
              </a:lnSpc>
              <a:spcBef>
                <a:spcPts val="20"/>
              </a:spcBef>
            </a:pPr>
            <a:r>
              <a:rPr sz="1600" spc="-5" dirty="0">
                <a:latin typeface="Arial"/>
                <a:cs typeface="Arial"/>
              </a:rPr>
              <a:t>Normal executable (e.g.: C programs) are  tied to a </a:t>
            </a:r>
            <a:r>
              <a:rPr sz="1600" dirty="0">
                <a:latin typeface="Arial"/>
                <a:cs typeface="Arial"/>
              </a:rPr>
              <a:t>specific </a:t>
            </a:r>
            <a:r>
              <a:rPr sz="1600" spc="-5" dirty="0">
                <a:latin typeface="Arial"/>
                <a:cs typeface="Arial"/>
              </a:rPr>
              <a:t>platform (OS + Hardware)  This </a:t>
            </a:r>
            <a:r>
              <a:rPr sz="1600" spc="-5" dirty="0">
                <a:solidFill>
                  <a:srgbClr val="C00000"/>
                </a:solidFill>
                <a:latin typeface="Arial"/>
                <a:cs typeface="Arial"/>
              </a:rPr>
              <a:t>a.out </a:t>
            </a:r>
            <a:r>
              <a:rPr sz="1600" spc="-5" dirty="0">
                <a:latin typeface="Arial"/>
                <a:cs typeface="Arial"/>
              </a:rPr>
              <a:t>cannot work in a machine of  different</a:t>
            </a:r>
            <a:r>
              <a:rPr sz="1600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architecture.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04800" y="2514600"/>
            <a:ext cx="8305800" cy="0"/>
          </a:xfrm>
          <a:custGeom>
            <a:avLst/>
            <a:gdLst/>
            <a:ahLst/>
            <a:cxnLst/>
            <a:rect l="l" t="t" r="r" b="b"/>
            <a:pathLst>
              <a:path w="8305800">
                <a:moveTo>
                  <a:pt x="0" y="0"/>
                </a:moveTo>
                <a:lnTo>
                  <a:pt x="8305800" y="0"/>
                </a:lnTo>
              </a:path>
            </a:pathLst>
          </a:custGeom>
          <a:ln w="9144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85800" y="3886200"/>
            <a:ext cx="3200400" cy="533400"/>
          </a:xfrm>
          <a:prstGeom prst="rect">
            <a:avLst/>
          </a:prstGeom>
          <a:solidFill>
            <a:srgbClr val="FF99CC"/>
          </a:solidFill>
          <a:ln w="9144">
            <a:solidFill>
              <a:srgbClr val="000000"/>
            </a:solidFill>
          </a:ln>
        </p:spPr>
        <p:txBody>
          <a:bodyPr vert="horz" wrap="square" lIns="0" tIns="76835" rIns="0" bIns="0" rtlCol="0">
            <a:spAutoFit/>
          </a:bodyPr>
          <a:lstStyle/>
          <a:p>
            <a:pPr marL="99695">
              <a:lnSpc>
                <a:spcPct val="100000"/>
              </a:lnSpc>
              <a:spcBef>
                <a:spcPts val="605"/>
              </a:spcBef>
            </a:pPr>
            <a:r>
              <a:rPr sz="2400" spc="-5" dirty="0">
                <a:latin typeface="Arial"/>
                <a:cs typeface="Arial"/>
              </a:rPr>
              <a:t>Windows </a:t>
            </a:r>
            <a:r>
              <a:rPr sz="2400" dirty="0">
                <a:latin typeface="Arial"/>
                <a:cs typeface="Arial"/>
              </a:rPr>
              <a:t>7 on </a:t>
            </a:r>
            <a:r>
              <a:rPr sz="2400" spc="-5" dirty="0">
                <a:latin typeface="Arial"/>
                <a:cs typeface="Arial"/>
              </a:rPr>
              <a:t>Core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2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85800" y="2667000"/>
            <a:ext cx="3200400" cy="533400"/>
          </a:xfrm>
          <a:prstGeom prst="rect">
            <a:avLst/>
          </a:prstGeom>
          <a:solidFill>
            <a:srgbClr val="99CCFF"/>
          </a:solidFill>
          <a:ln w="9144">
            <a:solidFill>
              <a:srgbClr val="000000"/>
            </a:solidFill>
          </a:ln>
        </p:spPr>
        <p:txBody>
          <a:bodyPr vert="horz" wrap="square" lIns="0" tIns="76835" rIns="0" bIns="0" rtlCol="0">
            <a:spAutoFit/>
          </a:bodyPr>
          <a:lstStyle/>
          <a:p>
            <a:pPr marL="469900">
              <a:lnSpc>
                <a:spcPct val="100000"/>
              </a:lnSpc>
              <a:spcBef>
                <a:spcPts val="605"/>
              </a:spcBef>
            </a:pPr>
            <a:r>
              <a:rPr sz="2400" spc="-5" dirty="0">
                <a:latin typeface="Arial"/>
                <a:cs typeface="Arial"/>
              </a:rPr>
              <a:t>HelloWorld.class</a:t>
            </a:r>
            <a:endParaRPr sz="2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85800" y="3276600"/>
            <a:ext cx="3200400" cy="533400"/>
          </a:xfrm>
          <a:prstGeom prst="rect">
            <a:avLst/>
          </a:prstGeom>
          <a:solidFill>
            <a:srgbClr val="D5E2D6"/>
          </a:solidFill>
          <a:ln w="9144">
            <a:solidFill>
              <a:srgbClr val="000000"/>
            </a:solidFill>
          </a:ln>
        </p:spPr>
        <p:txBody>
          <a:bodyPr vert="horz" wrap="square" lIns="0" tIns="76835" rIns="0" bIns="0" rtlCol="0">
            <a:spAutoFit/>
          </a:bodyPr>
          <a:lstStyle/>
          <a:p>
            <a:pPr marL="187960">
              <a:lnSpc>
                <a:spcPct val="100000"/>
              </a:lnSpc>
              <a:spcBef>
                <a:spcPts val="605"/>
              </a:spcBef>
            </a:pPr>
            <a:r>
              <a:rPr sz="2400" spc="-5" dirty="0">
                <a:latin typeface="Arial"/>
                <a:cs typeface="Arial"/>
              </a:rPr>
              <a:t>Java </a:t>
            </a:r>
            <a:r>
              <a:rPr sz="2400" spc="-10" dirty="0">
                <a:latin typeface="Arial"/>
                <a:cs typeface="Arial"/>
              </a:rPr>
              <a:t>Virtual</a:t>
            </a:r>
            <a:r>
              <a:rPr sz="2400" spc="-5" dirty="0">
                <a:latin typeface="Arial"/>
                <a:cs typeface="Arial"/>
              </a:rPr>
              <a:t> Machine</a:t>
            </a:r>
            <a:endParaRPr sz="24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85800" y="5943600"/>
            <a:ext cx="3200400" cy="533400"/>
          </a:xfrm>
          <a:prstGeom prst="rect">
            <a:avLst/>
          </a:prstGeom>
          <a:solidFill>
            <a:srgbClr val="FF99CC"/>
          </a:solidFill>
          <a:ln w="9144">
            <a:solidFill>
              <a:srgbClr val="000000"/>
            </a:solidFill>
          </a:ln>
        </p:spPr>
        <p:txBody>
          <a:bodyPr vert="horz" wrap="square" lIns="0" tIns="77470" rIns="0" bIns="0" rtlCol="0">
            <a:spAutoFit/>
          </a:bodyPr>
          <a:lstStyle/>
          <a:p>
            <a:pPr marL="195580">
              <a:lnSpc>
                <a:spcPct val="100000"/>
              </a:lnSpc>
              <a:spcBef>
                <a:spcPts val="610"/>
              </a:spcBef>
            </a:pPr>
            <a:r>
              <a:rPr sz="2400" dirty="0">
                <a:latin typeface="Arial"/>
                <a:cs typeface="Arial"/>
              </a:rPr>
              <a:t>MacOS </a:t>
            </a:r>
            <a:r>
              <a:rPr sz="2400" spc="-5" dirty="0">
                <a:latin typeface="Arial"/>
                <a:cs typeface="Arial"/>
              </a:rPr>
              <a:t>on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PowerPC</a:t>
            </a:r>
            <a:endParaRPr sz="2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85800" y="4724400"/>
            <a:ext cx="3200400" cy="533400"/>
          </a:xfrm>
          <a:prstGeom prst="rect">
            <a:avLst/>
          </a:prstGeom>
          <a:solidFill>
            <a:srgbClr val="99CCFF"/>
          </a:solidFill>
          <a:ln w="9144">
            <a:solidFill>
              <a:srgbClr val="000000"/>
            </a:solidFill>
          </a:ln>
        </p:spPr>
        <p:txBody>
          <a:bodyPr vert="horz" wrap="square" lIns="0" tIns="77470" rIns="0" bIns="0" rtlCol="0">
            <a:spAutoFit/>
          </a:bodyPr>
          <a:lstStyle/>
          <a:p>
            <a:pPr marL="469900">
              <a:lnSpc>
                <a:spcPct val="100000"/>
              </a:lnSpc>
              <a:spcBef>
                <a:spcPts val="610"/>
              </a:spcBef>
            </a:pPr>
            <a:r>
              <a:rPr sz="2400" spc="-10" dirty="0">
                <a:latin typeface="Arial"/>
                <a:cs typeface="Arial"/>
              </a:rPr>
              <a:t>HelloWorld.class</a:t>
            </a:r>
            <a:endParaRPr sz="24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85800" y="5334000"/>
            <a:ext cx="3200400" cy="533400"/>
          </a:xfrm>
          <a:prstGeom prst="rect">
            <a:avLst/>
          </a:prstGeom>
          <a:solidFill>
            <a:srgbClr val="D5E2D6"/>
          </a:solidFill>
          <a:ln w="9144">
            <a:solidFill>
              <a:srgbClr val="000000"/>
            </a:solidFill>
          </a:ln>
        </p:spPr>
        <p:txBody>
          <a:bodyPr vert="horz" wrap="square" lIns="0" tIns="77470" rIns="0" bIns="0" rtlCol="0">
            <a:spAutoFit/>
          </a:bodyPr>
          <a:lstStyle/>
          <a:p>
            <a:pPr marL="187960">
              <a:lnSpc>
                <a:spcPct val="100000"/>
              </a:lnSpc>
              <a:spcBef>
                <a:spcPts val="610"/>
              </a:spcBef>
            </a:pPr>
            <a:r>
              <a:rPr sz="2400" spc="-5" dirty="0">
                <a:latin typeface="Arial"/>
                <a:cs typeface="Arial"/>
              </a:rPr>
              <a:t>Java </a:t>
            </a:r>
            <a:r>
              <a:rPr sz="2400" spc="-10" dirty="0">
                <a:latin typeface="Arial"/>
                <a:cs typeface="Arial"/>
              </a:rPr>
              <a:t>Virtual</a:t>
            </a:r>
            <a:r>
              <a:rPr sz="2400" spc="-5" dirty="0">
                <a:latin typeface="Arial"/>
                <a:cs typeface="Arial"/>
              </a:rPr>
              <a:t> Machine</a:t>
            </a:r>
            <a:endParaRPr sz="24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343400" y="2743200"/>
            <a:ext cx="3886200" cy="990600"/>
          </a:xfrm>
          <a:custGeom>
            <a:avLst/>
            <a:gdLst/>
            <a:ahLst/>
            <a:cxnLst/>
            <a:rect l="l" t="t" r="r" b="b"/>
            <a:pathLst>
              <a:path w="3886200" h="990600">
                <a:moveTo>
                  <a:pt x="0" y="990600"/>
                </a:moveTo>
                <a:lnTo>
                  <a:pt x="3886200" y="990600"/>
                </a:lnTo>
                <a:lnTo>
                  <a:pt x="3886200" y="0"/>
                </a:lnTo>
                <a:lnTo>
                  <a:pt x="0" y="0"/>
                </a:lnTo>
                <a:lnTo>
                  <a:pt x="0" y="990600"/>
                </a:lnTo>
                <a:close/>
              </a:path>
            </a:pathLst>
          </a:custGeom>
          <a:ln w="12192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472432" y="2978276"/>
            <a:ext cx="3627120" cy="499109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667385" marR="5080" indent="-655320">
              <a:lnSpc>
                <a:spcPts val="1810"/>
              </a:lnSpc>
              <a:spcBef>
                <a:spcPts val="245"/>
              </a:spcBef>
            </a:pPr>
            <a:r>
              <a:rPr sz="1600" spc="-5" dirty="0">
                <a:latin typeface="Arial"/>
                <a:cs typeface="Arial"/>
              </a:rPr>
              <a:t>JVM provides a uniform environment for  Java bytecode</a:t>
            </a:r>
            <a:r>
              <a:rPr sz="1600" spc="20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execution.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57200" y="3124961"/>
            <a:ext cx="4429125" cy="1529715"/>
            <a:chOff x="457200" y="3124961"/>
            <a:chExt cx="4429125" cy="1529715"/>
          </a:xfrm>
        </p:grpSpPr>
        <p:sp>
          <p:nvSpPr>
            <p:cNvPr id="16" name="object 16"/>
            <p:cNvSpPr/>
            <p:nvPr/>
          </p:nvSpPr>
          <p:spPr>
            <a:xfrm>
              <a:off x="457200" y="4572000"/>
              <a:ext cx="3810000" cy="0"/>
            </a:xfrm>
            <a:custGeom>
              <a:avLst/>
              <a:gdLst/>
              <a:ahLst/>
              <a:cxnLst/>
              <a:rect l="l" t="t" r="r" b="b"/>
              <a:pathLst>
                <a:path w="3810000">
                  <a:moveTo>
                    <a:pt x="0" y="0"/>
                  </a:moveTo>
                  <a:lnTo>
                    <a:pt x="3810000" y="0"/>
                  </a:lnTo>
                </a:path>
              </a:pathLst>
            </a:custGeom>
            <a:ln w="9144">
              <a:solidFill>
                <a:srgbClr val="00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886961" y="3124961"/>
              <a:ext cx="998855" cy="1529715"/>
            </a:xfrm>
            <a:custGeom>
              <a:avLst/>
              <a:gdLst/>
              <a:ahLst/>
              <a:cxnLst/>
              <a:rect l="l" t="t" r="r" b="b"/>
              <a:pathLst>
                <a:path w="998854" h="1529714">
                  <a:moveTo>
                    <a:pt x="21401" y="32899"/>
                  </a:moveTo>
                  <a:lnTo>
                    <a:pt x="22363" y="52538"/>
                  </a:lnTo>
                  <a:lnTo>
                    <a:pt x="982345" y="1529461"/>
                  </a:lnTo>
                  <a:lnTo>
                    <a:pt x="998854" y="1518539"/>
                  </a:lnTo>
                  <a:lnTo>
                    <a:pt x="38997" y="41739"/>
                  </a:lnTo>
                  <a:lnTo>
                    <a:pt x="21401" y="32899"/>
                  </a:lnTo>
                  <a:close/>
                </a:path>
                <a:path w="998854" h="1529714">
                  <a:moveTo>
                    <a:pt x="0" y="0"/>
                  </a:moveTo>
                  <a:lnTo>
                    <a:pt x="5334" y="110489"/>
                  </a:lnTo>
                  <a:lnTo>
                    <a:pt x="9905" y="114680"/>
                  </a:lnTo>
                  <a:lnTo>
                    <a:pt x="20827" y="114173"/>
                  </a:lnTo>
                  <a:lnTo>
                    <a:pt x="25146" y="109600"/>
                  </a:lnTo>
                  <a:lnTo>
                    <a:pt x="22363" y="52538"/>
                  </a:lnTo>
                  <a:lnTo>
                    <a:pt x="2412" y="21843"/>
                  </a:lnTo>
                  <a:lnTo>
                    <a:pt x="19050" y="11049"/>
                  </a:lnTo>
                  <a:lnTo>
                    <a:pt x="21979" y="11049"/>
                  </a:lnTo>
                  <a:lnTo>
                    <a:pt x="0" y="0"/>
                  </a:lnTo>
                  <a:close/>
                </a:path>
                <a:path w="998854" h="1529714">
                  <a:moveTo>
                    <a:pt x="21979" y="11049"/>
                  </a:moveTo>
                  <a:lnTo>
                    <a:pt x="19050" y="11049"/>
                  </a:lnTo>
                  <a:lnTo>
                    <a:pt x="38997" y="41739"/>
                  </a:lnTo>
                  <a:lnTo>
                    <a:pt x="85089" y="64897"/>
                  </a:lnTo>
                  <a:lnTo>
                    <a:pt x="89915" y="67437"/>
                  </a:lnTo>
                  <a:lnTo>
                    <a:pt x="95885" y="65404"/>
                  </a:lnTo>
                  <a:lnTo>
                    <a:pt x="98298" y="60578"/>
                  </a:lnTo>
                  <a:lnTo>
                    <a:pt x="100837" y="55625"/>
                  </a:lnTo>
                  <a:lnTo>
                    <a:pt x="98805" y="49784"/>
                  </a:lnTo>
                  <a:lnTo>
                    <a:pt x="93979" y="47243"/>
                  </a:lnTo>
                  <a:lnTo>
                    <a:pt x="21979" y="11049"/>
                  </a:lnTo>
                  <a:close/>
                </a:path>
                <a:path w="998854" h="1529714">
                  <a:moveTo>
                    <a:pt x="19050" y="11049"/>
                  </a:moveTo>
                  <a:lnTo>
                    <a:pt x="2412" y="21843"/>
                  </a:lnTo>
                  <a:lnTo>
                    <a:pt x="22363" y="52538"/>
                  </a:lnTo>
                  <a:lnTo>
                    <a:pt x="21401" y="32899"/>
                  </a:lnTo>
                  <a:lnTo>
                    <a:pt x="6223" y="25273"/>
                  </a:lnTo>
                  <a:lnTo>
                    <a:pt x="20574" y="16001"/>
                  </a:lnTo>
                  <a:lnTo>
                    <a:pt x="22269" y="16001"/>
                  </a:lnTo>
                  <a:lnTo>
                    <a:pt x="19050" y="11049"/>
                  </a:lnTo>
                  <a:close/>
                </a:path>
                <a:path w="998854" h="1529714">
                  <a:moveTo>
                    <a:pt x="22269" y="16001"/>
                  </a:moveTo>
                  <a:lnTo>
                    <a:pt x="20574" y="16001"/>
                  </a:lnTo>
                  <a:lnTo>
                    <a:pt x="21401" y="32899"/>
                  </a:lnTo>
                  <a:lnTo>
                    <a:pt x="38997" y="41739"/>
                  </a:lnTo>
                  <a:lnTo>
                    <a:pt x="22269" y="16001"/>
                  </a:lnTo>
                  <a:close/>
                </a:path>
                <a:path w="998854" h="1529714">
                  <a:moveTo>
                    <a:pt x="20574" y="16001"/>
                  </a:moveTo>
                  <a:lnTo>
                    <a:pt x="6223" y="25273"/>
                  </a:lnTo>
                  <a:lnTo>
                    <a:pt x="21401" y="32899"/>
                  </a:lnTo>
                  <a:lnTo>
                    <a:pt x="20574" y="1600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/>
          <p:nvPr/>
        </p:nvSpPr>
        <p:spPr>
          <a:xfrm>
            <a:off x="3963161" y="4810125"/>
            <a:ext cx="765175" cy="248285"/>
          </a:xfrm>
          <a:custGeom>
            <a:avLst/>
            <a:gdLst/>
            <a:ahLst/>
            <a:cxnLst/>
            <a:rect l="l" t="t" r="r" b="b"/>
            <a:pathLst>
              <a:path w="765175" h="248285">
                <a:moveTo>
                  <a:pt x="83565" y="140462"/>
                </a:moveTo>
                <a:lnTo>
                  <a:pt x="77215" y="140588"/>
                </a:lnTo>
                <a:lnTo>
                  <a:pt x="73405" y="144525"/>
                </a:lnTo>
                <a:lnTo>
                  <a:pt x="0" y="219710"/>
                </a:lnTo>
                <a:lnTo>
                  <a:pt x="106934" y="248157"/>
                </a:lnTo>
                <a:lnTo>
                  <a:pt x="112395" y="244982"/>
                </a:lnTo>
                <a:lnTo>
                  <a:pt x="115188" y="234314"/>
                </a:lnTo>
                <a:lnTo>
                  <a:pt x="112013" y="228981"/>
                </a:lnTo>
                <a:lnTo>
                  <a:pt x="93275" y="224027"/>
                </a:lnTo>
                <a:lnTo>
                  <a:pt x="21589" y="224027"/>
                </a:lnTo>
                <a:lnTo>
                  <a:pt x="16255" y="204977"/>
                </a:lnTo>
                <a:lnTo>
                  <a:pt x="51682" y="195205"/>
                </a:lnTo>
                <a:lnTo>
                  <a:pt x="91439" y="154431"/>
                </a:lnTo>
                <a:lnTo>
                  <a:pt x="91439" y="148208"/>
                </a:lnTo>
                <a:lnTo>
                  <a:pt x="87502" y="144399"/>
                </a:lnTo>
                <a:lnTo>
                  <a:pt x="83565" y="140462"/>
                </a:lnTo>
                <a:close/>
              </a:path>
              <a:path w="765175" h="248285">
                <a:moveTo>
                  <a:pt x="51682" y="195205"/>
                </a:moveTo>
                <a:lnTo>
                  <a:pt x="16255" y="204977"/>
                </a:lnTo>
                <a:lnTo>
                  <a:pt x="21589" y="224027"/>
                </a:lnTo>
                <a:lnTo>
                  <a:pt x="30797" y="221487"/>
                </a:lnTo>
                <a:lnTo>
                  <a:pt x="26035" y="221487"/>
                </a:lnTo>
                <a:lnTo>
                  <a:pt x="21462" y="204977"/>
                </a:lnTo>
                <a:lnTo>
                  <a:pt x="42146" y="204977"/>
                </a:lnTo>
                <a:lnTo>
                  <a:pt x="51682" y="195205"/>
                </a:lnTo>
                <a:close/>
              </a:path>
              <a:path w="765175" h="248285">
                <a:moveTo>
                  <a:pt x="56732" y="214334"/>
                </a:moveTo>
                <a:lnTo>
                  <a:pt x="21589" y="224027"/>
                </a:lnTo>
                <a:lnTo>
                  <a:pt x="93275" y="224027"/>
                </a:lnTo>
                <a:lnTo>
                  <a:pt x="56732" y="214334"/>
                </a:lnTo>
                <a:close/>
              </a:path>
              <a:path w="765175" h="248285">
                <a:moveTo>
                  <a:pt x="21462" y="204977"/>
                </a:moveTo>
                <a:lnTo>
                  <a:pt x="26035" y="221487"/>
                </a:lnTo>
                <a:lnTo>
                  <a:pt x="37893" y="209336"/>
                </a:lnTo>
                <a:lnTo>
                  <a:pt x="21462" y="204977"/>
                </a:lnTo>
                <a:close/>
              </a:path>
              <a:path w="765175" h="248285">
                <a:moveTo>
                  <a:pt x="37893" y="209336"/>
                </a:moveTo>
                <a:lnTo>
                  <a:pt x="26035" y="221487"/>
                </a:lnTo>
                <a:lnTo>
                  <a:pt x="30797" y="221487"/>
                </a:lnTo>
                <a:lnTo>
                  <a:pt x="56732" y="214334"/>
                </a:lnTo>
                <a:lnTo>
                  <a:pt x="37893" y="209336"/>
                </a:lnTo>
                <a:close/>
              </a:path>
              <a:path w="765175" h="248285">
                <a:moveTo>
                  <a:pt x="759333" y="0"/>
                </a:moveTo>
                <a:lnTo>
                  <a:pt x="51682" y="195205"/>
                </a:lnTo>
                <a:lnTo>
                  <a:pt x="37893" y="209336"/>
                </a:lnTo>
                <a:lnTo>
                  <a:pt x="56732" y="214334"/>
                </a:lnTo>
                <a:lnTo>
                  <a:pt x="764666" y="19050"/>
                </a:lnTo>
                <a:lnTo>
                  <a:pt x="759333" y="0"/>
                </a:lnTo>
                <a:close/>
              </a:path>
              <a:path w="765175" h="248285">
                <a:moveTo>
                  <a:pt x="42146" y="204977"/>
                </a:moveTo>
                <a:lnTo>
                  <a:pt x="21462" y="204977"/>
                </a:lnTo>
                <a:lnTo>
                  <a:pt x="37893" y="209336"/>
                </a:lnTo>
                <a:lnTo>
                  <a:pt x="42146" y="20497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724400" y="4495800"/>
            <a:ext cx="2209800" cy="646430"/>
          </a:xfrm>
          <a:prstGeom prst="rect">
            <a:avLst/>
          </a:prstGeom>
          <a:solidFill>
            <a:srgbClr val="FFFFCC"/>
          </a:solidFill>
          <a:ln w="9144">
            <a:solidFill>
              <a:srgbClr val="000000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L="92075" marR="201930">
              <a:lnSpc>
                <a:spcPct val="100000"/>
              </a:lnSpc>
              <a:spcBef>
                <a:spcPts val="320"/>
              </a:spcBef>
            </a:pPr>
            <a:r>
              <a:rPr sz="1800" dirty="0">
                <a:latin typeface="Arial"/>
                <a:cs typeface="Arial"/>
              </a:rPr>
              <a:t>They </a:t>
            </a:r>
            <a:r>
              <a:rPr sz="1800" spc="-5" dirty="0">
                <a:latin typeface="Arial"/>
                <a:cs typeface="Arial"/>
              </a:rPr>
              <a:t>are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6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same  portable</a:t>
            </a:r>
            <a:r>
              <a:rPr sz="180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file.</a:t>
            </a:r>
            <a:endParaRPr sz="18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63068" y="187452"/>
            <a:ext cx="523240" cy="2251075"/>
          </a:xfrm>
          <a:custGeom>
            <a:avLst/>
            <a:gdLst/>
            <a:ahLst/>
            <a:cxnLst/>
            <a:rect l="l" t="t" r="r" b="b"/>
            <a:pathLst>
              <a:path w="523240" h="2251075">
                <a:moveTo>
                  <a:pt x="522731" y="0"/>
                </a:moveTo>
                <a:lnTo>
                  <a:pt x="0" y="0"/>
                </a:lnTo>
                <a:lnTo>
                  <a:pt x="0" y="2250948"/>
                </a:lnTo>
                <a:lnTo>
                  <a:pt x="522731" y="2250948"/>
                </a:lnTo>
                <a:lnTo>
                  <a:pt x="522731" y="0"/>
                </a:lnTo>
                <a:close/>
              </a:path>
            </a:pathLst>
          </a:custGeom>
          <a:solidFill>
            <a:srgbClr val="FFCCFF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244239" y="352438"/>
            <a:ext cx="381000" cy="200787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990"/>
              </a:lnSpc>
            </a:pPr>
            <a:r>
              <a:rPr sz="2800" dirty="0">
                <a:solidFill>
                  <a:srgbClr val="C00000"/>
                </a:solidFill>
                <a:latin typeface="Trebuchet MS"/>
                <a:cs typeface="Trebuchet MS"/>
              </a:rPr>
              <a:t>2. </a:t>
            </a:r>
            <a:r>
              <a:rPr sz="2800" spc="80" dirty="0">
                <a:solidFill>
                  <a:srgbClr val="000099"/>
                </a:solidFill>
                <a:latin typeface="Trebuchet MS"/>
                <a:cs typeface="Trebuchet MS"/>
              </a:rPr>
              <a:t>Run</a:t>
            </a:r>
            <a:r>
              <a:rPr sz="2800" spc="-60" dirty="0">
                <a:solidFill>
                  <a:srgbClr val="000099"/>
                </a:solidFill>
                <a:latin typeface="Trebuchet MS"/>
                <a:cs typeface="Trebuchet MS"/>
              </a:rPr>
              <a:t> </a:t>
            </a:r>
            <a:r>
              <a:rPr sz="2800" spc="-70" dirty="0">
                <a:solidFill>
                  <a:srgbClr val="000099"/>
                </a:solidFill>
                <a:latin typeface="Trebuchet MS"/>
                <a:cs typeface="Trebuchet MS"/>
              </a:rPr>
              <a:t>Cycle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89"/>
              </a:lnSpc>
              <a:tabLst>
                <a:tab pos="1996439" algn="l"/>
                <a:tab pos="8046720" algn="l"/>
              </a:tabLst>
            </a:pPr>
            <a:r>
              <a:rPr dirty="0"/>
              <a:t>[501043 Lecture 1: Intro</a:t>
            </a:r>
            <a:r>
              <a:rPr spc="-6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Java]	</a:t>
            </a:r>
            <a:r>
              <a:rPr u="heavy" dirty="0">
                <a:uFill>
                  <a:solidFill>
                    <a:srgbClr val="009999"/>
                  </a:solidFill>
                </a:uFill>
              </a:rPr>
              <a:t> 	</a:t>
            </a:r>
            <a:r>
              <a:rPr sz="1600" b="1" i="1" spc="-5" dirty="0">
                <a:solidFill>
                  <a:srgbClr val="C00000"/>
                </a:solidFill>
                <a:latin typeface="Arial"/>
                <a:cs typeface="Arial"/>
              </a:rPr>
              <a:t>14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7696200" cy="789940"/>
          </a:xfrm>
          <a:prstGeom prst="rect">
            <a:avLst/>
          </a:prstGeom>
          <a:solidFill>
            <a:srgbClr val="FFCCFF">
              <a:alpha val="39999"/>
            </a:srgbClr>
          </a:solidFill>
        </p:spPr>
        <p:txBody>
          <a:bodyPr vert="horz" wrap="square" lIns="0" tIns="3175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50"/>
              </a:spcBef>
            </a:pPr>
            <a:r>
              <a:rPr sz="4000" b="1" spc="-110" dirty="0">
                <a:solidFill>
                  <a:srgbClr val="C00000"/>
                </a:solidFill>
                <a:latin typeface="Trebuchet MS"/>
                <a:cs typeface="Trebuchet MS"/>
              </a:rPr>
              <a:t>3. </a:t>
            </a:r>
            <a:r>
              <a:rPr sz="4000" b="1" spc="25" dirty="0">
                <a:latin typeface="Trebuchet MS"/>
                <a:cs typeface="Trebuchet MS"/>
              </a:rPr>
              <a:t>Basic </a:t>
            </a:r>
            <a:r>
              <a:rPr sz="4000" b="1" spc="-215" dirty="0">
                <a:latin typeface="Trebuchet MS"/>
                <a:cs typeface="Trebuchet MS"/>
              </a:rPr>
              <a:t>Java </a:t>
            </a:r>
            <a:r>
              <a:rPr sz="4000" b="1" spc="-15" dirty="0">
                <a:latin typeface="Trebuchet MS"/>
                <a:cs typeface="Trebuchet MS"/>
              </a:rPr>
              <a:t>Program</a:t>
            </a:r>
            <a:r>
              <a:rPr sz="4000" b="1" spc="240" dirty="0">
                <a:latin typeface="Trebuchet MS"/>
                <a:cs typeface="Trebuchet MS"/>
              </a:rPr>
              <a:t> </a:t>
            </a:r>
            <a:r>
              <a:rPr sz="4000" b="1" spc="-114" dirty="0">
                <a:latin typeface="Trebuchet MS"/>
                <a:cs typeface="Trebuchet MS"/>
              </a:rPr>
              <a:t>Structure</a:t>
            </a:r>
            <a:endParaRPr sz="40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89"/>
              </a:lnSpc>
              <a:tabLst>
                <a:tab pos="1996439" algn="l"/>
                <a:tab pos="8046720" algn="l"/>
              </a:tabLst>
            </a:pPr>
            <a:r>
              <a:rPr dirty="0"/>
              <a:t>[501043 Lecture 1: Intro</a:t>
            </a:r>
            <a:r>
              <a:rPr spc="-6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Java]	</a:t>
            </a:r>
            <a:r>
              <a:rPr u="heavy" dirty="0">
                <a:uFill>
                  <a:solidFill>
                    <a:srgbClr val="009999"/>
                  </a:solidFill>
                </a:uFill>
              </a:rPr>
              <a:t> 	</a:t>
            </a:r>
            <a:r>
              <a:rPr sz="1600" b="1" i="1" spc="-5" dirty="0">
                <a:solidFill>
                  <a:srgbClr val="C00000"/>
                </a:solidFill>
                <a:latin typeface="Arial"/>
                <a:cs typeface="Arial"/>
              </a:rPr>
              <a:t>15</a:t>
            </a:r>
            <a:endParaRPr sz="1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998914"/>
            <a:ext cx="7703184" cy="4585335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19"/>
              </a:spcBef>
              <a:buClr>
                <a:srgbClr val="009999"/>
              </a:buClr>
              <a:buSzPct val="64285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Today: just </a:t>
            </a:r>
            <a:r>
              <a:rPr sz="2800" spc="-5" dirty="0">
                <a:latin typeface="Arial"/>
                <a:cs typeface="Arial"/>
              </a:rPr>
              <a:t>the </a:t>
            </a:r>
            <a:r>
              <a:rPr sz="2800" dirty="0">
                <a:latin typeface="Arial"/>
                <a:cs typeface="Arial"/>
              </a:rPr>
              <a:t>basic language</a:t>
            </a:r>
            <a:r>
              <a:rPr sz="2800" spc="2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components:</a:t>
            </a:r>
            <a:endParaRPr sz="2800">
              <a:latin typeface="Arial"/>
              <a:cs typeface="Arial"/>
            </a:endParaRPr>
          </a:p>
          <a:p>
            <a:pPr marL="683260" lvl="1" indent="-327025">
              <a:lnSpc>
                <a:spcPct val="100000"/>
              </a:lnSpc>
              <a:spcBef>
                <a:spcPts val="620"/>
              </a:spcBef>
              <a:buClr>
                <a:srgbClr val="4B6C4E"/>
              </a:buClr>
              <a:buSzPct val="60416"/>
              <a:buFont typeface="Wingdings"/>
              <a:buChar char=""/>
              <a:tabLst>
                <a:tab pos="683260" algn="l"/>
                <a:tab pos="683895" algn="l"/>
              </a:tabLst>
            </a:pPr>
            <a:r>
              <a:rPr sz="2400" spc="-5" dirty="0">
                <a:latin typeface="Arial"/>
                <a:cs typeface="Arial"/>
              </a:rPr>
              <a:t>Basic Program</a:t>
            </a:r>
            <a:r>
              <a:rPr sz="2400" spc="1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Structure</a:t>
            </a:r>
            <a:endParaRPr sz="2400">
              <a:latin typeface="Arial"/>
              <a:cs typeface="Arial"/>
            </a:endParaRPr>
          </a:p>
          <a:p>
            <a:pPr marL="683260" lvl="1" indent="-327025">
              <a:lnSpc>
                <a:spcPct val="100000"/>
              </a:lnSpc>
              <a:spcBef>
                <a:spcPts val="600"/>
              </a:spcBef>
              <a:buClr>
                <a:srgbClr val="4B6C4E"/>
              </a:buClr>
              <a:buSzPct val="60416"/>
              <a:buFont typeface="Wingdings"/>
              <a:buChar char=""/>
              <a:tabLst>
                <a:tab pos="683260" algn="l"/>
                <a:tab pos="683895" algn="l"/>
              </a:tabLst>
            </a:pPr>
            <a:r>
              <a:rPr sz="2400" spc="-5" dirty="0">
                <a:latin typeface="Arial"/>
                <a:cs typeface="Arial"/>
              </a:rPr>
              <a:t>Primitive data types and simple</a:t>
            </a:r>
            <a:r>
              <a:rPr sz="2400" spc="3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variables</a:t>
            </a:r>
            <a:endParaRPr sz="2400">
              <a:latin typeface="Arial"/>
              <a:cs typeface="Arial"/>
            </a:endParaRPr>
          </a:p>
          <a:p>
            <a:pPr marL="683260" lvl="1" indent="-327025">
              <a:lnSpc>
                <a:spcPct val="100000"/>
              </a:lnSpc>
              <a:spcBef>
                <a:spcPts val="600"/>
              </a:spcBef>
              <a:buClr>
                <a:srgbClr val="4B6C4E"/>
              </a:buClr>
              <a:buSzPct val="60416"/>
              <a:buFont typeface="Wingdings"/>
              <a:buChar char=""/>
              <a:tabLst>
                <a:tab pos="683260" algn="l"/>
                <a:tab pos="683895" algn="l"/>
              </a:tabLst>
            </a:pPr>
            <a:r>
              <a:rPr sz="2400" spc="-5" dirty="0">
                <a:latin typeface="Arial"/>
                <a:cs typeface="Arial"/>
              </a:rPr>
              <a:t>Control </a:t>
            </a:r>
            <a:r>
              <a:rPr sz="2400" dirty="0">
                <a:latin typeface="Arial"/>
                <a:cs typeface="Arial"/>
              </a:rPr>
              <a:t>flow </a:t>
            </a:r>
            <a:r>
              <a:rPr sz="2400" spc="-5" dirty="0">
                <a:latin typeface="Arial"/>
                <a:cs typeface="Arial"/>
              </a:rPr>
              <a:t>(selection and repetition</a:t>
            </a:r>
            <a:r>
              <a:rPr sz="2400" spc="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statements)</a:t>
            </a:r>
            <a:endParaRPr sz="2400">
              <a:latin typeface="Arial"/>
              <a:cs typeface="Arial"/>
            </a:endParaRPr>
          </a:p>
          <a:p>
            <a:pPr marL="683260" lvl="1" indent="-327025">
              <a:lnSpc>
                <a:spcPct val="100000"/>
              </a:lnSpc>
              <a:spcBef>
                <a:spcPts val="600"/>
              </a:spcBef>
              <a:buClr>
                <a:srgbClr val="4B6C4E"/>
              </a:buClr>
              <a:buSzPct val="60416"/>
              <a:buFont typeface="Wingdings"/>
              <a:buChar char=""/>
              <a:tabLst>
                <a:tab pos="683260" algn="l"/>
                <a:tab pos="683895" algn="l"/>
              </a:tabLst>
            </a:pPr>
            <a:r>
              <a:rPr sz="2400" dirty="0">
                <a:latin typeface="Arial"/>
                <a:cs typeface="Arial"/>
              </a:rPr>
              <a:t>Input/output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statements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1185"/>
              </a:spcBef>
              <a:buClr>
                <a:srgbClr val="009999"/>
              </a:buClr>
              <a:buSzPct val="64285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Purpose: ease </a:t>
            </a:r>
            <a:r>
              <a:rPr sz="2800" spc="-5" dirty="0">
                <a:latin typeface="Arial"/>
                <a:cs typeface="Arial"/>
              </a:rPr>
              <a:t>you </a:t>
            </a:r>
            <a:r>
              <a:rPr sz="2800" dirty="0">
                <a:latin typeface="Arial"/>
                <a:cs typeface="Arial"/>
              </a:rPr>
              <a:t>into the</a:t>
            </a:r>
            <a:r>
              <a:rPr sz="2800" spc="2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language</a:t>
            </a:r>
            <a:endParaRPr sz="2800">
              <a:latin typeface="Arial"/>
              <a:cs typeface="Arial"/>
            </a:endParaRPr>
          </a:p>
          <a:p>
            <a:pPr marL="683260" lvl="1" indent="-327025">
              <a:lnSpc>
                <a:spcPct val="100000"/>
              </a:lnSpc>
              <a:spcBef>
                <a:spcPts val="615"/>
              </a:spcBef>
              <a:buClr>
                <a:srgbClr val="4B6C4E"/>
              </a:buClr>
              <a:buSzPct val="60416"/>
              <a:buFont typeface="Wingdings"/>
              <a:buChar char=""/>
              <a:tabLst>
                <a:tab pos="683260" algn="l"/>
                <a:tab pos="683895" algn="l"/>
              </a:tabLst>
            </a:pPr>
            <a:r>
              <a:rPr sz="2400" spc="-5" dirty="0">
                <a:latin typeface="Arial"/>
                <a:cs typeface="Arial"/>
              </a:rPr>
              <a:t>You </a:t>
            </a:r>
            <a:r>
              <a:rPr sz="2400" dirty="0">
                <a:latin typeface="Arial"/>
                <a:cs typeface="Arial"/>
              </a:rPr>
              <a:t>can </a:t>
            </a:r>
            <a:r>
              <a:rPr sz="2400" spc="-5" dirty="0">
                <a:latin typeface="Arial"/>
                <a:cs typeface="Arial"/>
              </a:rPr>
              <a:t>attempt </a:t>
            </a:r>
            <a:r>
              <a:rPr sz="2400" dirty="0">
                <a:latin typeface="Arial"/>
                <a:cs typeface="Arial"/>
              </a:rPr>
              <a:t>to </a:t>
            </a:r>
            <a:r>
              <a:rPr sz="2400" spc="-5" dirty="0">
                <a:latin typeface="Arial"/>
                <a:cs typeface="Arial"/>
              </a:rPr>
              <a:t>“translate” </a:t>
            </a:r>
            <a:r>
              <a:rPr sz="2400" dirty="0">
                <a:latin typeface="Arial"/>
                <a:cs typeface="Arial"/>
              </a:rPr>
              <a:t>some </a:t>
            </a:r>
            <a:r>
              <a:rPr sz="2400" spc="-5" dirty="0">
                <a:latin typeface="Arial"/>
                <a:cs typeface="Arial"/>
              </a:rPr>
              <a:t>simple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</a:t>
            </a:r>
            <a:endParaRPr sz="2400">
              <a:latin typeface="Arial"/>
              <a:cs typeface="Arial"/>
            </a:endParaRPr>
          </a:p>
          <a:p>
            <a:pPr marL="683260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latin typeface="Arial"/>
                <a:cs typeface="Arial"/>
              </a:rPr>
              <a:t>programs done in 501042 into</a:t>
            </a:r>
            <a:r>
              <a:rPr sz="2400" spc="6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Java</a:t>
            </a:r>
            <a:endParaRPr sz="240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1200"/>
              </a:spcBef>
              <a:buClr>
                <a:srgbClr val="009999"/>
              </a:buClr>
              <a:buSzPct val="64583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We </a:t>
            </a:r>
            <a:r>
              <a:rPr sz="2400" spc="-5" dirty="0">
                <a:latin typeface="Arial"/>
                <a:cs typeface="Arial"/>
              </a:rPr>
              <a:t>will gradually cover </a:t>
            </a:r>
            <a:r>
              <a:rPr sz="2400" dirty="0">
                <a:latin typeface="Arial"/>
                <a:cs typeface="Arial"/>
              </a:rPr>
              <a:t>many </a:t>
            </a:r>
            <a:r>
              <a:rPr sz="2400" spc="-5" dirty="0">
                <a:latin typeface="Arial"/>
                <a:cs typeface="Arial"/>
              </a:rPr>
              <a:t>other Java features over  </a:t>
            </a:r>
            <a:r>
              <a:rPr sz="2400" dirty="0">
                <a:latin typeface="Arial"/>
                <a:cs typeface="Arial"/>
              </a:rPr>
              <a:t>the </a:t>
            </a:r>
            <a:r>
              <a:rPr sz="2400" spc="-5" dirty="0">
                <a:latin typeface="Arial"/>
                <a:cs typeface="Arial"/>
              </a:rPr>
              <a:t>next </a:t>
            </a:r>
            <a:r>
              <a:rPr sz="2400" dirty="0">
                <a:latin typeface="Arial"/>
                <a:cs typeface="Arial"/>
              </a:rPr>
              <a:t>few</a:t>
            </a:r>
            <a:r>
              <a:rPr sz="2400" spc="2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weeks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73773" y="3279456"/>
            <a:ext cx="6460427" cy="2668333"/>
            <a:chOff x="473773" y="3279457"/>
            <a:chExt cx="6105525" cy="2533650"/>
          </a:xfrm>
        </p:grpSpPr>
        <p:sp>
          <p:nvSpPr>
            <p:cNvPr id="3" name="object 3"/>
            <p:cNvSpPr/>
            <p:nvPr/>
          </p:nvSpPr>
          <p:spPr>
            <a:xfrm>
              <a:off x="478536" y="3284219"/>
              <a:ext cx="6096000" cy="2524125"/>
            </a:xfrm>
            <a:custGeom>
              <a:avLst/>
              <a:gdLst/>
              <a:ahLst/>
              <a:cxnLst/>
              <a:rect l="l" t="t" r="r" b="b"/>
              <a:pathLst>
                <a:path w="6096000" h="2524125">
                  <a:moveTo>
                    <a:pt x="6095987" y="0"/>
                  </a:moveTo>
                  <a:lnTo>
                    <a:pt x="0" y="0"/>
                  </a:lnTo>
                  <a:lnTo>
                    <a:pt x="0" y="2319528"/>
                  </a:lnTo>
                  <a:lnTo>
                    <a:pt x="0" y="2523744"/>
                  </a:lnTo>
                  <a:lnTo>
                    <a:pt x="6095987" y="2523744"/>
                  </a:lnTo>
                  <a:lnTo>
                    <a:pt x="6095987" y="2319528"/>
                  </a:lnTo>
                  <a:lnTo>
                    <a:pt x="6095987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78536" y="3284220"/>
              <a:ext cx="6096000" cy="2524125"/>
            </a:xfrm>
            <a:custGeom>
              <a:avLst/>
              <a:gdLst/>
              <a:ahLst/>
              <a:cxnLst/>
              <a:rect l="l" t="t" r="r" b="b"/>
              <a:pathLst>
                <a:path w="6096000" h="2524125">
                  <a:moveTo>
                    <a:pt x="0" y="2523743"/>
                  </a:moveTo>
                  <a:lnTo>
                    <a:pt x="6095999" y="2523743"/>
                  </a:lnTo>
                  <a:lnTo>
                    <a:pt x="6095999" y="0"/>
                  </a:lnTo>
                  <a:lnTo>
                    <a:pt x="0" y="0"/>
                  </a:lnTo>
                  <a:lnTo>
                    <a:pt x="0" y="2523743"/>
                  </a:lnTo>
                  <a:close/>
                </a:path>
              </a:pathLst>
            </a:custGeom>
            <a:ln w="9144">
              <a:solidFill>
                <a:srgbClr val="FF99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557276" y="3138932"/>
            <a:ext cx="4395470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5600"/>
              </a:lnSpc>
              <a:spcBef>
                <a:spcPts val="100"/>
              </a:spcBef>
              <a:tabLst>
                <a:tab pos="2879090" algn="l"/>
              </a:tabLst>
            </a:pPr>
            <a:r>
              <a:rPr sz="1800" b="1" spc="-10" dirty="0">
                <a:solidFill>
                  <a:srgbClr val="660066"/>
                </a:solidFill>
                <a:latin typeface="Courier New"/>
                <a:cs typeface="Courier New"/>
              </a:rPr>
              <a:t>import</a:t>
            </a:r>
            <a:r>
              <a:rPr sz="1800" b="1" spc="15" dirty="0">
                <a:solidFill>
                  <a:srgbClr val="660066"/>
                </a:solidFill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java.lang.*;	</a:t>
            </a:r>
            <a:r>
              <a:rPr sz="1800" b="1" spc="-5" dirty="0">
                <a:solidFill>
                  <a:srgbClr val="660066"/>
                </a:solidFill>
                <a:latin typeface="Courier New"/>
                <a:cs typeface="Courier New"/>
              </a:rPr>
              <a:t>//</a:t>
            </a:r>
            <a:r>
              <a:rPr sz="1800" b="1" spc="-90" dirty="0">
                <a:solidFill>
                  <a:srgbClr val="660066"/>
                </a:solidFill>
                <a:latin typeface="Courier New"/>
                <a:cs typeface="Courier New"/>
              </a:rPr>
              <a:t> </a:t>
            </a:r>
            <a:r>
              <a:rPr sz="1800" b="1" spc="-10" dirty="0">
                <a:solidFill>
                  <a:srgbClr val="660066"/>
                </a:solidFill>
                <a:latin typeface="Courier New"/>
                <a:cs typeface="Courier New"/>
              </a:rPr>
              <a:t>optional  </a:t>
            </a:r>
            <a:r>
              <a:rPr sz="1800" b="1" spc="-10" dirty="0">
                <a:solidFill>
                  <a:srgbClr val="0000FF"/>
                </a:solidFill>
                <a:latin typeface="Courier New"/>
                <a:cs typeface="Courier New"/>
              </a:rPr>
              <a:t>public class </a:t>
            </a:r>
            <a:r>
              <a:rPr sz="1800" b="1" spc="-10" dirty="0">
                <a:latin typeface="Courier New"/>
                <a:cs typeface="Courier New"/>
              </a:rPr>
              <a:t>HelloWorld</a:t>
            </a:r>
            <a:r>
              <a:rPr sz="1800" b="1" spc="-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31596" y="3992626"/>
            <a:ext cx="5485765" cy="1305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1005" marR="5080" indent="-408940">
              <a:lnSpc>
                <a:spcPct val="1556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0000FF"/>
                </a:solidFill>
                <a:latin typeface="Courier New"/>
                <a:cs typeface="Courier New"/>
              </a:rPr>
              <a:t>public static void </a:t>
            </a:r>
            <a:r>
              <a:rPr sz="1800" b="1" spc="-10" dirty="0">
                <a:latin typeface="Courier New"/>
                <a:cs typeface="Courier New"/>
              </a:rPr>
              <a:t>main(String[] args) </a:t>
            </a:r>
            <a:r>
              <a:rPr sz="1800" b="1" dirty="0">
                <a:latin typeface="Courier New"/>
                <a:cs typeface="Courier New"/>
              </a:rPr>
              <a:t>{  </a:t>
            </a:r>
            <a:r>
              <a:rPr sz="1800" b="1" spc="-10" dirty="0">
                <a:latin typeface="Courier New"/>
                <a:cs typeface="Courier New"/>
              </a:rPr>
              <a:t>System.out.println(</a:t>
            </a:r>
            <a:r>
              <a:rPr sz="1800" b="1" spc="-10" dirty="0">
                <a:solidFill>
                  <a:srgbClr val="006600"/>
                </a:solidFill>
                <a:latin typeface="Courier New"/>
                <a:cs typeface="Courier New"/>
              </a:rPr>
              <a:t>"Hello</a:t>
            </a:r>
            <a:r>
              <a:rPr sz="1800" b="1" spc="-3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spc="-10" dirty="0">
                <a:solidFill>
                  <a:srgbClr val="006600"/>
                </a:solidFill>
                <a:latin typeface="Courier New"/>
                <a:cs typeface="Courier New"/>
              </a:rPr>
              <a:t>World!"</a:t>
            </a:r>
            <a:r>
              <a:rPr sz="1800" b="1" spc="-10" dirty="0">
                <a:latin typeface="Courier New"/>
                <a:cs typeface="Courier New"/>
              </a:rPr>
              <a:t>);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1800" b="1" dirty="0"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57276" y="5425541"/>
            <a:ext cx="1631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815585" y="5597397"/>
            <a:ext cx="1841500" cy="393700"/>
            <a:chOff x="4815585" y="5597397"/>
            <a:chExt cx="1841500" cy="393700"/>
          </a:xfrm>
        </p:grpSpPr>
        <p:sp>
          <p:nvSpPr>
            <p:cNvPr id="9" name="object 9"/>
            <p:cNvSpPr/>
            <p:nvPr/>
          </p:nvSpPr>
          <p:spPr>
            <a:xfrm>
              <a:off x="4821935" y="5603747"/>
              <a:ext cx="1828800" cy="381000"/>
            </a:xfrm>
            <a:custGeom>
              <a:avLst/>
              <a:gdLst/>
              <a:ahLst/>
              <a:cxnLst/>
              <a:rect l="l" t="t" r="r" b="b"/>
              <a:pathLst>
                <a:path w="1828800" h="381000">
                  <a:moveTo>
                    <a:pt x="1828800" y="0"/>
                  </a:moveTo>
                  <a:lnTo>
                    <a:pt x="0" y="0"/>
                  </a:lnTo>
                  <a:lnTo>
                    <a:pt x="0" y="380999"/>
                  </a:lnTo>
                  <a:lnTo>
                    <a:pt x="1828800" y="380999"/>
                  </a:lnTo>
                  <a:lnTo>
                    <a:pt x="1828800" y="0"/>
                  </a:lnTo>
                  <a:close/>
                </a:path>
              </a:pathLst>
            </a:custGeom>
            <a:solidFill>
              <a:srgbClr val="B8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821935" y="5603747"/>
              <a:ext cx="1828800" cy="381000"/>
            </a:xfrm>
            <a:custGeom>
              <a:avLst/>
              <a:gdLst/>
              <a:ahLst/>
              <a:cxnLst/>
              <a:rect l="l" t="t" r="r" b="b"/>
              <a:pathLst>
                <a:path w="1828800" h="381000">
                  <a:moveTo>
                    <a:pt x="0" y="380999"/>
                  </a:moveTo>
                  <a:lnTo>
                    <a:pt x="1828800" y="380999"/>
                  </a:lnTo>
                  <a:lnTo>
                    <a:pt x="1828800" y="0"/>
                  </a:lnTo>
                  <a:lnTo>
                    <a:pt x="0" y="0"/>
                  </a:lnTo>
                  <a:lnTo>
                    <a:pt x="0" y="38099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985765" y="5629757"/>
            <a:ext cx="166497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Carlito"/>
                <a:cs typeface="Carlito"/>
              </a:rPr>
              <a:t>HelloWorld.java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164835" y="2848355"/>
            <a:ext cx="1252727" cy="11780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5457190" y="3234944"/>
            <a:ext cx="6692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Java</a:t>
            </a:r>
            <a:endParaRPr sz="2400">
              <a:latin typeface="Arial"/>
              <a:cs typeface="Aria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764540" y="248158"/>
            <a:ext cx="25273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0" dirty="0"/>
              <a:t>Hello</a:t>
            </a:r>
            <a:r>
              <a:rPr spc="-75" dirty="0"/>
              <a:t> </a:t>
            </a:r>
            <a:r>
              <a:rPr spc="-50" dirty="0"/>
              <a:t>World!</a:t>
            </a:r>
          </a:p>
        </p:txBody>
      </p:sp>
      <p:grpSp>
        <p:nvGrpSpPr>
          <p:cNvPr id="15" name="object 15"/>
          <p:cNvGrpSpPr/>
          <p:nvPr/>
        </p:nvGrpSpPr>
        <p:grpSpPr>
          <a:xfrm>
            <a:off x="163068" y="187452"/>
            <a:ext cx="8605520" cy="5774690"/>
            <a:chOff x="163068" y="187452"/>
            <a:chExt cx="8605520" cy="5774690"/>
          </a:xfrm>
        </p:grpSpPr>
        <p:sp>
          <p:nvSpPr>
            <p:cNvPr id="16" name="object 16"/>
            <p:cNvSpPr/>
            <p:nvPr/>
          </p:nvSpPr>
          <p:spPr>
            <a:xfrm>
              <a:off x="1054607" y="2819400"/>
              <a:ext cx="7708900" cy="0"/>
            </a:xfrm>
            <a:custGeom>
              <a:avLst/>
              <a:gdLst/>
              <a:ahLst/>
              <a:cxnLst/>
              <a:rect l="l" t="t" r="r" b="b"/>
              <a:pathLst>
                <a:path w="7708900">
                  <a:moveTo>
                    <a:pt x="0" y="0"/>
                  </a:moveTo>
                  <a:lnTo>
                    <a:pt x="7708646" y="0"/>
                  </a:lnTo>
                </a:path>
              </a:pathLst>
            </a:custGeom>
            <a:ln w="9144">
              <a:solidFill>
                <a:srgbClr val="00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286762" y="3713225"/>
              <a:ext cx="3802379" cy="2234565"/>
            </a:xfrm>
            <a:custGeom>
              <a:avLst/>
              <a:gdLst/>
              <a:ahLst/>
              <a:cxnLst/>
              <a:rect l="l" t="t" r="r" b="b"/>
              <a:pathLst>
                <a:path w="3802379" h="2234565">
                  <a:moveTo>
                    <a:pt x="0" y="63500"/>
                  </a:moveTo>
                  <a:lnTo>
                    <a:pt x="4992" y="38790"/>
                  </a:lnTo>
                  <a:lnTo>
                    <a:pt x="18605" y="18605"/>
                  </a:lnTo>
                  <a:lnTo>
                    <a:pt x="38790" y="4992"/>
                  </a:lnTo>
                  <a:lnTo>
                    <a:pt x="63500" y="0"/>
                  </a:lnTo>
                  <a:lnTo>
                    <a:pt x="1460500" y="0"/>
                  </a:lnTo>
                  <a:lnTo>
                    <a:pt x="1485209" y="4992"/>
                  </a:lnTo>
                  <a:lnTo>
                    <a:pt x="1505394" y="18605"/>
                  </a:lnTo>
                  <a:lnTo>
                    <a:pt x="1519007" y="38790"/>
                  </a:lnTo>
                  <a:lnTo>
                    <a:pt x="1524000" y="63500"/>
                  </a:lnTo>
                  <a:lnTo>
                    <a:pt x="1524000" y="317500"/>
                  </a:lnTo>
                  <a:lnTo>
                    <a:pt x="1519007" y="342209"/>
                  </a:lnTo>
                  <a:lnTo>
                    <a:pt x="1505394" y="362394"/>
                  </a:lnTo>
                  <a:lnTo>
                    <a:pt x="1485209" y="376007"/>
                  </a:lnTo>
                  <a:lnTo>
                    <a:pt x="1460500" y="381000"/>
                  </a:lnTo>
                  <a:lnTo>
                    <a:pt x="63500" y="381000"/>
                  </a:lnTo>
                  <a:lnTo>
                    <a:pt x="38790" y="376007"/>
                  </a:lnTo>
                  <a:lnTo>
                    <a:pt x="18605" y="362394"/>
                  </a:lnTo>
                  <a:lnTo>
                    <a:pt x="4992" y="342209"/>
                  </a:lnTo>
                  <a:lnTo>
                    <a:pt x="0" y="317500"/>
                  </a:lnTo>
                  <a:lnTo>
                    <a:pt x="0" y="63500"/>
                  </a:lnTo>
                  <a:close/>
                </a:path>
                <a:path w="3802379" h="2234565">
                  <a:moveTo>
                    <a:pt x="2618232" y="2004314"/>
                  </a:moveTo>
                  <a:lnTo>
                    <a:pt x="2621843" y="1986420"/>
                  </a:lnTo>
                  <a:lnTo>
                    <a:pt x="2631694" y="1971806"/>
                  </a:lnTo>
                  <a:lnTo>
                    <a:pt x="2646306" y="1961953"/>
                  </a:lnTo>
                  <a:lnTo>
                    <a:pt x="2664205" y="1958339"/>
                  </a:lnTo>
                  <a:lnTo>
                    <a:pt x="3756405" y="1958339"/>
                  </a:lnTo>
                  <a:lnTo>
                    <a:pt x="3774305" y="1961953"/>
                  </a:lnTo>
                  <a:lnTo>
                    <a:pt x="3788917" y="1971806"/>
                  </a:lnTo>
                  <a:lnTo>
                    <a:pt x="3798768" y="1986420"/>
                  </a:lnTo>
                  <a:lnTo>
                    <a:pt x="3802379" y="2004314"/>
                  </a:lnTo>
                  <a:lnTo>
                    <a:pt x="3802379" y="2188210"/>
                  </a:lnTo>
                  <a:lnTo>
                    <a:pt x="3798768" y="2206103"/>
                  </a:lnTo>
                  <a:lnTo>
                    <a:pt x="3788917" y="2220717"/>
                  </a:lnTo>
                  <a:lnTo>
                    <a:pt x="3774305" y="2230570"/>
                  </a:lnTo>
                  <a:lnTo>
                    <a:pt x="3756405" y="2234184"/>
                  </a:lnTo>
                  <a:lnTo>
                    <a:pt x="2664205" y="2234184"/>
                  </a:lnTo>
                  <a:lnTo>
                    <a:pt x="2646306" y="2230570"/>
                  </a:lnTo>
                  <a:lnTo>
                    <a:pt x="2631693" y="2220717"/>
                  </a:lnTo>
                  <a:lnTo>
                    <a:pt x="2621843" y="2206103"/>
                  </a:lnTo>
                  <a:lnTo>
                    <a:pt x="2618232" y="2188210"/>
                  </a:lnTo>
                  <a:lnTo>
                    <a:pt x="2618232" y="2004314"/>
                  </a:lnTo>
                  <a:close/>
                </a:path>
              </a:pathLst>
            </a:custGeom>
            <a:ln w="2895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63068" y="187452"/>
              <a:ext cx="523240" cy="3096895"/>
            </a:xfrm>
            <a:custGeom>
              <a:avLst/>
              <a:gdLst/>
              <a:ahLst/>
              <a:cxnLst/>
              <a:rect l="l" t="t" r="r" b="b"/>
              <a:pathLst>
                <a:path w="523240" h="3096895">
                  <a:moveTo>
                    <a:pt x="522731" y="0"/>
                  </a:moveTo>
                  <a:lnTo>
                    <a:pt x="0" y="0"/>
                  </a:lnTo>
                  <a:lnTo>
                    <a:pt x="0" y="3096768"/>
                  </a:lnTo>
                  <a:lnTo>
                    <a:pt x="522731" y="3096768"/>
                  </a:lnTo>
                  <a:lnTo>
                    <a:pt x="522731" y="0"/>
                  </a:lnTo>
                  <a:close/>
                </a:path>
              </a:pathLst>
            </a:custGeom>
            <a:solidFill>
              <a:srgbClr val="FFCCFF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244239" y="312270"/>
            <a:ext cx="381000" cy="289496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990"/>
              </a:lnSpc>
            </a:pPr>
            <a:r>
              <a:rPr sz="2800" spc="5" dirty="0">
                <a:solidFill>
                  <a:srgbClr val="C00000"/>
                </a:solidFill>
                <a:latin typeface="Trebuchet MS"/>
                <a:cs typeface="Trebuchet MS"/>
              </a:rPr>
              <a:t>3. </a:t>
            </a:r>
            <a:r>
              <a:rPr sz="2800" spc="65" dirty="0">
                <a:solidFill>
                  <a:srgbClr val="000099"/>
                </a:solidFill>
                <a:latin typeface="Trebuchet MS"/>
                <a:cs typeface="Trebuchet MS"/>
              </a:rPr>
              <a:t>Basic</a:t>
            </a:r>
            <a:r>
              <a:rPr sz="2800" spc="-45" dirty="0">
                <a:solidFill>
                  <a:srgbClr val="000099"/>
                </a:solidFill>
                <a:latin typeface="Trebuchet MS"/>
                <a:cs typeface="Trebuchet MS"/>
              </a:rPr>
              <a:t> </a:t>
            </a:r>
            <a:r>
              <a:rPr sz="2800" spc="-10" dirty="0">
                <a:solidFill>
                  <a:srgbClr val="000099"/>
                </a:solidFill>
                <a:latin typeface="Trebuchet MS"/>
                <a:cs typeface="Trebuchet MS"/>
              </a:rPr>
              <a:t>Structure</a:t>
            </a:r>
            <a:endParaRPr sz="2800">
              <a:latin typeface="Trebuchet MS"/>
              <a:cs typeface="Trebuchet MS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110037" y="938593"/>
            <a:ext cx="4048125" cy="1640205"/>
            <a:chOff x="4110037" y="938593"/>
            <a:chExt cx="4048125" cy="1640205"/>
          </a:xfrm>
        </p:grpSpPr>
        <p:sp>
          <p:nvSpPr>
            <p:cNvPr id="21" name="object 21"/>
            <p:cNvSpPr/>
            <p:nvPr/>
          </p:nvSpPr>
          <p:spPr>
            <a:xfrm>
              <a:off x="4114800" y="943355"/>
              <a:ext cx="4038600" cy="1630680"/>
            </a:xfrm>
            <a:custGeom>
              <a:avLst/>
              <a:gdLst/>
              <a:ahLst/>
              <a:cxnLst/>
              <a:rect l="l" t="t" r="r" b="b"/>
              <a:pathLst>
                <a:path w="4038600" h="1630680">
                  <a:moveTo>
                    <a:pt x="4038600" y="0"/>
                  </a:moveTo>
                  <a:lnTo>
                    <a:pt x="0" y="0"/>
                  </a:lnTo>
                  <a:lnTo>
                    <a:pt x="0" y="1315212"/>
                  </a:lnTo>
                  <a:lnTo>
                    <a:pt x="0" y="1630680"/>
                  </a:lnTo>
                  <a:lnTo>
                    <a:pt x="4038600" y="1630680"/>
                  </a:lnTo>
                  <a:lnTo>
                    <a:pt x="4038600" y="1315212"/>
                  </a:lnTo>
                  <a:lnTo>
                    <a:pt x="4038600" y="0"/>
                  </a:lnTo>
                  <a:close/>
                </a:path>
              </a:pathLst>
            </a:custGeom>
            <a:solidFill>
              <a:srgbClr val="EDF4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114800" y="943355"/>
              <a:ext cx="4038600" cy="1630680"/>
            </a:xfrm>
            <a:custGeom>
              <a:avLst/>
              <a:gdLst/>
              <a:ahLst/>
              <a:cxnLst/>
              <a:rect l="l" t="t" r="r" b="b"/>
              <a:pathLst>
                <a:path w="4038600" h="1630680">
                  <a:moveTo>
                    <a:pt x="0" y="1630680"/>
                  </a:moveTo>
                  <a:lnTo>
                    <a:pt x="4038600" y="1630680"/>
                  </a:lnTo>
                  <a:lnTo>
                    <a:pt x="4038600" y="0"/>
                  </a:lnTo>
                  <a:lnTo>
                    <a:pt x="0" y="0"/>
                  </a:lnTo>
                  <a:lnTo>
                    <a:pt x="0" y="1630680"/>
                  </a:lnTo>
                  <a:close/>
                </a:path>
              </a:pathLst>
            </a:custGeom>
            <a:ln w="9143">
              <a:solidFill>
                <a:srgbClr val="DDEAE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4206875" y="953769"/>
            <a:ext cx="2210435" cy="665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solidFill>
                  <a:srgbClr val="6F2F9F"/>
                </a:solidFill>
                <a:latin typeface="Courier New"/>
                <a:cs typeface="Courier New"/>
              </a:rPr>
              <a:t>#include</a:t>
            </a:r>
            <a:r>
              <a:rPr sz="1600" b="1" spc="-40" dirty="0">
                <a:solidFill>
                  <a:srgbClr val="6F2F9F"/>
                </a:solidFill>
                <a:latin typeface="Courier New"/>
                <a:cs typeface="Courier New"/>
              </a:rPr>
              <a:t> </a:t>
            </a:r>
            <a:r>
              <a:rPr sz="1600" b="1" spc="-5" dirty="0">
                <a:solidFill>
                  <a:srgbClr val="006600"/>
                </a:solidFill>
                <a:latin typeface="Courier New"/>
                <a:cs typeface="Courier New"/>
              </a:rPr>
              <a:t>&lt;stdio.h&gt;</a:t>
            </a:r>
            <a:endParaRPr sz="16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sz="1600" b="1" spc="-5" dirty="0">
                <a:solidFill>
                  <a:srgbClr val="0000FF"/>
                </a:solidFill>
                <a:latin typeface="Courier New"/>
                <a:cs typeface="Courier New"/>
              </a:rPr>
              <a:t>int </a:t>
            </a:r>
            <a:r>
              <a:rPr sz="1600" b="1" spc="-5" dirty="0">
                <a:latin typeface="Courier New"/>
                <a:cs typeface="Courier New"/>
              </a:rPr>
              <a:t>main(</a:t>
            </a:r>
            <a:r>
              <a:rPr sz="1600" b="1" spc="-5" dirty="0">
                <a:solidFill>
                  <a:srgbClr val="0000FF"/>
                </a:solidFill>
                <a:latin typeface="Courier New"/>
                <a:cs typeface="Courier New"/>
              </a:rPr>
              <a:t>void</a:t>
            </a:r>
            <a:r>
              <a:rPr sz="1600" b="1" spc="-5" dirty="0">
                <a:latin typeface="Courier New"/>
                <a:cs typeface="Courier New"/>
              </a:rPr>
              <a:t>)</a:t>
            </a:r>
            <a:r>
              <a:rPr sz="1600" b="1" spc="-2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694554" y="1593545"/>
            <a:ext cx="3067685" cy="6661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Courier New"/>
                <a:cs typeface="Courier New"/>
              </a:rPr>
              <a:t>printf(</a:t>
            </a:r>
            <a:r>
              <a:rPr sz="1600" b="1" spc="-5" dirty="0">
                <a:solidFill>
                  <a:srgbClr val="006600"/>
                </a:solidFill>
                <a:latin typeface="Courier New"/>
                <a:cs typeface="Courier New"/>
              </a:rPr>
              <a:t>"Hello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5" dirty="0">
                <a:solidFill>
                  <a:srgbClr val="006600"/>
                </a:solidFill>
                <a:latin typeface="Courier New"/>
                <a:cs typeface="Courier New"/>
              </a:rPr>
              <a:t>World!</a:t>
            </a:r>
            <a:r>
              <a:rPr sz="1600" b="1" spc="-5" dirty="0">
                <a:solidFill>
                  <a:srgbClr val="FF0000"/>
                </a:solidFill>
                <a:latin typeface="Courier New"/>
                <a:cs typeface="Courier New"/>
              </a:rPr>
              <a:t>\n</a:t>
            </a:r>
            <a:r>
              <a:rPr sz="1600" b="1" spc="-5" dirty="0">
                <a:solidFill>
                  <a:srgbClr val="006600"/>
                </a:solidFill>
                <a:latin typeface="Courier New"/>
                <a:cs typeface="Courier New"/>
              </a:rPr>
              <a:t>"</a:t>
            </a:r>
            <a:r>
              <a:rPr sz="1600" b="1" spc="-5" dirty="0">
                <a:latin typeface="Courier New"/>
                <a:cs typeface="Courier New"/>
              </a:rPr>
              <a:t>);</a:t>
            </a:r>
            <a:endParaRPr sz="16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205"/>
              </a:spcBef>
            </a:pPr>
            <a:r>
              <a:rPr sz="1600" b="1" spc="-5" dirty="0">
                <a:solidFill>
                  <a:srgbClr val="0000FF"/>
                </a:solidFill>
                <a:latin typeface="Courier New"/>
                <a:cs typeface="Courier New"/>
              </a:rPr>
              <a:t>return</a:t>
            </a:r>
            <a:r>
              <a:rPr sz="1600" b="1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0</a:t>
            </a:r>
            <a:r>
              <a:rPr sz="1600" b="1" dirty="0">
                <a:latin typeface="Courier New"/>
                <a:cs typeface="Courier New"/>
              </a:rPr>
              <a:t>;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194175" y="2234311"/>
            <a:ext cx="1473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6927850" y="2252217"/>
            <a:ext cx="1509395" cy="393700"/>
            <a:chOff x="6927850" y="2252217"/>
            <a:chExt cx="1509395" cy="393700"/>
          </a:xfrm>
        </p:grpSpPr>
        <p:sp>
          <p:nvSpPr>
            <p:cNvPr id="27" name="object 27"/>
            <p:cNvSpPr/>
            <p:nvPr/>
          </p:nvSpPr>
          <p:spPr>
            <a:xfrm>
              <a:off x="6934200" y="2258567"/>
              <a:ext cx="1496695" cy="381000"/>
            </a:xfrm>
            <a:custGeom>
              <a:avLst/>
              <a:gdLst/>
              <a:ahLst/>
              <a:cxnLst/>
              <a:rect l="l" t="t" r="r" b="b"/>
              <a:pathLst>
                <a:path w="1496695" h="381000">
                  <a:moveTo>
                    <a:pt x="1496568" y="0"/>
                  </a:moveTo>
                  <a:lnTo>
                    <a:pt x="0" y="0"/>
                  </a:lnTo>
                  <a:lnTo>
                    <a:pt x="0" y="381000"/>
                  </a:lnTo>
                  <a:lnTo>
                    <a:pt x="1496568" y="381000"/>
                  </a:lnTo>
                  <a:lnTo>
                    <a:pt x="1496568" y="0"/>
                  </a:lnTo>
                  <a:close/>
                </a:path>
              </a:pathLst>
            </a:custGeom>
            <a:solidFill>
              <a:srgbClr val="B8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934200" y="2258567"/>
              <a:ext cx="1496695" cy="381000"/>
            </a:xfrm>
            <a:custGeom>
              <a:avLst/>
              <a:gdLst/>
              <a:ahLst/>
              <a:cxnLst/>
              <a:rect l="l" t="t" r="r" b="b"/>
              <a:pathLst>
                <a:path w="1496695" h="381000">
                  <a:moveTo>
                    <a:pt x="0" y="381000"/>
                  </a:moveTo>
                  <a:lnTo>
                    <a:pt x="1496568" y="381000"/>
                  </a:lnTo>
                  <a:lnTo>
                    <a:pt x="1496568" y="0"/>
                  </a:lnTo>
                  <a:lnTo>
                    <a:pt x="0" y="0"/>
                  </a:lnTo>
                  <a:lnTo>
                    <a:pt x="0" y="381000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6940295" y="2264664"/>
            <a:ext cx="1259840" cy="304800"/>
          </a:xfrm>
          <a:prstGeom prst="rect">
            <a:avLst/>
          </a:prstGeom>
          <a:solidFill>
            <a:srgbClr val="B8FFFF"/>
          </a:solidFill>
        </p:spPr>
        <p:txBody>
          <a:bodyPr vert="horz" wrap="square" lIns="0" tIns="33019" rIns="0" bIns="0" rtlCol="0">
            <a:spAutoFit/>
          </a:bodyPr>
          <a:lstStyle/>
          <a:p>
            <a:pPr marL="142875">
              <a:lnSpc>
                <a:spcPts val="2140"/>
              </a:lnSpc>
              <a:spcBef>
                <a:spcPts val="259"/>
              </a:spcBef>
            </a:pPr>
            <a:r>
              <a:rPr sz="1800" spc="-10" dirty="0">
                <a:latin typeface="Carlito"/>
                <a:cs typeface="Carlito"/>
              </a:rPr>
              <a:t>H</a:t>
            </a:r>
            <a:r>
              <a:rPr sz="1800" dirty="0">
                <a:latin typeface="Carlito"/>
                <a:cs typeface="Carlito"/>
              </a:rPr>
              <a:t>el</a:t>
            </a:r>
            <a:r>
              <a:rPr sz="1800" spc="-10" dirty="0">
                <a:latin typeface="Carlito"/>
                <a:cs typeface="Carlito"/>
              </a:rPr>
              <a:t>l</a:t>
            </a:r>
            <a:r>
              <a:rPr sz="1800" spc="-5" dirty="0">
                <a:latin typeface="Carlito"/>
                <a:cs typeface="Carlito"/>
              </a:rPr>
              <a:t>o</a:t>
            </a:r>
            <a:r>
              <a:rPr sz="1800" spc="-80" dirty="0">
                <a:latin typeface="Carlito"/>
                <a:cs typeface="Carlito"/>
              </a:rPr>
              <a:t>W</a:t>
            </a:r>
            <a:r>
              <a:rPr sz="1800" spc="-5" dirty="0">
                <a:latin typeface="Carlito"/>
                <a:cs typeface="Carlito"/>
              </a:rPr>
              <a:t>or</a:t>
            </a:r>
            <a:r>
              <a:rPr sz="1800" spc="-15" dirty="0">
                <a:latin typeface="Carlito"/>
                <a:cs typeface="Carlito"/>
              </a:rPr>
              <a:t>l</a:t>
            </a:r>
            <a:r>
              <a:rPr sz="1800" spc="-5" dirty="0">
                <a:latin typeface="Carlito"/>
                <a:cs typeface="Carlito"/>
              </a:rPr>
              <a:t>d.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157971" y="2264664"/>
            <a:ext cx="266700" cy="368935"/>
          </a:xfrm>
          <a:prstGeom prst="rect">
            <a:avLst/>
          </a:prstGeom>
          <a:solidFill>
            <a:srgbClr val="B8FFFF"/>
          </a:solidFill>
        </p:spPr>
        <p:txBody>
          <a:bodyPr vert="horz" wrap="square" lIns="0" tIns="33019" rIns="0" bIns="0" rtlCol="0">
            <a:spAutoFit/>
          </a:bodyPr>
          <a:lstStyle/>
          <a:p>
            <a:pPr marL="27940">
              <a:lnSpc>
                <a:spcPct val="100000"/>
              </a:lnSpc>
              <a:spcBef>
                <a:spcPts val="259"/>
              </a:spcBef>
            </a:pPr>
            <a:r>
              <a:rPr sz="1800" dirty="0">
                <a:latin typeface="Carlito"/>
                <a:cs typeface="Carlito"/>
              </a:rPr>
              <a:t>c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7374635" y="469391"/>
            <a:ext cx="947927" cy="94792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7721854" y="708405"/>
            <a:ext cx="2692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6451091" y="3700271"/>
            <a:ext cx="2464435" cy="1503045"/>
            <a:chOff x="6451091" y="3700271"/>
            <a:chExt cx="2464435" cy="1503045"/>
          </a:xfrm>
        </p:grpSpPr>
        <p:sp>
          <p:nvSpPr>
            <p:cNvPr id="34" name="object 34"/>
            <p:cNvSpPr/>
            <p:nvPr/>
          </p:nvSpPr>
          <p:spPr>
            <a:xfrm>
              <a:off x="6464045" y="3713225"/>
              <a:ext cx="2438400" cy="1477010"/>
            </a:xfrm>
            <a:custGeom>
              <a:avLst/>
              <a:gdLst/>
              <a:ahLst/>
              <a:cxnLst/>
              <a:rect l="l" t="t" r="r" b="b"/>
              <a:pathLst>
                <a:path w="2438400" h="1477010">
                  <a:moveTo>
                    <a:pt x="2438400" y="0"/>
                  </a:moveTo>
                  <a:lnTo>
                    <a:pt x="0" y="0"/>
                  </a:lnTo>
                  <a:lnTo>
                    <a:pt x="0" y="1476756"/>
                  </a:lnTo>
                  <a:lnTo>
                    <a:pt x="2438400" y="1476756"/>
                  </a:lnTo>
                  <a:lnTo>
                    <a:pt x="2438400" y="0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464045" y="3713225"/>
              <a:ext cx="2438400" cy="1477010"/>
            </a:xfrm>
            <a:custGeom>
              <a:avLst/>
              <a:gdLst/>
              <a:ahLst/>
              <a:cxnLst/>
              <a:rect l="l" t="t" r="r" b="b"/>
              <a:pathLst>
                <a:path w="2438400" h="1477010">
                  <a:moveTo>
                    <a:pt x="0" y="1476756"/>
                  </a:moveTo>
                  <a:lnTo>
                    <a:pt x="2438400" y="1476756"/>
                  </a:lnTo>
                  <a:lnTo>
                    <a:pt x="2438400" y="0"/>
                  </a:lnTo>
                  <a:lnTo>
                    <a:pt x="0" y="0"/>
                  </a:lnTo>
                  <a:lnTo>
                    <a:pt x="0" y="1476756"/>
                  </a:lnTo>
                  <a:close/>
                </a:path>
              </a:pathLst>
            </a:custGeom>
            <a:ln w="25908">
              <a:solidFill>
                <a:srgbClr val="4461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6542913" y="3740022"/>
            <a:ext cx="2247265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22885" algn="just">
              <a:lnSpc>
                <a:spcPct val="100000"/>
              </a:lnSpc>
              <a:spcBef>
                <a:spcPts val="100"/>
              </a:spcBef>
            </a:pPr>
            <a:r>
              <a:rPr sz="1800" i="1" spc="-10" dirty="0">
                <a:solidFill>
                  <a:srgbClr val="C00000"/>
                </a:solidFill>
                <a:latin typeface="Arial"/>
                <a:cs typeface="Arial"/>
              </a:rPr>
              <a:t>Beginners’</a:t>
            </a:r>
            <a:r>
              <a:rPr sz="1800" i="1" spc="-114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i="1" spc="-10" dirty="0">
                <a:solidFill>
                  <a:srgbClr val="C00000"/>
                </a:solidFill>
                <a:latin typeface="Arial"/>
                <a:cs typeface="Arial"/>
              </a:rPr>
              <a:t>common  </a:t>
            </a:r>
            <a:r>
              <a:rPr sz="1800" i="1" spc="-5" dirty="0">
                <a:solidFill>
                  <a:srgbClr val="C00000"/>
                </a:solidFill>
                <a:latin typeface="Arial"/>
                <a:cs typeface="Arial"/>
              </a:rPr>
              <a:t>mistake:</a:t>
            </a:r>
            <a:endParaRPr sz="1800">
              <a:latin typeface="Arial"/>
              <a:cs typeface="Arial"/>
            </a:endParaRPr>
          </a:p>
          <a:p>
            <a:pPr marL="12700" marR="5080" algn="just">
              <a:lnSpc>
                <a:spcPct val="100000"/>
              </a:lnSpc>
            </a:pPr>
            <a:r>
              <a:rPr sz="1800" spc="-5" dirty="0">
                <a:latin typeface="Arial"/>
                <a:cs typeface="Arial"/>
              </a:rPr>
              <a:t>Public class name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not  identical </a:t>
            </a:r>
            <a:r>
              <a:rPr sz="1800" dirty="0">
                <a:latin typeface="Arial"/>
                <a:cs typeface="Arial"/>
              </a:rPr>
              <a:t>to </a:t>
            </a:r>
            <a:r>
              <a:rPr sz="1800" spc="-10" dirty="0">
                <a:latin typeface="Arial"/>
                <a:cs typeface="Arial"/>
              </a:rPr>
              <a:t>program’s  </a:t>
            </a:r>
            <a:r>
              <a:rPr sz="1800" spc="-5" dirty="0">
                <a:latin typeface="Arial"/>
                <a:cs typeface="Arial"/>
              </a:rPr>
              <a:t>file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name.</a:t>
            </a:r>
            <a:endParaRPr sz="1800">
              <a:latin typeface="Arial"/>
              <a:cs typeface="Arial"/>
            </a:endParaRPr>
          </a:p>
        </p:txBody>
      </p:sp>
      <p:sp>
        <p:nvSpPr>
          <p:cNvPr id="37" name="object 3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89"/>
              </a:lnSpc>
              <a:tabLst>
                <a:tab pos="1996439" algn="l"/>
                <a:tab pos="8046720" algn="l"/>
              </a:tabLst>
            </a:pPr>
            <a:r>
              <a:rPr dirty="0"/>
              <a:t>[501043 Lecture 1: Intro</a:t>
            </a:r>
            <a:r>
              <a:rPr spc="-6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Java]	</a:t>
            </a:r>
            <a:r>
              <a:rPr u="heavy" dirty="0">
                <a:uFill>
                  <a:solidFill>
                    <a:srgbClr val="009999"/>
                  </a:solidFill>
                </a:uFill>
              </a:rPr>
              <a:t> 	</a:t>
            </a:r>
            <a:r>
              <a:rPr sz="1600" b="1" i="1" spc="-5" dirty="0">
                <a:solidFill>
                  <a:srgbClr val="C00000"/>
                </a:solidFill>
                <a:latin typeface="Arial"/>
                <a:cs typeface="Arial"/>
              </a:rPr>
              <a:t>16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31594" y="1011682"/>
            <a:ext cx="5350510" cy="34410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solidFill>
                  <a:srgbClr val="FFFFFF"/>
                </a:solidFill>
                <a:latin typeface="Arial"/>
                <a:cs typeface="Arial"/>
              </a:rPr>
              <a:t>When </a:t>
            </a:r>
            <a:r>
              <a:rPr sz="3200" dirty="0">
                <a:solidFill>
                  <a:srgbClr val="FFFFFF"/>
                </a:solidFill>
                <a:latin typeface="Arial"/>
                <a:cs typeface="Arial"/>
              </a:rPr>
              <a:t>you see </a:t>
            </a:r>
            <a:r>
              <a:rPr sz="3200" spc="-5" dirty="0">
                <a:solidFill>
                  <a:srgbClr val="FFFFFF"/>
                </a:solidFill>
                <a:latin typeface="Arial"/>
                <a:cs typeface="Arial"/>
              </a:rPr>
              <a:t>this </a:t>
            </a:r>
            <a:r>
              <a:rPr sz="3200" dirty="0">
                <a:solidFill>
                  <a:srgbClr val="FFFFFF"/>
                </a:solidFill>
                <a:latin typeface="Arial"/>
                <a:cs typeface="Arial"/>
              </a:rPr>
              <a:t>icon at</a:t>
            </a:r>
            <a:r>
              <a:rPr sz="3200" spc="-1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FFFFFF"/>
                </a:solidFill>
                <a:latin typeface="Arial"/>
                <a:cs typeface="Arial"/>
              </a:rPr>
              <a:t>the  top </a:t>
            </a:r>
            <a:r>
              <a:rPr sz="3200" spc="-5" dirty="0">
                <a:solidFill>
                  <a:srgbClr val="FFFFFF"/>
                </a:solidFill>
                <a:latin typeface="Arial"/>
                <a:cs typeface="Arial"/>
              </a:rPr>
              <a:t>right </a:t>
            </a:r>
            <a:r>
              <a:rPr sz="3200" dirty="0">
                <a:solidFill>
                  <a:srgbClr val="FFFFFF"/>
                </a:solidFill>
                <a:latin typeface="Arial"/>
                <a:cs typeface="Arial"/>
              </a:rPr>
              <a:t>corner of the </a:t>
            </a:r>
            <a:r>
              <a:rPr sz="3200" spc="-5" dirty="0">
                <a:solidFill>
                  <a:srgbClr val="FFFFFF"/>
                </a:solidFill>
                <a:latin typeface="Arial"/>
                <a:cs typeface="Arial"/>
              </a:rPr>
              <a:t>slide, </a:t>
            </a:r>
            <a:r>
              <a:rPr sz="3200" dirty="0">
                <a:solidFill>
                  <a:srgbClr val="FFFFFF"/>
                </a:solidFill>
                <a:latin typeface="Arial"/>
                <a:cs typeface="Arial"/>
              </a:rPr>
              <a:t>it  </a:t>
            </a:r>
            <a:r>
              <a:rPr sz="3200" spc="-5" dirty="0">
                <a:solidFill>
                  <a:srgbClr val="FFFFFF"/>
                </a:solidFill>
                <a:latin typeface="Arial"/>
                <a:cs typeface="Arial"/>
              </a:rPr>
              <a:t>means that </a:t>
            </a:r>
            <a:r>
              <a:rPr sz="3200" dirty="0">
                <a:solidFill>
                  <a:srgbClr val="FFFFFF"/>
                </a:solidFill>
                <a:latin typeface="Arial"/>
                <a:cs typeface="Arial"/>
              </a:rPr>
              <a:t>in </a:t>
            </a:r>
            <a:r>
              <a:rPr sz="3200" spc="-5" dirty="0">
                <a:solidFill>
                  <a:srgbClr val="FFFFFF"/>
                </a:solidFill>
                <a:latin typeface="Arial"/>
                <a:cs typeface="Arial"/>
              </a:rPr>
              <a:t>the interest </a:t>
            </a:r>
            <a:r>
              <a:rPr sz="3200" dirty="0">
                <a:solidFill>
                  <a:srgbClr val="FFFFFF"/>
                </a:solidFill>
                <a:latin typeface="Arial"/>
                <a:cs typeface="Arial"/>
              </a:rPr>
              <a:t>of  </a:t>
            </a:r>
            <a:r>
              <a:rPr sz="3200" spc="-5" dirty="0">
                <a:solidFill>
                  <a:srgbClr val="FFFFFF"/>
                </a:solidFill>
                <a:latin typeface="Arial"/>
                <a:cs typeface="Arial"/>
              </a:rPr>
              <a:t>time the </a:t>
            </a:r>
            <a:r>
              <a:rPr sz="3200" dirty="0">
                <a:solidFill>
                  <a:srgbClr val="FFFFFF"/>
                </a:solidFill>
                <a:latin typeface="Arial"/>
                <a:cs typeface="Arial"/>
              </a:rPr>
              <a:t>slide </a:t>
            </a:r>
            <a:r>
              <a:rPr sz="3200" spc="-5" dirty="0">
                <a:solidFill>
                  <a:srgbClr val="FFFFFF"/>
                </a:solidFill>
                <a:latin typeface="Arial"/>
                <a:cs typeface="Arial"/>
              </a:rPr>
              <a:t>might be  </a:t>
            </a:r>
            <a:r>
              <a:rPr sz="3200" dirty="0">
                <a:solidFill>
                  <a:srgbClr val="FFFFFF"/>
                </a:solidFill>
                <a:latin typeface="Arial"/>
                <a:cs typeface="Arial"/>
              </a:rPr>
              <a:t>skipped over in lecture </a:t>
            </a:r>
            <a:r>
              <a:rPr sz="3200" spc="-5" dirty="0">
                <a:solidFill>
                  <a:srgbClr val="FFFFFF"/>
                </a:solidFill>
                <a:latin typeface="Arial"/>
                <a:cs typeface="Arial"/>
              </a:rPr>
              <a:t>and  hence </a:t>
            </a:r>
            <a:r>
              <a:rPr sz="3200" dirty="0">
                <a:solidFill>
                  <a:srgbClr val="FFFFFF"/>
                </a:solidFill>
                <a:latin typeface="Arial"/>
                <a:cs typeface="Arial"/>
              </a:rPr>
              <a:t>is </a:t>
            </a:r>
            <a:r>
              <a:rPr sz="3200" spc="-5" dirty="0">
                <a:solidFill>
                  <a:srgbClr val="FFFFFF"/>
                </a:solidFill>
                <a:latin typeface="Arial"/>
                <a:cs typeface="Arial"/>
              </a:rPr>
              <a:t>intended </a:t>
            </a:r>
            <a:r>
              <a:rPr sz="3200" dirty="0">
                <a:solidFill>
                  <a:srgbClr val="FFFFFF"/>
                </a:solidFill>
                <a:latin typeface="Arial"/>
                <a:cs typeface="Arial"/>
              </a:rPr>
              <a:t>for your  own</a:t>
            </a:r>
            <a:r>
              <a:rPr sz="32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spc="-5" dirty="0">
                <a:solidFill>
                  <a:srgbClr val="FFFFFF"/>
                </a:solidFill>
                <a:latin typeface="Arial"/>
                <a:cs typeface="Arial"/>
              </a:rPr>
              <a:t>reading.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70051" y="6449696"/>
            <a:ext cx="8420735" cy="3448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89"/>
              </a:lnSpc>
              <a:tabLst>
                <a:tab pos="1996439" algn="l"/>
                <a:tab pos="8046720" algn="l"/>
              </a:tabLst>
            </a:pPr>
            <a:r>
              <a:rPr sz="800" dirty="0">
                <a:solidFill>
                  <a:srgbClr val="003399"/>
                </a:solidFill>
                <a:latin typeface="Arial Black"/>
                <a:cs typeface="Arial Black"/>
              </a:rPr>
              <a:t>[501043 Lecture 1: Intro</a:t>
            </a:r>
            <a:r>
              <a:rPr sz="800" spc="-65" dirty="0">
                <a:solidFill>
                  <a:srgbClr val="003399"/>
                </a:solidFill>
                <a:latin typeface="Arial Black"/>
                <a:cs typeface="Arial Black"/>
              </a:rPr>
              <a:t> </a:t>
            </a:r>
            <a:r>
              <a:rPr sz="800" dirty="0">
                <a:solidFill>
                  <a:srgbClr val="003399"/>
                </a:solidFill>
                <a:latin typeface="Arial Black"/>
                <a:cs typeface="Arial Black"/>
              </a:rPr>
              <a:t>to</a:t>
            </a:r>
            <a:r>
              <a:rPr sz="800" spc="-10" dirty="0">
                <a:solidFill>
                  <a:srgbClr val="003399"/>
                </a:solidFill>
                <a:latin typeface="Arial Black"/>
                <a:cs typeface="Arial Black"/>
              </a:rPr>
              <a:t> </a:t>
            </a:r>
            <a:r>
              <a:rPr sz="800" dirty="0">
                <a:solidFill>
                  <a:srgbClr val="003399"/>
                </a:solidFill>
                <a:latin typeface="Arial Black"/>
                <a:cs typeface="Arial Black"/>
              </a:rPr>
              <a:t>Java]	</a:t>
            </a:r>
            <a:r>
              <a:rPr sz="800" u="heavy" dirty="0">
                <a:solidFill>
                  <a:srgbClr val="003399"/>
                </a:solidFill>
                <a:uFill>
                  <a:solidFill>
                    <a:srgbClr val="009999"/>
                  </a:solidFill>
                </a:uFill>
                <a:latin typeface="Arial Black"/>
                <a:cs typeface="Arial Black"/>
              </a:rPr>
              <a:t> 	</a:t>
            </a:r>
            <a:r>
              <a:rPr sz="1600" b="1" i="1" spc="-5" dirty="0">
                <a:solidFill>
                  <a:srgbClr val="C00000"/>
                </a:solidFill>
                <a:latin typeface="Arial"/>
                <a:cs typeface="Arial"/>
              </a:rPr>
              <a:t>17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7244" y="248158"/>
            <a:ext cx="47478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Key </a:t>
            </a:r>
            <a:r>
              <a:rPr spc="-10" dirty="0"/>
              <a:t>Observations</a:t>
            </a:r>
            <a:r>
              <a:rPr spc="-25" dirty="0"/>
              <a:t> </a:t>
            </a:r>
            <a:r>
              <a:rPr spc="60" dirty="0"/>
              <a:t>(1/2)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051192"/>
            <a:ext cx="7824470" cy="492950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425"/>
              </a:spcBef>
              <a:buClr>
                <a:srgbClr val="009999"/>
              </a:buClr>
              <a:buSzPct val="64583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400" spc="-5" dirty="0">
                <a:latin typeface="Arial"/>
                <a:cs typeface="Arial"/>
              </a:rPr>
              <a:t>Library in Java is known as</a:t>
            </a:r>
            <a:r>
              <a:rPr sz="2400" spc="45" dirty="0"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660066"/>
                </a:solidFill>
                <a:latin typeface="Arial"/>
                <a:cs typeface="Arial"/>
              </a:rPr>
              <a:t>package</a:t>
            </a:r>
            <a:endParaRPr sz="2400">
              <a:latin typeface="Arial"/>
              <a:cs typeface="Arial"/>
            </a:endParaRPr>
          </a:p>
          <a:p>
            <a:pPr marL="683260" lvl="1" indent="-327025">
              <a:lnSpc>
                <a:spcPct val="100000"/>
              </a:lnSpc>
              <a:spcBef>
                <a:spcPts val="295"/>
              </a:spcBef>
              <a:buClr>
                <a:srgbClr val="4B6C4E"/>
              </a:buClr>
              <a:buSzPct val="59090"/>
              <a:buFont typeface="Wingdings"/>
              <a:buChar char=""/>
              <a:tabLst>
                <a:tab pos="683260" algn="l"/>
                <a:tab pos="683895" algn="l"/>
              </a:tabLst>
            </a:pPr>
            <a:r>
              <a:rPr sz="2200" spc="-5" dirty="0">
                <a:latin typeface="Arial"/>
                <a:cs typeface="Arial"/>
              </a:rPr>
              <a:t>Packages are organized </a:t>
            </a:r>
            <a:r>
              <a:rPr sz="2200" dirty="0">
                <a:latin typeface="Arial"/>
                <a:cs typeface="Arial"/>
              </a:rPr>
              <a:t>into </a:t>
            </a:r>
            <a:r>
              <a:rPr sz="2200" spc="-5" dirty="0">
                <a:latin typeface="Arial"/>
                <a:cs typeface="Arial"/>
              </a:rPr>
              <a:t>hierarchical</a:t>
            </a:r>
            <a:r>
              <a:rPr sz="2200" spc="35" dirty="0">
                <a:latin typeface="Arial"/>
                <a:cs typeface="Arial"/>
              </a:rPr>
              <a:t> </a:t>
            </a:r>
            <a:r>
              <a:rPr sz="2200" spc="-5" dirty="0">
                <a:latin typeface="Arial"/>
                <a:cs typeface="Arial"/>
              </a:rPr>
              <a:t>grouping</a:t>
            </a:r>
            <a:endParaRPr sz="2200">
              <a:latin typeface="Arial"/>
              <a:cs typeface="Arial"/>
            </a:endParaRPr>
          </a:p>
          <a:p>
            <a:pPr marL="683260" marR="424180" lvl="1" indent="-326390">
              <a:lnSpc>
                <a:spcPct val="100000"/>
              </a:lnSpc>
              <a:spcBef>
                <a:spcPts val="160"/>
              </a:spcBef>
              <a:buClr>
                <a:srgbClr val="4B6C4E"/>
              </a:buClr>
              <a:buSzPct val="59090"/>
              <a:buFont typeface="Wingdings"/>
              <a:buChar char=""/>
              <a:tabLst>
                <a:tab pos="683260" algn="l"/>
                <a:tab pos="683895" algn="l"/>
              </a:tabLst>
            </a:pPr>
            <a:r>
              <a:rPr sz="2200" spc="-5" dirty="0">
                <a:latin typeface="Arial"/>
                <a:cs typeface="Arial"/>
              </a:rPr>
              <a:t>E.g., the </a:t>
            </a:r>
            <a:r>
              <a:rPr sz="2200" dirty="0">
                <a:latin typeface="Arial"/>
                <a:cs typeface="Arial"/>
              </a:rPr>
              <a:t>“</a:t>
            </a:r>
            <a:r>
              <a:rPr sz="2200" b="1" dirty="0">
                <a:latin typeface="Courier New"/>
                <a:cs typeface="Courier New"/>
              </a:rPr>
              <a:t>System.out.println()</a:t>
            </a:r>
            <a:r>
              <a:rPr sz="2200" dirty="0">
                <a:latin typeface="Arial"/>
                <a:cs typeface="Arial"/>
              </a:rPr>
              <a:t>” </a:t>
            </a:r>
            <a:r>
              <a:rPr sz="2200" spc="-5" dirty="0">
                <a:latin typeface="Arial"/>
                <a:cs typeface="Arial"/>
              </a:rPr>
              <a:t>is defined in the  “</a:t>
            </a:r>
            <a:r>
              <a:rPr sz="2200" b="1" spc="-5" dirty="0">
                <a:latin typeface="Courier New"/>
                <a:cs typeface="Courier New"/>
              </a:rPr>
              <a:t>java.lang.System</a:t>
            </a:r>
            <a:r>
              <a:rPr sz="2200" spc="-5" dirty="0">
                <a:latin typeface="Arial"/>
                <a:cs typeface="Arial"/>
              </a:rPr>
              <a:t>”</a:t>
            </a:r>
            <a:endParaRPr sz="2200">
              <a:latin typeface="Arial"/>
              <a:cs typeface="Arial"/>
            </a:endParaRPr>
          </a:p>
          <a:p>
            <a:pPr marL="351790" marR="114300" lvl="2" indent="-351790" algn="r">
              <a:lnSpc>
                <a:spcPct val="100000"/>
              </a:lnSpc>
              <a:spcBef>
                <a:spcPts val="300"/>
              </a:spcBef>
              <a:buClr>
                <a:srgbClr val="009999"/>
              </a:buClr>
              <a:buSzPct val="63636"/>
              <a:buFont typeface="Wingdings"/>
              <a:buChar char=""/>
              <a:tabLst>
                <a:tab pos="351790" algn="l"/>
                <a:tab pos="352425" algn="l"/>
              </a:tabLst>
            </a:pPr>
            <a:r>
              <a:rPr sz="2200" spc="-5" dirty="0">
                <a:latin typeface="Arial"/>
                <a:cs typeface="Arial"/>
              </a:rPr>
              <a:t>i.e. </a:t>
            </a:r>
            <a:r>
              <a:rPr sz="2200" dirty="0">
                <a:latin typeface="Arial"/>
                <a:cs typeface="Arial"/>
              </a:rPr>
              <a:t>“</a:t>
            </a:r>
            <a:r>
              <a:rPr sz="2200" b="1" dirty="0">
                <a:latin typeface="Courier New"/>
                <a:cs typeface="Courier New"/>
              </a:rPr>
              <a:t>lang</a:t>
            </a:r>
            <a:r>
              <a:rPr sz="2200" dirty="0">
                <a:latin typeface="Arial"/>
                <a:cs typeface="Arial"/>
              </a:rPr>
              <a:t>” </a:t>
            </a:r>
            <a:r>
              <a:rPr sz="2200" spc="-5" dirty="0">
                <a:latin typeface="Arial"/>
                <a:cs typeface="Arial"/>
              </a:rPr>
              <a:t>(language) is a </a:t>
            </a:r>
            <a:r>
              <a:rPr sz="2200" dirty="0">
                <a:latin typeface="Arial"/>
                <a:cs typeface="Arial"/>
              </a:rPr>
              <a:t>package </a:t>
            </a:r>
            <a:r>
              <a:rPr sz="2200" spc="-5" dirty="0">
                <a:latin typeface="Arial"/>
                <a:cs typeface="Arial"/>
              </a:rPr>
              <a:t>under “</a:t>
            </a:r>
            <a:r>
              <a:rPr sz="2200" b="1" spc="-5" dirty="0">
                <a:latin typeface="Courier New"/>
                <a:cs typeface="Courier New"/>
              </a:rPr>
              <a:t>java</a:t>
            </a:r>
            <a:r>
              <a:rPr sz="2200" spc="-5" dirty="0">
                <a:latin typeface="Arial"/>
                <a:cs typeface="Arial"/>
              </a:rPr>
              <a:t>”</a:t>
            </a:r>
            <a:r>
              <a:rPr sz="2200" spc="90" dirty="0">
                <a:latin typeface="Arial"/>
                <a:cs typeface="Arial"/>
              </a:rPr>
              <a:t> </a:t>
            </a:r>
            <a:r>
              <a:rPr sz="2200" spc="-5" dirty="0">
                <a:latin typeface="Arial"/>
                <a:cs typeface="Arial"/>
              </a:rPr>
              <a:t>(the</a:t>
            </a:r>
            <a:endParaRPr sz="2200">
              <a:latin typeface="Arial"/>
              <a:cs typeface="Arial"/>
            </a:endParaRPr>
          </a:p>
          <a:p>
            <a:pPr marR="154940" algn="r">
              <a:lnSpc>
                <a:spcPct val="100000"/>
              </a:lnSpc>
            </a:pPr>
            <a:r>
              <a:rPr sz="2200" spc="-5" dirty="0">
                <a:latin typeface="Arial"/>
                <a:cs typeface="Arial"/>
              </a:rPr>
              <a:t>main category) </a:t>
            </a:r>
            <a:r>
              <a:rPr sz="2200" spc="-10" dirty="0">
                <a:latin typeface="Arial"/>
                <a:cs typeface="Arial"/>
              </a:rPr>
              <a:t>and </a:t>
            </a:r>
            <a:r>
              <a:rPr sz="2200" spc="-5" dirty="0">
                <a:latin typeface="Arial"/>
                <a:cs typeface="Arial"/>
              </a:rPr>
              <a:t>“</a:t>
            </a:r>
            <a:r>
              <a:rPr sz="2200" b="1" spc="-5" dirty="0">
                <a:latin typeface="Courier New"/>
                <a:cs typeface="Courier New"/>
              </a:rPr>
              <a:t>System</a:t>
            </a:r>
            <a:r>
              <a:rPr sz="2200" spc="-5" dirty="0">
                <a:latin typeface="Arial"/>
                <a:cs typeface="Arial"/>
              </a:rPr>
              <a:t>” is a class under</a:t>
            </a:r>
            <a:r>
              <a:rPr sz="2200" spc="150" dirty="0">
                <a:latin typeface="Arial"/>
                <a:cs typeface="Arial"/>
              </a:rPr>
              <a:t> </a:t>
            </a:r>
            <a:r>
              <a:rPr sz="2200" spc="-5" dirty="0">
                <a:latin typeface="Arial"/>
                <a:cs typeface="Arial"/>
              </a:rPr>
              <a:t>“</a:t>
            </a:r>
            <a:r>
              <a:rPr sz="2200" b="1" spc="-5" dirty="0">
                <a:latin typeface="Courier New"/>
                <a:cs typeface="Courier New"/>
              </a:rPr>
              <a:t>lang</a:t>
            </a:r>
            <a:r>
              <a:rPr sz="2200" spc="-5" dirty="0">
                <a:latin typeface="Arial"/>
                <a:cs typeface="Arial"/>
              </a:rPr>
              <a:t>”</a:t>
            </a:r>
            <a:endParaRPr sz="2200">
              <a:latin typeface="Arial"/>
              <a:cs typeface="Arial"/>
            </a:endParaRPr>
          </a:p>
          <a:p>
            <a:pPr marL="355600" marR="375920" indent="-343535">
              <a:lnSpc>
                <a:spcPct val="100000"/>
              </a:lnSpc>
              <a:spcBef>
                <a:spcPts val="750"/>
              </a:spcBef>
              <a:buClr>
                <a:srgbClr val="009999"/>
              </a:buClr>
              <a:buSzPct val="64583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400" dirty="0">
                <a:latin typeface="Arial"/>
                <a:cs typeface="Arial"/>
              </a:rPr>
              <a:t>To </a:t>
            </a:r>
            <a:r>
              <a:rPr sz="2400" spc="-5" dirty="0">
                <a:latin typeface="Arial"/>
                <a:cs typeface="Arial"/>
              </a:rPr>
              <a:t>use a predefined library, the appropriate package  should </a:t>
            </a:r>
            <a:r>
              <a:rPr sz="2400" dirty="0">
                <a:latin typeface="Arial"/>
                <a:cs typeface="Arial"/>
              </a:rPr>
              <a:t>be</a:t>
            </a:r>
            <a:r>
              <a:rPr sz="2400" spc="2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imported</a:t>
            </a:r>
            <a:r>
              <a:rPr sz="2400" dirty="0">
                <a:latin typeface="Arial"/>
                <a:cs typeface="Arial"/>
              </a:rPr>
              <a:t>:</a:t>
            </a:r>
            <a:endParaRPr sz="2400">
              <a:latin typeface="Arial"/>
              <a:cs typeface="Arial"/>
            </a:endParaRPr>
          </a:p>
          <a:p>
            <a:pPr marL="683260" lvl="1" indent="-327025">
              <a:lnSpc>
                <a:spcPct val="100000"/>
              </a:lnSpc>
              <a:spcBef>
                <a:spcPts val="155"/>
              </a:spcBef>
              <a:buClr>
                <a:srgbClr val="4B6C4E"/>
              </a:buClr>
              <a:buSzPct val="59090"/>
              <a:buFont typeface="Wingdings"/>
              <a:buChar char=""/>
              <a:tabLst>
                <a:tab pos="683260" algn="l"/>
                <a:tab pos="683895" algn="l"/>
                <a:tab pos="2018030" algn="l"/>
              </a:tabLst>
            </a:pPr>
            <a:r>
              <a:rPr sz="2200" spc="-5" dirty="0">
                <a:latin typeface="Arial"/>
                <a:cs typeface="Arial"/>
              </a:rPr>
              <a:t>Using</a:t>
            </a:r>
            <a:r>
              <a:rPr sz="2200" dirty="0">
                <a:latin typeface="Arial"/>
                <a:cs typeface="Arial"/>
              </a:rPr>
              <a:t> </a:t>
            </a:r>
            <a:r>
              <a:rPr sz="2200" spc="-5" dirty="0">
                <a:latin typeface="Arial"/>
                <a:cs typeface="Arial"/>
              </a:rPr>
              <a:t>the	“</a:t>
            </a:r>
            <a:r>
              <a:rPr sz="2200" b="1" spc="-5" dirty="0">
                <a:solidFill>
                  <a:srgbClr val="660066"/>
                </a:solidFill>
                <a:latin typeface="Courier New"/>
                <a:cs typeface="Courier New"/>
              </a:rPr>
              <a:t>import </a:t>
            </a:r>
            <a:r>
              <a:rPr sz="2200" b="1" spc="-5" dirty="0">
                <a:solidFill>
                  <a:srgbClr val="006FC0"/>
                </a:solidFill>
                <a:latin typeface="Courier New"/>
                <a:cs typeface="Courier New"/>
              </a:rPr>
              <a:t>XXXXXX</a:t>
            </a:r>
            <a:r>
              <a:rPr sz="2200" spc="-5" dirty="0">
                <a:latin typeface="Arial"/>
                <a:cs typeface="Arial"/>
              </a:rPr>
              <a:t>;”</a:t>
            </a:r>
            <a:r>
              <a:rPr sz="2200" spc="80" dirty="0">
                <a:latin typeface="Arial"/>
                <a:cs typeface="Arial"/>
              </a:rPr>
              <a:t> </a:t>
            </a:r>
            <a:r>
              <a:rPr sz="2200" spc="-5" dirty="0">
                <a:latin typeface="Arial"/>
                <a:cs typeface="Arial"/>
              </a:rPr>
              <a:t>statement</a:t>
            </a:r>
            <a:endParaRPr sz="2200">
              <a:latin typeface="Arial"/>
              <a:cs typeface="Arial"/>
            </a:endParaRPr>
          </a:p>
          <a:p>
            <a:pPr marL="683260" marR="403225" lvl="1" indent="-326390">
              <a:lnSpc>
                <a:spcPct val="105500"/>
              </a:lnSpc>
              <a:spcBef>
                <a:spcPts val="155"/>
              </a:spcBef>
              <a:buClr>
                <a:srgbClr val="4B6C4E"/>
              </a:buClr>
              <a:buSzPct val="59090"/>
              <a:buFont typeface="Wingdings"/>
              <a:buChar char=""/>
              <a:tabLst>
                <a:tab pos="683260" algn="l"/>
                <a:tab pos="683895" algn="l"/>
              </a:tabLst>
            </a:pPr>
            <a:r>
              <a:rPr sz="2200" spc="-5" dirty="0">
                <a:latin typeface="Arial"/>
                <a:cs typeface="Arial"/>
              </a:rPr>
              <a:t>All packages under a group can be </a:t>
            </a:r>
            <a:r>
              <a:rPr sz="2200" spc="-10" dirty="0">
                <a:latin typeface="Arial"/>
                <a:cs typeface="Arial"/>
              </a:rPr>
              <a:t>imported with </a:t>
            </a:r>
            <a:r>
              <a:rPr sz="2200" spc="-5" dirty="0">
                <a:latin typeface="Arial"/>
                <a:cs typeface="Arial"/>
              </a:rPr>
              <a:t>a </a:t>
            </a:r>
            <a:r>
              <a:rPr sz="2200" spc="15" dirty="0">
                <a:latin typeface="Arial"/>
                <a:cs typeface="Arial"/>
              </a:rPr>
              <a:t>“</a:t>
            </a:r>
            <a:r>
              <a:rPr sz="2200" b="1" spc="15" dirty="0">
                <a:latin typeface="Courier New"/>
                <a:cs typeface="Courier New"/>
              </a:rPr>
              <a:t>*</a:t>
            </a:r>
            <a:r>
              <a:rPr sz="2200" spc="15" dirty="0">
                <a:latin typeface="Arial"/>
                <a:cs typeface="Arial"/>
              </a:rPr>
              <a:t>”  </a:t>
            </a:r>
            <a:r>
              <a:rPr sz="2200" spc="-5" dirty="0">
                <a:latin typeface="Arial"/>
                <a:cs typeface="Arial"/>
              </a:rPr>
              <a:t>(the wildcard</a:t>
            </a:r>
            <a:r>
              <a:rPr sz="2200" spc="15" dirty="0">
                <a:latin typeface="Arial"/>
                <a:cs typeface="Arial"/>
              </a:rPr>
              <a:t> </a:t>
            </a:r>
            <a:r>
              <a:rPr sz="2200" spc="-5" dirty="0">
                <a:latin typeface="Arial"/>
                <a:cs typeface="Arial"/>
              </a:rPr>
              <a:t>character)</a:t>
            </a:r>
            <a:endParaRPr sz="2200">
              <a:latin typeface="Arial"/>
              <a:cs typeface="Arial"/>
            </a:endParaRPr>
          </a:p>
          <a:p>
            <a:pPr marL="355600" indent="-343535">
              <a:lnSpc>
                <a:spcPct val="100000"/>
              </a:lnSpc>
              <a:spcBef>
                <a:spcPts val="434"/>
              </a:spcBef>
              <a:buClr>
                <a:srgbClr val="009999"/>
              </a:buClr>
              <a:buSzPct val="64583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400" spc="-5" dirty="0">
                <a:latin typeface="Arial"/>
                <a:cs typeface="Arial"/>
              </a:rPr>
              <a:t>Packages under “</a:t>
            </a:r>
            <a:r>
              <a:rPr sz="2400" b="1" spc="-5" dirty="0">
                <a:latin typeface="Courier New"/>
                <a:cs typeface="Courier New"/>
              </a:rPr>
              <a:t>java.lang</a:t>
            </a:r>
            <a:r>
              <a:rPr sz="2400" spc="-5" dirty="0">
                <a:latin typeface="Arial"/>
                <a:cs typeface="Arial"/>
              </a:rPr>
              <a:t>” are imported </a:t>
            </a:r>
            <a:r>
              <a:rPr sz="2400" b="1" dirty="0">
                <a:latin typeface="Arial"/>
                <a:cs typeface="Arial"/>
              </a:rPr>
              <a:t>by</a:t>
            </a:r>
            <a:r>
              <a:rPr sz="2400" b="1" spc="25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default</a:t>
            </a:r>
            <a:endParaRPr sz="2400">
              <a:latin typeface="Arial"/>
              <a:cs typeface="Arial"/>
            </a:endParaRPr>
          </a:p>
          <a:p>
            <a:pPr marL="683260" lvl="1" indent="-327025">
              <a:lnSpc>
                <a:spcPct val="100000"/>
              </a:lnSpc>
              <a:spcBef>
                <a:spcPts val="465"/>
              </a:spcBef>
              <a:buClr>
                <a:srgbClr val="4B6C4E"/>
              </a:buClr>
              <a:buSzPct val="59090"/>
              <a:buFont typeface="Wingdings"/>
              <a:buChar char=""/>
              <a:tabLst>
                <a:tab pos="683260" algn="l"/>
                <a:tab pos="683895" algn="l"/>
              </a:tabLst>
            </a:pPr>
            <a:r>
              <a:rPr sz="2200" spc="-5" dirty="0">
                <a:latin typeface="Arial"/>
                <a:cs typeface="Arial"/>
              </a:rPr>
              <a:t>Hence, the </a:t>
            </a:r>
            <a:r>
              <a:rPr sz="2200" spc="-5" dirty="0">
                <a:solidFill>
                  <a:srgbClr val="660066"/>
                </a:solidFill>
                <a:latin typeface="Arial"/>
                <a:cs typeface="Arial"/>
              </a:rPr>
              <a:t>import </a:t>
            </a:r>
            <a:r>
              <a:rPr sz="2200" spc="-5" dirty="0">
                <a:latin typeface="Arial"/>
                <a:cs typeface="Arial"/>
              </a:rPr>
              <a:t>statement in this example is</a:t>
            </a:r>
            <a:r>
              <a:rPr sz="2200" spc="125" dirty="0">
                <a:latin typeface="Arial"/>
                <a:cs typeface="Arial"/>
              </a:rPr>
              <a:t> </a:t>
            </a:r>
            <a:r>
              <a:rPr sz="2200" spc="-5" dirty="0">
                <a:latin typeface="Arial"/>
                <a:cs typeface="Arial"/>
              </a:rPr>
              <a:t>optional</a:t>
            </a:r>
            <a:endParaRPr sz="2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3068" y="187452"/>
            <a:ext cx="523240" cy="3096895"/>
          </a:xfrm>
          <a:custGeom>
            <a:avLst/>
            <a:gdLst/>
            <a:ahLst/>
            <a:cxnLst/>
            <a:rect l="l" t="t" r="r" b="b"/>
            <a:pathLst>
              <a:path w="523240" h="3096895">
                <a:moveTo>
                  <a:pt x="522731" y="0"/>
                </a:moveTo>
                <a:lnTo>
                  <a:pt x="0" y="0"/>
                </a:lnTo>
                <a:lnTo>
                  <a:pt x="0" y="3096768"/>
                </a:lnTo>
                <a:lnTo>
                  <a:pt x="522731" y="3096768"/>
                </a:lnTo>
                <a:lnTo>
                  <a:pt x="522731" y="0"/>
                </a:lnTo>
                <a:close/>
              </a:path>
            </a:pathLst>
          </a:custGeom>
          <a:solidFill>
            <a:srgbClr val="FFCCFF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44239" y="312270"/>
            <a:ext cx="381000" cy="289496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990"/>
              </a:lnSpc>
            </a:pPr>
            <a:r>
              <a:rPr sz="2800" spc="5" dirty="0">
                <a:solidFill>
                  <a:srgbClr val="C00000"/>
                </a:solidFill>
                <a:latin typeface="Trebuchet MS"/>
                <a:cs typeface="Trebuchet MS"/>
              </a:rPr>
              <a:t>3. </a:t>
            </a:r>
            <a:r>
              <a:rPr sz="2800" spc="65" dirty="0">
                <a:solidFill>
                  <a:srgbClr val="000099"/>
                </a:solidFill>
                <a:latin typeface="Trebuchet MS"/>
                <a:cs typeface="Trebuchet MS"/>
              </a:rPr>
              <a:t>Basic</a:t>
            </a:r>
            <a:r>
              <a:rPr sz="2800" spc="-45" dirty="0">
                <a:solidFill>
                  <a:srgbClr val="000099"/>
                </a:solidFill>
                <a:latin typeface="Trebuchet MS"/>
                <a:cs typeface="Trebuchet MS"/>
              </a:rPr>
              <a:t> </a:t>
            </a:r>
            <a:r>
              <a:rPr sz="2800" spc="-10" dirty="0">
                <a:solidFill>
                  <a:srgbClr val="000099"/>
                </a:solidFill>
                <a:latin typeface="Trebuchet MS"/>
                <a:cs typeface="Trebuchet MS"/>
              </a:rPr>
              <a:t>Structure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173211" y="155447"/>
            <a:ext cx="944879" cy="9875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70051" y="6449696"/>
            <a:ext cx="8420735" cy="3448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89"/>
              </a:lnSpc>
              <a:tabLst>
                <a:tab pos="1996439" algn="l"/>
                <a:tab pos="8046720" algn="l"/>
              </a:tabLst>
            </a:pPr>
            <a:r>
              <a:rPr sz="800" dirty="0">
                <a:solidFill>
                  <a:srgbClr val="003399"/>
                </a:solidFill>
                <a:latin typeface="Arial Black"/>
                <a:cs typeface="Arial Black"/>
              </a:rPr>
              <a:t>[501043 Lecture 1: Intro</a:t>
            </a:r>
            <a:r>
              <a:rPr sz="800" spc="-65" dirty="0">
                <a:solidFill>
                  <a:srgbClr val="003399"/>
                </a:solidFill>
                <a:latin typeface="Arial Black"/>
                <a:cs typeface="Arial Black"/>
              </a:rPr>
              <a:t> </a:t>
            </a:r>
            <a:r>
              <a:rPr sz="800" dirty="0">
                <a:solidFill>
                  <a:srgbClr val="003399"/>
                </a:solidFill>
                <a:latin typeface="Arial Black"/>
                <a:cs typeface="Arial Black"/>
              </a:rPr>
              <a:t>to</a:t>
            </a:r>
            <a:r>
              <a:rPr sz="800" spc="-10" dirty="0">
                <a:solidFill>
                  <a:srgbClr val="003399"/>
                </a:solidFill>
                <a:latin typeface="Arial Black"/>
                <a:cs typeface="Arial Black"/>
              </a:rPr>
              <a:t> </a:t>
            </a:r>
            <a:r>
              <a:rPr sz="800" dirty="0">
                <a:solidFill>
                  <a:srgbClr val="003399"/>
                </a:solidFill>
                <a:latin typeface="Arial Black"/>
                <a:cs typeface="Arial Black"/>
              </a:rPr>
              <a:t>Java]	</a:t>
            </a:r>
            <a:r>
              <a:rPr sz="800" u="heavy" dirty="0">
                <a:solidFill>
                  <a:srgbClr val="003399"/>
                </a:solidFill>
                <a:uFill>
                  <a:solidFill>
                    <a:srgbClr val="009999"/>
                  </a:solidFill>
                </a:uFill>
                <a:latin typeface="Arial Black"/>
                <a:cs typeface="Arial Black"/>
              </a:rPr>
              <a:t> 	</a:t>
            </a:r>
            <a:r>
              <a:rPr sz="1600" b="1" i="1" spc="-5" dirty="0">
                <a:solidFill>
                  <a:srgbClr val="C00000"/>
                </a:solidFill>
                <a:latin typeface="Arial"/>
                <a:cs typeface="Arial"/>
              </a:rPr>
              <a:t>18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7244" y="248158"/>
            <a:ext cx="47478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Key </a:t>
            </a:r>
            <a:r>
              <a:rPr spc="-10" dirty="0"/>
              <a:t>Observations</a:t>
            </a:r>
            <a:r>
              <a:rPr spc="-25" dirty="0"/>
              <a:t> </a:t>
            </a:r>
            <a:r>
              <a:rPr spc="60" dirty="0"/>
              <a:t>(2/2)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090930"/>
            <a:ext cx="7813675" cy="5104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115570" indent="-343535">
              <a:lnSpc>
                <a:spcPct val="100000"/>
              </a:lnSpc>
              <a:spcBef>
                <a:spcPts val="105"/>
              </a:spcBef>
              <a:buClr>
                <a:srgbClr val="009999"/>
              </a:buClr>
              <a:buSzPct val="65384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600" dirty="0">
                <a:latin typeface="Arial"/>
                <a:cs typeface="Arial"/>
              </a:rPr>
              <a:t>The main() method (function) is now enclosed in</a:t>
            </a:r>
            <a:r>
              <a:rPr sz="2600" spc="-5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a  “</a:t>
            </a:r>
            <a:r>
              <a:rPr sz="2600" b="1" dirty="0">
                <a:solidFill>
                  <a:srgbClr val="660066"/>
                </a:solidFill>
                <a:latin typeface="Arial"/>
                <a:cs typeface="Arial"/>
              </a:rPr>
              <a:t>class</a:t>
            </a:r>
            <a:r>
              <a:rPr sz="2600" dirty="0">
                <a:latin typeface="Arial"/>
                <a:cs typeface="Arial"/>
              </a:rPr>
              <a:t>”</a:t>
            </a:r>
            <a:endParaRPr sz="2600">
              <a:latin typeface="Arial"/>
              <a:cs typeface="Arial"/>
            </a:endParaRPr>
          </a:p>
          <a:p>
            <a:pPr marL="683260" lvl="1" indent="-327025">
              <a:lnSpc>
                <a:spcPct val="100000"/>
              </a:lnSpc>
              <a:spcBef>
                <a:spcPts val="605"/>
              </a:spcBef>
              <a:buClr>
                <a:srgbClr val="4B6C4E"/>
              </a:buClr>
              <a:buSzPct val="59090"/>
              <a:buFont typeface="Wingdings"/>
              <a:buChar char=""/>
              <a:tabLst>
                <a:tab pos="683260" algn="l"/>
                <a:tab pos="683895" algn="l"/>
              </a:tabLst>
            </a:pPr>
            <a:r>
              <a:rPr sz="2200" spc="-5" dirty="0">
                <a:latin typeface="Arial"/>
                <a:cs typeface="Arial"/>
              </a:rPr>
              <a:t>More about </a:t>
            </a:r>
            <a:r>
              <a:rPr sz="2200" dirty="0">
                <a:latin typeface="Arial"/>
                <a:cs typeface="Arial"/>
              </a:rPr>
              <a:t>class </a:t>
            </a:r>
            <a:r>
              <a:rPr sz="2200" spc="-5" dirty="0">
                <a:latin typeface="Arial"/>
                <a:cs typeface="Arial"/>
              </a:rPr>
              <a:t>will be explained in lecture</a:t>
            </a:r>
            <a:r>
              <a:rPr sz="2200" spc="60" dirty="0">
                <a:latin typeface="Arial"/>
                <a:cs typeface="Arial"/>
              </a:rPr>
              <a:t> </a:t>
            </a:r>
            <a:r>
              <a:rPr sz="2200" spc="-5" dirty="0">
                <a:latin typeface="Arial"/>
                <a:cs typeface="Arial"/>
              </a:rPr>
              <a:t>2</a:t>
            </a:r>
            <a:endParaRPr sz="2200">
              <a:latin typeface="Arial"/>
              <a:cs typeface="Arial"/>
            </a:endParaRPr>
          </a:p>
          <a:p>
            <a:pPr marL="683260" lvl="1" indent="-327025">
              <a:lnSpc>
                <a:spcPct val="100000"/>
              </a:lnSpc>
              <a:spcBef>
                <a:spcPts val="600"/>
              </a:spcBef>
              <a:buClr>
                <a:srgbClr val="4B6C4E"/>
              </a:buClr>
              <a:buSzPct val="59090"/>
              <a:buFont typeface="Wingdings"/>
              <a:buChar char=""/>
              <a:tabLst>
                <a:tab pos="683260" algn="l"/>
                <a:tab pos="683895" algn="l"/>
              </a:tabLst>
            </a:pPr>
            <a:r>
              <a:rPr sz="2200" spc="-5" dirty="0">
                <a:latin typeface="Arial"/>
                <a:cs typeface="Arial"/>
              </a:rPr>
              <a:t>There should be only </a:t>
            </a:r>
            <a:r>
              <a:rPr sz="2200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one</a:t>
            </a:r>
            <a:r>
              <a:rPr sz="2200" spc="-5" dirty="0">
                <a:latin typeface="Arial"/>
                <a:cs typeface="Arial"/>
              </a:rPr>
              <a:t> </a:t>
            </a:r>
            <a:r>
              <a:rPr sz="2200" b="1" spc="-5" dirty="0">
                <a:latin typeface="Arial"/>
                <a:cs typeface="Arial"/>
              </a:rPr>
              <a:t>main() </a:t>
            </a:r>
            <a:r>
              <a:rPr sz="2200" spc="-5" dirty="0">
                <a:latin typeface="Arial"/>
                <a:cs typeface="Arial"/>
              </a:rPr>
              <a:t>method in a</a:t>
            </a:r>
            <a:r>
              <a:rPr sz="2200" spc="120" dirty="0">
                <a:latin typeface="Arial"/>
                <a:cs typeface="Arial"/>
              </a:rPr>
              <a:t> </a:t>
            </a:r>
            <a:r>
              <a:rPr sz="2200" spc="-5" dirty="0">
                <a:latin typeface="Arial"/>
                <a:cs typeface="Arial"/>
              </a:rPr>
              <a:t>program,</a:t>
            </a:r>
            <a:endParaRPr sz="2200">
              <a:latin typeface="Arial"/>
              <a:cs typeface="Arial"/>
            </a:endParaRPr>
          </a:p>
          <a:p>
            <a:pPr marL="683260">
              <a:lnSpc>
                <a:spcPct val="100000"/>
              </a:lnSpc>
            </a:pPr>
            <a:r>
              <a:rPr sz="2200" spc="-5" dirty="0">
                <a:latin typeface="Arial"/>
                <a:cs typeface="Arial"/>
              </a:rPr>
              <a:t>which serves as the execution starting</a:t>
            </a:r>
            <a:r>
              <a:rPr sz="2200" spc="35" dirty="0">
                <a:latin typeface="Arial"/>
                <a:cs typeface="Arial"/>
              </a:rPr>
              <a:t> </a:t>
            </a:r>
            <a:r>
              <a:rPr sz="2200" spc="-5" dirty="0">
                <a:latin typeface="Arial"/>
                <a:cs typeface="Arial"/>
              </a:rPr>
              <a:t>point</a:t>
            </a:r>
            <a:endParaRPr sz="2200">
              <a:latin typeface="Arial"/>
              <a:cs typeface="Arial"/>
            </a:endParaRPr>
          </a:p>
          <a:p>
            <a:pPr marL="683260" lvl="1" indent="-327025">
              <a:lnSpc>
                <a:spcPct val="100000"/>
              </a:lnSpc>
              <a:spcBef>
                <a:spcPts val="600"/>
              </a:spcBef>
              <a:buClr>
                <a:srgbClr val="4B6C4E"/>
              </a:buClr>
              <a:buSzPct val="59090"/>
              <a:buFont typeface="Wingdings"/>
              <a:buChar char=""/>
              <a:tabLst>
                <a:tab pos="683260" algn="l"/>
                <a:tab pos="683895" algn="l"/>
              </a:tabLst>
            </a:pPr>
            <a:r>
              <a:rPr sz="2200" spc="-5" dirty="0">
                <a:solidFill>
                  <a:srgbClr val="585858"/>
                </a:solidFill>
                <a:latin typeface="Arial"/>
                <a:cs typeface="Arial"/>
              </a:rPr>
              <a:t>A source code file may contain </a:t>
            </a:r>
            <a:r>
              <a:rPr sz="2200" b="1" spc="-5" dirty="0">
                <a:solidFill>
                  <a:srgbClr val="585858"/>
                </a:solidFill>
                <a:latin typeface="Arial"/>
                <a:cs typeface="Arial"/>
              </a:rPr>
              <a:t>one or more</a:t>
            </a:r>
            <a:r>
              <a:rPr sz="2200" b="1" spc="100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2200" b="1" spc="-5" dirty="0">
                <a:solidFill>
                  <a:srgbClr val="585858"/>
                </a:solidFill>
                <a:latin typeface="Arial"/>
                <a:cs typeface="Arial"/>
              </a:rPr>
              <a:t>classes</a:t>
            </a:r>
            <a:endParaRPr sz="2200">
              <a:latin typeface="Arial"/>
              <a:cs typeface="Arial"/>
            </a:endParaRPr>
          </a:p>
          <a:p>
            <a:pPr marL="1035050" lvl="2" indent="-352425">
              <a:lnSpc>
                <a:spcPct val="100000"/>
              </a:lnSpc>
              <a:spcBef>
                <a:spcPts val="615"/>
              </a:spcBef>
              <a:buClr>
                <a:srgbClr val="009999"/>
              </a:buClr>
              <a:buSzPct val="63157"/>
              <a:buFont typeface="Wingdings"/>
              <a:buChar char=""/>
              <a:tabLst>
                <a:tab pos="1035050" algn="l"/>
                <a:tab pos="1035685" algn="l"/>
              </a:tabLst>
            </a:pPr>
            <a:r>
              <a:rPr sz="1900" spc="-5" dirty="0">
                <a:solidFill>
                  <a:srgbClr val="585858"/>
                </a:solidFill>
                <a:latin typeface="Arial"/>
                <a:cs typeface="Arial"/>
              </a:rPr>
              <a:t>There are restrictions </a:t>
            </a:r>
            <a:r>
              <a:rPr sz="1900" spc="-10" dirty="0">
                <a:solidFill>
                  <a:srgbClr val="585858"/>
                </a:solidFill>
                <a:latin typeface="Arial"/>
                <a:cs typeface="Arial"/>
              </a:rPr>
              <a:t>which will </a:t>
            </a:r>
            <a:r>
              <a:rPr sz="1900" spc="-5" dirty="0">
                <a:solidFill>
                  <a:srgbClr val="585858"/>
                </a:solidFill>
                <a:latin typeface="Arial"/>
                <a:cs typeface="Arial"/>
              </a:rPr>
              <a:t>be explained later – this is a</a:t>
            </a:r>
            <a:r>
              <a:rPr sz="1900" spc="390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1900" spc="-5" dirty="0">
                <a:solidFill>
                  <a:srgbClr val="585858"/>
                </a:solidFill>
                <a:latin typeface="Arial"/>
                <a:cs typeface="Arial"/>
              </a:rPr>
              <a:t>bit</a:t>
            </a:r>
            <a:endParaRPr sz="1900">
              <a:latin typeface="Arial"/>
              <a:cs typeface="Arial"/>
            </a:endParaRPr>
          </a:p>
          <a:p>
            <a:pPr marL="1035050">
              <a:lnSpc>
                <a:spcPct val="100000"/>
              </a:lnSpc>
            </a:pPr>
            <a:r>
              <a:rPr sz="1900" spc="-5" dirty="0">
                <a:solidFill>
                  <a:srgbClr val="585858"/>
                </a:solidFill>
                <a:latin typeface="Arial"/>
                <a:cs typeface="Arial"/>
              </a:rPr>
              <a:t>too advanced at this</a:t>
            </a:r>
            <a:r>
              <a:rPr sz="1900" spc="50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1900" spc="-5" dirty="0">
                <a:solidFill>
                  <a:srgbClr val="585858"/>
                </a:solidFill>
                <a:latin typeface="Arial"/>
                <a:cs typeface="Arial"/>
              </a:rPr>
              <a:t>point</a:t>
            </a:r>
            <a:endParaRPr sz="1900">
              <a:latin typeface="Arial"/>
              <a:cs typeface="Arial"/>
            </a:endParaRPr>
          </a:p>
          <a:p>
            <a:pPr marL="1035050" marR="552450" lvl="2" indent="-352425">
              <a:lnSpc>
                <a:spcPct val="100000"/>
              </a:lnSpc>
              <a:spcBef>
                <a:spcPts val="600"/>
              </a:spcBef>
              <a:buClr>
                <a:srgbClr val="009999"/>
              </a:buClr>
              <a:buSzPct val="63157"/>
              <a:buFont typeface="Wingdings"/>
              <a:buChar char=""/>
              <a:tabLst>
                <a:tab pos="1035050" algn="l"/>
                <a:tab pos="1035685" algn="l"/>
              </a:tabLst>
            </a:pPr>
            <a:r>
              <a:rPr sz="1900" spc="-5" dirty="0">
                <a:solidFill>
                  <a:srgbClr val="585858"/>
                </a:solidFill>
                <a:latin typeface="Arial"/>
                <a:cs typeface="Arial"/>
              </a:rPr>
              <a:t>For the moment, </a:t>
            </a:r>
            <a:r>
              <a:rPr sz="1900" spc="-15" dirty="0">
                <a:solidFill>
                  <a:srgbClr val="585858"/>
                </a:solidFill>
                <a:latin typeface="Arial"/>
                <a:cs typeface="Arial"/>
              </a:rPr>
              <a:t>we </a:t>
            </a:r>
            <a:r>
              <a:rPr sz="1900" spc="-10" dirty="0">
                <a:solidFill>
                  <a:srgbClr val="585858"/>
                </a:solidFill>
                <a:latin typeface="Arial"/>
                <a:cs typeface="Arial"/>
              </a:rPr>
              <a:t>will </a:t>
            </a:r>
            <a:r>
              <a:rPr sz="1900" spc="-5" dirty="0">
                <a:solidFill>
                  <a:srgbClr val="585858"/>
                </a:solidFill>
                <a:latin typeface="Arial"/>
                <a:cs typeface="Arial"/>
              </a:rPr>
              <a:t>restrict ourselves to one class per  source</a:t>
            </a:r>
            <a:r>
              <a:rPr sz="1900" spc="15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1900" spc="-5" dirty="0">
                <a:solidFill>
                  <a:srgbClr val="585858"/>
                </a:solidFill>
                <a:latin typeface="Arial"/>
                <a:cs typeface="Arial"/>
              </a:rPr>
              <a:t>code</a:t>
            </a:r>
            <a:endParaRPr sz="1900">
              <a:latin typeface="Arial"/>
              <a:cs typeface="Arial"/>
            </a:endParaRPr>
          </a:p>
          <a:p>
            <a:pPr marL="683260" lvl="1" indent="-327025">
              <a:lnSpc>
                <a:spcPct val="100000"/>
              </a:lnSpc>
              <a:spcBef>
                <a:spcPts val="445"/>
              </a:spcBef>
              <a:buClr>
                <a:srgbClr val="4B6C4E"/>
              </a:buClr>
              <a:buSzPct val="59090"/>
              <a:buFont typeface="Wingdings"/>
              <a:buChar char=""/>
              <a:tabLst>
                <a:tab pos="683260" algn="l"/>
                <a:tab pos="683895" algn="l"/>
              </a:tabLst>
            </a:pPr>
            <a:r>
              <a:rPr sz="2200" spc="-5" dirty="0">
                <a:latin typeface="Arial"/>
                <a:cs typeface="Arial"/>
              </a:rPr>
              <a:t>Each class will be compiled into a separate</a:t>
            </a:r>
            <a:r>
              <a:rPr sz="2200" spc="114" dirty="0">
                <a:latin typeface="Arial"/>
                <a:cs typeface="Arial"/>
              </a:rPr>
              <a:t> </a:t>
            </a:r>
            <a:r>
              <a:rPr sz="2200" b="1" spc="-5" dirty="0">
                <a:latin typeface="Courier New"/>
                <a:cs typeface="Courier New"/>
              </a:rPr>
              <a:t>XXXX.class</a:t>
            </a:r>
            <a:endParaRPr sz="2200">
              <a:latin typeface="Courier New"/>
              <a:cs typeface="Courier New"/>
            </a:endParaRPr>
          </a:p>
          <a:p>
            <a:pPr marL="683260">
              <a:lnSpc>
                <a:spcPct val="100000"/>
              </a:lnSpc>
              <a:spcBef>
                <a:spcPts val="145"/>
              </a:spcBef>
            </a:pPr>
            <a:r>
              <a:rPr sz="2200" spc="-5" dirty="0">
                <a:solidFill>
                  <a:srgbClr val="C00000"/>
                </a:solidFill>
                <a:latin typeface="Arial"/>
                <a:cs typeface="Arial"/>
              </a:rPr>
              <a:t>bytecode</a:t>
            </a:r>
            <a:endParaRPr sz="2200">
              <a:latin typeface="Arial"/>
              <a:cs typeface="Arial"/>
            </a:endParaRPr>
          </a:p>
          <a:p>
            <a:pPr marL="1035050" marR="393065" lvl="2" indent="-352425">
              <a:lnSpc>
                <a:spcPct val="105800"/>
              </a:lnSpc>
              <a:spcBef>
                <a:spcPts val="350"/>
              </a:spcBef>
              <a:buClr>
                <a:srgbClr val="009999"/>
              </a:buClr>
              <a:buSzPct val="63157"/>
              <a:buFont typeface="Wingdings"/>
              <a:buChar char=""/>
              <a:tabLst>
                <a:tab pos="1035050" algn="l"/>
                <a:tab pos="1035685" algn="l"/>
              </a:tabLst>
            </a:pPr>
            <a:r>
              <a:rPr sz="1900" spc="-5" dirty="0">
                <a:latin typeface="Arial"/>
                <a:cs typeface="Arial"/>
              </a:rPr>
              <a:t>The “</a:t>
            </a:r>
            <a:r>
              <a:rPr sz="1900" b="1" spc="-5" dirty="0">
                <a:solidFill>
                  <a:srgbClr val="0000FF"/>
                </a:solidFill>
                <a:latin typeface="Courier New"/>
                <a:cs typeface="Courier New"/>
              </a:rPr>
              <a:t>XXXX</a:t>
            </a:r>
            <a:r>
              <a:rPr sz="1900" spc="-5" dirty="0">
                <a:latin typeface="Arial"/>
                <a:cs typeface="Arial"/>
              </a:rPr>
              <a:t>” is taken from the class name </a:t>
            </a:r>
            <a:r>
              <a:rPr sz="1900" dirty="0">
                <a:latin typeface="Arial"/>
                <a:cs typeface="Arial"/>
              </a:rPr>
              <a:t>(“</a:t>
            </a:r>
            <a:r>
              <a:rPr sz="1900" b="1" dirty="0">
                <a:solidFill>
                  <a:srgbClr val="0000FF"/>
                </a:solidFill>
                <a:latin typeface="Courier New"/>
                <a:cs typeface="Courier New"/>
              </a:rPr>
              <a:t>HelloWorld</a:t>
            </a:r>
            <a:r>
              <a:rPr sz="1900" dirty="0">
                <a:latin typeface="Arial"/>
                <a:cs typeface="Arial"/>
              </a:rPr>
              <a:t>” </a:t>
            </a:r>
            <a:r>
              <a:rPr sz="1900" spc="-10" dirty="0">
                <a:latin typeface="Arial"/>
                <a:cs typeface="Arial"/>
              </a:rPr>
              <a:t>in  </a:t>
            </a:r>
            <a:r>
              <a:rPr sz="1900" spc="-5" dirty="0">
                <a:latin typeface="Arial"/>
                <a:cs typeface="Arial"/>
              </a:rPr>
              <a:t>this</a:t>
            </a:r>
            <a:r>
              <a:rPr sz="1900" spc="5" dirty="0">
                <a:latin typeface="Arial"/>
                <a:cs typeface="Arial"/>
              </a:rPr>
              <a:t> </a:t>
            </a:r>
            <a:r>
              <a:rPr sz="1900" spc="-5" dirty="0">
                <a:latin typeface="Arial"/>
                <a:cs typeface="Arial"/>
              </a:rPr>
              <a:t>example)</a:t>
            </a:r>
            <a:endParaRPr sz="19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3068" y="187452"/>
            <a:ext cx="523240" cy="3096895"/>
          </a:xfrm>
          <a:custGeom>
            <a:avLst/>
            <a:gdLst/>
            <a:ahLst/>
            <a:cxnLst/>
            <a:rect l="l" t="t" r="r" b="b"/>
            <a:pathLst>
              <a:path w="523240" h="3096895">
                <a:moveTo>
                  <a:pt x="522731" y="0"/>
                </a:moveTo>
                <a:lnTo>
                  <a:pt x="0" y="0"/>
                </a:lnTo>
                <a:lnTo>
                  <a:pt x="0" y="3096768"/>
                </a:lnTo>
                <a:lnTo>
                  <a:pt x="522731" y="3096768"/>
                </a:lnTo>
                <a:lnTo>
                  <a:pt x="522731" y="0"/>
                </a:lnTo>
                <a:close/>
              </a:path>
            </a:pathLst>
          </a:custGeom>
          <a:solidFill>
            <a:srgbClr val="FFCCFF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44239" y="312270"/>
            <a:ext cx="381000" cy="289496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990"/>
              </a:lnSpc>
            </a:pPr>
            <a:r>
              <a:rPr sz="2800" spc="5" dirty="0">
                <a:solidFill>
                  <a:srgbClr val="C00000"/>
                </a:solidFill>
                <a:latin typeface="Trebuchet MS"/>
                <a:cs typeface="Trebuchet MS"/>
              </a:rPr>
              <a:t>3. </a:t>
            </a:r>
            <a:r>
              <a:rPr sz="2800" spc="65" dirty="0">
                <a:solidFill>
                  <a:srgbClr val="000099"/>
                </a:solidFill>
                <a:latin typeface="Trebuchet MS"/>
                <a:cs typeface="Trebuchet MS"/>
              </a:rPr>
              <a:t>Basic</a:t>
            </a:r>
            <a:r>
              <a:rPr sz="2800" spc="-45" dirty="0">
                <a:solidFill>
                  <a:srgbClr val="000099"/>
                </a:solidFill>
                <a:latin typeface="Trebuchet MS"/>
                <a:cs typeface="Trebuchet MS"/>
              </a:rPr>
              <a:t> </a:t>
            </a:r>
            <a:r>
              <a:rPr sz="2800" spc="-10" dirty="0">
                <a:solidFill>
                  <a:srgbClr val="000099"/>
                </a:solidFill>
                <a:latin typeface="Trebuchet MS"/>
                <a:cs typeface="Trebuchet MS"/>
              </a:rPr>
              <a:t>Structure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173211" y="155447"/>
            <a:ext cx="944879" cy="9875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70051" y="6449696"/>
            <a:ext cx="8420735" cy="3448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89"/>
              </a:lnSpc>
              <a:tabLst>
                <a:tab pos="1996439" algn="l"/>
                <a:tab pos="8046720" algn="l"/>
              </a:tabLst>
            </a:pPr>
            <a:r>
              <a:rPr sz="800" dirty="0">
                <a:solidFill>
                  <a:srgbClr val="003399"/>
                </a:solidFill>
                <a:latin typeface="Arial Black"/>
                <a:cs typeface="Arial Black"/>
              </a:rPr>
              <a:t>[501043 Lecture 1: Intro</a:t>
            </a:r>
            <a:r>
              <a:rPr sz="800" spc="-65" dirty="0">
                <a:solidFill>
                  <a:srgbClr val="003399"/>
                </a:solidFill>
                <a:latin typeface="Arial Black"/>
                <a:cs typeface="Arial Black"/>
              </a:rPr>
              <a:t> </a:t>
            </a:r>
            <a:r>
              <a:rPr sz="800" dirty="0">
                <a:solidFill>
                  <a:srgbClr val="003399"/>
                </a:solidFill>
                <a:latin typeface="Arial Black"/>
                <a:cs typeface="Arial Black"/>
              </a:rPr>
              <a:t>to</a:t>
            </a:r>
            <a:r>
              <a:rPr sz="800" spc="-10" dirty="0">
                <a:solidFill>
                  <a:srgbClr val="003399"/>
                </a:solidFill>
                <a:latin typeface="Arial Black"/>
                <a:cs typeface="Arial Black"/>
              </a:rPr>
              <a:t> </a:t>
            </a:r>
            <a:r>
              <a:rPr sz="800" dirty="0">
                <a:solidFill>
                  <a:srgbClr val="003399"/>
                </a:solidFill>
                <a:latin typeface="Arial Black"/>
                <a:cs typeface="Arial Black"/>
              </a:rPr>
              <a:t>Java]	</a:t>
            </a:r>
            <a:r>
              <a:rPr sz="800" u="heavy" dirty="0">
                <a:solidFill>
                  <a:srgbClr val="003399"/>
                </a:solidFill>
                <a:uFill>
                  <a:solidFill>
                    <a:srgbClr val="009999"/>
                  </a:solidFill>
                </a:uFill>
                <a:latin typeface="Arial Black"/>
                <a:cs typeface="Arial Black"/>
              </a:rPr>
              <a:t> 	</a:t>
            </a:r>
            <a:r>
              <a:rPr sz="1600" b="1" i="1" spc="-5" dirty="0">
                <a:solidFill>
                  <a:srgbClr val="C00000"/>
                </a:solidFill>
                <a:latin typeface="Arial"/>
                <a:cs typeface="Arial"/>
              </a:rPr>
              <a:t>19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10362" y="1219961"/>
            <a:ext cx="7924800" cy="914400"/>
          </a:xfrm>
          <a:custGeom>
            <a:avLst/>
            <a:gdLst/>
            <a:ahLst/>
            <a:cxnLst/>
            <a:rect l="l" t="t" r="r" b="b"/>
            <a:pathLst>
              <a:path w="7924800" h="914400">
                <a:moveTo>
                  <a:pt x="0" y="914400"/>
                </a:moveTo>
                <a:lnTo>
                  <a:pt x="0" y="0"/>
                </a:lnTo>
                <a:lnTo>
                  <a:pt x="7924800" y="0"/>
                </a:lnTo>
              </a:path>
            </a:pathLst>
          </a:custGeom>
          <a:ln w="25908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981961" y="3963161"/>
            <a:ext cx="6512559" cy="0"/>
          </a:xfrm>
          <a:custGeom>
            <a:avLst/>
            <a:gdLst/>
            <a:ahLst/>
            <a:cxnLst/>
            <a:rect l="l" t="t" r="r" b="b"/>
            <a:pathLst>
              <a:path w="6512559">
                <a:moveTo>
                  <a:pt x="0" y="0"/>
                </a:moveTo>
                <a:lnTo>
                  <a:pt x="6512052" y="0"/>
                </a:lnTo>
              </a:path>
            </a:pathLst>
          </a:custGeom>
          <a:ln w="19812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93444" y="1540890"/>
            <a:ext cx="670814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125" dirty="0">
                <a:solidFill>
                  <a:srgbClr val="C00000"/>
                </a:solidFill>
              </a:rPr>
              <a:t>4.1 </a:t>
            </a:r>
            <a:r>
              <a:rPr sz="4400" spc="-100" dirty="0"/>
              <a:t>Arithmetic</a:t>
            </a:r>
            <a:r>
              <a:rPr sz="4400" spc="-110" dirty="0"/>
              <a:t> </a:t>
            </a:r>
            <a:r>
              <a:rPr sz="4400" spc="70" dirty="0"/>
              <a:t>Expressions</a:t>
            </a:r>
            <a:endParaRPr sz="44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249681"/>
            <a:ext cx="7469505" cy="543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400" spc="95" dirty="0">
                <a:solidFill>
                  <a:srgbClr val="C00000"/>
                </a:solidFill>
              </a:rPr>
              <a:t>4.1 </a:t>
            </a:r>
            <a:r>
              <a:rPr sz="3400" spc="-80" dirty="0"/>
              <a:t>Identifier, </a:t>
            </a:r>
            <a:r>
              <a:rPr sz="3400" spc="-75" dirty="0"/>
              <a:t>Variable, </a:t>
            </a:r>
            <a:r>
              <a:rPr sz="3400" spc="-20" dirty="0"/>
              <a:t>Constant</a:t>
            </a:r>
            <a:r>
              <a:rPr sz="3400" spc="75" dirty="0"/>
              <a:t> </a:t>
            </a:r>
            <a:r>
              <a:rPr sz="3400" spc="50" dirty="0"/>
              <a:t>(1/2)</a:t>
            </a:r>
            <a:endParaRPr sz="3400"/>
          </a:p>
        </p:txBody>
      </p:sp>
      <p:sp>
        <p:nvSpPr>
          <p:cNvPr id="3" name="object 3"/>
          <p:cNvSpPr txBox="1"/>
          <p:nvPr/>
        </p:nvSpPr>
        <p:spPr>
          <a:xfrm>
            <a:off x="535940" y="1014729"/>
            <a:ext cx="8039734" cy="409702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55600" marR="514350" indent="-342900">
              <a:lnSpc>
                <a:spcPct val="100299"/>
              </a:lnSpc>
              <a:spcBef>
                <a:spcPts val="85"/>
              </a:spcBef>
              <a:buClr>
                <a:srgbClr val="009999"/>
              </a:buClr>
              <a:buSzPct val="64285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b="1" spc="-5" dirty="0">
                <a:solidFill>
                  <a:srgbClr val="660066"/>
                </a:solidFill>
                <a:latin typeface="Arial"/>
                <a:cs typeface="Arial"/>
              </a:rPr>
              <a:t>Identifier </a:t>
            </a:r>
            <a:r>
              <a:rPr sz="2800" spc="-5" dirty="0">
                <a:latin typeface="Arial"/>
                <a:cs typeface="Arial"/>
              </a:rPr>
              <a:t>is a </a:t>
            </a:r>
            <a:r>
              <a:rPr sz="2800" b="1" spc="-5" dirty="0">
                <a:latin typeface="Arial"/>
                <a:cs typeface="Arial"/>
              </a:rPr>
              <a:t>name </a:t>
            </a:r>
            <a:r>
              <a:rPr sz="2800" dirty="0">
                <a:latin typeface="Arial"/>
                <a:cs typeface="Arial"/>
              </a:rPr>
              <a:t>that </a:t>
            </a:r>
            <a:r>
              <a:rPr sz="2800" spc="-10" dirty="0">
                <a:latin typeface="Arial"/>
                <a:cs typeface="Arial"/>
              </a:rPr>
              <a:t>we </a:t>
            </a:r>
            <a:r>
              <a:rPr sz="2800" spc="-5" dirty="0">
                <a:latin typeface="Arial"/>
                <a:cs typeface="Arial"/>
              </a:rPr>
              <a:t>associate with  </a:t>
            </a:r>
            <a:r>
              <a:rPr sz="2800" dirty="0">
                <a:latin typeface="Arial"/>
                <a:cs typeface="Arial"/>
              </a:rPr>
              <a:t>some program entity </a:t>
            </a:r>
            <a:r>
              <a:rPr sz="2400" spc="-5" dirty="0">
                <a:latin typeface="Arial"/>
                <a:cs typeface="Arial"/>
              </a:rPr>
              <a:t>(class </a:t>
            </a:r>
            <a:r>
              <a:rPr sz="2400" dirty="0">
                <a:latin typeface="Arial"/>
                <a:cs typeface="Arial"/>
              </a:rPr>
              <a:t>name, </a:t>
            </a:r>
            <a:r>
              <a:rPr sz="2400" spc="-5" dirty="0">
                <a:latin typeface="Arial"/>
                <a:cs typeface="Arial"/>
              </a:rPr>
              <a:t>variable name,  parameter name,</a:t>
            </a:r>
            <a:r>
              <a:rPr sz="2400" spc="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etc.)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1185"/>
              </a:spcBef>
              <a:buClr>
                <a:srgbClr val="009999"/>
              </a:buClr>
              <a:buSzPct val="64285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Java Identifier</a:t>
            </a:r>
            <a:r>
              <a:rPr sz="2800" spc="1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Rule:</a:t>
            </a:r>
            <a:endParaRPr sz="2800">
              <a:latin typeface="Arial"/>
              <a:cs typeface="Arial"/>
            </a:endParaRPr>
          </a:p>
          <a:p>
            <a:pPr marL="683260" marR="5080" lvl="1" indent="-327025">
              <a:lnSpc>
                <a:spcPct val="100000"/>
              </a:lnSpc>
              <a:spcBef>
                <a:spcPts val="615"/>
              </a:spcBef>
              <a:buClr>
                <a:srgbClr val="4B6C4E"/>
              </a:buClr>
              <a:buSzPct val="60416"/>
              <a:buFont typeface="Wingdings"/>
              <a:buChar char=""/>
              <a:tabLst>
                <a:tab pos="683260" algn="l"/>
                <a:tab pos="683895" algn="l"/>
              </a:tabLst>
            </a:pPr>
            <a:r>
              <a:rPr sz="2400" dirty="0">
                <a:latin typeface="Arial"/>
                <a:cs typeface="Arial"/>
              </a:rPr>
              <a:t>May </a:t>
            </a:r>
            <a:r>
              <a:rPr sz="2400" spc="-5" dirty="0">
                <a:latin typeface="Arial"/>
                <a:cs typeface="Arial"/>
              </a:rPr>
              <a:t>consist of letters (‘a’ </a:t>
            </a:r>
            <a:r>
              <a:rPr sz="2400" dirty="0">
                <a:latin typeface="Arial"/>
                <a:cs typeface="Arial"/>
              </a:rPr>
              <a:t>– </a:t>
            </a:r>
            <a:r>
              <a:rPr sz="2400" spc="-5" dirty="0">
                <a:latin typeface="Arial"/>
                <a:cs typeface="Arial"/>
              </a:rPr>
              <a:t>‘z’, ‘A’ </a:t>
            </a:r>
            <a:r>
              <a:rPr sz="2400" dirty="0">
                <a:latin typeface="Arial"/>
                <a:cs typeface="Arial"/>
              </a:rPr>
              <a:t>– </a:t>
            </a:r>
            <a:r>
              <a:rPr sz="2400" spc="-5" dirty="0">
                <a:latin typeface="Arial"/>
                <a:cs typeface="Arial"/>
              </a:rPr>
              <a:t>‘Z’), </a:t>
            </a:r>
            <a:r>
              <a:rPr sz="2400" spc="-10" dirty="0">
                <a:latin typeface="Arial"/>
                <a:cs typeface="Arial"/>
              </a:rPr>
              <a:t>digit  </a:t>
            </a:r>
            <a:r>
              <a:rPr sz="2400" dirty="0">
                <a:latin typeface="Arial"/>
                <a:cs typeface="Arial"/>
              </a:rPr>
              <a:t>characters (‘0’ – </a:t>
            </a:r>
            <a:r>
              <a:rPr sz="2400" spc="-5" dirty="0">
                <a:latin typeface="Arial"/>
                <a:cs typeface="Arial"/>
              </a:rPr>
              <a:t>‘9’), underscore </a:t>
            </a:r>
            <a:r>
              <a:rPr sz="2400" dirty="0">
                <a:latin typeface="Arial"/>
                <a:cs typeface="Arial"/>
              </a:rPr>
              <a:t>(</a:t>
            </a:r>
            <a:r>
              <a:rPr sz="2400" dirty="0">
                <a:solidFill>
                  <a:srgbClr val="C00000"/>
                </a:solidFill>
                <a:latin typeface="Arial"/>
                <a:cs typeface="Arial"/>
              </a:rPr>
              <a:t>_</a:t>
            </a:r>
            <a:r>
              <a:rPr sz="2400" dirty="0">
                <a:latin typeface="Arial"/>
                <a:cs typeface="Arial"/>
              </a:rPr>
              <a:t>) </a:t>
            </a:r>
            <a:r>
              <a:rPr sz="2400" spc="-5" dirty="0">
                <a:latin typeface="Arial"/>
                <a:cs typeface="Arial"/>
              </a:rPr>
              <a:t>and dollar sign</a:t>
            </a:r>
            <a:r>
              <a:rPr sz="2400" spc="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</a:t>
            </a:r>
            <a:r>
              <a:rPr sz="2400" dirty="0">
                <a:solidFill>
                  <a:srgbClr val="C00000"/>
                </a:solidFill>
                <a:latin typeface="Arial"/>
                <a:cs typeface="Arial"/>
              </a:rPr>
              <a:t>$</a:t>
            </a:r>
            <a:r>
              <a:rPr sz="2400" dirty="0">
                <a:latin typeface="Arial"/>
                <a:cs typeface="Arial"/>
              </a:rPr>
              <a:t>)</a:t>
            </a:r>
            <a:endParaRPr sz="2400">
              <a:latin typeface="Arial"/>
              <a:cs typeface="Arial"/>
            </a:endParaRPr>
          </a:p>
          <a:p>
            <a:pPr marL="683260" lvl="1" indent="-327025">
              <a:lnSpc>
                <a:spcPct val="100000"/>
              </a:lnSpc>
              <a:spcBef>
                <a:spcPts val="600"/>
              </a:spcBef>
              <a:buClr>
                <a:srgbClr val="4B6C4E"/>
              </a:buClr>
              <a:buSzPct val="60416"/>
              <a:buFont typeface="Wingdings"/>
              <a:buChar char=""/>
              <a:tabLst>
                <a:tab pos="683260" algn="l"/>
                <a:tab pos="683895" algn="l"/>
              </a:tabLst>
            </a:pPr>
            <a:r>
              <a:rPr sz="2400" spc="-5" dirty="0">
                <a:latin typeface="Arial"/>
                <a:cs typeface="Arial"/>
              </a:rPr>
              <a:t>Cannot begin with </a:t>
            </a:r>
            <a:r>
              <a:rPr sz="2400" dirty="0">
                <a:latin typeface="Arial"/>
                <a:cs typeface="Arial"/>
              </a:rPr>
              <a:t>a </a:t>
            </a:r>
            <a:r>
              <a:rPr sz="2400" spc="-5" dirty="0">
                <a:latin typeface="Arial"/>
                <a:cs typeface="Arial"/>
              </a:rPr>
              <a:t>digit</a:t>
            </a:r>
            <a:r>
              <a:rPr sz="2400" spc="5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character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1190"/>
              </a:spcBef>
              <a:buClr>
                <a:srgbClr val="009999"/>
              </a:buClr>
              <a:buSzPct val="64285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b="1" spc="-5" dirty="0">
                <a:solidFill>
                  <a:srgbClr val="660066"/>
                </a:solidFill>
                <a:latin typeface="Arial"/>
                <a:cs typeface="Arial"/>
              </a:rPr>
              <a:t>Variable </a:t>
            </a:r>
            <a:r>
              <a:rPr sz="2800" spc="-5" dirty="0">
                <a:latin typeface="Arial"/>
                <a:cs typeface="Arial"/>
              </a:rPr>
              <a:t>is used to </a:t>
            </a:r>
            <a:r>
              <a:rPr sz="2800" dirty="0">
                <a:latin typeface="Arial"/>
                <a:cs typeface="Arial"/>
              </a:rPr>
              <a:t>store </a:t>
            </a:r>
            <a:r>
              <a:rPr sz="2800" spc="-5" dirty="0">
                <a:latin typeface="Arial"/>
                <a:cs typeface="Arial"/>
              </a:rPr>
              <a:t>data </a:t>
            </a:r>
            <a:r>
              <a:rPr sz="2800" dirty="0">
                <a:latin typeface="Arial"/>
                <a:cs typeface="Arial"/>
              </a:rPr>
              <a:t>in </a:t>
            </a:r>
            <a:r>
              <a:rPr sz="2800" spc="-5" dirty="0">
                <a:latin typeface="Arial"/>
                <a:cs typeface="Arial"/>
              </a:rPr>
              <a:t>a</a:t>
            </a:r>
            <a:r>
              <a:rPr sz="2800" spc="25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program</a:t>
            </a:r>
            <a:endParaRPr sz="2800">
              <a:latin typeface="Arial"/>
              <a:cs typeface="Arial"/>
            </a:endParaRPr>
          </a:p>
          <a:p>
            <a:pPr marL="683260" lvl="1" indent="-327025">
              <a:lnSpc>
                <a:spcPct val="100000"/>
              </a:lnSpc>
              <a:spcBef>
                <a:spcPts val="615"/>
              </a:spcBef>
              <a:buClr>
                <a:srgbClr val="4B6C4E"/>
              </a:buClr>
              <a:buSzPct val="60416"/>
              <a:buFont typeface="Wingdings"/>
              <a:buChar char=""/>
              <a:tabLst>
                <a:tab pos="683260" algn="l"/>
                <a:tab pos="683895" algn="l"/>
              </a:tabLst>
            </a:pPr>
            <a:r>
              <a:rPr sz="2400" dirty="0">
                <a:latin typeface="Arial"/>
                <a:cs typeface="Arial"/>
              </a:rPr>
              <a:t>A </a:t>
            </a:r>
            <a:r>
              <a:rPr sz="2400" spc="-5" dirty="0">
                <a:latin typeface="Arial"/>
                <a:cs typeface="Arial"/>
              </a:rPr>
              <a:t>variable </a:t>
            </a:r>
            <a:r>
              <a:rPr sz="2400" dirty="0">
                <a:latin typeface="Arial"/>
                <a:cs typeface="Arial"/>
              </a:rPr>
              <a:t>must </a:t>
            </a:r>
            <a:r>
              <a:rPr sz="2400" spc="-5" dirty="0">
                <a:latin typeface="Arial"/>
                <a:cs typeface="Arial"/>
              </a:rPr>
              <a:t>be declared with a specific data</a:t>
            </a:r>
            <a:r>
              <a:rPr sz="2400" spc="1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type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80363" y="5162245"/>
            <a:ext cx="80899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9090" indent="-327025">
              <a:lnSpc>
                <a:spcPct val="100000"/>
              </a:lnSpc>
              <a:spcBef>
                <a:spcPts val="100"/>
              </a:spcBef>
              <a:buClr>
                <a:srgbClr val="4B6C4E"/>
              </a:buClr>
              <a:buSzPct val="60416"/>
              <a:buFont typeface="Wingdings"/>
              <a:buChar char=""/>
              <a:tabLst>
                <a:tab pos="338455" algn="l"/>
                <a:tab pos="339725" algn="l"/>
              </a:tabLst>
            </a:pPr>
            <a:r>
              <a:rPr sz="2400" dirty="0">
                <a:latin typeface="Arial"/>
                <a:cs typeface="Arial"/>
              </a:rPr>
              <a:t>E</a:t>
            </a:r>
            <a:r>
              <a:rPr sz="2400" spc="-10" dirty="0">
                <a:latin typeface="Arial"/>
                <a:cs typeface="Arial"/>
              </a:rPr>
              <a:t>g</a:t>
            </a:r>
            <a:r>
              <a:rPr sz="2400" dirty="0">
                <a:latin typeface="Arial"/>
                <a:cs typeface="Arial"/>
              </a:rPr>
              <a:t>: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173211" y="155447"/>
            <a:ext cx="944879" cy="9875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981961" y="5182361"/>
            <a:ext cx="3429000" cy="707390"/>
          </a:xfrm>
          <a:prstGeom prst="rect">
            <a:avLst/>
          </a:prstGeom>
          <a:solidFill>
            <a:srgbClr val="EDE879"/>
          </a:solidFill>
          <a:ln w="25907">
            <a:solidFill>
              <a:srgbClr val="7E7E7E"/>
            </a:solidFill>
          </a:ln>
        </p:spPr>
        <p:txBody>
          <a:bodyPr vert="horz" wrap="square" lIns="0" tIns="1587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125"/>
              </a:spcBef>
            </a:pPr>
            <a:r>
              <a:rPr sz="2000" b="1" dirty="0">
                <a:latin typeface="Courier New"/>
                <a:cs typeface="Courier New"/>
              </a:rPr>
              <a:t>int</a:t>
            </a:r>
            <a:r>
              <a:rPr sz="2000" b="1" spc="-15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countDays;</a:t>
            </a:r>
            <a:endParaRPr sz="2000">
              <a:latin typeface="Courier New"/>
              <a:cs typeface="Courier New"/>
            </a:endParaRPr>
          </a:p>
          <a:p>
            <a:pPr marL="90805">
              <a:lnSpc>
                <a:spcPct val="100000"/>
              </a:lnSpc>
              <a:spcBef>
                <a:spcPts val="5"/>
              </a:spcBef>
            </a:pPr>
            <a:r>
              <a:rPr sz="2000" b="1" spc="-5" dirty="0">
                <a:latin typeface="Courier New"/>
                <a:cs typeface="Courier New"/>
              </a:rPr>
              <a:t>double</a:t>
            </a:r>
            <a:r>
              <a:rPr sz="2000" b="1" spc="-20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priceOfItem;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89"/>
              </a:lnSpc>
              <a:tabLst>
                <a:tab pos="1996439" algn="l"/>
                <a:tab pos="8046720" algn="l"/>
              </a:tabLst>
            </a:pPr>
            <a:r>
              <a:rPr dirty="0"/>
              <a:t>[501043 Lecture 1: Intro</a:t>
            </a:r>
            <a:r>
              <a:rPr spc="-6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Java]	</a:t>
            </a:r>
            <a:r>
              <a:rPr u="heavy" dirty="0">
                <a:uFill>
                  <a:solidFill>
                    <a:srgbClr val="009999"/>
                  </a:solidFill>
                </a:uFill>
              </a:rPr>
              <a:t> 	</a:t>
            </a:r>
            <a:r>
              <a:rPr sz="1600" b="1" i="1" spc="-5" dirty="0">
                <a:solidFill>
                  <a:srgbClr val="C00000"/>
                </a:solidFill>
                <a:latin typeface="Arial"/>
                <a:cs typeface="Arial"/>
              </a:rPr>
              <a:t>21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249681"/>
            <a:ext cx="7472045" cy="543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400" spc="95" dirty="0">
                <a:solidFill>
                  <a:srgbClr val="C00000"/>
                </a:solidFill>
              </a:rPr>
              <a:t>4.1 </a:t>
            </a:r>
            <a:r>
              <a:rPr sz="3400" spc="-80" dirty="0"/>
              <a:t>Identifier, </a:t>
            </a:r>
            <a:r>
              <a:rPr sz="3400" spc="-75" dirty="0"/>
              <a:t>Variable, </a:t>
            </a:r>
            <a:r>
              <a:rPr sz="3400" spc="-20" dirty="0"/>
              <a:t>Constant</a:t>
            </a:r>
            <a:r>
              <a:rPr sz="3400" spc="80" dirty="0"/>
              <a:t> </a:t>
            </a:r>
            <a:r>
              <a:rPr sz="3400" spc="55" dirty="0"/>
              <a:t>(2/2)</a:t>
            </a:r>
            <a:endParaRPr sz="3400"/>
          </a:p>
        </p:txBody>
      </p:sp>
      <p:sp>
        <p:nvSpPr>
          <p:cNvPr id="3" name="object 3"/>
          <p:cNvSpPr txBox="1"/>
          <p:nvPr/>
        </p:nvSpPr>
        <p:spPr>
          <a:xfrm>
            <a:off x="535940" y="1014729"/>
            <a:ext cx="72339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Clr>
                <a:srgbClr val="009999"/>
              </a:buClr>
              <a:buSzPct val="64285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b="1" spc="-5" dirty="0">
                <a:solidFill>
                  <a:srgbClr val="660066"/>
                </a:solidFill>
                <a:latin typeface="Arial"/>
                <a:cs typeface="Arial"/>
              </a:rPr>
              <a:t>Constant </a:t>
            </a:r>
            <a:r>
              <a:rPr sz="2800" spc="-5" dirty="0">
                <a:latin typeface="Arial"/>
                <a:cs typeface="Arial"/>
              </a:rPr>
              <a:t>is used to </a:t>
            </a:r>
            <a:r>
              <a:rPr sz="2800" dirty="0">
                <a:latin typeface="Arial"/>
                <a:cs typeface="Arial"/>
              </a:rPr>
              <a:t>represent </a:t>
            </a:r>
            <a:r>
              <a:rPr sz="2800" spc="-5" dirty="0">
                <a:latin typeface="Arial"/>
                <a:cs typeface="Arial"/>
              </a:rPr>
              <a:t>a </a:t>
            </a:r>
            <a:r>
              <a:rPr sz="2800" dirty="0">
                <a:latin typeface="Arial"/>
                <a:cs typeface="Arial"/>
              </a:rPr>
              <a:t>fixed</a:t>
            </a:r>
            <a:r>
              <a:rPr sz="2800" spc="40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value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80363" y="1497533"/>
            <a:ext cx="80899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9090" indent="-327025">
              <a:lnSpc>
                <a:spcPct val="100000"/>
              </a:lnSpc>
              <a:spcBef>
                <a:spcPts val="100"/>
              </a:spcBef>
              <a:buClr>
                <a:srgbClr val="4B6C4E"/>
              </a:buClr>
              <a:buSzPct val="60416"/>
              <a:buFont typeface="Wingdings"/>
              <a:buChar char=""/>
              <a:tabLst>
                <a:tab pos="338455" algn="l"/>
                <a:tab pos="339725" algn="l"/>
              </a:tabLst>
            </a:pPr>
            <a:r>
              <a:rPr sz="2400" spc="-10" dirty="0">
                <a:latin typeface="Arial"/>
                <a:cs typeface="Arial"/>
              </a:rPr>
              <a:t>E</a:t>
            </a:r>
            <a:r>
              <a:rPr sz="2400" spc="-5" dirty="0">
                <a:latin typeface="Arial"/>
                <a:cs typeface="Arial"/>
              </a:rPr>
              <a:t>g</a:t>
            </a:r>
            <a:r>
              <a:rPr sz="2400" dirty="0">
                <a:latin typeface="Arial"/>
                <a:cs typeface="Arial"/>
              </a:rPr>
              <a:t>: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1815394"/>
            <a:ext cx="8016240" cy="4637405"/>
          </a:xfrm>
          <a:prstGeom prst="rect">
            <a:avLst/>
          </a:prstGeom>
        </p:spPr>
        <p:txBody>
          <a:bodyPr vert="horz" wrap="square" lIns="0" tIns="149225" rIns="0" bIns="0" rtlCol="0">
            <a:spAutoFit/>
          </a:bodyPr>
          <a:lstStyle/>
          <a:p>
            <a:pPr marL="683260" indent="-327025">
              <a:lnSpc>
                <a:spcPct val="100000"/>
              </a:lnSpc>
              <a:spcBef>
                <a:spcPts val="1175"/>
              </a:spcBef>
              <a:buClr>
                <a:srgbClr val="4B6C4E"/>
              </a:buClr>
              <a:buSzPct val="60416"/>
              <a:buFont typeface="Wingdings"/>
              <a:buChar char=""/>
              <a:tabLst>
                <a:tab pos="683260" algn="l"/>
                <a:tab pos="683895" algn="l"/>
              </a:tabLst>
            </a:pPr>
            <a:r>
              <a:rPr sz="2400" spc="-5" dirty="0">
                <a:latin typeface="Arial"/>
                <a:cs typeface="Arial"/>
              </a:rPr>
              <a:t>Keyword </a:t>
            </a:r>
            <a:r>
              <a:rPr sz="2000" b="1" spc="-5" dirty="0">
                <a:solidFill>
                  <a:srgbClr val="C00000"/>
                </a:solidFill>
                <a:latin typeface="Courier New"/>
                <a:cs typeface="Courier New"/>
              </a:rPr>
              <a:t>final </a:t>
            </a:r>
            <a:r>
              <a:rPr sz="2400" spc="-5" dirty="0">
                <a:latin typeface="Arial"/>
                <a:cs typeface="Arial"/>
              </a:rPr>
              <a:t>indicates that the value cannot</a:t>
            </a:r>
            <a:r>
              <a:rPr sz="2400" spc="-42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change</a:t>
            </a:r>
            <a:endParaRPr sz="2400">
              <a:latin typeface="Arial"/>
              <a:cs typeface="Arial"/>
            </a:endParaRPr>
          </a:p>
          <a:p>
            <a:pPr marL="355600" marR="220979" indent="-342900">
              <a:lnSpc>
                <a:spcPct val="100000"/>
              </a:lnSpc>
              <a:spcBef>
                <a:spcPts val="1260"/>
              </a:spcBef>
              <a:buClr>
                <a:srgbClr val="009999"/>
              </a:buClr>
              <a:buSzPct val="64285"/>
              <a:buFont typeface="Wingdings"/>
              <a:buChar char=""/>
              <a:tabLst>
                <a:tab pos="354965" algn="l"/>
                <a:tab pos="355600" algn="l"/>
                <a:tab pos="6259830" algn="l"/>
              </a:tabLst>
            </a:pPr>
            <a:r>
              <a:rPr sz="2800" spc="-5" dirty="0">
                <a:latin typeface="Arial"/>
                <a:cs typeface="Arial"/>
              </a:rPr>
              <a:t>Gu</a:t>
            </a:r>
            <a:r>
              <a:rPr sz="2800" dirty="0">
                <a:latin typeface="Arial"/>
                <a:cs typeface="Arial"/>
              </a:rPr>
              <a:t>i</a:t>
            </a:r>
            <a:r>
              <a:rPr sz="2800" spc="-5" dirty="0">
                <a:latin typeface="Arial"/>
                <a:cs typeface="Arial"/>
              </a:rPr>
              <a:t>d</a:t>
            </a:r>
            <a:r>
              <a:rPr sz="2800" spc="5" dirty="0">
                <a:latin typeface="Arial"/>
                <a:cs typeface="Arial"/>
              </a:rPr>
              <a:t>e</a:t>
            </a:r>
            <a:r>
              <a:rPr sz="2800" spc="-5" dirty="0">
                <a:latin typeface="Arial"/>
                <a:cs typeface="Arial"/>
              </a:rPr>
              <a:t>l</a:t>
            </a:r>
            <a:r>
              <a:rPr sz="2800" dirty="0">
                <a:latin typeface="Arial"/>
                <a:cs typeface="Arial"/>
              </a:rPr>
              <a:t>i</a:t>
            </a:r>
            <a:r>
              <a:rPr sz="2800" spc="-5" dirty="0">
                <a:latin typeface="Arial"/>
                <a:cs typeface="Arial"/>
              </a:rPr>
              <a:t>n</a:t>
            </a:r>
            <a:r>
              <a:rPr sz="2800" spc="5" dirty="0">
                <a:latin typeface="Arial"/>
                <a:cs typeface="Arial"/>
              </a:rPr>
              <a:t>e</a:t>
            </a:r>
            <a:r>
              <a:rPr sz="2800" spc="-5" dirty="0">
                <a:latin typeface="Arial"/>
                <a:cs typeface="Arial"/>
              </a:rPr>
              <a:t>s</a:t>
            </a:r>
            <a:r>
              <a:rPr sz="2800" spc="15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on</a:t>
            </a:r>
            <a:r>
              <a:rPr sz="2800" spc="1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h</a:t>
            </a:r>
            <a:r>
              <a:rPr sz="2800" spc="-5" dirty="0">
                <a:latin typeface="Arial"/>
                <a:cs typeface="Arial"/>
              </a:rPr>
              <a:t>ow</a:t>
            </a:r>
            <a:r>
              <a:rPr sz="2800" spc="15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to</a:t>
            </a:r>
            <a:r>
              <a:rPr sz="2800" spc="5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name</a:t>
            </a:r>
            <a:r>
              <a:rPr sz="2800" spc="20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c</a:t>
            </a:r>
            <a:r>
              <a:rPr sz="2800" dirty="0">
                <a:latin typeface="Arial"/>
                <a:cs typeface="Arial"/>
              </a:rPr>
              <a:t>l</a:t>
            </a:r>
            <a:r>
              <a:rPr sz="2800" spc="-5" dirty="0">
                <a:latin typeface="Arial"/>
                <a:cs typeface="Arial"/>
              </a:rPr>
              <a:t>a</a:t>
            </a:r>
            <a:r>
              <a:rPr sz="2800" spc="5" dirty="0">
                <a:latin typeface="Arial"/>
                <a:cs typeface="Arial"/>
              </a:rPr>
              <a:t>s</a:t>
            </a:r>
            <a:r>
              <a:rPr sz="2800" spc="-5" dirty="0">
                <a:latin typeface="Arial"/>
                <a:cs typeface="Arial"/>
              </a:rPr>
              <a:t>s</a:t>
            </a:r>
            <a:r>
              <a:rPr sz="2800" spc="5" dirty="0">
                <a:latin typeface="Arial"/>
                <a:cs typeface="Arial"/>
              </a:rPr>
              <a:t>e</a:t>
            </a:r>
            <a:r>
              <a:rPr sz="2800" spc="-5" dirty="0">
                <a:latin typeface="Arial"/>
                <a:cs typeface="Arial"/>
              </a:rPr>
              <a:t>s,</a:t>
            </a:r>
            <a:r>
              <a:rPr sz="2800" dirty="0">
                <a:latin typeface="Arial"/>
                <a:cs typeface="Arial"/>
              </a:rPr>
              <a:t>	v</a:t>
            </a:r>
            <a:r>
              <a:rPr sz="2800" spc="-5" dirty="0">
                <a:latin typeface="Arial"/>
                <a:cs typeface="Arial"/>
              </a:rPr>
              <a:t>a</a:t>
            </a:r>
            <a:r>
              <a:rPr sz="2800" spc="5" dirty="0">
                <a:latin typeface="Arial"/>
                <a:cs typeface="Arial"/>
              </a:rPr>
              <a:t>r</a:t>
            </a:r>
            <a:r>
              <a:rPr sz="2800" spc="-5" dirty="0">
                <a:latin typeface="Arial"/>
                <a:cs typeface="Arial"/>
              </a:rPr>
              <a:t>i</a:t>
            </a:r>
            <a:r>
              <a:rPr sz="2800" dirty="0">
                <a:latin typeface="Arial"/>
                <a:cs typeface="Arial"/>
              </a:rPr>
              <a:t>a</a:t>
            </a:r>
            <a:r>
              <a:rPr sz="2800" spc="-5" dirty="0">
                <a:latin typeface="Arial"/>
                <a:cs typeface="Arial"/>
              </a:rPr>
              <a:t>b</a:t>
            </a:r>
            <a:r>
              <a:rPr sz="2800" dirty="0">
                <a:latin typeface="Arial"/>
                <a:cs typeface="Arial"/>
              </a:rPr>
              <a:t>l</a:t>
            </a:r>
            <a:r>
              <a:rPr sz="2800" spc="-5" dirty="0">
                <a:latin typeface="Arial"/>
                <a:cs typeface="Arial"/>
              </a:rPr>
              <a:t>e</a:t>
            </a:r>
            <a:r>
              <a:rPr sz="2800" spc="5" dirty="0">
                <a:latin typeface="Arial"/>
                <a:cs typeface="Arial"/>
              </a:rPr>
              <a:t>s</a:t>
            </a:r>
            <a:r>
              <a:rPr sz="2800" dirty="0">
                <a:latin typeface="Arial"/>
                <a:cs typeface="Arial"/>
              </a:rPr>
              <a:t>,  and constants: </a:t>
            </a:r>
            <a:r>
              <a:rPr sz="2800" spc="-5" dirty="0">
                <a:latin typeface="Arial"/>
                <a:cs typeface="Arial"/>
              </a:rPr>
              <a:t>see </a:t>
            </a:r>
            <a:r>
              <a:rPr sz="2800" dirty="0">
                <a:latin typeface="Arial"/>
                <a:cs typeface="Arial"/>
              </a:rPr>
              <a:t>501043 website </a:t>
            </a:r>
            <a:r>
              <a:rPr sz="2800" spc="-5" dirty="0">
                <a:latin typeface="Wingdings"/>
                <a:cs typeface="Wingdings"/>
              </a:rPr>
              <a:t>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Arial"/>
                <a:cs typeface="Arial"/>
              </a:rPr>
              <a:t>Resources </a:t>
            </a:r>
            <a:r>
              <a:rPr sz="2800" spc="-5" dirty="0">
                <a:latin typeface="Wingdings"/>
                <a:cs typeface="Wingdings"/>
              </a:rPr>
              <a:t></a:t>
            </a:r>
            <a:r>
              <a:rPr sz="2800" spc="7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Arial"/>
                <a:cs typeface="Arial"/>
              </a:rPr>
              <a:t>Online:</a:t>
            </a:r>
            <a:endParaRPr sz="2800">
              <a:latin typeface="Arial"/>
              <a:cs typeface="Arial"/>
            </a:endParaRPr>
          </a:p>
          <a:p>
            <a:pPr marL="683260" lvl="1" indent="-327025">
              <a:lnSpc>
                <a:spcPct val="100000"/>
              </a:lnSpc>
              <a:spcBef>
                <a:spcPts val="615"/>
              </a:spcBef>
              <a:buClr>
                <a:srgbClr val="4B6C4E"/>
              </a:buClr>
              <a:buSzPct val="60416"/>
              <a:buFont typeface="Wingdings"/>
              <a:buChar char=""/>
              <a:tabLst>
                <a:tab pos="683260" algn="l"/>
                <a:tab pos="683895" algn="l"/>
              </a:tabLst>
            </a:pPr>
            <a:r>
              <a:rPr sz="2400" u="heavy" spc="-5" dirty="0">
                <a:solidFill>
                  <a:srgbClr val="4B6C80"/>
                </a:solidFill>
                <a:uFill>
                  <a:solidFill>
                    <a:srgbClr val="4B6C80"/>
                  </a:solidFill>
                </a:uFill>
                <a:latin typeface="Arial"/>
                <a:cs typeface="Arial"/>
                <a:hlinkClick r:id="rId2"/>
              </a:rPr>
              <a:t>http://sakai.it.tdt.edu.vn</a:t>
            </a:r>
            <a:endParaRPr sz="2400">
              <a:latin typeface="Arial"/>
              <a:cs typeface="Arial"/>
            </a:endParaRPr>
          </a:p>
          <a:p>
            <a:pPr marL="683260" lvl="1" indent="-327025">
              <a:lnSpc>
                <a:spcPts val="2815"/>
              </a:lnSpc>
              <a:spcBef>
                <a:spcPts val="605"/>
              </a:spcBef>
              <a:buClr>
                <a:srgbClr val="4B6C4E"/>
              </a:buClr>
              <a:buSzPct val="60416"/>
              <a:buFont typeface="Wingdings"/>
              <a:buChar char=""/>
              <a:tabLst>
                <a:tab pos="683260" algn="l"/>
                <a:tab pos="683895" algn="l"/>
              </a:tabLst>
            </a:pPr>
            <a:r>
              <a:rPr sz="2400" spc="-5" dirty="0">
                <a:latin typeface="Arial"/>
                <a:cs typeface="Arial"/>
              </a:rPr>
              <a:t>Class name:</a:t>
            </a:r>
            <a:r>
              <a:rPr sz="2400" spc="2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UpperCamelCase</a:t>
            </a:r>
            <a:endParaRPr sz="2400">
              <a:latin typeface="Arial"/>
              <a:cs typeface="Arial"/>
            </a:endParaRPr>
          </a:p>
          <a:p>
            <a:pPr marL="1035050" lvl="2" indent="-352425">
              <a:lnSpc>
                <a:spcPts val="2335"/>
              </a:lnSpc>
              <a:buClr>
                <a:srgbClr val="009999"/>
              </a:buClr>
              <a:buSzPct val="65000"/>
              <a:buFont typeface="Wingdings"/>
              <a:buChar char=""/>
              <a:tabLst>
                <a:tab pos="1035050" algn="l"/>
                <a:tab pos="1035685" algn="l"/>
              </a:tabLst>
            </a:pPr>
            <a:r>
              <a:rPr sz="2000" dirty="0">
                <a:latin typeface="Arial"/>
                <a:cs typeface="Arial"/>
              </a:rPr>
              <a:t>Eg: </a:t>
            </a:r>
            <a:r>
              <a:rPr sz="2000" b="1" spc="-5" dirty="0">
                <a:latin typeface="Courier New"/>
                <a:cs typeface="Courier New"/>
              </a:rPr>
              <a:t>Math</a:t>
            </a:r>
            <a:r>
              <a:rPr sz="2000" spc="-5" dirty="0">
                <a:latin typeface="Arial"/>
                <a:cs typeface="Arial"/>
              </a:rPr>
              <a:t>, </a:t>
            </a:r>
            <a:r>
              <a:rPr sz="2000" b="1" spc="-5" dirty="0">
                <a:latin typeface="Courier New"/>
                <a:cs typeface="Courier New"/>
              </a:rPr>
              <a:t>HelloWorld</a:t>
            </a:r>
            <a:r>
              <a:rPr sz="2000" spc="-5" dirty="0">
                <a:latin typeface="Arial"/>
                <a:cs typeface="Arial"/>
              </a:rPr>
              <a:t>,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ConvexGeometricShape</a:t>
            </a:r>
            <a:endParaRPr sz="2000">
              <a:latin typeface="Courier New"/>
              <a:cs typeface="Courier New"/>
            </a:endParaRPr>
          </a:p>
          <a:p>
            <a:pPr marL="683260" lvl="1" indent="-327025">
              <a:lnSpc>
                <a:spcPts val="2815"/>
              </a:lnSpc>
              <a:spcBef>
                <a:spcPts val="725"/>
              </a:spcBef>
              <a:buClr>
                <a:srgbClr val="4B6C4E"/>
              </a:buClr>
              <a:buSzPct val="60416"/>
              <a:buFont typeface="Wingdings"/>
              <a:buChar char=""/>
              <a:tabLst>
                <a:tab pos="683260" algn="l"/>
                <a:tab pos="683895" algn="l"/>
              </a:tabLst>
            </a:pPr>
            <a:r>
              <a:rPr sz="2400" spc="-5" dirty="0">
                <a:latin typeface="Arial"/>
                <a:cs typeface="Arial"/>
              </a:rPr>
              <a:t>Variable name:</a:t>
            </a:r>
            <a:r>
              <a:rPr sz="2400" spc="2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LowerCamelCase</a:t>
            </a:r>
            <a:endParaRPr sz="2400">
              <a:latin typeface="Arial"/>
              <a:cs typeface="Arial"/>
            </a:endParaRPr>
          </a:p>
          <a:p>
            <a:pPr marL="1035050" lvl="2" indent="-352425">
              <a:lnSpc>
                <a:spcPts val="2335"/>
              </a:lnSpc>
              <a:buClr>
                <a:srgbClr val="009999"/>
              </a:buClr>
              <a:buSzPct val="65000"/>
              <a:buFont typeface="Wingdings"/>
              <a:buChar char=""/>
              <a:tabLst>
                <a:tab pos="1035050" algn="l"/>
                <a:tab pos="1035685" algn="l"/>
              </a:tabLst>
            </a:pPr>
            <a:r>
              <a:rPr sz="2000" dirty="0">
                <a:latin typeface="Arial"/>
                <a:cs typeface="Arial"/>
              </a:rPr>
              <a:t>Eg: </a:t>
            </a:r>
            <a:r>
              <a:rPr sz="2000" b="1" spc="-5" dirty="0">
                <a:latin typeface="Courier New"/>
                <a:cs typeface="Courier New"/>
              </a:rPr>
              <a:t>countDays</a:t>
            </a:r>
            <a:r>
              <a:rPr sz="2000" spc="-5" dirty="0">
                <a:latin typeface="Arial"/>
                <a:cs typeface="Arial"/>
              </a:rPr>
              <a:t>, </a:t>
            </a:r>
            <a:r>
              <a:rPr sz="2000" b="1" spc="-5" dirty="0">
                <a:latin typeface="Courier New"/>
                <a:cs typeface="Courier New"/>
              </a:rPr>
              <a:t>innerDiameter</a:t>
            </a:r>
            <a:r>
              <a:rPr sz="2000" spc="-5" dirty="0">
                <a:latin typeface="Arial"/>
                <a:cs typeface="Arial"/>
              </a:rPr>
              <a:t>,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numOfCoins</a:t>
            </a:r>
            <a:endParaRPr sz="2000">
              <a:latin typeface="Courier New"/>
              <a:cs typeface="Courier New"/>
            </a:endParaRPr>
          </a:p>
          <a:p>
            <a:pPr marL="683260" lvl="1" indent="-327025">
              <a:lnSpc>
                <a:spcPts val="2815"/>
              </a:lnSpc>
              <a:spcBef>
                <a:spcPts val="730"/>
              </a:spcBef>
              <a:buClr>
                <a:srgbClr val="4B6C4E"/>
              </a:buClr>
              <a:buSzPct val="60416"/>
              <a:buFont typeface="Wingdings"/>
              <a:buChar char=""/>
              <a:tabLst>
                <a:tab pos="683260" algn="l"/>
                <a:tab pos="683895" algn="l"/>
              </a:tabLst>
            </a:pPr>
            <a:r>
              <a:rPr sz="2400" spc="-5" dirty="0">
                <a:latin typeface="Arial"/>
                <a:cs typeface="Arial"/>
              </a:rPr>
              <a:t>Constant: </a:t>
            </a:r>
            <a:r>
              <a:rPr sz="2400" spc="-10" dirty="0">
                <a:latin typeface="Arial"/>
                <a:cs typeface="Arial"/>
              </a:rPr>
              <a:t>All </a:t>
            </a:r>
            <a:r>
              <a:rPr sz="2400" spc="-5" dirty="0">
                <a:latin typeface="Arial"/>
                <a:cs typeface="Arial"/>
              </a:rPr>
              <a:t>uppercase with</a:t>
            </a:r>
            <a:r>
              <a:rPr sz="2400" spc="6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underscore</a:t>
            </a:r>
            <a:endParaRPr sz="2400">
              <a:latin typeface="Arial"/>
              <a:cs typeface="Arial"/>
            </a:endParaRPr>
          </a:p>
          <a:p>
            <a:pPr marL="1035050" lvl="2" indent="-352425">
              <a:lnSpc>
                <a:spcPts val="2335"/>
              </a:lnSpc>
              <a:buClr>
                <a:srgbClr val="009999"/>
              </a:buClr>
              <a:buSzPct val="65000"/>
              <a:buFont typeface="Wingdings"/>
              <a:buChar char=""/>
              <a:tabLst>
                <a:tab pos="1035050" algn="l"/>
                <a:tab pos="1035685" algn="l"/>
              </a:tabLst>
            </a:pPr>
            <a:r>
              <a:rPr sz="2000" dirty="0">
                <a:latin typeface="Arial"/>
                <a:cs typeface="Arial"/>
              </a:rPr>
              <a:t>Eg: </a:t>
            </a:r>
            <a:r>
              <a:rPr sz="2000" b="1" spc="-5" dirty="0">
                <a:latin typeface="Courier New"/>
                <a:cs typeface="Courier New"/>
              </a:rPr>
              <a:t>PI</a:t>
            </a:r>
            <a:r>
              <a:rPr sz="2000" spc="-5" dirty="0">
                <a:latin typeface="Arial"/>
                <a:cs typeface="Arial"/>
              </a:rPr>
              <a:t>, </a:t>
            </a:r>
            <a:r>
              <a:rPr sz="2000" b="1" spc="-5" dirty="0">
                <a:latin typeface="Courier New"/>
                <a:cs typeface="Courier New"/>
              </a:rPr>
              <a:t>CONVERSION_RATE</a:t>
            </a:r>
            <a:r>
              <a:rPr sz="2000" spc="-5" dirty="0">
                <a:latin typeface="Arial"/>
                <a:cs typeface="Arial"/>
              </a:rPr>
              <a:t>,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CM_PER_INCH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173211" y="155447"/>
            <a:ext cx="944879" cy="98755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791461" y="1486661"/>
            <a:ext cx="6817359" cy="399415"/>
          </a:xfrm>
          <a:prstGeom prst="rect">
            <a:avLst/>
          </a:prstGeom>
          <a:solidFill>
            <a:srgbClr val="EDE879"/>
          </a:solidFill>
          <a:ln w="25907">
            <a:solidFill>
              <a:srgbClr val="7E7E7E"/>
            </a:solidFill>
          </a:ln>
        </p:spPr>
        <p:txBody>
          <a:bodyPr vert="horz" wrap="square" lIns="0" tIns="1524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120"/>
              </a:spcBef>
            </a:pPr>
            <a:r>
              <a:rPr sz="2000" b="1" spc="-5" dirty="0">
                <a:latin typeface="Courier New"/>
                <a:cs typeface="Courier New"/>
              </a:rPr>
              <a:t>public static </a:t>
            </a:r>
            <a:r>
              <a:rPr sz="2000" b="1" spc="-5" dirty="0">
                <a:solidFill>
                  <a:srgbClr val="C00000"/>
                </a:solidFill>
                <a:latin typeface="Courier New"/>
                <a:cs typeface="Courier New"/>
              </a:rPr>
              <a:t>final </a:t>
            </a:r>
            <a:r>
              <a:rPr sz="2000" b="1" spc="-5" dirty="0">
                <a:latin typeface="Courier New"/>
                <a:cs typeface="Courier New"/>
              </a:rPr>
              <a:t>int PASSING_MARK </a:t>
            </a:r>
            <a:r>
              <a:rPr sz="2000" b="1" dirty="0">
                <a:latin typeface="Courier New"/>
                <a:cs typeface="Courier New"/>
              </a:rPr>
              <a:t>=</a:t>
            </a:r>
            <a:r>
              <a:rPr sz="2000" b="1" spc="-20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65;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89"/>
              </a:lnSpc>
              <a:tabLst>
                <a:tab pos="1996439" algn="l"/>
                <a:tab pos="8046720" algn="l"/>
              </a:tabLst>
            </a:pPr>
            <a:r>
              <a:rPr dirty="0"/>
              <a:t>[501043 Lecture 1: Intro</a:t>
            </a:r>
            <a:r>
              <a:rPr spc="-6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Java]	</a:t>
            </a:r>
            <a:r>
              <a:rPr u="heavy" dirty="0">
                <a:uFill>
                  <a:solidFill>
                    <a:srgbClr val="009999"/>
                  </a:solidFill>
                </a:uFill>
              </a:rPr>
              <a:t> 	</a:t>
            </a:r>
            <a:r>
              <a:rPr sz="1600" b="1" i="1" spc="-5" dirty="0">
                <a:solidFill>
                  <a:srgbClr val="C00000"/>
                </a:solidFill>
                <a:latin typeface="Arial"/>
                <a:cs typeface="Arial"/>
              </a:rPr>
              <a:t>22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248158"/>
            <a:ext cx="48761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0" dirty="0">
                <a:solidFill>
                  <a:srgbClr val="C00000"/>
                </a:solidFill>
              </a:rPr>
              <a:t>4.1 </a:t>
            </a:r>
            <a:r>
              <a:rPr spc="-30" dirty="0"/>
              <a:t>Numeric </a:t>
            </a:r>
            <a:r>
              <a:rPr spc="-25" dirty="0"/>
              <a:t>Data</a:t>
            </a:r>
            <a:r>
              <a:rPr spc="-135" dirty="0"/>
              <a:t> </a:t>
            </a:r>
            <a:r>
              <a:rPr spc="-75" dirty="0"/>
              <a:t>Types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013205"/>
            <a:ext cx="716915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009999"/>
              </a:buClr>
              <a:buSzPct val="65000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3000" dirty="0">
                <a:latin typeface="Arial"/>
                <a:cs typeface="Arial"/>
              </a:rPr>
              <a:t>Summary of numeric </a:t>
            </a:r>
            <a:r>
              <a:rPr sz="3000" spc="-5" dirty="0">
                <a:latin typeface="Arial"/>
                <a:cs typeface="Arial"/>
              </a:rPr>
              <a:t>data </a:t>
            </a:r>
            <a:r>
              <a:rPr sz="3000" dirty="0">
                <a:latin typeface="Arial"/>
                <a:cs typeface="Arial"/>
              </a:rPr>
              <a:t>types </a:t>
            </a:r>
            <a:r>
              <a:rPr sz="3000" spc="-5" dirty="0">
                <a:latin typeface="Arial"/>
                <a:cs typeface="Arial"/>
              </a:rPr>
              <a:t>in</a:t>
            </a:r>
            <a:r>
              <a:rPr sz="3000" spc="-6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Java:</a:t>
            </a:r>
            <a:endParaRPr sz="30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365250" y="1670050"/>
          <a:ext cx="7181850" cy="33553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6800"/>
                <a:gridCol w="1066800"/>
                <a:gridCol w="5029200"/>
              </a:tblGrid>
              <a:tr h="640079">
                <a:tc>
                  <a:txBody>
                    <a:bodyPr/>
                    <a:lstStyle/>
                    <a:p>
                      <a:pPr marL="91440" marR="346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40" dirty="0">
                          <a:latin typeface="Arial"/>
                          <a:cs typeface="Arial"/>
                        </a:rPr>
                        <a:t>Type 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1800" b="1" spc="-1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me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AAC9C9"/>
                      </a:solidFill>
                      <a:prstDash val="solid"/>
                    </a:lnL>
                    <a:lnR w="12700">
                      <a:solidFill>
                        <a:srgbClr val="AAC9C9"/>
                      </a:solidFill>
                      <a:prstDash val="solid"/>
                    </a:lnR>
                    <a:lnT w="12700">
                      <a:solidFill>
                        <a:srgbClr val="AAC9C9"/>
                      </a:solidFill>
                      <a:prstDash val="solid"/>
                    </a:lnT>
                    <a:lnB w="12700">
                      <a:solidFill>
                        <a:srgbClr val="AAC9C9"/>
                      </a:solidFill>
                      <a:prstDash val="solid"/>
                    </a:lnB>
                    <a:solidFill>
                      <a:srgbClr val="6F9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9398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Size 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(#b</a:t>
                      </a:r>
                      <a:r>
                        <a:rPr sz="1800" b="1" spc="-20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te</a:t>
                      </a:r>
                      <a:r>
                        <a:rPr sz="1800" b="1" spc="-10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)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AAC9C9"/>
                      </a:solidFill>
                      <a:prstDash val="solid"/>
                    </a:lnL>
                    <a:lnR w="12700">
                      <a:solidFill>
                        <a:srgbClr val="AAC9C9"/>
                      </a:solidFill>
                      <a:prstDash val="solid"/>
                    </a:lnR>
                    <a:lnT w="12700">
                      <a:solidFill>
                        <a:srgbClr val="AAC9C9"/>
                      </a:solidFill>
                      <a:prstDash val="solid"/>
                    </a:lnT>
                    <a:lnB w="12700">
                      <a:solidFill>
                        <a:srgbClr val="AAC9C9"/>
                      </a:solidFill>
                      <a:prstDash val="solid"/>
                    </a:lnB>
                    <a:solidFill>
                      <a:srgbClr val="6F9FF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Range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AAC9C9"/>
                      </a:solidFill>
                      <a:prstDash val="solid"/>
                    </a:lnL>
                    <a:lnR w="12700">
                      <a:solidFill>
                        <a:srgbClr val="AAC9C9"/>
                      </a:solidFill>
                      <a:prstDash val="solid"/>
                    </a:lnR>
                    <a:lnT w="12700">
                      <a:solidFill>
                        <a:srgbClr val="AAC9C9"/>
                      </a:solidFill>
                      <a:prstDash val="solid"/>
                    </a:lnT>
                    <a:lnB w="12700">
                      <a:solidFill>
                        <a:srgbClr val="AAC9C9"/>
                      </a:solidFill>
                      <a:prstDash val="solid"/>
                    </a:lnB>
                    <a:solidFill>
                      <a:srgbClr val="6F9FFF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800" b="1" spc="-10" dirty="0">
                          <a:latin typeface="Courier New"/>
                          <a:cs typeface="Courier New"/>
                        </a:rPr>
                        <a:t>byte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19050" marB="0">
                    <a:lnL w="12700">
                      <a:solidFill>
                        <a:srgbClr val="AAC9C9"/>
                      </a:solidFill>
                      <a:prstDash val="solid"/>
                    </a:lnL>
                    <a:lnR w="12700">
                      <a:solidFill>
                        <a:srgbClr val="AAC9C9"/>
                      </a:solidFill>
                      <a:prstDash val="solid"/>
                    </a:lnR>
                    <a:lnT w="12700">
                      <a:solidFill>
                        <a:srgbClr val="AAC9C9"/>
                      </a:solidFill>
                      <a:prstDash val="solid"/>
                    </a:lnT>
                    <a:lnB w="12700">
                      <a:solidFill>
                        <a:srgbClr val="AAC9C9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800" b="1" dirty="0">
                          <a:latin typeface="Courier New"/>
                          <a:cs typeface="Courier New"/>
                        </a:rPr>
                        <a:t>1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19050" marB="0">
                    <a:lnL w="12700">
                      <a:solidFill>
                        <a:srgbClr val="AAC9C9"/>
                      </a:solidFill>
                      <a:prstDash val="solid"/>
                    </a:lnL>
                    <a:lnR w="12700">
                      <a:solidFill>
                        <a:srgbClr val="AAC9C9"/>
                      </a:solidFill>
                      <a:prstDash val="solid"/>
                    </a:lnR>
                    <a:lnT w="12700">
                      <a:solidFill>
                        <a:srgbClr val="AAC9C9"/>
                      </a:solidFill>
                      <a:prstDash val="solid"/>
                    </a:lnT>
                    <a:lnB w="12700">
                      <a:solidFill>
                        <a:srgbClr val="AAC9C9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-2</a:t>
                      </a:r>
                      <a:r>
                        <a:rPr sz="1800" spc="-7" baseline="25462" dirty="0">
                          <a:latin typeface="Arial"/>
                          <a:cs typeface="Arial"/>
                        </a:rPr>
                        <a:t>7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to</a:t>
                      </a:r>
                      <a:r>
                        <a:rPr sz="1800" spc="-1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1800" spc="-7" baseline="25462" dirty="0">
                          <a:latin typeface="Arial"/>
                          <a:cs typeface="Arial"/>
                        </a:rPr>
                        <a:t>7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-1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AAC9C9"/>
                      </a:solidFill>
                      <a:prstDash val="solid"/>
                    </a:lnL>
                    <a:lnR w="12700">
                      <a:solidFill>
                        <a:srgbClr val="AAC9C9"/>
                      </a:solidFill>
                      <a:prstDash val="solid"/>
                    </a:lnR>
                    <a:lnT w="12700">
                      <a:solidFill>
                        <a:srgbClr val="AAC9C9"/>
                      </a:solidFill>
                      <a:prstDash val="solid"/>
                    </a:lnT>
                    <a:lnB w="12700">
                      <a:solidFill>
                        <a:srgbClr val="AAC9C9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</a:tr>
              <a:tr h="3708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800" b="1" spc="-10" dirty="0">
                          <a:latin typeface="Courier New"/>
                          <a:cs typeface="Courier New"/>
                        </a:rPr>
                        <a:t>short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19050" marB="0">
                    <a:lnL w="12700">
                      <a:solidFill>
                        <a:srgbClr val="AAC9C9"/>
                      </a:solidFill>
                      <a:prstDash val="solid"/>
                    </a:lnL>
                    <a:lnR w="12700">
                      <a:solidFill>
                        <a:srgbClr val="AAC9C9"/>
                      </a:solidFill>
                      <a:prstDash val="solid"/>
                    </a:lnR>
                    <a:lnT w="12700">
                      <a:solidFill>
                        <a:srgbClr val="AAC9C9"/>
                      </a:solidFill>
                      <a:prstDash val="solid"/>
                    </a:lnT>
                    <a:lnB w="12700">
                      <a:solidFill>
                        <a:srgbClr val="AAC9C9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800" b="1" dirty="0">
                          <a:latin typeface="Courier New"/>
                          <a:cs typeface="Courier New"/>
                        </a:rPr>
                        <a:t>2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19050" marB="0">
                    <a:lnL w="12700">
                      <a:solidFill>
                        <a:srgbClr val="AAC9C9"/>
                      </a:solidFill>
                      <a:prstDash val="solid"/>
                    </a:lnL>
                    <a:lnR w="12700">
                      <a:solidFill>
                        <a:srgbClr val="AAC9C9"/>
                      </a:solidFill>
                      <a:prstDash val="solid"/>
                    </a:lnR>
                    <a:lnT w="12700">
                      <a:solidFill>
                        <a:srgbClr val="AAC9C9"/>
                      </a:solidFill>
                      <a:prstDash val="solid"/>
                    </a:lnT>
                    <a:lnB w="12700">
                      <a:solidFill>
                        <a:srgbClr val="AAC9C9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-2</a:t>
                      </a:r>
                      <a:r>
                        <a:rPr sz="1800" spc="-7" baseline="25462" dirty="0">
                          <a:latin typeface="Arial"/>
                          <a:cs typeface="Arial"/>
                        </a:rPr>
                        <a:t>15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to</a:t>
                      </a:r>
                      <a:r>
                        <a:rPr sz="1800" spc="-18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1800" spc="-7" baseline="25462" dirty="0">
                          <a:latin typeface="Arial"/>
                          <a:cs typeface="Arial"/>
                        </a:rPr>
                        <a:t>15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-1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AAC9C9"/>
                      </a:solidFill>
                      <a:prstDash val="solid"/>
                    </a:lnL>
                    <a:lnR w="12700">
                      <a:solidFill>
                        <a:srgbClr val="AAC9C9"/>
                      </a:solidFill>
                      <a:prstDash val="solid"/>
                    </a:lnR>
                    <a:lnT w="12700">
                      <a:solidFill>
                        <a:srgbClr val="AAC9C9"/>
                      </a:solidFill>
                      <a:prstDash val="solid"/>
                    </a:lnT>
                    <a:lnB w="12700">
                      <a:solidFill>
                        <a:srgbClr val="AAC9C9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</a:tr>
              <a:tr h="370839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800" b="1" spc="-5" dirty="0">
                          <a:solidFill>
                            <a:srgbClr val="C00000"/>
                          </a:solidFill>
                          <a:latin typeface="Courier New"/>
                          <a:cs typeface="Courier New"/>
                        </a:rPr>
                        <a:t>int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19050" marB="0">
                    <a:lnL w="12700">
                      <a:solidFill>
                        <a:srgbClr val="AAC9C9"/>
                      </a:solidFill>
                      <a:prstDash val="solid"/>
                    </a:lnL>
                    <a:lnR w="12700">
                      <a:solidFill>
                        <a:srgbClr val="AAC9C9"/>
                      </a:solidFill>
                      <a:prstDash val="solid"/>
                    </a:lnR>
                    <a:lnT w="12700">
                      <a:solidFill>
                        <a:srgbClr val="AAC9C9"/>
                      </a:solidFill>
                      <a:prstDash val="solid"/>
                    </a:lnT>
                    <a:lnB w="12700">
                      <a:solidFill>
                        <a:srgbClr val="AAC9C9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800" b="1" dirty="0">
                          <a:solidFill>
                            <a:srgbClr val="C00000"/>
                          </a:solidFill>
                          <a:latin typeface="Courier New"/>
                          <a:cs typeface="Courier New"/>
                        </a:rPr>
                        <a:t>4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19050" marB="0">
                    <a:lnL w="12700">
                      <a:solidFill>
                        <a:srgbClr val="AAC9C9"/>
                      </a:solidFill>
                      <a:prstDash val="solid"/>
                    </a:lnL>
                    <a:lnR w="12700">
                      <a:solidFill>
                        <a:srgbClr val="AAC9C9"/>
                      </a:solidFill>
                      <a:prstDash val="solid"/>
                    </a:lnR>
                    <a:lnT w="12700">
                      <a:solidFill>
                        <a:srgbClr val="AAC9C9"/>
                      </a:solidFill>
                      <a:prstDash val="solid"/>
                    </a:lnT>
                    <a:lnB w="12700">
                      <a:solidFill>
                        <a:srgbClr val="AAC9C9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5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-2</a:t>
                      </a:r>
                      <a:r>
                        <a:rPr sz="1800" b="1" spc="-7" baseline="25462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31 </a:t>
                      </a:r>
                      <a:r>
                        <a:rPr sz="1800" b="1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sz="1800" b="1" spc="-175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2</a:t>
                      </a:r>
                      <a:r>
                        <a:rPr sz="1800" b="1" spc="-7" baseline="25462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31</a:t>
                      </a:r>
                      <a:r>
                        <a:rPr sz="1800" b="1" spc="-5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-1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AAC9C9"/>
                      </a:solidFill>
                      <a:prstDash val="solid"/>
                    </a:lnL>
                    <a:lnR w="12700">
                      <a:solidFill>
                        <a:srgbClr val="AAC9C9"/>
                      </a:solidFill>
                      <a:prstDash val="solid"/>
                    </a:lnR>
                    <a:lnT w="12700">
                      <a:solidFill>
                        <a:srgbClr val="AAC9C9"/>
                      </a:solidFill>
                      <a:prstDash val="solid"/>
                    </a:lnT>
                    <a:lnB w="12700">
                      <a:solidFill>
                        <a:srgbClr val="AAC9C9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</a:tr>
              <a:tr h="3708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800" b="1" spc="-10" dirty="0">
                          <a:latin typeface="Courier New"/>
                          <a:cs typeface="Courier New"/>
                        </a:rPr>
                        <a:t>long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19050" marB="0">
                    <a:lnL w="12700">
                      <a:solidFill>
                        <a:srgbClr val="AAC9C9"/>
                      </a:solidFill>
                      <a:prstDash val="solid"/>
                    </a:lnL>
                    <a:lnR w="12700">
                      <a:solidFill>
                        <a:srgbClr val="AAC9C9"/>
                      </a:solidFill>
                      <a:prstDash val="solid"/>
                    </a:lnR>
                    <a:lnT w="12700">
                      <a:solidFill>
                        <a:srgbClr val="AAC9C9"/>
                      </a:solidFill>
                      <a:prstDash val="solid"/>
                    </a:lnT>
                    <a:lnB w="12700">
                      <a:solidFill>
                        <a:srgbClr val="AAC9C9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800" b="1" dirty="0">
                          <a:latin typeface="Courier New"/>
                          <a:cs typeface="Courier New"/>
                        </a:rPr>
                        <a:t>8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19050" marB="0">
                    <a:lnL w="12700">
                      <a:solidFill>
                        <a:srgbClr val="AAC9C9"/>
                      </a:solidFill>
                      <a:prstDash val="solid"/>
                    </a:lnL>
                    <a:lnR w="12700">
                      <a:solidFill>
                        <a:srgbClr val="AAC9C9"/>
                      </a:solidFill>
                      <a:prstDash val="solid"/>
                    </a:lnR>
                    <a:lnT w="12700">
                      <a:solidFill>
                        <a:srgbClr val="AAC9C9"/>
                      </a:solidFill>
                      <a:prstDash val="solid"/>
                    </a:lnT>
                    <a:lnB w="12700">
                      <a:solidFill>
                        <a:srgbClr val="AAC9C9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-2</a:t>
                      </a:r>
                      <a:r>
                        <a:rPr sz="1800" spc="-7" baseline="25462" dirty="0">
                          <a:latin typeface="Arial"/>
                          <a:cs typeface="Arial"/>
                        </a:rPr>
                        <a:t>63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to</a:t>
                      </a:r>
                      <a:r>
                        <a:rPr sz="1800" spc="-18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1800" spc="-7" baseline="25462" dirty="0">
                          <a:latin typeface="Arial"/>
                          <a:cs typeface="Arial"/>
                        </a:rPr>
                        <a:t>63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-1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AAC9C9"/>
                      </a:solidFill>
                      <a:prstDash val="solid"/>
                    </a:lnL>
                    <a:lnR w="12700">
                      <a:solidFill>
                        <a:srgbClr val="AAC9C9"/>
                      </a:solidFill>
                      <a:prstDash val="solid"/>
                    </a:lnR>
                    <a:lnT w="12700">
                      <a:solidFill>
                        <a:srgbClr val="AAC9C9"/>
                      </a:solidFill>
                      <a:prstDash val="solid"/>
                    </a:lnT>
                    <a:lnB w="12700">
                      <a:solidFill>
                        <a:srgbClr val="AAC9C9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800" b="1" spc="-10" dirty="0">
                          <a:latin typeface="Courier New"/>
                          <a:cs typeface="Courier New"/>
                        </a:rPr>
                        <a:t>float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19050" marB="0">
                    <a:lnL w="12700">
                      <a:solidFill>
                        <a:srgbClr val="AAC9C9"/>
                      </a:solidFill>
                      <a:prstDash val="solid"/>
                    </a:lnL>
                    <a:lnR w="12700">
                      <a:solidFill>
                        <a:srgbClr val="AAC9C9"/>
                      </a:solidFill>
                      <a:prstDash val="solid"/>
                    </a:lnR>
                    <a:lnT w="12700">
                      <a:solidFill>
                        <a:srgbClr val="AAC9C9"/>
                      </a:solidFill>
                      <a:prstDash val="solid"/>
                    </a:lnT>
                    <a:lnB w="12700">
                      <a:solidFill>
                        <a:srgbClr val="AAC9C9"/>
                      </a:solidFill>
                      <a:prstDash val="soli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800" b="1" dirty="0">
                          <a:latin typeface="Courier New"/>
                          <a:cs typeface="Courier New"/>
                        </a:rPr>
                        <a:t>4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19050" marB="0">
                    <a:lnL w="12700">
                      <a:solidFill>
                        <a:srgbClr val="AAC9C9"/>
                      </a:solidFill>
                      <a:prstDash val="solid"/>
                    </a:lnL>
                    <a:lnR w="12700">
                      <a:solidFill>
                        <a:srgbClr val="AAC9C9"/>
                      </a:solidFill>
                      <a:prstDash val="solid"/>
                    </a:lnR>
                    <a:lnT w="12700">
                      <a:solidFill>
                        <a:srgbClr val="AAC9C9"/>
                      </a:solidFill>
                      <a:prstDash val="solid"/>
                    </a:lnT>
                    <a:lnB w="12700">
                      <a:solidFill>
                        <a:srgbClr val="AAC9C9"/>
                      </a:solidFill>
                      <a:prstDash val="soli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1012825">
                        <a:lnSpc>
                          <a:spcPct val="100000"/>
                        </a:lnSpc>
                        <a:spcBef>
                          <a:spcPts val="320"/>
                        </a:spcBef>
                        <a:tabLst>
                          <a:tab pos="1081405" algn="l"/>
                        </a:tabLst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Negative: -3.4028235E+38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to 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-1.4E-45  Positive:	1.4E-45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to</a:t>
                      </a:r>
                      <a:r>
                        <a:rPr sz="18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3.4028235E+38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AAC9C9"/>
                      </a:solidFill>
                      <a:prstDash val="solid"/>
                    </a:lnL>
                    <a:lnR w="12700">
                      <a:solidFill>
                        <a:srgbClr val="AAC9C9"/>
                      </a:solidFill>
                      <a:prstDash val="solid"/>
                    </a:lnR>
                    <a:lnT w="12700">
                      <a:solidFill>
                        <a:srgbClr val="AAC9C9"/>
                      </a:solidFill>
                      <a:prstDash val="solid"/>
                    </a:lnT>
                    <a:lnB w="12700">
                      <a:solidFill>
                        <a:srgbClr val="AAC9C9"/>
                      </a:solidFill>
                      <a:prstDash val="solid"/>
                    </a:lnB>
                    <a:solidFill>
                      <a:srgbClr val="FFCCFF"/>
                    </a:solidFill>
                  </a:tcPr>
                </a:tc>
              </a:tr>
              <a:tr h="579119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800" b="1" spc="-10" dirty="0">
                          <a:solidFill>
                            <a:srgbClr val="C00000"/>
                          </a:solidFill>
                          <a:latin typeface="Courier New"/>
                          <a:cs typeface="Courier New"/>
                        </a:rPr>
                        <a:t>double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19050" marB="0">
                    <a:lnL w="12700">
                      <a:solidFill>
                        <a:srgbClr val="AAC9C9"/>
                      </a:solidFill>
                      <a:prstDash val="solid"/>
                    </a:lnL>
                    <a:lnR w="12700">
                      <a:solidFill>
                        <a:srgbClr val="AAC9C9"/>
                      </a:solidFill>
                      <a:prstDash val="solid"/>
                    </a:lnR>
                    <a:lnT w="12700">
                      <a:solidFill>
                        <a:srgbClr val="AAC9C9"/>
                      </a:solidFill>
                      <a:prstDash val="solid"/>
                    </a:lnT>
                    <a:lnB w="12700">
                      <a:solidFill>
                        <a:srgbClr val="AAC9C9"/>
                      </a:solidFill>
                      <a:prstDash val="soli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800" b="1" dirty="0">
                          <a:solidFill>
                            <a:srgbClr val="C00000"/>
                          </a:solidFill>
                          <a:latin typeface="Courier New"/>
                          <a:cs typeface="Courier New"/>
                        </a:rPr>
                        <a:t>8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19050" marB="0">
                    <a:lnL w="12700">
                      <a:solidFill>
                        <a:srgbClr val="AAC9C9"/>
                      </a:solidFill>
                      <a:prstDash val="solid"/>
                    </a:lnL>
                    <a:lnR w="12700">
                      <a:solidFill>
                        <a:srgbClr val="AAC9C9"/>
                      </a:solidFill>
                      <a:prstDash val="solid"/>
                    </a:lnR>
                    <a:lnT w="12700">
                      <a:solidFill>
                        <a:srgbClr val="AAC9C9"/>
                      </a:solidFill>
                      <a:prstDash val="solid"/>
                    </a:lnT>
                    <a:lnB w="12700">
                      <a:solidFill>
                        <a:srgbClr val="AAC9C9"/>
                      </a:solidFill>
                      <a:prstDash val="soli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10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Negative: -1.7976931348623157E+308 </a:t>
                      </a:r>
                      <a:r>
                        <a:rPr sz="1600" b="1" spc="-5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sz="1600" b="1" spc="140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-4.9E-324</a:t>
                      </a:r>
                      <a:endParaRPr sz="1600">
                        <a:latin typeface="Arial"/>
                        <a:cs typeface="Arial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b="1" spc="-10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Positive: </a:t>
                      </a:r>
                      <a:r>
                        <a:rPr sz="1600" b="1" spc="-5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4.9E-324 to</a:t>
                      </a:r>
                      <a:r>
                        <a:rPr sz="1600" b="1" spc="125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5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1.7976931348623157E+308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AAC9C9"/>
                      </a:solidFill>
                      <a:prstDash val="solid"/>
                    </a:lnL>
                    <a:lnR w="12700">
                      <a:solidFill>
                        <a:srgbClr val="AAC9C9"/>
                      </a:solidFill>
                      <a:prstDash val="solid"/>
                    </a:lnR>
                    <a:lnT w="12700">
                      <a:solidFill>
                        <a:srgbClr val="AAC9C9"/>
                      </a:solidFill>
                      <a:prstDash val="solid"/>
                    </a:lnT>
                    <a:lnB w="12700">
                      <a:solidFill>
                        <a:srgbClr val="AAC9C9"/>
                      </a:solidFill>
                      <a:prstDash val="solid"/>
                    </a:lnB>
                    <a:solidFill>
                      <a:srgbClr val="FFCCFF"/>
                    </a:solidFill>
                  </a:tcPr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535940" y="5207965"/>
            <a:ext cx="5801360" cy="9855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ts val="2815"/>
              </a:lnSpc>
              <a:spcBef>
                <a:spcPts val="100"/>
              </a:spcBef>
              <a:buClr>
                <a:srgbClr val="009999"/>
              </a:buClr>
              <a:buSzPct val="64583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400" spc="-5" dirty="0">
                <a:latin typeface="Arial"/>
                <a:cs typeface="Arial"/>
              </a:rPr>
              <a:t>Unless </a:t>
            </a:r>
            <a:r>
              <a:rPr sz="2400" dirty="0">
                <a:latin typeface="Arial"/>
                <a:cs typeface="Arial"/>
              </a:rPr>
              <a:t>otherwise stated, you are to use:</a:t>
            </a:r>
            <a:endParaRPr sz="2400">
              <a:latin typeface="Arial"/>
              <a:cs typeface="Arial"/>
            </a:endParaRPr>
          </a:p>
          <a:p>
            <a:pPr marL="812800" lvl="1" indent="-343535">
              <a:lnSpc>
                <a:spcPts val="2335"/>
              </a:lnSpc>
              <a:buClr>
                <a:srgbClr val="009999"/>
              </a:buClr>
              <a:buSzPct val="65000"/>
              <a:buFont typeface="Wingdings"/>
              <a:buChar char=""/>
              <a:tabLst>
                <a:tab pos="812800" algn="l"/>
                <a:tab pos="813435" algn="l"/>
              </a:tabLst>
            </a:pPr>
            <a:r>
              <a:rPr sz="2000" b="1" spc="-5" dirty="0">
                <a:solidFill>
                  <a:srgbClr val="0000FF"/>
                </a:solidFill>
                <a:latin typeface="Courier New"/>
                <a:cs typeface="Courier New"/>
              </a:rPr>
              <a:t>int</a:t>
            </a:r>
            <a:r>
              <a:rPr sz="2000" b="1" spc="-69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latin typeface="Arial"/>
                <a:cs typeface="Arial"/>
              </a:rPr>
              <a:t>for integers</a:t>
            </a:r>
            <a:endParaRPr sz="2000">
              <a:latin typeface="Arial"/>
              <a:cs typeface="Arial"/>
            </a:endParaRPr>
          </a:p>
          <a:p>
            <a:pPr marL="812800" lvl="1" indent="-343535">
              <a:lnSpc>
                <a:spcPct val="100000"/>
              </a:lnSpc>
              <a:buClr>
                <a:srgbClr val="009999"/>
              </a:buClr>
              <a:buSzPct val="65000"/>
              <a:buFont typeface="Wingdings"/>
              <a:buChar char=""/>
              <a:tabLst>
                <a:tab pos="812800" algn="l"/>
                <a:tab pos="813435" algn="l"/>
              </a:tabLst>
            </a:pPr>
            <a:r>
              <a:rPr sz="2000" b="1" spc="-5" dirty="0">
                <a:solidFill>
                  <a:srgbClr val="0000FF"/>
                </a:solidFill>
                <a:latin typeface="Courier New"/>
                <a:cs typeface="Courier New"/>
              </a:rPr>
              <a:t>double</a:t>
            </a:r>
            <a:r>
              <a:rPr sz="2000" b="1" spc="-72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latin typeface="Arial"/>
                <a:cs typeface="Arial"/>
              </a:rPr>
              <a:t>for floating-point numbers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22250" y="2353055"/>
            <a:ext cx="1004569" cy="1390650"/>
            <a:chOff x="222250" y="2353055"/>
            <a:chExt cx="1004569" cy="1390650"/>
          </a:xfrm>
        </p:grpSpPr>
        <p:sp>
          <p:nvSpPr>
            <p:cNvPr id="7" name="object 7"/>
            <p:cNvSpPr/>
            <p:nvPr/>
          </p:nvSpPr>
          <p:spPr>
            <a:xfrm>
              <a:off x="914400" y="2360675"/>
              <a:ext cx="304800" cy="1371600"/>
            </a:xfrm>
            <a:custGeom>
              <a:avLst/>
              <a:gdLst/>
              <a:ahLst/>
              <a:cxnLst/>
              <a:rect l="l" t="t" r="r" b="b"/>
              <a:pathLst>
                <a:path w="304800" h="1371600">
                  <a:moveTo>
                    <a:pt x="304800" y="1371600"/>
                  </a:moveTo>
                  <a:lnTo>
                    <a:pt x="245481" y="1369595"/>
                  </a:lnTo>
                  <a:lnTo>
                    <a:pt x="197038" y="1364138"/>
                  </a:lnTo>
                  <a:lnTo>
                    <a:pt x="164377" y="1356062"/>
                  </a:lnTo>
                  <a:lnTo>
                    <a:pt x="152400" y="1346200"/>
                  </a:lnTo>
                  <a:lnTo>
                    <a:pt x="152400" y="711200"/>
                  </a:lnTo>
                  <a:lnTo>
                    <a:pt x="140422" y="701337"/>
                  </a:lnTo>
                  <a:lnTo>
                    <a:pt x="107761" y="693261"/>
                  </a:lnTo>
                  <a:lnTo>
                    <a:pt x="59318" y="687804"/>
                  </a:lnTo>
                  <a:lnTo>
                    <a:pt x="0" y="685800"/>
                  </a:lnTo>
                  <a:lnTo>
                    <a:pt x="59318" y="683795"/>
                  </a:lnTo>
                  <a:lnTo>
                    <a:pt x="107761" y="678338"/>
                  </a:lnTo>
                  <a:lnTo>
                    <a:pt x="140422" y="670262"/>
                  </a:lnTo>
                  <a:lnTo>
                    <a:pt x="152400" y="660400"/>
                  </a:lnTo>
                  <a:lnTo>
                    <a:pt x="152400" y="25400"/>
                  </a:lnTo>
                  <a:lnTo>
                    <a:pt x="164377" y="15537"/>
                  </a:lnTo>
                  <a:lnTo>
                    <a:pt x="197038" y="7461"/>
                  </a:lnTo>
                  <a:lnTo>
                    <a:pt x="245481" y="2004"/>
                  </a:lnTo>
                  <a:lnTo>
                    <a:pt x="304800" y="0"/>
                  </a:lnTo>
                </a:path>
              </a:pathLst>
            </a:custGeom>
            <a:ln w="152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28600" y="2365247"/>
              <a:ext cx="685800" cy="1371600"/>
            </a:xfrm>
            <a:custGeom>
              <a:avLst/>
              <a:gdLst/>
              <a:ahLst/>
              <a:cxnLst/>
              <a:rect l="l" t="t" r="r" b="b"/>
              <a:pathLst>
                <a:path w="685800" h="1371600">
                  <a:moveTo>
                    <a:pt x="685800" y="0"/>
                  </a:moveTo>
                  <a:lnTo>
                    <a:pt x="0" y="0"/>
                  </a:lnTo>
                  <a:lnTo>
                    <a:pt x="0" y="1371600"/>
                  </a:lnTo>
                  <a:lnTo>
                    <a:pt x="685800" y="1371600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F1ED9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28600" y="2365247"/>
              <a:ext cx="685800" cy="1371600"/>
            </a:xfrm>
            <a:custGeom>
              <a:avLst/>
              <a:gdLst/>
              <a:ahLst/>
              <a:cxnLst/>
              <a:rect l="l" t="t" r="r" b="b"/>
              <a:pathLst>
                <a:path w="685800" h="1371600">
                  <a:moveTo>
                    <a:pt x="0" y="1371600"/>
                  </a:moveTo>
                  <a:lnTo>
                    <a:pt x="685800" y="1371600"/>
                  </a:lnTo>
                  <a:lnTo>
                    <a:pt x="685800" y="0"/>
                  </a:lnTo>
                  <a:lnTo>
                    <a:pt x="0" y="0"/>
                  </a:lnTo>
                  <a:lnTo>
                    <a:pt x="0" y="1371600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29588" y="2452819"/>
            <a:ext cx="482600" cy="119951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algn="ctr">
              <a:lnSpc>
                <a:spcPts val="1810"/>
              </a:lnSpc>
            </a:pPr>
            <a:r>
              <a:rPr sz="1600" b="1" spc="-5" dirty="0">
                <a:latin typeface="Arial"/>
                <a:cs typeface="Arial"/>
              </a:rPr>
              <a:t>Integer</a:t>
            </a:r>
            <a:r>
              <a:rPr sz="1600" b="1" spc="-45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Data</a:t>
            </a:r>
            <a:endParaRPr sz="1600">
              <a:latin typeface="Arial"/>
              <a:cs typeface="Arial"/>
            </a:endParaRPr>
          </a:p>
          <a:p>
            <a:pPr marL="1270" algn="ctr">
              <a:lnSpc>
                <a:spcPts val="1864"/>
              </a:lnSpc>
            </a:pPr>
            <a:r>
              <a:rPr sz="1600" b="1" spc="-40" dirty="0">
                <a:latin typeface="Arial"/>
                <a:cs typeface="Arial"/>
              </a:rPr>
              <a:t>Types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22504" y="3755135"/>
            <a:ext cx="1004569" cy="1234440"/>
            <a:chOff x="222504" y="3755135"/>
            <a:chExt cx="1004569" cy="1234440"/>
          </a:xfrm>
        </p:grpSpPr>
        <p:sp>
          <p:nvSpPr>
            <p:cNvPr id="12" name="object 12"/>
            <p:cNvSpPr/>
            <p:nvPr/>
          </p:nvSpPr>
          <p:spPr>
            <a:xfrm>
              <a:off x="990600" y="3762755"/>
              <a:ext cx="228600" cy="1219200"/>
            </a:xfrm>
            <a:custGeom>
              <a:avLst/>
              <a:gdLst/>
              <a:ahLst/>
              <a:cxnLst/>
              <a:rect l="l" t="t" r="r" b="b"/>
              <a:pathLst>
                <a:path w="228600" h="1219200">
                  <a:moveTo>
                    <a:pt x="228600" y="1219200"/>
                  </a:moveTo>
                  <a:lnTo>
                    <a:pt x="184106" y="1217705"/>
                  </a:lnTo>
                  <a:lnTo>
                    <a:pt x="147775" y="1213627"/>
                  </a:lnTo>
                  <a:lnTo>
                    <a:pt x="123281" y="1207573"/>
                  </a:lnTo>
                  <a:lnTo>
                    <a:pt x="114300" y="1200150"/>
                  </a:lnTo>
                  <a:lnTo>
                    <a:pt x="114300" y="628650"/>
                  </a:lnTo>
                  <a:lnTo>
                    <a:pt x="105318" y="621226"/>
                  </a:lnTo>
                  <a:lnTo>
                    <a:pt x="80824" y="615172"/>
                  </a:lnTo>
                  <a:lnTo>
                    <a:pt x="44493" y="611094"/>
                  </a:lnTo>
                  <a:lnTo>
                    <a:pt x="0" y="609600"/>
                  </a:lnTo>
                  <a:lnTo>
                    <a:pt x="44493" y="608105"/>
                  </a:lnTo>
                  <a:lnTo>
                    <a:pt x="80824" y="604027"/>
                  </a:lnTo>
                  <a:lnTo>
                    <a:pt x="105318" y="597973"/>
                  </a:lnTo>
                  <a:lnTo>
                    <a:pt x="114300" y="590550"/>
                  </a:lnTo>
                  <a:lnTo>
                    <a:pt x="114300" y="19050"/>
                  </a:lnTo>
                  <a:lnTo>
                    <a:pt x="123281" y="11626"/>
                  </a:lnTo>
                  <a:lnTo>
                    <a:pt x="147775" y="5572"/>
                  </a:lnTo>
                  <a:lnTo>
                    <a:pt x="184106" y="1494"/>
                  </a:lnTo>
                  <a:lnTo>
                    <a:pt x="228600" y="0"/>
                  </a:lnTo>
                </a:path>
              </a:pathLst>
            </a:custGeom>
            <a:ln w="152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28600" y="3762755"/>
              <a:ext cx="685800" cy="1219200"/>
            </a:xfrm>
            <a:custGeom>
              <a:avLst/>
              <a:gdLst/>
              <a:ahLst/>
              <a:cxnLst/>
              <a:rect l="l" t="t" r="r" b="b"/>
              <a:pathLst>
                <a:path w="685800" h="1219200">
                  <a:moveTo>
                    <a:pt x="685800" y="0"/>
                  </a:moveTo>
                  <a:lnTo>
                    <a:pt x="0" y="0"/>
                  </a:lnTo>
                  <a:lnTo>
                    <a:pt x="0" y="1219200"/>
                  </a:lnTo>
                  <a:lnTo>
                    <a:pt x="685800" y="1219200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FF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28600" y="3762755"/>
              <a:ext cx="685800" cy="1219200"/>
            </a:xfrm>
            <a:custGeom>
              <a:avLst/>
              <a:gdLst/>
              <a:ahLst/>
              <a:cxnLst/>
              <a:rect l="l" t="t" r="r" b="b"/>
              <a:pathLst>
                <a:path w="685800" h="1219200">
                  <a:moveTo>
                    <a:pt x="0" y="1219200"/>
                  </a:moveTo>
                  <a:lnTo>
                    <a:pt x="685800" y="1219200"/>
                  </a:lnTo>
                  <a:lnTo>
                    <a:pt x="685800" y="0"/>
                  </a:lnTo>
                  <a:lnTo>
                    <a:pt x="0" y="0"/>
                  </a:lnTo>
                  <a:lnTo>
                    <a:pt x="0" y="1219200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07668" y="3858587"/>
            <a:ext cx="726440" cy="1029969"/>
          </a:xfrm>
          <a:prstGeom prst="rect">
            <a:avLst/>
          </a:prstGeom>
        </p:spPr>
        <p:txBody>
          <a:bodyPr vert="vert270" wrap="square" lIns="0" tIns="635" rIns="0" bIns="0" rtlCol="0">
            <a:spAutoFit/>
          </a:bodyPr>
          <a:lstStyle/>
          <a:p>
            <a:pPr marL="12700" marR="5080" indent="-1270" algn="ctr">
              <a:lnSpc>
                <a:spcPts val="1920"/>
              </a:lnSpc>
              <a:spcBef>
                <a:spcPts val="5"/>
              </a:spcBef>
            </a:pPr>
            <a:r>
              <a:rPr sz="1600" b="1" spc="-5" dirty="0">
                <a:latin typeface="Arial"/>
                <a:cs typeface="Arial"/>
              </a:rPr>
              <a:t>Floating-  Point</a:t>
            </a:r>
            <a:r>
              <a:rPr sz="1600" b="1" spc="-60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Data</a:t>
            </a:r>
            <a:endParaRPr sz="1600">
              <a:latin typeface="Arial"/>
              <a:cs typeface="Arial"/>
            </a:endParaRPr>
          </a:p>
          <a:p>
            <a:pPr algn="ctr">
              <a:lnSpc>
                <a:spcPts val="1750"/>
              </a:lnSpc>
            </a:pPr>
            <a:r>
              <a:rPr sz="1600" b="1" spc="-40" dirty="0">
                <a:latin typeface="Arial"/>
                <a:cs typeface="Arial"/>
              </a:rPr>
              <a:t>Types</a:t>
            </a:r>
            <a:endParaRPr sz="16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173211" y="155447"/>
            <a:ext cx="944879" cy="9875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89"/>
              </a:lnSpc>
              <a:tabLst>
                <a:tab pos="1996439" algn="l"/>
                <a:tab pos="8046720" algn="l"/>
              </a:tabLst>
            </a:pPr>
            <a:r>
              <a:rPr dirty="0"/>
              <a:t>[501043 Lecture 1: Intro</a:t>
            </a:r>
            <a:r>
              <a:rPr spc="-6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Java]	</a:t>
            </a:r>
            <a:r>
              <a:rPr u="heavy" dirty="0">
                <a:uFill>
                  <a:solidFill>
                    <a:srgbClr val="009999"/>
                  </a:solidFill>
                </a:uFill>
              </a:rPr>
              <a:t> 	</a:t>
            </a:r>
            <a:r>
              <a:rPr sz="1600" b="1" i="1" spc="-5" dirty="0">
                <a:solidFill>
                  <a:srgbClr val="C00000"/>
                </a:solidFill>
                <a:latin typeface="Arial"/>
                <a:cs typeface="Arial"/>
              </a:rPr>
              <a:t>23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248158"/>
            <a:ext cx="46926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0" dirty="0">
                <a:solidFill>
                  <a:srgbClr val="C00000"/>
                </a:solidFill>
              </a:rPr>
              <a:t>4.1 </a:t>
            </a:r>
            <a:r>
              <a:rPr spc="-30" dirty="0"/>
              <a:t>Numeric</a:t>
            </a:r>
            <a:r>
              <a:rPr spc="-160" dirty="0"/>
              <a:t> </a:t>
            </a:r>
            <a:r>
              <a:rPr dirty="0"/>
              <a:t>Operators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84250" y="1136650"/>
          <a:ext cx="7639050" cy="30454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86000"/>
                <a:gridCol w="3581400"/>
                <a:gridCol w="1752600"/>
              </a:tblGrid>
              <a:tr h="3708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800" spc="-5" dirty="0">
                          <a:latin typeface="Courier New"/>
                          <a:cs typeface="Courier New"/>
                        </a:rPr>
                        <a:t>()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184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EDE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Parentheses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Grouping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EDE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Left-to-right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EDE"/>
                    </a:solidFill>
                  </a:tcPr>
                </a:tc>
              </a:tr>
              <a:tr h="3708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800" spc="-5" dirty="0">
                          <a:latin typeface="Courier New"/>
                          <a:cs typeface="Courier New"/>
                        </a:rPr>
                        <a:t>++,</a:t>
                      </a:r>
                      <a:r>
                        <a:rPr sz="1800" spc="-2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15" dirty="0">
                          <a:latin typeface="Courier New"/>
                          <a:cs typeface="Courier New"/>
                        </a:rPr>
                        <a:t>--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184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EEE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Postfix incrementor/decrementor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EEE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Right-to-left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EE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800" spc="-5" dirty="0">
                          <a:latin typeface="Courier New"/>
                          <a:cs typeface="Courier New"/>
                        </a:rPr>
                        <a:t>++,</a:t>
                      </a:r>
                      <a:r>
                        <a:rPr sz="1800" spc="-2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15" dirty="0">
                          <a:latin typeface="Courier New"/>
                          <a:cs typeface="Courier New"/>
                        </a:rPr>
                        <a:t>--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800" spc="-5" dirty="0">
                          <a:latin typeface="Courier New"/>
                          <a:cs typeface="Courier New"/>
                        </a:rPr>
                        <a:t>+,</a:t>
                      </a:r>
                      <a:r>
                        <a:rPr sz="1800" spc="-2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dirty="0">
                          <a:latin typeface="Courier New"/>
                          <a:cs typeface="Courier New"/>
                        </a:rPr>
                        <a:t>-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184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EDE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Prefix</a:t>
                      </a:r>
                      <a:r>
                        <a:rPr sz="1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incrementor/decrementor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Unary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+,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-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EDE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Right-to-left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EDE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800" spc="-5" dirty="0">
                          <a:latin typeface="Courier New"/>
                          <a:cs typeface="Courier New"/>
                        </a:rPr>
                        <a:t>*, /,</a:t>
                      </a:r>
                      <a:r>
                        <a:rPr sz="1800" spc="-4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dirty="0">
                          <a:latin typeface="Courier New"/>
                          <a:cs typeface="Courier New"/>
                        </a:rPr>
                        <a:t>%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190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EEE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117348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Multiplication,</a:t>
                      </a:r>
                      <a:r>
                        <a:rPr sz="18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Division,  Remainder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of</a:t>
                      </a:r>
                      <a:r>
                        <a:rPr sz="1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division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EEE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Left-to-right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EEE"/>
                    </a:solidFill>
                  </a:tcPr>
                </a:tc>
              </a:tr>
              <a:tr h="3708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800" spc="-5" dirty="0">
                          <a:latin typeface="Courier New"/>
                          <a:cs typeface="Courier New"/>
                        </a:rPr>
                        <a:t>+,</a:t>
                      </a:r>
                      <a:r>
                        <a:rPr sz="1800" spc="-2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dirty="0">
                          <a:latin typeface="Courier New"/>
                          <a:cs typeface="Courier New"/>
                        </a:rPr>
                        <a:t>-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190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EDE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Addition,</a:t>
                      </a:r>
                      <a:r>
                        <a:rPr sz="1800" spc="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Subtraction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EDE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Left-to-right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ED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=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800" spc="-5" dirty="0">
                          <a:latin typeface="Courier New"/>
                          <a:cs typeface="Courier New"/>
                        </a:rPr>
                        <a:t>+= -= *= </a:t>
                      </a:r>
                      <a:r>
                        <a:rPr sz="1800" spc="-10" dirty="0">
                          <a:latin typeface="Courier New"/>
                          <a:cs typeface="Courier New"/>
                        </a:rPr>
                        <a:t>/=</a:t>
                      </a:r>
                      <a:r>
                        <a:rPr sz="1800" spc="-10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5" dirty="0">
                          <a:latin typeface="Courier New"/>
                          <a:cs typeface="Courier New"/>
                        </a:rPr>
                        <a:t>%=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190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EEE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Assignment</a:t>
                      </a:r>
                      <a:r>
                        <a:rPr sz="180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Operator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Shorthand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Operators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EEE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Right-to-left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EEE"/>
                    </a:solidFill>
                  </a:tcPr>
                </a:tc>
              </a:tr>
            </a:tbl>
          </a:graphicData>
        </a:graphic>
      </p:graphicFrame>
      <p:grpSp>
        <p:nvGrpSpPr>
          <p:cNvPr id="4" name="object 4"/>
          <p:cNvGrpSpPr/>
          <p:nvPr/>
        </p:nvGrpSpPr>
        <p:grpSpPr>
          <a:xfrm>
            <a:off x="381000" y="1067561"/>
            <a:ext cx="609600" cy="3352800"/>
            <a:chOff x="381000" y="1067561"/>
            <a:chExt cx="609600" cy="3352800"/>
          </a:xfrm>
        </p:grpSpPr>
        <p:sp>
          <p:nvSpPr>
            <p:cNvPr id="5" name="object 5"/>
            <p:cNvSpPr/>
            <p:nvPr/>
          </p:nvSpPr>
          <p:spPr>
            <a:xfrm>
              <a:off x="629069" y="1067561"/>
              <a:ext cx="115570" cy="3352800"/>
            </a:xfrm>
            <a:custGeom>
              <a:avLst/>
              <a:gdLst/>
              <a:ahLst/>
              <a:cxnLst/>
              <a:rect l="l" t="t" r="r" b="b"/>
              <a:pathLst>
                <a:path w="115570" h="3352800">
                  <a:moveTo>
                    <a:pt x="57528" y="45354"/>
                  </a:moveTo>
                  <a:lnTo>
                    <a:pt x="46093" y="64915"/>
                  </a:lnTo>
                  <a:lnTo>
                    <a:pt x="44538" y="3352800"/>
                  </a:lnTo>
                  <a:lnTo>
                    <a:pt x="67398" y="3352800"/>
                  </a:lnTo>
                  <a:lnTo>
                    <a:pt x="68931" y="111887"/>
                  </a:lnTo>
                  <a:lnTo>
                    <a:pt x="68926" y="64915"/>
                  </a:lnTo>
                  <a:lnTo>
                    <a:pt x="57528" y="45354"/>
                  </a:lnTo>
                  <a:close/>
                </a:path>
                <a:path w="115570" h="3352800">
                  <a:moveTo>
                    <a:pt x="57556" y="0"/>
                  </a:moveTo>
                  <a:lnTo>
                    <a:pt x="0" y="98551"/>
                  </a:lnTo>
                  <a:lnTo>
                    <a:pt x="1841" y="105537"/>
                  </a:lnTo>
                  <a:lnTo>
                    <a:pt x="12750" y="111887"/>
                  </a:lnTo>
                  <a:lnTo>
                    <a:pt x="19748" y="109982"/>
                  </a:lnTo>
                  <a:lnTo>
                    <a:pt x="46066" y="64961"/>
                  </a:lnTo>
                  <a:lnTo>
                    <a:pt x="46113" y="22605"/>
                  </a:lnTo>
                  <a:lnTo>
                    <a:pt x="70735" y="22605"/>
                  </a:lnTo>
                  <a:lnTo>
                    <a:pt x="57556" y="0"/>
                  </a:lnTo>
                  <a:close/>
                </a:path>
                <a:path w="115570" h="3352800">
                  <a:moveTo>
                    <a:pt x="70735" y="22605"/>
                  </a:moveTo>
                  <a:lnTo>
                    <a:pt x="68973" y="22605"/>
                  </a:lnTo>
                  <a:lnTo>
                    <a:pt x="68953" y="64961"/>
                  </a:lnTo>
                  <a:lnTo>
                    <a:pt x="95262" y="110109"/>
                  </a:lnTo>
                  <a:lnTo>
                    <a:pt x="102260" y="111887"/>
                  </a:lnTo>
                  <a:lnTo>
                    <a:pt x="113169" y="105537"/>
                  </a:lnTo>
                  <a:lnTo>
                    <a:pt x="115011" y="98551"/>
                  </a:lnTo>
                  <a:lnTo>
                    <a:pt x="70735" y="22605"/>
                  </a:lnTo>
                  <a:close/>
                </a:path>
                <a:path w="115570" h="3352800">
                  <a:moveTo>
                    <a:pt x="68970" y="28448"/>
                  </a:moveTo>
                  <a:lnTo>
                    <a:pt x="67411" y="28448"/>
                  </a:lnTo>
                  <a:lnTo>
                    <a:pt x="57528" y="45354"/>
                  </a:lnTo>
                  <a:lnTo>
                    <a:pt x="68953" y="64961"/>
                  </a:lnTo>
                  <a:lnTo>
                    <a:pt x="68970" y="28448"/>
                  </a:lnTo>
                  <a:close/>
                </a:path>
                <a:path w="115570" h="3352800">
                  <a:moveTo>
                    <a:pt x="68973" y="22605"/>
                  </a:moveTo>
                  <a:lnTo>
                    <a:pt x="46113" y="22605"/>
                  </a:lnTo>
                  <a:lnTo>
                    <a:pt x="46093" y="64915"/>
                  </a:lnTo>
                  <a:lnTo>
                    <a:pt x="57528" y="45354"/>
                  </a:lnTo>
                  <a:lnTo>
                    <a:pt x="47675" y="28448"/>
                  </a:lnTo>
                  <a:lnTo>
                    <a:pt x="68970" y="28448"/>
                  </a:lnTo>
                  <a:lnTo>
                    <a:pt x="68973" y="22605"/>
                  </a:lnTo>
                  <a:close/>
                </a:path>
                <a:path w="115570" h="3352800">
                  <a:moveTo>
                    <a:pt x="67411" y="28448"/>
                  </a:moveTo>
                  <a:lnTo>
                    <a:pt x="47675" y="28448"/>
                  </a:lnTo>
                  <a:lnTo>
                    <a:pt x="57528" y="45354"/>
                  </a:lnTo>
                  <a:lnTo>
                    <a:pt x="67411" y="284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81000" y="1513331"/>
              <a:ext cx="609600" cy="2234565"/>
            </a:xfrm>
            <a:custGeom>
              <a:avLst/>
              <a:gdLst/>
              <a:ahLst/>
              <a:cxnLst/>
              <a:rect l="l" t="t" r="r" b="b"/>
              <a:pathLst>
                <a:path w="609600" h="2234565">
                  <a:moveTo>
                    <a:pt x="609600" y="0"/>
                  </a:moveTo>
                  <a:lnTo>
                    <a:pt x="0" y="0"/>
                  </a:lnTo>
                  <a:lnTo>
                    <a:pt x="0" y="2234184"/>
                  </a:lnTo>
                  <a:lnTo>
                    <a:pt x="609600" y="2234184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FFFFFF">
                <a:alpha val="7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65532" y="1699321"/>
            <a:ext cx="252729" cy="186372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864"/>
              </a:lnSpc>
            </a:pPr>
            <a:r>
              <a:rPr sz="1600" b="1" spc="-5" dirty="0">
                <a:latin typeface="Arial"/>
                <a:cs typeface="Arial"/>
              </a:rPr>
              <a:t>Higher</a:t>
            </a:r>
            <a:r>
              <a:rPr sz="1600" b="1" spc="-40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Precedence</a:t>
            </a:r>
            <a:endParaRPr sz="1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35940" y="4407038"/>
            <a:ext cx="7780655" cy="178308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342265" marR="2835910" indent="-342265" algn="r">
              <a:lnSpc>
                <a:spcPct val="100000"/>
              </a:lnSpc>
              <a:spcBef>
                <a:spcPts val="445"/>
              </a:spcBef>
              <a:buClr>
                <a:srgbClr val="009999"/>
              </a:buClr>
              <a:buSzPct val="64583"/>
              <a:buFont typeface="Wingdings"/>
              <a:buChar char=""/>
              <a:tabLst>
                <a:tab pos="342265" algn="l"/>
                <a:tab pos="342900" algn="l"/>
              </a:tabLst>
            </a:pPr>
            <a:r>
              <a:rPr sz="2400" spc="-5" dirty="0">
                <a:latin typeface="Arial"/>
                <a:cs typeface="Arial"/>
              </a:rPr>
              <a:t>Evaluation </a:t>
            </a:r>
            <a:r>
              <a:rPr sz="2400" dirty="0">
                <a:latin typeface="Arial"/>
                <a:cs typeface="Arial"/>
              </a:rPr>
              <a:t>of numeric</a:t>
            </a:r>
            <a:r>
              <a:rPr sz="2400" spc="4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expression:</a:t>
            </a:r>
            <a:endParaRPr sz="2400">
              <a:latin typeface="Arial"/>
              <a:cs typeface="Arial"/>
            </a:endParaRPr>
          </a:p>
          <a:p>
            <a:pPr marL="325755" marR="2780665" lvl="1" indent="-325755" algn="r">
              <a:lnSpc>
                <a:spcPct val="100000"/>
              </a:lnSpc>
              <a:spcBef>
                <a:spcPts val="290"/>
              </a:spcBef>
              <a:buClr>
                <a:srgbClr val="4B6C4E"/>
              </a:buClr>
              <a:buSzPct val="60000"/>
              <a:buFont typeface="Wingdings"/>
              <a:buChar char=""/>
              <a:tabLst>
                <a:tab pos="325755" algn="l"/>
                <a:tab pos="327025" algn="l"/>
              </a:tabLst>
            </a:pPr>
            <a:r>
              <a:rPr sz="2000" dirty="0">
                <a:latin typeface="Arial"/>
                <a:cs typeface="Arial"/>
              </a:rPr>
              <a:t>Determine grouping using</a:t>
            </a:r>
            <a:r>
              <a:rPr sz="2000" spc="-1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precedence</a:t>
            </a:r>
            <a:endParaRPr sz="2000">
              <a:latin typeface="Arial"/>
              <a:cs typeface="Arial"/>
            </a:endParaRPr>
          </a:p>
          <a:p>
            <a:pPr marL="683260" lvl="1" indent="-327025">
              <a:lnSpc>
                <a:spcPct val="100000"/>
              </a:lnSpc>
              <a:spcBef>
                <a:spcPts val="240"/>
              </a:spcBef>
              <a:buClr>
                <a:srgbClr val="4B6C4E"/>
              </a:buClr>
              <a:buSzPct val="60000"/>
              <a:buFont typeface="Wingdings"/>
              <a:buChar char=""/>
              <a:tabLst>
                <a:tab pos="683260" algn="l"/>
                <a:tab pos="683895" algn="l"/>
              </a:tabLst>
            </a:pPr>
            <a:r>
              <a:rPr sz="2000" spc="5" dirty="0">
                <a:latin typeface="Arial"/>
                <a:cs typeface="Arial"/>
              </a:rPr>
              <a:t>Use </a:t>
            </a:r>
            <a:r>
              <a:rPr sz="2000" dirty="0">
                <a:latin typeface="Arial"/>
                <a:cs typeface="Arial"/>
              </a:rPr>
              <a:t>associativity to differentiate operators of same</a:t>
            </a:r>
            <a:r>
              <a:rPr sz="2000" spc="-19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precedence</a:t>
            </a:r>
            <a:endParaRPr sz="2000">
              <a:latin typeface="Arial"/>
              <a:cs typeface="Arial"/>
            </a:endParaRPr>
          </a:p>
          <a:p>
            <a:pPr marL="683260" marR="222250" lvl="1" indent="-327025">
              <a:lnSpc>
                <a:spcPct val="110000"/>
              </a:lnSpc>
              <a:buClr>
                <a:srgbClr val="4B6C4E"/>
              </a:buClr>
              <a:buSzPct val="60000"/>
              <a:buFont typeface="Wingdings"/>
              <a:buChar char=""/>
              <a:tabLst>
                <a:tab pos="683260" algn="l"/>
                <a:tab pos="683895" algn="l"/>
              </a:tabLst>
            </a:pPr>
            <a:r>
              <a:rPr sz="2000" dirty="0">
                <a:latin typeface="Arial"/>
                <a:cs typeface="Arial"/>
              </a:rPr>
              <a:t>Data </a:t>
            </a:r>
            <a:r>
              <a:rPr sz="2000" spc="-5" dirty="0">
                <a:latin typeface="Arial"/>
                <a:cs typeface="Arial"/>
              </a:rPr>
              <a:t>type </a:t>
            </a:r>
            <a:r>
              <a:rPr sz="2000" dirty="0">
                <a:latin typeface="Arial"/>
                <a:cs typeface="Arial"/>
              </a:rPr>
              <a:t>conversion is performed for operands with</a:t>
            </a:r>
            <a:r>
              <a:rPr sz="2000" spc="-17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different  data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type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173211" y="155447"/>
            <a:ext cx="944879" cy="9875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89"/>
              </a:lnSpc>
              <a:tabLst>
                <a:tab pos="1996439" algn="l"/>
                <a:tab pos="8046720" algn="l"/>
              </a:tabLst>
            </a:pPr>
            <a:r>
              <a:rPr dirty="0"/>
              <a:t>[501043 Lecture 1: Intro</a:t>
            </a:r>
            <a:r>
              <a:rPr spc="-6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Java]	</a:t>
            </a:r>
            <a:r>
              <a:rPr u="heavy" dirty="0">
                <a:uFill>
                  <a:solidFill>
                    <a:srgbClr val="009999"/>
                  </a:solidFill>
                </a:uFill>
              </a:rPr>
              <a:t> 	</a:t>
            </a:r>
            <a:r>
              <a:rPr sz="1600" b="1" i="1" spc="-5" dirty="0">
                <a:solidFill>
                  <a:srgbClr val="C00000"/>
                </a:solidFill>
                <a:latin typeface="Arial"/>
                <a:cs typeface="Arial"/>
              </a:rPr>
              <a:t>24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248158"/>
            <a:ext cx="704913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0" dirty="0">
                <a:solidFill>
                  <a:srgbClr val="C00000"/>
                </a:solidFill>
              </a:rPr>
              <a:t>4.1 </a:t>
            </a:r>
            <a:r>
              <a:rPr spc="-30" dirty="0"/>
              <a:t>Numeric </a:t>
            </a:r>
            <a:r>
              <a:rPr spc="-25" dirty="0"/>
              <a:t>Data </a:t>
            </a:r>
            <a:r>
              <a:rPr spc="-155" dirty="0"/>
              <a:t>Type</a:t>
            </a:r>
            <a:r>
              <a:rPr spc="-80" dirty="0"/>
              <a:t> </a:t>
            </a:r>
            <a:r>
              <a:rPr spc="10" dirty="0"/>
              <a:t>Conversion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89"/>
              </a:lnSpc>
              <a:tabLst>
                <a:tab pos="1996439" algn="l"/>
                <a:tab pos="8046720" algn="l"/>
              </a:tabLst>
            </a:pPr>
            <a:r>
              <a:rPr dirty="0"/>
              <a:t>[501043 Lecture 1: Intro</a:t>
            </a:r>
            <a:r>
              <a:rPr spc="-6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Java]	</a:t>
            </a:r>
            <a:r>
              <a:rPr u="heavy" dirty="0">
                <a:uFill>
                  <a:solidFill>
                    <a:srgbClr val="009999"/>
                  </a:solidFill>
                </a:uFill>
              </a:rPr>
              <a:t> 	</a:t>
            </a:r>
            <a:r>
              <a:rPr sz="1600" b="1" i="1" spc="-5" dirty="0">
                <a:solidFill>
                  <a:srgbClr val="C00000"/>
                </a:solidFill>
                <a:latin typeface="Arial"/>
                <a:cs typeface="Arial"/>
              </a:rPr>
              <a:t>25</a:t>
            </a:r>
            <a:endParaRPr sz="1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039952"/>
            <a:ext cx="7926070" cy="4484370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09"/>
              </a:spcBef>
              <a:buClr>
                <a:srgbClr val="009999"/>
              </a:buClr>
              <a:buSzPct val="64583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400" spc="-5" dirty="0">
                <a:latin typeface="Arial"/>
                <a:cs typeface="Arial"/>
              </a:rPr>
              <a:t>When operands </a:t>
            </a:r>
            <a:r>
              <a:rPr sz="2400" dirty="0">
                <a:latin typeface="Arial"/>
                <a:cs typeface="Arial"/>
              </a:rPr>
              <a:t>of </a:t>
            </a:r>
            <a:r>
              <a:rPr sz="2400" spc="-5" dirty="0">
                <a:latin typeface="Arial"/>
                <a:cs typeface="Arial"/>
              </a:rPr>
              <a:t>an </a:t>
            </a:r>
            <a:r>
              <a:rPr sz="2400" dirty="0">
                <a:latin typeface="Arial"/>
                <a:cs typeface="Arial"/>
              </a:rPr>
              <a:t>operation </a:t>
            </a:r>
            <a:r>
              <a:rPr sz="2400" spc="-5" dirty="0">
                <a:latin typeface="Arial"/>
                <a:cs typeface="Arial"/>
              </a:rPr>
              <a:t>have </a:t>
            </a:r>
            <a:r>
              <a:rPr sz="2400" dirty="0">
                <a:latin typeface="Arial"/>
                <a:cs typeface="Arial"/>
              </a:rPr>
              <a:t>differing</a:t>
            </a:r>
            <a:r>
              <a:rPr sz="2400" spc="10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types:</a:t>
            </a:r>
            <a:endParaRPr sz="2400">
              <a:latin typeface="Arial"/>
              <a:cs typeface="Arial"/>
            </a:endParaRPr>
          </a:p>
          <a:p>
            <a:pPr marL="854075" lvl="1" indent="-514984">
              <a:lnSpc>
                <a:spcPct val="100000"/>
              </a:lnSpc>
              <a:spcBef>
                <a:spcPts val="355"/>
              </a:spcBef>
              <a:buAutoNum type="arabicPeriod"/>
              <a:tabLst>
                <a:tab pos="854075" algn="l"/>
                <a:tab pos="854710" algn="l"/>
              </a:tabLst>
            </a:pPr>
            <a:r>
              <a:rPr sz="2000" dirty="0">
                <a:latin typeface="Arial"/>
                <a:cs typeface="Arial"/>
              </a:rPr>
              <a:t>If one of the operands is </a:t>
            </a:r>
            <a:r>
              <a:rPr sz="2000" b="1" spc="-5" dirty="0">
                <a:solidFill>
                  <a:srgbClr val="0000FF"/>
                </a:solidFill>
                <a:latin typeface="Courier New"/>
                <a:cs typeface="Courier New"/>
              </a:rPr>
              <a:t>double</a:t>
            </a:r>
            <a:r>
              <a:rPr sz="2000" spc="-5" dirty="0">
                <a:latin typeface="Arial"/>
                <a:cs typeface="Arial"/>
              </a:rPr>
              <a:t>, </a:t>
            </a:r>
            <a:r>
              <a:rPr sz="2000" dirty="0">
                <a:latin typeface="Arial"/>
                <a:cs typeface="Arial"/>
              </a:rPr>
              <a:t>convert the other to</a:t>
            </a:r>
            <a:r>
              <a:rPr sz="2000" spc="-175" dirty="0"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0000FF"/>
                </a:solidFill>
                <a:latin typeface="Courier New"/>
                <a:cs typeface="Courier New"/>
              </a:rPr>
              <a:t>double</a:t>
            </a:r>
            <a:endParaRPr sz="2000">
              <a:latin typeface="Courier New"/>
              <a:cs typeface="Courier New"/>
            </a:endParaRPr>
          </a:p>
          <a:p>
            <a:pPr marL="854075" lvl="1" indent="-514984">
              <a:lnSpc>
                <a:spcPct val="100000"/>
              </a:lnSpc>
              <a:spcBef>
                <a:spcPts val="480"/>
              </a:spcBef>
              <a:buAutoNum type="arabicPeriod"/>
              <a:tabLst>
                <a:tab pos="854075" algn="l"/>
                <a:tab pos="854710" algn="l"/>
              </a:tabLst>
            </a:pPr>
            <a:r>
              <a:rPr sz="2000" dirty="0">
                <a:latin typeface="Arial"/>
                <a:cs typeface="Arial"/>
              </a:rPr>
              <a:t>Otherwise, if one of them is </a:t>
            </a:r>
            <a:r>
              <a:rPr sz="2000" b="1" spc="-5" dirty="0">
                <a:solidFill>
                  <a:srgbClr val="0000FF"/>
                </a:solidFill>
                <a:latin typeface="Courier New"/>
                <a:cs typeface="Courier New"/>
              </a:rPr>
              <a:t>float</a:t>
            </a:r>
            <a:r>
              <a:rPr sz="2000" spc="-5" dirty="0">
                <a:latin typeface="Arial"/>
                <a:cs typeface="Arial"/>
              </a:rPr>
              <a:t>, </a:t>
            </a:r>
            <a:r>
              <a:rPr sz="2000" dirty="0">
                <a:latin typeface="Arial"/>
                <a:cs typeface="Arial"/>
              </a:rPr>
              <a:t>convert the other to</a:t>
            </a:r>
            <a:r>
              <a:rPr sz="2000" spc="-215" dirty="0"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0000FF"/>
                </a:solidFill>
                <a:latin typeface="Courier New"/>
                <a:cs typeface="Courier New"/>
              </a:rPr>
              <a:t>float</a:t>
            </a:r>
            <a:endParaRPr sz="2000">
              <a:latin typeface="Courier New"/>
              <a:cs typeface="Courier New"/>
            </a:endParaRPr>
          </a:p>
          <a:p>
            <a:pPr marL="854075" lvl="1" indent="-514984">
              <a:lnSpc>
                <a:spcPct val="100000"/>
              </a:lnSpc>
              <a:spcBef>
                <a:spcPts val="480"/>
              </a:spcBef>
              <a:buAutoNum type="arabicPeriod"/>
              <a:tabLst>
                <a:tab pos="854075" algn="l"/>
                <a:tab pos="854710" algn="l"/>
              </a:tabLst>
            </a:pPr>
            <a:r>
              <a:rPr sz="2000" dirty="0">
                <a:latin typeface="Arial"/>
                <a:cs typeface="Arial"/>
              </a:rPr>
              <a:t>Otherwise, if one of them is </a:t>
            </a:r>
            <a:r>
              <a:rPr sz="2000" b="1" spc="-5" dirty="0">
                <a:solidFill>
                  <a:srgbClr val="0000FF"/>
                </a:solidFill>
                <a:latin typeface="Courier New"/>
                <a:cs typeface="Courier New"/>
              </a:rPr>
              <a:t>long</a:t>
            </a:r>
            <a:r>
              <a:rPr sz="2000" spc="-5" dirty="0">
                <a:latin typeface="Arial"/>
                <a:cs typeface="Arial"/>
              </a:rPr>
              <a:t>, </a:t>
            </a:r>
            <a:r>
              <a:rPr sz="2000" dirty="0">
                <a:latin typeface="Arial"/>
                <a:cs typeface="Arial"/>
              </a:rPr>
              <a:t>convert the other to</a:t>
            </a:r>
            <a:r>
              <a:rPr sz="2000" spc="-225" dirty="0"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0000FF"/>
                </a:solidFill>
                <a:latin typeface="Courier New"/>
                <a:cs typeface="Courier New"/>
              </a:rPr>
              <a:t>long</a:t>
            </a:r>
            <a:endParaRPr sz="2000">
              <a:latin typeface="Courier New"/>
              <a:cs typeface="Courier New"/>
            </a:endParaRPr>
          </a:p>
          <a:p>
            <a:pPr marL="854075" lvl="1" indent="-514984">
              <a:lnSpc>
                <a:spcPct val="100000"/>
              </a:lnSpc>
              <a:spcBef>
                <a:spcPts val="480"/>
              </a:spcBef>
              <a:buAutoNum type="arabicPeriod"/>
              <a:tabLst>
                <a:tab pos="854075" algn="l"/>
                <a:tab pos="854710" algn="l"/>
              </a:tabLst>
            </a:pPr>
            <a:r>
              <a:rPr sz="2000" dirty="0">
                <a:latin typeface="Arial"/>
                <a:cs typeface="Arial"/>
              </a:rPr>
              <a:t>Otherwise, convert both </a:t>
            </a:r>
            <a:r>
              <a:rPr sz="2000" spc="-5" dirty="0">
                <a:latin typeface="Arial"/>
                <a:cs typeface="Arial"/>
              </a:rPr>
              <a:t>into</a:t>
            </a:r>
            <a:r>
              <a:rPr sz="2000" spc="-114" dirty="0"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0000FF"/>
                </a:solidFill>
                <a:latin typeface="Courier New"/>
                <a:cs typeface="Courier New"/>
              </a:rPr>
              <a:t>int</a:t>
            </a:r>
            <a:endParaRPr sz="2000">
              <a:latin typeface="Courier New"/>
              <a:cs typeface="Courier New"/>
            </a:endParaRPr>
          </a:p>
          <a:p>
            <a:pPr marL="527685" indent="-515620">
              <a:lnSpc>
                <a:spcPct val="100000"/>
              </a:lnSpc>
              <a:spcBef>
                <a:spcPts val="1930"/>
              </a:spcBef>
              <a:buClr>
                <a:srgbClr val="009999"/>
              </a:buClr>
              <a:buSzPct val="64583"/>
              <a:buFont typeface="Wingdings"/>
              <a:buChar char=""/>
              <a:tabLst>
                <a:tab pos="527685" algn="l"/>
                <a:tab pos="528320" algn="l"/>
              </a:tabLst>
            </a:pPr>
            <a:r>
              <a:rPr sz="2400" spc="-5" dirty="0">
                <a:latin typeface="Arial"/>
                <a:cs typeface="Arial"/>
              </a:rPr>
              <a:t>When value is assigned </a:t>
            </a:r>
            <a:r>
              <a:rPr sz="2400" dirty="0">
                <a:latin typeface="Arial"/>
                <a:cs typeface="Arial"/>
              </a:rPr>
              <a:t>to </a:t>
            </a:r>
            <a:r>
              <a:rPr sz="2400" spc="-5" dirty="0">
                <a:latin typeface="Arial"/>
                <a:cs typeface="Arial"/>
              </a:rPr>
              <a:t>a variable </a:t>
            </a:r>
            <a:r>
              <a:rPr sz="2400" dirty="0">
                <a:latin typeface="Arial"/>
                <a:cs typeface="Arial"/>
              </a:rPr>
              <a:t>of </a:t>
            </a:r>
            <a:r>
              <a:rPr sz="2400" spc="-5" dirty="0">
                <a:latin typeface="Arial"/>
                <a:cs typeface="Arial"/>
              </a:rPr>
              <a:t>differing</a:t>
            </a:r>
            <a:r>
              <a:rPr sz="2400" spc="1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types:</a:t>
            </a:r>
            <a:endParaRPr sz="2400">
              <a:latin typeface="Arial"/>
              <a:cs typeface="Arial"/>
            </a:endParaRPr>
          </a:p>
          <a:p>
            <a:pPr marL="854075" indent="-514984">
              <a:lnSpc>
                <a:spcPct val="100000"/>
              </a:lnSpc>
              <a:spcBef>
                <a:spcPts val="605"/>
              </a:spcBef>
              <a:buClr>
                <a:srgbClr val="4B6C4E"/>
              </a:buClr>
              <a:buSzPct val="60000"/>
              <a:buFont typeface="Wingdings"/>
              <a:buChar char=""/>
              <a:tabLst>
                <a:tab pos="854075" algn="l"/>
                <a:tab pos="854710" algn="l"/>
              </a:tabLst>
            </a:pPr>
            <a:r>
              <a:rPr sz="2000" b="1" dirty="0">
                <a:latin typeface="Arial"/>
                <a:cs typeface="Arial"/>
              </a:rPr>
              <a:t>Widening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(Promotion):</a:t>
            </a:r>
            <a:endParaRPr sz="2000">
              <a:latin typeface="Arial"/>
              <a:cs typeface="Arial"/>
            </a:endParaRPr>
          </a:p>
          <a:p>
            <a:pPr marL="1205865" lvl="1" indent="-514350">
              <a:lnSpc>
                <a:spcPct val="100000"/>
              </a:lnSpc>
              <a:buClr>
                <a:srgbClr val="009999"/>
              </a:buClr>
              <a:buSzPct val="65000"/>
              <a:buFont typeface="Wingdings"/>
              <a:buChar char=""/>
              <a:tabLst>
                <a:tab pos="1205865" algn="l"/>
                <a:tab pos="1206500" algn="l"/>
              </a:tabLst>
            </a:pPr>
            <a:r>
              <a:rPr sz="2000" dirty="0">
                <a:latin typeface="Arial"/>
                <a:cs typeface="Arial"/>
              </a:rPr>
              <a:t>Value has a smaller range compared to the</a:t>
            </a:r>
            <a:r>
              <a:rPr sz="2000" spc="-17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variable</a:t>
            </a:r>
            <a:endParaRPr sz="2000">
              <a:latin typeface="Arial"/>
              <a:cs typeface="Arial"/>
            </a:endParaRPr>
          </a:p>
          <a:p>
            <a:pPr marL="1205865" lvl="1" indent="-514350">
              <a:lnSpc>
                <a:spcPct val="100000"/>
              </a:lnSpc>
              <a:spcBef>
                <a:spcPts val="5"/>
              </a:spcBef>
              <a:buClr>
                <a:srgbClr val="009999"/>
              </a:buClr>
              <a:buSzPct val="65000"/>
              <a:buFont typeface="Wingdings"/>
              <a:buChar char=""/>
              <a:tabLst>
                <a:tab pos="1205865" algn="l"/>
                <a:tab pos="1206500" algn="l"/>
              </a:tabLst>
            </a:pPr>
            <a:r>
              <a:rPr sz="2000" dirty="0">
                <a:latin typeface="Arial"/>
                <a:cs typeface="Arial"/>
              </a:rPr>
              <a:t>Converted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automatically</a:t>
            </a:r>
            <a:endParaRPr sz="2000">
              <a:latin typeface="Arial"/>
              <a:cs typeface="Arial"/>
            </a:endParaRPr>
          </a:p>
          <a:p>
            <a:pPr marL="854075" indent="-514984">
              <a:lnSpc>
                <a:spcPct val="100000"/>
              </a:lnSpc>
              <a:spcBef>
                <a:spcPts val="600"/>
              </a:spcBef>
              <a:buClr>
                <a:srgbClr val="4B6C4E"/>
              </a:buClr>
              <a:buSzPct val="60000"/>
              <a:buFont typeface="Wingdings"/>
              <a:buChar char=""/>
              <a:tabLst>
                <a:tab pos="854075" algn="l"/>
                <a:tab pos="854710" algn="l"/>
              </a:tabLst>
            </a:pPr>
            <a:r>
              <a:rPr sz="2000" b="1" dirty="0">
                <a:latin typeface="Arial"/>
                <a:cs typeface="Arial"/>
              </a:rPr>
              <a:t>Narrowing</a:t>
            </a:r>
            <a:r>
              <a:rPr sz="2000" b="1" spc="-5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(Demotion):</a:t>
            </a:r>
            <a:endParaRPr sz="2000">
              <a:latin typeface="Arial"/>
              <a:cs typeface="Arial"/>
            </a:endParaRPr>
          </a:p>
          <a:p>
            <a:pPr marL="1205865" lvl="1" indent="-514350">
              <a:lnSpc>
                <a:spcPct val="100000"/>
              </a:lnSpc>
              <a:buClr>
                <a:srgbClr val="009999"/>
              </a:buClr>
              <a:buSzPct val="65000"/>
              <a:buFont typeface="Wingdings"/>
              <a:buChar char=""/>
              <a:tabLst>
                <a:tab pos="1205865" algn="l"/>
                <a:tab pos="1206500" algn="l"/>
              </a:tabLst>
            </a:pPr>
            <a:r>
              <a:rPr sz="2000" dirty="0">
                <a:latin typeface="Arial"/>
                <a:cs typeface="Arial"/>
              </a:rPr>
              <a:t>Value has a </a:t>
            </a:r>
            <a:r>
              <a:rPr sz="2000" b="1" dirty="0">
                <a:latin typeface="Arial"/>
                <a:cs typeface="Arial"/>
              </a:rPr>
              <a:t>larger range </a:t>
            </a:r>
            <a:r>
              <a:rPr sz="2000" dirty="0">
                <a:latin typeface="Arial"/>
                <a:cs typeface="Arial"/>
              </a:rPr>
              <a:t>compared to the</a:t>
            </a:r>
            <a:r>
              <a:rPr sz="2000" spc="-1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variable</a:t>
            </a:r>
            <a:endParaRPr sz="2000">
              <a:latin typeface="Arial"/>
              <a:cs typeface="Arial"/>
            </a:endParaRPr>
          </a:p>
          <a:p>
            <a:pPr marL="1205865" lvl="1" indent="-514350">
              <a:lnSpc>
                <a:spcPct val="100000"/>
              </a:lnSpc>
              <a:buClr>
                <a:srgbClr val="009999"/>
              </a:buClr>
              <a:buSzPct val="65000"/>
              <a:buFont typeface="Wingdings"/>
              <a:buChar char=""/>
              <a:tabLst>
                <a:tab pos="1205865" algn="l"/>
                <a:tab pos="1206500" algn="l"/>
              </a:tabLst>
            </a:pPr>
            <a:r>
              <a:rPr sz="2000" b="1" spc="-5" dirty="0">
                <a:latin typeface="Arial"/>
                <a:cs typeface="Arial"/>
              </a:rPr>
              <a:t>Explicit </a:t>
            </a:r>
            <a:r>
              <a:rPr sz="2000" b="1" spc="-10" dirty="0">
                <a:latin typeface="Arial"/>
                <a:cs typeface="Arial"/>
              </a:rPr>
              <a:t>type 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casting </a:t>
            </a:r>
            <a:r>
              <a:rPr sz="2000" b="1" dirty="0">
                <a:latin typeface="Arial"/>
                <a:cs typeface="Arial"/>
              </a:rPr>
              <a:t>is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needed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248158"/>
            <a:ext cx="52266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0" dirty="0">
                <a:solidFill>
                  <a:srgbClr val="C00000"/>
                </a:solidFill>
              </a:rPr>
              <a:t>4.1 </a:t>
            </a:r>
            <a:r>
              <a:rPr spc="-25" dirty="0"/>
              <a:t>Data </a:t>
            </a:r>
            <a:r>
              <a:rPr spc="-155" dirty="0"/>
              <a:t>Type</a:t>
            </a:r>
            <a:r>
              <a:rPr spc="-195" dirty="0"/>
              <a:t> </a:t>
            </a:r>
            <a:r>
              <a:rPr spc="15" dirty="0"/>
              <a:t>Conversion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089101"/>
            <a:ext cx="3822700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009999"/>
              </a:buClr>
              <a:buSzPct val="65000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3000" dirty="0">
                <a:latin typeface="Arial"/>
                <a:cs typeface="Arial"/>
              </a:rPr>
              <a:t>Conversion</a:t>
            </a:r>
            <a:r>
              <a:rPr sz="3000" spc="-8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mistake:</a:t>
            </a:r>
            <a:endParaRPr sz="3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0051" y="6433515"/>
            <a:ext cx="831977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996439" algn="l"/>
                <a:tab pos="8046720" algn="l"/>
              </a:tabLst>
            </a:pPr>
            <a:r>
              <a:rPr sz="800" spc="-5" dirty="0">
                <a:solidFill>
                  <a:srgbClr val="003399"/>
                </a:solidFill>
                <a:latin typeface="Arial Black"/>
                <a:cs typeface="Arial Black"/>
              </a:rPr>
              <a:t>[</a:t>
            </a:r>
            <a:r>
              <a:rPr sz="800" dirty="0">
                <a:solidFill>
                  <a:srgbClr val="003399"/>
                </a:solidFill>
                <a:latin typeface="Arial Black"/>
                <a:cs typeface="Arial Black"/>
              </a:rPr>
              <a:t>501043</a:t>
            </a:r>
            <a:r>
              <a:rPr sz="800" spc="-15" dirty="0">
                <a:solidFill>
                  <a:srgbClr val="003399"/>
                </a:solidFill>
                <a:latin typeface="Arial Black"/>
                <a:cs typeface="Arial Black"/>
              </a:rPr>
              <a:t> </a:t>
            </a:r>
            <a:r>
              <a:rPr sz="800" dirty="0">
                <a:solidFill>
                  <a:srgbClr val="003399"/>
                </a:solidFill>
                <a:latin typeface="Arial Black"/>
                <a:cs typeface="Arial Black"/>
              </a:rPr>
              <a:t>Lecture</a:t>
            </a:r>
            <a:r>
              <a:rPr sz="800" spc="-30" dirty="0">
                <a:solidFill>
                  <a:srgbClr val="003399"/>
                </a:solidFill>
                <a:latin typeface="Arial Black"/>
                <a:cs typeface="Arial Black"/>
              </a:rPr>
              <a:t> </a:t>
            </a:r>
            <a:r>
              <a:rPr sz="800" dirty="0">
                <a:solidFill>
                  <a:srgbClr val="003399"/>
                </a:solidFill>
                <a:latin typeface="Arial Black"/>
                <a:cs typeface="Arial Black"/>
              </a:rPr>
              <a:t>1:</a:t>
            </a:r>
            <a:r>
              <a:rPr sz="800" spc="-20" dirty="0">
                <a:solidFill>
                  <a:srgbClr val="003399"/>
                </a:solidFill>
                <a:latin typeface="Arial Black"/>
                <a:cs typeface="Arial Black"/>
              </a:rPr>
              <a:t> </a:t>
            </a:r>
            <a:r>
              <a:rPr sz="800" spc="-5" dirty="0">
                <a:solidFill>
                  <a:srgbClr val="003399"/>
                </a:solidFill>
                <a:latin typeface="Arial Black"/>
                <a:cs typeface="Arial Black"/>
              </a:rPr>
              <a:t>I</a:t>
            </a:r>
            <a:r>
              <a:rPr sz="800" dirty="0">
                <a:solidFill>
                  <a:srgbClr val="003399"/>
                </a:solidFill>
                <a:latin typeface="Arial Black"/>
                <a:cs typeface="Arial Black"/>
              </a:rPr>
              <a:t>ntro</a:t>
            </a:r>
            <a:r>
              <a:rPr sz="800" spc="-25" dirty="0">
                <a:solidFill>
                  <a:srgbClr val="003399"/>
                </a:solidFill>
                <a:latin typeface="Arial Black"/>
                <a:cs typeface="Arial Black"/>
              </a:rPr>
              <a:t> </a:t>
            </a:r>
            <a:r>
              <a:rPr sz="800" dirty="0">
                <a:solidFill>
                  <a:srgbClr val="003399"/>
                </a:solidFill>
                <a:latin typeface="Arial Black"/>
                <a:cs typeface="Arial Black"/>
              </a:rPr>
              <a:t>to</a:t>
            </a:r>
            <a:r>
              <a:rPr sz="800" spc="-15" dirty="0">
                <a:solidFill>
                  <a:srgbClr val="003399"/>
                </a:solidFill>
                <a:latin typeface="Arial Black"/>
                <a:cs typeface="Arial Black"/>
              </a:rPr>
              <a:t> </a:t>
            </a:r>
            <a:r>
              <a:rPr sz="800" dirty="0">
                <a:solidFill>
                  <a:srgbClr val="003399"/>
                </a:solidFill>
                <a:latin typeface="Arial Black"/>
                <a:cs typeface="Arial Black"/>
              </a:rPr>
              <a:t>Java]	</a:t>
            </a:r>
            <a:r>
              <a:rPr sz="800" u="heavy" dirty="0">
                <a:solidFill>
                  <a:srgbClr val="003399"/>
                </a:solidFill>
                <a:uFill>
                  <a:solidFill>
                    <a:srgbClr val="009999"/>
                  </a:solidFill>
                </a:uFill>
                <a:latin typeface="Arial Black"/>
                <a:cs typeface="Arial Black"/>
              </a:rPr>
              <a:t> 	</a:t>
            </a:r>
            <a:r>
              <a:rPr sz="800" spc="-10" dirty="0">
                <a:solidFill>
                  <a:srgbClr val="003399"/>
                </a:solidFill>
                <a:latin typeface="Arial Black"/>
                <a:cs typeface="Arial Black"/>
              </a:rPr>
              <a:t> </a:t>
            </a:r>
            <a:r>
              <a:rPr sz="1600" b="1" i="1" spc="-5" dirty="0">
                <a:solidFill>
                  <a:srgbClr val="C00000"/>
                </a:solidFill>
                <a:latin typeface="Arial"/>
                <a:cs typeface="Arial"/>
              </a:rPr>
              <a:t>26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09600" y="1676400"/>
            <a:ext cx="4724400" cy="1323340"/>
          </a:xfrm>
          <a:prstGeom prst="rect">
            <a:avLst/>
          </a:prstGeom>
          <a:solidFill>
            <a:srgbClr val="FFFFCC"/>
          </a:solidFill>
          <a:ln w="9144">
            <a:solidFill>
              <a:srgbClr val="DDEAEA"/>
            </a:solidFill>
          </a:ln>
        </p:spPr>
        <p:txBody>
          <a:bodyPr vert="horz" wrap="square" lIns="0" tIns="22860" rIns="0" bIns="0" rtlCol="0">
            <a:spAutoFit/>
          </a:bodyPr>
          <a:lstStyle/>
          <a:p>
            <a:pPr marL="91440" marR="3526154">
              <a:lnSpc>
                <a:spcPct val="100000"/>
              </a:lnSpc>
              <a:spcBef>
                <a:spcPts val="180"/>
              </a:spcBef>
            </a:pPr>
            <a:r>
              <a:rPr sz="1600" b="1" spc="-5" dirty="0">
                <a:solidFill>
                  <a:srgbClr val="0000FF"/>
                </a:solidFill>
                <a:latin typeface="Courier New"/>
                <a:cs typeface="Courier New"/>
              </a:rPr>
              <a:t>double</a:t>
            </a:r>
            <a:r>
              <a:rPr sz="1600" b="1" spc="-6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d;  </a:t>
            </a:r>
            <a:r>
              <a:rPr sz="1600" b="1" spc="-5" dirty="0">
                <a:solidFill>
                  <a:srgbClr val="0000FF"/>
                </a:solidFill>
                <a:latin typeface="Courier New"/>
                <a:cs typeface="Courier New"/>
              </a:rPr>
              <a:t>int</a:t>
            </a:r>
            <a:r>
              <a:rPr sz="1600" b="1" spc="-2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i;</a:t>
            </a:r>
            <a:endParaRPr sz="16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50">
              <a:latin typeface="Courier New"/>
              <a:cs typeface="Courier New"/>
            </a:endParaRPr>
          </a:p>
          <a:p>
            <a:pPr marL="91440">
              <a:lnSpc>
                <a:spcPct val="100000"/>
              </a:lnSpc>
            </a:pPr>
            <a:r>
              <a:rPr sz="1600" b="1" spc="-5" dirty="0">
                <a:latin typeface="Courier New"/>
                <a:cs typeface="Courier New"/>
              </a:rPr>
              <a:t>i = 31415;</a:t>
            </a:r>
            <a:endParaRPr sz="1600">
              <a:latin typeface="Courier New"/>
              <a:cs typeface="Courier New"/>
            </a:endParaRPr>
          </a:p>
          <a:p>
            <a:pPr marL="91440">
              <a:lnSpc>
                <a:spcPct val="100000"/>
              </a:lnSpc>
            </a:pPr>
            <a:r>
              <a:rPr sz="1600" b="1" spc="-5" dirty="0">
                <a:latin typeface="Courier New"/>
                <a:cs typeface="Courier New"/>
              </a:rPr>
              <a:t>d = i /</a:t>
            </a:r>
            <a:r>
              <a:rPr sz="1600" b="1" spc="1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10000;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87161" y="1753361"/>
            <a:ext cx="3276600" cy="990600"/>
          </a:xfrm>
          <a:prstGeom prst="rect">
            <a:avLst/>
          </a:prstGeom>
          <a:ln w="25907">
            <a:solidFill>
              <a:srgbClr val="AAC9C9"/>
            </a:solidFill>
          </a:ln>
        </p:spPr>
        <p:txBody>
          <a:bodyPr vert="horz" wrap="square" lIns="0" tIns="182880" rIns="0" bIns="0" rtlCol="0">
            <a:spAutoFit/>
          </a:bodyPr>
          <a:lstStyle/>
          <a:p>
            <a:pPr marL="91440" marR="317500">
              <a:lnSpc>
                <a:spcPct val="100000"/>
              </a:lnSpc>
              <a:spcBef>
                <a:spcPts val="1440"/>
              </a:spcBef>
            </a:pPr>
            <a:r>
              <a:rPr sz="2000" spc="-5" dirty="0">
                <a:latin typeface="Arial"/>
                <a:cs typeface="Arial"/>
              </a:rPr>
              <a:t>What’s </a:t>
            </a:r>
            <a:r>
              <a:rPr sz="2000" dirty="0">
                <a:latin typeface="Arial"/>
                <a:cs typeface="Arial"/>
              </a:rPr>
              <a:t>the mistake?</a:t>
            </a:r>
            <a:r>
              <a:rPr sz="2000" spc="-1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How  do you correct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it?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2140" y="3452241"/>
            <a:ext cx="263461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0"/>
              </a:spcBef>
              <a:buClr>
                <a:srgbClr val="009999"/>
              </a:buClr>
              <a:buSzPct val="65000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3000" dirty="0">
                <a:latin typeface="Arial"/>
                <a:cs typeface="Arial"/>
              </a:rPr>
              <a:t>Type</a:t>
            </a:r>
            <a:r>
              <a:rPr sz="3000" spc="-60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casting:</a:t>
            </a:r>
            <a:endParaRPr sz="30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85800" y="4038600"/>
            <a:ext cx="4648200" cy="1323340"/>
          </a:xfrm>
          <a:prstGeom prst="rect">
            <a:avLst/>
          </a:prstGeom>
          <a:solidFill>
            <a:srgbClr val="FFFFCC"/>
          </a:solidFill>
          <a:ln w="9144">
            <a:solidFill>
              <a:srgbClr val="DDEAEA"/>
            </a:solidFill>
          </a:ln>
        </p:spPr>
        <p:txBody>
          <a:bodyPr vert="horz" wrap="square" lIns="0" tIns="2286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80"/>
              </a:spcBef>
            </a:pPr>
            <a:r>
              <a:rPr sz="1600" b="1" spc="-5" dirty="0">
                <a:solidFill>
                  <a:srgbClr val="0000FF"/>
                </a:solidFill>
                <a:latin typeface="Courier New"/>
                <a:cs typeface="Courier New"/>
              </a:rPr>
              <a:t>double</a:t>
            </a:r>
            <a:r>
              <a:rPr sz="1600" b="1" spc="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d;</a:t>
            </a:r>
            <a:endParaRPr sz="1600">
              <a:latin typeface="Courier New"/>
              <a:cs typeface="Courier New"/>
            </a:endParaRPr>
          </a:p>
          <a:p>
            <a:pPr marL="91440">
              <a:lnSpc>
                <a:spcPct val="100000"/>
              </a:lnSpc>
              <a:spcBef>
                <a:spcPts val="5"/>
              </a:spcBef>
            </a:pPr>
            <a:r>
              <a:rPr sz="1600" b="1" spc="-5" dirty="0">
                <a:solidFill>
                  <a:srgbClr val="0000FF"/>
                </a:solidFill>
                <a:latin typeface="Courier New"/>
                <a:cs typeface="Courier New"/>
              </a:rPr>
              <a:t>int </a:t>
            </a:r>
            <a:r>
              <a:rPr sz="1600" b="1" spc="-5" dirty="0">
                <a:latin typeface="Courier New"/>
                <a:cs typeface="Courier New"/>
              </a:rPr>
              <a:t>i;</a:t>
            </a:r>
            <a:endParaRPr sz="16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50">
              <a:latin typeface="Courier New"/>
              <a:cs typeface="Courier New"/>
            </a:endParaRPr>
          </a:p>
          <a:p>
            <a:pPr marL="91440">
              <a:lnSpc>
                <a:spcPct val="100000"/>
              </a:lnSpc>
            </a:pPr>
            <a:r>
              <a:rPr sz="1600" b="1" spc="-5" dirty="0">
                <a:latin typeface="Courier New"/>
                <a:cs typeface="Courier New"/>
              </a:rPr>
              <a:t>d = 3.14159;</a:t>
            </a:r>
            <a:endParaRPr sz="1600">
              <a:latin typeface="Courier New"/>
              <a:cs typeface="Courier New"/>
            </a:endParaRPr>
          </a:p>
          <a:p>
            <a:pPr marL="91440">
              <a:lnSpc>
                <a:spcPct val="100000"/>
              </a:lnSpc>
            </a:pPr>
            <a:r>
              <a:rPr sz="1600" b="1" spc="-5" dirty="0">
                <a:latin typeface="Courier New"/>
                <a:cs typeface="Courier New"/>
              </a:rPr>
              <a:t>i = (</a:t>
            </a:r>
            <a:r>
              <a:rPr sz="1600" b="1" spc="-5" dirty="0">
                <a:solidFill>
                  <a:srgbClr val="0000FF"/>
                </a:solidFill>
                <a:latin typeface="Courier New"/>
                <a:cs typeface="Courier New"/>
              </a:rPr>
              <a:t>int</a:t>
            </a:r>
            <a:r>
              <a:rPr sz="1600" b="1" spc="-5" dirty="0">
                <a:latin typeface="Courier New"/>
                <a:cs typeface="Courier New"/>
              </a:rPr>
              <a:t>) d; </a:t>
            </a:r>
            <a:r>
              <a:rPr sz="1600" b="1" spc="-5" dirty="0">
                <a:solidFill>
                  <a:srgbClr val="800000"/>
                </a:solidFill>
                <a:latin typeface="Courier New"/>
                <a:cs typeface="Courier New"/>
              </a:rPr>
              <a:t>// i </a:t>
            </a:r>
            <a:r>
              <a:rPr sz="1600" b="1" dirty="0">
                <a:solidFill>
                  <a:srgbClr val="800000"/>
                </a:solidFill>
                <a:latin typeface="Courier New"/>
                <a:cs typeface="Courier New"/>
              </a:rPr>
              <a:t>is </a:t>
            </a:r>
            <a:r>
              <a:rPr sz="1600" b="1" spc="-5" dirty="0">
                <a:solidFill>
                  <a:srgbClr val="800000"/>
                </a:solidFill>
                <a:latin typeface="Courier New"/>
                <a:cs typeface="Courier New"/>
              </a:rPr>
              <a:t>assigned</a:t>
            </a:r>
            <a:r>
              <a:rPr sz="1600" b="1" spc="25" dirty="0">
                <a:solidFill>
                  <a:srgbClr val="800000"/>
                </a:solidFill>
                <a:latin typeface="Courier New"/>
                <a:cs typeface="Courier New"/>
              </a:rPr>
              <a:t> </a:t>
            </a:r>
            <a:r>
              <a:rPr sz="1600" b="1" spc="-5" dirty="0">
                <a:solidFill>
                  <a:srgbClr val="800000"/>
                </a:solidFill>
                <a:latin typeface="Courier New"/>
                <a:cs typeface="Courier New"/>
              </a:rPr>
              <a:t>3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487161" y="3233166"/>
            <a:ext cx="3352800" cy="3020695"/>
          </a:xfrm>
          <a:prstGeom prst="rect">
            <a:avLst/>
          </a:prstGeom>
          <a:ln w="25907">
            <a:solidFill>
              <a:srgbClr val="AAC9C9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1440">
              <a:lnSpc>
                <a:spcPts val="2105"/>
              </a:lnSpc>
            </a:pPr>
            <a:r>
              <a:rPr sz="2000" dirty="0">
                <a:latin typeface="Arial"/>
                <a:cs typeface="Arial"/>
              </a:rPr>
              <a:t>The </a:t>
            </a:r>
            <a:r>
              <a:rPr sz="2000" b="1" spc="-5" dirty="0">
                <a:solidFill>
                  <a:srgbClr val="000099"/>
                </a:solidFill>
                <a:latin typeface="Courier New"/>
                <a:cs typeface="Courier New"/>
              </a:rPr>
              <a:t>(int) </a:t>
            </a:r>
            <a:r>
              <a:rPr sz="2000" b="1" dirty="0">
                <a:solidFill>
                  <a:srgbClr val="000099"/>
                </a:solidFill>
                <a:latin typeface="Courier New"/>
                <a:cs typeface="Courier New"/>
              </a:rPr>
              <a:t>d</a:t>
            </a:r>
            <a:r>
              <a:rPr sz="2000" b="1" spc="-745" dirty="0">
                <a:solidFill>
                  <a:srgbClr val="000099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latin typeface="Arial"/>
                <a:cs typeface="Arial"/>
              </a:rPr>
              <a:t>expression is</a:t>
            </a:r>
            <a:endParaRPr sz="2000">
              <a:latin typeface="Arial"/>
              <a:cs typeface="Arial"/>
            </a:endParaRPr>
          </a:p>
          <a:p>
            <a:pPr marL="91440">
              <a:lnSpc>
                <a:spcPct val="100000"/>
              </a:lnSpc>
              <a:spcBef>
                <a:spcPts val="130"/>
              </a:spcBef>
            </a:pPr>
            <a:r>
              <a:rPr sz="2000" dirty="0">
                <a:latin typeface="Arial"/>
                <a:cs typeface="Arial"/>
              </a:rPr>
              <a:t>known as </a:t>
            </a:r>
            <a:r>
              <a:rPr sz="2000" b="1" spc="-10" dirty="0">
                <a:solidFill>
                  <a:srgbClr val="660066"/>
                </a:solidFill>
                <a:latin typeface="Arial"/>
                <a:cs typeface="Arial"/>
              </a:rPr>
              <a:t>type</a:t>
            </a:r>
            <a:r>
              <a:rPr sz="2000" b="1" spc="-3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660066"/>
                </a:solidFill>
                <a:latin typeface="Arial"/>
                <a:cs typeface="Arial"/>
              </a:rPr>
              <a:t>casting</a:t>
            </a:r>
            <a:endParaRPr sz="2000">
              <a:latin typeface="Arial"/>
              <a:cs typeface="Arial"/>
            </a:endParaRPr>
          </a:p>
          <a:p>
            <a:pPr marL="91440" marR="814705">
              <a:lnSpc>
                <a:spcPct val="180000"/>
              </a:lnSpc>
              <a:spcBef>
                <a:spcPts val="5"/>
              </a:spcBef>
            </a:pPr>
            <a:r>
              <a:rPr sz="2000" b="1" spc="-5" dirty="0">
                <a:latin typeface="Arial"/>
                <a:cs typeface="Arial"/>
              </a:rPr>
              <a:t>Syntax:  </a:t>
            </a:r>
            <a:r>
              <a:rPr sz="2000" spc="-5" dirty="0">
                <a:latin typeface="Courier New"/>
                <a:cs typeface="Courier New"/>
              </a:rPr>
              <a:t>(</a:t>
            </a:r>
            <a:r>
              <a:rPr sz="2000" b="1" spc="-5" dirty="0">
                <a:solidFill>
                  <a:srgbClr val="006600"/>
                </a:solidFill>
                <a:latin typeface="Courier New"/>
                <a:cs typeface="Courier New"/>
              </a:rPr>
              <a:t>datatype</a:t>
            </a:r>
            <a:r>
              <a:rPr sz="2000" spc="-5" dirty="0">
                <a:latin typeface="Courier New"/>
                <a:cs typeface="Courier New"/>
              </a:rPr>
              <a:t>)</a:t>
            </a:r>
            <a:r>
              <a:rPr sz="2000" spc="-60" dirty="0">
                <a:latin typeface="Courier New"/>
                <a:cs typeface="Courier New"/>
              </a:rPr>
              <a:t> </a:t>
            </a:r>
            <a:r>
              <a:rPr sz="2000" b="1" spc="-5" dirty="0">
                <a:solidFill>
                  <a:srgbClr val="001F5F"/>
                </a:solidFill>
                <a:latin typeface="Courier New"/>
                <a:cs typeface="Courier New"/>
              </a:rPr>
              <a:t>value  </a:t>
            </a:r>
            <a:r>
              <a:rPr sz="2000" b="1" dirty="0">
                <a:latin typeface="Arial"/>
                <a:cs typeface="Arial"/>
              </a:rPr>
              <a:t>Effect:</a:t>
            </a:r>
            <a:endParaRPr sz="2000">
              <a:latin typeface="Arial"/>
              <a:cs typeface="Arial"/>
            </a:endParaRPr>
          </a:p>
          <a:p>
            <a:pPr marL="91440">
              <a:lnSpc>
                <a:spcPts val="2050"/>
              </a:lnSpc>
            </a:pPr>
            <a:r>
              <a:rPr sz="1800" b="1" spc="-5" dirty="0">
                <a:solidFill>
                  <a:srgbClr val="001F5F"/>
                </a:solidFill>
                <a:latin typeface="Courier New"/>
                <a:cs typeface="Courier New"/>
              </a:rPr>
              <a:t>value</a:t>
            </a:r>
            <a:r>
              <a:rPr sz="1800" b="1" spc="-615" dirty="0">
                <a:solidFill>
                  <a:srgbClr val="001F5F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latin typeface="Arial"/>
                <a:cs typeface="Arial"/>
              </a:rPr>
              <a:t>is converted explicitly </a:t>
            </a:r>
            <a:r>
              <a:rPr sz="1800" dirty="0">
                <a:latin typeface="Arial"/>
                <a:cs typeface="Arial"/>
              </a:rPr>
              <a:t>to</a:t>
            </a:r>
            <a:endParaRPr sz="1800">
              <a:latin typeface="Arial"/>
              <a:cs typeface="Arial"/>
            </a:endParaRPr>
          </a:p>
          <a:p>
            <a:pPr marL="91440">
              <a:lnSpc>
                <a:spcPct val="100000"/>
              </a:lnSpc>
              <a:spcBef>
                <a:spcPts val="120"/>
              </a:spcBef>
            </a:pPr>
            <a:r>
              <a:rPr sz="1800" spc="-5" dirty="0">
                <a:latin typeface="Arial"/>
                <a:cs typeface="Arial"/>
              </a:rPr>
              <a:t>the data </a:t>
            </a:r>
            <a:r>
              <a:rPr sz="1800" spc="-10" dirty="0">
                <a:latin typeface="Arial"/>
                <a:cs typeface="Arial"/>
              </a:rPr>
              <a:t>type </a:t>
            </a:r>
            <a:r>
              <a:rPr sz="1800" dirty="0">
                <a:latin typeface="Arial"/>
                <a:cs typeface="Arial"/>
              </a:rPr>
              <a:t>stated if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possible.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33400" y="5410200"/>
            <a:ext cx="4191000" cy="646430"/>
          </a:xfrm>
          <a:prstGeom prst="rect">
            <a:avLst/>
          </a:prstGeom>
          <a:solidFill>
            <a:srgbClr val="CCCCFF"/>
          </a:solidFill>
          <a:ln w="9144">
            <a:solidFill>
              <a:srgbClr val="006600"/>
            </a:solidFill>
          </a:ln>
        </p:spPr>
        <p:txBody>
          <a:bodyPr vert="horz" wrap="square" lIns="0" tIns="10160" rIns="0" bIns="0" rtlCol="0">
            <a:spAutoFit/>
          </a:bodyPr>
          <a:lstStyle/>
          <a:p>
            <a:pPr marL="91440" marR="302260">
              <a:lnSpc>
                <a:spcPct val="105600"/>
              </a:lnSpc>
              <a:spcBef>
                <a:spcPts val="80"/>
              </a:spcBef>
            </a:pPr>
            <a:r>
              <a:rPr sz="1800" dirty="0">
                <a:latin typeface="Arial"/>
                <a:cs typeface="Arial"/>
              </a:rPr>
              <a:t>Q: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What</a:t>
            </a:r>
            <a:r>
              <a:rPr sz="1800" spc="-5" dirty="0">
                <a:latin typeface="Arial"/>
                <a:cs typeface="Arial"/>
              </a:rPr>
              <a:t> is assigned </a:t>
            </a:r>
            <a:r>
              <a:rPr sz="1800" dirty="0">
                <a:latin typeface="Arial"/>
                <a:cs typeface="Arial"/>
              </a:rPr>
              <a:t>to </a:t>
            </a:r>
            <a:r>
              <a:rPr sz="1800" b="1" dirty="0">
                <a:latin typeface="Courier New"/>
                <a:cs typeface="Courier New"/>
              </a:rPr>
              <a:t>i</a:t>
            </a:r>
            <a:r>
              <a:rPr sz="1800" b="1" spc="-595" dirty="0">
                <a:latin typeface="Courier New"/>
                <a:cs typeface="Courier New"/>
              </a:rPr>
              <a:t> </a:t>
            </a:r>
            <a:r>
              <a:rPr sz="1800" dirty="0">
                <a:latin typeface="Arial"/>
                <a:cs typeface="Arial"/>
              </a:rPr>
              <a:t>if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b="1" dirty="0">
                <a:latin typeface="Courier New"/>
                <a:cs typeface="Courier New"/>
              </a:rPr>
              <a:t>d</a:t>
            </a:r>
            <a:r>
              <a:rPr sz="1800" b="1" spc="-595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Arial"/>
                <a:cs typeface="Arial"/>
              </a:rPr>
              <a:t>contains  3.987</a:t>
            </a:r>
            <a:r>
              <a:rPr sz="180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instead?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38200" y="3048000"/>
            <a:ext cx="3048000" cy="368935"/>
          </a:xfrm>
          <a:prstGeom prst="rect">
            <a:avLst/>
          </a:prstGeom>
          <a:solidFill>
            <a:srgbClr val="CCCCFF"/>
          </a:solidFill>
          <a:ln w="9144">
            <a:solidFill>
              <a:srgbClr val="006600"/>
            </a:solidFill>
          </a:ln>
        </p:spPr>
        <p:txBody>
          <a:bodyPr vert="horz" wrap="square" lIns="0" tIns="2476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95"/>
              </a:spcBef>
            </a:pPr>
            <a:r>
              <a:rPr sz="1800" dirty="0">
                <a:latin typeface="Arial"/>
                <a:cs typeface="Arial"/>
              </a:rPr>
              <a:t>Q: What </a:t>
            </a:r>
            <a:r>
              <a:rPr sz="1800" spc="-5" dirty="0">
                <a:latin typeface="Arial"/>
                <a:cs typeface="Arial"/>
              </a:rPr>
              <a:t>is assigned </a:t>
            </a:r>
            <a:r>
              <a:rPr sz="1800" dirty="0">
                <a:latin typeface="Arial"/>
                <a:cs typeface="Arial"/>
              </a:rPr>
              <a:t>to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b="1" spc="-5" dirty="0">
                <a:latin typeface="Courier New"/>
                <a:cs typeface="Courier New"/>
              </a:rPr>
              <a:t>d</a:t>
            </a:r>
            <a:r>
              <a:rPr sz="1800" spc="-5" dirty="0">
                <a:latin typeface="Arial"/>
                <a:cs typeface="Arial"/>
              </a:rPr>
              <a:t>?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53085" y="6352743"/>
            <a:ext cx="22987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2595" dirty="0">
                <a:latin typeface="Wingdings"/>
                <a:cs typeface="Wingdings"/>
              </a:rPr>
              <a:t></a:t>
            </a:r>
            <a:endParaRPr sz="1800">
              <a:latin typeface="Wingdings"/>
              <a:cs typeface="Wingding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248158"/>
            <a:ext cx="710945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0" dirty="0">
                <a:solidFill>
                  <a:srgbClr val="C00000"/>
                </a:solidFill>
              </a:rPr>
              <a:t>4.1 </a:t>
            </a:r>
            <a:r>
              <a:rPr spc="-50" dirty="0"/>
              <a:t>Problem: </a:t>
            </a:r>
            <a:r>
              <a:rPr b="1" spc="-150" dirty="0">
                <a:latin typeface="Trebuchet MS"/>
                <a:cs typeface="Trebuchet MS"/>
              </a:rPr>
              <a:t>Fahrenheit </a:t>
            </a:r>
            <a:r>
              <a:rPr b="1" spc="-175" dirty="0">
                <a:latin typeface="Trebuchet MS"/>
                <a:cs typeface="Trebuchet MS"/>
              </a:rPr>
              <a:t>to</a:t>
            </a:r>
            <a:r>
              <a:rPr b="1" spc="55" dirty="0">
                <a:latin typeface="Trebuchet MS"/>
                <a:cs typeface="Trebuchet MS"/>
              </a:rPr>
              <a:t> </a:t>
            </a:r>
            <a:r>
              <a:rPr b="1" spc="-30" dirty="0">
                <a:latin typeface="Trebuchet MS"/>
                <a:cs typeface="Trebuchet MS"/>
              </a:rPr>
              <a:t>Celsius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998914"/>
            <a:ext cx="8054340" cy="1353820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342265" marR="67945" indent="-342265" algn="r">
              <a:lnSpc>
                <a:spcPct val="100000"/>
              </a:lnSpc>
              <a:spcBef>
                <a:spcPts val="819"/>
              </a:spcBef>
              <a:buClr>
                <a:srgbClr val="009999"/>
              </a:buClr>
              <a:buSzPct val="64285"/>
              <a:buFont typeface="Wingdings"/>
              <a:buChar char=""/>
              <a:tabLst>
                <a:tab pos="342265" algn="l"/>
                <a:tab pos="342900" algn="l"/>
              </a:tabLst>
            </a:pPr>
            <a:r>
              <a:rPr sz="2800" dirty="0">
                <a:latin typeface="Arial"/>
                <a:cs typeface="Arial"/>
              </a:rPr>
              <a:t>Write </a:t>
            </a:r>
            <a:r>
              <a:rPr sz="2800" spc="-5" dirty="0">
                <a:latin typeface="Arial"/>
                <a:cs typeface="Arial"/>
              </a:rPr>
              <a:t>a </a:t>
            </a:r>
            <a:r>
              <a:rPr sz="2800" dirty="0">
                <a:latin typeface="Arial"/>
                <a:cs typeface="Arial"/>
              </a:rPr>
              <a:t>simple Java program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00FF"/>
                </a:solidFill>
                <a:latin typeface="Arial"/>
                <a:cs typeface="Arial"/>
              </a:rPr>
              <a:t>Temperature.Java</a:t>
            </a:r>
            <a:r>
              <a:rPr sz="2800" dirty="0">
                <a:latin typeface="Arial"/>
                <a:cs typeface="Arial"/>
              </a:rPr>
              <a:t>:</a:t>
            </a:r>
            <a:endParaRPr sz="2800">
              <a:latin typeface="Arial"/>
              <a:cs typeface="Arial"/>
            </a:endParaRPr>
          </a:p>
          <a:p>
            <a:pPr marL="683260" marR="5080" lvl="1" indent="-327025" algn="r">
              <a:lnSpc>
                <a:spcPct val="100000"/>
              </a:lnSpc>
              <a:spcBef>
                <a:spcPts val="620"/>
              </a:spcBef>
              <a:buClr>
                <a:srgbClr val="4B6C4E"/>
              </a:buClr>
              <a:buSzPct val="60416"/>
              <a:buFont typeface="Wingdings"/>
              <a:buChar char=""/>
              <a:tabLst>
                <a:tab pos="683260" algn="l"/>
                <a:tab pos="683895" algn="l"/>
              </a:tabLst>
            </a:pPr>
            <a:r>
              <a:rPr sz="2400" dirty="0">
                <a:latin typeface="Arial"/>
                <a:cs typeface="Arial"/>
              </a:rPr>
              <a:t>To convert </a:t>
            </a:r>
            <a:r>
              <a:rPr sz="2400" spc="-5" dirty="0">
                <a:latin typeface="Arial"/>
                <a:cs typeface="Arial"/>
              </a:rPr>
              <a:t>a temperature reading in Fahrenheit,</a:t>
            </a:r>
            <a:r>
              <a:rPr sz="2400" spc="8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a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real  number, </a:t>
            </a:r>
            <a:r>
              <a:rPr sz="2400" dirty="0">
                <a:latin typeface="Arial"/>
                <a:cs typeface="Arial"/>
              </a:rPr>
              <a:t>to </a:t>
            </a:r>
            <a:r>
              <a:rPr sz="2400" spc="-5" dirty="0">
                <a:latin typeface="Arial"/>
                <a:cs typeface="Arial"/>
              </a:rPr>
              <a:t>Celsius degree using </a:t>
            </a:r>
            <a:r>
              <a:rPr sz="2400" dirty="0">
                <a:latin typeface="Arial"/>
                <a:cs typeface="Arial"/>
              </a:rPr>
              <a:t>the </a:t>
            </a:r>
            <a:r>
              <a:rPr sz="2400" spc="-5" dirty="0">
                <a:latin typeface="Arial"/>
                <a:cs typeface="Arial"/>
              </a:rPr>
              <a:t>following</a:t>
            </a:r>
            <a:r>
              <a:rPr sz="2400" spc="13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formula: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3229567"/>
            <a:ext cx="7621905" cy="2093595"/>
          </a:xfrm>
          <a:prstGeom prst="rect">
            <a:avLst/>
          </a:prstGeom>
        </p:spPr>
        <p:txBody>
          <a:bodyPr vert="horz" wrap="square" lIns="0" tIns="207645" rIns="0" bIns="0" rtlCol="0">
            <a:spAutoFit/>
          </a:bodyPr>
          <a:lstStyle/>
          <a:p>
            <a:pPr marL="683260" indent="-327025">
              <a:lnSpc>
                <a:spcPct val="100000"/>
              </a:lnSpc>
              <a:spcBef>
                <a:spcPts val="1635"/>
              </a:spcBef>
              <a:buClr>
                <a:srgbClr val="4B6C4E"/>
              </a:buClr>
              <a:buSzPct val="60416"/>
              <a:buFont typeface="Wingdings"/>
              <a:buChar char=""/>
              <a:tabLst>
                <a:tab pos="683260" algn="l"/>
                <a:tab pos="683895" algn="l"/>
              </a:tabLst>
            </a:pPr>
            <a:r>
              <a:rPr sz="2400" dirty="0">
                <a:latin typeface="Arial"/>
                <a:cs typeface="Arial"/>
              </a:rPr>
              <a:t>Print out the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result</a:t>
            </a:r>
            <a:endParaRPr sz="240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1790"/>
              </a:spcBef>
              <a:buClr>
                <a:srgbClr val="009999"/>
              </a:buClr>
              <a:buSzPct val="64285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spc="-5" dirty="0">
                <a:latin typeface="Arial"/>
                <a:cs typeface="Arial"/>
              </a:rPr>
              <a:t>For </a:t>
            </a:r>
            <a:r>
              <a:rPr sz="2800" dirty="0">
                <a:latin typeface="Arial"/>
                <a:cs typeface="Arial"/>
              </a:rPr>
              <a:t>the </a:t>
            </a:r>
            <a:r>
              <a:rPr sz="2800" spc="-5" dirty="0">
                <a:latin typeface="Arial"/>
                <a:cs typeface="Arial"/>
              </a:rPr>
              <a:t>time </a:t>
            </a:r>
            <a:r>
              <a:rPr sz="2800" dirty="0">
                <a:latin typeface="Arial"/>
                <a:cs typeface="Arial"/>
              </a:rPr>
              <a:t>being, </a:t>
            </a:r>
            <a:r>
              <a:rPr sz="2800" spc="-5" dirty="0">
                <a:latin typeface="Arial"/>
                <a:cs typeface="Arial"/>
              </a:rPr>
              <a:t>you can </a:t>
            </a:r>
            <a:r>
              <a:rPr sz="2800" dirty="0">
                <a:latin typeface="Arial"/>
                <a:cs typeface="Arial"/>
              </a:rPr>
              <a:t>hard code </a:t>
            </a:r>
            <a:r>
              <a:rPr sz="2800" spc="-5" dirty="0">
                <a:latin typeface="Arial"/>
                <a:cs typeface="Arial"/>
              </a:rPr>
              <a:t>a </a:t>
            </a:r>
            <a:r>
              <a:rPr sz="2800" dirty="0">
                <a:latin typeface="Arial"/>
                <a:cs typeface="Arial"/>
              </a:rPr>
              <a:t>value  for the temperature </a:t>
            </a:r>
            <a:r>
              <a:rPr sz="2800" spc="-5" dirty="0">
                <a:latin typeface="Arial"/>
                <a:cs typeface="Arial"/>
              </a:rPr>
              <a:t>in </a:t>
            </a:r>
            <a:r>
              <a:rPr sz="2800" dirty="0">
                <a:latin typeface="Arial"/>
                <a:cs typeface="Arial"/>
              </a:rPr>
              <a:t>Fahrenheit instead of  reading </a:t>
            </a:r>
            <a:r>
              <a:rPr sz="2800" spc="-5" dirty="0">
                <a:latin typeface="Arial"/>
                <a:cs typeface="Arial"/>
              </a:rPr>
              <a:t>it </a:t>
            </a:r>
            <a:r>
              <a:rPr sz="2800" dirty="0">
                <a:latin typeface="Arial"/>
                <a:cs typeface="Arial"/>
              </a:rPr>
              <a:t>from</a:t>
            </a:r>
            <a:r>
              <a:rPr sz="2800" spc="2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user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438400" y="2438400"/>
            <a:ext cx="4366260" cy="914400"/>
            <a:chOff x="2438400" y="2438400"/>
            <a:chExt cx="4366260" cy="914400"/>
          </a:xfrm>
        </p:grpSpPr>
        <p:sp>
          <p:nvSpPr>
            <p:cNvPr id="6" name="object 6"/>
            <p:cNvSpPr/>
            <p:nvPr/>
          </p:nvSpPr>
          <p:spPr>
            <a:xfrm>
              <a:off x="2438400" y="2438400"/>
              <a:ext cx="4366260" cy="914400"/>
            </a:xfrm>
            <a:custGeom>
              <a:avLst/>
              <a:gdLst/>
              <a:ahLst/>
              <a:cxnLst/>
              <a:rect l="l" t="t" r="r" b="b"/>
              <a:pathLst>
                <a:path w="4366259" h="914400">
                  <a:moveTo>
                    <a:pt x="4366259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4366259" y="914400"/>
                  </a:lnTo>
                  <a:lnTo>
                    <a:pt x="4366259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817342" y="2904933"/>
              <a:ext cx="203200" cy="0"/>
            </a:xfrm>
            <a:custGeom>
              <a:avLst/>
              <a:gdLst/>
              <a:ahLst/>
              <a:cxnLst/>
              <a:rect l="l" t="t" r="r" b="b"/>
              <a:pathLst>
                <a:path w="203200">
                  <a:moveTo>
                    <a:pt x="0" y="0"/>
                  </a:moveTo>
                  <a:lnTo>
                    <a:pt x="202667" y="0"/>
                  </a:lnTo>
                </a:path>
              </a:pathLst>
            </a:custGeom>
            <a:ln w="143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433827" y="2433827"/>
            <a:ext cx="4375785" cy="92392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08915" rIns="0" bIns="0" rtlCol="0">
            <a:spAutoFit/>
          </a:bodyPr>
          <a:lstStyle/>
          <a:p>
            <a:pPr marL="52069">
              <a:lnSpc>
                <a:spcPts val="2730"/>
              </a:lnSpc>
              <a:spcBef>
                <a:spcPts val="1645"/>
              </a:spcBef>
            </a:pPr>
            <a:r>
              <a:rPr sz="2750" i="1" spc="50" dirty="0">
                <a:latin typeface="Times New Roman"/>
                <a:cs typeface="Times New Roman"/>
              </a:rPr>
              <a:t>celsius</a:t>
            </a:r>
            <a:r>
              <a:rPr sz="2750" i="1" spc="-295" dirty="0">
                <a:latin typeface="Times New Roman"/>
                <a:cs typeface="Times New Roman"/>
              </a:rPr>
              <a:t> </a:t>
            </a:r>
            <a:r>
              <a:rPr sz="2750" spc="15" dirty="0">
                <a:latin typeface="Symbol"/>
                <a:cs typeface="Symbol"/>
              </a:rPr>
              <a:t></a:t>
            </a:r>
            <a:r>
              <a:rPr sz="2750" spc="114" dirty="0">
                <a:latin typeface="Times New Roman"/>
                <a:cs typeface="Times New Roman"/>
              </a:rPr>
              <a:t> </a:t>
            </a:r>
            <a:r>
              <a:rPr sz="4125" spc="22" baseline="35353" dirty="0">
                <a:latin typeface="Times New Roman"/>
                <a:cs typeface="Times New Roman"/>
              </a:rPr>
              <a:t>5</a:t>
            </a:r>
            <a:r>
              <a:rPr sz="4125" spc="-337" baseline="35353" dirty="0">
                <a:latin typeface="Times New Roman"/>
                <a:cs typeface="Times New Roman"/>
              </a:rPr>
              <a:t> </a:t>
            </a:r>
            <a:r>
              <a:rPr sz="2750" spc="15" dirty="0">
                <a:latin typeface="Symbol"/>
                <a:cs typeface="Symbol"/>
              </a:rPr>
              <a:t></a:t>
            </a:r>
            <a:r>
              <a:rPr sz="2750" spc="-345" dirty="0">
                <a:latin typeface="Times New Roman"/>
                <a:cs typeface="Times New Roman"/>
              </a:rPr>
              <a:t> </a:t>
            </a:r>
            <a:r>
              <a:rPr sz="2750" spc="10" dirty="0">
                <a:latin typeface="Times New Roman"/>
                <a:cs typeface="Times New Roman"/>
              </a:rPr>
              <a:t>(</a:t>
            </a:r>
            <a:r>
              <a:rPr sz="2750" spc="-105" dirty="0">
                <a:latin typeface="Times New Roman"/>
                <a:cs typeface="Times New Roman"/>
              </a:rPr>
              <a:t> </a:t>
            </a:r>
            <a:r>
              <a:rPr sz="2750" i="1" spc="65" dirty="0">
                <a:latin typeface="Times New Roman"/>
                <a:cs typeface="Times New Roman"/>
              </a:rPr>
              <a:t>fahrenheit</a:t>
            </a:r>
            <a:r>
              <a:rPr sz="2750" spc="65" dirty="0">
                <a:latin typeface="Symbol"/>
                <a:cs typeface="Symbol"/>
              </a:rPr>
              <a:t></a:t>
            </a:r>
            <a:r>
              <a:rPr sz="2750" spc="-305" dirty="0">
                <a:latin typeface="Times New Roman"/>
                <a:cs typeface="Times New Roman"/>
              </a:rPr>
              <a:t> </a:t>
            </a:r>
            <a:r>
              <a:rPr sz="2750" spc="10" dirty="0">
                <a:latin typeface="Times New Roman"/>
                <a:cs typeface="Times New Roman"/>
              </a:rPr>
              <a:t>32)</a:t>
            </a:r>
            <a:endParaRPr sz="2750">
              <a:latin typeface="Times New Roman"/>
              <a:cs typeface="Times New Roman"/>
            </a:endParaRPr>
          </a:p>
          <a:p>
            <a:pPr marL="1396365">
              <a:lnSpc>
                <a:spcPts val="2730"/>
              </a:lnSpc>
            </a:pPr>
            <a:r>
              <a:rPr sz="2750" spc="15" dirty="0">
                <a:latin typeface="Times New Roman"/>
                <a:cs typeface="Times New Roman"/>
              </a:rPr>
              <a:t>9</a:t>
            </a:r>
            <a:endParaRPr sz="27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89"/>
              </a:lnSpc>
              <a:tabLst>
                <a:tab pos="1996439" algn="l"/>
                <a:tab pos="8046720" algn="l"/>
              </a:tabLst>
            </a:pPr>
            <a:r>
              <a:rPr dirty="0"/>
              <a:t>[501043 Lecture 1: Intro</a:t>
            </a:r>
            <a:r>
              <a:rPr spc="-6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Java]	</a:t>
            </a:r>
            <a:r>
              <a:rPr u="heavy" dirty="0">
                <a:uFill>
                  <a:solidFill>
                    <a:srgbClr val="009999"/>
                  </a:solidFill>
                </a:uFill>
              </a:rPr>
              <a:t> 	</a:t>
            </a:r>
            <a:r>
              <a:rPr sz="1600" b="1" i="1" spc="-5" dirty="0">
                <a:solidFill>
                  <a:srgbClr val="C00000"/>
                </a:solidFill>
                <a:latin typeface="Arial"/>
                <a:cs typeface="Arial"/>
              </a:rPr>
              <a:t>27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248158"/>
            <a:ext cx="70834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0" dirty="0">
                <a:solidFill>
                  <a:srgbClr val="C00000"/>
                </a:solidFill>
              </a:rPr>
              <a:t>4.1 </a:t>
            </a:r>
            <a:r>
              <a:rPr spc="-30" dirty="0"/>
              <a:t>Solution: </a:t>
            </a:r>
            <a:r>
              <a:rPr b="1" spc="-150" dirty="0">
                <a:latin typeface="Trebuchet MS"/>
                <a:cs typeface="Trebuchet MS"/>
              </a:rPr>
              <a:t>Fahrenheit </a:t>
            </a:r>
            <a:r>
              <a:rPr b="1" spc="-175" dirty="0">
                <a:latin typeface="Trebuchet MS"/>
                <a:cs typeface="Trebuchet MS"/>
              </a:rPr>
              <a:t>to</a:t>
            </a:r>
            <a:r>
              <a:rPr b="1" spc="25" dirty="0">
                <a:latin typeface="Trebuchet MS"/>
                <a:cs typeface="Trebuchet MS"/>
              </a:rPr>
              <a:t> </a:t>
            </a:r>
            <a:r>
              <a:rPr b="1" spc="-30" dirty="0">
                <a:latin typeface="Trebuchet MS"/>
                <a:cs typeface="Trebuchet MS"/>
              </a:rPr>
              <a:t>Celsius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28637" y="985837"/>
            <a:ext cx="6029325" cy="2687320"/>
            <a:chOff x="528637" y="985837"/>
            <a:chExt cx="6029325" cy="2687320"/>
          </a:xfrm>
        </p:grpSpPr>
        <p:sp>
          <p:nvSpPr>
            <p:cNvPr id="4" name="object 4"/>
            <p:cNvSpPr/>
            <p:nvPr/>
          </p:nvSpPr>
          <p:spPr>
            <a:xfrm>
              <a:off x="533400" y="990599"/>
              <a:ext cx="6019800" cy="2677795"/>
            </a:xfrm>
            <a:custGeom>
              <a:avLst/>
              <a:gdLst/>
              <a:ahLst/>
              <a:cxnLst/>
              <a:rect l="l" t="t" r="r" b="b"/>
              <a:pathLst>
                <a:path w="6019800" h="2677795">
                  <a:moveTo>
                    <a:pt x="60198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0" y="2515362"/>
                  </a:lnTo>
                  <a:lnTo>
                    <a:pt x="0" y="2677668"/>
                  </a:lnTo>
                  <a:lnTo>
                    <a:pt x="6019800" y="2677668"/>
                  </a:lnTo>
                  <a:lnTo>
                    <a:pt x="6019800" y="2515362"/>
                  </a:lnTo>
                  <a:lnTo>
                    <a:pt x="6019800" y="304800"/>
                  </a:lnTo>
                  <a:lnTo>
                    <a:pt x="6019800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33400" y="990600"/>
              <a:ext cx="6019800" cy="2677795"/>
            </a:xfrm>
            <a:custGeom>
              <a:avLst/>
              <a:gdLst/>
              <a:ahLst/>
              <a:cxnLst/>
              <a:rect l="l" t="t" r="r" b="b"/>
              <a:pathLst>
                <a:path w="6019800" h="2677795">
                  <a:moveTo>
                    <a:pt x="0" y="2677668"/>
                  </a:moveTo>
                  <a:lnTo>
                    <a:pt x="6019800" y="2677668"/>
                  </a:lnTo>
                  <a:lnTo>
                    <a:pt x="6019800" y="0"/>
                  </a:lnTo>
                  <a:lnTo>
                    <a:pt x="0" y="0"/>
                  </a:lnTo>
                  <a:lnTo>
                    <a:pt x="0" y="2677668"/>
                  </a:lnTo>
                  <a:close/>
                </a:path>
              </a:pathLst>
            </a:custGeom>
            <a:ln w="9143">
              <a:solidFill>
                <a:srgbClr val="DDEAE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612140" y="1001013"/>
            <a:ext cx="320230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solidFill>
                  <a:srgbClr val="0000FF"/>
                </a:solidFill>
                <a:latin typeface="Courier New"/>
                <a:cs typeface="Courier New"/>
              </a:rPr>
              <a:t>public class </a:t>
            </a:r>
            <a:r>
              <a:rPr sz="1600" b="1" spc="-5" dirty="0">
                <a:latin typeface="Courier New"/>
                <a:cs typeface="Courier New"/>
              </a:rPr>
              <a:t>Temperature</a:t>
            </a:r>
            <a:r>
              <a:rPr sz="1600" b="1" spc="-1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55980" y="1396949"/>
            <a:ext cx="49123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solidFill>
                  <a:srgbClr val="0000FF"/>
                </a:solidFill>
                <a:latin typeface="Courier New"/>
                <a:cs typeface="Courier New"/>
              </a:rPr>
              <a:t>public static </a:t>
            </a:r>
            <a:r>
              <a:rPr sz="1600" b="1" dirty="0">
                <a:solidFill>
                  <a:srgbClr val="0000FF"/>
                </a:solidFill>
                <a:latin typeface="Courier New"/>
                <a:cs typeface="Courier New"/>
              </a:rPr>
              <a:t>void </a:t>
            </a:r>
            <a:r>
              <a:rPr sz="1600" b="1" spc="-5" dirty="0">
                <a:latin typeface="Courier New"/>
                <a:cs typeface="Courier New"/>
              </a:rPr>
              <a:t>main(String[] args)</a:t>
            </a:r>
            <a:r>
              <a:rPr sz="1600" b="1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22044" y="1793874"/>
            <a:ext cx="3325495" cy="665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solidFill>
                  <a:srgbClr val="0000FF"/>
                </a:solidFill>
                <a:latin typeface="Courier New"/>
                <a:cs typeface="Courier New"/>
              </a:rPr>
              <a:t>double </a:t>
            </a:r>
            <a:r>
              <a:rPr sz="1600" b="1" spc="-5" dirty="0">
                <a:latin typeface="Courier New"/>
                <a:cs typeface="Courier New"/>
              </a:rPr>
              <a:t>fahrenheit,</a:t>
            </a:r>
            <a:r>
              <a:rPr sz="1600" b="1" spc="5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celsius;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1600" b="1" spc="-5" dirty="0">
                <a:latin typeface="Courier New"/>
                <a:cs typeface="Courier New"/>
              </a:rPr>
              <a:t>fahrenheit =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123.5</a:t>
            </a:r>
            <a:r>
              <a:rPr sz="1600" b="1" dirty="0">
                <a:latin typeface="Courier New"/>
                <a:cs typeface="Courier New"/>
              </a:rPr>
              <a:t>;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12140" y="2433954"/>
            <a:ext cx="5767705" cy="1153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223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Courier New"/>
                <a:cs typeface="Courier New"/>
              </a:rPr>
              <a:t>celsius = (</a:t>
            </a:r>
            <a:r>
              <a:rPr sz="1600" b="1" spc="-5" dirty="0">
                <a:solidFill>
                  <a:srgbClr val="006600"/>
                </a:solidFill>
                <a:latin typeface="Courier New"/>
                <a:cs typeface="Courier New"/>
              </a:rPr>
              <a:t>5.0</a:t>
            </a:r>
            <a:r>
              <a:rPr sz="1600" b="1" spc="-5" dirty="0">
                <a:latin typeface="Courier New"/>
                <a:cs typeface="Courier New"/>
              </a:rPr>
              <a:t>/</a:t>
            </a:r>
            <a:r>
              <a:rPr sz="1600" b="1" spc="-5" dirty="0">
                <a:solidFill>
                  <a:srgbClr val="006600"/>
                </a:solidFill>
                <a:latin typeface="Courier New"/>
                <a:cs typeface="Courier New"/>
              </a:rPr>
              <a:t>9</a:t>
            </a:r>
            <a:r>
              <a:rPr sz="1600" b="1" spc="-5" dirty="0">
                <a:latin typeface="Courier New"/>
                <a:cs typeface="Courier New"/>
              </a:rPr>
              <a:t>) * (fahrenheit –</a:t>
            </a:r>
            <a:r>
              <a:rPr sz="1600" b="1" spc="65" dirty="0">
                <a:latin typeface="Courier New"/>
                <a:cs typeface="Courier New"/>
              </a:rPr>
              <a:t> </a:t>
            </a:r>
            <a:r>
              <a:rPr sz="1600" b="1" spc="-5" dirty="0">
                <a:solidFill>
                  <a:srgbClr val="006600"/>
                </a:solidFill>
                <a:latin typeface="Courier New"/>
                <a:cs typeface="Courier New"/>
              </a:rPr>
              <a:t>32</a:t>
            </a:r>
            <a:r>
              <a:rPr sz="1600" b="1" spc="-5" dirty="0">
                <a:latin typeface="Courier New"/>
                <a:cs typeface="Courier New"/>
              </a:rPr>
              <a:t>);</a:t>
            </a:r>
            <a:endParaRPr sz="1600">
              <a:latin typeface="Courier New"/>
              <a:cs typeface="Courier New"/>
            </a:endParaRPr>
          </a:p>
          <a:p>
            <a:pPr marL="622300">
              <a:lnSpc>
                <a:spcPct val="100000"/>
              </a:lnSpc>
            </a:pPr>
            <a:r>
              <a:rPr sz="1600" b="1" i="1" spc="-5" dirty="0">
                <a:latin typeface="Courier New"/>
                <a:cs typeface="Courier New"/>
              </a:rPr>
              <a:t>System.out.println</a:t>
            </a:r>
            <a:r>
              <a:rPr sz="1600" b="1" spc="-5" dirty="0">
                <a:latin typeface="Courier New"/>
                <a:cs typeface="Courier New"/>
              </a:rPr>
              <a:t>(</a:t>
            </a:r>
            <a:r>
              <a:rPr sz="1600" b="1" spc="-5" dirty="0">
                <a:solidFill>
                  <a:srgbClr val="006600"/>
                </a:solidFill>
                <a:latin typeface="Courier New"/>
                <a:cs typeface="Courier New"/>
              </a:rPr>
              <a:t>"Celsius: " </a:t>
            </a:r>
            <a:r>
              <a:rPr sz="1600" b="1" spc="-5" dirty="0">
                <a:latin typeface="Courier New"/>
                <a:cs typeface="Courier New"/>
              </a:rPr>
              <a:t>+</a:t>
            </a:r>
            <a:r>
              <a:rPr sz="1600" b="1" spc="4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celsius);</a:t>
            </a:r>
            <a:endParaRPr sz="1600">
              <a:latin typeface="Courier New"/>
              <a:cs typeface="Courier New"/>
            </a:endParaRPr>
          </a:p>
          <a:p>
            <a:pPr marL="256540">
              <a:lnSpc>
                <a:spcPct val="100000"/>
              </a:lnSpc>
              <a:spcBef>
                <a:spcPts val="1200"/>
              </a:spcBef>
            </a:pPr>
            <a:r>
              <a:rPr sz="1600" b="1" spc="-5" dirty="0"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600" b="1" spc="-5" dirty="0"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35940" y="3825870"/>
            <a:ext cx="8093709" cy="2293620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85"/>
              </a:spcBef>
              <a:buClr>
                <a:srgbClr val="009999"/>
              </a:buClr>
              <a:buSzPct val="65000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000" dirty="0">
                <a:latin typeface="Arial"/>
                <a:cs typeface="Arial"/>
              </a:rPr>
              <a:t>Notes:</a:t>
            </a:r>
            <a:endParaRPr sz="2000">
              <a:latin typeface="Arial"/>
              <a:cs typeface="Arial"/>
            </a:endParaRPr>
          </a:p>
          <a:p>
            <a:pPr marL="683260" lvl="1" indent="-327025">
              <a:lnSpc>
                <a:spcPct val="100000"/>
              </a:lnSpc>
              <a:spcBef>
                <a:spcPts val="610"/>
              </a:spcBef>
              <a:buClr>
                <a:srgbClr val="4B6C4E"/>
              </a:buClr>
              <a:buSzPct val="58333"/>
              <a:buFont typeface="Wingdings"/>
              <a:buChar char=""/>
              <a:tabLst>
                <a:tab pos="683260" algn="l"/>
                <a:tab pos="683895" algn="l"/>
              </a:tabLst>
            </a:pPr>
            <a:r>
              <a:rPr sz="1800" b="1" spc="-5" dirty="0">
                <a:solidFill>
                  <a:srgbClr val="0000FF"/>
                </a:solidFill>
                <a:latin typeface="Arial"/>
                <a:cs typeface="Arial"/>
              </a:rPr>
              <a:t>5.0/9 </a:t>
            </a:r>
            <a:r>
              <a:rPr sz="1800" spc="-5" dirty="0">
                <a:latin typeface="Arial"/>
                <a:cs typeface="Arial"/>
              </a:rPr>
              <a:t>is necessary </a:t>
            </a:r>
            <a:r>
              <a:rPr sz="1800" dirty="0">
                <a:latin typeface="Arial"/>
                <a:cs typeface="Arial"/>
              </a:rPr>
              <a:t>to </a:t>
            </a:r>
            <a:r>
              <a:rPr sz="1800" spc="-5" dirty="0">
                <a:latin typeface="Arial"/>
                <a:cs typeface="Arial"/>
              </a:rPr>
              <a:t>get </a:t>
            </a:r>
            <a:r>
              <a:rPr sz="1800" dirty="0">
                <a:latin typeface="Arial"/>
                <a:cs typeface="Arial"/>
              </a:rPr>
              <a:t>the correct </a:t>
            </a:r>
            <a:r>
              <a:rPr sz="1800" spc="-5" dirty="0">
                <a:latin typeface="Arial"/>
                <a:cs typeface="Arial"/>
              </a:rPr>
              <a:t>result </a:t>
            </a:r>
            <a:r>
              <a:rPr sz="1800" spc="-15" dirty="0">
                <a:latin typeface="Arial"/>
                <a:cs typeface="Arial"/>
              </a:rPr>
              <a:t>(what will </a:t>
            </a:r>
            <a:r>
              <a:rPr sz="1800" dirty="0">
                <a:latin typeface="Arial"/>
                <a:cs typeface="Arial"/>
              </a:rPr>
              <a:t>5/9</a:t>
            </a:r>
            <a:r>
              <a:rPr sz="1800" spc="14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give?)</a:t>
            </a:r>
            <a:endParaRPr sz="1800">
              <a:latin typeface="Arial"/>
              <a:cs typeface="Arial"/>
            </a:endParaRPr>
          </a:p>
          <a:p>
            <a:pPr marL="683260" lvl="1" indent="-327025">
              <a:lnSpc>
                <a:spcPct val="100000"/>
              </a:lnSpc>
              <a:spcBef>
                <a:spcPts val="600"/>
              </a:spcBef>
              <a:buClr>
                <a:srgbClr val="4B6C4E"/>
              </a:buClr>
              <a:buSzPct val="58333"/>
              <a:buFont typeface="Wingdings"/>
              <a:buChar char=""/>
              <a:tabLst>
                <a:tab pos="683260" algn="l"/>
                <a:tab pos="683895" algn="l"/>
              </a:tabLst>
            </a:pPr>
            <a:r>
              <a:rPr sz="1800" dirty="0">
                <a:latin typeface="Arial"/>
                <a:cs typeface="Arial"/>
              </a:rPr>
              <a:t>“</a:t>
            </a:r>
            <a:r>
              <a:rPr sz="1800" b="1" dirty="0">
                <a:solidFill>
                  <a:srgbClr val="0000FF"/>
                </a:solidFill>
                <a:latin typeface="Arial"/>
                <a:cs typeface="Arial"/>
              </a:rPr>
              <a:t>+</a:t>
            </a:r>
            <a:r>
              <a:rPr sz="1800" dirty="0">
                <a:latin typeface="Arial"/>
                <a:cs typeface="Arial"/>
              </a:rPr>
              <a:t>” </a:t>
            </a:r>
            <a:r>
              <a:rPr sz="1800" spc="-5" dirty="0">
                <a:latin typeface="Arial"/>
                <a:cs typeface="Arial"/>
              </a:rPr>
              <a:t>in </a:t>
            </a:r>
            <a:r>
              <a:rPr sz="1800" dirty="0">
                <a:latin typeface="Arial"/>
                <a:cs typeface="Arial"/>
              </a:rPr>
              <a:t>the </a:t>
            </a:r>
            <a:r>
              <a:rPr sz="1800" spc="-5" dirty="0">
                <a:latin typeface="Arial"/>
                <a:cs typeface="Arial"/>
              </a:rPr>
              <a:t>printing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statement</a:t>
            </a:r>
            <a:endParaRPr sz="1800">
              <a:latin typeface="Arial"/>
              <a:cs typeface="Arial"/>
            </a:endParaRPr>
          </a:p>
          <a:p>
            <a:pPr marL="1035050" lvl="2" indent="-352425">
              <a:lnSpc>
                <a:spcPct val="100000"/>
              </a:lnSpc>
              <a:buClr>
                <a:srgbClr val="009999"/>
              </a:buClr>
              <a:buSzPct val="63888"/>
              <a:buFont typeface="Wingdings"/>
              <a:buChar char=""/>
              <a:tabLst>
                <a:tab pos="1035050" algn="l"/>
                <a:tab pos="1035685" algn="l"/>
              </a:tabLst>
            </a:pPr>
            <a:r>
              <a:rPr sz="1800" spc="-5" dirty="0">
                <a:solidFill>
                  <a:srgbClr val="000099"/>
                </a:solidFill>
                <a:latin typeface="Arial"/>
                <a:cs typeface="Arial"/>
              </a:rPr>
              <a:t>Concatenate </a:t>
            </a:r>
            <a:r>
              <a:rPr sz="1800" spc="-5" dirty="0">
                <a:latin typeface="Arial"/>
                <a:cs typeface="Arial"/>
              </a:rPr>
              <a:t>operator, </a:t>
            </a:r>
            <a:r>
              <a:rPr sz="1800" dirty="0">
                <a:latin typeface="Arial"/>
                <a:cs typeface="Arial"/>
              </a:rPr>
              <a:t>to </a:t>
            </a:r>
            <a:r>
              <a:rPr sz="1800" spc="-5" dirty="0">
                <a:latin typeface="Arial"/>
                <a:cs typeface="Arial"/>
              </a:rPr>
              <a:t>combine strings into a single</a:t>
            </a:r>
            <a:r>
              <a:rPr sz="1800" spc="8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string</a:t>
            </a:r>
            <a:endParaRPr sz="1800">
              <a:latin typeface="Arial"/>
              <a:cs typeface="Arial"/>
            </a:endParaRPr>
          </a:p>
          <a:p>
            <a:pPr marL="1035050" lvl="2" indent="-352425">
              <a:lnSpc>
                <a:spcPct val="100000"/>
              </a:lnSpc>
              <a:buClr>
                <a:srgbClr val="009999"/>
              </a:buClr>
              <a:buSzPct val="63888"/>
              <a:buFont typeface="Wingdings"/>
              <a:buChar char=""/>
              <a:tabLst>
                <a:tab pos="1035050" algn="l"/>
                <a:tab pos="1035685" algn="l"/>
              </a:tabLst>
            </a:pPr>
            <a:r>
              <a:rPr sz="1800" spc="-5" dirty="0">
                <a:latin typeface="Arial"/>
                <a:cs typeface="Arial"/>
              </a:rPr>
              <a:t>Variable values </a:t>
            </a:r>
            <a:r>
              <a:rPr sz="1800" spc="-15" dirty="0">
                <a:latin typeface="Arial"/>
                <a:cs typeface="Arial"/>
              </a:rPr>
              <a:t>will </a:t>
            </a:r>
            <a:r>
              <a:rPr sz="1800" spc="-5" dirty="0">
                <a:latin typeface="Arial"/>
                <a:cs typeface="Arial"/>
              </a:rPr>
              <a:t>be converted </a:t>
            </a:r>
            <a:r>
              <a:rPr sz="1800" dirty="0">
                <a:latin typeface="Arial"/>
                <a:cs typeface="Arial"/>
              </a:rPr>
              <a:t>to </a:t>
            </a:r>
            <a:r>
              <a:rPr sz="1800" spc="-5" dirty="0">
                <a:latin typeface="Arial"/>
                <a:cs typeface="Arial"/>
              </a:rPr>
              <a:t>string</a:t>
            </a:r>
            <a:r>
              <a:rPr sz="1800" spc="9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automatically</a:t>
            </a:r>
            <a:endParaRPr sz="1800">
              <a:latin typeface="Arial"/>
              <a:cs typeface="Arial"/>
            </a:endParaRPr>
          </a:p>
          <a:p>
            <a:pPr marL="683260" marR="5080" lvl="1" indent="-327025">
              <a:lnSpc>
                <a:spcPct val="105600"/>
              </a:lnSpc>
              <a:spcBef>
                <a:spcPts val="360"/>
              </a:spcBef>
              <a:buClr>
                <a:srgbClr val="4B6C4E"/>
              </a:buClr>
              <a:buSzPct val="58333"/>
              <a:buFont typeface="Wingdings"/>
              <a:buChar char=""/>
              <a:tabLst>
                <a:tab pos="683260" algn="l"/>
                <a:tab pos="683895" algn="l"/>
              </a:tabLst>
            </a:pPr>
            <a:r>
              <a:rPr sz="1800" spc="-5" dirty="0">
                <a:latin typeface="Arial"/>
                <a:cs typeface="Arial"/>
              </a:rPr>
              <a:t>There is another printing statement, </a:t>
            </a:r>
            <a:r>
              <a:rPr sz="1800" b="1" spc="-10" dirty="0">
                <a:solidFill>
                  <a:srgbClr val="0000FF"/>
                </a:solidFill>
                <a:latin typeface="Courier New"/>
                <a:cs typeface="Courier New"/>
              </a:rPr>
              <a:t>System.out.print()</a:t>
            </a:r>
            <a:r>
              <a:rPr sz="1800" spc="-10" dirty="0">
                <a:latin typeface="Arial"/>
                <a:cs typeface="Arial"/>
              </a:rPr>
              <a:t>, </a:t>
            </a:r>
            <a:r>
              <a:rPr sz="1800" spc="-15" dirty="0">
                <a:latin typeface="Arial"/>
                <a:cs typeface="Arial"/>
              </a:rPr>
              <a:t>which </a:t>
            </a:r>
            <a:r>
              <a:rPr sz="1800" spc="-5" dirty="0">
                <a:latin typeface="Arial"/>
                <a:cs typeface="Arial"/>
              </a:rPr>
              <a:t>does  not include </a:t>
            </a:r>
            <a:r>
              <a:rPr sz="1800" spc="-10" dirty="0">
                <a:latin typeface="Arial"/>
                <a:cs typeface="Arial"/>
              </a:rPr>
              <a:t>newline </a:t>
            </a:r>
            <a:r>
              <a:rPr sz="1800" dirty="0">
                <a:latin typeface="Arial"/>
                <a:cs typeface="Arial"/>
              </a:rPr>
              <a:t>at the </a:t>
            </a:r>
            <a:r>
              <a:rPr sz="1800" spc="-5" dirty="0">
                <a:latin typeface="Arial"/>
                <a:cs typeface="Arial"/>
              </a:rPr>
              <a:t>end </a:t>
            </a:r>
            <a:r>
              <a:rPr sz="1800" dirty="0">
                <a:latin typeface="Arial"/>
                <a:cs typeface="Arial"/>
              </a:rPr>
              <a:t>of </a:t>
            </a:r>
            <a:r>
              <a:rPr sz="1800" spc="-5" dirty="0">
                <a:latin typeface="Arial"/>
                <a:cs typeface="Arial"/>
              </a:rPr>
              <a:t>line (more in section</a:t>
            </a:r>
            <a:r>
              <a:rPr sz="1800" spc="9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4.3)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794250" y="908050"/>
            <a:ext cx="1917700" cy="393700"/>
            <a:chOff x="4794250" y="908050"/>
            <a:chExt cx="1917700" cy="393700"/>
          </a:xfrm>
        </p:grpSpPr>
        <p:sp>
          <p:nvSpPr>
            <p:cNvPr id="12" name="object 12"/>
            <p:cNvSpPr/>
            <p:nvPr/>
          </p:nvSpPr>
          <p:spPr>
            <a:xfrm>
              <a:off x="4800600" y="914400"/>
              <a:ext cx="1905000" cy="381000"/>
            </a:xfrm>
            <a:custGeom>
              <a:avLst/>
              <a:gdLst/>
              <a:ahLst/>
              <a:cxnLst/>
              <a:rect l="l" t="t" r="r" b="b"/>
              <a:pathLst>
                <a:path w="1905000" h="381000">
                  <a:moveTo>
                    <a:pt x="1905000" y="0"/>
                  </a:moveTo>
                  <a:lnTo>
                    <a:pt x="0" y="0"/>
                  </a:lnTo>
                  <a:lnTo>
                    <a:pt x="0" y="381000"/>
                  </a:lnTo>
                  <a:lnTo>
                    <a:pt x="1905000" y="381000"/>
                  </a:lnTo>
                  <a:lnTo>
                    <a:pt x="1905000" y="0"/>
                  </a:lnTo>
                  <a:close/>
                </a:path>
              </a:pathLst>
            </a:custGeom>
            <a:solidFill>
              <a:srgbClr val="B8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800600" y="914400"/>
              <a:ext cx="1905000" cy="381000"/>
            </a:xfrm>
            <a:custGeom>
              <a:avLst/>
              <a:gdLst/>
              <a:ahLst/>
              <a:cxnLst/>
              <a:rect l="l" t="t" r="r" b="b"/>
              <a:pathLst>
                <a:path w="1905000" h="381000">
                  <a:moveTo>
                    <a:pt x="0" y="381000"/>
                  </a:moveTo>
                  <a:lnTo>
                    <a:pt x="1905000" y="381000"/>
                  </a:lnTo>
                  <a:lnTo>
                    <a:pt x="1905000" y="0"/>
                  </a:lnTo>
                  <a:lnTo>
                    <a:pt x="0" y="0"/>
                  </a:lnTo>
                  <a:lnTo>
                    <a:pt x="0" y="381000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4909820" y="940053"/>
            <a:ext cx="16865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latin typeface="Carlito"/>
                <a:cs typeface="Carlito"/>
              </a:rPr>
              <a:t>Temperature.java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364994" y="3533013"/>
            <a:ext cx="17272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C00000"/>
                </a:solidFill>
                <a:latin typeface="Arial"/>
                <a:cs typeface="Arial"/>
              </a:rPr>
              <a:t>Compare </a:t>
            </a:r>
            <a:r>
              <a:rPr sz="1800" spc="-15" dirty="0">
                <a:solidFill>
                  <a:srgbClr val="C00000"/>
                </a:solidFill>
                <a:latin typeface="Arial"/>
                <a:cs typeface="Arial"/>
              </a:rPr>
              <a:t>with</a:t>
            </a:r>
            <a:r>
              <a:rPr sz="1800" spc="-1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C00000"/>
                </a:solidFill>
                <a:latin typeface="Arial"/>
                <a:cs typeface="Arial"/>
              </a:rPr>
              <a:t>C: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429000" y="2947416"/>
            <a:ext cx="5195570" cy="909955"/>
            <a:chOff x="3429000" y="2947416"/>
            <a:chExt cx="5195570" cy="909955"/>
          </a:xfrm>
        </p:grpSpPr>
        <p:sp>
          <p:nvSpPr>
            <p:cNvPr id="17" name="object 17"/>
            <p:cNvSpPr/>
            <p:nvPr/>
          </p:nvSpPr>
          <p:spPr>
            <a:xfrm>
              <a:off x="3429000" y="2947416"/>
              <a:ext cx="3049270" cy="564515"/>
            </a:xfrm>
            <a:custGeom>
              <a:avLst/>
              <a:gdLst/>
              <a:ahLst/>
              <a:cxnLst/>
              <a:rect l="l" t="t" r="r" b="b"/>
              <a:pathLst>
                <a:path w="3049270" h="564514">
                  <a:moveTo>
                    <a:pt x="76157" y="31275"/>
                  </a:moveTo>
                  <a:lnTo>
                    <a:pt x="73968" y="43716"/>
                  </a:lnTo>
                  <a:lnTo>
                    <a:pt x="3046857" y="564007"/>
                  </a:lnTo>
                  <a:lnTo>
                    <a:pt x="3049142" y="551561"/>
                  </a:lnTo>
                  <a:lnTo>
                    <a:pt x="76157" y="31275"/>
                  </a:lnTo>
                  <a:close/>
                </a:path>
                <a:path w="3049270" h="564514">
                  <a:moveTo>
                    <a:pt x="81661" y="0"/>
                  </a:moveTo>
                  <a:lnTo>
                    <a:pt x="0" y="24384"/>
                  </a:lnTo>
                  <a:lnTo>
                    <a:pt x="68452" y="75057"/>
                  </a:lnTo>
                  <a:lnTo>
                    <a:pt x="73968" y="43716"/>
                  </a:lnTo>
                  <a:lnTo>
                    <a:pt x="61467" y="41529"/>
                  </a:lnTo>
                  <a:lnTo>
                    <a:pt x="63626" y="29083"/>
                  </a:lnTo>
                  <a:lnTo>
                    <a:pt x="76543" y="29083"/>
                  </a:lnTo>
                  <a:lnTo>
                    <a:pt x="81661" y="0"/>
                  </a:lnTo>
                  <a:close/>
                </a:path>
                <a:path w="3049270" h="564514">
                  <a:moveTo>
                    <a:pt x="63626" y="29083"/>
                  </a:moveTo>
                  <a:lnTo>
                    <a:pt x="61467" y="41529"/>
                  </a:lnTo>
                  <a:lnTo>
                    <a:pt x="73968" y="43716"/>
                  </a:lnTo>
                  <a:lnTo>
                    <a:pt x="76157" y="31275"/>
                  </a:lnTo>
                  <a:lnTo>
                    <a:pt x="63626" y="29083"/>
                  </a:lnTo>
                  <a:close/>
                </a:path>
                <a:path w="3049270" h="564514">
                  <a:moveTo>
                    <a:pt x="76543" y="29083"/>
                  </a:moveTo>
                  <a:lnTo>
                    <a:pt x="63626" y="29083"/>
                  </a:lnTo>
                  <a:lnTo>
                    <a:pt x="76157" y="31275"/>
                  </a:lnTo>
                  <a:lnTo>
                    <a:pt x="76543" y="2908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344161" y="3505962"/>
              <a:ext cx="4267200" cy="338455"/>
            </a:xfrm>
            <a:custGeom>
              <a:avLst/>
              <a:gdLst/>
              <a:ahLst/>
              <a:cxnLst/>
              <a:rect l="l" t="t" r="r" b="b"/>
              <a:pathLst>
                <a:path w="4267200" h="338454">
                  <a:moveTo>
                    <a:pt x="4267199" y="0"/>
                  </a:moveTo>
                  <a:lnTo>
                    <a:pt x="0" y="0"/>
                  </a:lnTo>
                  <a:lnTo>
                    <a:pt x="0" y="338327"/>
                  </a:lnTo>
                  <a:lnTo>
                    <a:pt x="4267199" y="338327"/>
                  </a:lnTo>
                  <a:lnTo>
                    <a:pt x="4267199" y="0"/>
                  </a:lnTo>
                  <a:close/>
                </a:path>
              </a:pathLst>
            </a:custGeom>
            <a:solidFill>
              <a:srgbClr val="EDF4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344161" y="3505962"/>
              <a:ext cx="4267200" cy="338455"/>
            </a:xfrm>
            <a:custGeom>
              <a:avLst/>
              <a:gdLst/>
              <a:ahLst/>
              <a:cxnLst/>
              <a:rect l="l" t="t" r="r" b="b"/>
              <a:pathLst>
                <a:path w="4267200" h="338454">
                  <a:moveTo>
                    <a:pt x="0" y="338327"/>
                  </a:moveTo>
                  <a:lnTo>
                    <a:pt x="4267199" y="338327"/>
                  </a:lnTo>
                  <a:lnTo>
                    <a:pt x="4267199" y="0"/>
                  </a:lnTo>
                  <a:lnTo>
                    <a:pt x="0" y="0"/>
                  </a:lnTo>
                  <a:lnTo>
                    <a:pt x="0" y="338327"/>
                  </a:lnTo>
                  <a:close/>
                </a:path>
              </a:pathLst>
            </a:custGeom>
            <a:ln w="25908">
              <a:solidFill>
                <a:srgbClr val="4461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4422775" y="3516248"/>
            <a:ext cx="405701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Courier New"/>
                <a:cs typeface="Courier New"/>
              </a:rPr>
              <a:t>printf(</a:t>
            </a:r>
            <a:r>
              <a:rPr sz="1600" b="1" spc="-5" dirty="0">
                <a:solidFill>
                  <a:srgbClr val="006600"/>
                </a:solidFill>
                <a:latin typeface="Courier New"/>
                <a:cs typeface="Courier New"/>
              </a:rPr>
              <a:t>"Celsius: </a:t>
            </a:r>
            <a:r>
              <a:rPr sz="1600" b="1" dirty="0">
                <a:solidFill>
                  <a:srgbClr val="FF0000"/>
                </a:solidFill>
                <a:latin typeface="Courier New"/>
                <a:cs typeface="Courier New"/>
              </a:rPr>
              <a:t>%f\n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"</a:t>
            </a:r>
            <a:r>
              <a:rPr sz="1600" b="1" dirty="0">
                <a:latin typeface="Courier New"/>
                <a:cs typeface="Courier New"/>
              </a:rPr>
              <a:t>, </a:t>
            </a:r>
            <a:r>
              <a:rPr sz="1600" b="1" spc="-5" dirty="0">
                <a:latin typeface="Courier New"/>
                <a:cs typeface="Courier New"/>
              </a:rPr>
              <a:t>celsius);</a:t>
            </a:r>
            <a:endParaRPr sz="1600">
              <a:latin typeface="Courier New"/>
              <a:cs typeface="Courier New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992623" y="1720595"/>
            <a:ext cx="3937000" cy="672465"/>
            <a:chOff x="4992623" y="1720595"/>
            <a:chExt cx="3937000" cy="672465"/>
          </a:xfrm>
        </p:grpSpPr>
        <p:sp>
          <p:nvSpPr>
            <p:cNvPr id="22" name="object 22"/>
            <p:cNvSpPr/>
            <p:nvPr/>
          </p:nvSpPr>
          <p:spPr>
            <a:xfrm>
              <a:off x="5005577" y="1733549"/>
              <a:ext cx="3910965" cy="646430"/>
            </a:xfrm>
            <a:custGeom>
              <a:avLst/>
              <a:gdLst/>
              <a:ahLst/>
              <a:cxnLst/>
              <a:rect l="l" t="t" r="r" b="b"/>
              <a:pathLst>
                <a:path w="3910965" h="646430">
                  <a:moveTo>
                    <a:pt x="3910583" y="0"/>
                  </a:moveTo>
                  <a:lnTo>
                    <a:pt x="0" y="0"/>
                  </a:lnTo>
                  <a:lnTo>
                    <a:pt x="0" y="646176"/>
                  </a:lnTo>
                  <a:lnTo>
                    <a:pt x="3910583" y="646176"/>
                  </a:lnTo>
                  <a:lnTo>
                    <a:pt x="3910583" y="0"/>
                  </a:lnTo>
                  <a:close/>
                </a:path>
              </a:pathLst>
            </a:custGeom>
            <a:solidFill>
              <a:srgbClr val="EDE8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005577" y="1733549"/>
              <a:ext cx="3910965" cy="646430"/>
            </a:xfrm>
            <a:custGeom>
              <a:avLst/>
              <a:gdLst/>
              <a:ahLst/>
              <a:cxnLst/>
              <a:rect l="l" t="t" r="r" b="b"/>
              <a:pathLst>
                <a:path w="3910965" h="646430">
                  <a:moveTo>
                    <a:pt x="0" y="646176"/>
                  </a:moveTo>
                  <a:lnTo>
                    <a:pt x="3910583" y="646176"/>
                  </a:lnTo>
                  <a:lnTo>
                    <a:pt x="3910583" y="0"/>
                  </a:lnTo>
                  <a:lnTo>
                    <a:pt x="0" y="0"/>
                  </a:lnTo>
                  <a:lnTo>
                    <a:pt x="0" y="646176"/>
                  </a:lnTo>
                  <a:close/>
                </a:path>
              </a:pathLst>
            </a:custGeom>
            <a:ln w="25908">
              <a:solidFill>
                <a:srgbClr val="F6B82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5083809" y="1759711"/>
            <a:ext cx="774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" dirty="0">
                <a:solidFill>
                  <a:srgbClr val="000099"/>
                </a:solidFill>
                <a:latin typeface="Arial"/>
                <a:cs typeface="Arial"/>
              </a:rPr>
              <a:t>Outp</a:t>
            </a:r>
            <a:r>
              <a:rPr sz="1800" i="1" spc="-15" dirty="0">
                <a:solidFill>
                  <a:srgbClr val="000099"/>
                </a:solidFill>
                <a:latin typeface="Arial"/>
                <a:cs typeface="Arial"/>
              </a:rPr>
              <a:t>u</a:t>
            </a:r>
            <a:r>
              <a:rPr sz="1800" i="1" dirty="0">
                <a:solidFill>
                  <a:srgbClr val="000099"/>
                </a:solidFill>
                <a:latin typeface="Arial"/>
                <a:cs typeface="Arial"/>
              </a:rPr>
              <a:t>t:</a:t>
            </a:r>
            <a:endParaRPr sz="1800">
              <a:latin typeface="Arial"/>
              <a:cs typeface="Arial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89"/>
              </a:lnSpc>
              <a:tabLst>
                <a:tab pos="1996439" algn="l"/>
                <a:tab pos="8046720" algn="l"/>
              </a:tabLst>
            </a:pPr>
            <a:r>
              <a:rPr dirty="0"/>
              <a:t>[501043 Lecture 1: Intro</a:t>
            </a:r>
            <a:r>
              <a:rPr spc="-6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Java]	</a:t>
            </a:r>
            <a:r>
              <a:rPr u="heavy" dirty="0">
                <a:uFill>
                  <a:solidFill>
                    <a:srgbClr val="009999"/>
                  </a:solidFill>
                </a:uFill>
              </a:rPr>
              <a:t> 	</a:t>
            </a:r>
            <a:r>
              <a:rPr sz="1600" b="1" i="1" spc="-5" dirty="0">
                <a:solidFill>
                  <a:srgbClr val="C00000"/>
                </a:solidFill>
                <a:latin typeface="Arial"/>
                <a:cs typeface="Arial"/>
              </a:rPr>
              <a:t>28</a:t>
            </a:r>
            <a:endParaRPr sz="16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083809" y="2012696"/>
            <a:ext cx="37115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ourier New"/>
                <a:cs typeface="Courier New"/>
              </a:rPr>
              <a:t>Celsius:</a:t>
            </a:r>
            <a:r>
              <a:rPr sz="1800" b="1" spc="-70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50.833333333333336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3444" y="1540890"/>
            <a:ext cx="577786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130" dirty="0">
                <a:solidFill>
                  <a:srgbClr val="C00000"/>
                </a:solidFill>
                <a:latin typeface="Trebuchet MS"/>
                <a:cs typeface="Trebuchet MS"/>
              </a:rPr>
              <a:t>4.2 </a:t>
            </a:r>
            <a:r>
              <a:rPr sz="4400" spc="-20" dirty="0">
                <a:solidFill>
                  <a:srgbClr val="003399"/>
                </a:solidFill>
                <a:latin typeface="Trebuchet MS"/>
                <a:cs typeface="Trebuchet MS"/>
              </a:rPr>
              <a:t>Control</a:t>
            </a:r>
            <a:r>
              <a:rPr sz="4400" spc="-175" dirty="0">
                <a:solidFill>
                  <a:srgbClr val="003399"/>
                </a:solidFill>
                <a:latin typeface="Trebuchet MS"/>
                <a:cs typeface="Trebuchet MS"/>
              </a:rPr>
              <a:t> </a:t>
            </a:r>
            <a:r>
              <a:rPr sz="4400" spc="-75" dirty="0">
                <a:solidFill>
                  <a:srgbClr val="003399"/>
                </a:solidFill>
                <a:latin typeface="Trebuchet MS"/>
                <a:cs typeface="Trebuchet MS"/>
              </a:rPr>
              <a:t>Statements</a:t>
            </a:r>
            <a:endParaRPr sz="44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60194" y="3970782"/>
            <a:ext cx="403987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Carlito"/>
                <a:cs typeface="Carlito"/>
              </a:rPr>
              <a:t>Program </a:t>
            </a:r>
            <a:r>
              <a:rPr sz="3200" spc="-5" dirty="0">
                <a:latin typeface="Carlito"/>
                <a:cs typeface="Carlito"/>
              </a:rPr>
              <a:t>Execution</a:t>
            </a:r>
            <a:r>
              <a:rPr sz="3200" spc="-55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Flow</a:t>
            </a:r>
            <a:endParaRPr sz="3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248158"/>
            <a:ext cx="75374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5" dirty="0">
                <a:solidFill>
                  <a:srgbClr val="C00000"/>
                </a:solidFill>
              </a:rPr>
              <a:t>4.2 </a:t>
            </a:r>
            <a:r>
              <a:rPr spc="5" dirty="0"/>
              <a:t>Boolean </a:t>
            </a:r>
            <a:r>
              <a:rPr spc="-25" dirty="0"/>
              <a:t>Data </a:t>
            </a:r>
            <a:r>
              <a:rPr spc="-155" dirty="0"/>
              <a:t>Type </a:t>
            </a:r>
            <a:r>
              <a:rPr b="1" spc="-105" dirty="0">
                <a:solidFill>
                  <a:srgbClr val="C00000"/>
                </a:solidFill>
                <a:latin typeface="Trebuchet MS"/>
                <a:cs typeface="Trebuchet MS"/>
              </a:rPr>
              <a:t>[new </a:t>
            </a:r>
            <a:r>
              <a:rPr b="1" spc="-80" dirty="0">
                <a:solidFill>
                  <a:srgbClr val="C00000"/>
                </a:solidFill>
                <a:latin typeface="Trebuchet MS"/>
                <a:cs typeface="Trebuchet MS"/>
              </a:rPr>
              <a:t>in</a:t>
            </a:r>
            <a:r>
              <a:rPr b="1" spc="65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b="1" spc="-75" dirty="0">
                <a:solidFill>
                  <a:srgbClr val="C00000"/>
                </a:solidFill>
                <a:latin typeface="Trebuchet MS"/>
                <a:cs typeface="Trebuchet MS"/>
              </a:rPr>
              <a:t>Java]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929386"/>
            <a:ext cx="8052434" cy="14846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Clr>
                <a:srgbClr val="009999"/>
              </a:buClr>
              <a:buSzPct val="64285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Java provides an actual </a:t>
            </a:r>
            <a:r>
              <a:rPr sz="2800" b="1" spc="-5" dirty="0">
                <a:solidFill>
                  <a:srgbClr val="660066"/>
                </a:solidFill>
                <a:latin typeface="Arial"/>
                <a:cs typeface="Arial"/>
              </a:rPr>
              <a:t>boolean </a:t>
            </a:r>
            <a:r>
              <a:rPr sz="2800" spc="-5" dirty="0">
                <a:latin typeface="Arial"/>
                <a:cs typeface="Arial"/>
              </a:rPr>
              <a:t>data</a:t>
            </a:r>
            <a:r>
              <a:rPr sz="2800" spc="20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type</a:t>
            </a:r>
            <a:endParaRPr sz="2800">
              <a:latin typeface="Arial"/>
              <a:cs typeface="Arial"/>
            </a:endParaRPr>
          </a:p>
          <a:p>
            <a:pPr marL="683260" lvl="1" indent="-327025">
              <a:lnSpc>
                <a:spcPts val="2595"/>
              </a:lnSpc>
              <a:spcBef>
                <a:spcPts val="40"/>
              </a:spcBef>
              <a:buClr>
                <a:srgbClr val="4B6C4E"/>
              </a:buClr>
              <a:buSzPct val="60416"/>
              <a:buFont typeface="Wingdings"/>
              <a:buChar char=""/>
              <a:tabLst>
                <a:tab pos="683260" algn="l"/>
                <a:tab pos="683895" algn="l"/>
              </a:tabLst>
            </a:pPr>
            <a:r>
              <a:rPr sz="2400" dirty="0">
                <a:latin typeface="Arial"/>
                <a:cs typeface="Arial"/>
              </a:rPr>
              <a:t>Store </a:t>
            </a:r>
            <a:r>
              <a:rPr sz="2400" spc="-5" dirty="0">
                <a:latin typeface="Arial"/>
                <a:cs typeface="Arial"/>
              </a:rPr>
              <a:t>boolean value </a:t>
            </a:r>
            <a:r>
              <a:rPr sz="2400" b="1" i="1" dirty="0">
                <a:solidFill>
                  <a:srgbClr val="006600"/>
                </a:solidFill>
                <a:latin typeface="Arial"/>
                <a:cs typeface="Arial"/>
              </a:rPr>
              <a:t>true </a:t>
            </a:r>
            <a:r>
              <a:rPr sz="2400" dirty="0">
                <a:latin typeface="Arial"/>
                <a:cs typeface="Arial"/>
              </a:rPr>
              <a:t>or </a:t>
            </a:r>
            <a:r>
              <a:rPr sz="2400" b="1" i="1" dirty="0">
                <a:solidFill>
                  <a:srgbClr val="C00000"/>
                </a:solidFill>
                <a:latin typeface="Arial"/>
                <a:cs typeface="Arial"/>
              </a:rPr>
              <a:t>false</a:t>
            </a:r>
            <a:r>
              <a:rPr sz="2400" dirty="0">
                <a:latin typeface="Arial"/>
                <a:cs typeface="Arial"/>
              </a:rPr>
              <a:t>, </a:t>
            </a:r>
            <a:r>
              <a:rPr sz="2400" spc="-5" dirty="0">
                <a:latin typeface="Arial"/>
                <a:cs typeface="Arial"/>
              </a:rPr>
              <a:t>which </a:t>
            </a:r>
            <a:r>
              <a:rPr sz="2400" dirty="0">
                <a:latin typeface="Arial"/>
                <a:cs typeface="Arial"/>
              </a:rPr>
              <a:t>are</a:t>
            </a:r>
            <a:r>
              <a:rPr sz="2400" spc="3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keywords</a:t>
            </a:r>
            <a:endParaRPr sz="2400">
              <a:latin typeface="Arial"/>
              <a:cs typeface="Arial"/>
            </a:endParaRPr>
          </a:p>
          <a:p>
            <a:pPr marL="683260">
              <a:lnSpc>
                <a:spcPts val="2595"/>
              </a:lnSpc>
            </a:pPr>
            <a:r>
              <a:rPr sz="2400" spc="-5" dirty="0">
                <a:latin typeface="Arial"/>
                <a:cs typeface="Arial"/>
              </a:rPr>
              <a:t>in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Java</a:t>
            </a:r>
            <a:endParaRPr sz="2400">
              <a:latin typeface="Arial"/>
              <a:cs typeface="Arial"/>
            </a:endParaRPr>
          </a:p>
          <a:p>
            <a:pPr marL="683260" lvl="1" indent="-327025">
              <a:lnSpc>
                <a:spcPct val="100000"/>
              </a:lnSpc>
              <a:spcBef>
                <a:spcPts val="25"/>
              </a:spcBef>
              <a:buClr>
                <a:srgbClr val="4B6C4E"/>
              </a:buClr>
              <a:buSzPct val="60416"/>
              <a:buFont typeface="Wingdings"/>
              <a:buChar char=""/>
              <a:tabLst>
                <a:tab pos="683260" algn="l"/>
                <a:tab pos="683895" algn="l"/>
              </a:tabLst>
            </a:pPr>
            <a:r>
              <a:rPr sz="2400" spc="-5" dirty="0">
                <a:latin typeface="Arial"/>
                <a:cs typeface="Arial"/>
              </a:rPr>
              <a:t>Boolean expression evaluates </a:t>
            </a:r>
            <a:r>
              <a:rPr sz="2400" dirty="0">
                <a:latin typeface="Arial"/>
                <a:cs typeface="Arial"/>
              </a:rPr>
              <a:t>to </a:t>
            </a:r>
            <a:r>
              <a:rPr sz="2400" spc="-5" dirty="0">
                <a:latin typeface="Arial"/>
                <a:cs typeface="Arial"/>
              </a:rPr>
              <a:t>either </a:t>
            </a:r>
            <a:r>
              <a:rPr sz="2400" b="1" i="1" spc="-5" dirty="0">
                <a:solidFill>
                  <a:srgbClr val="006600"/>
                </a:solidFill>
                <a:latin typeface="Arial"/>
                <a:cs typeface="Arial"/>
              </a:rPr>
              <a:t>true </a:t>
            </a:r>
            <a:r>
              <a:rPr sz="2400" spc="-5" dirty="0">
                <a:latin typeface="Arial"/>
                <a:cs typeface="Arial"/>
              </a:rPr>
              <a:t>or</a:t>
            </a:r>
            <a:r>
              <a:rPr sz="2400" spc="135" dirty="0">
                <a:latin typeface="Arial"/>
                <a:cs typeface="Arial"/>
              </a:rPr>
              <a:t> </a:t>
            </a:r>
            <a:r>
              <a:rPr sz="2400" b="1" i="1" spc="-5" dirty="0">
                <a:solidFill>
                  <a:srgbClr val="C00000"/>
                </a:solidFill>
                <a:latin typeface="Arial"/>
                <a:cs typeface="Arial"/>
              </a:rPr>
              <a:t>false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32103" y="2508504"/>
            <a:ext cx="469900" cy="1079500"/>
            <a:chOff x="832103" y="2508504"/>
            <a:chExt cx="469900" cy="1079500"/>
          </a:xfrm>
        </p:grpSpPr>
        <p:sp>
          <p:nvSpPr>
            <p:cNvPr id="5" name="object 5"/>
            <p:cNvSpPr/>
            <p:nvPr/>
          </p:nvSpPr>
          <p:spPr>
            <a:xfrm>
              <a:off x="838199" y="2514600"/>
              <a:ext cx="457200" cy="1066800"/>
            </a:xfrm>
            <a:custGeom>
              <a:avLst/>
              <a:gdLst/>
              <a:ahLst/>
              <a:cxnLst/>
              <a:rect l="l" t="t" r="r" b="b"/>
              <a:pathLst>
                <a:path w="457200" h="1066800">
                  <a:moveTo>
                    <a:pt x="457200" y="0"/>
                  </a:moveTo>
                  <a:lnTo>
                    <a:pt x="0" y="0"/>
                  </a:lnTo>
                  <a:lnTo>
                    <a:pt x="0" y="1066800"/>
                  </a:lnTo>
                  <a:lnTo>
                    <a:pt x="457200" y="106680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FF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38199" y="2514600"/>
              <a:ext cx="457200" cy="1066800"/>
            </a:xfrm>
            <a:custGeom>
              <a:avLst/>
              <a:gdLst/>
              <a:ahLst/>
              <a:cxnLst/>
              <a:rect l="l" t="t" r="r" b="b"/>
              <a:pathLst>
                <a:path w="457200" h="1066800">
                  <a:moveTo>
                    <a:pt x="0" y="1066800"/>
                  </a:moveTo>
                  <a:lnTo>
                    <a:pt x="457200" y="1066800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1066800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932803" y="2584945"/>
            <a:ext cx="281305" cy="92964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b="1" dirty="0">
                <a:latin typeface="Arial"/>
                <a:cs typeface="Arial"/>
              </a:rPr>
              <a:t>SYN</a:t>
            </a:r>
            <a:r>
              <a:rPr sz="1800" b="1" spc="-135" dirty="0">
                <a:latin typeface="Arial"/>
                <a:cs typeface="Arial"/>
              </a:rPr>
              <a:t>T</a:t>
            </a:r>
            <a:r>
              <a:rPr sz="1800" b="1" spc="-55" dirty="0">
                <a:latin typeface="Arial"/>
                <a:cs typeface="Arial"/>
              </a:rPr>
              <a:t>A</a:t>
            </a:r>
            <a:r>
              <a:rPr sz="1800" b="1" dirty="0">
                <a:latin typeface="Arial"/>
                <a:cs typeface="Arial"/>
              </a:rPr>
              <a:t>X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95400" y="2514600"/>
            <a:ext cx="6934200" cy="1066800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450">
              <a:latin typeface="Times New Roman"/>
              <a:cs typeface="Times New Roman"/>
            </a:endParaRPr>
          </a:p>
          <a:p>
            <a:pPr marL="231775">
              <a:lnSpc>
                <a:spcPct val="100000"/>
              </a:lnSpc>
            </a:pPr>
            <a:r>
              <a:rPr sz="2000" b="1" spc="-5" dirty="0">
                <a:solidFill>
                  <a:srgbClr val="0000FF"/>
                </a:solidFill>
                <a:latin typeface="Courier New"/>
                <a:cs typeface="Courier New"/>
              </a:rPr>
              <a:t>boolean</a:t>
            </a:r>
            <a:r>
              <a:rPr sz="2000" b="1" spc="-1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2000" b="1" i="1" spc="-5" dirty="0">
                <a:latin typeface="Courier New"/>
                <a:cs typeface="Courier New"/>
              </a:rPr>
              <a:t>variable</a:t>
            </a:r>
            <a:r>
              <a:rPr sz="2000" b="1" spc="-5" dirty="0">
                <a:latin typeface="Courier New"/>
                <a:cs typeface="Courier New"/>
              </a:rPr>
              <a:t>;</a:t>
            </a:r>
            <a:endParaRPr sz="2000">
              <a:latin typeface="Courier New"/>
              <a:cs typeface="Courier New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832103" y="3651503"/>
          <a:ext cx="7729855" cy="28321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/>
                <a:gridCol w="3505200"/>
                <a:gridCol w="3520440"/>
                <a:gridCol w="228600"/>
              </a:tblGrid>
              <a:tr h="1066800">
                <a:tc rowSpan="3">
                  <a:txBody>
                    <a:bodyPr/>
                    <a:lstStyle/>
                    <a:p>
                      <a:pPr marL="939165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Example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85725" marB="0" vert="vert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C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365760" marR="8509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b="1" spc="-10" dirty="0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boolean</a:t>
                      </a:r>
                      <a:r>
                        <a:rPr sz="1800" b="1" spc="-20" dirty="0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b="1" spc="-10" dirty="0">
                          <a:latin typeface="Courier New"/>
                          <a:cs typeface="Courier New"/>
                        </a:rPr>
                        <a:t>isEven;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365760" marR="85090">
                        <a:lnSpc>
                          <a:spcPct val="100000"/>
                        </a:lnSpc>
                      </a:pPr>
                      <a:r>
                        <a:rPr sz="1800" b="1" spc="-10" dirty="0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int</a:t>
                      </a:r>
                      <a:r>
                        <a:rPr sz="1800" b="1" spc="-25" dirty="0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b="1" spc="-10" dirty="0">
                          <a:latin typeface="Courier New"/>
                          <a:cs typeface="Courier New"/>
                        </a:rPr>
                        <a:t>input;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365760" marR="85090">
                        <a:lnSpc>
                          <a:spcPct val="100000"/>
                        </a:lnSpc>
                      </a:pPr>
                      <a:r>
                        <a:rPr sz="1800" b="1" i="1" spc="-10" dirty="0">
                          <a:solidFill>
                            <a:srgbClr val="C00000"/>
                          </a:solidFill>
                          <a:latin typeface="Courier New"/>
                          <a:cs typeface="Courier New"/>
                        </a:rPr>
                        <a:t>// code to read input from user</a:t>
                      </a:r>
                      <a:r>
                        <a:rPr sz="1800" b="1" i="1" spc="-25" dirty="0">
                          <a:solidFill>
                            <a:srgbClr val="C000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b="1" i="1" spc="-10" dirty="0">
                          <a:solidFill>
                            <a:srgbClr val="C00000"/>
                          </a:solidFill>
                          <a:latin typeface="Courier New"/>
                          <a:cs typeface="Courier New"/>
                        </a:rPr>
                        <a:t>omitted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365760" marR="85090">
                        <a:lnSpc>
                          <a:spcPts val="1725"/>
                        </a:lnSpc>
                        <a:spcBef>
                          <a:spcPts val="5"/>
                        </a:spcBef>
                      </a:pPr>
                      <a:r>
                        <a:rPr sz="1800" b="1" spc="-10" dirty="0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if </a:t>
                      </a:r>
                      <a:r>
                        <a:rPr sz="1800" b="1" spc="-10" dirty="0">
                          <a:latin typeface="Courier New"/>
                          <a:cs typeface="Courier New"/>
                        </a:rPr>
                        <a:t>(input </a:t>
                      </a:r>
                      <a:r>
                        <a:rPr sz="1800" b="1" dirty="0">
                          <a:latin typeface="Courier New"/>
                          <a:cs typeface="Courier New"/>
                        </a:rPr>
                        <a:t>% </a:t>
                      </a:r>
                      <a:r>
                        <a:rPr sz="1800" b="1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2 </a:t>
                      </a:r>
                      <a:r>
                        <a:rPr sz="1800" b="1" spc="-5" dirty="0">
                          <a:latin typeface="Courier New"/>
                          <a:cs typeface="Courier New"/>
                        </a:rPr>
                        <a:t>==</a:t>
                      </a:r>
                      <a:r>
                        <a:rPr sz="1800" b="1" spc="-6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b="1" spc="-5" dirty="0">
                          <a:latin typeface="Courier New"/>
                          <a:cs typeface="Courier New"/>
                        </a:rPr>
                        <a:t>0)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B w="12700">
                      <a:solidFill>
                        <a:srgbClr val="85AA87"/>
                      </a:solidFill>
                      <a:prstDash val="solid"/>
                    </a:lnB>
                  </a:tcPr>
                </a:tc>
              </a:tr>
              <a:tr h="6858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85725" marB="0" vert="vert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104838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b="1" spc="-10" dirty="0">
                          <a:latin typeface="Courier New"/>
                          <a:cs typeface="Courier New"/>
                        </a:rPr>
                        <a:t>isEven </a:t>
                      </a:r>
                      <a:r>
                        <a:rPr sz="1800" b="1" dirty="0">
                          <a:latin typeface="Courier New"/>
                          <a:cs typeface="Courier New"/>
                        </a:rPr>
                        <a:t>=</a:t>
                      </a:r>
                      <a:r>
                        <a:rPr sz="1800" b="1" spc="-5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true</a:t>
                      </a:r>
                      <a:r>
                        <a:rPr sz="1800" b="1" spc="-5" dirty="0">
                          <a:solidFill>
                            <a:srgbClr val="001F5F"/>
                          </a:solidFill>
                          <a:latin typeface="Courier New"/>
                          <a:cs typeface="Courier New"/>
                        </a:rPr>
                        <a:t>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3657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b="1" spc="-10" dirty="0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else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85AA87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 marR="85090">
                        <a:lnSpc>
                          <a:spcPts val="1850"/>
                        </a:lnSpc>
                        <a:spcBef>
                          <a:spcPts val="750"/>
                        </a:spcBef>
                      </a:pPr>
                      <a:r>
                        <a:rPr sz="1600" b="1" spc="-10" dirty="0">
                          <a:latin typeface="Arial"/>
                          <a:cs typeface="Arial"/>
                        </a:rPr>
                        <a:t>Equivalent:</a:t>
                      </a:r>
                      <a:endParaRPr sz="1600">
                        <a:latin typeface="Arial"/>
                        <a:cs typeface="Arial"/>
                      </a:endParaRPr>
                    </a:p>
                    <a:p>
                      <a:pPr marL="335915">
                        <a:lnSpc>
                          <a:spcPts val="1850"/>
                        </a:lnSpc>
                      </a:pPr>
                      <a:r>
                        <a:rPr sz="1600" b="1" spc="-5" dirty="0">
                          <a:latin typeface="Courier New"/>
                          <a:cs typeface="Courier New"/>
                        </a:rPr>
                        <a:t>isEven = (input % </a:t>
                      </a:r>
                      <a:r>
                        <a:rPr sz="1600" b="1" spc="-5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2 </a:t>
                      </a:r>
                      <a:r>
                        <a:rPr sz="1600" b="1" spc="-5" dirty="0">
                          <a:latin typeface="Courier New"/>
                          <a:cs typeface="Courier New"/>
                        </a:rPr>
                        <a:t>==</a:t>
                      </a:r>
                      <a:r>
                        <a:rPr sz="1600" b="1" spc="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b="1" spc="-5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r>
                        <a:rPr sz="1600" b="1" spc="-5" dirty="0">
                          <a:latin typeface="Courier New"/>
                          <a:cs typeface="Courier New"/>
                        </a:rPr>
                        <a:t>);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95250" marB="0">
                    <a:lnL w="12700">
                      <a:solidFill>
                        <a:srgbClr val="85AA87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85AA87"/>
                      </a:solidFill>
                      <a:prstDash val="solid"/>
                    </a:lnT>
                    <a:lnB w="12700">
                      <a:solidFill>
                        <a:srgbClr val="85AA87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85AA87"/>
                      </a:solidFill>
                      <a:prstDash val="solid"/>
                    </a:lnR>
                    <a:lnT w="12700">
                      <a:solidFill>
                        <a:srgbClr val="85AA87"/>
                      </a:solidFill>
                      <a:prstDash val="solid"/>
                    </a:lnT>
                    <a:lnB w="12700">
                      <a:solidFill>
                        <a:srgbClr val="85AA87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</a:tr>
              <a:tr h="10668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85725" marB="0" vert="vert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C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005840" marR="85090">
                        <a:lnSpc>
                          <a:spcPts val="1415"/>
                        </a:lnSpc>
                      </a:pPr>
                      <a:r>
                        <a:rPr sz="1800" b="1" spc="-10" dirty="0">
                          <a:latin typeface="Courier New"/>
                          <a:cs typeface="Courier New"/>
                        </a:rPr>
                        <a:t>isEven </a:t>
                      </a:r>
                      <a:r>
                        <a:rPr sz="1800" b="1" dirty="0">
                          <a:latin typeface="Courier New"/>
                          <a:cs typeface="Courier New"/>
                        </a:rPr>
                        <a:t>=</a:t>
                      </a:r>
                      <a:r>
                        <a:rPr sz="1800" b="1" spc="-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false</a:t>
                      </a:r>
                      <a:r>
                        <a:rPr sz="1800" b="1" spc="-10" dirty="0">
                          <a:solidFill>
                            <a:srgbClr val="001F5F"/>
                          </a:solidFill>
                          <a:latin typeface="Courier New"/>
                          <a:cs typeface="Courier New"/>
                        </a:rPr>
                        <a:t>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365760" marR="85090">
                        <a:lnSpc>
                          <a:spcPct val="100000"/>
                        </a:lnSpc>
                      </a:pPr>
                      <a:r>
                        <a:rPr sz="1800" b="1" spc="-10" dirty="0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if</a:t>
                      </a:r>
                      <a:r>
                        <a:rPr sz="1800" b="1" spc="-20" dirty="0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b="1" spc="-10" dirty="0">
                          <a:latin typeface="Courier New"/>
                          <a:cs typeface="Courier New"/>
                        </a:rPr>
                        <a:t>(isEven)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1048385" marR="85090">
                        <a:lnSpc>
                          <a:spcPct val="100000"/>
                        </a:lnSpc>
                      </a:pPr>
                      <a:r>
                        <a:rPr sz="1800" b="1" i="1" spc="-10" dirty="0">
                          <a:latin typeface="Courier New"/>
                          <a:cs typeface="Courier New"/>
                        </a:rPr>
                        <a:t>System.out.println</a:t>
                      </a:r>
                      <a:r>
                        <a:rPr sz="1800" b="1" spc="-10" dirty="0">
                          <a:latin typeface="Courier New"/>
                          <a:cs typeface="Courier New"/>
                        </a:rPr>
                        <a:t>(</a:t>
                      </a:r>
                      <a:r>
                        <a:rPr sz="1800" b="1" spc="-10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"Input </a:t>
                      </a:r>
                      <a:r>
                        <a:rPr sz="1800" b="1" spc="-5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is</a:t>
                      </a:r>
                      <a:r>
                        <a:rPr sz="1800" b="1" spc="-50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even!"</a:t>
                      </a:r>
                      <a:r>
                        <a:rPr sz="1800" b="1" spc="-10" dirty="0">
                          <a:latin typeface="Courier New"/>
                          <a:cs typeface="Courier New"/>
                        </a:rPr>
                        <a:t>);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85AA87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10" name="object 10"/>
          <p:cNvSpPr/>
          <p:nvPr/>
        </p:nvSpPr>
        <p:spPr>
          <a:xfrm>
            <a:off x="4419600" y="4572000"/>
            <a:ext cx="228600" cy="1066800"/>
          </a:xfrm>
          <a:custGeom>
            <a:avLst/>
            <a:gdLst/>
            <a:ahLst/>
            <a:cxnLst/>
            <a:rect l="l" t="t" r="r" b="b"/>
            <a:pathLst>
              <a:path w="228600" h="1066800">
                <a:moveTo>
                  <a:pt x="0" y="0"/>
                </a:moveTo>
                <a:lnTo>
                  <a:pt x="44487" y="1494"/>
                </a:lnTo>
                <a:lnTo>
                  <a:pt x="80819" y="5572"/>
                </a:lnTo>
                <a:lnTo>
                  <a:pt x="105316" y="11626"/>
                </a:lnTo>
                <a:lnTo>
                  <a:pt x="114300" y="19050"/>
                </a:lnTo>
                <a:lnTo>
                  <a:pt x="114300" y="514350"/>
                </a:lnTo>
                <a:lnTo>
                  <a:pt x="123283" y="521773"/>
                </a:lnTo>
                <a:lnTo>
                  <a:pt x="147780" y="527827"/>
                </a:lnTo>
                <a:lnTo>
                  <a:pt x="184112" y="531905"/>
                </a:lnTo>
                <a:lnTo>
                  <a:pt x="228600" y="533400"/>
                </a:lnTo>
                <a:lnTo>
                  <a:pt x="184112" y="534894"/>
                </a:lnTo>
                <a:lnTo>
                  <a:pt x="147780" y="538972"/>
                </a:lnTo>
                <a:lnTo>
                  <a:pt x="123283" y="545026"/>
                </a:lnTo>
                <a:lnTo>
                  <a:pt x="114300" y="552450"/>
                </a:lnTo>
                <a:lnTo>
                  <a:pt x="114300" y="1047750"/>
                </a:lnTo>
                <a:lnTo>
                  <a:pt x="105316" y="1055162"/>
                </a:lnTo>
                <a:lnTo>
                  <a:pt x="80819" y="1061218"/>
                </a:lnTo>
                <a:lnTo>
                  <a:pt x="44487" y="1065302"/>
                </a:lnTo>
                <a:lnTo>
                  <a:pt x="0" y="106680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89"/>
              </a:lnSpc>
              <a:tabLst>
                <a:tab pos="1996439" algn="l"/>
                <a:tab pos="8046720" algn="l"/>
              </a:tabLst>
            </a:pPr>
            <a:r>
              <a:rPr dirty="0"/>
              <a:t>[501043 Lecture 1: Intro</a:t>
            </a:r>
            <a:r>
              <a:rPr spc="-7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Java]	</a:t>
            </a:r>
            <a:r>
              <a:rPr u="heavy" dirty="0">
                <a:uFill>
                  <a:solidFill>
                    <a:srgbClr val="009999"/>
                  </a:solidFill>
                </a:uFill>
              </a:rPr>
              <a:t> 	</a:t>
            </a:r>
            <a:r>
              <a:rPr sz="1600" b="1" i="1" spc="-5" dirty="0">
                <a:solidFill>
                  <a:srgbClr val="C00000"/>
                </a:solidFill>
                <a:latin typeface="Arial"/>
                <a:cs typeface="Arial"/>
              </a:rPr>
              <a:t>30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248158"/>
            <a:ext cx="46443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5" dirty="0">
                <a:solidFill>
                  <a:srgbClr val="C00000"/>
                </a:solidFill>
              </a:rPr>
              <a:t>4.2 </a:t>
            </a:r>
            <a:r>
              <a:rPr spc="5" dirty="0"/>
              <a:t>Boolean</a:t>
            </a:r>
            <a:r>
              <a:rPr spc="-175" dirty="0"/>
              <a:t> </a:t>
            </a:r>
            <a:r>
              <a:rPr dirty="0"/>
              <a:t>Operators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603250" y="1430527"/>
          <a:ext cx="4972050" cy="45605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64869"/>
                <a:gridCol w="1497330"/>
                <a:gridCol w="2590800"/>
              </a:tblGrid>
              <a:tr h="40284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446146"/>
                      </a:solidFill>
                      <a:prstDash val="solid"/>
                    </a:lnL>
                    <a:lnR w="12700">
                      <a:solidFill>
                        <a:srgbClr val="446146"/>
                      </a:solidFill>
                      <a:prstDash val="solid"/>
                    </a:lnR>
                    <a:lnT w="12700">
                      <a:solidFill>
                        <a:srgbClr val="446146"/>
                      </a:solidFill>
                      <a:prstDash val="solid"/>
                    </a:lnT>
                    <a:lnB w="12700">
                      <a:solidFill>
                        <a:srgbClr val="44614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b="1" dirty="0">
                          <a:latin typeface="Arial"/>
                          <a:cs typeface="Arial"/>
                        </a:rPr>
                        <a:t>Operators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446146"/>
                      </a:solidFill>
                      <a:prstDash val="solid"/>
                    </a:lnL>
                    <a:lnR w="12700">
                      <a:solidFill>
                        <a:srgbClr val="446146"/>
                      </a:solidFill>
                      <a:prstDash val="solid"/>
                    </a:lnR>
                    <a:lnT w="12700">
                      <a:solidFill>
                        <a:srgbClr val="446146"/>
                      </a:solidFill>
                      <a:prstDash val="solid"/>
                    </a:lnT>
                    <a:lnB w="12700">
                      <a:solidFill>
                        <a:srgbClr val="446146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b="1" dirty="0">
                          <a:latin typeface="Arial"/>
                          <a:cs typeface="Arial"/>
                        </a:rPr>
                        <a:t>Description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446146"/>
                      </a:solidFill>
                      <a:prstDash val="solid"/>
                    </a:lnL>
                    <a:lnR w="12700">
                      <a:solidFill>
                        <a:srgbClr val="446146"/>
                      </a:solidFill>
                      <a:prstDash val="solid"/>
                    </a:lnR>
                    <a:lnT w="12700">
                      <a:solidFill>
                        <a:srgbClr val="446146"/>
                      </a:solidFill>
                      <a:prstDash val="solid"/>
                    </a:lnT>
                    <a:lnB w="12700">
                      <a:solidFill>
                        <a:srgbClr val="446146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</a:tr>
              <a:tr h="402716">
                <a:tc rowSpan="6">
                  <a:txBody>
                    <a:bodyPr/>
                    <a:lstStyle/>
                    <a:p>
                      <a:pPr marL="598170" marR="592455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2000" b="1" dirty="0">
                          <a:solidFill>
                            <a:srgbClr val="660066"/>
                          </a:solidFill>
                          <a:latin typeface="Arial"/>
                          <a:cs typeface="Arial"/>
                        </a:rPr>
                        <a:t>Relational  Opera</a:t>
                      </a:r>
                      <a:r>
                        <a:rPr sz="2000" b="1" spc="5" dirty="0">
                          <a:solidFill>
                            <a:srgbClr val="660066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2000" b="1" dirty="0">
                          <a:solidFill>
                            <a:srgbClr val="660066"/>
                          </a:solidFill>
                          <a:latin typeface="Arial"/>
                          <a:cs typeface="Arial"/>
                        </a:rPr>
                        <a:t>ors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84455" marB="0" vert="vert270">
                    <a:lnL w="12700">
                      <a:solidFill>
                        <a:srgbClr val="446146"/>
                      </a:solidFill>
                      <a:prstDash val="solid"/>
                    </a:lnL>
                    <a:lnR w="12700">
                      <a:solidFill>
                        <a:srgbClr val="446146"/>
                      </a:solidFill>
                      <a:prstDash val="solid"/>
                    </a:lnR>
                    <a:lnT w="12700">
                      <a:solidFill>
                        <a:srgbClr val="446146"/>
                      </a:solidFill>
                      <a:prstDash val="solid"/>
                    </a:lnT>
                    <a:lnB w="12700">
                      <a:solidFill>
                        <a:srgbClr val="446146"/>
                      </a:solidFill>
                      <a:prstDash val="solid"/>
                    </a:lnB>
                    <a:solidFill>
                      <a:srgbClr val="DDEAE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2000" b="1" dirty="0">
                          <a:solidFill>
                            <a:srgbClr val="C00000"/>
                          </a:solidFill>
                          <a:latin typeface="Courier New"/>
                          <a:cs typeface="Courier New"/>
                        </a:rPr>
                        <a:t>&lt;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446146"/>
                      </a:solidFill>
                      <a:prstDash val="solid"/>
                    </a:lnL>
                    <a:lnR w="12700">
                      <a:solidFill>
                        <a:srgbClr val="446146"/>
                      </a:solidFill>
                      <a:prstDash val="solid"/>
                    </a:lnR>
                    <a:lnT w="12700">
                      <a:solidFill>
                        <a:srgbClr val="446146"/>
                      </a:solidFill>
                      <a:prstDash val="solid"/>
                    </a:lnT>
                    <a:lnB w="12700">
                      <a:solidFill>
                        <a:srgbClr val="446146"/>
                      </a:solidFill>
                      <a:prstDash val="solid"/>
                    </a:lnB>
                    <a:solidFill>
                      <a:srgbClr val="CFD2C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less</a:t>
                      </a:r>
                      <a:r>
                        <a:rPr sz="20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than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446146"/>
                      </a:solidFill>
                      <a:prstDash val="solid"/>
                    </a:lnL>
                    <a:lnR w="12700">
                      <a:solidFill>
                        <a:srgbClr val="446146"/>
                      </a:solidFill>
                      <a:prstDash val="solid"/>
                    </a:lnR>
                    <a:lnT w="12700">
                      <a:solidFill>
                        <a:srgbClr val="446146"/>
                      </a:solidFill>
                      <a:prstDash val="solid"/>
                    </a:lnT>
                    <a:lnB w="12700">
                      <a:solidFill>
                        <a:srgbClr val="446146"/>
                      </a:solidFill>
                      <a:prstDash val="solid"/>
                    </a:lnB>
                    <a:solidFill>
                      <a:srgbClr val="CFD2CF"/>
                    </a:solidFill>
                  </a:tcPr>
                </a:tc>
              </a:tr>
              <a:tr h="40284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84455" marB="0" vert="vert270">
                    <a:lnL w="12700">
                      <a:solidFill>
                        <a:srgbClr val="446146"/>
                      </a:solidFill>
                      <a:prstDash val="solid"/>
                    </a:lnL>
                    <a:lnR w="12700">
                      <a:solidFill>
                        <a:srgbClr val="446146"/>
                      </a:solidFill>
                      <a:prstDash val="solid"/>
                    </a:lnR>
                    <a:lnT w="12700">
                      <a:solidFill>
                        <a:srgbClr val="446146"/>
                      </a:solidFill>
                      <a:prstDash val="solid"/>
                    </a:lnT>
                    <a:lnB w="12700">
                      <a:solidFill>
                        <a:srgbClr val="446146"/>
                      </a:solidFill>
                      <a:prstDash val="solid"/>
                    </a:lnB>
                    <a:solidFill>
                      <a:srgbClr val="DDEA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2000" b="1" dirty="0">
                          <a:solidFill>
                            <a:srgbClr val="C00000"/>
                          </a:solidFill>
                          <a:latin typeface="Courier New"/>
                          <a:cs typeface="Courier New"/>
                        </a:rPr>
                        <a:t>&gt;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446146"/>
                      </a:solidFill>
                      <a:prstDash val="solid"/>
                    </a:lnL>
                    <a:lnR w="12700">
                      <a:solidFill>
                        <a:srgbClr val="446146"/>
                      </a:solidFill>
                      <a:prstDash val="solid"/>
                    </a:lnR>
                    <a:lnT w="12700">
                      <a:solidFill>
                        <a:srgbClr val="446146"/>
                      </a:solidFill>
                      <a:prstDash val="solid"/>
                    </a:lnT>
                    <a:lnB w="12700">
                      <a:solidFill>
                        <a:srgbClr val="446146"/>
                      </a:solidFill>
                      <a:prstDash val="solid"/>
                    </a:lnB>
                    <a:solidFill>
                      <a:srgbClr val="E9EAE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larger</a:t>
                      </a:r>
                      <a:r>
                        <a:rPr sz="20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than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446146"/>
                      </a:solidFill>
                      <a:prstDash val="solid"/>
                    </a:lnL>
                    <a:lnR w="12700">
                      <a:solidFill>
                        <a:srgbClr val="446146"/>
                      </a:solidFill>
                      <a:prstDash val="solid"/>
                    </a:lnR>
                    <a:lnT w="12700">
                      <a:solidFill>
                        <a:srgbClr val="446146"/>
                      </a:solidFill>
                      <a:prstDash val="solid"/>
                    </a:lnT>
                    <a:lnB w="12700">
                      <a:solidFill>
                        <a:srgbClr val="446146"/>
                      </a:solidFill>
                      <a:prstDash val="solid"/>
                    </a:lnB>
                    <a:solidFill>
                      <a:srgbClr val="E9EAE9"/>
                    </a:solidFill>
                  </a:tcPr>
                </a:tc>
              </a:tr>
              <a:tr h="40271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84455" marB="0" vert="vert270">
                    <a:lnL w="12700">
                      <a:solidFill>
                        <a:srgbClr val="446146"/>
                      </a:solidFill>
                      <a:prstDash val="solid"/>
                    </a:lnL>
                    <a:lnR w="12700">
                      <a:solidFill>
                        <a:srgbClr val="446146"/>
                      </a:solidFill>
                      <a:prstDash val="solid"/>
                    </a:lnR>
                    <a:lnT w="12700">
                      <a:solidFill>
                        <a:srgbClr val="446146"/>
                      </a:solidFill>
                      <a:prstDash val="solid"/>
                    </a:lnT>
                    <a:lnB w="12700">
                      <a:solidFill>
                        <a:srgbClr val="446146"/>
                      </a:solidFill>
                      <a:prstDash val="solid"/>
                    </a:lnB>
                    <a:solidFill>
                      <a:srgbClr val="DDEA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2000" b="1" spc="-5" dirty="0">
                          <a:solidFill>
                            <a:srgbClr val="C00000"/>
                          </a:solidFill>
                          <a:latin typeface="Courier New"/>
                          <a:cs typeface="Courier New"/>
                        </a:rPr>
                        <a:t>&lt;=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446146"/>
                      </a:solidFill>
                      <a:prstDash val="solid"/>
                    </a:lnL>
                    <a:lnR w="12700">
                      <a:solidFill>
                        <a:srgbClr val="446146"/>
                      </a:solidFill>
                      <a:prstDash val="solid"/>
                    </a:lnR>
                    <a:lnT w="12700">
                      <a:solidFill>
                        <a:srgbClr val="446146"/>
                      </a:solidFill>
                      <a:prstDash val="solid"/>
                    </a:lnT>
                    <a:lnB w="12700">
                      <a:solidFill>
                        <a:srgbClr val="446146"/>
                      </a:solidFill>
                      <a:prstDash val="solid"/>
                    </a:lnB>
                    <a:solidFill>
                      <a:srgbClr val="CFD2C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less than or</a:t>
                      </a:r>
                      <a:r>
                        <a:rPr sz="2000" spc="-8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equal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446146"/>
                      </a:solidFill>
                      <a:prstDash val="solid"/>
                    </a:lnL>
                    <a:lnR w="12700">
                      <a:solidFill>
                        <a:srgbClr val="446146"/>
                      </a:solidFill>
                      <a:prstDash val="solid"/>
                    </a:lnR>
                    <a:lnT w="12700">
                      <a:solidFill>
                        <a:srgbClr val="446146"/>
                      </a:solidFill>
                      <a:prstDash val="solid"/>
                    </a:lnT>
                    <a:lnB w="12700">
                      <a:solidFill>
                        <a:srgbClr val="446146"/>
                      </a:solidFill>
                      <a:prstDash val="solid"/>
                    </a:lnB>
                    <a:solidFill>
                      <a:srgbClr val="CFD2CF"/>
                    </a:solidFill>
                  </a:tcPr>
                </a:tc>
              </a:tr>
              <a:tr h="40271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84455" marB="0" vert="vert270">
                    <a:lnL w="12700">
                      <a:solidFill>
                        <a:srgbClr val="446146"/>
                      </a:solidFill>
                      <a:prstDash val="solid"/>
                    </a:lnL>
                    <a:lnR w="12700">
                      <a:solidFill>
                        <a:srgbClr val="446146"/>
                      </a:solidFill>
                      <a:prstDash val="solid"/>
                    </a:lnR>
                    <a:lnT w="12700">
                      <a:solidFill>
                        <a:srgbClr val="446146"/>
                      </a:solidFill>
                      <a:prstDash val="solid"/>
                    </a:lnT>
                    <a:lnB w="12700">
                      <a:solidFill>
                        <a:srgbClr val="446146"/>
                      </a:solidFill>
                      <a:prstDash val="solid"/>
                    </a:lnB>
                    <a:solidFill>
                      <a:srgbClr val="DDEA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2000" b="1" spc="-5" dirty="0">
                          <a:solidFill>
                            <a:srgbClr val="C00000"/>
                          </a:solidFill>
                          <a:latin typeface="Courier New"/>
                          <a:cs typeface="Courier New"/>
                        </a:rPr>
                        <a:t>&gt;=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446146"/>
                      </a:solidFill>
                      <a:prstDash val="solid"/>
                    </a:lnL>
                    <a:lnR w="12700">
                      <a:solidFill>
                        <a:srgbClr val="446146"/>
                      </a:solidFill>
                      <a:prstDash val="solid"/>
                    </a:lnR>
                    <a:lnT w="12700">
                      <a:solidFill>
                        <a:srgbClr val="446146"/>
                      </a:solidFill>
                      <a:prstDash val="solid"/>
                    </a:lnT>
                    <a:lnB w="12700">
                      <a:solidFill>
                        <a:srgbClr val="446146"/>
                      </a:solidFill>
                      <a:prstDash val="solid"/>
                    </a:lnB>
                    <a:solidFill>
                      <a:srgbClr val="E9EAE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larger than or</a:t>
                      </a:r>
                      <a:r>
                        <a:rPr sz="2000" spc="-9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equal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446146"/>
                      </a:solidFill>
                      <a:prstDash val="solid"/>
                    </a:lnL>
                    <a:lnR w="12700">
                      <a:solidFill>
                        <a:srgbClr val="446146"/>
                      </a:solidFill>
                      <a:prstDash val="solid"/>
                    </a:lnR>
                    <a:lnT w="12700">
                      <a:solidFill>
                        <a:srgbClr val="446146"/>
                      </a:solidFill>
                      <a:prstDash val="solid"/>
                    </a:lnT>
                    <a:lnB w="12700">
                      <a:solidFill>
                        <a:srgbClr val="446146"/>
                      </a:solidFill>
                      <a:prstDash val="solid"/>
                    </a:lnB>
                    <a:solidFill>
                      <a:srgbClr val="E9EAE9"/>
                    </a:solidFill>
                  </a:tcPr>
                </a:tc>
              </a:tr>
              <a:tr h="40284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84455" marB="0" vert="vert270">
                    <a:lnL w="12700">
                      <a:solidFill>
                        <a:srgbClr val="446146"/>
                      </a:solidFill>
                      <a:prstDash val="solid"/>
                    </a:lnL>
                    <a:lnR w="12700">
                      <a:solidFill>
                        <a:srgbClr val="446146"/>
                      </a:solidFill>
                      <a:prstDash val="solid"/>
                    </a:lnR>
                    <a:lnT w="12700">
                      <a:solidFill>
                        <a:srgbClr val="446146"/>
                      </a:solidFill>
                      <a:prstDash val="solid"/>
                    </a:lnT>
                    <a:lnB w="12700">
                      <a:solidFill>
                        <a:srgbClr val="446146"/>
                      </a:solidFill>
                      <a:prstDash val="solid"/>
                    </a:lnB>
                    <a:solidFill>
                      <a:srgbClr val="DDEA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2000" b="1" spc="-5" dirty="0">
                          <a:solidFill>
                            <a:srgbClr val="C00000"/>
                          </a:solidFill>
                          <a:latin typeface="Courier New"/>
                          <a:cs typeface="Courier New"/>
                        </a:rPr>
                        <a:t>==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446146"/>
                      </a:solidFill>
                      <a:prstDash val="solid"/>
                    </a:lnL>
                    <a:lnR w="12700">
                      <a:solidFill>
                        <a:srgbClr val="446146"/>
                      </a:solidFill>
                      <a:prstDash val="solid"/>
                    </a:lnR>
                    <a:lnT w="12700">
                      <a:solidFill>
                        <a:srgbClr val="446146"/>
                      </a:solidFill>
                      <a:prstDash val="solid"/>
                    </a:lnT>
                    <a:lnB w="12700">
                      <a:solidFill>
                        <a:srgbClr val="446146"/>
                      </a:solidFill>
                      <a:prstDash val="solid"/>
                    </a:lnB>
                    <a:solidFill>
                      <a:srgbClr val="CFD2C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Equal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446146"/>
                      </a:solidFill>
                      <a:prstDash val="solid"/>
                    </a:lnL>
                    <a:lnR w="12700">
                      <a:solidFill>
                        <a:srgbClr val="446146"/>
                      </a:solidFill>
                      <a:prstDash val="solid"/>
                    </a:lnR>
                    <a:lnT w="12700">
                      <a:solidFill>
                        <a:srgbClr val="446146"/>
                      </a:solidFill>
                      <a:prstDash val="solid"/>
                    </a:lnT>
                    <a:lnB w="12700">
                      <a:solidFill>
                        <a:srgbClr val="446146"/>
                      </a:solidFill>
                      <a:prstDash val="solid"/>
                    </a:lnB>
                    <a:solidFill>
                      <a:srgbClr val="CFD2CF"/>
                    </a:solidFill>
                  </a:tcPr>
                </a:tc>
              </a:tr>
              <a:tr h="40271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84455" marB="0" vert="vert270">
                    <a:lnL w="12700">
                      <a:solidFill>
                        <a:srgbClr val="446146"/>
                      </a:solidFill>
                      <a:prstDash val="solid"/>
                    </a:lnL>
                    <a:lnR w="12700">
                      <a:solidFill>
                        <a:srgbClr val="446146"/>
                      </a:solidFill>
                      <a:prstDash val="solid"/>
                    </a:lnR>
                    <a:lnT w="12700">
                      <a:solidFill>
                        <a:srgbClr val="446146"/>
                      </a:solidFill>
                      <a:prstDash val="solid"/>
                    </a:lnT>
                    <a:lnB w="12700">
                      <a:solidFill>
                        <a:srgbClr val="446146"/>
                      </a:solidFill>
                      <a:prstDash val="solid"/>
                    </a:lnB>
                    <a:solidFill>
                      <a:srgbClr val="DDEA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2000" b="1" spc="-5" dirty="0">
                          <a:solidFill>
                            <a:srgbClr val="C00000"/>
                          </a:solidFill>
                          <a:latin typeface="Courier New"/>
                          <a:cs typeface="Courier New"/>
                        </a:rPr>
                        <a:t>!=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446146"/>
                      </a:solidFill>
                      <a:prstDash val="solid"/>
                    </a:lnL>
                    <a:lnR w="12700">
                      <a:solidFill>
                        <a:srgbClr val="446146"/>
                      </a:solidFill>
                      <a:prstDash val="solid"/>
                    </a:lnR>
                    <a:lnT w="12700">
                      <a:solidFill>
                        <a:srgbClr val="446146"/>
                      </a:solidFill>
                      <a:prstDash val="solid"/>
                    </a:lnT>
                    <a:lnB w="12700">
                      <a:solidFill>
                        <a:srgbClr val="446146"/>
                      </a:solidFill>
                      <a:prstDash val="solid"/>
                    </a:lnB>
                    <a:solidFill>
                      <a:srgbClr val="E9EAE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not</a:t>
                      </a:r>
                      <a:r>
                        <a:rPr sz="20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equal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446146"/>
                      </a:solidFill>
                      <a:prstDash val="solid"/>
                    </a:lnL>
                    <a:lnR w="12700">
                      <a:solidFill>
                        <a:srgbClr val="446146"/>
                      </a:solidFill>
                      <a:prstDash val="solid"/>
                    </a:lnR>
                    <a:lnT w="12700">
                      <a:solidFill>
                        <a:srgbClr val="446146"/>
                      </a:solidFill>
                      <a:prstDash val="solid"/>
                    </a:lnT>
                    <a:lnB w="12700">
                      <a:solidFill>
                        <a:srgbClr val="446146"/>
                      </a:solidFill>
                      <a:prstDash val="solid"/>
                    </a:lnB>
                    <a:solidFill>
                      <a:srgbClr val="E9EAE9"/>
                    </a:solidFill>
                  </a:tcPr>
                </a:tc>
              </a:tr>
              <a:tr h="116840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446146"/>
                      </a:solidFill>
                      <a:prstDash val="solid"/>
                    </a:lnL>
                    <a:lnR w="12700">
                      <a:solidFill>
                        <a:srgbClr val="446146"/>
                      </a:solidFill>
                      <a:prstDash val="solid"/>
                    </a:lnR>
                    <a:lnT w="12700">
                      <a:solidFill>
                        <a:srgbClr val="446146"/>
                      </a:solidFill>
                      <a:prstDash val="solid"/>
                    </a:lnT>
                    <a:lnB w="12700">
                      <a:solidFill>
                        <a:srgbClr val="446146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402844">
                <a:tc rowSpan="4">
                  <a:txBody>
                    <a:bodyPr/>
                    <a:lstStyle/>
                    <a:p>
                      <a:pPr marL="194945" marR="190500" indent="162560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2000" b="1" dirty="0">
                          <a:solidFill>
                            <a:srgbClr val="660066"/>
                          </a:solidFill>
                          <a:latin typeface="Arial"/>
                          <a:cs typeface="Arial"/>
                        </a:rPr>
                        <a:t>Logical  Opera</a:t>
                      </a:r>
                      <a:r>
                        <a:rPr sz="2000" b="1" spc="5" dirty="0">
                          <a:solidFill>
                            <a:srgbClr val="660066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2000" b="1" dirty="0">
                          <a:solidFill>
                            <a:srgbClr val="660066"/>
                          </a:solidFill>
                          <a:latin typeface="Arial"/>
                          <a:cs typeface="Arial"/>
                        </a:rPr>
                        <a:t>ors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84455" marB="0" vert="vert270">
                    <a:lnL w="12700">
                      <a:solidFill>
                        <a:srgbClr val="446146"/>
                      </a:solidFill>
                      <a:prstDash val="solid"/>
                    </a:lnL>
                    <a:lnR w="12700">
                      <a:solidFill>
                        <a:srgbClr val="446146"/>
                      </a:solidFill>
                      <a:prstDash val="solid"/>
                    </a:lnR>
                    <a:lnT w="12700">
                      <a:solidFill>
                        <a:srgbClr val="446146"/>
                      </a:solidFill>
                      <a:prstDash val="solid"/>
                    </a:lnT>
                    <a:lnB w="12700">
                      <a:solidFill>
                        <a:srgbClr val="446146"/>
                      </a:solidFill>
                      <a:prstDash val="solid"/>
                    </a:lnB>
                    <a:solidFill>
                      <a:srgbClr val="DDEAEA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800" b="1" dirty="0">
                          <a:solidFill>
                            <a:srgbClr val="C00000"/>
                          </a:solidFill>
                          <a:latin typeface="Courier New"/>
                          <a:cs typeface="Courier New"/>
                        </a:rPr>
                        <a:t>&amp;&amp;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19050" marB="0">
                    <a:lnL w="12700">
                      <a:solidFill>
                        <a:srgbClr val="446146"/>
                      </a:solidFill>
                      <a:prstDash val="solid"/>
                    </a:lnL>
                    <a:lnR w="12700">
                      <a:solidFill>
                        <a:srgbClr val="446146"/>
                      </a:solidFill>
                      <a:prstDash val="solid"/>
                    </a:lnR>
                    <a:lnT w="12700">
                      <a:solidFill>
                        <a:srgbClr val="446146"/>
                      </a:solidFill>
                      <a:prstDash val="solid"/>
                    </a:lnT>
                    <a:lnB w="12700">
                      <a:solidFill>
                        <a:srgbClr val="446146"/>
                      </a:solidFill>
                      <a:prstDash val="solid"/>
                    </a:lnB>
                    <a:solidFill>
                      <a:srgbClr val="E9EAE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and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446146"/>
                      </a:solidFill>
                      <a:prstDash val="solid"/>
                    </a:lnL>
                    <a:lnR w="12700">
                      <a:solidFill>
                        <a:srgbClr val="446146"/>
                      </a:solidFill>
                      <a:prstDash val="solid"/>
                    </a:lnR>
                    <a:lnT w="12700">
                      <a:solidFill>
                        <a:srgbClr val="446146"/>
                      </a:solidFill>
                      <a:prstDash val="solid"/>
                    </a:lnT>
                    <a:lnB w="12700">
                      <a:solidFill>
                        <a:srgbClr val="446146"/>
                      </a:solidFill>
                      <a:prstDash val="solid"/>
                    </a:lnB>
                    <a:solidFill>
                      <a:srgbClr val="E9EAE9"/>
                    </a:solidFill>
                  </a:tcPr>
                </a:tc>
              </a:tr>
              <a:tr h="402717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84455" marB="0" vert="vert270">
                    <a:lnL w="12700">
                      <a:solidFill>
                        <a:srgbClr val="446146"/>
                      </a:solidFill>
                      <a:prstDash val="solid"/>
                    </a:lnL>
                    <a:lnR w="12700">
                      <a:solidFill>
                        <a:srgbClr val="446146"/>
                      </a:solidFill>
                      <a:prstDash val="solid"/>
                    </a:lnR>
                    <a:lnT w="12700">
                      <a:solidFill>
                        <a:srgbClr val="446146"/>
                      </a:solidFill>
                      <a:prstDash val="solid"/>
                    </a:lnT>
                    <a:lnB w="12700">
                      <a:solidFill>
                        <a:srgbClr val="446146"/>
                      </a:solidFill>
                      <a:prstDash val="solid"/>
                    </a:lnB>
                    <a:solidFill>
                      <a:srgbClr val="DDEAEA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800" b="1" dirty="0">
                          <a:solidFill>
                            <a:srgbClr val="C00000"/>
                          </a:solidFill>
                          <a:latin typeface="Courier New"/>
                          <a:cs typeface="Courier New"/>
                        </a:rPr>
                        <a:t>||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19050" marB="0">
                    <a:lnL w="12700">
                      <a:solidFill>
                        <a:srgbClr val="446146"/>
                      </a:solidFill>
                      <a:prstDash val="solid"/>
                    </a:lnL>
                    <a:lnR w="12700">
                      <a:solidFill>
                        <a:srgbClr val="446146"/>
                      </a:solidFill>
                      <a:prstDash val="solid"/>
                    </a:lnR>
                    <a:lnT w="12700">
                      <a:solidFill>
                        <a:srgbClr val="446146"/>
                      </a:solidFill>
                      <a:prstDash val="solid"/>
                    </a:lnT>
                    <a:lnB w="12700">
                      <a:solidFill>
                        <a:srgbClr val="446146"/>
                      </a:solidFill>
                      <a:prstDash val="solid"/>
                    </a:lnB>
                    <a:solidFill>
                      <a:srgbClr val="CFD2C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or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446146"/>
                      </a:solidFill>
                      <a:prstDash val="solid"/>
                    </a:lnL>
                    <a:lnR w="12700">
                      <a:solidFill>
                        <a:srgbClr val="446146"/>
                      </a:solidFill>
                      <a:prstDash val="solid"/>
                    </a:lnR>
                    <a:lnT w="12700">
                      <a:solidFill>
                        <a:srgbClr val="446146"/>
                      </a:solidFill>
                      <a:prstDash val="solid"/>
                    </a:lnT>
                    <a:lnB w="12700">
                      <a:solidFill>
                        <a:srgbClr val="446146"/>
                      </a:solidFill>
                      <a:prstDash val="solid"/>
                    </a:lnB>
                    <a:solidFill>
                      <a:srgbClr val="CFD2CF"/>
                    </a:solidFill>
                  </a:tcPr>
                </a:tc>
              </a:tr>
              <a:tr h="4028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84455" marB="0" vert="vert270">
                    <a:lnL w="12700">
                      <a:solidFill>
                        <a:srgbClr val="446146"/>
                      </a:solidFill>
                      <a:prstDash val="solid"/>
                    </a:lnL>
                    <a:lnR w="12700">
                      <a:solidFill>
                        <a:srgbClr val="446146"/>
                      </a:solidFill>
                      <a:prstDash val="solid"/>
                    </a:lnR>
                    <a:lnT w="12700">
                      <a:solidFill>
                        <a:srgbClr val="446146"/>
                      </a:solidFill>
                      <a:prstDash val="solid"/>
                    </a:lnT>
                    <a:lnB w="12700">
                      <a:solidFill>
                        <a:srgbClr val="446146"/>
                      </a:solidFill>
                      <a:prstDash val="solid"/>
                    </a:lnB>
                    <a:solidFill>
                      <a:srgbClr val="DDEA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800" b="1" dirty="0">
                          <a:solidFill>
                            <a:srgbClr val="C00000"/>
                          </a:solidFill>
                          <a:latin typeface="Courier New"/>
                          <a:cs typeface="Courier New"/>
                        </a:rPr>
                        <a:t>!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446146"/>
                      </a:solidFill>
                      <a:prstDash val="solid"/>
                    </a:lnL>
                    <a:lnR w="12700">
                      <a:solidFill>
                        <a:srgbClr val="446146"/>
                      </a:solidFill>
                      <a:prstDash val="solid"/>
                    </a:lnR>
                    <a:lnT w="12700">
                      <a:solidFill>
                        <a:srgbClr val="446146"/>
                      </a:solidFill>
                      <a:prstDash val="solid"/>
                    </a:lnT>
                    <a:lnB w="12700">
                      <a:solidFill>
                        <a:srgbClr val="446146"/>
                      </a:solidFill>
                      <a:prstDash val="solid"/>
                    </a:lnB>
                    <a:solidFill>
                      <a:srgbClr val="E9EAE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not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446146"/>
                      </a:solidFill>
                      <a:prstDash val="solid"/>
                    </a:lnL>
                    <a:lnR w="12700">
                      <a:solidFill>
                        <a:srgbClr val="446146"/>
                      </a:solidFill>
                      <a:prstDash val="solid"/>
                    </a:lnR>
                    <a:lnT w="12700">
                      <a:solidFill>
                        <a:srgbClr val="446146"/>
                      </a:solidFill>
                      <a:prstDash val="solid"/>
                    </a:lnT>
                    <a:lnB w="12700">
                      <a:solidFill>
                        <a:srgbClr val="446146"/>
                      </a:solidFill>
                      <a:prstDash val="solid"/>
                    </a:lnB>
                    <a:solidFill>
                      <a:srgbClr val="E9EAE9"/>
                    </a:solidFill>
                  </a:tcPr>
                </a:tc>
              </a:tr>
              <a:tr h="402717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84455" marB="0" vert="vert270">
                    <a:lnL w="12700">
                      <a:solidFill>
                        <a:srgbClr val="446146"/>
                      </a:solidFill>
                      <a:prstDash val="solid"/>
                    </a:lnL>
                    <a:lnR w="12700">
                      <a:solidFill>
                        <a:srgbClr val="446146"/>
                      </a:solidFill>
                      <a:prstDash val="solid"/>
                    </a:lnR>
                    <a:lnT w="12700">
                      <a:solidFill>
                        <a:srgbClr val="446146"/>
                      </a:solidFill>
                      <a:prstDash val="solid"/>
                    </a:lnT>
                    <a:lnB w="12700">
                      <a:solidFill>
                        <a:srgbClr val="446146"/>
                      </a:solidFill>
                      <a:prstDash val="solid"/>
                    </a:lnB>
                    <a:solidFill>
                      <a:srgbClr val="DDEA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800" b="1" dirty="0">
                          <a:solidFill>
                            <a:srgbClr val="C00000"/>
                          </a:solidFill>
                          <a:latin typeface="Courier New"/>
                          <a:cs typeface="Courier New"/>
                        </a:rPr>
                        <a:t>^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446146"/>
                      </a:solidFill>
                      <a:prstDash val="solid"/>
                    </a:lnL>
                    <a:lnR w="12700">
                      <a:solidFill>
                        <a:srgbClr val="446146"/>
                      </a:solidFill>
                      <a:prstDash val="solid"/>
                    </a:lnR>
                    <a:lnT w="12700">
                      <a:solidFill>
                        <a:srgbClr val="446146"/>
                      </a:solidFill>
                      <a:prstDash val="solid"/>
                    </a:lnT>
                    <a:lnB w="12700">
                      <a:solidFill>
                        <a:srgbClr val="446146"/>
                      </a:solidFill>
                      <a:prstDash val="solid"/>
                    </a:lnB>
                    <a:solidFill>
                      <a:srgbClr val="CFD2C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exclusive-or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446146"/>
                      </a:solidFill>
                      <a:prstDash val="solid"/>
                    </a:lnL>
                    <a:lnR w="12700">
                      <a:solidFill>
                        <a:srgbClr val="446146"/>
                      </a:solidFill>
                      <a:prstDash val="solid"/>
                    </a:lnR>
                    <a:lnT w="12700">
                      <a:solidFill>
                        <a:srgbClr val="446146"/>
                      </a:solidFill>
                      <a:prstDash val="solid"/>
                    </a:lnT>
                    <a:lnB w="12700">
                      <a:solidFill>
                        <a:srgbClr val="446146"/>
                      </a:solidFill>
                      <a:prstDash val="solid"/>
                    </a:lnB>
                    <a:solidFill>
                      <a:srgbClr val="CFD2CF"/>
                    </a:solidFill>
                  </a:tcPr>
                </a:tc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5638800" y="1856232"/>
            <a:ext cx="228600" cy="2411095"/>
          </a:xfrm>
          <a:custGeom>
            <a:avLst/>
            <a:gdLst/>
            <a:ahLst/>
            <a:cxnLst/>
            <a:rect l="l" t="t" r="r" b="b"/>
            <a:pathLst>
              <a:path w="228600" h="2411095">
                <a:moveTo>
                  <a:pt x="0" y="0"/>
                </a:moveTo>
                <a:lnTo>
                  <a:pt x="44487" y="9896"/>
                </a:lnTo>
                <a:lnTo>
                  <a:pt x="80819" y="36877"/>
                </a:lnTo>
                <a:lnTo>
                  <a:pt x="105316" y="76884"/>
                </a:lnTo>
                <a:lnTo>
                  <a:pt x="114300" y="125856"/>
                </a:lnTo>
                <a:lnTo>
                  <a:pt x="114300" y="1079627"/>
                </a:lnTo>
                <a:lnTo>
                  <a:pt x="123283" y="1128599"/>
                </a:lnTo>
                <a:lnTo>
                  <a:pt x="147780" y="1168606"/>
                </a:lnTo>
                <a:lnTo>
                  <a:pt x="184112" y="1195587"/>
                </a:lnTo>
                <a:lnTo>
                  <a:pt x="228600" y="1205483"/>
                </a:lnTo>
                <a:lnTo>
                  <a:pt x="184112" y="1215380"/>
                </a:lnTo>
                <a:lnTo>
                  <a:pt x="147780" y="1242361"/>
                </a:lnTo>
                <a:lnTo>
                  <a:pt x="123283" y="1282368"/>
                </a:lnTo>
                <a:lnTo>
                  <a:pt x="114300" y="1331340"/>
                </a:lnTo>
                <a:lnTo>
                  <a:pt x="114300" y="2285110"/>
                </a:lnTo>
                <a:lnTo>
                  <a:pt x="105316" y="2334083"/>
                </a:lnTo>
                <a:lnTo>
                  <a:pt x="80819" y="2374090"/>
                </a:lnTo>
                <a:lnTo>
                  <a:pt x="44487" y="2401071"/>
                </a:lnTo>
                <a:lnTo>
                  <a:pt x="0" y="2410967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055614" y="1981961"/>
            <a:ext cx="2784475" cy="2112645"/>
          </a:xfrm>
          <a:prstGeom prst="rect">
            <a:avLst/>
          </a:prstGeom>
          <a:ln w="25907">
            <a:solidFill>
              <a:srgbClr val="AAC9C9"/>
            </a:solidFill>
          </a:ln>
        </p:spPr>
        <p:txBody>
          <a:bodyPr vert="horz" wrap="square" lIns="0" tIns="121285" rIns="0" bIns="0" rtlCol="0">
            <a:spAutoFit/>
          </a:bodyPr>
          <a:lstStyle/>
          <a:p>
            <a:pPr marL="91440" marR="461009">
              <a:lnSpc>
                <a:spcPct val="100000"/>
              </a:lnSpc>
              <a:spcBef>
                <a:spcPts val="955"/>
              </a:spcBef>
            </a:pPr>
            <a:r>
              <a:rPr sz="1600" spc="-5" dirty="0">
                <a:latin typeface="Arial"/>
                <a:cs typeface="Arial"/>
              </a:rPr>
              <a:t>Operands are variables /  values that can be  compared</a:t>
            </a:r>
            <a:r>
              <a:rPr sz="1600" dirty="0">
                <a:latin typeface="Arial"/>
                <a:cs typeface="Arial"/>
              </a:rPr>
              <a:t> </a:t>
            </a:r>
            <a:r>
              <a:rPr sz="1600" spc="-20" dirty="0">
                <a:latin typeface="Arial"/>
                <a:cs typeface="Arial"/>
              </a:rPr>
              <a:t>directly.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650">
              <a:latin typeface="Arial"/>
              <a:cs typeface="Arial"/>
            </a:endParaRPr>
          </a:p>
          <a:p>
            <a:pPr marL="91440">
              <a:lnSpc>
                <a:spcPct val="100000"/>
              </a:lnSpc>
              <a:spcBef>
                <a:spcPts val="5"/>
              </a:spcBef>
            </a:pPr>
            <a:r>
              <a:rPr sz="1600" spc="-5" dirty="0">
                <a:latin typeface="Arial"/>
                <a:cs typeface="Arial"/>
              </a:rPr>
              <a:t>Examples:</a:t>
            </a:r>
            <a:endParaRPr sz="1600">
              <a:latin typeface="Arial"/>
              <a:cs typeface="Arial"/>
            </a:endParaRPr>
          </a:p>
          <a:p>
            <a:pPr marL="335280">
              <a:lnSpc>
                <a:spcPct val="100000"/>
              </a:lnSpc>
              <a:spcBef>
                <a:spcPts val="1055"/>
              </a:spcBef>
            </a:pPr>
            <a:r>
              <a:rPr sz="1600" b="1" spc="-5" dirty="0">
                <a:latin typeface="Courier New"/>
                <a:cs typeface="Courier New"/>
              </a:rPr>
              <a:t>X </a:t>
            </a:r>
            <a:r>
              <a:rPr sz="1600" b="1" spc="-5" dirty="0">
                <a:solidFill>
                  <a:srgbClr val="C00000"/>
                </a:solidFill>
                <a:latin typeface="Courier New"/>
                <a:cs typeface="Courier New"/>
              </a:rPr>
              <a:t>&lt; </a:t>
            </a:r>
            <a:r>
              <a:rPr sz="1600" b="1" spc="-5" dirty="0">
                <a:latin typeface="Courier New"/>
                <a:cs typeface="Courier New"/>
              </a:rPr>
              <a:t>Y</a:t>
            </a:r>
            <a:endParaRPr sz="1600">
              <a:latin typeface="Courier New"/>
              <a:cs typeface="Courier New"/>
            </a:endParaRPr>
          </a:p>
          <a:p>
            <a:pPr marL="335280">
              <a:lnSpc>
                <a:spcPct val="100000"/>
              </a:lnSpc>
            </a:pPr>
            <a:r>
              <a:rPr sz="1600" b="1" spc="-5" dirty="0">
                <a:latin typeface="Courier New"/>
                <a:cs typeface="Courier New"/>
              </a:rPr>
              <a:t>1 </a:t>
            </a:r>
            <a:r>
              <a:rPr sz="1600" b="1" spc="-5" dirty="0">
                <a:solidFill>
                  <a:srgbClr val="C00000"/>
                </a:solidFill>
                <a:latin typeface="Courier New"/>
                <a:cs typeface="Courier New"/>
              </a:rPr>
              <a:t>&gt;=</a:t>
            </a:r>
            <a:r>
              <a:rPr sz="1600" b="1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4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638800" y="4419600"/>
            <a:ext cx="228600" cy="1576070"/>
          </a:xfrm>
          <a:custGeom>
            <a:avLst/>
            <a:gdLst/>
            <a:ahLst/>
            <a:cxnLst/>
            <a:rect l="l" t="t" r="r" b="b"/>
            <a:pathLst>
              <a:path w="228600" h="1576070">
                <a:moveTo>
                  <a:pt x="0" y="0"/>
                </a:moveTo>
                <a:lnTo>
                  <a:pt x="44487" y="6217"/>
                </a:lnTo>
                <a:lnTo>
                  <a:pt x="80819" y="23161"/>
                </a:lnTo>
                <a:lnTo>
                  <a:pt x="105316" y="48273"/>
                </a:lnTo>
                <a:lnTo>
                  <a:pt x="114300" y="78993"/>
                </a:lnTo>
                <a:lnTo>
                  <a:pt x="114300" y="708913"/>
                </a:lnTo>
                <a:lnTo>
                  <a:pt x="123283" y="739634"/>
                </a:lnTo>
                <a:lnTo>
                  <a:pt x="147780" y="764746"/>
                </a:lnTo>
                <a:lnTo>
                  <a:pt x="184112" y="781690"/>
                </a:lnTo>
                <a:lnTo>
                  <a:pt x="228600" y="787907"/>
                </a:lnTo>
                <a:lnTo>
                  <a:pt x="184112" y="794125"/>
                </a:lnTo>
                <a:lnTo>
                  <a:pt x="147780" y="811069"/>
                </a:lnTo>
                <a:lnTo>
                  <a:pt x="123283" y="836181"/>
                </a:lnTo>
                <a:lnTo>
                  <a:pt x="114300" y="866902"/>
                </a:lnTo>
                <a:lnTo>
                  <a:pt x="114300" y="1496809"/>
                </a:lnTo>
                <a:lnTo>
                  <a:pt x="105316" y="1527563"/>
                </a:lnTo>
                <a:lnTo>
                  <a:pt x="80819" y="1552676"/>
                </a:lnTo>
                <a:lnTo>
                  <a:pt x="44487" y="1569607"/>
                </a:lnTo>
                <a:lnTo>
                  <a:pt x="0" y="1575816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055614" y="4331970"/>
            <a:ext cx="2784475" cy="1752600"/>
          </a:xfrm>
          <a:prstGeom prst="rect">
            <a:avLst/>
          </a:prstGeom>
          <a:ln w="25907">
            <a:solidFill>
              <a:srgbClr val="AAC9C9"/>
            </a:solidFill>
          </a:ln>
        </p:spPr>
        <p:txBody>
          <a:bodyPr vert="horz" wrap="square" lIns="0" tIns="64135" rIns="0" bIns="0" rtlCol="0">
            <a:spAutoFit/>
          </a:bodyPr>
          <a:lstStyle/>
          <a:p>
            <a:pPr marL="91440" marR="662305">
              <a:lnSpc>
                <a:spcPct val="100000"/>
              </a:lnSpc>
              <a:spcBef>
                <a:spcPts val="505"/>
              </a:spcBef>
            </a:pPr>
            <a:r>
              <a:rPr sz="1600" spc="-5" dirty="0">
                <a:latin typeface="Arial"/>
                <a:cs typeface="Arial"/>
              </a:rPr>
              <a:t>Operands are boolean  variables/expressions.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650">
              <a:latin typeface="Arial"/>
              <a:cs typeface="Arial"/>
            </a:endParaRPr>
          </a:p>
          <a:p>
            <a:pPr marL="91440">
              <a:lnSpc>
                <a:spcPct val="100000"/>
              </a:lnSpc>
            </a:pPr>
            <a:r>
              <a:rPr sz="1600" spc="-5" dirty="0">
                <a:latin typeface="Arial"/>
                <a:cs typeface="Arial"/>
              </a:rPr>
              <a:t>Examples:</a:t>
            </a:r>
            <a:endParaRPr sz="1600">
              <a:latin typeface="Arial"/>
              <a:cs typeface="Arial"/>
            </a:endParaRPr>
          </a:p>
          <a:p>
            <a:pPr marL="335280">
              <a:lnSpc>
                <a:spcPct val="100000"/>
              </a:lnSpc>
              <a:spcBef>
                <a:spcPts val="1060"/>
              </a:spcBef>
            </a:pPr>
            <a:r>
              <a:rPr sz="1600" b="1" dirty="0">
                <a:latin typeface="Courier New"/>
                <a:cs typeface="Courier New"/>
              </a:rPr>
              <a:t>(X </a:t>
            </a:r>
            <a:r>
              <a:rPr sz="1600" b="1" spc="-5" dirty="0">
                <a:latin typeface="Courier New"/>
                <a:cs typeface="Courier New"/>
              </a:rPr>
              <a:t>&lt; Y) </a:t>
            </a:r>
            <a:r>
              <a:rPr sz="1600" b="1" spc="-5" dirty="0">
                <a:solidFill>
                  <a:srgbClr val="C00000"/>
                </a:solidFill>
                <a:latin typeface="Courier New"/>
                <a:cs typeface="Courier New"/>
              </a:rPr>
              <a:t>&amp;&amp; </a:t>
            </a:r>
            <a:r>
              <a:rPr sz="1600" b="1" spc="-5" dirty="0">
                <a:latin typeface="Courier New"/>
                <a:cs typeface="Courier New"/>
              </a:rPr>
              <a:t>(Y &lt;</a:t>
            </a:r>
            <a:r>
              <a:rPr sz="1600" b="1" spc="-25" dirty="0">
                <a:latin typeface="Courier New"/>
                <a:cs typeface="Courier New"/>
              </a:rPr>
              <a:t> </a:t>
            </a:r>
            <a:r>
              <a:rPr sz="1600" b="1" spc="5" dirty="0">
                <a:latin typeface="Courier New"/>
                <a:cs typeface="Courier New"/>
              </a:rPr>
              <a:t>Z)</a:t>
            </a:r>
            <a:endParaRPr sz="1600">
              <a:latin typeface="Courier New"/>
              <a:cs typeface="Courier New"/>
            </a:endParaRPr>
          </a:p>
          <a:p>
            <a:pPr marL="335280">
              <a:lnSpc>
                <a:spcPct val="100000"/>
              </a:lnSpc>
            </a:pPr>
            <a:r>
              <a:rPr sz="1600" b="1" spc="-5" dirty="0">
                <a:latin typeface="Courier New"/>
                <a:cs typeface="Courier New"/>
              </a:rPr>
              <a:t>(</a:t>
            </a:r>
            <a:r>
              <a:rPr sz="1600" b="1" spc="-5" dirty="0">
                <a:solidFill>
                  <a:srgbClr val="C00000"/>
                </a:solidFill>
                <a:latin typeface="Courier New"/>
                <a:cs typeface="Courier New"/>
              </a:rPr>
              <a:t>!</a:t>
            </a:r>
            <a:r>
              <a:rPr sz="1600" b="1" spc="-5" dirty="0">
                <a:latin typeface="Courier New"/>
                <a:cs typeface="Courier New"/>
              </a:rPr>
              <a:t>isEven)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8173211" y="155447"/>
            <a:ext cx="944879" cy="9875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89"/>
              </a:lnSpc>
              <a:tabLst>
                <a:tab pos="1996439" algn="l"/>
                <a:tab pos="8046720" algn="l"/>
              </a:tabLst>
            </a:pPr>
            <a:r>
              <a:rPr dirty="0"/>
              <a:t>[501043 Lecture 1: Intro</a:t>
            </a:r>
            <a:r>
              <a:rPr spc="-7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Java]	</a:t>
            </a:r>
            <a:r>
              <a:rPr u="heavy" dirty="0">
                <a:uFill>
                  <a:solidFill>
                    <a:srgbClr val="009999"/>
                  </a:solidFill>
                </a:uFill>
              </a:rPr>
              <a:t> 	</a:t>
            </a:r>
            <a:r>
              <a:rPr sz="1600" b="1" i="1" spc="-5" dirty="0">
                <a:solidFill>
                  <a:srgbClr val="C00000"/>
                </a:solidFill>
                <a:latin typeface="Arial"/>
                <a:cs typeface="Arial"/>
              </a:rPr>
              <a:t>31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248158"/>
            <a:ext cx="46678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5" dirty="0">
                <a:solidFill>
                  <a:srgbClr val="C00000"/>
                </a:solidFill>
              </a:rPr>
              <a:t>4.2 </a:t>
            </a:r>
            <a:r>
              <a:rPr spc="35" dirty="0"/>
              <a:t>Comparison </a:t>
            </a:r>
            <a:r>
              <a:rPr spc="-135" dirty="0"/>
              <a:t>with</a:t>
            </a:r>
            <a:r>
              <a:rPr spc="-235" dirty="0"/>
              <a:t> </a:t>
            </a:r>
            <a:r>
              <a:rPr dirty="0"/>
              <a:t>C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89"/>
              </a:lnSpc>
              <a:tabLst>
                <a:tab pos="1996439" algn="l"/>
                <a:tab pos="8046720" algn="l"/>
              </a:tabLst>
            </a:pPr>
            <a:r>
              <a:rPr dirty="0"/>
              <a:t>[501043 Lecture 1: Intro</a:t>
            </a:r>
            <a:r>
              <a:rPr spc="-7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Java]	</a:t>
            </a:r>
            <a:r>
              <a:rPr u="heavy" dirty="0">
                <a:uFill>
                  <a:solidFill>
                    <a:srgbClr val="009999"/>
                  </a:solidFill>
                </a:uFill>
              </a:rPr>
              <a:t> 	</a:t>
            </a:r>
            <a:r>
              <a:rPr sz="1600" b="1" i="1" spc="-5" dirty="0">
                <a:solidFill>
                  <a:srgbClr val="C00000"/>
                </a:solidFill>
                <a:latin typeface="Arial"/>
                <a:cs typeface="Arial"/>
              </a:rPr>
              <a:t>32</a:t>
            </a:r>
            <a:endParaRPr sz="1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016253"/>
            <a:ext cx="6521450" cy="697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009999"/>
              </a:buClr>
              <a:buSzPct val="64583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In </a:t>
            </a:r>
            <a:r>
              <a:rPr sz="2400" spc="-5" dirty="0">
                <a:latin typeface="Arial"/>
                <a:cs typeface="Arial"/>
              </a:rPr>
              <a:t>ANSI </a:t>
            </a:r>
            <a:r>
              <a:rPr sz="2400" dirty="0">
                <a:latin typeface="Arial"/>
                <a:cs typeface="Arial"/>
              </a:rPr>
              <a:t>C, </a:t>
            </a:r>
            <a:r>
              <a:rPr sz="2400" spc="-5" dirty="0">
                <a:latin typeface="Arial"/>
                <a:cs typeface="Arial"/>
              </a:rPr>
              <a:t>there </a:t>
            </a:r>
            <a:r>
              <a:rPr sz="2400" spc="-10" dirty="0">
                <a:latin typeface="Arial"/>
                <a:cs typeface="Arial"/>
              </a:rPr>
              <a:t>is </a:t>
            </a:r>
            <a:r>
              <a:rPr sz="2400" spc="-5" dirty="0">
                <a:latin typeface="Arial"/>
                <a:cs typeface="Arial"/>
              </a:rPr>
              <a:t>no boolean</a:t>
            </a:r>
            <a:r>
              <a:rPr sz="2400" spc="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type.</a:t>
            </a:r>
            <a:endParaRPr sz="2400">
              <a:latin typeface="Arial"/>
              <a:cs typeface="Arial"/>
            </a:endParaRPr>
          </a:p>
          <a:p>
            <a:pPr marL="683260" lvl="1" indent="-327025">
              <a:lnSpc>
                <a:spcPct val="100000"/>
              </a:lnSpc>
              <a:buClr>
                <a:srgbClr val="4B6C4E"/>
              </a:buClr>
              <a:buSzPct val="60000"/>
              <a:buFont typeface="Wingdings"/>
              <a:buChar char=""/>
              <a:tabLst>
                <a:tab pos="683260" algn="l"/>
                <a:tab pos="683895" algn="l"/>
              </a:tabLst>
            </a:pPr>
            <a:r>
              <a:rPr sz="2000" dirty="0">
                <a:latin typeface="Arial"/>
                <a:cs typeface="Arial"/>
              </a:rPr>
              <a:t>Zero means </a:t>
            </a:r>
            <a:r>
              <a:rPr sz="2000" spc="-5" dirty="0">
                <a:latin typeface="Arial"/>
                <a:cs typeface="Arial"/>
              </a:rPr>
              <a:t>‘false’ </a:t>
            </a:r>
            <a:r>
              <a:rPr sz="2000" dirty="0">
                <a:latin typeface="Arial"/>
                <a:cs typeface="Arial"/>
              </a:rPr>
              <a:t>and any </a:t>
            </a:r>
            <a:r>
              <a:rPr sz="2000" spc="-5" dirty="0">
                <a:latin typeface="Arial"/>
                <a:cs typeface="Arial"/>
              </a:rPr>
              <a:t>other value means</a:t>
            </a:r>
            <a:r>
              <a:rPr sz="2000" spc="-11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‘true’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4400" y="1752600"/>
            <a:ext cx="7620000" cy="1754505"/>
          </a:xfrm>
          <a:prstGeom prst="rect">
            <a:avLst/>
          </a:prstGeom>
          <a:solidFill>
            <a:srgbClr val="FFFFCC"/>
          </a:solidFill>
          <a:ln w="9144">
            <a:solidFill>
              <a:srgbClr val="85AA87"/>
            </a:solidFill>
          </a:ln>
        </p:spPr>
        <p:txBody>
          <a:bodyPr vert="horz" wrap="square" lIns="0" tIns="1841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45"/>
              </a:spcBef>
            </a:pPr>
            <a:r>
              <a:rPr sz="1800" b="1" spc="-5" dirty="0">
                <a:solidFill>
                  <a:srgbClr val="0000FF"/>
                </a:solidFill>
                <a:latin typeface="Courier New"/>
                <a:cs typeface="Courier New"/>
              </a:rPr>
              <a:t>int</a:t>
            </a:r>
            <a:r>
              <a:rPr sz="1800" b="1" spc="-2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800" b="1" spc="-15" dirty="0">
                <a:latin typeface="Courier New"/>
                <a:cs typeface="Courier New"/>
              </a:rPr>
              <a:t>x;</a:t>
            </a:r>
            <a:endParaRPr sz="1800">
              <a:latin typeface="Courier New"/>
              <a:cs typeface="Courier New"/>
            </a:endParaRPr>
          </a:p>
          <a:p>
            <a:pPr marL="91440" marR="968375">
              <a:lnSpc>
                <a:spcPct val="100000"/>
              </a:lnSpc>
            </a:pPr>
            <a:r>
              <a:rPr sz="1800" b="1" spc="-5" dirty="0">
                <a:latin typeface="Courier New"/>
                <a:cs typeface="Courier New"/>
              </a:rPr>
              <a:t>... </a:t>
            </a:r>
            <a:r>
              <a:rPr sz="1800" b="1" spc="-10" dirty="0">
                <a:solidFill>
                  <a:srgbClr val="800000"/>
                </a:solidFill>
                <a:latin typeface="Courier New"/>
                <a:cs typeface="Courier New"/>
              </a:rPr>
              <a:t>// assume </a:t>
            </a:r>
            <a:r>
              <a:rPr sz="1800" b="1" dirty="0">
                <a:solidFill>
                  <a:srgbClr val="800000"/>
                </a:solidFill>
                <a:latin typeface="Courier New"/>
                <a:cs typeface="Courier New"/>
              </a:rPr>
              <a:t>x </a:t>
            </a:r>
            <a:r>
              <a:rPr sz="1800" b="1" spc="-5" dirty="0">
                <a:solidFill>
                  <a:srgbClr val="800000"/>
                </a:solidFill>
                <a:latin typeface="Courier New"/>
                <a:cs typeface="Courier New"/>
              </a:rPr>
              <a:t>is </a:t>
            </a:r>
            <a:r>
              <a:rPr sz="1800" b="1" spc="-10" dirty="0">
                <a:solidFill>
                  <a:srgbClr val="800000"/>
                </a:solidFill>
                <a:latin typeface="Courier New"/>
                <a:cs typeface="Courier New"/>
              </a:rPr>
              <a:t>assigned </a:t>
            </a:r>
            <a:r>
              <a:rPr sz="1800" b="1" dirty="0">
                <a:solidFill>
                  <a:srgbClr val="800000"/>
                </a:solidFill>
                <a:latin typeface="Courier New"/>
                <a:cs typeface="Courier New"/>
              </a:rPr>
              <a:t>a </a:t>
            </a:r>
            <a:r>
              <a:rPr sz="1800" b="1" spc="-10" dirty="0">
                <a:solidFill>
                  <a:srgbClr val="800000"/>
                </a:solidFill>
                <a:latin typeface="Courier New"/>
                <a:cs typeface="Courier New"/>
              </a:rPr>
              <a:t>non-negative value  </a:t>
            </a:r>
            <a:r>
              <a:rPr sz="1800" b="1" spc="-5" dirty="0">
                <a:solidFill>
                  <a:srgbClr val="0000FF"/>
                </a:solidFill>
                <a:latin typeface="Courier New"/>
                <a:cs typeface="Courier New"/>
              </a:rPr>
              <a:t>if</a:t>
            </a:r>
            <a:r>
              <a:rPr sz="1800" b="1" spc="-2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800" b="1" spc="-5" dirty="0">
                <a:latin typeface="Courier New"/>
                <a:cs typeface="Courier New"/>
              </a:rPr>
              <a:t>(x%</a:t>
            </a:r>
            <a:r>
              <a:rPr sz="1800" b="1" spc="-5" dirty="0">
                <a:solidFill>
                  <a:srgbClr val="006600"/>
                </a:solidFill>
                <a:latin typeface="Courier New"/>
                <a:cs typeface="Courier New"/>
              </a:rPr>
              <a:t>3</a:t>
            </a:r>
            <a:r>
              <a:rPr sz="1800" b="1" spc="-5" dirty="0">
                <a:latin typeface="Courier New"/>
                <a:cs typeface="Courier New"/>
              </a:rPr>
              <a:t>)</a:t>
            </a:r>
            <a:endParaRPr sz="1800">
              <a:latin typeface="Courier New"/>
              <a:cs typeface="Courier New"/>
            </a:endParaRPr>
          </a:p>
          <a:p>
            <a:pPr marL="91440" marR="1513840" indent="409575">
              <a:lnSpc>
                <a:spcPct val="100000"/>
              </a:lnSpc>
              <a:spcBef>
                <a:spcPts val="5"/>
              </a:spcBef>
            </a:pPr>
            <a:r>
              <a:rPr sz="1800" b="1" spc="-10" dirty="0">
                <a:latin typeface="Courier New"/>
                <a:cs typeface="Courier New"/>
              </a:rPr>
              <a:t>printf(</a:t>
            </a:r>
            <a:r>
              <a:rPr sz="1800" b="1" spc="-10" dirty="0">
                <a:solidFill>
                  <a:srgbClr val="006600"/>
                </a:solidFill>
                <a:latin typeface="Courier New"/>
                <a:cs typeface="Courier New"/>
              </a:rPr>
              <a:t>"</a:t>
            </a:r>
            <a:r>
              <a:rPr sz="1800" b="1" spc="-10" dirty="0">
                <a:solidFill>
                  <a:srgbClr val="FF0000"/>
                </a:solidFill>
                <a:latin typeface="Courier New"/>
                <a:cs typeface="Courier New"/>
              </a:rPr>
              <a:t>%d </a:t>
            </a:r>
            <a:r>
              <a:rPr sz="1800" b="1" spc="-5" dirty="0">
                <a:solidFill>
                  <a:srgbClr val="006600"/>
                </a:solidFill>
                <a:latin typeface="Courier New"/>
                <a:cs typeface="Courier New"/>
              </a:rPr>
              <a:t>is </a:t>
            </a:r>
            <a:r>
              <a:rPr sz="1800" b="1" spc="-10" dirty="0">
                <a:solidFill>
                  <a:srgbClr val="006600"/>
                </a:solidFill>
                <a:latin typeface="Courier New"/>
                <a:cs typeface="Courier New"/>
              </a:rPr>
              <a:t>not divisible by 3.</a:t>
            </a:r>
            <a:r>
              <a:rPr sz="1800" b="1" spc="-10" dirty="0">
                <a:solidFill>
                  <a:srgbClr val="FF0000"/>
                </a:solidFill>
                <a:latin typeface="Courier New"/>
                <a:cs typeface="Courier New"/>
              </a:rPr>
              <a:t>\n</a:t>
            </a:r>
            <a:r>
              <a:rPr sz="1800" b="1" spc="-10" dirty="0">
                <a:solidFill>
                  <a:srgbClr val="006600"/>
                </a:solidFill>
                <a:latin typeface="Courier New"/>
                <a:cs typeface="Courier New"/>
              </a:rPr>
              <a:t>"</a:t>
            </a:r>
            <a:r>
              <a:rPr sz="1800" b="1" spc="-10" dirty="0">
                <a:latin typeface="Courier New"/>
                <a:cs typeface="Courier New"/>
              </a:rPr>
              <a:t>, x);  </a:t>
            </a:r>
            <a:r>
              <a:rPr sz="1800" b="1" spc="-10" dirty="0">
                <a:solidFill>
                  <a:srgbClr val="0000FF"/>
                </a:solidFill>
                <a:latin typeface="Courier New"/>
                <a:cs typeface="Courier New"/>
              </a:rPr>
              <a:t>else</a:t>
            </a:r>
            <a:endParaRPr sz="1800">
              <a:latin typeface="Courier New"/>
              <a:cs typeface="Courier New"/>
            </a:endParaRPr>
          </a:p>
          <a:p>
            <a:pPr marL="501650">
              <a:lnSpc>
                <a:spcPct val="100000"/>
              </a:lnSpc>
            </a:pPr>
            <a:r>
              <a:rPr sz="1800" b="1" spc="-10" dirty="0">
                <a:latin typeface="Courier New"/>
                <a:cs typeface="Courier New"/>
              </a:rPr>
              <a:t>printf(</a:t>
            </a:r>
            <a:r>
              <a:rPr sz="1800" b="1" spc="-10" dirty="0">
                <a:solidFill>
                  <a:srgbClr val="006600"/>
                </a:solidFill>
                <a:latin typeface="Courier New"/>
                <a:cs typeface="Courier New"/>
              </a:rPr>
              <a:t>"</a:t>
            </a:r>
            <a:r>
              <a:rPr sz="1800" b="1" spc="-10" dirty="0">
                <a:solidFill>
                  <a:srgbClr val="FF0000"/>
                </a:solidFill>
                <a:latin typeface="Courier New"/>
                <a:cs typeface="Courier New"/>
              </a:rPr>
              <a:t>%d </a:t>
            </a:r>
            <a:r>
              <a:rPr sz="1800" b="1" spc="-5" dirty="0">
                <a:solidFill>
                  <a:srgbClr val="006600"/>
                </a:solidFill>
                <a:latin typeface="Courier New"/>
                <a:cs typeface="Courier New"/>
              </a:rPr>
              <a:t>is </a:t>
            </a:r>
            <a:r>
              <a:rPr sz="1800" b="1" spc="-10" dirty="0">
                <a:solidFill>
                  <a:srgbClr val="006600"/>
                </a:solidFill>
                <a:latin typeface="Courier New"/>
                <a:cs typeface="Courier New"/>
              </a:rPr>
              <a:t>divisible </a:t>
            </a:r>
            <a:r>
              <a:rPr sz="1800" b="1" spc="-5" dirty="0">
                <a:solidFill>
                  <a:srgbClr val="006600"/>
                </a:solidFill>
                <a:latin typeface="Courier New"/>
                <a:cs typeface="Courier New"/>
              </a:rPr>
              <a:t>by </a:t>
            </a:r>
            <a:r>
              <a:rPr sz="1800" b="1" spc="-10" dirty="0">
                <a:solidFill>
                  <a:srgbClr val="006600"/>
                </a:solidFill>
                <a:latin typeface="Courier New"/>
                <a:cs typeface="Courier New"/>
              </a:rPr>
              <a:t>3.</a:t>
            </a:r>
            <a:r>
              <a:rPr sz="1800" b="1" spc="-10" dirty="0">
                <a:solidFill>
                  <a:srgbClr val="FF0000"/>
                </a:solidFill>
                <a:latin typeface="Courier New"/>
                <a:cs typeface="Courier New"/>
              </a:rPr>
              <a:t>\n</a:t>
            </a:r>
            <a:r>
              <a:rPr sz="1800" b="1" spc="-10" dirty="0">
                <a:solidFill>
                  <a:srgbClr val="006600"/>
                </a:solidFill>
                <a:latin typeface="Courier New"/>
                <a:cs typeface="Courier New"/>
              </a:rPr>
              <a:t>"</a:t>
            </a:r>
            <a:r>
              <a:rPr sz="1800" b="1" spc="-10" dirty="0">
                <a:latin typeface="Courier New"/>
                <a:cs typeface="Courier New"/>
              </a:rPr>
              <a:t>,</a:t>
            </a:r>
            <a:r>
              <a:rPr sz="1800" b="1" spc="-50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x);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2140" y="3607689"/>
            <a:ext cx="411099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0"/>
              </a:spcBef>
              <a:buClr>
                <a:srgbClr val="009999"/>
              </a:buClr>
              <a:buSzPct val="64583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400" dirty="0">
                <a:latin typeface="Arial"/>
                <a:cs typeface="Arial"/>
              </a:rPr>
              <a:t>In </a:t>
            </a:r>
            <a:r>
              <a:rPr sz="2400" spc="-5" dirty="0">
                <a:latin typeface="Arial"/>
                <a:cs typeface="Arial"/>
              </a:rPr>
              <a:t>Java, the above is</a:t>
            </a:r>
            <a:r>
              <a:rPr sz="2400" spc="-1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u="heavy" spc="-5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Arial"/>
                <a:cs typeface="Arial"/>
              </a:rPr>
              <a:t>invalid</a:t>
            </a:r>
            <a:endParaRPr sz="2400">
              <a:latin typeface="Arial"/>
              <a:cs typeface="Arial"/>
            </a:endParaRPr>
          </a:p>
          <a:p>
            <a:pPr marL="355600" indent="-343535">
              <a:lnSpc>
                <a:spcPct val="100000"/>
              </a:lnSpc>
              <a:buClr>
                <a:srgbClr val="009999"/>
              </a:buClr>
              <a:buSzPct val="64583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400" dirty="0">
                <a:latin typeface="Arial"/>
                <a:cs typeface="Arial"/>
              </a:rPr>
              <a:t>Java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code: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4400" y="4419600"/>
            <a:ext cx="7620000" cy="1754505"/>
          </a:xfrm>
          <a:prstGeom prst="rect">
            <a:avLst/>
          </a:prstGeom>
          <a:solidFill>
            <a:srgbClr val="FFFFCC"/>
          </a:solidFill>
          <a:ln w="9144">
            <a:solidFill>
              <a:srgbClr val="85AA87"/>
            </a:solidFill>
          </a:ln>
        </p:spPr>
        <p:txBody>
          <a:bodyPr vert="horz" wrap="square" lIns="0" tIns="1905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50"/>
              </a:spcBef>
            </a:pPr>
            <a:r>
              <a:rPr sz="1800" b="1" spc="-5" dirty="0">
                <a:solidFill>
                  <a:srgbClr val="0000FF"/>
                </a:solidFill>
                <a:latin typeface="Courier New"/>
                <a:cs typeface="Courier New"/>
              </a:rPr>
              <a:t>int</a:t>
            </a:r>
            <a:r>
              <a:rPr sz="1800" b="1" spc="-2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800" b="1" spc="-15" dirty="0">
                <a:latin typeface="Courier New"/>
                <a:cs typeface="Courier New"/>
              </a:rPr>
              <a:t>x;</a:t>
            </a:r>
            <a:endParaRPr sz="1800">
              <a:latin typeface="Courier New"/>
              <a:cs typeface="Courier New"/>
            </a:endParaRPr>
          </a:p>
          <a:p>
            <a:pPr marL="91440" marR="968375">
              <a:lnSpc>
                <a:spcPct val="100000"/>
              </a:lnSpc>
            </a:pPr>
            <a:r>
              <a:rPr sz="1800" b="1" spc="-5" dirty="0">
                <a:latin typeface="Courier New"/>
                <a:cs typeface="Courier New"/>
              </a:rPr>
              <a:t>... </a:t>
            </a:r>
            <a:r>
              <a:rPr sz="1800" b="1" spc="-10" dirty="0">
                <a:solidFill>
                  <a:srgbClr val="800000"/>
                </a:solidFill>
                <a:latin typeface="Courier New"/>
                <a:cs typeface="Courier New"/>
              </a:rPr>
              <a:t>// assume </a:t>
            </a:r>
            <a:r>
              <a:rPr sz="1800" b="1" dirty="0">
                <a:solidFill>
                  <a:srgbClr val="800000"/>
                </a:solidFill>
                <a:latin typeface="Courier New"/>
                <a:cs typeface="Courier New"/>
              </a:rPr>
              <a:t>x </a:t>
            </a:r>
            <a:r>
              <a:rPr sz="1800" b="1" spc="-5" dirty="0">
                <a:solidFill>
                  <a:srgbClr val="800000"/>
                </a:solidFill>
                <a:latin typeface="Courier New"/>
                <a:cs typeface="Courier New"/>
              </a:rPr>
              <a:t>is </a:t>
            </a:r>
            <a:r>
              <a:rPr sz="1800" b="1" spc="-10" dirty="0">
                <a:solidFill>
                  <a:srgbClr val="800000"/>
                </a:solidFill>
                <a:latin typeface="Courier New"/>
                <a:cs typeface="Courier New"/>
              </a:rPr>
              <a:t>assigned </a:t>
            </a:r>
            <a:r>
              <a:rPr sz="1800" b="1" dirty="0">
                <a:solidFill>
                  <a:srgbClr val="800000"/>
                </a:solidFill>
                <a:latin typeface="Courier New"/>
                <a:cs typeface="Courier New"/>
              </a:rPr>
              <a:t>a </a:t>
            </a:r>
            <a:r>
              <a:rPr sz="1800" b="1" spc="-10" dirty="0">
                <a:solidFill>
                  <a:srgbClr val="800000"/>
                </a:solidFill>
                <a:latin typeface="Courier New"/>
                <a:cs typeface="Courier New"/>
              </a:rPr>
              <a:t>non-negative value  </a:t>
            </a:r>
            <a:r>
              <a:rPr sz="1800" b="1" spc="-5" dirty="0">
                <a:solidFill>
                  <a:srgbClr val="0000FF"/>
                </a:solidFill>
                <a:latin typeface="Courier New"/>
                <a:cs typeface="Courier New"/>
              </a:rPr>
              <a:t>if </a:t>
            </a:r>
            <a:r>
              <a:rPr sz="1800" b="1" spc="-5" dirty="0">
                <a:latin typeface="Courier New"/>
                <a:cs typeface="Courier New"/>
              </a:rPr>
              <a:t>(x%</a:t>
            </a:r>
            <a:r>
              <a:rPr sz="1800" b="1" spc="-5" dirty="0">
                <a:solidFill>
                  <a:srgbClr val="006600"/>
                </a:solidFill>
                <a:latin typeface="Courier New"/>
                <a:cs typeface="Courier New"/>
              </a:rPr>
              <a:t>3 </a:t>
            </a:r>
            <a:r>
              <a:rPr sz="1800" b="1" spc="-5" dirty="0">
                <a:latin typeface="Courier New"/>
                <a:cs typeface="Courier New"/>
              </a:rPr>
              <a:t>!=</a:t>
            </a:r>
            <a:r>
              <a:rPr sz="1800" b="1" spc="-55" dirty="0">
                <a:latin typeface="Courier New"/>
                <a:cs typeface="Courier New"/>
              </a:rPr>
              <a:t> </a:t>
            </a:r>
            <a:r>
              <a:rPr sz="1800" b="1" spc="-5" dirty="0">
                <a:solidFill>
                  <a:srgbClr val="006600"/>
                </a:solidFill>
                <a:latin typeface="Courier New"/>
                <a:cs typeface="Courier New"/>
              </a:rPr>
              <a:t>0</a:t>
            </a:r>
            <a:r>
              <a:rPr sz="1800" b="1" spc="-5" dirty="0">
                <a:latin typeface="Courier New"/>
                <a:cs typeface="Courier New"/>
              </a:rPr>
              <a:t>)</a:t>
            </a:r>
            <a:endParaRPr sz="1800">
              <a:latin typeface="Courier New"/>
              <a:cs typeface="Courier New"/>
            </a:endParaRPr>
          </a:p>
          <a:p>
            <a:pPr marL="501650">
              <a:lnSpc>
                <a:spcPct val="100000"/>
              </a:lnSpc>
            </a:pPr>
            <a:r>
              <a:rPr sz="1800" b="1" spc="-10" dirty="0">
                <a:latin typeface="Courier New"/>
                <a:cs typeface="Courier New"/>
              </a:rPr>
              <a:t>System.out.println(x </a:t>
            </a:r>
            <a:r>
              <a:rPr sz="1800" b="1" dirty="0">
                <a:latin typeface="Courier New"/>
                <a:cs typeface="Courier New"/>
              </a:rPr>
              <a:t>+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" </a:t>
            </a:r>
            <a:r>
              <a:rPr sz="1800" b="1" spc="-5" dirty="0">
                <a:solidFill>
                  <a:srgbClr val="006600"/>
                </a:solidFill>
                <a:latin typeface="Courier New"/>
                <a:cs typeface="Courier New"/>
              </a:rPr>
              <a:t>is </a:t>
            </a:r>
            <a:r>
              <a:rPr sz="1800" b="1" spc="-10" dirty="0">
                <a:solidFill>
                  <a:srgbClr val="006600"/>
                </a:solidFill>
                <a:latin typeface="Courier New"/>
                <a:cs typeface="Courier New"/>
              </a:rPr>
              <a:t>not divisible </a:t>
            </a:r>
            <a:r>
              <a:rPr sz="1800" b="1" spc="-5" dirty="0">
                <a:solidFill>
                  <a:srgbClr val="006600"/>
                </a:solidFill>
                <a:latin typeface="Courier New"/>
                <a:cs typeface="Courier New"/>
              </a:rPr>
              <a:t>by</a:t>
            </a:r>
            <a:r>
              <a:rPr sz="1800" b="1" spc="-4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spc="-20" dirty="0">
                <a:solidFill>
                  <a:srgbClr val="006600"/>
                </a:solidFill>
                <a:latin typeface="Courier New"/>
                <a:cs typeface="Courier New"/>
              </a:rPr>
              <a:t>3."</a:t>
            </a:r>
            <a:r>
              <a:rPr sz="1800" b="1" spc="-20" dirty="0">
                <a:latin typeface="Courier New"/>
                <a:cs typeface="Courier New"/>
              </a:rPr>
              <a:t>);</a:t>
            </a:r>
            <a:endParaRPr sz="1800">
              <a:latin typeface="Courier New"/>
              <a:cs typeface="Courier New"/>
            </a:endParaRPr>
          </a:p>
          <a:p>
            <a:pPr marL="91440">
              <a:lnSpc>
                <a:spcPct val="100000"/>
              </a:lnSpc>
              <a:spcBef>
                <a:spcPts val="5"/>
              </a:spcBef>
            </a:pPr>
            <a:r>
              <a:rPr sz="1800" b="1" spc="-10" dirty="0">
                <a:solidFill>
                  <a:srgbClr val="0000FF"/>
                </a:solidFill>
                <a:latin typeface="Courier New"/>
                <a:cs typeface="Courier New"/>
              </a:rPr>
              <a:t>else</a:t>
            </a:r>
            <a:endParaRPr sz="1800">
              <a:latin typeface="Courier New"/>
              <a:cs typeface="Courier New"/>
            </a:endParaRPr>
          </a:p>
          <a:p>
            <a:pPr marL="501650">
              <a:lnSpc>
                <a:spcPct val="100000"/>
              </a:lnSpc>
            </a:pPr>
            <a:r>
              <a:rPr sz="1800" b="1" spc="-10" dirty="0">
                <a:latin typeface="Courier New"/>
                <a:cs typeface="Courier New"/>
              </a:rPr>
              <a:t>System.out.println(x </a:t>
            </a:r>
            <a:r>
              <a:rPr sz="1800" b="1" dirty="0">
                <a:latin typeface="Courier New"/>
                <a:cs typeface="Courier New"/>
              </a:rPr>
              <a:t>+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" </a:t>
            </a:r>
            <a:r>
              <a:rPr sz="1800" b="1" spc="-5" dirty="0">
                <a:solidFill>
                  <a:srgbClr val="006600"/>
                </a:solidFill>
                <a:latin typeface="Courier New"/>
                <a:cs typeface="Courier New"/>
              </a:rPr>
              <a:t>is </a:t>
            </a:r>
            <a:r>
              <a:rPr sz="1800" b="1" spc="-10" dirty="0">
                <a:solidFill>
                  <a:srgbClr val="006600"/>
                </a:solidFill>
                <a:latin typeface="Courier New"/>
                <a:cs typeface="Courier New"/>
              </a:rPr>
              <a:t>divisible </a:t>
            </a:r>
            <a:r>
              <a:rPr sz="1800" b="1" spc="-5" dirty="0">
                <a:solidFill>
                  <a:srgbClr val="006600"/>
                </a:solidFill>
                <a:latin typeface="Courier New"/>
                <a:cs typeface="Courier New"/>
              </a:rPr>
              <a:t>by</a:t>
            </a:r>
            <a:r>
              <a:rPr sz="1800" b="1" spc="-6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spc="-15" dirty="0">
                <a:solidFill>
                  <a:srgbClr val="006600"/>
                </a:solidFill>
                <a:latin typeface="Courier New"/>
                <a:cs typeface="Courier New"/>
              </a:rPr>
              <a:t>3."</a:t>
            </a:r>
            <a:r>
              <a:rPr sz="1800" b="1" spc="-15" dirty="0">
                <a:latin typeface="Courier New"/>
                <a:cs typeface="Courier New"/>
              </a:rPr>
              <a:t>);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248158"/>
            <a:ext cx="50736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5" dirty="0">
                <a:solidFill>
                  <a:srgbClr val="C00000"/>
                </a:solidFill>
              </a:rPr>
              <a:t>4.2 </a:t>
            </a:r>
            <a:r>
              <a:rPr spc="-45" dirty="0"/>
              <a:t>Selection</a:t>
            </a:r>
            <a:r>
              <a:rPr spc="-160" dirty="0"/>
              <a:t> </a:t>
            </a:r>
            <a:r>
              <a:rPr spc="-60" dirty="0"/>
              <a:t>Statements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55975" y="1072534"/>
            <a:ext cx="5260975" cy="1921510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55"/>
              </a:spcBef>
              <a:buClr>
                <a:srgbClr val="009999"/>
              </a:buClr>
              <a:buSzPct val="65000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000" b="1" spc="-5" dirty="0">
                <a:solidFill>
                  <a:srgbClr val="660066"/>
                </a:solidFill>
                <a:latin typeface="Courier New"/>
                <a:cs typeface="Courier New"/>
              </a:rPr>
              <a:t>if-else</a:t>
            </a:r>
            <a:r>
              <a:rPr sz="2000" b="1" spc="-10" dirty="0">
                <a:solidFill>
                  <a:srgbClr val="660066"/>
                </a:solidFill>
                <a:latin typeface="Courier New"/>
                <a:cs typeface="Courier New"/>
              </a:rPr>
              <a:t> </a:t>
            </a:r>
            <a:r>
              <a:rPr sz="2200" spc="-5" dirty="0">
                <a:latin typeface="Arial"/>
                <a:cs typeface="Arial"/>
              </a:rPr>
              <a:t>statement</a:t>
            </a:r>
            <a:endParaRPr sz="2200">
              <a:latin typeface="Arial"/>
              <a:cs typeface="Arial"/>
            </a:endParaRPr>
          </a:p>
          <a:p>
            <a:pPr marL="683260" lvl="1" indent="-326390">
              <a:lnSpc>
                <a:spcPct val="100000"/>
              </a:lnSpc>
              <a:spcBef>
                <a:spcPts val="545"/>
              </a:spcBef>
              <a:buClr>
                <a:srgbClr val="4B6C4E"/>
              </a:buClr>
              <a:buSzPct val="58333"/>
              <a:buFont typeface="Wingdings"/>
              <a:buChar char=""/>
              <a:tabLst>
                <a:tab pos="682625" algn="l"/>
                <a:tab pos="683260" algn="l"/>
              </a:tabLst>
            </a:pPr>
            <a:r>
              <a:rPr sz="1800" spc="-5" dirty="0">
                <a:latin typeface="Arial"/>
                <a:cs typeface="Arial"/>
              </a:rPr>
              <a:t>else-part </a:t>
            </a:r>
            <a:r>
              <a:rPr sz="1800" dirty="0">
                <a:latin typeface="Arial"/>
                <a:cs typeface="Arial"/>
              </a:rPr>
              <a:t>is</a:t>
            </a:r>
            <a:r>
              <a:rPr sz="1800" spc="1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optional</a:t>
            </a:r>
            <a:endParaRPr sz="18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15"/>
              </a:spcBef>
              <a:buClr>
                <a:srgbClr val="009999"/>
              </a:buClr>
              <a:buSzPct val="6363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200" spc="-5" dirty="0">
                <a:latin typeface="Arial"/>
                <a:cs typeface="Arial"/>
              </a:rPr>
              <a:t>Condition:</a:t>
            </a:r>
            <a:endParaRPr sz="2200">
              <a:latin typeface="Arial"/>
              <a:cs typeface="Arial"/>
            </a:endParaRPr>
          </a:p>
          <a:p>
            <a:pPr marL="683260" lvl="1" indent="-326390">
              <a:lnSpc>
                <a:spcPct val="100000"/>
              </a:lnSpc>
              <a:spcBef>
                <a:spcPts val="484"/>
              </a:spcBef>
              <a:buClr>
                <a:srgbClr val="4B6C4E"/>
              </a:buClr>
              <a:buSzPct val="60000"/>
              <a:buFont typeface="Wingdings"/>
              <a:buChar char=""/>
              <a:tabLst>
                <a:tab pos="682625" algn="l"/>
                <a:tab pos="683260" algn="l"/>
              </a:tabLst>
            </a:pPr>
            <a:r>
              <a:rPr sz="2000" b="1" dirty="0">
                <a:latin typeface="Arial"/>
                <a:cs typeface="Arial"/>
              </a:rPr>
              <a:t>Must be a </a:t>
            </a:r>
            <a:r>
              <a:rPr sz="2000" b="1" i="1" dirty="0">
                <a:solidFill>
                  <a:srgbClr val="0000FF"/>
                </a:solidFill>
                <a:latin typeface="Arial"/>
                <a:cs typeface="Arial"/>
              </a:rPr>
              <a:t>boolean</a:t>
            </a:r>
            <a:r>
              <a:rPr sz="2000" b="1" i="1" spc="-6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expression</a:t>
            </a:r>
            <a:endParaRPr sz="2000">
              <a:latin typeface="Arial"/>
              <a:cs typeface="Arial"/>
            </a:endParaRPr>
          </a:p>
          <a:p>
            <a:pPr marL="683260" lvl="1" indent="-326390">
              <a:lnSpc>
                <a:spcPct val="100000"/>
              </a:lnSpc>
              <a:spcBef>
                <a:spcPts val="480"/>
              </a:spcBef>
              <a:buClr>
                <a:srgbClr val="4B6C4E"/>
              </a:buClr>
              <a:buSzPct val="60000"/>
              <a:buFont typeface="Wingdings"/>
              <a:buChar char=""/>
              <a:tabLst>
                <a:tab pos="682625" algn="l"/>
                <a:tab pos="683260" algn="l"/>
              </a:tabLst>
            </a:pP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Unlike C, integer </a:t>
            </a:r>
            <a:r>
              <a:rPr sz="2000" b="1" spc="-5" dirty="0">
                <a:solidFill>
                  <a:srgbClr val="C00000"/>
                </a:solidFill>
                <a:latin typeface="Arial"/>
                <a:cs typeface="Arial"/>
              </a:rPr>
              <a:t>values 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are NOT</a:t>
            </a:r>
            <a:r>
              <a:rPr sz="2000" b="1" spc="-114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C00000"/>
                </a:solidFill>
                <a:latin typeface="Arial"/>
                <a:cs typeface="Arial"/>
              </a:rPr>
              <a:t>valid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9600" y="1143000"/>
            <a:ext cx="2362200" cy="1938655"/>
          </a:xfrm>
          <a:prstGeom prst="rect">
            <a:avLst/>
          </a:prstGeom>
          <a:solidFill>
            <a:srgbClr val="FFFFCC"/>
          </a:solidFill>
          <a:ln w="9144">
            <a:solidFill>
              <a:srgbClr val="85AA87"/>
            </a:solidFill>
          </a:ln>
        </p:spPr>
        <p:txBody>
          <a:bodyPr vert="horz" wrap="square" lIns="0" tIns="1587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25"/>
              </a:spcBef>
            </a:pPr>
            <a:r>
              <a:rPr sz="2000" b="1" spc="-5" dirty="0">
                <a:solidFill>
                  <a:srgbClr val="0000FF"/>
                </a:solidFill>
                <a:latin typeface="Courier New"/>
                <a:cs typeface="Courier New"/>
              </a:rPr>
              <a:t>if </a:t>
            </a:r>
            <a:r>
              <a:rPr sz="2000" b="1" spc="-5" dirty="0">
                <a:latin typeface="Courier New"/>
                <a:cs typeface="Courier New"/>
              </a:rPr>
              <a:t>(a </a:t>
            </a:r>
            <a:r>
              <a:rPr sz="2000" b="1" dirty="0">
                <a:latin typeface="Courier New"/>
                <a:cs typeface="Courier New"/>
              </a:rPr>
              <a:t>&gt; </a:t>
            </a:r>
            <a:r>
              <a:rPr sz="2000" b="1" spc="-5" dirty="0">
                <a:latin typeface="Courier New"/>
                <a:cs typeface="Courier New"/>
              </a:rPr>
              <a:t>b)</a:t>
            </a:r>
            <a:r>
              <a:rPr sz="2000" b="1" spc="-5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  <a:p>
            <a:pPr marL="548640">
              <a:lnSpc>
                <a:spcPct val="100000"/>
              </a:lnSpc>
            </a:pPr>
            <a:r>
              <a:rPr sz="2000" b="1" spc="-5" dirty="0">
                <a:latin typeface="Courier New"/>
                <a:cs typeface="Courier New"/>
              </a:rPr>
              <a:t>...</a:t>
            </a:r>
            <a:endParaRPr sz="2000">
              <a:latin typeface="Courier New"/>
              <a:cs typeface="Courier New"/>
            </a:endParaRPr>
          </a:p>
          <a:p>
            <a:pPr marL="91440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  <a:p>
            <a:pPr marL="91440">
              <a:lnSpc>
                <a:spcPct val="100000"/>
              </a:lnSpc>
            </a:pPr>
            <a:r>
              <a:rPr sz="2000" b="1" spc="-5" dirty="0">
                <a:solidFill>
                  <a:srgbClr val="0000FF"/>
                </a:solidFill>
                <a:latin typeface="Courier New"/>
                <a:cs typeface="Courier New"/>
              </a:rPr>
              <a:t>else</a:t>
            </a:r>
            <a:r>
              <a:rPr sz="2000" b="1" spc="-9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  <a:p>
            <a:pPr marL="548640">
              <a:lnSpc>
                <a:spcPct val="100000"/>
              </a:lnSpc>
            </a:pPr>
            <a:r>
              <a:rPr sz="2000" b="1" spc="-5" dirty="0">
                <a:latin typeface="Courier New"/>
                <a:cs typeface="Courier New"/>
              </a:rPr>
              <a:t>...</a:t>
            </a:r>
            <a:endParaRPr sz="2000">
              <a:latin typeface="Courier New"/>
              <a:cs typeface="Courier New"/>
            </a:endParaRPr>
          </a:p>
          <a:p>
            <a:pPr marL="91440">
              <a:lnSpc>
                <a:spcPct val="100000"/>
              </a:lnSpc>
            </a:pPr>
            <a:r>
              <a:rPr sz="2000" b="1" dirty="0"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55975" y="3223031"/>
            <a:ext cx="5160645" cy="2653665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25"/>
              </a:spcBef>
              <a:buClr>
                <a:srgbClr val="009999"/>
              </a:buClr>
              <a:buSzPct val="65000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000" b="1" spc="-5" dirty="0">
                <a:solidFill>
                  <a:srgbClr val="660066"/>
                </a:solidFill>
                <a:latin typeface="Courier New"/>
                <a:cs typeface="Courier New"/>
              </a:rPr>
              <a:t>switch-case</a:t>
            </a:r>
            <a:r>
              <a:rPr sz="2000" b="1" spc="-15" dirty="0">
                <a:solidFill>
                  <a:srgbClr val="660066"/>
                </a:solidFill>
                <a:latin typeface="Courier New"/>
                <a:cs typeface="Courier New"/>
              </a:rPr>
              <a:t> </a:t>
            </a:r>
            <a:r>
              <a:rPr sz="2200" spc="-5" dirty="0">
                <a:latin typeface="Arial"/>
                <a:cs typeface="Arial"/>
              </a:rPr>
              <a:t>statement</a:t>
            </a:r>
            <a:endParaRPr sz="2200">
              <a:latin typeface="Arial"/>
              <a:cs typeface="Arial"/>
            </a:endParaRPr>
          </a:p>
          <a:p>
            <a:pPr marL="355600" marR="5080" indent="-342900">
              <a:lnSpc>
                <a:spcPct val="99100"/>
              </a:lnSpc>
              <a:spcBef>
                <a:spcPts val="555"/>
              </a:spcBef>
              <a:buClr>
                <a:srgbClr val="009999"/>
              </a:buClr>
              <a:buSzPct val="6363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200" spc="-5" dirty="0">
                <a:latin typeface="Arial"/>
                <a:cs typeface="Arial"/>
              </a:rPr>
              <a:t>Expression in </a:t>
            </a:r>
            <a:r>
              <a:rPr sz="2000" b="1" spc="-5" dirty="0">
                <a:solidFill>
                  <a:srgbClr val="660066"/>
                </a:solidFill>
                <a:latin typeface="Courier New"/>
                <a:cs typeface="Courier New"/>
              </a:rPr>
              <a:t>switch()</a:t>
            </a:r>
            <a:r>
              <a:rPr sz="2000" b="1" spc="-565" dirty="0">
                <a:solidFill>
                  <a:srgbClr val="660066"/>
                </a:solidFill>
                <a:latin typeface="Courier New"/>
                <a:cs typeface="Courier New"/>
              </a:rPr>
              <a:t> </a:t>
            </a:r>
            <a:r>
              <a:rPr sz="2200" spc="-5" dirty="0">
                <a:latin typeface="Arial"/>
                <a:cs typeface="Arial"/>
              </a:rPr>
              <a:t>must evaluate  to a value of </a:t>
            </a:r>
            <a:r>
              <a:rPr sz="2200" b="1" spc="-5" dirty="0">
                <a:solidFill>
                  <a:srgbClr val="006600"/>
                </a:solidFill>
                <a:latin typeface="Courier New"/>
                <a:cs typeface="Courier New"/>
              </a:rPr>
              <a:t>char</a:t>
            </a:r>
            <a:r>
              <a:rPr sz="2200" spc="-5" dirty="0">
                <a:latin typeface="Arial"/>
                <a:cs typeface="Arial"/>
              </a:rPr>
              <a:t>, </a:t>
            </a:r>
            <a:r>
              <a:rPr sz="2200" b="1" spc="-5" dirty="0">
                <a:solidFill>
                  <a:srgbClr val="006600"/>
                </a:solidFill>
                <a:latin typeface="Courier New"/>
                <a:cs typeface="Courier New"/>
              </a:rPr>
              <a:t>byte</a:t>
            </a:r>
            <a:r>
              <a:rPr sz="2200" spc="-5" dirty="0">
                <a:latin typeface="Arial"/>
                <a:cs typeface="Arial"/>
              </a:rPr>
              <a:t>, </a:t>
            </a:r>
            <a:r>
              <a:rPr sz="2200" b="1" spc="-5" dirty="0">
                <a:solidFill>
                  <a:srgbClr val="006600"/>
                </a:solidFill>
                <a:latin typeface="Courier New"/>
                <a:cs typeface="Courier New"/>
              </a:rPr>
              <a:t>short </a:t>
            </a:r>
            <a:r>
              <a:rPr sz="2200" spc="-5" dirty="0">
                <a:latin typeface="Arial"/>
                <a:cs typeface="Arial"/>
              </a:rPr>
              <a:t>or </a:t>
            </a:r>
            <a:r>
              <a:rPr sz="2200" spc="-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200" b="1" spc="-5" dirty="0">
                <a:solidFill>
                  <a:srgbClr val="006600"/>
                </a:solidFill>
                <a:latin typeface="Courier New"/>
                <a:cs typeface="Courier New"/>
              </a:rPr>
              <a:t>int</a:t>
            </a:r>
            <a:r>
              <a:rPr sz="2200" b="1" spc="-70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2200" spc="-5" dirty="0">
                <a:latin typeface="Arial"/>
                <a:cs typeface="Arial"/>
              </a:rPr>
              <a:t>type</a:t>
            </a:r>
            <a:endParaRPr sz="22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Clr>
                <a:srgbClr val="009999"/>
              </a:buClr>
              <a:buSzPct val="65000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000" b="1" spc="-5" dirty="0">
                <a:solidFill>
                  <a:srgbClr val="660066"/>
                </a:solidFill>
                <a:latin typeface="Courier New"/>
                <a:cs typeface="Courier New"/>
              </a:rPr>
              <a:t>break</a:t>
            </a:r>
            <a:r>
              <a:rPr sz="2200" spc="-5" dirty="0">
                <a:latin typeface="Arial"/>
                <a:cs typeface="Arial"/>
              </a:rPr>
              <a:t>: stop the fall-through</a:t>
            </a:r>
            <a:r>
              <a:rPr sz="2200" spc="70" dirty="0">
                <a:latin typeface="Arial"/>
                <a:cs typeface="Arial"/>
              </a:rPr>
              <a:t> </a:t>
            </a:r>
            <a:r>
              <a:rPr sz="2200" spc="-5" dirty="0">
                <a:latin typeface="Arial"/>
                <a:cs typeface="Arial"/>
              </a:rPr>
              <a:t>execution</a:t>
            </a:r>
            <a:endParaRPr sz="22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30"/>
              </a:spcBef>
              <a:buClr>
                <a:srgbClr val="009999"/>
              </a:buClr>
              <a:buSzPct val="65000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000" b="1" spc="-5" dirty="0">
                <a:solidFill>
                  <a:srgbClr val="660066"/>
                </a:solidFill>
                <a:latin typeface="Courier New"/>
                <a:cs typeface="Courier New"/>
              </a:rPr>
              <a:t>default</a:t>
            </a:r>
            <a:r>
              <a:rPr sz="2200" spc="-5" dirty="0">
                <a:latin typeface="Arial"/>
                <a:cs typeface="Arial"/>
              </a:rPr>
              <a:t>: catch all unmatched</a:t>
            </a:r>
            <a:r>
              <a:rPr sz="2200" spc="3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cases;</a:t>
            </a:r>
            <a:endParaRPr sz="22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latin typeface="Arial"/>
                <a:cs typeface="Arial"/>
              </a:rPr>
              <a:t>may be</a:t>
            </a:r>
            <a:r>
              <a:rPr sz="2200" spc="10" dirty="0">
                <a:latin typeface="Arial"/>
                <a:cs typeface="Arial"/>
              </a:rPr>
              <a:t> </a:t>
            </a:r>
            <a:r>
              <a:rPr sz="2200" spc="-5" dirty="0">
                <a:latin typeface="Arial"/>
                <a:cs typeface="Arial"/>
              </a:rPr>
              <a:t>optional</a:t>
            </a:r>
            <a:endParaRPr sz="2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09600" y="3276600"/>
            <a:ext cx="2362200" cy="2834640"/>
          </a:xfrm>
          <a:prstGeom prst="rect">
            <a:avLst/>
          </a:prstGeom>
          <a:solidFill>
            <a:srgbClr val="FFFFCC"/>
          </a:solidFill>
          <a:ln w="9144">
            <a:solidFill>
              <a:srgbClr val="85AA87"/>
            </a:solidFill>
          </a:ln>
        </p:spPr>
        <p:txBody>
          <a:bodyPr vert="horz" wrap="square" lIns="0" tIns="16510" rIns="0" bIns="0" rtlCol="0">
            <a:spAutoFit/>
          </a:bodyPr>
          <a:lstStyle/>
          <a:p>
            <a:pPr marL="548640" marR="433705" indent="-457834">
              <a:lnSpc>
                <a:spcPct val="100000"/>
              </a:lnSpc>
              <a:spcBef>
                <a:spcPts val="130"/>
              </a:spcBef>
            </a:pPr>
            <a:r>
              <a:rPr sz="2000" b="1" spc="-5" dirty="0">
                <a:solidFill>
                  <a:srgbClr val="0000FF"/>
                </a:solidFill>
                <a:latin typeface="Courier New"/>
                <a:cs typeface="Courier New"/>
              </a:rPr>
              <a:t>switch </a:t>
            </a:r>
            <a:r>
              <a:rPr sz="2000" b="1" spc="-5" dirty="0">
                <a:latin typeface="Courier New"/>
                <a:cs typeface="Courier New"/>
              </a:rPr>
              <a:t>(a)</a:t>
            </a:r>
            <a:r>
              <a:rPr sz="2000" b="1" spc="-7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{  </a:t>
            </a:r>
            <a:r>
              <a:rPr sz="2000" b="1" spc="-5" dirty="0">
                <a:solidFill>
                  <a:srgbClr val="0000FF"/>
                </a:solidFill>
                <a:latin typeface="Courier New"/>
                <a:cs typeface="Courier New"/>
              </a:rPr>
              <a:t>case</a:t>
            </a:r>
            <a:r>
              <a:rPr sz="2000" b="1" spc="-3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1:</a:t>
            </a:r>
            <a:endParaRPr sz="2000">
              <a:latin typeface="Courier New"/>
              <a:cs typeface="Courier New"/>
            </a:endParaRPr>
          </a:p>
          <a:p>
            <a:pPr marL="1158240">
              <a:lnSpc>
                <a:spcPct val="100000"/>
              </a:lnSpc>
            </a:pPr>
            <a:r>
              <a:rPr sz="2000" b="1" spc="-5" dirty="0">
                <a:latin typeface="Courier New"/>
                <a:cs typeface="Courier New"/>
              </a:rPr>
              <a:t>...</a:t>
            </a:r>
            <a:endParaRPr sz="2000">
              <a:latin typeface="Courier New"/>
              <a:cs typeface="Courier New"/>
            </a:endParaRPr>
          </a:p>
          <a:p>
            <a:pPr marL="548640" marR="281305" indent="608965">
              <a:lnSpc>
                <a:spcPct val="100000"/>
              </a:lnSpc>
            </a:pPr>
            <a:r>
              <a:rPr sz="2000" b="1" spc="-5" dirty="0">
                <a:solidFill>
                  <a:srgbClr val="0000FF"/>
                </a:solidFill>
                <a:latin typeface="Courier New"/>
                <a:cs typeface="Courier New"/>
              </a:rPr>
              <a:t>break</a:t>
            </a:r>
            <a:r>
              <a:rPr sz="2000" b="1" dirty="0">
                <a:latin typeface="Courier New"/>
                <a:cs typeface="Courier New"/>
              </a:rPr>
              <a:t>;  </a:t>
            </a:r>
            <a:r>
              <a:rPr sz="2000" b="1" spc="-5" dirty="0">
                <a:solidFill>
                  <a:srgbClr val="0000FF"/>
                </a:solidFill>
                <a:latin typeface="Courier New"/>
                <a:cs typeface="Courier New"/>
              </a:rPr>
              <a:t>case</a:t>
            </a:r>
            <a:r>
              <a:rPr sz="2000" b="1" spc="-2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2:</a:t>
            </a:r>
            <a:endParaRPr sz="2000">
              <a:latin typeface="Courier New"/>
              <a:cs typeface="Courier New"/>
            </a:endParaRPr>
          </a:p>
          <a:p>
            <a:pPr marR="738505" algn="r">
              <a:lnSpc>
                <a:spcPct val="100000"/>
              </a:lnSpc>
            </a:pPr>
            <a:r>
              <a:rPr sz="2000" b="1" spc="-5" dirty="0">
                <a:solidFill>
                  <a:srgbClr val="0000FF"/>
                </a:solidFill>
                <a:latin typeface="Courier New"/>
                <a:cs typeface="Courier New"/>
              </a:rPr>
              <a:t>case</a:t>
            </a:r>
            <a:r>
              <a:rPr sz="2000" b="1" spc="-9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3:</a:t>
            </a:r>
            <a:endParaRPr sz="2000">
              <a:latin typeface="Courier New"/>
              <a:cs typeface="Courier New"/>
            </a:endParaRPr>
          </a:p>
          <a:p>
            <a:pPr marR="738505" algn="r">
              <a:lnSpc>
                <a:spcPct val="100000"/>
              </a:lnSpc>
            </a:pPr>
            <a:r>
              <a:rPr sz="2000" b="1" spc="-5" dirty="0">
                <a:latin typeface="Courier New"/>
                <a:cs typeface="Courier New"/>
              </a:rPr>
              <a:t>...</a:t>
            </a:r>
            <a:endParaRPr sz="2000">
              <a:latin typeface="Courier New"/>
              <a:cs typeface="Courier New"/>
            </a:endParaRPr>
          </a:p>
          <a:p>
            <a:pPr marL="548640">
              <a:lnSpc>
                <a:spcPct val="100000"/>
              </a:lnSpc>
              <a:spcBef>
                <a:spcPts val="5"/>
              </a:spcBef>
            </a:pPr>
            <a:r>
              <a:rPr sz="2000" b="1" spc="-5" dirty="0">
                <a:solidFill>
                  <a:srgbClr val="0000FF"/>
                </a:solidFill>
                <a:latin typeface="Courier New"/>
                <a:cs typeface="Courier New"/>
              </a:rPr>
              <a:t>default</a:t>
            </a:r>
            <a:r>
              <a:rPr sz="2000" b="1" spc="-5" dirty="0">
                <a:latin typeface="Courier New"/>
                <a:cs typeface="Courier New"/>
              </a:rPr>
              <a:t>:</a:t>
            </a:r>
            <a:endParaRPr sz="2000">
              <a:latin typeface="Courier New"/>
              <a:cs typeface="Courier New"/>
            </a:endParaRPr>
          </a:p>
          <a:p>
            <a:pPr marL="91440">
              <a:lnSpc>
                <a:spcPct val="100000"/>
              </a:lnSpc>
            </a:pPr>
            <a:r>
              <a:rPr sz="2000" b="1" dirty="0"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57200" y="3200400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600" y="0"/>
                </a:lnTo>
              </a:path>
            </a:pathLst>
          </a:custGeom>
          <a:ln w="12192">
            <a:solidFill>
              <a:srgbClr val="009999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70051" y="6449696"/>
            <a:ext cx="8420735" cy="3448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89"/>
              </a:lnSpc>
              <a:tabLst>
                <a:tab pos="1996439" algn="l"/>
                <a:tab pos="8046720" algn="l"/>
              </a:tabLst>
            </a:pPr>
            <a:r>
              <a:rPr sz="800" dirty="0">
                <a:solidFill>
                  <a:srgbClr val="003399"/>
                </a:solidFill>
                <a:latin typeface="Arial Black"/>
                <a:cs typeface="Arial Black"/>
              </a:rPr>
              <a:t>[501043 Lecture 1: Intro</a:t>
            </a:r>
            <a:r>
              <a:rPr sz="800" spc="-65" dirty="0">
                <a:solidFill>
                  <a:srgbClr val="003399"/>
                </a:solidFill>
                <a:latin typeface="Arial Black"/>
                <a:cs typeface="Arial Black"/>
              </a:rPr>
              <a:t> </a:t>
            </a:r>
            <a:r>
              <a:rPr sz="800" dirty="0">
                <a:solidFill>
                  <a:srgbClr val="003399"/>
                </a:solidFill>
                <a:latin typeface="Arial Black"/>
                <a:cs typeface="Arial Black"/>
              </a:rPr>
              <a:t>to</a:t>
            </a:r>
            <a:r>
              <a:rPr sz="800" spc="-10" dirty="0">
                <a:solidFill>
                  <a:srgbClr val="003399"/>
                </a:solidFill>
                <a:latin typeface="Arial Black"/>
                <a:cs typeface="Arial Black"/>
              </a:rPr>
              <a:t> </a:t>
            </a:r>
            <a:r>
              <a:rPr sz="800" dirty="0">
                <a:solidFill>
                  <a:srgbClr val="003399"/>
                </a:solidFill>
                <a:latin typeface="Arial Black"/>
                <a:cs typeface="Arial Black"/>
              </a:rPr>
              <a:t>Java]	</a:t>
            </a:r>
            <a:r>
              <a:rPr sz="800" u="heavy" dirty="0">
                <a:solidFill>
                  <a:srgbClr val="003399"/>
                </a:solidFill>
                <a:uFill>
                  <a:solidFill>
                    <a:srgbClr val="009999"/>
                  </a:solidFill>
                </a:uFill>
                <a:latin typeface="Arial Black"/>
                <a:cs typeface="Arial Black"/>
              </a:rPr>
              <a:t> 	</a:t>
            </a:r>
            <a:r>
              <a:rPr sz="1600" b="1" i="1" spc="-5" dirty="0">
                <a:solidFill>
                  <a:srgbClr val="C00000"/>
                </a:solidFill>
                <a:latin typeface="Arial"/>
                <a:cs typeface="Arial"/>
              </a:rPr>
              <a:t>33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248158"/>
            <a:ext cx="65201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5" dirty="0">
                <a:solidFill>
                  <a:srgbClr val="C00000"/>
                </a:solidFill>
              </a:rPr>
              <a:t>4.2 </a:t>
            </a:r>
            <a:r>
              <a:rPr spc="-70" dirty="0"/>
              <a:t>Repetition </a:t>
            </a:r>
            <a:r>
              <a:rPr spc="-60" dirty="0"/>
              <a:t>Statements</a:t>
            </a:r>
            <a:r>
              <a:rPr spc="-95" dirty="0"/>
              <a:t> </a:t>
            </a:r>
            <a:r>
              <a:rPr spc="60" dirty="0"/>
              <a:t>(1/2)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279775" y="949200"/>
            <a:ext cx="4964430" cy="5469890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20"/>
              </a:spcBef>
              <a:buClr>
                <a:srgbClr val="009999"/>
              </a:buClr>
              <a:buSzPct val="6363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200" spc="-40" dirty="0">
                <a:latin typeface="Arial"/>
                <a:cs typeface="Arial"/>
              </a:rPr>
              <a:t>Valid</a:t>
            </a:r>
            <a:r>
              <a:rPr sz="2200" spc="-5" dirty="0">
                <a:latin typeface="Arial"/>
                <a:cs typeface="Arial"/>
              </a:rPr>
              <a:t> conditions:</a:t>
            </a:r>
            <a:endParaRPr sz="2200">
              <a:latin typeface="Arial"/>
              <a:cs typeface="Arial"/>
            </a:endParaRPr>
          </a:p>
          <a:p>
            <a:pPr marL="683260" lvl="1" indent="-326390">
              <a:lnSpc>
                <a:spcPct val="100000"/>
              </a:lnSpc>
              <a:spcBef>
                <a:spcPts val="490"/>
              </a:spcBef>
              <a:buClr>
                <a:srgbClr val="4B6C4E"/>
              </a:buClr>
              <a:buSzPct val="60000"/>
              <a:buFont typeface="Wingdings"/>
              <a:buChar char=""/>
              <a:tabLst>
                <a:tab pos="682625" algn="l"/>
                <a:tab pos="683260" algn="l"/>
              </a:tabLst>
            </a:pPr>
            <a:r>
              <a:rPr sz="2000" b="1" dirty="0">
                <a:latin typeface="Arial"/>
                <a:cs typeface="Arial"/>
              </a:rPr>
              <a:t>Must be a </a:t>
            </a:r>
            <a:r>
              <a:rPr sz="2000" b="1" i="1" dirty="0">
                <a:solidFill>
                  <a:srgbClr val="0000FF"/>
                </a:solidFill>
                <a:latin typeface="Arial"/>
                <a:cs typeface="Arial"/>
              </a:rPr>
              <a:t>boolean</a:t>
            </a:r>
            <a:r>
              <a:rPr sz="2000" b="1" i="1" spc="-8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expression</a:t>
            </a:r>
            <a:endParaRPr sz="2000">
              <a:latin typeface="Arial"/>
              <a:cs typeface="Arial"/>
            </a:endParaRPr>
          </a:p>
          <a:p>
            <a:pPr marL="355600" marR="456565" indent="-342900">
              <a:lnSpc>
                <a:spcPct val="104200"/>
              </a:lnSpc>
              <a:spcBef>
                <a:spcPts val="335"/>
              </a:spcBef>
              <a:buClr>
                <a:srgbClr val="009999"/>
              </a:buClr>
              <a:buSzPct val="6363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200" b="1" spc="-5" dirty="0">
                <a:solidFill>
                  <a:srgbClr val="660066"/>
                </a:solidFill>
                <a:latin typeface="Courier New"/>
                <a:cs typeface="Courier New"/>
              </a:rPr>
              <a:t>while</a:t>
            </a:r>
            <a:r>
              <a:rPr sz="2200" b="1" spc="-620" dirty="0">
                <a:solidFill>
                  <a:srgbClr val="660066"/>
                </a:solidFill>
                <a:latin typeface="Courier New"/>
                <a:cs typeface="Courier New"/>
              </a:rPr>
              <a:t> </a:t>
            </a:r>
            <a:r>
              <a:rPr sz="2400" dirty="0">
                <a:latin typeface="Arial"/>
                <a:cs typeface="Arial"/>
              </a:rPr>
              <a:t>: </a:t>
            </a:r>
            <a:r>
              <a:rPr sz="2400" spc="-5" dirty="0">
                <a:latin typeface="Arial"/>
                <a:cs typeface="Arial"/>
              </a:rPr>
              <a:t>check condition before  executing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body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55"/>
              </a:spcBef>
              <a:buClr>
                <a:srgbClr val="009999"/>
              </a:buClr>
              <a:buSzPct val="6363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200" b="1" spc="-5" dirty="0">
                <a:solidFill>
                  <a:srgbClr val="660066"/>
                </a:solidFill>
                <a:latin typeface="Courier New"/>
                <a:cs typeface="Courier New"/>
              </a:rPr>
              <a:t>do-while</a:t>
            </a:r>
            <a:r>
              <a:rPr sz="2400" spc="-5" dirty="0">
                <a:latin typeface="Arial"/>
                <a:cs typeface="Arial"/>
              </a:rPr>
              <a:t>: execute body</a:t>
            </a:r>
            <a:r>
              <a:rPr sz="2400" spc="5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before</a:t>
            </a:r>
            <a:endParaRPr sz="24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  <a:spcBef>
                <a:spcPts val="125"/>
              </a:spcBef>
            </a:pPr>
            <a:r>
              <a:rPr sz="2400" spc="-5" dirty="0">
                <a:latin typeface="Arial"/>
                <a:cs typeface="Arial"/>
              </a:rPr>
              <a:t>condition</a:t>
            </a:r>
            <a:r>
              <a:rPr sz="2400" spc="1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checking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7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1980"/>
              </a:spcBef>
              <a:buClr>
                <a:srgbClr val="009999"/>
              </a:buClr>
              <a:buSzPct val="6363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200" b="1" dirty="0">
                <a:solidFill>
                  <a:srgbClr val="006FC0"/>
                </a:solidFill>
                <a:latin typeface="Courier New"/>
                <a:cs typeface="Courier New"/>
              </a:rPr>
              <a:t>A</a:t>
            </a:r>
            <a:r>
              <a:rPr sz="2400" dirty="0">
                <a:latin typeface="Arial"/>
                <a:cs typeface="Arial"/>
              </a:rPr>
              <a:t>: </a:t>
            </a:r>
            <a:r>
              <a:rPr sz="2400" spc="-5" dirty="0">
                <a:latin typeface="Arial"/>
                <a:cs typeface="Arial"/>
              </a:rPr>
              <a:t>initialization </a:t>
            </a:r>
            <a:r>
              <a:rPr sz="2400" dirty="0">
                <a:latin typeface="Arial"/>
                <a:cs typeface="Arial"/>
              </a:rPr>
              <a:t>(e.g. </a:t>
            </a:r>
            <a:r>
              <a:rPr sz="2200" b="1" spc="-5" dirty="0">
                <a:latin typeface="Courier New"/>
                <a:cs typeface="Courier New"/>
              </a:rPr>
              <a:t>i =</a:t>
            </a:r>
            <a:r>
              <a:rPr sz="2200" b="1" spc="40" dirty="0">
                <a:latin typeface="Courier New"/>
                <a:cs typeface="Courier New"/>
              </a:rPr>
              <a:t> </a:t>
            </a:r>
            <a:r>
              <a:rPr sz="2200" b="1" spc="-5" dirty="0">
                <a:latin typeface="Courier New"/>
                <a:cs typeface="Courier New"/>
              </a:rPr>
              <a:t>0</a:t>
            </a:r>
            <a:r>
              <a:rPr sz="2400" spc="-5" dirty="0">
                <a:latin typeface="Arial"/>
                <a:cs typeface="Arial"/>
              </a:rPr>
              <a:t>)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80"/>
              </a:spcBef>
              <a:buClr>
                <a:srgbClr val="009999"/>
              </a:buClr>
              <a:buSzPct val="6363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200" b="1" spc="-5" dirty="0">
                <a:solidFill>
                  <a:srgbClr val="006600"/>
                </a:solidFill>
                <a:latin typeface="Courier New"/>
                <a:cs typeface="Courier New"/>
              </a:rPr>
              <a:t>B</a:t>
            </a:r>
            <a:r>
              <a:rPr sz="2400" spc="-5" dirty="0">
                <a:latin typeface="Arial"/>
                <a:cs typeface="Arial"/>
              </a:rPr>
              <a:t>: condition </a:t>
            </a:r>
            <a:r>
              <a:rPr sz="2400" dirty="0">
                <a:latin typeface="Arial"/>
                <a:cs typeface="Arial"/>
              </a:rPr>
              <a:t>(e.g. </a:t>
            </a:r>
            <a:r>
              <a:rPr sz="2200" b="1" spc="-5" dirty="0">
                <a:latin typeface="Courier New"/>
                <a:cs typeface="Courier New"/>
              </a:rPr>
              <a:t>i &lt;</a:t>
            </a:r>
            <a:r>
              <a:rPr sz="2200" b="1" spc="25" dirty="0">
                <a:latin typeface="Courier New"/>
                <a:cs typeface="Courier New"/>
              </a:rPr>
              <a:t> </a:t>
            </a:r>
            <a:r>
              <a:rPr sz="2200" b="1" spc="-5" dirty="0">
                <a:latin typeface="Courier New"/>
                <a:cs typeface="Courier New"/>
              </a:rPr>
              <a:t>10</a:t>
            </a:r>
            <a:r>
              <a:rPr sz="2400" spc="-5" dirty="0">
                <a:latin typeface="Arial"/>
                <a:cs typeface="Arial"/>
              </a:rPr>
              <a:t>)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Clr>
                <a:srgbClr val="009999"/>
              </a:buClr>
              <a:buSzPct val="6363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200" b="1" spc="-5" dirty="0">
                <a:solidFill>
                  <a:srgbClr val="FF0000"/>
                </a:solidFill>
                <a:latin typeface="Courier New"/>
                <a:cs typeface="Courier New"/>
              </a:rPr>
              <a:t>C</a:t>
            </a:r>
            <a:r>
              <a:rPr sz="2400" spc="-5" dirty="0">
                <a:latin typeface="Arial"/>
                <a:cs typeface="Arial"/>
              </a:rPr>
              <a:t>: update </a:t>
            </a:r>
            <a:r>
              <a:rPr sz="2400" dirty="0">
                <a:latin typeface="Arial"/>
                <a:cs typeface="Arial"/>
              </a:rPr>
              <a:t>(e.g. </a:t>
            </a:r>
            <a:r>
              <a:rPr sz="2200" b="1" spc="-5" dirty="0">
                <a:latin typeface="Courier New"/>
                <a:cs typeface="Courier New"/>
              </a:rPr>
              <a:t>i++</a:t>
            </a:r>
            <a:r>
              <a:rPr sz="2400" spc="-5" dirty="0">
                <a:latin typeface="Arial"/>
                <a:cs typeface="Arial"/>
              </a:rPr>
              <a:t>)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700"/>
              </a:spcBef>
              <a:buClr>
                <a:srgbClr val="009999"/>
              </a:buClr>
              <a:buSzPct val="64583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400" spc="-5" dirty="0">
                <a:latin typeface="Arial"/>
                <a:cs typeface="Arial"/>
              </a:rPr>
              <a:t>Any </a:t>
            </a:r>
            <a:r>
              <a:rPr sz="2400" dirty="0">
                <a:latin typeface="Arial"/>
                <a:cs typeface="Arial"/>
              </a:rPr>
              <a:t>of the </a:t>
            </a:r>
            <a:r>
              <a:rPr sz="2400" spc="-5" dirty="0">
                <a:latin typeface="Arial"/>
                <a:cs typeface="Arial"/>
              </a:rPr>
              <a:t>above can be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empty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ts val="2790"/>
              </a:lnSpc>
              <a:spcBef>
                <a:spcPts val="575"/>
              </a:spcBef>
              <a:buClr>
                <a:srgbClr val="009999"/>
              </a:buClr>
              <a:buSzPct val="64583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400" spc="-5" dirty="0">
                <a:latin typeface="Arial"/>
                <a:cs typeface="Arial"/>
              </a:rPr>
              <a:t>Execution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order:</a:t>
            </a:r>
            <a:endParaRPr sz="2400">
              <a:latin typeface="Arial"/>
              <a:cs typeface="Arial"/>
            </a:endParaRPr>
          </a:p>
          <a:p>
            <a:pPr marL="683260" lvl="1" indent="-326390">
              <a:lnSpc>
                <a:spcPts val="2310"/>
              </a:lnSpc>
              <a:buClr>
                <a:srgbClr val="4B6C4E"/>
              </a:buClr>
              <a:buSzPct val="60000"/>
              <a:buFont typeface="Wingdings"/>
              <a:buChar char=""/>
              <a:tabLst>
                <a:tab pos="682625" algn="l"/>
                <a:tab pos="683260" algn="l"/>
              </a:tabLst>
            </a:pPr>
            <a:r>
              <a:rPr sz="2000" b="1" spc="-5" dirty="0">
                <a:solidFill>
                  <a:srgbClr val="006FC0"/>
                </a:solidFill>
                <a:latin typeface="Courier New"/>
                <a:cs typeface="Courier New"/>
              </a:rPr>
              <a:t>A</a:t>
            </a:r>
            <a:r>
              <a:rPr sz="2000" b="1" spc="-5" dirty="0">
                <a:latin typeface="Courier New"/>
                <a:cs typeface="Courier New"/>
              </a:rPr>
              <a:t>, </a:t>
            </a:r>
            <a:r>
              <a:rPr sz="2000" b="1" spc="-5" dirty="0">
                <a:solidFill>
                  <a:srgbClr val="006600"/>
                </a:solidFill>
                <a:latin typeface="Courier New"/>
                <a:cs typeface="Courier New"/>
              </a:rPr>
              <a:t>B</a:t>
            </a:r>
            <a:r>
              <a:rPr sz="2000" b="1" spc="-5" dirty="0">
                <a:latin typeface="Courier New"/>
                <a:cs typeface="Courier New"/>
              </a:rPr>
              <a:t>, body, </a:t>
            </a:r>
            <a:r>
              <a:rPr sz="2000" b="1" spc="-5" dirty="0">
                <a:solidFill>
                  <a:srgbClr val="FF0000"/>
                </a:solidFill>
                <a:latin typeface="Courier New"/>
                <a:cs typeface="Courier New"/>
              </a:rPr>
              <a:t>C</a:t>
            </a:r>
            <a:r>
              <a:rPr sz="2000" b="1" spc="-5" dirty="0">
                <a:latin typeface="Courier New"/>
                <a:cs typeface="Courier New"/>
              </a:rPr>
              <a:t>, </a:t>
            </a:r>
            <a:r>
              <a:rPr sz="2000" b="1" spc="-5" dirty="0">
                <a:solidFill>
                  <a:srgbClr val="006600"/>
                </a:solidFill>
                <a:latin typeface="Courier New"/>
                <a:cs typeface="Courier New"/>
              </a:rPr>
              <a:t>B</a:t>
            </a:r>
            <a:r>
              <a:rPr sz="2000" b="1" spc="-5" dirty="0">
                <a:latin typeface="Courier New"/>
                <a:cs typeface="Courier New"/>
              </a:rPr>
              <a:t>, body, </a:t>
            </a:r>
            <a:r>
              <a:rPr sz="2000" b="1" spc="-5" dirty="0">
                <a:solidFill>
                  <a:srgbClr val="FF0000"/>
                </a:solidFill>
                <a:latin typeface="Courier New"/>
                <a:cs typeface="Courier New"/>
              </a:rPr>
              <a:t>C</a:t>
            </a:r>
            <a:r>
              <a:rPr sz="2000" b="1" spc="-5" dirty="0">
                <a:latin typeface="Courier New"/>
                <a:cs typeface="Courier New"/>
              </a:rPr>
              <a:t>,</a:t>
            </a:r>
            <a:r>
              <a:rPr sz="2000" b="1" spc="-2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…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7200" y="1219200"/>
            <a:ext cx="2590800" cy="1005840"/>
          </a:xfrm>
          <a:prstGeom prst="rect">
            <a:avLst/>
          </a:prstGeom>
          <a:solidFill>
            <a:srgbClr val="FFFFCC"/>
          </a:solidFill>
          <a:ln w="9144">
            <a:solidFill>
              <a:srgbClr val="85AA87"/>
            </a:solidFill>
          </a:ln>
        </p:spPr>
        <p:txBody>
          <a:bodyPr vert="horz" wrap="square" lIns="0" tIns="1587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25"/>
              </a:spcBef>
            </a:pPr>
            <a:r>
              <a:rPr sz="2000" b="1" spc="-5" dirty="0">
                <a:solidFill>
                  <a:srgbClr val="0000FF"/>
                </a:solidFill>
                <a:latin typeface="Courier New"/>
                <a:cs typeface="Courier New"/>
              </a:rPr>
              <a:t>while </a:t>
            </a:r>
            <a:r>
              <a:rPr sz="2000" b="1" spc="-5" dirty="0">
                <a:latin typeface="Courier New"/>
                <a:cs typeface="Courier New"/>
              </a:rPr>
              <a:t>(a </a:t>
            </a:r>
            <a:r>
              <a:rPr sz="2000" b="1" dirty="0">
                <a:latin typeface="Courier New"/>
                <a:cs typeface="Courier New"/>
              </a:rPr>
              <a:t>&gt; </a:t>
            </a:r>
            <a:r>
              <a:rPr sz="2000" b="1" spc="-5" dirty="0">
                <a:latin typeface="Courier New"/>
                <a:cs typeface="Courier New"/>
              </a:rPr>
              <a:t>b)</a:t>
            </a:r>
            <a:r>
              <a:rPr sz="2000" b="1" spc="-5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  <a:p>
            <a:pPr marL="548640">
              <a:lnSpc>
                <a:spcPct val="100000"/>
              </a:lnSpc>
            </a:pPr>
            <a:r>
              <a:rPr sz="2000" b="1" dirty="0">
                <a:latin typeface="Courier New"/>
                <a:cs typeface="Courier New"/>
              </a:rPr>
              <a:t>...</a:t>
            </a:r>
            <a:r>
              <a:rPr sz="2000" b="1" spc="-25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//body</a:t>
            </a:r>
            <a:endParaRPr sz="2000">
              <a:latin typeface="Courier New"/>
              <a:cs typeface="Courier New"/>
            </a:endParaRPr>
          </a:p>
          <a:p>
            <a:pPr marL="91440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7200" y="2590800"/>
            <a:ext cx="2667000" cy="1005840"/>
          </a:xfrm>
          <a:prstGeom prst="rect">
            <a:avLst/>
          </a:prstGeom>
          <a:solidFill>
            <a:srgbClr val="FFFFCC"/>
          </a:solidFill>
          <a:ln w="9144">
            <a:solidFill>
              <a:srgbClr val="85AA87"/>
            </a:solidFill>
          </a:ln>
        </p:spPr>
        <p:txBody>
          <a:bodyPr vert="horz" wrap="square" lIns="0" tIns="16510" rIns="0" bIns="0" rtlCol="0">
            <a:spAutoFit/>
          </a:bodyPr>
          <a:lstStyle/>
          <a:p>
            <a:pPr marR="1865630" algn="ctr">
              <a:lnSpc>
                <a:spcPct val="100000"/>
              </a:lnSpc>
              <a:spcBef>
                <a:spcPts val="130"/>
              </a:spcBef>
            </a:pPr>
            <a:r>
              <a:rPr sz="2000" b="1" dirty="0">
                <a:solidFill>
                  <a:srgbClr val="0000FF"/>
                </a:solidFill>
                <a:latin typeface="Courier New"/>
                <a:cs typeface="Courier New"/>
              </a:rPr>
              <a:t>do</a:t>
            </a:r>
            <a:r>
              <a:rPr sz="2000" b="1" spc="-6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  <a:p>
            <a:pPr marR="37465" algn="ctr">
              <a:lnSpc>
                <a:spcPct val="100000"/>
              </a:lnSpc>
            </a:pPr>
            <a:r>
              <a:rPr sz="2000" b="1" spc="-5" dirty="0">
                <a:latin typeface="Courier New"/>
                <a:cs typeface="Courier New"/>
              </a:rPr>
              <a:t>...</a:t>
            </a:r>
            <a:r>
              <a:rPr sz="2000" b="1" spc="-25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//body</a:t>
            </a:r>
            <a:endParaRPr sz="2000">
              <a:latin typeface="Courier New"/>
              <a:cs typeface="Courier New"/>
            </a:endParaRPr>
          </a:p>
          <a:p>
            <a:pPr marR="37465" algn="ctr">
              <a:lnSpc>
                <a:spcPct val="100000"/>
              </a:lnSpc>
            </a:pPr>
            <a:r>
              <a:rPr sz="2000" b="1" dirty="0">
                <a:latin typeface="Courier New"/>
                <a:cs typeface="Courier New"/>
              </a:rPr>
              <a:t>} </a:t>
            </a:r>
            <a:r>
              <a:rPr sz="2000" b="1" spc="-5" dirty="0">
                <a:solidFill>
                  <a:srgbClr val="0000FF"/>
                </a:solidFill>
                <a:latin typeface="Courier New"/>
                <a:cs typeface="Courier New"/>
              </a:rPr>
              <a:t>while </a:t>
            </a:r>
            <a:r>
              <a:rPr sz="2000" b="1" spc="-5" dirty="0">
                <a:latin typeface="Courier New"/>
                <a:cs typeface="Courier New"/>
              </a:rPr>
              <a:t>(a </a:t>
            </a:r>
            <a:r>
              <a:rPr sz="2000" b="1" dirty="0">
                <a:latin typeface="Courier New"/>
                <a:cs typeface="Courier New"/>
              </a:rPr>
              <a:t>&gt;</a:t>
            </a:r>
            <a:r>
              <a:rPr sz="2000" b="1" spc="-75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b);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7200" y="4572000"/>
            <a:ext cx="2590800" cy="1005840"/>
          </a:xfrm>
          <a:prstGeom prst="rect">
            <a:avLst/>
          </a:prstGeom>
          <a:solidFill>
            <a:srgbClr val="FFFFCC"/>
          </a:solidFill>
          <a:ln w="9144">
            <a:solidFill>
              <a:srgbClr val="85AA87"/>
            </a:solidFill>
          </a:ln>
        </p:spPr>
        <p:txBody>
          <a:bodyPr vert="horz" wrap="square" lIns="0" tIns="1651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30"/>
              </a:spcBef>
            </a:pPr>
            <a:r>
              <a:rPr sz="2000" b="1" spc="-5" dirty="0">
                <a:solidFill>
                  <a:srgbClr val="0000FF"/>
                </a:solidFill>
                <a:latin typeface="Courier New"/>
                <a:cs typeface="Courier New"/>
              </a:rPr>
              <a:t>for </a:t>
            </a:r>
            <a:r>
              <a:rPr sz="2000" b="1" spc="-5" dirty="0">
                <a:latin typeface="Courier New"/>
                <a:cs typeface="Courier New"/>
              </a:rPr>
              <a:t>(</a:t>
            </a:r>
            <a:r>
              <a:rPr sz="2000" b="1" spc="-5" dirty="0">
                <a:solidFill>
                  <a:srgbClr val="006FC0"/>
                </a:solidFill>
                <a:latin typeface="Courier New"/>
                <a:cs typeface="Courier New"/>
              </a:rPr>
              <a:t>A</a:t>
            </a:r>
            <a:r>
              <a:rPr sz="2000" b="1" spc="-5" dirty="0">
                <a:latin typeface="Courier New"/>
                <a:cs typeface="Courier New"/>
              </a:rPr>
              <a:t>; </a:t>
            </a:r>
            <a:r>
              <a:rPr sz="2000" b="1" spc="-5" dirty="0">
                <a:solidFill>
                  <a:srgbClr val="006600"/>
                </a:solidFill>
                <a:latin typeface="Courier New"/>
                <a:cs typeface="Courier New"/>
              </a:rPr>
              <a:t>B</a:t>
            </a:r>
            <a:r>
              <a:rPr sz="2000" b="1" spc="-5" dirty="0">
                <a:latin typeface="Courier New"/>
                <a:cs typeface="Courier New"/>
              </a:rPr>
              <a:t>; </a:t>
            </a:r>
            <a:r>
              <a:rPr sz="2000" b="1" spc="-5" dirty="0">
                <a:solidFill>
                  <a:srgbClr val="FF0000"/>
                </a:solidFill>
                <a:latin typeface="Courier New"/>
                <a:cs typeface="Courier New"/>
              </a:rPr>
              <a:t>C</a:t>
            </a:r>
            <a:r>
              <a:rPr sz="2000" b="1" spc="-5" dirty="0">
                <a:latin typeface="Courier New"/>
                <a:cs typeface="Courier New"/>
              </a:rPr>
              <a:t>)</a:t>
            </a:r>
            <a:r>
              <a:rPr sz="2000" b="1" spc="-4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  <a:p>
            <a:pPr marL="548640">
              <a:lnSpc>
                <a:spcPct val="100000"/>
              </a:lnSpc>
            </a:pPr>
            <a:r>
              <a:rPr sz="2000" b="1" spc="-5" dirty="0">
                <a:latin typeface="Courier New"/>
                <a:cs typeface="Courier New"/>
              </a:rPr>
              <a:t>...</a:t>
            </a:r>
            <a:r>
              <a:rPr sz="2000" b="1" spc="-25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//body</a:t>
            </a:r>
            <a:endParaRPr sz="2000">
              <a:latin typeface="Courier New"/>
              <a:cs typeface="Courier New"/>
            </a:endParaRPr>
          </a:p>
          <a:p>
            <a:pPr marL="91440">
              <a:lnSpc>
                <a:spcPct val="100000"/>
              </a:lnSpc>
            </a:pPr>
            <a:r>
              <a:rPr sz="2000" b="1" dirty="0"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57200" y="3886200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600" y="0"/>
                </a:lnTo>
              </a:path>
            </a:pathLst>
          </a:custGeom>
          <a:ln w="12192">
            <a:solidFill>
              <a:srgbClr val="009999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70051" y="6449696"/>
            <a:ext cx="8420735" cy="3448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89"/>
              </a:lnSpc>
              <a:tabLst>
                <a:tab pos="1996439" algn="l"/>
                <a:tab pos="8046720" algn="l"/>
              </a:tabLst>
            </a:pPr>
            <a:r>
              <a:rPr sz="800" dirty="0">
                <a:solidFill>
                  <a:srgbClr val="003399"/>
                </a:solidFill>
                <a:latin typeface="Arial Black"/>
                <a:cs typeface="Arial Black"/>
              </a:rPr>
              <a:t>[501043 Lecture 1: Intro</a:t>
            </a:r>
            <a:r>
              <a:rPr sz="800" spc="-65" dirty="0">
                <a:solidFill>
                  <a:srgbClr val="003399"/>
                </a:solidFill>
                <a:latin typeface="Arial Black"/>
                <a:cs typeface="Arial Black"/>
              </a:rPr>
              <a:t> </a:t>
            </a:r>
            <a:r>
              <a:rPr sz="800" dirty="0">
                <a:solidFill>
                  <a:srgbClr val="003399"/>
                </a:solidFill>
                <a:latin typeface="Arial Black"/>
                <a:cs typeface="Arial Black"/>
              </a:rPr>
              <a:t>to</a:t>
            </a:r>
            <a:r>
              <a:rPr sz="800" spc="-10" dirty="0">
                <a:solidFill>
                  <a:srgbClr val="003399"/>
                </a:solidFill>
                <a:latin typeface="Arial Black"/>
                <a:cs typeface="Arial Black"/>
              </a:rPr>
              <a:t> </a:t>
            </a:r>
            <a:r>
              <a:rPr sz="800" dirty="0">
                <a:solidFill>
                  <a:srgbClr val="003399"/>
                </a:solidFill>
                <a:latin typeface="Arial Black"/>
                <a:cs typeface="Arial Black"/>
              </a:rPr>
              <a:t>Java]	</a:t>
            </a:r>
            <a:r>
              <a:rPr sz="800" u="heavy" dirty="0">
                <a:solidFill>
                  <a:srgbClr val="003399"/>
                </a:solidFill>
                <a:uFill>
                  <a:solidFill>
                    <a:srgbClr val="009999"/>
                  </a:solidFill>
                </a:uFill>
                <a:latin typeface="Arial Black"/>
                <a:cs typeface="Arial Black"/>
              </a:rPr>
              <a:t> 	</a:t>
            </a:r>
            <a:r>
              <a:rPr sz="1600" b="1" i="1" spc="-5" dirty="0">
                <a:solidFill>
                  <a:srgbClr val="C00000"/>
                </a:solidFill>
                <a:latin typeface="Arial"/>
                <a:cs typeface="Arial"/>
              </a:rPr>
              <a:t>34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248158"/>
            <a:ext cx="65201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5" dirty="0">
                <a:solidFill>
                  <a:srgbClr val="C00000"/>
                </a:solidFill>
              </a:rPr>
              <a:t>4.2 </a:t>
            </a:r>
            <a:r>
              <a:rPr spc="-70" dirty="0"/>
              <a:t>Repetition </a:t>
            </a:r>
            <a:r>
              <a:rPr spc="-60" dirty="0"/>
              <a:t>Statements</a:t>
            </a:r>
            <a:r>
              <a:rPr spc="-90" dirty="0"/>
              <a:t> </a:t>
            </a:r>
            <a:r>
              <a:rPr spc="60" dirty="0"/>
              <a:t>(2/2)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70051" y="6449696"/>
            <a:ext cx="8420735" cy="3448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89"/>
              </a:lnSpc>
              <a:tabLst>
                <a:tab pos="1996439" algn="l"/>
                <a:tab pos="8046720" algn="l"/>
              </a:tabLst>
            </a:pPr>
            <a:r>
              <a:rPr sz="800" dirty="0">
                <a:solidFill>
                  <a:srgbClr val="003399"/>
                </a:solidFill>
                <a:latin typeface="Arial Black"/>
                <a:cs typeface="Arial Black"/>
              </a:rPr>
              <a:t>[501043 Lecture 1: Intro</a:t>
            </a:r>
            <a:r>
              <a:rPr sz="800" spc="-65" dirty="0">
                <a:solidFill>
                  <a:srgbClr val="003399"/>
                </a:solidFill>
                <a:latin typeface="Arial Black"/>
                <a:cs typeface="Arial Black"/>
              </a:rPr>
              <a:t> </a:t>
            </a:r>
            <a:r>
              <a:rPr sz="800" dirty="0">
                <a:solidFill>
                  <a:srgbClr val="003399"/>
                </a:solidFill>
                <a:latin typeface="Arial Black"/>
                <a:cs typeface="Arial Black"/>
              </a:rPr>
              <a:t>to</a:t>
            </a:r>
            <a:r>
              <a:rPr sz="800" spc="-10" dirty="0">
                <a:solidFill>
                  <a:srgbClr val="003399"/>
                </a:solidFill>
                <a:latin typeface="Arial Black"/>
                <a:cs typeface="Arial Black"/>
              </a:rPr>
              <a:t> </a:t>
            </a:r>
            <a:r>
              <a:rPr sz="800" dirty="0">
                <a:solidFill>
                  <a:srgbClr val="003399"/>
                </a:solidFill>
                <a:latin typeface="Arial Black"/>
                <a:cs typeface="Arial Black"/>
              </a:rPr>
              <a:t>Java]	</a:t>
            </a:r>
            <a:r>
              <a:rPr sz="800" u="heavy" dirty="0">
                <a:solidFill>
                  <a:srgbClr val="003399"/>
                </a:solidFill>
                <a:uFill>
                  <a:solidFill>
                    <a:srgbClr val="009999"/>
                  </a:solidFill>
                </a:uFill>
                <a:latin typeface="Arial Black"/>
                <a:cs typeface="Arial Black"/>
              </a:rPr>
              <a:t> 	</a:t>
            </a:r>
            <a:r>
              <a:rPr sz="1600" b="1" i="1" spc="-5" dirty="0">
                <a:solidFill>
                  <a:srgbClr val="C00000"/>
                </a:solidFill>
                <a:latin typeface="Arial"/>
                <a:cs typeface="Arial"/>
              </a:rPr>
              <a:t>35</a:t>
            </a:r>
            <a:endParaRPr sz="1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2140" y="1168654"/>
            <a:ext cx="739013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95"/>
              </a:spcBef>
              <a:buClr>
                <a:srgbClr val="009999"/>
              </a:buClr>
              <a:buSzPct val="63636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200" spc="-5" dirty="0">
                <a:latin typeface="Arial"/>
                <a:cs typeface="Arial"/>
              </a:rPr>
              <a:t>In ANSI C, the loop variable must be declared before it</a:t>
            </a:r>
            <a:r>
              <a:rPr sz="2200" spc="25" dirty="0">
                <a:latin typeface="Arial"/>
                <a:cs typeface="Arial"/>
              </a:rPr>
              <a:t> </a:t>
            </a:r>
            <a:r>
              <a:rPr sz="2200" spc="-5" dirty="0">
                <a:latin typeface="Arial"/>
                <a:cs typeface="Arial"/>
              </a:rPr>
              <a:t>is</a:t>
            </a:r>
            <a:endParaRPr sz="22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</a:pPr>
            <a:r>
              <a:rPr sz="2200" spc="-5" dirty="0">
                <a:latin typeface="Arial"/>
                <a:cs typeface="Arial"/>
              </a:rPr>
              <a:t>used in a </a:t>
            </a:r>
            <a:r>
              <a:rPr sz="2200" spc="15" dirty="0">
                <a:latin typeface="Arial"/>
                <a:cs typeface="Arial"/>
              </a:rPr>
              <a:t>‘for’</a:t>
            </a:r>
            <a:r>
              <a:rPr sz="2200" spc="-75" dirty="0">
                <a:latin typeface="Arial"/>
                <a:cs typeface="Arial"/>
              </a:rPr>
              <a:t> </a:t>
            </a:r>
            <a:r>
              <a:rPr sz="2200" spc="-5" dirty="0">
                <a:latin typeface="Arial"/>
                <a:cs typeface="Arial"/>
              </a:rPr>
              <a:t>loop</a:t>
            </a:r>
            <a:endParaRPr sz="2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438400" y="1981200"/>
            <a:ext cx="4267200" cy="1323340"/>
          </a:xfrm>
          <a:prstGeom prst="rect">
            <a:avLst/>
          </a:prstGeom>
          <a:solidFill>
            <a:srgbClr val="FFFFCC"/>
          </a:solidFill>
          <a:ln w="9144">
            <a:solidFill>
              <a:srgbClr val="85AA87"/>
            </a:solidFill>
          </a:ln>
        </p:spPr>
        <p:txBody>
          <a:bodyPr vert="horz" wrap="square" lIns="0" tIns="1651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30"/>
              </a:spcBef>
            </a:pPr>
            <a:r>
              <a:rPr sz="2000" b="1" spc="-5" dirty="0">
                <a:solidFill>
                  <a:srgbClr val="0000FF"/>
                </a:solidFill>
                <a:latin typeface="Courier New"/>
                <a:cs typeface="Courier New"/>
              </a:rPr>
              <a:t>int </a:t>
            </a:r>
            <a:r>
              <a:rPr sz="2000" b="1" spc="-5" dirty="0">
                <a:latin typeface="Courier New"/>
                <a:cs typeface="Courier New"/>
              </a:rPr>
              <a:t>i;</a:t>
            </a:r>
            <a:endParaRPr sz="2000">
              <a:latin typeface="Courier New"/>
              <a:cs typeface="Courier New"/>
            </a:endParaRPr>
          </a:p>
          <a:p>
            <a:pPr marL="91440">
              <a:lnSpc>
                <a:spcPct val="100000"/>
              </a:lnSpc>
            </a:pPr>
            <a:r>
              <a:rPr sz="2000" b="1" spc="-5" dirty="0">
                <a:solidFill>
                  <a:srgbClr val="0000FF"/>
                </a:solidFill>
                <a:latin typeface="Courier New"/>
                <a:cs typeface="Courier New"/>
              </a:rPr>
              <a:t>for </a:t>
            </a:r>
            <a:r>
              <a:rPr sz="2000" b="1" spc="-5" dirty="0">
                <a:latin typeface="Courier New"/>
                <a:cs typeface="Courier New"/>
              </a:rPr>
              <a:t>(i=</a:t>
            </a:r>
            <a:r>
              <a:rPr sz="2000" b="1" spc="-5" dirty="0">
                <a:solidFill>
                  <a:srgbClr val="006600"/>
                </a:solidFill>
                <a:latin typeface="Courier New"/>
                <a:cs typeface="Courier New"/>
              </a:rPr>
              <a:t>0</a:t>
            </a:r>
            <a:r>
              <a:rPr sz="2000" b="1" spc="-5" dirty="0">
                <a:latin typeface="Courier New"/>
                <a:cs typeface="Courier New"/>
              </a:rPr>
              <a:t>; i&lt;</a:t>
            </a:r>
            <a:r>
              <a:rPr sz="2000" b="1" spc="-5" dirty="0">
                <a:solidFill>
                  <a:srgbClr val="006600"/>
                </a:solidFill>
                <a:latin typeface="Courier New"/>
                <a:cs typeface="Courier New"/>
              </a:rPr>
              <a:t>10</a:t>
            </a:r>
            <a:r>
              <a:rPr sz="2000" b="1" spc="-5" dirty="0">
                <a:latin typeface="Courier New"/>
                <a:cs typeface="Courier New"/>
              </a:rPr>
              <a:t>; i++)</a:t>
            </a:r>
            <a:r>
              <a:rPr sz="2000" b="1" spc="-2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  <a:p>
            <a:pPr marL="549275">
              <a:lnSpc>
                <a:spcPct val="100000"/>
              </a:lnSpc>
            </a:pPr>
            <a:r>
              <a:rPr sz="2000" b="1" spc="-5" dirty="0">
                <a:latin typeface="Courier New"/>
                <a:cs typeface="Courier New"/>
              </a:rPr>
              <a:t>...</a:t>
            </a:r>
            <a:endParaRPr sz="2000">
              <a:latin typeface="Courier New"/>
              <a:cs typeface="Courier New"/>
            </a:endParaRPr>
          </a:p>
          <a:p>
            <a:pPr marL="91440">
              <a:lnSpc>
                <a:spcPct val="100000"/>
              </a:lnSpc>
            </a:pPr>
            <a:r>
              <a:rPr sz="2000" b="1" dirty="0"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2140" y="3607689"/>
            <a:ext cx="7911465" cy="14338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95"/>
              </a:spcBef>
              <a:buClr>
                <a:srgbClr val="009999"/>
              </a:buClr>
              <a:buSzPct val="63636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200" spc="-5" dirty="0">
                <a:latin typeface="Arial"/>
                <a:cs typeface="Arial"/>
              </a:rPr>
              <a:t>In Java, the loop variable may be declared in the</a:t>
            </a:r>
            <a:r>
              <a:rPr sz="2200" spc="220" dirty="0">
                <a:latin typeface="Arial"/>
                <a:cs typeface="Arial"/>
              </a:rPr>
              <a:t> </a:t>
            </a:r>
            <a:r>
              <a:rPr sz="2200" spc="-5" dirty="0">
                <a:latin typeface="Arial"/>
                <a:cs typeface="Arial"/>
              </a:rPr>
              <a:t>initialisation</a:t>
            </a:r>
            <a:endParaRPr sz="22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</a:pPr>
            <a:r>
              <a:rPr sz="2200" spc="-5" dirty="0">
                <a:latin typeface="Arial"/>
                <a:cs typeface="Arial"/>
              </a:rPr>
              <a:t>part of the </a:t>
            </a:r>
            <a:r>
              <a:rPr sz="2200" spc="10" dirty="0">
                <a:latin typeface="Arial"/>
                <a:cs typeface="Arial"/>
              </a:rPr>
              <a:t>‘for’</a:t>
            </a:r>
            <a:r>
              <a:rPr sz="2200" spc="-65" dirty="0">
                <a:latin typeface="Arial"/>
                <a:cs typeface="Arial"/>
              </a:rPr>
              <a:t> </a:t>
            </a:r>
            <a:r>
              <a:rPr sz="2200" spc="-5" dirty="0">
                <a:latin typeface="Arial"/>
                <a:cs typeface="Arial"/>
              </a:rPr>
              <a:t>loop</a:t>
            </a:r>
            <a:endParaRPr sz="2200">
              <a:latin typeface="Arial"/>
              <a:cs typeface="Arial"/>
            </a:endParaRPr>
          </a:p>
          <a:p>
            <a:pPr marL="355600" marR="327025" indent="-343535">
              <a:lnSpc>
                <a:spcPct val="105500"/>
              </a:lnSpc>
              <a:spcBef>
                <a:spcPts val="240"/>
              </a:spcBef>
              <a:buClr>
                <a:srgbClr val="009999"/>
              </a:buClr>
              <a:buSzPct val="63636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200" spc="-5" dirty="0">
                <a:latin typeface="Arial"/>
                <a:cs typeface="Arial"/>
              </a:rPr>
              <a:t>In example </a:t>
            </a:r>
            <a:r>
              <a:rPr sz="2200" spc="-25" dirty="0">
                <a:latin typeface="Arial"/>
                <a:cs typeface="Arial"/>
              </a:rPr>
              <a:t>below, </a:t>
            </a:r>
            <a:r>
              <a:rPr sz="2200" spc="-5" dirty="0">
                <a:latin typeface="Arial"/>
                <a:cs typeface="Arial"/>
              </a:rPr>
              <a:t>the scope of variable </a:t>
            </a:r>
            <a:r>
              <a:rPr sz="2200" b="1" spc="-5" dirty="0">
                <a:latin typeface="Courier New"/>
                <a:cs typeface="Courier New"/>
              </a:rPr>
              <a:t>i</a:t>
            </a:r>
            <a:r>
              <a:rPr sz="2200" b="1" spc="-535" dirty="0">
                <a:latin typeface="Courier New"/>
                <a:cs typeface="Courier New"/>
              </a:rPr>
              <a:t> </a:t>
            </a:r>
            <a:r>
              <a:rPr sz="2200" spc="-5" dirty="0">
                <a:latin typeface="Arial"/>
                <a:cs typeface="Arial"/>
              </a:rPr>
              <a:t>is within the </a:t>
            </a:r>
            <a:r>
              <a:rPr sz="2200" spc="10" dirty="0">
                <a:latin typeface="Arial"/>
                <a:cs typeface="Arial"/>
              </a:rPr>
              <a:t>‘for’  </a:t>
            </a:r>
            <a:r>
              <a:rPr sz="2200" spc="-5" dirty="0">
                <a:latin typeface="Arial"/>
                <a:cs typeface="Arial"/>
              </a:rPr>
              <a:t>loop only</a:t>
            </a:r>
            <a:endParaRPr sz="2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438400" y="5105400"/>
            <a:ext cx="4267200" cy="1015365"/>
          </a:xfrm>
          <a:prstGeom prst="rect">
            <a:avLst/>
          </a:prstGeom>
          <a:solidFill>
            <a:srgbClr val="FFFFCC"/>
          </a:solidFill>
          <a:ln w="9144">
            <a:solidFill>
              <a:srgbClr val="85AA87"/>
            </a:solidFill>
          </a:ln>
        </p:spPr>
        <p:txBody>
          <a:bodyPr vert="horz" wrap="square" lIns="0" tIns="1651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30"/>
              </a:spcBef>
            </a:pPr>
            <a:r>
              <a:rPr sz="2000" b="1" dirty="0">
                <a:solidFill>
                  <a:srgbClr val="0000FF"/>
                </a:solidFill>
                <a:latin typeface="Courier New"/>
                <a:cs typeface="Courier New"/>
              </a:rPr>
              <a:t>for </a:t>
            </a:r>
            <a:r>
              <a:rPr sz="2000" b="1" dirty="0">
                <a:latin typeface="Courier New"/>
                <a:cs typeface="Courier New"/>
              </a:rPr>
              <a:t>(</a:t>
            </a:r>
            <a:r>
              <a:rPr sz="2000" b="1" dirty="0">
                <a:solidFill>
                  <a:srgbClr val="0000FF"/>
                </a:solidFill>
                <a:latin typeface="Courier New"/>
                <a:cs typeface="Courier New"/>
              </a:rPr>
              <a:t>int </a:t>
            </a:r>
            <a:r>
              <a:rPr sz="2000" b="1" dirty="0">
                <a:latin typeface="Courier New"/>
                <a:cs typeface="Courier New"/>
              </a:rPr>
              <a:t>i=</a:t>
            </a:r>
            <a:r>
              <a:rPr sz="2000" b="1" dirty="0">
                <a:solidFill>
                  <a:srgbClr val="006600"/>
                </a:solidFill>
                <a:latin typeface="Courier New"/>
                <a:cs typeface="Courier New"/>
              </a:rPr>
              <a:t>0</a:t>
            </a:r>
            <a:r>
              <a:rPr sz="2000" b="1" dirty="0">
                <a:latin typeface="Courier New"/>
                <a:cs typeface="Courier New"/>
              </a:rPr>
              <a:t>; </a:t>
            </a:r>
            <a:r>
              <a:rPr sz="2000" b="1" spc="-5" dirty="0">
                <a:latin typeface="Courier New"/>
                <a:cs typeface="Courier New"/>
              </a:rPr>
              <a:t>i&lt;</a:t>
            </a:r>
            <a:r>
              <a:rPr sz="2000" b="1" spc="-5" dirty="0">
                <a:solidFill>
                  <a:srgbClr val="006600"/>
                </a:solidFill>
                <a:latin typeface="Courier New"/>
                <a:cs typeface="Courier New"/>
              </a:rPr>
              <a:t>10</a:t>
            </a:r>
            <a:r>
              <a:rPr sz="2000" b="1" spc="-5" dirty="0">
                <a:latin typeface="Courier New"/>
                <a:cs typeface="Courier New"/>
              </a:rPr>
              <a:t>; </a:t>
            </a:r>
            <a:r>
              <a:rPr sz="2000" b="1" dirty="0">
                <a:latin typeface="Courier New"/>
                <a:cs typeface="Courier New"/>
              </a:rPr>
              <a:t>i++)</a:t>
            </a:r>
            <a:r>
              <a:rPr sz="2000" b="1" spc="-7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  <a:p>
            <a:pPr marL="549275">
              <a:lnSpc>
                <a:spcPct val="100000"/>
              </a:lnSpc>
              <a:spcBef>
                <a:spcPts val="5"/>
              </a:spcBef>
            </a:pPr>
            <a:r>
              <a:rPr sz="2000" b="1" spc="-5" dirty="0">
                <a:latin typeface="Courier New"/>
                <a:cs typeface="Courier New"/>
              </a:rPr>
              <a:t>...</a:t>
            </a:r>
            <a:endParaRPr sz="2000">
              <a:latin typeface="Courier New"/>
              <a:cs typeface="Courier New"/>
            </a:endParaRPr>
          </a:p>
          <a:p>
            <a:pPr marL="91440">
              <a:lnSpc>
                <a:spcPct val="100000"/>
              </a:lnSpc>
            </a:pPr>
            <a:r>
              <a:rPr sz="2000" b="1" dirty="0"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3444" y="1540890"/>
            <a:ext cx="573976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130" dirty="0">
                <a:solidFill>
                  <a:srgbClr val="C00000"/>
                </a:solidFill>
                <a:latin typeface="Trebuchet MS"/>
                <a:cs typeface="Trebuchet MS"/>
              </a:rPr>
              <a:t>4.3 </a:t>
            </a:r>
            <a:r>
              <a:rPr sz="4400" spc="110" dirty="0">
                <a:solidFill>
                  <a:srgbClr val="003399"/>
                </a:solidFill>
                <a:latin typeface="Trebuchet MS"/>
                <a:cs typeface="Trebuchet MS"/>
              </a:rPr>
              <a:t>Basic</a:t>
            </a:r>
            <a:r>
              <a:rPr sz="4400" spc="-170" dirty="0">
                <a:solidFill>
                  <a:srgbClr val="003399"/>
                </a:solidFill>
                <a:latin typeface="Trebuchet MS"/>
                <a:cs typeface="Trebuchet MS"/>
              </a:rPr>
              <a:t> </a:t>
            </a:r>
            <a:r>
              <a:rPr sz="4400" spc="-100" dirty="0">
                <a:solidFill>
                  <a:srgbClr val="003399"/>
                </a:solidFill>
                <a:latin typeface="Trebuchet MS"/>
                <a:cs typeface="Trebuchet MS"/>
              </a:rPr>
              <a:t>Input/Output</a:t>
            </a:r>
            <a:endParaRPr sz="44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60194" y="3970782"/>
            <a:ext cx="566928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" dirty="0">
                <a:latin typeface="Carlito"/>
                <a:cs typeface="Carlito"/>
              </a:rPr>
              <a:t>Interacting </a:t>
            </a:r>
            <a:r>
              <a:rPr sz="3200" dirty="0">
                <a:latin typeface="Carlito"/>
                <a:cs typeface="Carlito"/>
              </a:rPr>
              <a:t>with the </a:t>
            </a:r>
            <a:r>
              <a:rPr sz="3200" spc="-5" dirty="0">
                <a:latin typeface="Carlito"/>
                <a:cs typeface="Carlito"/>
              </a:rPr>
              <a:t>outside</a:t>
            </a:r>
            <a:r>
              <a:rPr sz="3200" spc="20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world</a:t>
            </a:r>
            <a:endParaRPr sz="3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248158"/>
            <a:ext cx="76663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5" dirty="0">
                <a:solidFill>
                  <a:srgbClr val="C00000"/>
                </a:solidFill>
              </a:rPr>
              <a:t>4.3 </a:t>
            </a:r>
            <a:r>
              <a:rPr spc="20" dirty="0"/>
              <a:t>Reading </a:t>
            </a:r>
            <a:r>
              <a:rPr spc="-80" dirty="0"/>
              <a:t>input: </a:t>
            </a:r>
            <a:r>
              <a:rPr spc="-114" dirty="0"/>
              <a:t>The </a:t>
            </a:r>
            <a:r>
              <a:rPr b="1" spc="-60" dirty="0">
                <a:latin typeface="Trebuchet MS"/>
                <a:cs typeface="Trebuchet MS"/>
              </a:rPr>
              <a:t>Scanner</a:t>
            </a:r>
            <a:r>
              <a:rPr b="1" spc="-70" dirty="0">
                <a:latin typeface="Trebuchet MS"/>
                <a:cs typeface="Trebuchet MS"/>
              </a:rPr>
              <a:t> </a:t>
            </a:r>
            <a:r>
              <a:rPr spc="85" dirty="0"/>
              <a:t>Class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79450" y="2508250"/>
            <a:ext cx="587375" cy="3746500"/>
            <a:chOff x="679450" y="2508250"/>
            <a:chExt cx="587375" cy="3746500"/>
          </a:xfrm>
        </p:grpSpPr>
        <p:sp>
          <p:nvSpPr>
            <p:cNvPr id="4" name="object 4"/>
            <p:cNvSpPr/>
            <p:nvPr/>
          </p:nvSpPr>
          <p:spPr>
            <a:xfrm>
              <a:off x="685800" y="2514600"/>
              <a:ext cx="574675" cy="3733800"/>
            </a:xfrm>
            <a:custGeom>
              <a:avLst/>
              <a:gdLst/>
              <a:ahLst/>
              <a:cxnLst/>
              <a:rect l="l" t="t" r="r" b="b"/>
              <a:pathLst>
                <a:path w="574675" h="3733800">
                  <a:moveTo>
                    <a:pt x="574548" y="0"/>
                  </a:moveTo>
                  <a:lnTo>
                    <a:pt x="0" y="0"/>
                  </a:lnTo>
                  <a:lnTo>
                    <a:pt x="0" y="3733800"/>
                  </a:lnTo>
                  <a:lnTo>
                    <a:pt x="574548" y="3733800"/>
                  </a:lnTo>
                  <a:lnTo>
                    <a:pt x="574548" y="0"/>
                  </a:lnTo>
                  <a:close/>
                </a:path>
              </a:pathLst>
            </a:custGeom>
            <a:solidFill>
              <a:srgbClr val="FF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85800" y="2514600"/>
              <a:ext cx="574675" cy="3733800"/>
            </a:xfrm>
            <a:custGeom>
              <a:avLst/>
              <a:gdLst/>
              <a:ahLst/>
              <a:cxnLst/>
              <a:rect l="l" t="t" r="r" b="b"/>
              <a:pathLst>
                <a:path w="574675" h="3733800">
                  <a:moveTo>
                    <a:pt x="0" y="3733800"/>
                  </a:moveTo>
                  <a:lnTo>
                    <a:pt x="574548" y="3733800"/>
                  </a:lnTo>
                  <a:lnTo>
                    <a:pt x="574548" y="0"/>
                  </a:lnTo>
                  <a:lnTo>
                    <a:pt x="0" y="0"/>
                  </a:lnTo>
                  <a:lnTo>
                    <a:pt x="0" y="3733800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839229" y="3918699"/>
            <a:ext cx="281305" cy="92964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b="1" dirty="0">
                <a:latin typeface="Arial"/>
                <a:cs typeface="Arial"/>
              </a:rPr>
              <a:t>SYN</a:t>
            </a:r>
            <a:r>
              <a:rPr sz="1800" b="1" spc="-135" dirty="0">
                <a:latin typeface="Arial"/>
                <a:cs typeface="Arial"/>
              </a:rPr>
              <a:t>T</a:t>
            </a:r>
            <a:r>
              <a:rPr sz="1800" b="1" spc="-55" dirty="0">
                <a:latin typeface="Arial"/>
                <a:cs typeface="Arial"/>
              </a:rPr>
              <a:t>A</a:t>
            </a:r>
            <a:r>
              <a:rPr sz="1800" b="1" dirty="0">
                <a:latin typeface="Arial"/>
                <a:cs typeface="Arial"/>
              </a:rPr>
              <a:t>X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260347" y="2514600"/>
            <a:ext cx="6817359" cy="3733800"/>
          </a:xfrm>
          <a:custGeom>
            <a:avLst/>
            <a:gdLst/>
            <a:ahLst/>
            <a:cxnLst/>
            <a:rect l="l" t="t" r="r" b="b"/>
            <a:pathLst>
              <a:path w="6817359" h="3733800">
                <a:moveTo>
                  <a:pt x="0" y="3733800"/>
                </a:moveTo>
                <a:lnTo>
                  <a:pt x="6816852" y="3733800"/>
                </a:lnTo>
                <a:lnTo>
                  <a:pt x="6816852" y="0"/>
                </a:lnTo>
                <a:lnTo>
                  <a:pt x="0" y="0"/>
                </a:lnTo>
                <a:lnTo>
                  <a:pt x="0" y="3733800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644523" y="2662250"/>
            <a:ext cx="5970270" cy="1245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spc="-5" dirty="0">
                <a:solidFill>
                  <a:srgbClr val="C00000"/>
                </a:solidFill>
                <a:latin typeface="Courier New"/>
                <a:cs typeface="Courier New"/>
              </a:rPr>
              <a:t>//Declaration </a:t>
            </a:r>
            <a:r>
              <a:rPr sz="2000" b="1" i="1" dirty="0">
                <a:solidFill>
                  <a:srgbClr val="C00000"/>
                </a:solidFill>
                <a:latin typeface="Courier New"/>
                <a:cs typeface="Courier New"/>
              </a:rPr>
              <a:t>of </a:t>
            </a:r>
            <a:r>
              <a:rPr sz="2000" b="1" i="1" spc="-5" dirty="0">
                <a:solidFill>
                  <a:srgbClr val="C00000"/>
                </a:solidFill>
                <a:latin typeface="Courier New"/>
                <a:cs typeface="Courier New"/>
              </a:rPr>
              <a:t>Scanner</a:t>
            </a:r>
            <a:r>
              <a:rPr sz="2000" b="1" i="1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2000" b="1" i="1" spc="-5" dirty="0">
                <a:solidFill>
                  <a:srgbClr val="C00000"/>
                </a:solidFill>
                <a:latin typeface="Courier New"/>
                <a:cs typeface="Courier New"/>
              </a:rPr>
              <a:t>"variable"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b="1" spc="-5" dirty="0">
                <a:solidFill>
                  <a:srgbClr val="0000FF"/>
                </a:solidFill>
                <a:latin typeface="Courier New"/>
                <a:cs typeface="Courier New"/>
              </a:rPr>
              <a:t>Scanner </a:t>
            </a:r>
            <a:r>
              <a:rPr sz="2000" b="1" i="1" spc="-5" dirty="0">
                <a:solidFill>
                  <a:srgbClr val="001F5F"/>
                </a:solidFill>
                <a:latin typeface="Courier New"/>
                <a:cs typeface="Courier New"/>
              </a:rPr>
              <a:t>scVar </a:t>
            </a:r>
            <a:r>
              <a:rPr sz="2000" b="1" dirty="0">
                <a:latin typeface="Courier New"/>
                <a:cs typeface="Courier New"/>
              </a:rPr>
              <a:t>= </a:t>
            </a:r>
            <a:r>
              <a:rPr sz="2000" b="1" spc="-5" dirty="0">
                <a:latin typeface="Courier New"/>
                <a:cs typeface="Courier New"/>
              </a:rPr>
              <a:t>new</a:t>
            </a:r>
            <a:r>
              <a:rPr sz="2000" b="1" spc="-10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Scanner(System.in);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1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b="1" i="1" spc="-5" dirty="0">
                <a:solidFill>
                  <a:srgbClr val="C00000"/>
                </a:solidFill>
                <a:latin typeface="Courier New"/>
                <a:cs typeface="Courier New"/>
              </a:rPr>
              <a:t>//Functionality</a:t>
            </a:r>
            <a:r>
              <a:rPr sz="2000" b="1" i="1" spc="-1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2000" b="1" i="1" spc="-5" dirty="0">
                <a:solidFill>
                  <a:srgbClr val="C00000"/>
                </a:solidFill>
                <a:latin typeface="Courier New"/>
                <a:cs typeface="Courier New"/>
              </a:rPr>
              <a:t>provided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44523" y="3881704"/>
            <a:ext cx="246443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spc="-5" dirty="0">
                <a:solidFill>
                  <a:srgbClr val="001F5F"/>
                </a:solidFill>
                <a:latin typeface="Courier New"/>
                <a:cs typeface="Courier New"/>
              </a:rPr>
              <a:t>scVar.</a:t>
            </a:r>
            <a:r>
              <a:rPr sz="2000" b="1" i="1" spc="-5" dirty="0">
                <a:latin typeface="Courier New"/>
                <a:cs typeface="Courier New"/>
              </a:rPr>
              <a:t>nextInt</a:t>
            </a:r>
            <a:r>
              <a:rPr sz="2000" b="1" spc="-5" dirty="0">
                <a:latin typeface="Courier New"/>
                <a:cs typeface="Courier New"/>
              </a:rPr>
              <a:t>();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44523" y="4796790"/>
            <a:ext cx="29216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1" spc="-5" dirty="0">
                <a:solidFill>
                  <a:srgbClr val="001F5F"/>
                </a:solidFill>
                <a:latin typeface="Courier New"/>
                <a:cs typeface="Courier New"/>
              </a:rPr>
              <a:t>scVar.</a:t>
            </a:r>
            <a:r>
              <a:rPr sz="2000" b="1" i="1" spc="-5" dirty="0">
                <a:latin typeface="Courier New"/>
                <a:cs typeface="Courier New"/>
              </a:rPr>
              <a:t>nextDouble</a:t>
            </a:r>
            <a:r>
              <a:rPr sz="2000" b="1" spc="-5" dirty="0">
                <a:latin typeface="Courier New"/>
                <a:cs typeface="Courier New"/>
              </a:rPr>
              <a:t>();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96923" y="5406644"/>
            <a:ext cx="9398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5" dirty="0">
                <a:latin typeface="Courier New"/>
                <a:cs typeface="Courier New"/>
              </a:rPr>
              <a:t>......</a:t>
            </a:r>
            <a:endParaRPr sz="2000">
              <a:latin typeface="Courier New"/>
              <a:cs typeface="Courier New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79704" y="1213103"/>
            <a:ext cx="586740" cy="1231900"/>
            <a:chOff x="679704" y="1213103"/>
            <a:chExt cx="586740" cy="1231900"/>
          </a:xfrm>
        </p:grpSpPr>
        <p:sp>
          <p:nvSpPr>
            <p:cNvPr id="13" name="object 13"/>
            <p:cNvSpPr/>
            <p:nvPr/>
          </p:nvSpPr>
          <p:spPr>
            <a:xfrm>
              <a:off x="685800" y="1219199"/>
              <a:ext cx="574675" cy="1219200"/>
            </a:xfrm>
            <a:custGeom>
              <a:avLst/>
              <a:gdLst/>
              <a:ahLst/>
              <a:cxnLst/>
              <a:rect l="l" t="t" r="r" b="b"/>
              <a:pathLst>
                <a:path w="574675" h="1219200">
                  <a:moveTo>
                    <a:pt x="574548" y="0"/>
                  </a:moveTo>
                  <a:lnTo>
                    <a:pt x="0" y="0"/>
                  </a:lnTo>
                  <a:lnTo>
                    <a:pt x="0" y="1219200"/>
                  </a:lnTo>
                  <a:lnTo>
                    <a:pt x="574548" y="1219200"/>
                  </a:lnTo>
                  <a:lnTo>
                    <a:pt x="574548" y="0"/>
                  </a:lnTo>
                  <a:close/>
                </a:path>
              </a:pathLst>
            </a:custGeom>
            <a:solidFill>
              <a:srgbClr val="FF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85800" y="1219199"/>
              <a:ext cx="574675" cy="1219200"/>
            </a:xfrm>
            <a:custGeom>
              <a:avLst/>
              <a:gdLst/>
              <a:ahLst/>
              <a:cxnLst/>
              <a:rect l="l" t="t" r="r" b="b"/>
              <a:pathLst>
                <a:path w="574675" h="1219200">
                  <a:moveTo>
                    <a:pt x="0" y="1219200"/>
                  </a:moveTo>
                  <a:lnTo>
                    <a:pt x="574548" y="1219200"/>
                  </a:lnTo>
                  <a:lnTo>
                    <a:pt x="574548" y="0"/>
                  </a:lnTo>
                  <a:lnTo>
                    <a:pt x="0" y="0"/>
                  </a:lnTo>
                  <a:lnTo>
                    <a:pt x="0" y="1219200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839229" y="1257582"/>
            <a:ext cx="281305" cy="114363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b="1" spc="-135" dirty="0">
                <a:latin typeface="Arial"/>
                <a:cs typeface="Arial"/>
              </a:rPr>
              <a:t>P</a:t>
            </a:r>
            <a:r>
              <a:rPr sz="1800" b="1" spc="-55" dirty="0">
                <a:latin typeface="Arial"/>
                <a:cs typeface="Arial"/>
              </a:rPr>
              <a:t>A</a:t>
            </a:r>
            <a:r>
              <a:rPr sz="1800" b="1" dirty="0">
                <a:latin typeface="Arial"/>
                <a:cs typeface="Arial"/>
              </a:rPr>
              <a:t>CK</a:t>
            </a:r>
            <a:r>
              <a:rPr sz="1800" b="1" spc="-15" dirty="0">
                <a:latin typeface="Arial"/>
                <a:cs typeface="Arial"/>
              </a:rPr>
              <a:t>A</a:t>
            </a:r>
            <a:r>
              <a:rPr sz="1800" b="1" dirty="0">
                <a:latin typeface="Arial"/>
                <a:cs typeface="Arial"/>
              </a:rPr>
              <a:t>GE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60347" y="1219200"/>
            <a:ext cx="6817359" cy="1219200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vert="horz" wrap="square" lIns="0" tIns="122555" rIns="0" bIns="0" rtlCol="0">
            <a:spAutoFit/>
          </a:bodyPr>
          <a:lstStyle/>
          <a:p>
            <a:pPr marL="396875">
              <a:lnSpc>
                <a:spcPct val="100000"/>
              </a:lnSpc>
              <a:spcBef>
                <a:spcPts val="965"/>
              </a:spcBef>
            </a:pPr>
            <a:r>
              <a:rPr sz="2000" b="1" spc="-5" dirty="0">
                <a:solidFill>
                  <a:srgbClr val="660066"/>
                </a:solidFill>
                <a:latin typeface="Courier New"/>
                <a:cs typeface="Courier New"/>
              </a:rPr>
              <a:t>import </a:t>
            </a:r>
            <a:r>
              <a:rPr sz="2000" b="1" spc="-5" dirty="0">
                <a:latin typeface="Courier New"/>
                <a:cs typeface="Courier New"/>
              </a:rPr>
              <a:t>java.util.Scanner;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648200" y="3886200"/>
            <a:ext cx="3124200" cy="533400"/>
          </a:xfrm>
          <a:custGeom>
            <a:avLst/>
            <a:gdLst/>
            <a:ahLst/>
            <a:cxnLst/>
            <a:rect l="l" t="t" r="r" b="b"/>
            <a:pathLst>
              <a:path w="3124200" h="533400">
                <a:moveTo>
                  <a:pt x="3124200" y="0"/>
                </a:moveTo>
                <a:lnTo>
                  <a:pt x="0" y="0"/>
                </a:lnTo>
                <a:lnTo>
                  <a:pt x="0" y="533400"/>
                </a:lnTo>
                <a:lnTo>
                  <a:pt x="3124200" y="533400"/>
                </a:lnTo>
                <a:lnTo>
                  <a:pt x="31242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4648200" y="3886200"/>
            <a:ext cx="3124200" cy="533400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vert="horz" wrap="square" lIns="0" tIns="18415" rIns="0" bIns="0" rtlCol="0">
            <a:spAutoFit/>
          </a:bodyPr>
          <a:lstStyle/>
          <a:p>
            <a:pPr marL="635" algn="ctr">
              <a:lnSpc>
                <a:spcPts val="1864"/>
              </a:lnSpc>
              <a:spcBef>
                <a:spcPts val="145"/>
              </a:spcBef>
            </a:pPr>
            <a:r>
              <a:rPr sz="1600" spc="-5" dirty="0">
                <a:latin typeface="Arial"/>
                <a:cs typeface="Arial"/>
              </a:rPr>
              <a:t>Read an integer </a:t>
            </a:r>
            <a:r>
              <a:rPr sz="1600" dirty="0">
                <a:latin typeface="Arial"/>
                <a:cs typeface="Arial"/>
              </a:rPr>
              <a:t>value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from</a:t>
            </a:r>
            <a:endParaRPr sz="1600">
              <a:latin typeface="Arial"/>
              <a:cs typeface="Arial"/>
            </a:endParaRPr>
          </a:p>
          <a:p>
            <a:pPr marL="635" algn="ctr">
              <a:lnSpc>
                <a:spcPts val="1864"/>
              </a:lnSpc>
            </a:pPr>
            <a:r>
              <a:rPr sz="1600" spc="-5" dirty="0">
                <a:latin typeface="Arial"/>
                <a:cs typeface="Arial"/>
              </a:rPr>
              <a:t>source</a:t>
            </a:r>
            <a:r>
              <a:rPr sz="1600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System.in</a:t>
            </a:r>
            <a:endParaRPr sz="1600">
              <a:latin typeface="Arial"/>
              <a:cs typeface="Arial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89"/>
              </a:lnSpc>
              <a:tabLst>
                <a:tab pos="1996439" algn="l"/>
                <a:tab pos="8046720" algn="l"/>
              </a:tabLst>
            </a:pPr>
            <a:r>
              <a:rPr dirty="0"/>
              <a:t>[501043 Lecture 1: Intro</a:t>
            </a:r>
            <a:r>
              <a:rPr spc="-6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Java]	</a:t>
            </a:r>
            <a:r>
              <a:rPr u="heavy" dirty="0">
                <a:uFill>
                  <a:solidFill>
                    <a:srgbClr val="009999"/>
                  </a:solidFill>
                </a:uFill>
              </a:rPr>
              <a:t> 	</a:t>
            </a:r>
            <a:r>
              <a:rPr sz="1600" b="1" i="1" spc="-5" dirty="0">
                <a:solidFill>
                  <a:srgbClr val="C00000"/>
                </a:solidFill>
                <a:latin typeface="Arial"/>
                <a:cs typeface="Arial"/>
              </a:rPr>
              <a:t>37</a:t>
            </a:r>
            <a:endParaRPr sz="16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648200" y="4724400"/>
            <a:ext cx="3124200" cy="533400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784860" marR="393700" indent="-384175">
              <a:lnSpc>
                <a:spcPts val="1810"/>
              </a:lnSpc>
              <a:spcBef>
                <a:spcPts val="300"/>
              </a:spcBef>
            </a:pPr>
            <a:r>
              <a:rPr sz="1600" spc="-5" dirty="0">
                <a:latin typeface="Arial"/>
                <a:cs typeface="Arial"/>
              </a:rPr>
              <a:t>Read a double value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from  source System.in</a:t>
            </a:r>
            <a:endParaRPr sz="16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648200" y="5486400"/>
            <a:ext cx="3124200" cy="533400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1365250" marR="128270" indent="-1228725">
              <a:lnSpc>
                <a:spcPts val="1810"/>
              </a:lnSpc>
              <a:spcBef>
                <a:spcPts val="300"/>
              </a:spcBef>
            </a:pPr>
            <a:r>
              <a:rPr sz="1600" spc="-5" dirty="0">
                <a:latin typeface="Arial"/>
                <a:cs typeface="Arial"/>
              </a:rPr>
              <a:t>Other data types, to be covered  later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248158"/>
            <a:ext cx="73406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5" dirty="0">
                <a:solidFill>
                  <a:srgbClr val="C00000"/>
                </a:solidFill>
              </a:rPr>
              <a:t>4.3 </a:t>
            </a:r>
            <a:r>
              <a:rPr spc="20" dirty="0"/>
              <a:t>Reading </a:t>
            </a:r>
            <a:r>
              <a:rPr spc="-60" dirty="0"/>
              <a:t>Input: </a:t>
            </a:r>
            <a:r>
              <a:rPr b="1" spc="-150" dirty="0">
                <a:latin typeface="Trebuchet MS"/>
                <a:cs typeface="Trebuchet MS"/>
              </a:rPr>
              <a:t>Fahrenheit </a:t>
            </a:r>
            <a:r>
              <a:rPr b="1" spc="-195" dirty="0">
                <a:latin typeface="Trebuchet MS"/>
                <a:cs typeface="Trebuchet MS"/>
              </a:rPr>
              <a:t>Ver</a:t>
            </a:r>
            <a:r>
              <a:rPr b="1" spc="-95" dirty="0">
                <a:latin typeface="Trebuchet MS"/>
                <a:cs typeface="Trebuchet MS"/>
              </a:rPr>
              <a:t> </a:t>
            </a:r>
            <a:r>
              <a:rPr b="1" spc="85" dirty="0">
                <a:latin typeface="Trebuchet MS"/>
                <a:cs typeface="Trebuchet MS"/>
              </a:rPr>
              <a:t>2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49973" y="1162621"/>
            <a:ext cx="7934325" cy="4533265"/>
            <a:chOff x="549973" y="1162621"/>
            <a:chExt cx="7934325" cy="4533265"/>
          </a:xfrm>
        </p:grpSpPr>
        <p:sp>
          <p:nvSpPr>
            <p:cNvPr id="4" name="object 4"/>
            <p:cNvSpPr/>
            <p:nvPr/>
          </p:nvSpPr>
          <p:spPr>
            <a:xfrm>
              <a:off x="554736" y="1167383"/>
              <a:ext cx="7924800" cy="4523740"/>
            </a:xfrm>
            <a:custGeom>
              <a:avLst/>
              <a:gdLst/>
              <a:ahLst/>
              <a:cxnLst/>
              <a:rect l="l" t="t" r="r" b="b"/>
              <a:pathLst>
                <a:path w="7924800" h="4523740">
                  <a:moveTo>
                    <a:pt x="7924800" y="0"/>
                  </a:moveTo>
                  <a:lnTo>
                    <a:pt x="0" y="0"/>
                  </a:lnTo>
                  <a:lnTo>
                    <a:pt x="0" y="4267200"/>
                  </a:lnTo>
                  <a:lnTo>
                    <a:pt x="0" y="4523232"/>
                  </a:lnTo>
                  <a:lnTo>
                    <a:pt x="7924800" y="4523232"/>
                  </a:lnTo>
                  <a:lnTo>
                    <a:pt x="7924800" y="4267200"/>
                  </a:lnTo>
                  <a:lnTo>
                    <a:pt x="7924800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54736" y="1167383"/>
              <a:ext cx="7924800" cy="4523740"/>
            </a:xfrm>
            <a:custGeom>
              <a:avLst/>
              <a:gdLst/>
              <a:ahLst/>
              <a:cxnLst/>
              <a:rect l="l" t="t" r="r" b="b"/>
              <a:pathLst>
                <a:path w="7924800" h="4523740">
                  <a:moveTo>
                    <a:pt x="0" y="4523232"/>
                  </a:moveTo>
                  <a:lnTo>
                    <a:pt x="7924800" y="4523232"/>
                  </a:lnTo>
                  <a:lnTo>
                    <a:pt x="7924800" y="0"/>
                  </a:lnTo>
                  <a:lnTo>
                    <a:pt x="0" y="0"/>
                  </a:lnTo>
                  <a:lnTo>
                    <a:pt x="0" y="4523232"/>
                  </a:lnTo>
                  <a:close/>
                </a:path>
              </a:pathLst>
            </a:custGeom>
            <a:ln w="9144">
              <a:solidFill>
                <a:srgbClr val="8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633476" y="1176985"/>
            <a:ext cx="6500495" cy="17329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432810" algn="l"/>
              </a:tabLst>
            </a:pPr>
            <a:r>
              <a:rPr sz="1600" b="1" spc="-5" dirty="0">
                <a:solidFill>
                  <a:srgbClr val="660066"/>
                </a:solidFill>
                <a:latin typeface="Courier New"/>
                <a:cs typeface="Courier New"/>
              </a:rPr>
              <a:t>import</a:t>
            </a:r>
            <a:r>
              <a:rPr sz="1600" b="1" spc="45" dirty="0">
                <a:solidFill>
                  <a:srgbClr val="660066"/>
                </a:solidFill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java.util.Scanner;	</a:t>
            </a:r>
            <a:r>
              <a:rPr sz="1600" b="1" spc="-5" dirty="0">
                <a:solidFill>
                  <a:srgbClr val="800000"/>
                </a:solidFill>
                <a:latin typeface="Courier New"/>
                <a:cs typeface="Courier New"/>
              </a:rPr>
              <a:t>// or import</a:t>
            </a:r>
            <a:r>
              <a:rPr sz="1600" b="1" spc="-10" dirty="0">
                <a:solidFill>
                  <a:srgbClr val="800000"/>
                </a:solidFill>
                <a:latin typeface="Courier New"/>
                <a:cs typeface="Courier New"/>
              </a:rPr>
              <a:t> </a:t>
            </a:r>
            <a:r>
              <a:rPr sz="1600" b="1" spc="-5" dirty="0">
                <a:solidFill>
                  <a:srgbClr val="800000"/>
                </a:solidFill>
                <a:latin typeface="Courier New"/>
                <a:cs typeface="Courier New"/>
              </a:rPr>
              <a:t>java.util.*;</a:t>
            </a:r>
            <a:endParaRPr sz="1600">
              <a:latin typeface="Courier New"/>
              <a:cs typeface="Courier New"/>
            </a:endParaRPr>
          </a:p>
          <a:p>
            <a:pPr marL="255904" marR="1348740" indent="-243840">
              <a:lnSpc>
                <a:spcPct val="200000"/>
              </a:lnSpc>
              <a:spcBef>
                <a:spcPts val="5"/>
              </a:spcBef>
            </a:pPr>
            <a:r>
              <a:rPr sz="1600" b="1" spc="-5" dirty="0">
                <a:solidFill>
                  <a:srgbClr val="0000FF"/>
                </a:solidFill>
                <a:latin typeface="Courier New"/>
                <a:cs typeface="Courier New"/>
              </a:rPr>
              <a:t>public class </a:t>
            </a:r>
            <a:r>
              <a:rPr sz="1600" b="1" spc="-5" dirty="0">
                <a:latin typeface="Courier New"/>
                <a:cs typeface="Courier New"/>
              </a:rPr>
              <a:t>TemperatureInteractive {  </a:t>
            </a:r>
            <a:r>
              <a:rPr sz="1600" b="1" spc="-5" dirty="0">
                <a:solidFill>
                  <a:srgbClr val="0000FF"/>
                </a:solidFill>
                <a:latin typeface="Courier New"/>
                <a:cs typeface="Courier New"/>
              </a:rPr>
              <a:t>public static void </a:t>
            </a:r>
            <a:r>
              <a:rPr sz="1600" b="1" spc="-5" dirty="0">
                <a:latin typeface="Courier New"/>
                <a:cs typeface="Courier New"/>
              </a:rPr>
              <a:t>main(String[] args)</a:t>
            </a:r>
            <a:r>
              <a:rPr sz="1600" b="1" spc="6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50">
              <a:latin typeface="Courier New"/>
              <a:cs typeface="Courier New"/>
            </a:endParaRPr>
          </a:p>
          <a:p>
            <a:pPr marL="621665">
              <a:lnSpc>
                <a:spcPct val="100000"/>
              </a:lnSpc>
            </a:pPr>
            <a:r>
              <a:rPr sz="1600" b="1" spc="-5" dirty="0">
                <a:solidFill>
                  <a:srgbClr val="0000FF"/>
                </a:solidFill>
                <a:latin typeface="Courier New"/>
                <a:cs typeface="Courier New"/>
              </a:rPr>
              <a:t>double </a:t>
            </a:r>
            <a:r>
              <a:rPr sz="1600" b="1" spc="-5" dirty="0">
                <a:latin typeface="Courier New"/>
                <a:cs typeface="Courier New"/>
              </a:rPr>
              <a:t>fahrenheit,</a:t>
            </a:r>
            <a:r>
              <a:rPr sz="1600" b="1" spc="35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celsius;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11936" y="2919983"/>
            <a:ext cx="7162800" cy="304800"/>
          </a:xfrm>
          <a:prstGeom prst="rect">
            <a:avLst/>
          </a:prstGeom>
          <a:solidFill>
            <a:srgbClr val="CCCCFF">
              <a:alpha val="30195"/>
            </a:srgbClr>
          </a:solidFill>
          <a:ln w="12192">
            <a:solidFill>
              <a:srgbClr val="C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43204">
              <a:lnSpc>
                <a:spcPts val="1739"/>
              </a:lnSpc>
            </a:pPr>
            <a:r>
              <a:rPr sz="1600" b="1" spc="-5" dirty="0">
                <a:latin typeface="Courier New"/>
                <a:cs typeface="Courier New"/>
              </a:rPr>
              <a:t>Scanner sc = </a:t>
            </a:r>
            <a:r>
              <a:rPr sz="1600" b="1" spc="-5" dirty="0">
                <a:solidFill>
                  <a:srgbClr val="0000FF"/>
                </a:solidFill>
                <a:latin typeface="Courier New"/>
                <a:cs typeface="Courier New"/>
              </a:rPr>
              <a:t>new</a:t>
            </a:r>
            <a:r>
              <a:rPr sz="1600" b="1" spc="4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Scanner(System.in);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43075" y="3372358"/>
            <a:ext cx="66243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i="1" spc="-5" dirty="0">
                <a:latin typeface="Courier New"/>
                <a:cs typeface="Courier New"/>
              </a:rPr>
              <a:t>System.out.print</a:t>
            </a:r>
            <a:r>
              <a:rPr sz="1600" b="1" spc="-5" dirty="0">
                <a:latin typeface="Courier New"/>
                <a:cs typeface="Courier New"/>
              </a:rPr>
              <a:t>(</a:t>
            </a:r>
            <a:r>
              <a:rPr sz="1600" b="1" spc="-5" dirty="0">
                <a:solidFill>
                  <a:srgbClr val="006600"/>
                </a:solidFill>
                <a:latin typeface="Courier New"/>
                <a:cs typeface="Courier New"/>
              </a:rPr>
              <a:t>"Enter temperature in Fahrenheit:</a:t>
            </a:r>
            <a:r>
              <a:rPr sz="1600" b="1" spc="6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10" dirty="0">
                <a:solidFill>
                  <a:srgbClr val="006600"/>
                </a:solidFill>
                <a:latin typeface="Courier New"/>
                <a:cs typeface="Courier New"/>
              </a:rPr>
              <a:t>"</a:t>
            </a:r>
            <a:r>
              <a:rPr sz="1600" b="1" spc="10" dirty="0">
                <a:latin typeface="Courier New"/>
                <a:cs typeface="Courier New"/>
              </a:rPr>
              <a:t>);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11936" y="3605784"/>
            <a:ext cx="7162800" cy="304800"/>
          </a:xfrm>
          <a:prstGeom prst="rect">
            <a:avLst/>
          </a:prstGeom>
          <a:solidFill>
            <a:srgbClr val="CCCCFF">
              <a:alpha val="30195"/>
            </a:srgbClr>
          </a:solidFill>
          <a:ln w="12192">
            <a:solidFill>
              <a:srgbClr val="C00000"/>
            </a:solidFill>
          </a:ln>
        </p:spPr>
        <p:txBody>
          <a:bodyPr vert="horz" wrap="square" lIns="0" tIns="22225" rIns="0" bIns="0" rtlCol="0">
            <a:spAutoFit/>
          </a:bodyPr>
          <a:lstStyle/>
          <a:p>
            <a:pPr marL="243204">
              <a:lnSpc>
                <a:spcPct val="100000"/>
              </a:lnSpc>
              <a:spcBef>
                <a:spcPts val="175"/>
              </a:spcBef>
            </a:pPr>
            <a:r>
              <a:rPr sz="1600" b="1" spc="-5" dirty="0">
                <a:latin typeface="Courier New"/>
                <a:cs typeface="Courier New"/>
              </a:rPr>
              <a:t>fahrenheit =</a:t>
            </a:r>
            <a:r>
              <a:rPr sz="1600" b="1" spc="5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sc.</a:t>
            </a:r>
            <a:r>
              <a:rPr sz="1600" b="1" i="1" spc="-5" dirty="0">
                <a:latin typeface="Courier New"/>
                <a:cs typeface="Courier New"/>
              </a:rPr>
              <a:t>nextDouble</a:t>
            </a:r>
            <a:r>
              <a:rPr sz="1600" b="1" spc="-5" dirty="0">
                <a:latin typeface="Courier New"/>
                <a:cs typeface="Courier New"/>
              </a:rPr>
              <a:t>();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77316" y="4104259"/>
            <a:ext cx="5523865" cy="1000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77825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Courier New"/>
                <a:cs typeface="Courier New"/>
              </a:rPr>
              <a:t>celsius = (</a:t>
            </a:r>
            <a:r>
              <a:rPr sz="1600" b="1" spc="-5" dirty="0">
                <a:solidFill>
                  <a:srgbClr val="006600"/>
                </a:solidFill>
                <a:latin typeface="Courier New"/>
                <a:cs typeface="Courier New"/>
              </a:rPr>
              <a:t>5.0</a:t>
            </a:r>
            <a:r>
              <a:rPr sz="1600" b="1" spc="-5" dirty="0">
                <a:latin typeface="Courier New"/>
                <a:cs typeface="Courier New"/>
              </a:rPr>
              <a:t>/</a:t>
            </a:r>
            <a:r>
              <a:rPr sz="1600" b="1" spc="-5" dirty="0">
                <a:solidFill>
                  <a:srgbClr val="006600"/>
                </a:solidFill>
                <a:latin typeface="Courier New"/>
                <a:cs typeface="Courier New"/>
              </a:rPr>
              <a:t>9</a:t>
            </a:r>
            <a:r>
              <a:rPr sz="1600" b="1" spc="-5" dirty="0">
                <a:latin typeface="Courier New"/>
                <a:cs typeface="Courier New"/>
              </a:rPr>
              <a:t>) * (fahrenheit –</a:t>
            </a:r>
            <a:r>
              <a:rPr sz="1600" b="1" spc="70" dirty="0">
                <a:latin typeface="Courier New"/>
                <a:cs typeface="Courier New"/>
              </a:rPr>
              <a:t> </a:t>
            </a:r>
            <a:r>
              <a:rPr sz="1600" b="1" spc="-5" dirty="0">
                <a:solidFill>
                  <a:srgbClr val="006600"/>
                </a:solidFill>
                <a:latin typeface="Courier New"/>
                <a:cs typeface="Courier New"/>
              </a:rPr>
              <a:t>32</a:t>
            </a:r>
            <a:r>
              <a:rPr sz="1600" b="1" spc="-5" dirty="0">
                <a:latin typeface="Courier New"/>
                <a:cs typeface="Courier New"/>
              </a:rPr>
              <a:t>);</a:t>
            </a:r>
            <a:endParaRPr sz="1600">
              <a:latin typeface="Courier New"/>
              <a:cs typeface="Courier New"/>
            </a:endParaRPr>
          </a:p>
          <a:p>
            <a:pPr marL="377825">
              <a:lnSpc>
                <a:spcPct val="100000"/>
              </a:lnSpc>
            </a:pPr>
            <a:r>
              <a:rPr sz="1600" b="1" i="1" spc="-5" dirty="0">
                <a:latin typeface="Courier New"/>
                <a:cs typeface="Courier New"/>
              </a:rPr>
              <a:t>System.out.println</a:t>
            </a:r>
            <a:r>
              <a:rPr sz="1600" b="1" spc="-5" dirty="0">
                <a:latin typeface="Courier New"/>
                <a:cs typeface="Courier New"/>
              </a:rPr>
              <a:t>(</a:t>
            </a:r>
            <a:r>
              <a:rPr sz="1600" b="1" spc="-5" dirty="0">
                <a:solidFill>
                  <a:srgbClr val="006600"/>
                </a:solidFill>
                <a:latin typeface="Courier New"/>
                <a:cs typeface="Courier New"/>
              </a:rPr>
              <a:t>"Celsius: " </a:t>
            </a:r>
            <a:r>
              <a:rPr sz="1600" b="1" spc="-5" dirty="0">
                <a:latin typeface="Courier New"/>
                <a:cs typeface="Courier New"/>
              </a:rPr>
              <a:t>+</a:t>
            </a:r>
            <a:r>
              <a:rPr sz="1600" b="1" spc="5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celsius);</a:t>
            </a:r>
            <a:endParaRPr sz="16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600" b="1" spc="-5" dirty="0"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33476" y="5323713"/>
            <a:ext cx="1473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577585" y="5428234"/>
            <a:ext cx="2984500" cy="393700"/>
            <a:chOff x="5577585" y="5428234"/>
            <a:chExt cx="2984500" cy="393700"/>
          </a:xfrm>
        </p:grpSpPr>
        <p:sp>
          <p:nvSpPr>
            <p:cNvPr id="13" name="object 13"/>
            <p:cNvSpPr/>
            <p:nvPr/>
          </p:nvSpPr>
          <p:spPr>
            <a:xfrm>
              <a:off x="5583935" y="5434584"/>
              <a:ext cx="2971800" cy="381000"/>
            </a:xfrm>
            <a:custGeom>
              <a:avLst/>
              <a:gdLst/>
              <a:ahLst/>
              <a:cxnLst/>
              <a:rect l="l" t="t" r="r" b="b"/>
              <a:pathLst>
                <a:path w="2971800" h="381000">
                  <a:moveTo>
                    <a:pt x="2971800" y="0"/>
                  </a:moveTo>
                  <a:lnTo>
                    <a:pt x="0" y="0"/>
                  </a:lnTo>
                  <a:lnTo>
                    <a:pt x="0" y="380999"/>
                  </a:lnTo>
                  <a:lnTo>
                    <a:pt x="2971800" y="380999"/>
                  </a:lnTo>
                  <a:lnTo>
                    <a:pt x="2971800" y="0"/>
                  </a:lnTo>
                  <a:close/>
                </a:path>
              </a:pathLst>
            </a:custGeom>
            <a:solidFill>
              <a:srgbClr val="B8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583935" y="5434584"/>
              <a:ext cx="2971800" cy="381000"/>
            </a:xfrm>
            <a:custGeom>
              <a:avLst/>
              <a:gdLst/>
              <a:ahLst/>
              <a:cxnLst/>
              <a:rect l="l" t="t" r="r" b="b"/>
              <a:pathLst>
                <a:path w="2971800" h="381000">
                  <a:moveTo>
                    <a:pt x="0" y="380999"/>
                  </a:moveTo>
                  <a:lnTo>
                    <a:pt x="2971800" y="380999"/>
                  </a:lnTo>
                  <a:lnTo>
                    <a:pt x="2971800" y="0"/>
                  </a:lnTo>
                  <a:lnTo>
                    <a:pt x="0" y="0"/>
                  </a:lnTo>
                  <a:lnTo>
                    <a:pt x="0" y="38099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5722111" y="5460898"/>
            <a:ext cx="26968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0" dirty="0">
                <a:latin typeface="Carlito"/>
                <a:cs typeface="Carlito"/>
              </a:rPr>
              <a:t>TemperatureInteractive.java</a:t>
            </a:r>
            <a:endParaRPr sz="1800">
              <a:latin typeface="Carlito"/>
              <a:cs typeface="Carlito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96240" y="1085088"/>
            <a:ext cx="3517900" cy="469900"/>
            <a:chOff x="396240" y="1085088"/>
            <a:chExt cx="3517900" cy="469900"/>
          </a:xfrm>
        </p:grpSpPr>
        <p:sp>
          <p:nvSpPr>
            <p:cNvPr id="17" name="object 17"/>
            <p:cNvSpPr/>
            <p:nvPr/>
          </p:nvSpPr>
          <p:spPr>
            <a:xfrm>
              <a:off x="402336" y="1091184"/>
              <a:ext cx="3505200" cy="457200"/>
            </a:xfrm>
            <a:custGeom>
              <a:avLst/>
              <a:gdLst/>
              <a:ahLst/>
              <a:cxnLst/>
              <a:rect l="l" t="t" r="r" b="b"/>
              <a:pathLst>
                <a:path w="3505200" h="457200">
                  <a:moveTo>
                    <a:pt x="3505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3505200" y="457200"/>
                  </a:lnTo>
                  <a:lnTo>
                    <a:pt x="3505200" y="0"/>
                  </a:lnTo>
                  <a:close/>
                </a:path>
              </a:pathLst>
            </a:custGeom>
            <a:solidFill>
              <a:srgbClr val="CCCCFF">
                <a:alpha val="29803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02336" y="1091184"/>
              <a:ext cx="3505200" cy="457200"/>
            </a:xfrm>
            <a:custGeom>
              <a:avLst/>
              <a:gdLst/>
              <a:ahLst/>
              <a:cxnLst/>
              <a:rect l="l" t="t" r="r" b="b"/>
              <a:pathLst>
                <a:path w="3505200" h="457200">
                  <a:moveTo>
                    <a:pt x="0" y="457200"/>
                  </a:moveTo>
                  <a:lnTo>
                    <a:pt x="3505200" y="457200"/>
                  </a:lnTo>
                  <a:lnTo>
                    <a:pt x="3505200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12192">
              <a:solidFill>
                <a:srgbClr val="C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89"/>
              </a:lnSpc>
              <a:tabLst>
                <a:tab pos="1996439" algn="l"/>
                <a:tab pos="8046720" algn="l"/>
              </a:tabLst>
            </a:pPr>
            <a:r>
              <a:rPr dirty="0"/>
              <a:t>[501043 Lecture 1: Intro</a:t>
            </a:r>
            <a:r>
              <a:rPr spc="-6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Java]	</a:t>
            </a:r>
            <a:r>
              <a:rPr u="heavy" dirty="0">
                <a:uFill>
                  <a:solidFill>
                    <a:srgbClr val="009999"/>
                  </a:solidFill>
                </a:uFill>
              </a:rPr>
              <a:t> 	</a:t>
            </a:r>
            <a:r>
              <a:rPr sz="1600" b="1" i="1" spc="-5" dirty="0">
                <a:solidFill>
                  <a:srgbClr val="C00000"/>
                </a:solidFill>
                <a:latin typeface="Arial"/>
                <a:cs typeface="Arial"/>
              </a:rPr>
              <a:t>38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248158"/>
            <a:ext cx="73215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5" dirty="0">
                <a:solidFill>
                  <a:srgbClr val="C00000"/>
                </a:solidFill>
              </a:rPr>
              <a:t>4.3 </a:t>
            </a:r>
            <a:r>
              <a:rPr spc="20" dirty="0"/>
              <a:t>Reading </a:t>
            </a:r>
            <a:r>
              <a:rPr spc="-60" dirty="0"/>
              <a:t>Input: </a:t>
            </a:r>
            <a:r>
              <a:rPr b="1" spc="-155" dirty="0">
                <a:latin typeface="Trebuchet MS"/>
                <a:cs typeface="Trebuchet MS"/>
              </a:rPr>
              <a:t>Key </a:t>
            </a:r>
            <a:r>
              <a:rPr b="1" spc="-55" dirty="0">
                <a:latin typeface="Trebuchet MS"/>
                <a:cs typeface="Trebuchet MS"/>
              </a:rPr>
              <a:t>Points</a:t>
            </a:r>
            <a:r>
              <a:rPr b="1" spc="-70" dirty="0">
                <a:latin typeface="Trebuchet MS"/>
                <a:cs typeface="Trebuchet MS"/>
              </a:rPr>
              <a:t> </a:t>
            </a:r>
            <a:r>
              <a:rPr b="1" spc="70" dirty="0">
                <a:latin typeface="Trebuchet MS"/>
                <a:cs typeface="Trebuchet MS"/>
              </a:rPr>
              <a:t>(1/3)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89"/>
              </a:lnSpc>
              <a:tabLst>
                <a:tab pos="1996439" algn="l"/>
                <a:tab pos="8046720" algn="l"/>
              </a:tabLst>
            </a:pPr>
            <a:r>
              <a:rPr dirty="0"/>
              <a:t>[501043 Lecture 1: Intro</a:t>
            </a:r>
            <a:r>
              <a:rPr spc="-6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Java]	</a:t>
            </a:r>
            <a:r>
              <a:rPr u="heavy" dirty="0">
                <a:uFill>
                  <a:solidFill>
                    <a:srgbClr val="009999"/>
                  </a:solidFill>
                </a:uFill>
              </a:rPr>
              <a:t> 	</a:t>
            </a:r>
            <a:r>
              <a:rPr sz="1600" b="1" i="1" spc="-5" dirty="0">
                <a:solidFill>
                  <a:srgbClr val="C00000"/>
                </a:solidFill>
                <a:latin typeface="Arial"/>
                <a:cs typeface="Arial"/>
              </a:rPr>
              <a:t>39</a:t>
            </a:r>
            <a:endParaRPr sz="1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017840"/>
            <a:ext cx="7926705" cy="4483735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60"/>
              </a:spcBef>
              <a:buClr>
                <a:srgbClr val="009999"/>
              </a:buClr>
              <a:buSzPct val="65000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3000" dirty="0">
                <a:latin typeface="Arial"/>
                <a:cs typeface="Arial"/>
              </a:rPr>
              <a:t>The</a:t>
            </a:r>
            <a:r>
              <a:rPr sz="3000" spc="-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statement</a:t>
            </a:r>
            <a:endParaRPr sz="3000">
              <a:latin typeface="Arial"/>
              <a:cs typeface="Arial"/>
            </a:endParaRPr>
          </a:p>
          <a:p>
            <a:pPr marL="683260">
              <a:lnSpc>
                <a:spcPct val="100000"/>
              </a:lnSpc>
              <a:spcBef>
                <a:spcPts val="380"/>
              </a:spcBef>
            </a:pPr>
            <a:r>
              <a:rPr sz="2000" b="1" spc="-5" dirty="0">
                <a:solidFill>
                  <a:srgbClr val="660066"/>
                </a:solidFill>
                <a:latin typeface="Courier New"/>
                <a:cs typeface="Courier New"/>
              </a:rPr>
              <a:t>Scanner </a:t>
            </a:r>
            <a:r>
              <a:rPr sz="2000" b="1" spc="-5" dirty="0">
                <a:solidFill>
                  <a:srgbClr val="001F5F"/>
                </a:solidFill>
                <a:latin typeface="Courier New"/>
                <a:cs typeface="Courier New"/>
              </a:rPr>
              <a:t>sc </a:t>
            </a:r>
            <a:r>
              <a:rPr sz="2000" b="1" dirty="0">
                <a:latin typeface="Courier New"/>
                <a:cs typeface="Courier New"/>
              </a:rPr>
              <a:t>= </a:t>
            </a:r>
            <a:r>
              <a:rPr sz="2000" b="1" spc="-5" dirty="0">
                <a:solidFill>
                  <a:srgbClr val="0000FF"/>
                </a:solidFill>
                <a:latin typeface="Courier New"/>
                <a:cs typeface="Courier New"/>
              </a:rPr>
              <a:t>new</a:t>
            </a:r>
            <a:r>
              <a:rPr sz="2000" b="1" spc="-1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solidFill>
                  <a:srgbClr val="660066"/>
                </a:solidFill>
                <a:latin typeface="Courier New"/>
                <a:cs typeface="Courier New"/>
              </a:rPr>
              <a:t>Scanner</a:t>
            </a:r>
            <a:r>
              <a:rPr sz="2000" b="1" spc="-5" dirty="0">
                <a:latin typeface="Courier New"/>
                <a:cs typeface="Courier New"/>
              </a:rPr>
              <a:t>(System.in);</a:t>
            </a:r>
            <a:endParaRPr sz="2000">
              <a:latin typeface="Courier New"/>
              <a:cs typeface="Courier New"/>
            </a:endParaRPr>
          </a:p>
          <a:p>
            <a:pPr marL="683260" lvl="1" indent="-327025">
              <a:lnSpc>
                <a:spcPct val="100000"/>
              </a:lnSpc>
              <a:spcBef>
                <a:spcPts val="565"/>
              </a:spcBef>
              <a:buClr>
                <a:srgbClr val="4B6C4E"/>
              </a:buClr>
              <a:buSzPct val="59615"/>
              <a:buFont typeface="Wingdings"/>
              <a:buChar char=""/>
              <a:tabLst>
                <a:tab pos="683260" algn="l"/>
                <a:tab pos="683895" algn="l"/>
              </a:tabLst>
            </a:pPr>
            <a:r>
              <a:rPr sz="2600" dirty="0">
                <a:latin typeface="Arial"/>
                <a:cs typeface="Arial"/>
              </a:rPr>
              <a:t>Declares a variable </a:t>
            </a:r>
            <a:r>
              <a:rPr sz="2600" spc="-5" dirty="0">
                <a:latin typeface="Arial"/>
                <a:cs typeface="Arial"/>
              </a:rPr>
              <a:t>“</a:t>
            </a:r>
            <a:r>
              <a:rPr sz="2600" b="1" spc="-5" dirty="0">
                <a:solidFill>
                  <a:srgbClr val="001F5F"/>
                </a:solidFill>
                <a:latin typeface="Courier New"/>
                <a:cs typeface="Courier New"/>
              </a:rPr>
              <a:t>sc</a:t>
            </a:r>
            <a:r>
              <a:rPr sz="2600" spc="-5" dirty="0">
                <a:latin typeface="Arial"/>
                <a:cs typeface="Arial"/>
              </a:rPr>
              <a:t>” of </a:t>
            </a:r>
            <a:r>
              <a:rPr sz="2600" b="1" spc="-5" dirty="0">
                <a:solidFill>
                  <a:srgbClr val="660066"/>
                </a:solidFill>
                <a:latin typeface="Courier New"/>
                <a:cs typeface="Courier New"/>
              </a:rPr>
              <a:t>Scanner</a:t>
            </a:r>
            <a:r>
              <a:rPr sz="2600" b="1" spc="-835" dirty="0">
                <a:solidFill>
                  <a:srgbClr val="660066"/>
                </a:solidFill>
                <a:latin typeface="Courier New"/>
                <a:cs typeface="Courier New"/>
              </a:rPr>
              <a:t> </a:t>
            </a:r>
            <a:r>
              <a:rPr sz="2600" dirty="0">
                <a:latin typeface="Arial"/>
                <a:cs typeface="Arial"/>
              </a:rPr>
              <a:t>type</a:t>
            </a:r>
            <a:endParaRPr sz="2600">
              <a:latin typeface="Arial"/>
              <a:cs typeface="Arial"/>
            </a:endParaRPr>
          </a:p>
          <a:p>
            <a:pPr marL="683260" lvl="1" indent="-327025">
              <a:lnSpc>
                <a:spcPct val="100000"/>
              </a:lnSpc>
              <a:spcBef>
                <a:spcPts val="670"/>
              </a:spcBef>
              <a:buClr>
                <a:srgbClr val="4B6C4E"/>
              </a:buClr>
              <a:buSzPct val="59615"/>
              <a:buFont typeface="Wingdings"/>
              <a:buChar char=""/>
              <a:tabLst>
                <a:tab pos="683260" algn="l"/>
                <a:tab pos="683895" algn="l"/>
              </a:tabLst>
            </a:pPr>
            <a:r>
              <a:rPr sz="2600" dirty="0">
                <a:latin typeface="Arial"/>
                <a:cs typeface="Arial"/>
              </a:rPr>
              <a:t>The </a:t>
            </a:r>
            <a:r>
              <a:rPr sz="2600" spc="-5" dirty="0">
                <a:latin typeface="Arial"/>
                <a:cs typeface="Arial"/>
              </a:rPr>
              <a:t>initialization “</a:t>
            </a:r>
            <a:r>
              <a:rPr sz="2400" b="1" spc="-5" dirty="0">
                <a:solidFill>
                  <a:srgbClr val="0000FF"/>
                </a:solidFill>
                <a:latin typeface="Courier New"/>
                <a:cs typeface="Courier New"/>
              </a:rPr>
              <a:t>new</a:t>
            </a:r>
            <a:r>
              <a:rPr sz="2400" b="1" spc="-2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2400" b="1" spc="-5" dirty="0">
                <a:solidFill>
                  <a:srgbClr val="660066"/>
                </a:solidFill>
                <a:latin typeface="Courier New"/>
                <a:cs typeface="Courier New"/>
              </a:rPr>
              <a:t>Scanner</a:t>
            </a:r>
            <a:r>
              <a:rPr sz="2400" b="1" spc="-5" dirty="0">
                <a:latin typeface="Courier New"/>
                <a:cs typeface="Courier New"/>
              </a:rPr>
              <a:t>(System.in)</a:t>
            </a:r>
            <a:r>
              <a:rPr sz="2600" spc="-5" dirty="0">
                <a:latin typeface="Arial"/>
                <a:cs typeface="Arial"/>
              </a:rPr>
              <a:t>”</a:t>
            </a:r>
            <a:endParaRPr sz="2600">
              <a:latin typeface="Arial"/>
              <a:cs typeface="Arial"/>
            </a:endParaRPr>
          </a:p>
          <a:p>
            <a:pPr marL="1035050" lvl="2" indent="-352425">
              <a:lnSpc>
                <a:spcPct val="100000"/>
              </a:lnSpc>
              <a:spcBef>
                <a:spcPts val="525"/>
              </a:spcBef>
              <a:buClr>
                <a:srgbClr val="009999"/>
              </a:buClr>
              <a:buSzPct val="63636"/>
              <a:buFont typeface="Wingdings"/>
              <a:buChar char=""/>
              <a:tabLst>
                <a:tab pos="1035050" algn="l"/>
                <a:tab pos="1035685" algn="l"/>
              </a:tabLst>
            </a:pPr>
            <a:r>
              <a:rPr sz="2200" spc="-5" dirty="0">
                <a:latin typeface="Arial"/>
                <a:cs typeface="Arial"/>
              </a:rPr>
              <a:t>Constructs a </a:t>
            </a:r>
            <a:r>
              <a:rPr sz="2200" b="1" spc="-5" dirty="0">
                <a:solidFill>
                  <a:srgbClr val="660066"/>
                </a:solidFill>
                <a:latin typeface="Courier New"/>
                <a:cs typeface="Courier New"/>
              </a:rPr>
              <a:t>Scanner</a:t>
            </a:r>
            <a:r>
              <a:rPr sz="2200" b="1" spc="-650" dirty="0">
                <a:solidFill>
                  <a:srgbClr val="660066"/>
                </a:solidFill>
                <a:latin typeface="Courier New"/>
                <a:cs typeface="Courier New"/>
              </a:rPr>
              <a:t> </a:t>
            </a:r>
            <a:r>
              <a:rPr sz="2200" spc="-5" dirty="0">
                <a:latin typeface="Arial"/>
                <a:cs typeface="Arial"/>
              </a:rPr>
              <a:t>object</a:t>
            </a:r>
            <a:endParaRPr sz="2200">
              <a:latin typeface="Arial"/>
              <a:cs typeface="Arial"/>
            </a:endParaRPr>
          </a:p>
          <a:p>
            <a:pPr marL="1352550" lvl="3" indent="-315595">
              <a:lnSpc>
                <a:spcPct val="100000"/>
              </a:lnSpc>
              <a:spcBef>
                <a:spcPts val="630"/>
              </a:spcBef>
              <a:buClr>
                <a:srgbClr val="4B6C4E"/>
              </a:buClr>
              <a:buSzPct val="70000"/>
              <a:buFont typeface="Wingdings"/>
              <a:buChar char=""/>
              <a:tabLst>
                <a:tab pos="1351915" algn="l"/>
                <a:tab pos="1352550" algn="l"/>
              </a:tabLst>
            </a:pPr>
            <a:r>
              <a:rPr sz="2000" dirty="0">
                <a:latin typeface="Arial"/>
                <a:cs typeface="Arial"/>
              </a:rPr>
              <a:t>We will discuss more about object</a:t>
            </a:r>
            <a:r>
              <a:rPr sz="2000" spc="-1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later</a:t>
            </a:r>
            <a:endParaRPr sz="2000">
              <a:latin typeface="Arial"/>
              <a:cs typeface="Arial"/>
            </a:endParaRPr>
          </a:p>
          <a:p>
            <a:pPr marL="1035050" marR="5080" lvl="2" indent="-352425">
              <a:lnSpc>
                <a:spcPct val="105600"/>
              </a:lnSpc>
              <a:spcBef>
                <a:spcPts val="229"/>
              </a:spcBef>
              <a:buClr>
                <a:srgbClr val="009999"/>
              </a:buClr>
              <a:buSzPct val="63636"/>
              <a:buFont typeface="Wingdings"/>
              <a:buChar char=""/>
              <a:tabLst>
                <a:tab pos="1035050" algn="l"/>
                <a:tab pos="1035685" algn="l"/>
              </a:tabLst>
            </a:pPr>
            <a:r>
              <a:rPr sz="2200" spc="-5" dirty="0">
                <a:latin typeface="Arial"/>
                <a:cs typeface="Arial"/>
              </a:rPr>
              <a:t>Attaches it to the standard input </a:t>
            </a:r>
            <a:r>
              <a:rPr sz="2200" dirty="0">
                <a:latin typeface="Arial"/>
                <a:cs typeface="Arial"/>
              </a:rPr>
              <a:t>“</a:t>
            </a:r>
            <a:r>
              <a:rPr sz="2200" b="1" dirty="0">
                <a:latin typeface="Courier New"/>
                <a:cs typeface="Courier New"/>
              </a:rPr>
              <a:t>System.in</a:t>
            </a:r>
            <a:r>
              <a:rPr sz="2200" dirty="0">
                <a:latin typeface="Arial"/>
                <a:cs typeface="Arial"/>
              </a:rPr>
              <a:t>” </a:t>
            </a:r>
            <a:r>
              <a:rPr sz="2200" spc="-5" dirty="0">
                <a:latin typeface="Arial"/>
                <a:cs typeface="Arial"/>
              </a:rPr>
              <a:t>(which </a:t>
            </a:r>
            <a:r>
              <a:rPr sz="2200" spc="-10" dirty="0">
                <a:latin typeface="Arial"/>
                <a:cs typeface="Arial"/>
              </a:rPr>
              <a:t>is  </a:t>
            </a:r>
            <a:r>
              <a:rPr sz="2200" spc="-5" dirty="0">
                <a:latin typeface="Arial"/>
                <a:cs typeface="Arial"/>
              </a:rPr>
              <a:t>the keyboard)</a:t>
            </a:r>
            <a:endParaRPr sz="2200">
              <a:latin typeface="Arial"/>
              <a:cs typeface="Arial"/>
            </a:endParaRPr>
          </a:p>
          <a:p>
            <a:pPr marL="314960" marR="158115" lvl="3" indent="-314960" algn="r">
              <a:lnSpc>
                <a:spcPct val="100000"/>
              </a:lnSpc>
              <a:spcBef>
                <a:spcPts val="484"/>
              </a:spcBef>
              <a:buClr>
                <a:srgbClr val="4B6C4E"/>
              </a:buClr>
              <a:buSzPct val="70000"/>
              <a:buFont typeface="Wingdings"/>
              <a:buChar char=""/>
              <a:tabLst>
                <a:tab pos="314960" algn="l"/>
                <a:tab pos="315595" algn="l"/>
              </a:tabLst>
            </a:pPr>
            <a:r>
              <a:rPr sz="2000" dirty="0">
                <a:latin typeface="Arial"/>
                <a:cs typeface="Arial"/>
              </a:rPr>
              <a:t>This Scanner object 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sc </a:t>
            </a:r>
            <a:r>
              <a:rPr sz="2000" dirty="0">
                <a:latin typeface="Arial"/>
                <a:cs typeface="Arial"/>
              </a:rPr>
              <a:t>will receive input from this</a:t>
            </a:r>
            <a:r>
              <a:rPr sz="2000" spc="-1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source</a:t>
            </a:r>
            <a:endParaRPr sz="2000">
              <a:latin typeface="Arial"/>
              <a:cs typeface="Arial"/>
            </a:endParaRPr>
          </a:p>
          <a:p>
            <a:pPr marL="351790" marR="109220" lvl="2" indent="-351790" algn="r">
              <a:lnSpc>
                <a:spcPct val="100000"/>
              </a:lnSpc>
              <a:spcBef>
                <a:spcPts val="520"/>
              </a:spcBef>
              <a:buClr>
                <a:srgbClr val="009999"/>
              </a:buClr>
              <a:buSzPct val="63636"/>
              <a:buFont typeface="Wingdings"/>
              <a:buChar char=""/>
              <a:tabLst>
                <a:tab pos="351790" algn="l"/>
                <a:tab pos="352425" algn="l"/>
              </a:tabLst>
            </a:pPr>
            <a:r>
              <a:rPr sz="2200" spc="-5" dirty="0">
                <a:latin typeface="Arial"/>
                <a:cs typeface="Arial"/>
              </a:rPr>
              <a:t>Scanner can attach to a variety of </a:t>
            </a:r>
            <a:r>
              <a:rPr sz="2200" dirty="0">
                <a:latin typeface="Arial"/>
                <a:cs typeface="Arial"/>
              </a:rPr>
              <a:t>input </a:t>
            </a:r>
            <a:r>
              <a:rPr sz="2200" spc="-5" dirty="0">
                <a:latin typeface="Arial"/>
                <a:cs typeface="Arial"/>
              </a:rPr>
              <a:t>sources; this</a:t>
            </a:r>
            <a:r>
              <a:rPr sz="2200" spc="100" dirty="0">
                <a:latin typeface="Arial"/>
                <a:cs typeface="Arial"/>
              </a:rPr>
              <a:t> </a:t>
            </a:r>
            <a:r>
              <a:rPr sz="2200" spc="-5" dirty="0">
                <a:latin typeface="Arial"/>
                <a:cs typeface="Arial"/>
              </a:rPr>
              <a:t>is</a:t>
            </a:r>
            <a:endParaRPr sz="2200">
              <a:latin typeface="Arial"/>
              <a:cs typeface="Arial"/>
            </a:endParaRPr>
          </a:p>
          <a:p>
            <a:pPr marL="1035050">
              <a:lnSpc>
                <a:spcPct val="100000"/>
              </a:lnSpc>
            </a:pPr>
            <a:r>
              <a:rPr sz="2200" dirty="0">
                <a:latin typeface="Arial"/>
                <a:cs typeface="Arial"/>
              </a:rPr>
              <a:t>just </a:t>
            </a:r>
            <a:r>
              <a:rPr sz="2200" spc="-5" dirty="0">
                <a:latin typeface="Arial"/>
                <a:cs typeface="Arial"/>
              </a:rPr>
              <a:t>a typical</a:t>
            </a:r>
            <a:r>
              <a:rPr sz="2200" spc="-10" dirty="0">
                <a:latin typeface="Arial"/>
                <a:cs typeface="Arial"/>
              </a:rPr>
              <a:t> </a:t>
            </a:r>
            <a:r>
              <a:rPr sz="2200" spc="-5" dirty="0">
                <a:latin typeface="Arial"/>
                <a:cs typeface="Arial"/>
              </a:rPr>
              <a:t>usage</a:t>
            </a:r>
            <a:endParaRPr sz="2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248158"/>
            <a:ext cx="73215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5" dirty="0">
                <a:solidFill>
                  <a:srgbClr val="C00000"/>
                </a:solidFill>
              </a:rPr>
              <a:t>4.3 </a:t>
            </a:r>
            <a:r>
              <a:rPr spc="20" dirty="0"/>
              <a:t>Reading </a:t>
            </a:r>
            <a:r>
              <a:rPr spc="-60" dirty="0"/>
              <a:t>Input: </a:t>
            </a:r>
            <a:r>
              <a:rPr b="1" spc="-155" dirty="0">
                <a:latin typeface="Trebuchet MS"/>
                <a:cs typeface="Trebuchet MS"/>
              </a:rPr>
              <a:t>Key </a:t>
            </a:r>
            <a:r>
              <a:rPr b="1" spc="-55" dirty="0">
                <a:latin typeface="Trebuchet MS"/>
                <a:cs typeface="Trebuchet MS"/>
              </a:rPr>
              <a:t>Points</a:t>
            </a:r>
            <a:r>
              <a:rPr b="1" spc="-70" dirty="0">
                <a:latin typeface="Trebuchet MS"/>
                <a:cs typeface="Trebuchet MS"/>
              </a:rPr>
              <a:t> </a:t>
            </a:r>
            <a:r>
              <a:rPr b="1" spc="70" dirty="0">
                <a:latin typeface="Trebuchet MS"/>
                <a:cs typeface="Trebuchet MS"/>
              </a:rPr>
              <a:t>(2/3)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89"/>
              </a:lnSpc>
              <a:tabLst>
                <a:tab pos="1996439" algn="l"/>
                <a:tab pos="8046720" algn="l"/>
              </a:tabLst>
            </a:pPr>
            <a:r>
              <a:rPr dirty="0"/>
              <a:t>[501043 Lecture 1: Intro</a:t>
            </a:r>
            <a:r>
              <a:rPr spc="-6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Java]	</a:t>
            </a:r>
            <a:r>
              <a:rPr u="heavy" dirty="0">
                <a:uFill>
                  <a:solidFill>
                    <a:srgbClr val="009999"/>
                  </a:solidFill>
                </a:uFill>
              </a:rPr>
              <a:t> 	</a:t>
            </a:r>
            <a:r>
              <a:rPr sz="1600" b="1" i="1" spc="-5" dirty="0">
                <a:solidFill>
                  <a:srgbClr val="C00000"/>
                </a:solidFill>
                <a:latin typeface="Arial"/>
                <a:cs typeface="Arial"/>
              </a:rPr>
              <a:t>40</a:t>
            </a:r>
            <a:endParaRPr sz="1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089101"/>
            <a:ext cx="7994015" cy="4831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lr>
                <a:srgbClr val="009999"/>
              </a:buClr>
              <a:buSzPct val="65000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3000" dirty="0">
                <a:latin typeface="Arial"/>
                <a:cs typeface="Arial"/>
              </a:rPr>
              <a:t>After proper initialization, a Scanner object  provides functionality </a:t>
            </a:r>
            <a:r>
              <a:rPr sz="3000" spc="-10" dirty="0">
                <a:latin typeface="Arial"/>
                <a:cs typeface="Arial"/>
              </a:rPr>
              <a:t>to </a:t>
            </a:r>
            <a:r>
              <a:rPr sz="3000" spc="-5" dirty="0">
                <a:latin typeface="Arial"/>
                <a:cs typeface="Arial"/>
              </a:rPr>
              <a:t>read </a:t>
            </a:r>
            <a:r>
              <a:rPr sz="3000" dirty="0">
                <a:latin typeface="Arial"/>
                <a:cs typeface="Arial"/>
              </a:rPr>
              <a:t>value of</a:t>
            </a:r>
            <a:r>
              <a:rPr sz="3000" spc="-6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various  </a:t>
            </a:r>
            <a:r>
              <a:rPr sz="3000" spc="-5" dirty="0">
                <a:latin typeface="Arial"/>
                <a:cs typeface="Arial"/>
              </a:rPr>
              <a:t>types from the </a:t>
            </a:r>
            <a:r>
              <a:rPr sz="3000" dirty="0">
                <a:latin typeface="Arial"/>
                <a:cs typeface="Arial"/>
              </a:rPr>
              <a:t>input</a:t>
            </a:r>
            <a:r>
              <a:rPr sz="3000" spc="30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source</a:t>
            </a:r>
            <a:endParaRPr sz="3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1805"/>
              </a:spcBef>
              <a:buClr>
                <a:srgbClr val="009999"/>
              </a:buClr>
              <a:buSzPct val="65000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3000" dirty="0">
                <a:latin typeface="Arial"/>
                <a:cs typeface="Arial"/>
              </a:rPr>
              <a:t>The statement</a:t>
            </a:r>
            <a:endParaRPr sz="3000">
              <a:latin typeface="Arial"/>
              <a:cs typeface="Arial"/>
            </a:endParaRPr>
          </a:p>
          <a:p>
            <a:pPr marL="356870">
              <a:lnSpc>
                <a:spcPct val="100000"/>
              </a:lnSpc>
              <a:spcBef>
                <a:spcPts val="395"/>
              </a:spcBef>
            </a:pPr>
            <a:r>
              <a:rPr sz="2400" b="1" spc="-5" dirty="0">
                <a:latin typeface="Courier New"/>
                <a:cs typeface="Courier New"/>
              </a:rPr>
              <a:t>fahrenheit </a:t>
            </a:r>
            <a:r>
              <a:rPr sz="2400" b="1" dirty="0">
                <a:latin typeface="Courier New"/>
                <a:cs typeface="Courier New"/>
              </a:rPr>
              <a:t>=</a:t>
            </a:r>
            <a:r>
              <a:rPr sz="2400" b="1" spc="-25" dirty="0">
                <a:latin typeface="Courier New"/>
                <a:cs typeface="Courier New"/>
              </a:rPr>
              <a:t> </a:t>
            </a:r>
            <a:r>
              <a:rPr sz="2400" b="1" spc="-10" dirty="0">
                <a:solidFill>
                  <a:srgbClr val="001F5F"/>
                </a:solidFill>
                <a:latin typeface="Courier New"/>
                <a:cs typeface="Courier New"/>
              </a:rPr>
              <a:t>sc</a:t>
            </a:r>
            <a:r>
              <a:rPr sz="2400" b="1" spc="-10" dirty="0">
                <a:latin typeface="Courier New"/>
                <a:cs typeface="Courier New"/>
              </a:rPr>
              <a:t>.</a:t>
            </a:r>
            <a:r>
              <a:rPr sz="2400" b="1" i="1" spc="-10" dirty="0">
                <a:latin typeface="Courier New"/>
                <a:cs typeface="Courier New"/>
              </a:rPr>
              <a:t>nextDouble</a:t>
            </a:r>
            <a:r>
              <a:rPr sz="2400" b="1" spc="-10" dirty="0">
                <a:latin typeface="Courier New"/>
                <a:cs typeface="Courier New"/>
              </a:rPr>
              <a:t>();</a:t>
            </a:r>
            <a:endParaRPr sz="2400">
              <a:latin typeface="Courier New"/>
              <a:cs typeface="Courier New"/>
            </a:endParaRPr>
          </a:p>
          <a:p>
            <a:pPr marL="683260" marR="97155" lvl="1" indent="-327025">
              <a:lnSpc>
                <a:spcPct val="105900"/>
              </a:lnSpc>
              <a:spcBef>
                <a:spcPts val="490"/>
              </a:spcBef>
              <a:buClr>
                <a:srgbClr val="4B6C4E"/>
              </a:buClr>
              <a:buSzPct val="60416"/>
              <a:buFont typeface="Wingdings"/>
              <a:buChar char=""/>
              <a:tabLst>
                <a:tab pos="683260" algn="l"/>
                <a:tab pos="683895" algn="l"/>
              </a:tabLst>
            </a:pPr>
            <a:r>
              <a:rPr sz="2400" b="1" i="1" spc="-5" dirty="0">
                <a:latin typeface="Courier New"/>
                <a:cs typeface="Courier New"/>
              </a:rPr>
              <a:t>nextDouble() </a:t>
            </a:r>
            <a:r>
              <a:rPr sz="2400" spc="-5" dirty="0">
                <a:latin typeface="Arial"/>
                <a:cs typeface="Arial"/>
              </a:rPr>
              <a:t>works like a function (called </a:t>
            </a:r>
            <a:r>
              <a:rPr sz="2400" spc="-5" dirty="0">
                <a:solidFill>
                  <a:srgbClr val="C00000"/>
                </a:solidFill>
                <a:latin typeface="Arial"/>
                <a:cs typeface="Arial"/>
              </a:rPr>
              <a:t>method </a:t>
            </a:r>
            <a:r>
              <a:rPr sz="2400" spc="-5" dirty="0">
                <a:latin typeface="Arial"/>
                <a:cs typeface="Arial"/>
              </a:rPr>
              <a:t> in Java) </a:t>
            </a:r>
            <a:r>
              <a:rPr sz="2400" dirty="0">
                <a:latin typeface="Arial"/>
                <a:cs typeface="Arial"/>
              </a:rPr>
              <a:t>that </a:t>
            </a:r>
            <a:r>
              <a:rPr sz="2400" spc="-5" dirty="0">
                <a:latin typeface="Arial"/>
                <a:cs typeface="Arial"/>
              </a:rPr>
              <a:t>returns a double value read</a:t>
            </a:r>
            <a:r>
              <a:rPr sz="2400" spc="11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interactively</a:t>
            </a:r>
            <a:endParaRPr sz="2400">
              <a:latin typeface="Arial"/>
              <a:cs typeface="Arial"/>
            </a:endParaRPr>
          </a:p>
          <a:p>
            <a:pPr marL="683260" marR="659765" lvl="1" indent="-327025">
              <a:lnSpc>
                <a:spcPct val="100000"/>
              </a:lnSpc>
              <a:spcBef>
                <a:spcPts val="600"/>
              </a:spcBef>
              <a:buClr>
                <a:srgbClr val="4B6C4E"/>
              </a:buClr>
              <a:buSzPct val="60416"/>
              <a:buFont typeface="Wingdings"/>
              <a:buChar char=""/>
              <a:tabLst>
                <a:tab pos="683260" algn="l"/>
                <a:tab pos="683895" algn="l"/>
              </a:tabLst>
            </a:pPr>
            <a:r>
              <a:rPr sz="2400" dirty="0">
                <a:latin typeface="Arial"/>
                <a:cs typeface="Arial"/>
              </a:rPr>
              <a:t>The </a:t>
            </a:r>
            <a:r>
              <a:rPr sz="2400" spc="-5" dirty="0">
                <a:latin typeface="Arial"/>
                <a:cs typeface="Arial"/>
              </a:rPr>
              <a:t>Scanner object </a:t>
            </a:r>
            <a:r>
              <a:rPr sz="2400" b="1" spc="-5" dirty="0">
                <a:solidFill>
                  <a:srgbClr val="C00000"/>
                </a:solidFill>
                <a:latin typeface="Arial"/>
                <a:cs typeface="Arial"/>
              </a:rPr>
              <a:t>sc </a:t>
            </a:r>
            <a:r>
              <a:rPr sz="2400" dirty="0">
                <a:latin typeface="Arial"/>
                <a:cs typeface="Arial"/>
              </a:rPr>
              <a:t>converts the </a:t>
            </a:r>
            <a:r>
              <a:rPr sz="2400" spc="-5" dirty="0">
                <a:latin typeface="Arial"/>
                <a:cs typeface="Arial"/>
              </a:rPr>
              <a:t>input into the  appropriate data type and </a:t>
            </a:r>
            <a:r>
              <a:rPr sz="2400" dirty="0">
                <a:latin typeface="Arial"/>
                <a:cs typeface="Arial"/>
              </a:rPr>
              <a:t>returns</a:t>
            </a:r>
            <a:r>
              <a:rPr sz="2400" spc="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it</a:t>
            </a:r>
            <a:endParaRPr sz="2400">
              <a:latin typeface="Arial"/>
              <a:cs typeface="Arial"/>
            </a:endParaRPr>
          </a:p>
          <a:p>
            <a:pPr marL="1035050" marR="183515" lvl="2" indent="-352425">
              <a:lnSpc>
                <a:spcPct val="100000"/>
              </a:lnSpc>
              <a:spcBef>
                <a:spcPts val="610"/>
              </a:spcBef>
              <a:buClr>
                <a:srgbClr val="009999"/>
              </a:buClr>
              <a:buSzPct val="65000"/>
              <a:buFont typeface="Wingdings"/>
              <a:buChar char=""/>
              <a:tabLst>
                <a:tab pos="1035050" algn="l"/>
                <a:tab pos="1035685" algn="l"/>
              </a:tabLst>
            </a:pPr>
            <a:r>
              <a:rPr sz="2000" dirty="0">
                <a:latin typeface="Arial"/>
                <a:cs typeface="Arial"/>
              </a:rPr>
              <a:t>in </a:t>
            </a:r>
            <a:r>
              <a:rPr sz="2000" spc="-5" dirty="0">
                <a:latin typeface="Arial"/>
                <a:cs typeface="Arial"/>
              </a:rPr>
              <a:t>this </a:t>
            </a:r>
            <a:r>
              <a:rPr sz="2000" dirty="0">
                <a:latin typeface="Arial"/>
                <a:cs typeface="Arial"/>
              </a:rPr>
              <a:t>case, user input from the keyboard is converted into</a:t>
            </a:r>
            <a:r>
              <a:rPr sz="2000" spc="-18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  double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value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248158"/>
            <a:ext cx="73202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5" dirty="0">
                <a:solidFill>
                  <a:srgbClr val="C00000"/>
                </a:solidFill>
              </a:rPr>
              <a:t>4.3 </a:t>
            </a:r>
            <a:r>
              <a:rPr spc="20" dirty="0"/>
              <a:t>Reading </a:t>
            </a:r>
            <a:r>
              <a:rPr spc="-60" dirty="0"/>
              <a:t>Input: </a:t>
            </a:r>
            <a:r>
              <a:rPr b="1" spc="-155" dirty="0">
                <a:latin typeface="Trebuchet MS"/>
                <a:cs typeface="Trebuchet MS"/>
              </a:rPr>
              <a:t>Key </a:t>
            </a:r>
            <a:r>
              <a:rPr b="1" spc="-55" dirty="0">
                <a:latin typeface="Trebuchet MS"/>
                <a:cs typeface="Trebuchet MS"/>
              </a:rPr>
              <a:t>Points</a:t>
            </a:r>
            <a:r>
              <a:rPr b="1" spc="-70" dirty="0">
                <a:latin typeface="Trebuchet MS"/>
                <a:cs typeface="Trebuchet MS"/>
              </a:rPr>
              <a:t> </a:t>
            </a:r>
            <a:r>
              <a:rPr b="1" spc="70" dirty="0">
                <a:latin typeface="Trebuchet MS"/>
                <a:cs typeface="Trebuchet MS"/>
              </a:rPr>
              <a:t>(3/3)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89"/>
              </a:lnSpc>
              <a:tabLst>
                <a:tab pos="1996439" algn="l"/>
                <a:tab pos="8046720" algn="l"/>
              </a:tabLst>
            </a:pPr>
            <a:r>
              <a:rPr dirty="0"/>
              <a:t>[501043 Lecture 1: Intro</a:t>
            </a:r>
            <a:r>
              <a:rPr spc="-6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Java]	</a:t>
            </a:r>
            <a:r>
              <a:rPr u="heavy" dirty="0">
                <a:uFill>
                  <a:solidFill>
                    <a:srgbClr val="009999"/>
                  </a:solidFill>
                </a:uFill>
              </a:rPr>
              <a:t> 	</a:t>
            </a:r>
            <a:r>
              <a:rPr sz="1600" b="1" i="1" spc="-5" dirty="0">
                <a:solidFill>
                  <a:srgbClr val="C00000"/>
                </a:solidFill>
                <a:latin typeface="Arial"/>
                <a:cs typeface="Arial"/>
              </a:rPr>
              <a:t>41</a:t>
            </a:r>
            <a:endParaRPr sz="1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089101"/>
            <a:ext cx="8014970" cy="34105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lr>
                <a:srgbClr val="009999"/>
              </a:buClr>
              <a:buSzPct val="65000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3000" dirty="0">
                <a:latin typeface="Arial"/>
                <a:cs typeface="Arial"/>
              </a:rPr>
              <a:t>Typically, only one Scanner object is</a:t>
            </a:r>
            <a:r>
              <a:rPr sz="3000" spc="-12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needed,  </a:t>
            </a:r>
            <a:r>
              <a:rPr sz="3000" spc="-5" dirty="0">
                <a:latin typeface="Arial"/>
                <a:cs typeface="Arial"/>
              </a:rPr>
              <a:t>even </a:t>
            </a:r>
            <a:r>
              <a:rPr sz="3000" dirty="0">
                <a:latin typeface="Arial"/>
                <a:cs typeface="Arial"/>
              </a:rPr>
              <a:t>if </a:t>
            </a:r>
            <a:r>
              <a:rPr sz="3000" spc="-5" dirty="0">
                <a:latin typeface="Arial"/>
                <a:cs typeface="Arial"/>
              </a:rPr>
              <a:t>many </a:t>
            </a:r>
            <a:r>
              <a:rPr sz="3000" dirty="0">
                <a:latin typeface="Arial"/>
                <a:cs typeface="Arial"/>
              </a:rPr>
              <a:t>input values </a:t>
            </a:r>
            <a:r>
              <a:rPr sz="3000" spc="-5" dirty="0">
                <a:latin typeface="Arial"/>
                <a:cs typeface="Arial"/>
              </a:rPr>
              <a:t>are </a:t>
            </a:r>
            <a:r>
              <a:rPr sz="3000" dirty="0">
                <a:latin typeface="Arial"/>
                <a:cs typeface="Arial"/>
              </a:rPr>
              <a:t>to be</a:t>
            </a:r>
            <a:r>
              <a:rPr sz="3000" spc="-20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read.</a:t>
            </a:r>
            <a:endParaRPr sz="3000">
              <a:latin typeface="Arial"/>
              <a:cs typeface="Arial"/>
            </a:endParaRPr>
          </a:p>
          <a:p>
            <a:pPr marL="683260" marR="156210" lvl="1" indent="-327025">
              <a:lnSpc>
                <a:spcPct val="100000"/>
              </a:lnSpc>
              <a:spcBef>
                <a:spcPts val="620"/>
              </a:spcBef>
              <a:buClr>
                <a:srgbClr val="4B6C4E"/>
              </a:buClr>
              <a:buSzPct val="59615"/>
              <a:buFont typeface="Wingdings"/>
              <a:buChar char=""/>
              <a:tabLst>
                <a:tab pos="683260" algn="l"/>
                <a:tab pos="683895" algn="l"/>
              </a:tabLst>
            </a:pPr>
            <a:r>
              <a:rPr sz="2600" dirty="0">
                <a:latin typeface="Arial"/>
                <a:cs typeface="Arial"/>
              </a:rPr>
              <a:t>The same Scanner object can be used to call</a:t>
            </a:r>
            <a:r>
              <a:rPr sz="2600" spc="-7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the  relevant methods to read input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values</a:t>
            </a:r>
            <a:endParaRPr sz="2600">
              <a:latin typeface="Arial"/>
              <a:cs typeface="Arial"/>
            </a:endParaRPr>
          </a:p>
          <a:p>
            <a:pPr marL="355600" marR="54610" indent="-342900">
              <a:lnSpc>
                <a:spcPct val="100000"/>
              </a:lnSpc>
              <a:spcBef>
                <a:spcPts val="1785"/>
              </a:spcBef>
              <a:buClr>
                <a:srgbClr val="009999"/>
              </a:buClr>
              <a:buSzPct val="65000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3000" dirty="0">
                <a:solidFill>
                  <a:srgbClr val="C00000"/>
                </a:solidFill>
                <a:latin typeface="Arial"/>
                <a:cs typeface="Arial"/>
              </a:rPr>
              <a:t>Note: </a:t>
            </a:r>
            <a:r>
              <a:rPr sz="3000" dirty="0">
                <a:latin typeface="Arial"/>
                <a:cs typeface="Arial"/>
              </a:rPr>
              <a:t>In </a:t>
            </a:r>
            <a:r>
              <a:rPr sz="3000" spc="-5" dirty="0">
                <a:latin typeface="Arial"/>
                <a:cs typeface="Arial"/>
              </a:rPr>
              <a:t>CodeCrunch, your program </a:t>
            </a:r>
            <a:r>
              <a:rPr sz="3000" dirty="0">
                <a:latin typeface="Arial"/>
                <a:cs typeface="Arial"/>
              </a:rPr>
              <a:t>will</a:t>
            </a:r>
            <a:r>
              <a:rPr sz="3000" spc="-45" dirty="0">
                <a:latin typeface="Arial"/>
                <a:cs typeface="Arial"/>
              </a:rPr>
              <a:t> </a:t>
            </a:r>
            <a:r>
              <a:rPr sz="3000" dirty="0">
                <a:solidFill>
                  <a:srgbClr val="C00000"/>
                </a:solidFill>
                <a:latin typeface="Arial"/>
                <a:cs typeface="Arial"/>
              </a:rPr>
              <a:t>NOT </a:t>
            </a:r>
            <a:r>
              <a:rPr sz="3000" dirty="0">
                <a:latin typeface="Arial"/>
                <a:cs typeface="Arial"/>
              </a:rPr>
              <a:t> work if you use </a:t>
            </a:r>
            <a:r>
              <a:rPr sz="3000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more </a:t>
            </a:r>
            <a:r>
              <a:rPr sz="3000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than one Scanner  object</a:t>
            </a:r>
            <a:r>
              <a:rPr sz="3000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in your</a:t>
            </a:r>
            <a:r>
              <a:rPr sz="3000" spc="-25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program.</a:t>
            </a:r>
            <a:endParaRPr sz="3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249681"/>
            <a:ext cx="7813040" cy="543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400" spc="95" dirty="0">
                <a:solidFill>
                  <a:srgbClr val="C00000"/>
                </a:solidFill>
              </a:rPr>
              <a:t>4.3 </a:t>
            </a:r>
            <a:r>
              <a:rPr sz="3400" spc="-40" dirty="0"/>
              <a:t>Writing </a:t>
            </a:r>
            <a:r>
              <a:rPr sz="3400" spc="-114" dirty="0"/>
              <a:t>Output: </a:t>
            </a:r>
            <a:r>
              <a:rPr sz="3400" b="1" spc="-229" dirty="0">
                <a:latin typeface="Trebuchet MS"/>
                <a:cs typeface="Trebuchet MS"/>
              </a:rPr>
              <a:t>The </a:t>
            </a:r>
            <a:r>
              <a:rPr sz="3400" b="1" spc="-65" dirty="0">
                <a:latin typeface="Trebuchet MS"/>
                <a:cs typeface="Trebuchet MS"/>
              </a:rPr>
              <a:t>Standard</a:t>
            </a:r>
            <a:r>
              <a:rPr sz="3400" b="1" spc="300" dirty="0">
                <a:latin typeface="Trebuchet MS"/>
                <a:cs typeface="Trebuchet MS"/>
              </a:rPr>
              <a:t> </a:t>
            </a:r>
            <a:r>
              <a:rPr sz="3400" b="1" spc="-160" dirty="0">
                <a:latin typeface="Trebuchet MS"/>
                <a:cs typeface="Trebuchet MS"/>
              </a:rPr>
              <a:t>Output</a:t>
            </a:r>
            <a:endParaRPr sz="3400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27050" y="1746250"/>
            <a:ext cx="546100" cy="2298700"/>
            <a:chOff x="527050" y="1746250"/>
            <a:chExt cx="546100" cy="2298700"/>
          </a:xfrm>
        </p:grpSpPr>
        <p:sp>
          <p:nvSpPr>
            <p:cNvPr id="4" name="object 4"/>
            <p:cNvSpPr/>
            <p:nvPr/>
          </p:nvSpPr>
          <p:spPr>
            <a:xfrm>
              <a:off x="533400" y="1752600"/>
              <a:ext cx="533400" cy="2286000"/>
            </a:xfrm>
            <a:custGeom>
              <a:avLst/>
              <a:gdLst/>
              <a:ahLst/>
              <a:cxnLst/>
              <a:rect l="l" t="t" r="r" b="b"/>
              <a:pathLst>
                <a:path w="533400" h="2286000">
                  <a:moveTo>
                    <a:pt x="533400" y="0"/>
                  </a:moveTo>
                  <a:lnTo>
                    <a:pt x="0" y="0"/>
                  </a:lnTo>
                  <a:lnTo>
                    <a:pt x="0" y="2286000"/>
                  </a:lnTo>
                  <a:lnTo>
                    <a:pt x="533400" y="2286000"/>
                  </a:lnTo>
                  <a:lnTo>
                    <a:pt x="533400" y="0"/>
                  </a:lnTo>
                  <a:close/>
                </a:path>
              </a:pathLst>
            </a:custGeom>
            <a:solidFill>
              <a:srgbClr val="FF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33400" y="1752600"/>
              <a:ext cx="533400" cy="2286000"/>
            </a:xfrm>
            <a:custGeom>
              <a:avLst/>
              <a:gdLst/>
              <a:ahLst/>
              <a:cxnLst/>
              <a:rect l="l" t="t" r="r" b="b"/>
              <a:pathLst>
                <a:path w="533400" h="2286000">
                  <a:moveTo>
                    <a:pt x="0" y="2286000"/>
                  </a:moveTo>
                  <a:lnTo>
                    <a:pt x="533400" y="2286000"/>
                  </a:lnTo>
                  <a:lnTo>
                    <a:pt x="533400" y="0"/>
                  </a:lnTo>
                  <a:lnTo>
                    <a:pt x="0" y="0"/>
                  </a:lnTo>
                  <a:lnTo>
                    <a:pt x="0" y="2286000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665522" y="2430653"/>
            <a:ext cx="281305" cy="93091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b="1" dirty="0">
                <a:latin typeface="Arial"/>
                <a:cs typeface="Arial"/>
              </a:rPr>
              <a:t>SYN</a:t>
            </a:r>
            <a:r>
              <a:rPr sz="1800" b="1" spc="-130" dirty="0">
                <a:latin typeface="Arial"/>
                <a:cs typeface="Arial"/>
              </a:rPr>
              <a:t>T</a:t>
            </a:r>
            <a:r>
              <a:rPr sz="1800" b="1" spc="-55" dirty="0">
                <a:latin typeface="Arial"/>
                <a:cs typeface="Arial"/>
              </a:rPr>
              <a:t>A</a:t>
            </a:r>
            <a:r>
              <a:rPr sz="1800" b="1" dirty="0">
                <a:latin typeface="Arial"/>
                <a:cs typeface="Arial"/>
              </a:rPr>
              <a:t>X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066800" y="1752600"/>
            <a:ext cx="7391400" cy="2286000"/>
          </a:xfrm>
          <a:custGeom>
            <a:avLst/>
            <a:gdLst/>
            <a:ahLst/>
            <a:cxnLst/>
            <a:rect l="l" t="t" r="r" b="b"/>
            <a:pathLst>
              <a:path w="7391400" h="2286000">
                <a:moveTo>
                  <a:pt x="0" y="2286000"/>
                </a:moveTo>
                <a:lnTo>
                  <a:pt x="7391400" y="2286000"/>
                </a:lnTo>
                <a:lnTo>
                  <a:pt x="7391400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35940" y="854709"/>
            <a:ext cx="7494270" cy="29394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lr>
                <a:srgbClr val="009999"/>
              </a:buClr>
              <a:buSzPct val="65384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600" b="1" spc="-5" dirty="0">
                <a:solidFill>
                  <a:srgbClr val="C00000"/>
                </a:solidFill>
                <a:latin typeface="Courier New"/>
                <a:cs typeface="Courier New"/>
              </a:rPr>
              <a:t>System.out</a:t>
            </a:r>
            <a:r>
              <a:rPr sz="2600" b="1" spc="-84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2600" dirty="0">
                <a:latin typeface="Arial"/>
                <a:cs typeface="Arial"/>
              </a:rPr>
              <a:t>is the predefined output device</a:t>
            </a:r>
            <a:endParaRPr sz="2600">
              <a:latin typeface="Arial"/>
              <a:cs typeface="Arial"/>
            </a:endParaRPr>
          </a:p>
          <a:p>
            <a:pPr marL="683260" lvl="1" indent="-327025">
              <a:lnSpc>
                <a:spcPct val="100000"/>
              </a:lnSpc>
              <a:spcBef>
                <a:spcPts val="40"/>
              </a:spcBef>
              <a:buClr>
                <a:srgbClr val="4B6C4E"/>
              </a:buClr>
              <a:buSzPct val="59090"/>
              <a:buFont typeface="Wingdings"/>
              <a:buChar char=""/>
              <a:tabLst>
                <a:tab pos="683260" algn="l"/>
                <a:tab pos="683895" algn="l"/>
              </a:tabLst>
            </a:pPr>
            <a:r>
              <a:rPr sz="2200" spc="-5" dirty="0">
                <a:latin typeface="Arial"/>
                <a:cs typeface="Arial"/>
              </a:rPr>
              <a:t>Refers to the monitor/screen of your</a:t>
            </a:r>
            <a:r>
              <a:rPr sz="2200" spc="80" dirty="0">
                <a:latin typeface="Arial"/>
                <a:cs typeface="Arial"/>
              </a:rPr>
              <a:t> </a:t>
            </a:r>
            <a:r>
              <a:rPr sz="2200" spc="-5" dirty="0">
                <a:latin typeface="Arial"/>
                <a:cs typeface="Arial"/>
              </a:rPr>
              <a:t>computer</a:t>
            </a:r>
            <a:endParaRPr sz="2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350">
              <a:latin typeface="Arial"/>
              <a:cs typeface="Arial"/>
            </a:endParaRPr>
          </a:p>
          <a:p>
            <a:pPr marL="774700" marR="1529080">
              <a:lnSpc>
                <a:spcPct val="100000"/>
              </a:lnSpc>
            </a:pPr>
            <a:r>
              <a:rPr sz="2000" b="1" i="1" spc="-5" dirty="0">
                <a:solidFill>
                  <a:srgbClr val="585858"/>
                </a:solidFill>
                <a:latin typeface="Courier New"/>
                <a:cs typeface="Courier New"/>
              </a:rPr>
              <a:t>//Functionality provided  </a:t>
            </a:r>
            <a:r>
              <a:rPr sz="2000" b="1" i="1" spc="-5" dirty="0">
                <a:latin typeface="Courier New"/>
                <a:cs typeface="Courier New"/>
              </a:rPr>
              <a:t>System.out.print</a:t>
            </a:r>
            <a:r>
              <a:rPr sz="2000" b="1" spc="-5" dirty="0">
                <a:latin typeface="Courier New"/>
                <a:cs typeface="Courier New"/>
              </a:rPr>
              <a:t>( </a:t>
            </a:r>
            <a:r>
              <a:rPr sz="2000" b="1" i="1" spc="-5" dirty="0">
                <a:latin typeface="Courier New"/>
                <a:cs typeface="Courier New"/>
              </a:rPr>
              <a:t>output_string</a:t>
            </a:r>
            <a:r>
              <a:rPr sz="2000" b="1" i="1" spc="-15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);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100">
              <a:latin typeface="Courier New"/>
              <a:cs typeface="Courier New"/>
            </a:endParaRPr>
          </a:p>
          <a:p>
            <a:pPr marL="774700">
              <a:lnSpc>
                <a:spcPct val="100000"/>
              </a:lnSpc>
              <a:spcBef>
                <a:spcPts val="5"/>
              </a:spcBef>
            </a:pPr>
            <a:r>
              <a:rPr sz="2000" b="1" i="1" spc="-5" dirty="0">
                <a:latin typeface="Courier New"/>
                <a:cs typeface="Courier New"/>
              </a:rPr>
              <a:t>System.out.println</a:t>
            </a:r>
            <a:r>
              <a:rPr sz="2000" b="1" spc="-5" dirty="0">
                <a:latin typeface="Courier New"/>
                <a:cs typeface="Courier New"/>
              </a:rPr>
              <a:t>( </a:t>
            </a:r>
            <a:r>
              <a:rPr sz="2000" b="1" i="1" spc="-5" dirty="0">
                <a:latin typeface="Courier New"/>
                <a:cs typeface="Courier New"/>
              </a:rPr>
              <a:t>output_string</a:t>
            </a:r>
            <a:r>
              <a:rPr sz="2000" b="1" i="1" spc="-10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);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100">
              <a:latin typeface="Courier New"/>
              <a:cs typeface="Courier New"/>
            </a:endParaRPr>
          </a:p>
          <a:p>
            <a:pPr marL="774700">
              <a:lnSpc>
                <a:spcPct val="100000"/>
              </a:lnSpc>
            </a:pPr>
            <a:r>
              <a:rPr sz="2000" b="1" i="1" spc="-5" dirty="0">
                <a:latin typeface="Courier New"/>
                <a:cs typeface="Courier New"/>
              </a:rPr>
              <a:t>System.out.printf</a:t>
            </a:r>
            <a:r>
              <a:rPr sz="2000" b="1" spc="-5" dirty="0">
                <a:latin typeface="Courier New"/>
                <a:cs typeface="Courier New"/>
              </a:rPr>
              <a:t>( </a:t>
            </a:r>
            <a:r>
              <a:rPr sz="2000" b="1" i="1" spc="-5" dirty="0">
                <a:latin typeface="Courier New"/>
                <a:cs typeface="Courier New"/>
              </a:rPr>
              <a:t>format_string, [items]</a:t>
            </a:r>
            <a:r>
              <a:rPr sz="2000" b="1" i="1" spc="15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);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89"/>
              </a:lnSpc>
              <a:tabLst>
                <a:tab pos="1996439" algn="l"/>
                <a:tab pos="8046720" algn="l"/>
              </a:tabLst>
            </a:pPr>
            <a:r>
              <a:rPr dirty="0"/>
              <a:t>[501043 Lecture 1: Intro</a:t>
            </a:r>
            <a:r>
              <a:rPr spc="-6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Java]	</a:t>
            </a:r>
            <a:r>
              <a:rPr u="heavy" dirty="0">
                <a:uFill>
                  <a:solidFill>
                    <a:srgbClr val="009999"/>
                  </a:solidFill>
                </a:uFill>
              </a:rPr>
              <a:t> 	</a:t>
            </a:r>
            <a:r>
              <a:rPr sz="1600" b="1" i="1" spc="-5" dirty="0">
                <a:solidFill>
                  <a:srgbClr val="C00000"/>
                </a:solidFill>
                <a:latin typeface="Arial"/>
                <a:cs typeface="Arial"/>
              </a:rPr>
              <a:t>42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3400" y="4114800"/>
            <a:ext cx="7924800" cy="2032000"/>
          </a:xfrm>
          <a:prstGeom prst="rect">
            <a:avLst/>
          </a:prstGeom>
          <a:solidFill>
            <a:srgbClr val="FFFFCC"/>
          </a:solidFill>
          <a:ln w="9144">
            <a:solidFill>
              <a:srgbClr val="85AA87"/>
            </a:solidFill>
          </a:ln>
        </p:spPr>
        <p:txBody>
          <a:bodyPr vert="horz" wrap="square" lIns="0" tIns="12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endParaRPr sz="2000">
              <a:latin typeface="Times New Roman"/>
              <a:cs typeface="Times New Roman"/>
            </a:endParaRPr>
          </a:p>
          <a:p>
            <a:pPr marL="91440" marR="4276725">
              <a:lnSpc>
                <a:spcPct val="100000"/>
              </a:lnSpc>
              <a:spcBef>
                <a:spcPts val="5"/>
              </a:spcBef>
            </a:pPr>
            <a:r>
              <a:rPr sz="1800" b="1" spc="-10" dirty="0">
                <a:latin typeface="Courier New"/>
                <a:cs typeface="Courier New"/>
              </a:rPr>
              <a:t>System.out.print(</a:t>
            </a:r>
            <a:r>
              <a:rPr sz="1800" b="1" spc="-10" dirty="0">
                <a:solidFill>
                  <a:srgbClr val="006600"/>
                </a:solidFill>
                <a:latin typeface="Courier New"/>
                <a:cs typeface="Courier New"/>
              </a:rPr>
              <a:t>"ABC"</a:t>
            </a:r>
            <a:r>
              <a:rPr sz="1800" b="1" spc="-10" dirty="0">
                <a:latin typeface="Courier New"/>
                <a:cs typeface="Courier New"/>
              </a:rPr>
              <a:t>);  </a:t>
            </a:r>
            <a:r>
              <a:rPr sz="1800" b="1" spc="-5" dirty="0">
                <a:latin typeface="Courier New"/>
                <a:cs typeface="Courier New"/>
              </a:rPr>
              <a:t>Sy</a:t>
            </a:r>
            <a:r>
              <a:rPr sz="1800" b="1" spc="-15" dirty="0">
                <a:latin typeface="Courier New"/>
                <a:cs typeface="Courier New"/>
              </a:rPr>
              <a:t>s</a:t>
            </a:r>
            <a:r>
              <a:rPr sz="1800" b="1" spc="-5" dirty="0">
                <a:latin typeface="Courier New"/>
                <a:cs typeface="Courier New"/>
              </a:rPr>
              <a:t>t</a:t>
            </a:r>
            <a:r>
              <a:rPr sz="1800" b="1" spc="-15" dirty="0">
                <a:latin typeface="Courier New"/>
                <a:cs typeface="Courier New"/>
              </a:rPr>
              <a:t>e</a:t>
            </a:r>
            <a:r>
              <a:rPr sz="1800" b="1" spc="-5" dirty="0">
                <a:latin typeface="Courier New"/>
                <a:cs typeface="Courier New"/>
              </a:rPr>
              <a:t>m.</a:t>
            </a:r>
            <a:r>
              <a:rPr sz="1800" b="1" spc="-15" dirty="0">
                <a:latin typeface="Courier New"/>
                <a:cs typeface="Courier New"/>
              </a:rPr>
              <a:t>o</a:t>
            </a:r>
            <a:r>
              <a:rPr sz="1800" b="1" spc="-5" dirty="0">
                <a:latin typeface="Courier New"/>
                <a:cs typeface="Courier New"/>
              </a:rPr>
              <a:t>u</a:t>
            </a:r>
            <a:r>
              <a:rPr sz="1800" b="1" spc="-15" dirty="0">
                <a:latin typeface="Courier New"/>
                <a:cs typeface="Courier New"/>
              </a:rPr>
              <a:t>t.</a:t>
            </a:r>
            <a:r>
              <a:rPr sz="1800" b="1" spc="-5" dirty="0">
                <a:latin typeface="Courier New"/>
                <a:cs typeface="Courier New"/>
              </a:rPr>
              <a:t>pr</a:t>
            </a:r>
            <a:r>
              <a:rPr sz="1800" b="1" spc="-15" dirty="0">
                <a:latin typeface="Courier New"/>
                <a:cs typeface="Courier New"/>
              </a:rPr>
              <a:t>i</a:t>
            </a:r>
            <a:r>
              <a:rPr sz="1800" b="1" spc="-5" dirty="0">
                <a:latin typeface="Courier New"/>
                <a:cs typeface="Courier New"/>
              </a:rPr>
              <a:t>n</a:t>
            </a:r>
            <a:r>
              <a:rPr sz="1800" b="1" spc="-15" dirty="0">
                <a:latin typeface="Courier New"/>
                <a:cs typeface="Courier New"/>
              </a:rPr>
              <a:t>t</a:t>
            </a:r>
            <a:r>
              <a:rPr sz="1800" b="1" spc="-5" dirty="0">
                <a:latin typeface="Courier New"/>
                <a:cs typeface="Courier New"/>
              </a:rPr>
              <a:t>l</a:t>
            </a:r>
            <a:r>
              <a:rPr sz="1800" b="1" spc="5" dirty="0">
                <a:latin typeface="Courier New"/>
                <a:cs typeface="Courier New"/>
              </a:rPr>
              <a:t>n</a:t>
            </a:r>
            <a:r>
              <a:rPr sz="1800" b="1" spc="-15" dirty="0">
                <a:latin typeface="Courier New"/>
                <a:cs typeface="Courier New"/>
              </a:rPr>
              <a:t>(</a:t>
            </a:r>
            <a:r>
              <a:rPr sz="1800" b="1" spc="-5" dirty="0">
                <a:solidFill>
                  <a:srgbClr val="006600"/>
                </a:solidFill>
                <a:latin typeface="Courier New"/>
                <a:cs typeface="Courier New"/>
              </a:rPr>
              <a:t>"</a:t>
            </a:r>
            <a:r>
              <a:rPr sz="1800" b="1" spc="-15" dirty="0">
                <a:solidFill>
                  <a:srgbClr val="006600"/>
                </a:solidFill>
                <a:latin typeface="Courier New"/>
                <a:cs typeface="Courier New"/>
              </a:rPr>
              <a:t>DE</a:t>
            </a:r>
            <a:r>
              <a:rPr sz="1800" b="1" spc="-5" dirty="0">
                <a:solidFill>
                  <a:srgbClr val="006600"/>
                </a:solidFill>
                <a:latin typeface="Courier New"/>
                <a:cs typeface="Courier New"/>
              </a:rPr>
              <a:t>F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"</a:t>
            </a:r>
            <a:r>
              <a:rPr sz="1800" b="1" spc="-15" dirty="0">
                <a:latin typeface="Courier New"/>
                <a:cs typeface="Courier New"/>
              </a:rPr>
              <a:t>);  </a:t>
            </a:r>
            <a:r>
              <a:rPr sz="1800" b="1" spc="-5" dirty="0">
                <a:latin typeface="Courier New"/>
                <a:cs typeface="Courier New"/>
              </a:rPr>
              <a:t>Sy</a:t>
            </a:r>
            <a:r>
              <a:rPr sz="1800" b="1" spc="-15" dirty="0">
                <a:latin typeface="Courier New"/>
                <a:cs typeface="Courier New"/>
              </a:rPr>
              <a:t>s</a:t>
            </a:r>
            <a:r>
              <a:rPr sz="1800" b="1" spc="-5" dirty="0">
                <a:latin typeface="Courier New"/>
                <a:cs typeface="Courier New"/>
              </a:rPr>
              <a:t>t</a:t>
            </a:r>
            <a:r>
              <a:rPr sz="1800" b="1" spc="-15" dirty="0">
                <a:latin typeface="Courier New"/>
                <a:cs typeface="Courier New"/>
              </a:rPr>
              <a:t>e</a:t>
            </a:r>
            <a:r>
              <a:rPr sz="1800" b="1" spc="-5" dirty="0">
                <a:latin typeface="Courier New"/>
                <a:cs typeface="Courier New"/>
              </a:rPr>
              <a:t>m.</a:t>
            </a:r>
            <a:r>
              <a:rPr sz="1800" b="1" spc="-15" dirty="0">
                <a:latin typeface="Courier New"/>
                <a:cs typeface="Courier New"/>
              </a:rPr>
              <a:t>o</a:t>
            </a:r>
            <a:r>
              <a:rPr sz="1800" b="1" spc="-5" dirty="0">
                <a:latin typeface="Courier New"/>
                <a:cs typeface="Courier New"/>
              </a:rPr>
              <a:t>u</a:t>
            </a:r>
            <a:r>
              <a:rPr sz="1800" b="1" spc="-15" dirty="0">
                <a:latin typeface="Courier New"/>
                <a:cs typeface="Courier New"/>
              </a:rPr>
              <a:t>t.</a:t>
            </a:r>
            <a:r>
              <a:rPr sz="1800" b="1" spc="-5" dirty="0">
                <a:latin typeface="Courier New"/>
                <a:cs typeface="Courier New"/>
              </a:rPr>
              <a:t>pr</a:t>
            </a:r>
            <a:r>
              <a:rPr sz="1800" b="1" spc="-15" dirty="0">
                <a:latin typeface="Courier New"/>
                <a:cs typeface="Courier New"/>
              </a:rPr>
              <a:t>i</a:t>
            </a:r>
            <a:r>
              <a:rPr sz="1800" b="1" spc="-5" dirty="0">
                <a:latin typeface="Courier New"/>
                <a:cs typeface="Courier New"/>
              </a:rPr>
              <a:t>n</a:t>
            </a:r>
            <a:r>
              <a:rPr sz="1800" b="1" spc="-15" dirty="0">
                <a:latin typeface="Courier New"/>
                <a:cs typeface="Courier New"/>
              </a:rPr>
              <a:t>t</a:t>
            </a:r>
            <a:r>
              <a:rPr sz="1800" b="1" spc="-5" dirty="0">
                <a:latin typeface="Courier New"/>
                <a:cs typeface="Courier New"/>
              </a:rPr>
              <a:t>l</a:t>
            </a:r>
            <a:r>
              <a:rPr sz="1800" b="1" spc="5" dirty="0">
                <a:latin typeface="Courier New"/>
                <a:cs typeface="Courier New"/>
              </a:rPr>
              <a:t>n</a:t>
            </a:r>
            <a:r>
              <a:rPr sz="1800" b="1" spc="-15" dirty="0">
                <a:latin typeface="Courier New"/>
                <a:cs typeface="Courier New"/>
              </a:rPr>
              <a:t>(</a:t>
            </a:r>
            <a:r>
              <a:rPr sz="1800" b="1" spc="-5" dirty="0">
                <a:solidFill>
                  <a:srgbClr val="006600"/>
                </a:solidFill>
                <a:latin typeface="Courier New"/>
                <a:cs typeface="Courier New"/>
              </a:rPr>
              <a:t>"</a:t>
            </a:r>
            <a:r>
              <a:rPr sz="1800" b="1" spc="-15" dirty="0">
                <a:solidFill>
                  <a:srgbClr val="006600"/>
                </a:solidFill>
                <a:latin typeface="Courier New"/>
                <a:cs typeface="Courier New"/>
              </a:rPr>
              <a:t>GH</a:t>
            </a:r>
            <a:r>
              <a:rPr sz="1800" b="1" spc="-5" dirty="0">
                <a:solidFill>
                  <a:srgbClr val="006600"/>
                </a:solidFill>
                <a:latin typeface="Courier New"/>
                <a:cs typeface="Courier New"/>
              </a:rPr>
              <a:t>I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"</a:t>
            </a:r>
            <a:r>
              <a:rPr sz="1800" b="1" spc="-15" dirty="0">
                <a:latin typeface="Courier New"/>
                <a:cs typeface="Courier New"/>
              </a:rPr>
              <a:t>);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900">
              <a:latin typeface="Courier New"/>
              <a:cs typeface="Courier New"/>
            </a:endParaRPr>
          </a:p>
          <a:p>
            <a:pPr marL="91440">
              <a:lnSpc>
                <a:spcPct val="100000"/>
              </a:lnSpc>
            </a:pPr>
            <a:r>
              <a:rPr sz="1800" b="1" spc="-10" dirty="0">
                <a:latin typeface="Courier New"/>
                <a:cs typeface="Courier New"/>
              </a:rPr>
              <a:t>System.out.printf(</a:t>
            </a:r>
            <a:r>
              <a:rPr sz="1800" b="1" spc="-10" dirty="0">
                <a:solidFill>
                  <a:srgbClr val="006600"/>
                </a:solidFill>
                <a:latin typeface="Courier New"/>
                <a:cs typeface="Courier New"/>
              </a:rPr>
              <a:t>"Very C-like </a:t>
            </a:r>
            <a:r>
              <a:rPr sz="1800" b="1" spc="-10" dirty="0">
                <a:solidFill>
                  <a:srgbClr val="FF0000"/>
                </a:solidFill>
                <a:latin typeface="Courier New"/>
                <a:cs typeface="Courier New"/>
              </a:rPr>
              <a:t>%.3f\n</a:t>
            </a:r>
            <a:r>
              <a:rPr sz="1800" b="1" spc="-10" dirty="0">
                <a:solidFill>
                  <a:srgbClr val="006600"/>
                </a:solidFill>
                <a:latin typeface="Courier New"/>
                <a:cs typeface="Courier New"/>
              </a:rPr>
              <a:t>"</a:t>
            </a:r>
            <a:r>
              <a:rPr sz="1800" b="1" spc="-10" dirty="0">
                <a:latin typeface="Courier New"/>
                <a:cs typeface="Courier New"/>
              </a:rPr>
              <a:t>, </a:t>
            </a:r>
            <a:r>
              <a:rPr sz="1800" b="1" spc="-10" dirty="0">
                <a:solidFill>
                  <a:srgbClr val="006600"/>
                </a:solidFill>
                <a:latin typeface="Courier New"/>
                <a:cs typeface="Courier New"/>
              </a:rPr>
              <a:t>3.14159</a:t>
            </a:r>
            <a:r>
              <a:rPr sz="1800" b="1" spc="-10" dirty="0">
                <a:latin typeface="Courier New"/>
                <a:cs typeface="Courier New"/>
              </a:rPr>
              <a:t>);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791200" y="4191000"/>
            <a:ext cx="2590800" cy="1066800"/>
          </a:xfrm>
          <a:prstGeom prst="rect">
            <a:avLst/>
          </a:prstGeom>
          <a:solidFill>
            <a:srgbClr val="CCFFCC"/>
          </a:solidFill>
          <a:ln w="9144">
            <a:solidFill>
              <a:srgbClr val="00AF5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2075">
              <a:lnSpc>
                <a:spcPts val="1839"/>
              </a:lnSpc>
            </a:pPr>
            <a:r>
              <a:rPr sz="1600" i="1" spc="-5" dirty="0">
                <a:solidFill>
                  <a:srgbClr val="0000FF"/>
                </a:solidFill>
                <a:latin typeface="Arial"/>
                <a:cs typeface="Arial"/>
              </a:rPr>
              <a:t>Output:</a:t>
            </a:r>
            <a:endParaRPr sz="1600">
              <a:latin typeface="Arial"/>
              <a:cs typeface="Arial"/>
            </a:endParaRPr>
          </a:p>
          <a:p>
            <a:pPr marL="92075" marR="1758950">
              <a:lnSpc>
                <a:spcPct val="100000"/>
              </a:lnSpc>
              <a:spcBef>
                <a:spcPts val="560"/>
              </a:spcBef>
            </a:pPr>
            <a:r>
              <a:rPr sz="1600" b="1" spc="-5" dirty="0">
                <a:latin typeface="Courier New"/>
                <a:cs typeface="Courier New"/>
              </a:rPr>
              <a:t>ABCDEF  GHI</a:t>
            </a:r>
            <a:endParaRPr sz="1600">
              <a:latin typeface="Courier New"/>
              <a:cs typeface="Courier New"/>
            </a:endParaRPr>
          </a:p>
          <a:p>
            <a:pPr marL="92075">
              <a:lnSpc>
                <a:spcPct val="100000"/>
              </a:lnSpc>
              <a:spcBef>
                <a:spcPts val="5"/>
              </a:spcBef>
            </a:pPr>
            <a:r>
              <a:rPr sz="1600" b="1" spc="-5" dirty="0">
                <a:latin typeface="Courier New"/>
                <a:cs typeface="Courier New"/>
              </a:rPr>
              <a:t>Very C-like</a:t>
            </a:r>
            <a:r>
              <a:rPr sz="1600" b="1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3.142</a:t>
            </a:r>
            <a:endParaRPr sz="16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248158"/>
            <a:ext cx="55435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5" dirty="0">
                <a:solidFill>
                  <a:srgbClr val="C00000"/>
                </a:solidFill>
              </a:rPr>
              <a:t>4.3 </a:t>
            </a:r>
            <a:r>
              <a:rPr spc="-40" dirty="0"/>
              <a:t>Writing </a:t>
            </a:r>
            <a:r>
              <a:rPr spc="-114" dirty="0"/>
              <a:t>Output:</a:t>
            </a:r>
            <a:r>
              <a:rPr spc="-130" dirty="0"/>
              <a:t> </a:t>
            </a:r>
            <a:r>
              <a:rPr b="1" spc="-90" dirty="0">
                <a:latin typeface="Trebuchet MS"/>
                <a:cs typeface="Trebuchet MS"/>
              </a:rPr>
              <a:t>printf()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603250" y="4032250"/>
          <a:ext cx="4057650" cy="18669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06755"/>
                <a:gridCol w="3331845"/>
              </a:tblGrid>
              <a:tr h="3708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800" b="1" spc="-5" dirty="0">
                          <a:latin typeface="Courier New"/>
                          <a:cs typeface="Courier New"/>
                        </a:rPr>
                        <a:t>%d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190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EDE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for 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integer value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EDE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800" b="1" spc="-5" dirty="0">
                          <a:latin typeface="Courier New"/>
                          <a:cs typeface="Courier New"/>
                        </a:rPr>
                        <a:t>%f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190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EEE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for 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double 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floating-point</a:t>
                      </a:r>
                      <a:r>
                        <a:rPr sz="180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value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EEE"/>
                    </a:solidFill>
                  </a:tcPr>
                </a:tc>
              </a:tr>
              <a:tr h="3708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800" b="1" spc="-5" dirty="0">
                          <a:latin typeface="Courier New"/>
                          <a:cs typeface="Courier New"/>
                        </a:rPr>
                        <a:t>%s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190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EDE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for string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EDE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800" b="1" spc="-5" dirty="0">
                          <a:latin typeface="Courier New"/>
                          <a:cs typeface="Courier New"/>
                        </a:rPr>
                        <a:t>%b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190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EEE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for 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boolean</a:t>
                      </a:r>
                      <a:r>
                        <a:rPr sz="180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value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EEE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800" b="1" spc="-5" dirty="0">
                          <a:latin typeface="Courier New"/>
                          <a:cs typeface="Courier New"/>
                        </a:rPr>
                        <a:t>%c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EDE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for 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character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value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EDE"/>
                    </a:solidFill>
                  </a:tcPr>
                </a:tc>
              </a:tr>
            </a:tbl>
          </a:graphicData>
        </a:graphic>
      </p:graphicFrame>
      <p:grpSp>
        <p:nvGrpSpPr>
          <p:cNvPr id="4" name="object 4"/>
          <p:cNvGrpSpPr/>
          <p:nvPr/>
        </p:nvGrpSpPr>
        <p:grpSpPr>
          <a:xfrm>
            <a:off x="4870450" y="4032250"/>
            <a:ext cx="418465" cy="1917700"/>
            <a:chOff x="4870450" y="4032250"/>
            <a:chExt cx="418465" cy="1917700"/>
          </a:xfrm>
        </p:grpSpPr>
        <p:sp>
          <p:nvSpPr>
            <p:cNvPr id="5" name="object 5"/>
            <p:cNvSpPr/>
            <p:nvPr/>
          </p:nvSpPr>
          <p:spPr>
            <a:xfrm>
              <a:off x="4876800" y="4038600"/>
              <a:ext cx="405765" cy="1905000"/>
            </a:xfrm>
            <a:custGeom>
              <a:avLst/>
              <a:gdLst/>
              <a:ahLst/>
              <a:cxnLst/>
              <a:rect l="l" t="t" r="r" b="b"/>
              <a:pathLst>
                <a:path w="405764" h="1905000">
                  <a:moveTo>
                    <a:pt x="405384" y="0"/>
                  </a:moveTo>
                  <a:lnTo>
                    <a:pt x="0" y="0"/>
                  </a:lnTo>
                  <a:lnTo>
                    <a:pt x="0" y="1905000"/>
                  </a:lnTo>
                  <a:lnTo>
                    <a:pt x="405384" y="1905000"/>
                  </a:lnTo>
                  <a:lnTo>
                    <a:pt x="405384" y="0"/>
                  </a:lnTo>
                  <a:close/>
                </a:path>
              </a:pathLst>
            </a:custGeom>
            <a:solidFill>
              <a:srgbClr val="FF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876800" y="4038600"/>
              <a:ext cx="405765" cy="1905000"/>
            </a:xfrm>
            <a:custGeom>
              <a:avLst/>
              <a:gdLst/>
              <a:ahLst/>
              <a:cxnLst/>
              <a:rect l="l" t="t" r="r" b="b"/>
              <a:pathLst>
                <a:path w="405764" h="1905000">
                  <a:moveTo>
                    <a:pt x="0" y="1905000"/>
                  </a:moveTo>
                  <a:lnTo>
                    <a:pt x="405384" y="1905000"/>
                  </a:lnTo>
                  <a:lnTo>
                    <a:pt x="405384" y="0"/>
                  </a:lnTo>
                  <a:lnTo>
                    <a:pt x="0" y="0"/>
                  </a:lnTo>
                  <a:lnTo>
                    <a:pt x="0" y="1905000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946079" y="4528299"/>
            <a:ext cx="281305" cy="92964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b="1" dirty="0">
                <a:latin typeface="Arial"/>
                <a:cs typeface="Arial"/>
              </a:rPr>
              <a:t>SYN</a:t>
            </a:r>
            <a:r>
              <a:rPr sz="1800" b="1" spc="-135" dirty="0">
                <a:latin typeface="Arial"/>
                <a:cs typeface="Arial"/>
              </a:rPr>
              <a:t>T</a:t>
            </a:r>
            <a:r>
              <a:rPr sz="1800" b="1" spc="-55" dirty="0">
                <a:latin typeface="Arial"/>
                <a:cs typeface="Arial"/>
              </a:rPr>
              <a:t>A</a:t>
            </a:r>
            <a:r>
              <a:rPr sz="1800" b="1" dirty="0">
                <a:latin typeface="Arial"/>
                <a:cs typeface="Arial"/>
              </a:rPr>
              <a:t>X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282184" y="4038600"/>
            <a:ext cx="3404870" cy="1905000"/>
          </a:xfrm>
          <a:custGeom>
            <a:avLst/>
            <a:gdLst/>
            <a:ahLst/>
            <a:cxnLst/>
            <a:rect l="l" t="t" r="r" b="b"/>
            <a:pathLst>
              <a:path w="3404870" h="1905000">
                <a:moveTo>
                  <a:pt x="0" y="1905000"/>
                </a:moveTo>
                <a:lnTo>
                  <a:pt x="3404616" y="1905000"/>
                </a:lnTo>
                <a:lnTo>
                  <a:pt x="3404616" y="0"/>
                </a:lnTo>
                <a:lnTo>
                  <a:pt x="0" y="0"/>
                </a:lnTo>
                <a:lnTo>
                  <a:pt x="0" y="1905000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35940" y="1045961"/>
            <a:ext cx="7947659" cy="4850130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295"/>
              </a:spcBef>
              <a:buClr>
                <a:srgbClr val="009999"/>
              </a:buClr>
              <a:buSzPct val="64583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400" spc="-5" dirty="0">
                <a:latin typeface="Arial"/>
                <a:cs typeface="Arial"/>
              </a:rPr>
              <a:t>Java </a:t>
            </a:r>
            <a:r>
              <a:rPr sz="2400" dirty="0">
                <a:latin typeface="Arial"/>
                <a:cs typeface="Arial"/>
              </a:rPr>
              <a:t>introduces </a:t>
            </a:r>
            <a:r>
              <a:rPr sz="2400" b="1" spc="-5" dirty="0">
                <a:latin typeface="Courier New"/>
                <a:cs typeface="Courier New"/>
              </a:rPr>
              <a:t>printf()</a:t>
            </a:r>
            <a:r>
              <a:rPr sz="2400" b="1" spc="-790" dirty="0">
                <a:latin typeface="Courier New"/>
                <a:cs typeface="Courier New"/>
              </a:rPr>
              <a:t> </a:t>
            </a:r>
            <a:r>
              <a:rPr sz="2400" spc="-5" dirty="0">
                <a:latin typeface="Arial"/>
                <a:cs typeface="Arial"/>
              </a:rPr>
              <a:t>in Java 1.5</a:t>
            </a:r>
            <a:endParaRPr sz="2400">
              <a:latin typeface="Arial"/>
              <a:cs typeface="Arial"/>
            </a:endParaRPr>
          </a:p>
          <a:p>
            <a:pPr marL="683260" lvl="1" indent="-327025">
              <a:lnSpc>
                <a:spcPct val="100000"/>
              </a:lnSpc>
              <a:spcBef>
                <a:spcPts val="175"/>
              </a:spcBef>
              <a:buClr>
                <a:srgbClr val="4B6C4E"/>
              </a:buClr>
              <a:buSzPct val="60000"/>
              <a:buFont typeface="Wingdings"/>
              <a:buChar char=""/>
              <a:tabLst>
                <a:tab pos="683260" algn="l"/>
                <a:tab pos="683895" algn="l"/>
              </a:tabLst>
            </a:pPr>
            <a:r>
              <a:rPr sz="2000" dirty="0">
                <a:latin typeface="Arial"/>
                <a:cs typeface="Arial"/>
              </a:rPr>
              <a:t>Very similar to the C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version</a:t>
            </a:r>
            <a:endParaRPr sz="2000">
              <a:latin typeface="Arial"/>
              <a:cs typeface="Arial"/>
            </a:endParaRPr>
          </a:p>
          <a:p>
            <a:pPr marL="355600" marR="675640" indent="-342900">
              <a:lnSpc>
                <a:spcPct val="100000"/>
              </a:lnSpc>
              <a:spcBef>
                <a:spcPts val="1200"/>
              </a:spcBef>
              <a:buClr>
                <a:srgbClr val="009999"/>
              </a:buClr>
              <a:buSzPct val="64583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The format string contains </a:t>
            </a:r>
            <a:r>
              <a:rPr sz="2400" spc="-5" dirty="0">
                <a:latin typeface="Arial"/>
                <a:cs typeface="Arial"/>
              </a:rPr>
              <a:t>normal </a:t>
            </a:r>
            <a:r>
              <a:rPr sz="2400" dirty="0">
                <a:latin typeface="Arial"/>
                <a:cs typeface="Arial"/>
              </a:rPr>
              <a:t>characters </a:t>
            </a:r>
            <a:r>
              <a:rPr sz="2400" spc="-5" dirty="0">
                <a:latin typeface="Arial"/>
                <a:cs typeface="Arial"/>
              </a:rPr>
              <a:t>and a  number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specifiers</a:t>
            </a:r>
            <a:endParaRPr sz="2400">
              <a:latin typeface="Arial"/>
              <a:cs typeface="Arial"/>
            </a:endParaRPr>
          </a:p>
          <a:p>
            <a:pPr marL="683260" lvl="1" indent="-327025">
              <a:lnSpc>
                <a:spcPct val="100000"/>
              </a:lnSpc>
              <a:buClr>
                <a:srgbClr val="4B6C4E"/>
              </a:buClr>
              <a:buSzPct val="60000"/>
              <a:buFont typeface="Wingdings"/>
              <a:buChar char=""/>
              <a:tabLst>
                <a:tab pos="683260" algn="l"/>
                <a:tab pos="683895" algn="l"/>
              </a:tabLst>
            </a:pPr>
            <a:r>
              <a:rPr sz="2000" dirty="0">
                <a:latin typeface="Arial"/>
                <a:cs typeface="Arial"/>
              </a:rPr>
              <a:t>Specifier starts with a percent sign</a:t>
            </a:r>
            <a:r>
              <a:rPr sz="2000" spc="-1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(%)</a:t>
            </a:r>
            <a:endParaRPr sz="2000">
              <a:latin typeface="Arial"/>
              <a:cs typeface="Arial"/>
            </a:endParaRPr>
          </a:p>
          <a:p>
            <a:pPr marL="683260" lvl="1" indent="-327025">
              <a:lnSpc>
                <a:spcPct val="100000"/>
              </a:lnSpc>
              <a:spcBef>
                <a:spcPts val="5"/>
              </a:spcBef>
              <a:buClr>
                <a:srgbClr val="4B6C4E"/>
              </a:buClr>
              <a:buSzPct val="60000"/>
              <a:buFont typeface="Wingdings"/>
              <a:buChar char=""/>
              <a:tabLst>
                <a:tab pos="683260" algn="l"/>
                <a:tab pos="683895" algn="l"/>
              </a:tabLst>
            </a:pPr>
            <a:r>
              <a:rPr sz="2000" dirty="0">
                <a:latin typeface="Arial"/>
                <a:cs typeface="Arial"/>
              </a:rPr>
              <a:t>Value of the appropriate </a:t>
            </a:r>
            <a:r>
              <a:rPr sz="2000" spc="-5" dirty="0">
                <a:latin typeface="Arial"/>
                <a:cs typeface="Arial"/>
              </a:rPr>
              <a:t>type </a:t>
            </a:r>
            <a:r>
              <a:rPr sz="2000" dirty="0">
                <a:latin typeface="Arial"/>
                <a:cs typeface="Arial"/>
              </a:rPr>
              <a:t>must be supplied for each</a:t>
            </a:r>
            <a:r>
              <a:rPr sz="2000" spc="-18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specifier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1195"/>
              </a:spcBef>
              <a:buClr>
                <a:srgbClr val="009999"/>
              </a:buClr>
              <a:buSzPct val="64583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Common </a:t>
            </a:r>
            <a:r>
              <a:rPr sz="2400" spc="-5" dirty="0">
                <a:latin typeface="Arial"/>
                <a:cs typeface="Arial"/>
              </a:rPr>
              <a:t>specifiers and</a:t>
            </a:r>
            <a:r>
              <a:rPr sz="2400" spc="1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modifiers: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3850">
              <a:latin typeface="Arial"/>
              <a:cs typeface="Arial"/>
            </a:endParaRPr>
          </a:p>
          <a:p>
            <a:pPr marL="4990465">
              <a:lnSpc>
                <a:spcPct val="100000"/>
              </a:lnSpc>
            </a:pPr>
            <a:r>
              <a:rPr sz="2000" b="1" i="1" spc="-5" dirty="0">
                <a:latin typeface="Courier New"/>
                <a:cs typeface="Courier New"/>
              </a:rPr>
              <a:t>%[-][W].[P]</a:t>
            </a:r>
            <a:r>
              <a:rPr sz="2000" b="1" spc="-5" dirty="0">
                <a:latin typeface="Courier New"/>
                <a:cs typeface="Courier New"/>
              </a:rPr>
              <a:t>type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150">
              <a:latin typeface="Courier New"/>
              <a:cs typeface="Courier New"/>
            </a:endParaRPr>
          </a:p>
          <a:p>
            <a:pPr marL="4838065">
              <a:lnSpc>
                <a:spcPct val="100000"/>
              </a:lnSpc>
            </a:pPr>
            <a:r>
              <a:rPr sz="2000" b="1" spc="-5" dirty="0">
                <a:latin typeface="Courier New"/>
                <a:cs typeface="Courier New"/>
              </a:rPr>
              <a:t>-: </a:t>
            </a:r>
            <a:r>
              <a:rPr sz="2000" dirty="0">
                <a:latin typeface="Arial"/>
                <a:cs typeface="Arial"/>
              </a:rPr>
              <a:t>For left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alignment</a:t>
            </a:r>
            <a:endParaRPr sz="2000">
              <a:latin typeface="Arial"/>
              <a:cs typeface="Arial"/>
            </a:endParaRPr>
          </a:p>
          <a:p>
            <a:pPr marL="4838065">
              <a:lnSpc>
                <a:spcPct val="100000"/>
              </a:lnSpc>
            </a:pPr>
            <a:r>
              <a:rPr sz="2000" b="1" dirty="0">
                <a:latin typeface="Courier New"/>
                <a:cs typeface="Courier New"/>
              </a:rPr>
              <a:t>W: </a:t>
            </a:r>
            <a:r>
              <a:rPr sz="2000" dirty="0">
                <a:latin typeface="Arial"/>
                <a:cs typeface="Arial"/>
              </a:rPr>
              <a:t>For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width</a:t>
            </a:r>
            <a:endParaRPr sz="2000">
              <a:latin typeface="Arial"/>
              <a:cs typeface="Arial"/>
            </a:endParaRPr>
          </a:p>
          <a:p>
            <a:pPr marL="4838065">
              <a:lnSpc>
                <a:spcPct val="100000"/>
              </a:lnSpc>
              <a:spcBef>
                <a:spcPts val="5"/>
              </a:spcBef>
            </a:pPr>
            <a:r>
              <a:rPr sz="2000" b="1" spc="-5" dirty="0">
                <a:latin typeface="Courier New"/>
                <a:cs typeface="Courier New"/>
              </a:rPr>
              <a:t>P: </a:t>
            </a:r>
            <a:r>
              <a:rPr sz="2000" dirty="0">
                <a:latin typeface="Arial"/>
                <a:cs typeface="Arial"/>
              </a:rPr>
              <a:t>For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precision</a:t>
            </a:r>
            <a:endParaRPr sz="2000"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89"/>
              </a:lnSpc>
              <a:tabLst>
                <a:tab pos="1996439" algn="l"/>
                <a:tab pos="8046720" algn="l"/>
              </a:tabLst>
            </a:pPr>
            <a:r>
              <a:rPr dirty="0"/>
              <a:t>[501043 Lecture 1: Intro</a:t>
            </a:r>
            <a:r>
              <a:rPr spc="-6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Java]	</a:t>
            </a:r>
            <a:r>
              <a:rPr u="heavy" dirty="0">
                <a:uFill>
                  <a:solidFill>
                    <a:srgbClr val="009999"/>
                  </a:solidFill>
                </a:uFill>
              </a:rPr>
              <a:t> 	</a:t>
            </a:r>
            <a:r>
              <a:rPr sz="1600" b="1" i="1" spc="-5" dirty="0">
                <a:solidFill>
                  <a:srgbClr val="C00000"/>
                </a:solidFill>
                <a:latin typeface="Arial"/>
                <a:cs typeface="Arial"/>
              </a:rPr>
              <a:t>43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248158"/>
            <a:ext cx="62922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5" dirty="0">
                <a:solidFill>
                  <a:srgbClr val="C00000"/>
                </a:solidFill>
              </a:rPr>
              <a:t>4.3 </a:t>
            </a:r>
            <a:r>
              <a:rPr spc="-50" dirty="0"/>
              <a:t>Problem: </a:t>
            </a:r>
            <a:r>
              <a:rPr b="1" spc="-114" dirty="0">
                <a:latin typeface="Trebuchet MS"/>
                <a:cs typeface="Trebuchet MS"/>
              </a:rPr>
              <a:t>Approximating</a:t>
            </a:r>
            <a:r>
              <a:rPr b="1" spc="-150" dirty="0">
                <a:latin typeface="Trebuchet MS"/>
                <a:cs typeface="Trebuchet MS"/>
              </a:rPr>
              <a:t> </a:t>
            </a:r>
            <a:r>
              <a:rPr b="1" spc="75" dirty="0">
                <a:latin typeface="Trebuchet MS"/>
                <a:cs typeface="Trebuchet MS"/>
              </a:rPr>
              <a:t>PI</a:t>
            </a:r>
          </a:p>
        </p:txBody>
      </p:sp>
      <p:sp>
        <p:nvSpPr>
          <p:cNvPr id="3" name="object 3"/>
          <p:cNvSpPr/>
          <p:nvPr/>
        </p:nvSpPr>
        <p:spPr>
          <a:xfrm>
            <a:off x="2462639" y="2270452"/>
            <a:ext cx="238125" cy="0"/>
          </a:xfrm>
          <a:custGeom>
            <a:avLst/>
            <a:gdLst/>
            <a:ahLst/>
            <a:cxnLst/>
            <a:rect l="l" t="t" r="r" b="b"/>
            <a:pathLst>
              <a:path w="238125">
                <a:moveTo>
                  <a:pt x="0" y="0"/>
                </a:moveTo>
                <a:lnTo>
                  <a:pt x="238025" y="0"/>
                </a:lnTo>
              </a:path>
            </a:pathLst>
          </a:custGeom>
          <a:ln w="1594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068529" y="2270452"/>
            <a:ext cx="238125" cy="0"/>
          </a:xfrm>
          <a:custGeom>
            <a:avLst/>
            <a:gdLst/>
            <a:ahLst/>
            <a:cxnLst/>
            <a:rect l="l" t="t" r="r" b="b"/>
            <a:pathLst>
              <a:path w="238125">
                <a:moveTo>
                  <a:pt x="0" y="0"/>
                </a:moveTo>
                <a:lnTo>
                  <a:pt x="237993" y="0"/>
                </a:lnTo>
              </a:path>
            </a:pathLst>
          </a:custGeom>
          <a:ln w="1594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680800" y="2270452"/>
            <a:ext cx="237490" cy="0"/>
          </a:xfrm>
          <a:custGeom>
            <a:avLst/>
            <a:gdLst/>
            <a:ahLst/>
            <a:cxnLst/>
            <a:rect l="l" t="t" r="r" b="b"/>
            <a:pathLst>
              <a:path w="237489">
                <a:moveTo>
                  <a:pt x="0" y="0"/>
                </a:moveTo>
                <a:lnTo>
                  <a:pt x="237211" y="0"/>
                </a:lnTo>
              </a:path>
            </a:pathLst>
          </a:custGeom>
          <a:ln w="1594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286656" y="2270452"/>
            <a:ext cx="237490" cy="0"/>
          </a:xfrm>
          <a:custGeom>
            <a:avLst/>
            <a:gdLst/>
            <a:ahLst/>
            <a:cxnLst/>
            <a:rect l="l" t="t" r="r" b="b"/>
            <a:pathLst>
              <a:path w="237489">
                <a:moveTo>
                  <a:pt x="0" y="0"/>
                </a:moveTo>
                <a:lnTo>
                  <a:pt x="237211" y="0"/>
                </a:lnTo>
              </a:path>
            </a:pathLst>
          </a:custGeom>
          <a:ln w="1594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898927" y="2270452"/>
            <a:ext cx="237490" cy="0"/>
          </a:xfrm>
          <a:custGeom>
            <a:avLst/>
            <a:gdLst/>
            <a:ahLst/>
            <a:cxnLst/>
            <a:rect l="l" t="t" r="r" b="b"/>
            <a:pathLst>
              <a:path w="237489">
                <a:moveTo>
                  <a:pt x="0" y="0"/>
                </a:moveTo>
                <a:lnTo>
                  <a:pt x="237341" y="0"/>
                </a:lnTo>
              </a:path>
            </a:pathLst>
          </a:custGeom>
          <a:ln w="1594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23240" y="1090625"/>
            <a:ext cx="7972425" cy="4778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8300" indent="-342900">
              <a:lnSpc>
                <a:spcPct val="100000"/>
              </a:lnSpc>
              <a:spcBef>
                <a:spcPts val="100"/>
              </a:spcBef>
              <a:buClr>
                <a:srgbClr val="009999"/>
              </a:buClr>
              <a:buSzPct val="65000"/>
              <a:buFont typeface="Wingdings"/>
              <a:buChar char=""/>
              <a:tabLst>
                <a:tab pos="367665" algn="l"/>
                <a:tab pos="368300" algn="l"/>
              </a:tabLst>
            </a:pPr>
            <a:r>
              <a:rPr sz="3000" dirty="0">
                <a:latin typeface="Arial"/>
                <a:cs typeface="Arial"/>
              </a:rPr>
              <a:t>One way to calculate the PI </a:t>
            </a:r>
            <a:r>
              <a:rPr sz="3000" spc="-25" dirty="0">
                <a:latin typeface="Arial"/>
                <a:cs typeface="Arial"/>
              </a:rPr>
              <a:t>(</a:t>
            </a:r>
            <a:r>
              <a:rPr sz="3000" spc="-25" dirty="0">
                <a:latin typeface="Symbol"/>
                <a:cs typeface="Symbol"/>
              </a:rPr>
              <a:t></a:t>
            </a:r>
            <a:r>
              <a:rPr sz="3000" spc="-25" dirty="0">
                <a:latin typeface="Arial"/>
                <a:cs typeface="Arial"/>
              </a:rPr>
              <a:t>) </a:t>
            </a:r>
            <a:r>
              <a:rPr sz="3000" spc="-5" dirty="0">
                <a:latin typeface="Arial"/>
                <a:cs typeface="Arial"/>
              </a:rPr>
              <a:t>constant:</a:t>
            </a:r>
            <a:endParaRPr sz="3000">
              <a:latin typeface="Arial"/>
              <a:cs typeface="Arial"/>
            </a:endParaRPr>
          </a:p>
          <a:p>
            <a:pPr marR="902969" algn="ctr">
              <a:lnSpc>
                <a:spcPts val="3190"/>
              </a:lnSpc>
              <a:spcBef>
                <a:spcPts val="3150"/>
              </a:spcBef>
            </a:pPr>
            <a:r>
              <a:rPr sz="3200" i="1" spc="-70" dirty="0">
                <a:latin typeface="Symbol"/>
                <a:cs typeface="Symbol"/>
              </a:rPr>
              <a:t></a:t>
            </a:r>
            <a:r>
              <a:rPr sz="3200" i="1" spc="-70" dirty="0">
                <a:latin typeface="Times New Roman"/>
                <a:cs typeface="Times New Roman"/>
              </a:rPr>
              <a:t> </a:t>
            </a:r>
            <a:r>
              <a:rPr sz="3050" spc="15" dirty="0">
                <a:latin typeface="Symbol"/>
                <a:cs typeface="Symbol"/>
              </a:rPr>
              <a:t></a:t>
            </a:r>
            <a:r>
              <a:rPr sz="3050" spc="15" dirty="0">
                <a:latin typeface="Times New Roman"/>
                <a:cs typeface="Times New Roman"/>
              </a:rPr>
              <a:t> </a:t>
            </a:r>
            <a:r>
              <a:rPr sz="4575" spc="15" baseline="35519" dirty="0">
                <a:latin typeface="Times New Roman"/>
                <a:cs typeface="Times New Roman"/>
              </a:rPr>
              <a:t>4 </a:t>
            </a:r>
            <a:r>
              <a:rPr sz="3050" spc="15" dirty="0">
                <a:latin typeface="Symbol"/>
                <a:cs typeface="Symbol"/>
              </a:rPr>
              <a:t></a:t>
            </a:r>
            <a:r>
              <a:rPr sz="3050" spc="15" dirty="0">
                <a:latin typeface="Times New Roman"/>
                <a:cs typeface="Times New Roman"/>
              </a:rPr>
              <a:t> </a:t>
            </a:r>
            <a:r>
              <a:rPr sz="4575" spc="15" baseline="35519" dirty="0">
                <a:latin typeface="Times New Roman"/>
                <a:cs typeface="Times New Roman"/>
              </a:rPr>
              <a:t>4 </a:t>
            </a:r>
            <a:r>
              <a:rPr sz="3050" spc="15" dirty="0">
                <a:latin typeface="Symbol"/>
                <a:cs typeface="Symbol"/>
              </a:rPr>
              <a:t></a:t>
            </a:r>
            <a:r>
              <a:rPr sz="3050" spc="15" dirty="0">
                <a:latin typeface="Times New Roman"/>
                <a:cs typeface="Times New Roman"/>
              </a:rPr>
              <a:t> </a:t>
            </a:r>
            <a:r>
              <a:rPr sz="4575" spc="15" baseline="35519" dirty="0">
                <a:latin typeface="Times New Roman"/>
                <a:cs typeface="Times New Roman"/>
              </a:rPr>
              <a:t>4 </a:t>
            </a:r>
            <a:r>
              <a:rPr sz="3050" spc="15" dirty="0">
                <a:latin typeface="Symbol"/>
                <a:cs typeface="Symbol"/>
              </a:rPr>
              <a:t></a:t>
            </a:r>
            <a:r>
              <a:rPr sz="3050" spc="15" dirty="0">
                <a:latin typeface="Times New Roman"/>
                <a:cs typeface="Times New Roman"/>
              </a:rPr>
              <a:t> </a:t>
            </a:r>
            <a:r>
              <a:rPr sz="4575" spc="15" baseline="35519" dirty="0">
                <a:latin typeface="Times New Roman"/>
                <a:cs typeface="Times New Roman"/>
              </a:rPr>
              <a:t>4 </a:t>
            </a:r>
            <a:r>
              <a:rPr sz="3050" spc="15" dirty="0">
                <a:latin typeface="Symbol"/>
                <a:cs typeface="Symbol"/>
              </a:rPr>
              <a:t></a:t>
            </a:r>
            <a:r>
              <a:rPr sz="3050" spc="15" dirty="0">
                <a:latin typeface="Times New Roman"/>
                <a:cs typeface="Times New Roman"/>
              </a:rPr>
              <a:t> </a:t>
            </a:r>
            <a:r>
              <a:rPr sz="4575" spc="15" baseline="35519" dirty="0">
                <a:latin typeface="Times New Roman"/>
                <a:cs typeface="Times New Roman"/>
              </a:rPr>
              <a:t>4</a:t>
            </a:r>
            <a:r>
              <a:rPr sz="4575" spc="-127" baseline="35519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Symbol"/>
                <a:cs typeface="Symbol"/>
              </a:rPr>
              <a:t></a:t>
            </a:r>
            <a:r>
              <a:rPr sz="3050" spc="10" dirty="0">
                <a:latin typeface="Times New Roman"/>
                <a:cs typeface="Times New Roman"/>
              </a:rPr>
              <a:t>.........</a:t>
            </a:r>
            <a:endParaRPr sz="3050">
              <a:latin typeface="Times New Roman"/>
              <a:cs typeface="Times New Roman"/>
            </a:endParaRPr>
          </a:p>
          <a:p>
            <a:pPr marL="1959610">
              <a:lnSpc>
                <a:spcPts val="3010"/>
              </a:lnSpc>
              <a:tabLst>
                <a:tab pos="2571115" algn="l"/>
                <a:tab pos="3180715" algn="l"/>
                <a:tab pos="3783329" algn="l"/>
                <a:tab pos="4395470" algn="l"/>
              </a:tabLst>
            </a:pPr>
            <a:r>
              <a:rPr sz="3050" spc="10" dirty="0">
                <a:latin typeface="Times New Roman"/>
                <a:cs typeface="Times New Roman"/>
              </a:rPr>
              <a:t>1	3	5	7	9</a:t>
            </a:r>
            <a:endParaRPr sz="3050">
              <a:latin typeface="Times New Roman"/>
              <a:cs typeface="Times New Roman"/>
            </a:endParaRPr>
          </a:p>
          <a:p>
            <a:pPr marL="444500" lvl="1" indent="-343535">
              <a:lnSpc>
                <a:spcPct val="100000"/>
              </a:lnSpc>
              <a:spcBef>
                <a:spcPts val="2039"/>
              </a:spcBef>
              <a:buClr>
                <a:srgbClr val="009999"/>
              </a:buClr>
              <a:buSzPct val="65000"/>
              <a:buFont typeface="Wingdings"/>
              <a:buChar char=""/>
              <a:tabLst>
                <a:tab pos="444500" algn="l"/>
                <a:tab pos="445134" algn="l"/>
              </a:tabLst>
            </a:pPr>
            <a:r>
              <a:rPr sz="3000" dirty="0">
                <a:latin typeface="Arial"/>
                <a:cs typeface="Arial"/>
              </a:rPr>
              <a:t>Write </a:t>
            </a:r>
            <a:r>
              <a:rPr sz="3000" spc="-5" dirty="0">
                <a:solidFill>
                  <a:srgbClr val="0000FF"/>
                </a:solidFill>
                <a:latin typeface="Arial"/>
                <a:cs typeface="Arial"/>
              </a:rPr>
              <a:t>ApproximatePI.java</a:t>
            </a:r>
            <a:r>
              <a:rPr sz="3000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to:</a:t>
            </a:r>
            <a:endParaRPr sz="3000">
              <a:latin typeface="Arial"/>
              <a:cs typeface="Arial"/>
            </a:endParaRPr>
          </a:p>
          <a:p>
            <a:pPr marL="1073785" marR="43180" lvl="2" indent="-515620">
              <a:lnSpc>
                <a:spcPct val="100000"/>
              </a:lnSpc>
              <a:spcBef>
                <a:spcPts val="680"/>
              </a:spcBef>
              <a:buAutoNum type="arabicPeriod"/>
              <a:tabLst>
                <a:tab pos="1073785" algn="l"/>
                <a:tab pos="1074420" algn="l"/>
              </a:tabLst>
            </a:pPr>
            <a:r>
              <a:rPr sz="2800" spc="-5" dirty="0">
                <a:latin typeface="Arial"/>
                <a:cs typeface="Arial"/>
              </a:rPr>
              <a:t>Ask the </a:t>
            </a:r>
            <a:r>
              <a:rPr sz="2800" dirty="0">
                <a:latin typeface="Arial"/>
                <a:cs typeface="Arial"/>
              </a:rPr>
              <a:t>user for </a:t>
            </a:r>
            <a:r>
              <a:rPr sz="2800" spc="-5" dirty="0">
                <a:latin typeface="Arial"/>
                <a:cs typeface="Arial"/>
              </a:rPr>
              <a:t>the </a:t>
            </a:r>
            <a:r>
              <a:rPr sz="2800" dirty="0">
                <a:solidFill>
                  <a:srgbClr val="0000FF"/>
                </a:solidFill>
                <a:latin typeface="Arial"/>
                <a:cs typeface="Arial"/>
              </a:rPr>
              <a:t>number </a:t>
            </a:r>
            <a:r>
              <a:rPr sz="2800" spc="-5" dirty="0">
                <a:solidFill>
                  <a:srgbClr val="0000FF"/>
                </a:solidFill>
                <a:latin typeface="Arial"/>
                <a:cs typeface="Arial"/>
              </a:rPr>
              <a:t>of </a:t>
            </a:r>
            <a:r>
              <a:rPr sz="2800" dirty="0">
                <a:solidFill>
                  <a:srgbClr val="0000FF"/>
                </a:solidFill>
                <a:latin typeface="Arial"/>
                <a:cs typeface="Arial"/>
              </a:rPr>
              <a:t>terms </a:t>
            </a:r>
            <a:r>
              <a:rPr sz="2800" spc="-5" dirty="0">
                <a:latin typeface="Arial"/>
                <a:cs typeface="Arial"/>
              </a:rPr>
              <a:t>to use  for approximation</a:t>
            </a:r>
            <a:endParaRPr sz="2800">
              <a:latin typeface="Arial"/>
              <a:cs typeface="Arial"/>
            </a:endParaRPr>
          </a:p>
          <a:p>
            <a:pPr marL="1073785" lvl="2" indent="-515620">
              <a:lnSpc>
                <a:spcPct val="100000"/>
              </a:lnSpc>
              <a:spcBef>
                <a:spcPts val="675"/>
              </a:spcBef>
              <a:buAutoNum type="arabicPeriod"/>
              <a:tabLst>
                <a:tab pos="1073785" algn="l"/>
                <a:tab pos="1074420" algn="l"/>
              </a:tabLst>
            </a:pPr>
            <a:r>
              <a:rPr sz="2800" spc="-5" dirty="0">
                <a:latin typeface="Arial"/>
                <a:cs typeface="Arial"/>
              </a:rPr>
              <a:t>Calculate </a:t>
            </a:r>
            <a:r>
              <a:rPr sz="2800" spc="-5" dirty="0">
                <a:latin typeface="Symbol"/>
                <a:cs typeface="Symbol"/>
              </a:rPr>
              <a:t>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Arial"/>
                <a:cs typeface="Arial"/>
              </a:rPr>
              <a:t>with the given </a:t>
            </a:r>
            <a:r>
              <a:rPr sz="2800" dirty="0">
                <a:latin typeface="Arial"/>
                <a:cs typeface="Arial"/>
              </a:rPr>
              <a:t>number </a:t>
            </a:r>
            <a:r>
              <a:rPr sz="2800" spc="-5" dirty="0">
                <a:latin typeface="Arial"/>
                <a:cs typeface="Arial"/>
              </a:rPr>
              <a:t>of</a:t>
            </a:r>
            <a:r>
              <a:rPr sz="2800" spc="1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terms</a:t>
            </a:r>
            <a:endParaRPr sz="2800">
              <a:latin typeface="Arial"/>
              <a:cs typeface="Arial"/>
            </a:endParaRPr>
          </a:p>
          <a:p>
            <a:pPr marL="1073785" marR="894715" lvl="2" indent="-515620">
              <a:lnSpc>
                <a:spcPct val="100000"/>
              </a:lnSpc>
              <a:spcBef>
                <a:spcPts val="675"/>
              </a:spcBef>
              <a:buAutoNum type="arabicPeriod"/>
              <a:tabLst>
                <a:tab pos="1073785" algn="l"/>
                <a:tab pos="1074420" algn="l"/>
              </a:tabLst>
            </a:pPr>
            <a:r>
              <a:rPr sz="2800" dirty="0">
                <a:latin typeface="Arial"/>
                <a:cs typeface="Arial"/>
              </a:rPr>
              <a:t>Output the approximation </a:t>
            </a:r>
            <a:r>
              <a:rPr sz="2800" spc="-5" dirty="0">
                <a:latin typeface="Arial"/>
                <a:cs typeface="Arial"/>
              </a:rPr>
              <a:t>in 6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decimal  </a:t>
            </a:r>
            <a:r>
              <a:rPr sz="2800" spc="-5" dirty="0">
                <a:latin typeface="Arial"/>
                <a:cs typeface="Arial"/>
              </a:rPr>
              <a:t>places</a:t>
            </a:r>
            <a:endParaRPr sz="280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89"/>
              </a:lnSpc>
              <a:tabLst>
                <a:tab pos="1996439" algn="l"/>
                <a:tab pos="8046720" algn="l"/>
              </a:tabLst>
            </a:pPr>
            <a:r>
              <a:rPr dirty="0"/>
              <a:t>[501043 Lecture 1: Intro</a:t>
            </a:r>
            <a:r>
              <a:rPr spc="-6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Java]	</a:t>
            </a:r>
            <a:r>
              <a:rPr u="heavy" dirty="0">
                <a:uFill>
                  <a:solidFill>
                    <a:srgbClr val="009999"/>
                  </a:solidFill>
                </a:uFill>
              </a:rPr>
              <a:t> 	</a:t>
            </a:r>
            <a:r>
              <a:rPr sz="1600" b="1" i="1" spc="-5" dirty="0">
                <a:solidFill>
                  <a:srgbClr val="C00000"/>
                </a:solidFill>
                <a:latin typeface="Arial"/>
                <a:cs typeface="Arial"/>
              </a:rPr>
              <a:t>44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248158"/>
            <a:ext cx="62680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5" dirty="0">
                <a:solidFill>
                  <a:srgbClr val="C00000"/>
                </a:solidFill>
              </a:rPr>
              <a:t>4.3 </a:t>
            </a:r>
            <a:r>
              <a:rPr spc="-30" dirty="0"/>
              <a:t>Solution: </a:t>
            </a:r>
            <a:r>
              <a:rPr b="1" spc="-114" dirty="0">
                <a:latin typeface="Trebuchet MS"/>
                <a:cs typeface="Trebuchet MS"/>
              </a:rPr>
              <a:t>Approximating</a:t>
            </a:r>
            <a:r>
              <a:rPr b="1" spc="-165" dirty="0">
                <a:latin typeface="Trebuchet MS"/>
                <a:cs typeface="Trebuchet MS"/>
              </a:rPr>
              <a:t> </a:t>
            </a:r>
            <a:r>
              <a:rPr b="1" spc="75" dirty="0">
                <a:latin typeface="Trebuchet MS"/>
                <a:cs typeface="Trebuchet MS"/>
              </a:rPr>
              <a:t>PI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28637" y="985837"/>
            <a:ext cx="8086725" cy="5518785"/>
            <a:chOff x="528637" y="985837"/>
            <a:chExt cx="8086725" cy="5518785"/>
          </a:xfrm>
        </p:grpSpPr>
        <p:sp>
          <p:nvSpPr>
            <p:cNvPr id="4" name="object 4"/>
            <p:cNvSpPr/>
            <p:nvPr/>
          </p:nvSpPr>
          <p:spPr>
            <a:xfrm>
              <a:off x="533400" y="990600"/>
              <a:ext cx="8077200" cy="5509260"/>
            </a:xfrm>
            <a:custGeom>
              <a:avLst/>
              <a:gdLst/>
              <a:ahLst/>
              <a:cxnLst/>
              <a:rect l="l" t="t" r="r" b="b"/>
              <a:pathLst>
                <a:path w="8077200" h="5509260">
                  <a:moveTo>
                    <a:pt x="8077200" y="0"/>
                  </a:moveTo>
                  <a:lnTo>
                    <a:pt x="0" y="0"/>
                  </a:lnTo>
                  <a:lnTo>
                    <a:pt x="0" y="5509260"/>
                  </a:lnTo>
                  <a:lnTo>
                    <a:pt x="8077200" y="5509260"/>
                  </a:lnTo>
                  <a:lnTo>
                    <a:pt x="8077200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33400" y="990600"/>
              <a:ext cx="8077200" cy="5509260"/>
            </a:xfrm>
            <a:custGeom>
              <a:avLst/>
              <a:gdLst/>
              <a:ahLst/>
              <a:cxnLst/>
              <a:rect l="l" t="t" r="r" b="b"/>
              <a:pathLst>
                <a:path w="8077200" h="5509260">
                  <a:moveTo>
                    <a:pt x="0" y="5509260"/>
                  </a:moveTo>
                  <a:lnTo>
                    <a:pt x="8077200" y="5509260"/>
                  </a:lnTo>
                  <a:lnTo>
                    <a:pt x="8077200" y="0"/>
                  </a:lnTo>
                  <a:lnTo>
                    <a:pt x="0" y="0"/>
                  </a:lnTo>
                  <a:lnTo>
                    <a:pt x="0" y="5509260"/>
                  </a:lnTo>
                  <a:close/>
                </a:path>
              </a:pathLst>
            </a:custGeom>
            <a:ln w="9144">
              <a:solidFill>
                <a:srgbClr val="DDEAE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612140" y="1001013"/>
            <a:ext cx="6130925" cy="31959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solidFill>
                  <a:srgbClr val="660066"/>
                </a:solidFill>
                <a:latin typeface="Courier New"/>
                <a:cs typeface="Courier New"/>
              </a:rPr>
              <a:t>import </a:t>
            </a:r>
            <a:r>
              <a:rPr sz="1600" b="1" spc="-5" dirty="0">
                <a:latin typeface="Courier New"/>
                <a:cs typeface="Courier New"/>
              </a:rPr>
              <a:t>java.util.*; </a:t>
            </a:r>
            <a:r>
              <a:rPr sz="1600" b="1" spc="-5" dirty="0">
                <a:solidFill>
                  <a:srgbClr val="800000"/>
                </a:solidFill>
                <a:latin typeface="Courier New"/>
                <a:cs typeface="Courier New"/>
              </a:rPr>
              <a:t>// using * in import</a:t>
            </a:r>
            <a:r>
              <a:rPr sz="1600" b="1" spc="70" dirty="0">
                <a:solidFill>
                  <a:srgbClr val="800000"/>
                </a:solidFill>
                <a:latin typeface="Courier New"/>
                <a:cs typeface="Courier New"/>
              </a:rPr>
              <a:t> </a:t>
            </a:r>
            <a:r>
              <a:rPr sz="1600" b="1" spc="-5" dirty="0">
                <a:solidFill>
                  <a:srgbClr val="800000"/>
                </a:solidFill>
                <a:latin typeface="Courier New"/>
                <a:cs typeface="Courier New"/>
              </a:rPr>
              <a:t>statement</a:t>
            </a:r>
            <a:endParaRPr sz="16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600" b="1" spc="-5" dirty="0">
                <a:solidFill>
                  <a:srgbClr val="0000FF"/>
                </a:solidFill>
                <a:latin typeface="Courier New"/>
                <a:cs typeface="Courier New"/>
              </a:rPr>
              <a:t>public class </a:t>
            </a:r>
            <a:r>
              <a:rPr sz="1600" b="1" spc="-5" dirty="0">
                <a:latin typeface="Courier New"/>
                <a:cs typeface="Courier New"/>
              </a:rPr>
              <a:t>ApproximatePI</a:t>
            </a:r>
            <a:r>
              <a:rPr sz="1600" b="1" spc="35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  <a:p>
            <a:pPr marL="622300" marR="979169" indent="-366395">
              <a:lnSpc>
                <a:spcPct val="200000"/>
              </a:lnSpc>
              <a:spcBef>
                <a:spcPts val="5"/>
              </a:spcBef>
            </a:pPr>
            <a:r>
              <a:rPr sz="1600" b="1" dirty="0">
                <a:solidFill>
                  <a:srgbClr val="0000FF"/>
                </a:solidFill>
                <a:latin typeface="Courier New"/>
                <a:cs typeface="Courier New"/>
              </a:rPr>
              <a:t>public static void </a:t>
            </a:r>
            <a:r>
              <a:rPr sz="1600" b="1" spc="-5" dirty="0">
                <a:latin typeface="Courier New"/>
                <a:cs typeface="Courier New"/>
              </a:rPr>
              <a:t>main(String[] args) {  </a:t>
            </a:r>
            <a:r>
              <a:rPr sz="1600" b="1" dirty="0">
                <a:solidFill>
                  <a:srgbClr val="0000FF"/>
                </a:solidFill>
                <a:latin typeface="Courier New"/>
                <a:cs typeface="Courier New"/>
              </a:rPr>
              <a:t>int </a:t>
            </a:r>
            <a:r>
              <a:rPr sz="1600" b="1" spc="-5" dirty="0">
                <a:latin typeface="Courier New"/>
                <a:cs typeface="Courier New"/>
              </a:rPr>
              <a:t>nTerms, sign = </a:t>
            </a:r>
            <a:r>
              <a:rPr sz="1600" b="1" spc="-5" dirty="0">
                <a:solidFill>
                  <a:srgbClr val="006600"/>
                </a:solidFill>
                <a:latin typeface="Courier New"/>
                <a:cs typeface="Courier New"/>
              </a:rPr>
              <a:t>1</a:t>
            </a:r>
            <a:r>
              <a:rPr sz="1600" b="1" spc="-5" dirty="0">
                <a:latin typeface="Courier New"/>
                <a:cs typeface="Courier New"/>
              </a:rPr>
              <a:t>, denom =</a:t>
            </a:r>
            <a:r>
              <a:rPr sz="1600" b="1" spc="30" dirty="0"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1</a:t>
            </a:r>
            <a:r>
              <a:rPr sz="1600" b="1" dirty="0">
                <a:latin typeface="Courier New"/>
                <a:cs typeface="Courier New"/>
              </a:rPr>
              <a:t>;</a:t>
            </a:r>
            <a:endParaRPr sz="1600">
              <a:latin typeface="Courier New"/>
              <a:cs typeface="Courier New"/>
            </a:endParaRPr>
          </a:p>
          <a:p>
            <a:pPr marL="622300">
              <a:lnSpc>
                <a:spcPct val="100000"/>
              </a:lnSpc>
            </a:pPr>
            <a:r>
              <a:rPr sz="1600" b="1" spc="-5" dirty="0">
                <a:solidFill>
                  <a:srgbClr val="0000FF"/>
                </a:solidFill>
                <a:latin typeface="Courier New"/>
                <a:cs typeface="Courier New"/>
              </a:rPr>
              <a:t>double </a:t>
            </a:r>
            <a:r>
              <a:rPr sz="1600" b="1" spc="-5" dirty="0">
                <a:latin typeface="Courier New"/>
                <a:cs typeface="Courier New"/>
              </a:rPr>
              <a:t>pi =</a:t>
            </a:r>
            <a:r>
              <a:rPr sz="1600" b="1" spc="15" dirty="0"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0.0</a:t>
            </a:r>
            <a:r>
              <a:rPr sz="1600" b="1" dirty="0">
                <a:latin typeface="Courier New"/>
                <a:cs typeface="Courier New"/>
              </a:rPr>
              <a:t>;</a:t>
            </a:r>
            <a:endParaRPr sz="16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50">
              <a:latin typeface="Courier New"/>
              <a:cs typeface="Courier New"/>
            </a:endParaRPr>
          </a:p>
          <a:p>
            <a:pPr marL="622300">
              <a:lnSpc>
                <a:spcPct val="100000"/>
              </a:lnSpc>
            </a:pPr>
            <a:r>
              <a:rPr sz="1600" b="1" spc="-5" dirty="0">
                <a:latin typeface="Courier New"/>
                <a:cs typeface="Courier New"/>
              </a:rPr>
              <a:t>Scanner </a:t>
            </a:r>
            <a:r>
              <a:rPr sz="1600" b="1" spc="-5" dirty="0">
                <a:solidFill>
                  <a:srgbClr val="001F5F"/>
                </a:solidFill>
                <a:latin typeface="Courier New"/>
                <a:cs typeface="Courier New"/>
              </a:rPr>
              <a:t>sc </a:t>
            </a:r>
            <a:r>
              <a:rPr sz="1600" b="1" spc="-5" dirty="0">
                <a:latin typeface="Courier New"/>
                <a:cs typeface="Courier New"/>
              </a:rPr>
              <a:t>= </a:t>
            </a:r>
            <a:r>
              <a:rPr sz="1600" b="1" dirty="0">
                <a:solidFill>
                  <a:srgbClr val="0000FF"/>
                </a:solidFill>
                <a:latin typeface="Courier New"/>
                <a:cs typeface="Courier New"/>
              </a:rPr>
              <a:t>new</a:t>
            </a:r>
            <a:r>
              <a:rPr sz="1600" b="1" spc="2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Scanner(System.in);</a:t>
            </a:r>
            <a:endParaRPr sz="16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50">
              <a:latin typeface="Courier New"/>
              <a:cs typeface="Courier New"/>
            </a:endParaRPr>
          </a:p>
          <a:p>
            <a:pPr marL="622300">
              <a:lnSpc>
                <a:spcPct val="100000"/>
              </a:lnSpc>
            </a:pPr>
            <a:r>
              <a:rPr sz="1600" b="1" i="1" spc="-5" dirty="0">
                <a:latin typeface="Courier New"/>
                <a:cs typeface="Courier New"/>
              </a:rPr>
              <a:t>System.out.print</a:t>
            </a:r>
            <a:r>
              <a:rPr sz="1600" b="1" spc="-5" dirty="0">
                <a:latin typeface="Courier New"/>
                <a:cs typeface="Courier New"/>
              </a:rPr>
              <a:t>(</a:t>
            </a:r>
            <a:r>
              <a:rPr sz="1600" b="1" spc="-5" dirty="0">
                <a:solidFill>
                  <a:srgbClr val="006600"/>
                </a:solidFill>
                <a:latin typeface="Courier New"/>
                <a:cs typeface="Courier New"/>
              </a:rPr>
              <a:t>"Enter number of terms:</a:t>
            </a:r>
            <a:r>
              <a:rPr sz="1600" b="1" spc="6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"</a:t>
            </a:r>
            <a:r>
              <a:rPr sz="1600" b="1" dirty="0">
                <a:latin typeface="Courier New"/>
                <a:cs typeface="Courier New"/>
              </a:rPr>
              <a:t>);</a:t>
            </a:r>
            <a:endParaRPr sz="1600">
              <a:latin typeface="Courier New"/>
              <a:cs typeface="Courier New"/>
            </a:endParaRPr>
          </a:p>
          <a:p>
            <a:pPr marL="622300">
              <a:lnSpc>
                <a:spcPct val="100000"/>
              </a:lnSpc>
            </a:pPr>
            <a:r>
              <a:rPr sz="1600" b="1" spc="-5" dirty="0">
                <a:latin typeface="Courier New"/>
                <a:cs typeface="Courier New"/>
              </a:rPr>
              <a:t>nTerms =</a:t>
            </a:r>
            <a:r>
              <a:rPr sz="1600" b="1" spc="15" dirty="0">
                <a:latin typeface="Courier New"/>
                <a:cs typeface="Courier New"/>
              </a:rPr>
              <a:t> </a:t>
            </a:r>
            <a:r>
              <a:rPr sz="1600" b="1" spc="-5" dirty="0">
                <a:solidFill>
                  <a:srgbClr val="001F5F"/>
                </a:solidFill>
                <a:latin typeface="Courier New"/>
                <a:cs typeface="Courier New"/>
              </a:rPr>
              <a:t>sc</a:t>
            </a:r>
            <a:r>
              <a:rPr sz="1600" b="1" spc="-5" dirty="0">
                <a:latin typeface="Courier New"/>
                <a:cs typeface="Courier New"/>
              </a:rPr>
              <a:t>.</a:t>
            </a:r>
            <a:r>
              <a:rPr sz="1600" b="1" i="1" spc="-5" dirty="0">
                <a:latin typeface="Courier New"/>
                <a:cs typeface="Courier New"/>
              </a:rPr>
              <a:t>nextInt</a:t>
            </a:r>
            <a:r>
              <a:rPr sz="1600" b="1" spc="-5" dirty="0">
                <a:latin typeface="Courier New"/>
                <a:cs typeface="Courier New"/>
              </a:rPr>
              <a:t>();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22044" y="4415790"/>
            <a:ext cx="4180840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23570" marR="5080" indent="-611505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0000FF"/>
                </a:solidFill>
                <a:latin typeface="Courier New"/>
                <a:cs typeface="Courier New"/>
              </a:rPr>
              <a:t>for </a:t>
            </a:r>
            <a:r>
              <a:rPr sz="1600" b="1" dirty="0">
                <a:latin typeface="Courier New"/>
                <a:cs typeface="Courier New"/>
              </a:rPr>
              <a:t>(</a:t>
            </a:r>
            <a:r>
              <a:rPr sz="1600" b="1" dirty="0">
                <a:solidFill>
                  <a:srgbClr val="0000FF"/>
                </a:solidFill>
                <a:latin typeface="Courier New"/>
                <a:cs typeface="Courier New"/>
              </a:rPr>
              <a:t>int </a:t>
            </a:r>
            <a:r>
              <a:rPr sz="1600" b="1" spc="-5" dirty="0">
                <a:latin typeface="Courier New"/>
                <a:cs typeface="Courier New"/>
              </a:rPr>
              <a:t>i = </a:t>
            </a:r>
            <a:r>
              <a:rPr sz="1600" b="1" spc="5" dirty="0">
                <a:solidFill>
                  <a:srgbClr val="006600"/>
                </a:solidFill>
                <a:latin typeface="Courier New"/>
                <a:cs typeface="Courier New"/>
              </a:rPr>
              <a:t>0</a:t>
            </a:r>
            <a:r>
              <a:rPr sz="1600" b="1" spc="5" dirty="0">
                <a:latin typeface="Courier New"/>
                <a:cs typeface="Courier New"/>
              </a:rPr>
              <a:t>; </a:t>
            </a:r>
            <a:r>
              <a:rPr sz="1600" b="1" spc="-5" dirty="0">
                <a:latin typeface="Courier New"/>
                <a:cs typeface="Courier New"/>
              </a:rPr>
              <a:t>i &lt; nTerms; </a:t>
            </a:r>
            <a:r>
              <a:rPr sz="1600" b="1" dirty="0">
                <a:latin typeface="Courier New"/>
                <a:cs typeface="Courier New"/>
              </a:rPr>
              <a:t>i++) </a:t>
            </a:r>
            <a:r>
              <a:rPr sz="1600" b="1" spc="-5" dirty="0">
                <a:latin typeface="Courier New"/>
                <a:cs typeface="Courier New"/>
              </a:rPr>
              <a:t>{  pi += </a:t>
            </a:r>
            <a:r>
              <a:rPr sz="1600" b="1" spc="-5" dirty="0">
                <a:solidFill>
                  <a:srgbClr val="006600"/>
                </a:solidFill>
                <a:latin typeface="Courier New"/>
                <a:cs typeface="Courier New"/>
              </a:rPr>
              <a:t>4.0 </a:t>
            </a:r>
            <a:r>
              <a:rPr sz="1600" b="1" spc="-5" dirty="0">
                <a:latin typeface="Courier New"/>
                <a:cs typeface="Courier New"/>
              </a:rPr>
              <a:t>/ denom * sign;  sign *=</a:t>
            </a:r>
            <a:r>
              <a:rPr sz="1600" b="1" dirty="0">
                <a:latin typeface="Courier New"/>
                <a:cs typeface="Courier New"/>
              </a:rPr>
              <a:t> -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1</a:t>
            </a:r>
            <a:r>
              <a:rPr sz="1600" b="1" dirty="0">
                <a:latin typeface="Courier New"/>
                <a:cs typeface="Courier New"/>
              </a:rPr>
              <a:t>;</a:t>
            </a:r>
            <a:endParaRPr sz="1600">
              <a:latin typeface="Courier New"/>
              <a:cs typeface="Courier New"/>
            </a:endParaRPr>
          </a:p>
          <a:p>
            <a:pPr marL="623570">
              <a:lnSpc>
                <a:spcPct val="100000"/>
              </a:lnSpc>
            </a:pPr>
            <a:r>
              <a:rPr sz="1600" b="1" spc="-5" dirty="0">
                <a:latin typeface="Courier New"/>
                <a:cs typeface="Courier New"/>
              </a:rPr>
              <a:t>denom +=</a:t>
            </a:r>
            <a:r>
              <a:rPr sz="1600" b="1" spc="-50" dirty="0">
                <a:latin typeface="Courier New"/>
                <a:cs typeface="Courier New"/>
              </a:rPr>
              <a:t> </a:t>
            </a:r>
            <a:r>
              <a:rPr sz="1600" b="1" spc="-5" dirty="0">
                <a:solidFill>
                  <a:srgbClr val="006600"/>
                </a:solidFill>
                <a:latin typeface="Courier New"/>
                <a:cs typeface="Courier New"/>
              </a:rPr>
              <a:t>2</a:t>
            </a:r>
            <a:r>
              <a:rPr sz="1600" b="1" spc="-5" dirty="0">
                <a:latin typeface="Courier New"/>
                <a:cs typeface="Courier New"/>
              </a:rPr>
              <a:t>;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600" b="1" spc="-5" dirty="0"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55980" y="5635244"/>
            <a:ext cx="491236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78460">
              <a:lnSpc>
                <a:spcPct val="100000"/>
              </a:lnSpc>
              <a:spcBef>
                <a:spcPts val="95"/>
              </a:spcBef>
            </a:pPr>
            <a:r>
              <a:rPr sz="1600" b="1" i="1" spc="-5" dirty="0">
                <a:latin typeface="Courier New"/>
                <a:cs typeface="Courier New"/>
              </a:rPr>
              <a:t>System.out.printf</a:t>
            </a:r>
            <a:r>
              <a:rPr sz="1600" b="1" spc="-5" dirty="0">
                <a:latin typeface="Courier New"/>
                <a:cs typeface="Courier New"/>
              </a:rPr>
              <a:t>(</a:t>
            </a:r>
            <a:r>
              <a:rPr sz="1600" b="1" spc="-5" dirty="0">
                <a:solidFill>
                  <a:srgbClr val="006600"/>
                </a:solidFill>
                <a:latin typeface="Courier New"/>
                <a:cs typeface="Courier New"/>
              </a:rPr>
              <a:t>"PI =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%.6f</a:t>
            </a:r>
            <a:r>
              <a:rPr sz="1600" b="1" dirty="0">
                <a:solidFill>
                  <a:srgbClr val="FF0000"/>
                </a:solidFill>
                <a:latin typeface="Courier New"/>
                <a:cs typeface="Courier New"/>
              </a:rPr>
              <a:t>\n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"</a:t>
            </a:r>
            <a:r>
              <a:rPr sz="1600" b="1" dirty="0">
                <a:latin typeface="Courier New"/>
                <a:cs typeface="Courier New"/>
              </a:rPr>
              <a:t>, </a:t>
            </a:r>
            <a:r>
              <a:rPr sz="1600" b="1" spc="-5" dirty="0">
                <a:latin typeface="Courier New"/>
                <a:cs typeface="Courier New"/>
              </a:rPr>
              <a:t>pi);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600" b="1" spc="-5" dirty="0"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12140" y="6122923"/>
            <a:ext cx="1473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318250" y="6089650"/>
            <a:ext cx="2374900" cy="393700"/>
            <a:chOff x="6318250" y="6089650"/>
            <a:chExt cx="2374900" cy="393700"/>
          </a:xfrm>
        </p:grpSpPr>
        <p:sp>
          <p:nvSpPr>
            <p:cNvPr id="11" name="object 11"/>
            <p:cNvSpPr/>
            <p:nvPr/>
          </p:nvSpPr>
          <p:spPr>
            <a:xfrm>
              <a:off x="6324600" y="6096000"/>
              <a:ext cx="2362200" cy="381000"/>
            </a:xfrm>
            <a:custGeom>
              <a:avLst/>
              <a:gdLst/>
              <a:ahLst/>
              <a:cxnLst/>
              <a:rect l="l" t="t" r="r" b="b"/>
              <a:pathLst>
                <a:path w="2362200" h="381000">
                  <a:moveTo>
                    <a:pt x="2362200" y="0"/>
                  </a:moveTo>
                  <a:lnTo>
                    <a:pt x="0" y="0"/>
                  </a:lnTo>
                  <a:lnTo>
                    <a:pt x="0" y="381000"/>
                  </a:lnTo>
                  <a:lnTo>
                    <a:pt x="2362200" y="381000"/>
                  </a:lnTo>
                  <a:lnTo>
                    <a:pt x="2362200" y="0"/>
                  </a:lnTo>
                  <a:close/>
                </a:path>
              </a:pathLst>
            </a:custGeom>
            <a:solidFill>
              <a:srgbClr val="B8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324600" y="6096000"/>
              <a:ext cx="2362200" cy="381000"/>
            </a:xfrm>
            <a:custGeom>
              <a:avLst/>
              <a:gdLst/>
              <a:ahLst/>
              <a:cxnLst/>
              <a:rect l="l" t="t" r="r" b="b"/>
              <a:pathLst>
                <a:path w="2362200" h="381000">
                  <a:moveTo>
                    <a:pt x="0" y="381000"/>
                  </a:moveTo>
                  <a:lnTo>
                    <a:pt x="2362200" y="381000"/>
                  </a:lnTo>
                  <a:lnTo>
                    <a:pt x="2362200" y="0"/>
                  </a:lnTo>
                  <a:lnTo>
                    <a:pt x="0" y="0"/>
                  </a:lnTo>
                  <a:lnTo>
                    <a:pt x="0" y="381000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563614" y="6122923"/>
            <a:ext cx="18840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5" dirty="0">
                <a:latin typeface="Carlito"/>
                <a:cs typeface="Carlito"/>
              </a:rPr>
              <a:t>ApproximatePI.java</a:t>
            </a:r>
            <a:endParaRPr sz="1800">
              <a:latin typeface="Carlito"/>
              <a:cs typeface="Carlito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638800" y="4114800"/>
            <a:ext cx="3048000" cy="664845"/>
            <a:chOff x="5638800" y="4114800"/>
            <a:chExt cx="3048000" cy="664845"/>
          </a:xfrm>
        </p:grpSpPr>
        <p:sp>
          <p:nvSpPr>
            <p:cNvPr id="15" name="object 15"/>
            <p:cNvSpPr/>
            <p:nvPr/>
          </p:nvSpPr>
          <p:spPr>
            <a:xfrm>
              <a:off x="5638800" y="4114800"/>
              <a:ext cx="3048000" cy="664845"/>
            </a:xfrm>
            <a:custGeom>
              <a:avLst/>
              <a:gdLst/>
              <a:ahLst/>
              <a:cxnLst/>
              <a:rect l="l" t="t" r="r" b="b"/>
              <a:pathLst>
                <a:path w="3048000" h="664845">
                  <a:moveTo>
                    <a:pt x="3048000" y="0"/>
                  </a:moveTo>
                  <a:lnTo>
                    <a:pt x="0" y="0"/>
                  </a:lnTo>
                  <a:lnTo>
                    <a:pt x="0" y="664463"/>
                  </a:lnTo>
                  <a:lnTo>
                    <a:pt x="3048000" y="664463"/>
                  </a:lnTo>
                  <a:lnTo>
                    <a:pt x="3048000" y="0"/>
                  </a:lnTo>
                  <a:close/>
                </a:path>
              </a:pathLst>
            </a:custGeom>
            <a:solidFill>
              <a:srgbClr val="6F9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104398" y="4453812"/>
              <a:ext cx="1753235" cy="0"/>
            </a:xfrm>
            <a:custGeom>
              <a:avLst/>
              <a:gdLst/>
              <a:ahLst/>
              <a:cxnLst/>
              <a:rect l="l" t="t" r="r" b="b"/>
              <a:pathLst>
                <a:path w="1753234">
                  <a:moveTo>
                    <a:pt x="0" y="0"/>
                  </a:moveTo>
                  <a:lnTo>
                    <a:pt x="156081" y="0"/>
                  </a:lnTo>
                </a:path>
                <a:path w="1753234">
                  <a:moveTo>
                    <a:pt x="397303" y="0"/>
                  </a:moveTo>
                  <a:lnTo>
                    <a:pt x="553363" y="0"/>
                  </a:lnTo>
                </a:path>
                <a:path w="1753234">
                  <a:moveTo>
                    <a:pt x="798790" y="0"/>
                  </a:moveTo>
                  <a:lnTo>
                    <a:pt x="954338" y="0"/>
                  </a:lnTo>
                </a:path>
                <a:path w="1753234">
                  <a:moveTo>
                    <a:pt x="1196072" y="0"/>
                  </a:moveTo>
                  <a:lnTo>
                    <a:pt x="1351620" y="0"/>
                  </a:lnTo>
                </a:path>
                <a:path w="1753234">
                  <a:moveTo>
                    <a:pt x="1597560" y="0"/>
                  </a:moveTo>
                  <a:lnTo>
                    <a:pt x="1753193" y="0"/>
                  </a:lnTo>
                </a:path>
              </a:pathLst>
            </a:custGeom>
            <a:ln w="1047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6118061" y="4448909"/>
            <a:ext cx="173799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  <a:tabLst>
                <a:tab pos="400685" algn="l"/>
                <a:tab pos="800100" algn="l"/>
                <a:tab pos="1195070" algn="l"/>
                <a:tab pos="1596390" algn="l"/>
              </a:tabLst>
            </a:pPr>
            <a:r>
              <a:rPr sz="2000" spc="5" dirty="0">
                <a:latin typeface="Times New Roman"/>
                <a:cs typeface="Times New Roman"/>
              </a:rPr>
              <a:t>1	3	5	7	9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89"/>
              </a:lnSpc>
              <a:tabLst>
                <a:tab pos="1996439" algn="l"/>
                <a:tab pos="8046720" algn="l"/>
              </a:tabLst>
            </a:pPr>
            <a:r>
              <a:rPr dirty="0"/>
              <a:t>[501043 Lecture 1: Intro</a:t>
            </a:r>
            <a:r>
              <a:rPr spc="-6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Java]	</a:t>
            </a:r>
            <a:r>
              <a:rPr u="heavy" dirty="0">
                <a:uFill>
                  <a:solidFill>
                    <a:srgbClr val="009999"/>
                  </a:solidFill>
                </a:uFill>
              </a:rPr>
              <a:t> 	</a:t>
            </a:r>
            <a:r>
              <a:rPr sz="1600" b="1" i="1" spc="-5" dirty="0">
                <a:solidFill>
                  <a:srgbClr val="C00000"/>
                </a:solidFill>
                <a:latin typeface="Arial"/>
                <a:cs typeface="Arial"/>
              </a:rPr>
              <a:t>45</a:t>
            </a:r>
            <a:endParaRPr sz="16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635997" y="4236018"/>
            <a:ext cx="3036570" cy="3479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14"/>
              </a:spcBef>
            </a:pPr>
            <a:r>
              <a:rPr sz="2100" i="1" spc="-45" dirty="0">
                <a:latin typeface="Symbol"/>
                <a:cs typeface="Symbol"/>
              </a:rPr>
              <a:t></a:t>
            </a:r>
            <a:r>
              <a:rPr sz="2100" i="1" spc="-45" dirty="0">
                <a:latin typeface="Times New Roman"/>
                <a:cs typeface="Times New Roman"/>
              </a:rPr>
              <a:t> </a:t>
            </a:r>
            <a:r>
              <a:rPr sz="2000" spc="10" dirty="0">
                <a:latin typeface="Symbol"/>
                <a:cs typeface="Symbol"/>
              </a:rPr>
              <a:t>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3000" spc="7" baseline="34722" dirty="0">
                <a:latin typeface="Times New Roman"/>
                <a:cs typeface="Times New Roman"/>
              </a:rPr>
              <a:t>4 </a:t>
            </a:r>
            <a:r>
              <a:rPr sz="2000" spc="10" dirty="0">
                <a:latin typeface="Symbol"/>
                <a:cs typeface="Symbol"/>
              </a:rPr>
              <a:t>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3000" spc="7" baseline="34722" dirty="0">
                <a:latin typeface="Times New Roman"/>
                <a:cs typeface="Times New Roman"/>
              </a:rPr>
              <a:t>4 </a:t>
            </a:r>
            <a:r>
              <a:rPr sz="2000" spc="10" dirty="0">
                <a:latin typeface="Symbol"/>
                <a:cs typeface="Symbol"/>
              </a:rPr>
              <a:t>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3000" spc="7" baseline="34722" dirty="0">
                <a:latin typeface="Times New Roman"/>
                <a:cs typeface="Times New Roman"/>
              </a:rPr>
              <a:t>4 </a:t>
            </a:r>
            <a:r>
              <a:rPr sz="2000" spc="10" dirty="0">
                <a:latin typeface="Symbol"/>
                <a:cs typeface="Symbol"/>
              </a:rPr>
              <a:t>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3000" spc="7" baseline="34722" dirty="0">
                <a:latin typeface="Times New Roman"/>
                <a:cs typeface="Times New Roman"/>
              </a:rPr>
              <a:t>4 </a:t>
            </a:r>
            <a:r>
              <a:rPr sz="2000" spc="10" dirty="0">
                <a:latin typeface="Symbol"/>
                <a:cs typeface="Symbol"/>
              </a:rPr>
              <a:t>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3000" spc="7" baseline="34722" dirty="0">
                <a:latin typeface="Times New Roman"/>
                <a:cs typeface="Times New Roman"/>
              </a:rPr>
              <a:t>4</a:t>
            </a:r>
            <a:r>
              <a:rPr sz="3000" spc="-127" baseline="34722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Symbol"/>
                <a:cs typeface="Symbol"/>
              </a:rPr>
              <a:t></a:t>
            </a:r>
            <a:r>
              <a:rPr sz="2000" spc="5" dirty="0">
                <a:latin typeface="Times New Roman"/>
                <a:cs typeface="Times New Roman"/>
              </a:rPr>
              <a:t>.........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3444" y="1540890"/>
            <a:ext cx="184785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130" dirty="0">
                <a:solidFill>
                  <a:srgbClr val="C00000"/>
                </a:solidFill>
                <a:latin typeface="Trebuchet MS"/>
                <a:cs typeface="Trebuchet MS"/>
              </a:rPr>
              <a:t>4.4</a:t>
            </a:r>
            <a:r>
              <a:rPr sz="4400" spc="-7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4400" spc="30" dirty="0">
                <a:solidFill>
                  <a:srgbClr val="003399"/>
                </a:solidFill>
                <a:latin typeface="Trebuchet MS"/>
                <a:cs typeface="Trebuchet MS"/>
              </a:rPr>
              <a:t>API</a:t>
            </a:r>
            <a:endParaRPr sz="44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60194" y="3970782"/>
            <a:ext cx="582168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" dirty="0">
                <a:latin typeface="Carlito"/>
                <a:cs typeface="Carlito"/>
              </a:rPr>
              <a:t>Application </a:t>
            </a:r>
            <a:r>
              <a:rPr sz="3200" dirty="0">
                <a:latin typeface="Carlito"/>
                <a:cs typeface="Carlito"/>
              </a:rPr>
              <a:t>Programming</a:t>
            </a:r>
            <a:r>
              <a:rPr sz="3200" spc="5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Interface</a:t>
            </a:r>
            <a:endParaRPr sz="3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248158"/>
            <a:ext cx="27463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5" dirty="0">
                <a:solidFill>
                  <a:srgbClr val="C00000"/>
                </a:solidFill>
              </a:rPr>
              <a:t>4.4 </a:t>
            </a:r>
            <a:r>
              <a:rPr spc="25" dirty="0"/>
              <a:t>API</a:t>
            </a:r>
            <a:r>
              <a:rPr spc="-200" dirty="0"/>
              <a:t> </a:t>
            </a:r>
            <a:r>
              <a:rPr spc="60" dirty="0"/>
              <a:t>(1/2)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002160"/>
            <a:ext cx="7497445" cy="488061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342265" marR="109855" indent="-342265" algn="r">
              <a:lnSpc>
                <a:spcPct val="100000"/>
              </a:lnSpc>
              <a:spcBef>
                <a:spcPts val="540"/>
              </a:spcBef>
              <a:buClr>
                <a:srgbClr val="009999"/>
              </a:buClr>
              <a:buSzPct val="63636"/>
              <a:buFont typeface="Wingdings"/>
              <a:buChar char=""/>
              <a:tabLst>
                <a:tab pos="342265" algn="l"/>
                <a:tab pos="342900" algn="l"/>
              </a:tabLst>
            </a:pPr>
            <a:r>
              <a:rPr sz="2200" spc="-5" dirty="0">
                <a:latin typeface="Arial"/>
                <a:cs typeface="Arial"/>
              </a:rPr>
              <a:t>The </a:t>
            </a:r>
            <a:r>
              <a:rPr sz="2200" spc="-5" dirty="0">
                <a:solidFill>
                  <a:srgbClr val="C00000"/>
                </a:solidFill>
                <a:latin typeface="Arial"/>
                <a:cs typeface="Arial"/>
              </a:rPr>
              <a:t>Scanner </a:t>
            </a:r>
            <a:r>
              <a:rPr sz="2200" dirty="0">
                <a:latin typeface="Arial"/>
                <a:cs typeface="Arial"/>
              </a:rPr>
              <a:t>class </a:t>
            </a:r>
            <a:r>
              <a:rPr sz="2200" spc="-10" dirty="0">
                <a:latin typeface="Arial"/>
                <a:cs typeface="Arial"/>
              </a:rPr>
              <a:t>you </a:t>
            </a:r>
            <a:r>
              <a:rPr sz="2200" spc="-5" dirty="0">
                <a:latin typeface="Arial"/>
                <a:cs typeface="Arial"/>
              </a:rPr>
              <a:t>have seen is part of the Java</a:t>
            </a:r>
            <a:r>
              <a:rPr sz="2200" spc="120" dirty="0">
                <a:latin typeface="Arial"/>
                <a:cs typeface="Arial"/>
              </a:rPr>
              <a:t> </a:t>
            </a:r>
            <a:r>
              <a:rPr sz="2200" spc="-5" dirty="0">
                <a:latin typeface="Arial"/>
                <a:cs typeface="Arial"/>
              </a:rPr>
              <a:t>API</a:t>
            </a:r>
            <a:endParaRPr sz="2200">
              <a:latin typeface="Arial"/>
              <a:cs typeface="Arial"/>
            </a:endParaRPr>
          </a:p>
          <a:p>
            <a:pPr marL="325755" marR="169545" lvl="1" indent="-325755" algn="r">
              <a:lnSpc>
                <a:spcPts val="2170"/>
              </a:lnSpc>
              <a:spcBef>
                <a:spcPts val="385"/>
              </a:spcBef>
              <a:buClr>
                <a:srgbClr val="4B6C4E"/>
              </a:buClr>
              <a:buSzPct val="60526"/>
              <a:buFont typeface="Wingdings"/>
              <a:buChar char=""/>
              <a:tabLst>
                <a:tab pos="325755" algn="l"/>
                <a:tab pos="327025" algn="l"/>
              </a:tabLst>
            </a:pPr>
            <a:r>
              <a:rPr sz="1900" spc="-10" dirty="0">
                <a:solidFill>
                  <a:srgbClr val="0000FF"/>
                </a:solidFill>
                <a:latin typeface="Arial"/>
                <a:cs typeface="Arial"/>
              </a:rPr>
              <a:t>API</a:t>
            </a:r>
            <a:r>
              <a:rPr sz="1900" spc="-10" dirty="0">
                <a:latin typeface="Arial"/>
                <a:cs typeface="Arial"/>
              </a:rPr>
              <a:t>: </a:t>
            </a:r>
            <a:r>
              <a:rPr sz="1900" spc="-5" dirty="0">
                <a:latin typeface="Arial"/>
                <a:cs typeface="Arial"/>
              </a:rPr>
              <a:t>an interface for other programs to interact </a:t>
            </a:r>
            <a:r>
              <a:rPr sz="1900" spc="-10" dirty="0">
                <a:latin typeface="Arial"/>
                <a:cs typeface="Arial"/>
              </a:rPr>
              <a:t>with </a:t>
            </a:r>
            <a:r>
              <a:rPr sz="1900" spc="-5" dirty="0">
                <a:latin typeface="Arial"/>
                <a:cs typeface="Arial"/>
              </a:rPr>
              <a:t>a</a:t>
            </a:r>
            <a:r>
              <a:rPr sz="1900" spc="285" dirty="0">
                <a:latin typeface="Arial"/>
                <a:cs typeface="Arial"/>
              </a:rPr>
              <a:t> </a:t>
            </a:r>
            <a:r>
              <a:rPr sz="1900" spc="-5" dirty="0">
                <a:latin typeface="Arial"/>
                <a:cs typeface="Arial"/>
              </a:rPr>
              <a:t>program</a:t>
            </a:r>
            <a:endParaRPr sz="1900">
              <a:latin typeface="Arial"/>
              <a:cs typeface="Arial"/>
            </a:endParaRPr>
          </a:p>
          <a:p>
            <a:pPr marR="76200" algn="r">
              <a:lnSpc>
                <a:spcPts val="2170"/>
              </a:lnSpc>
            </a:pPr>
            <a:r>
              <a:rPr sz="1900" spc="-5" dirty="0">
                <a:latin typeface="Arial"/>
                <a:cs typeface="Arial"/>
              </a:rPr>
              <a:t>without having direct access to the internal data of the</a:t>
            </a:r>
            <a:r>
              <a:rPr sz="1900" spc="245" dirty="0">
                <a:latin typeface="Arial"/>
                <a:cs typeface="Arial"/>
              </a:rPr>
              <a:t> </a:t>
            </a:r>
            <a:r>
              <a:rPr sz="1900" spc="-5" dirty="0">
                <a:latin typeface="Arial"/>
                <a:cs typeface="Arial"/>
              </a:rPr>
              <a:t>program</a:t>
            </a:r>
            <a:endParaRPr sz="1900">
              <a:latin typeface="Arial"/>
              <a:cs typeface="Arial"/>
            </a:endParaRPr>
          </a:p>
          <a:p>
            <a:pPr marL="683260" lvl="1" indent="-327025">
              <a:lnSpc>
                <a:spcPct val="100000"/>
              </a:lnSpc>
              <a:spcBef>
                <a:spcPts val="370"/>
              </a:spcBef>
              <a:buClr>
                <a:srgbClr val="4B6C4E"/>
              </a:buClr>
              <a:buSzPct val="60526"/>
              <a:buFont typeface="Wingdings"/>
              <a:buChar char=""/>
              <a:tabLst>
                <a:tab pos="683260" algn="l"/>
                <a:tab pos="683895" algn="l"/>
              </a:tabLst>
            </a:pPr>
            <a:r>
              <a:rPr sz="1900" spc="-5" dirty="0">
                <a:latin typeface="Arial"/>
                <a:cs typeface="Arial"/>
              </a:rPr>
              <a:t>Documentation, SE7:</a:t>
            </a:r>
            <a:r>
              <a:rPr sz="1900" spc="120" dirty="0">
                <a:solidFill>
                  <a:srgbClr val="4B6C80"/>
                </a:solidFill>
                <a:latin typeface="Arial"/>
                <a:cs typeface="Arial"/>
              </a:rPr>
              <a:t> </a:t>
            </a:r>
            <a:r>
              <a:rPr sz="1900" u="heavy" spc="-5" dirty="0">
                <a:solidFill>
                  <a:srgbClr val="4B6C80"/>
                </a:solidFill>
                <a:uFill>
                  <a:solidFill>
                    <a:srgbClr val="4B6C80"/>
                  </a:solidFill>
                </a:uFill>
                <a:latin typeface="Arial"/>
                <a:cs typeface="Arial"/>
                <a:hlinkClick r:id="rId2"/>
              </a:rPr>
              <a:t>http://docs.oracle.com/javase/7/docs/api/</a:t>
            </a:r>
            <a:endParaRPr sz="1900">
              <a:latin typeface="Arial"/>
              <a:cs typeface="Arial"/>
            </a:endParaRPr>
          </a:p>
          <a:p>
            <a:pPr marL="683260" lvl="1" indent="-327025">
              <a:lnSpc>
                <a:spcPts val="2165"/>
              </a:lnSpc>
              <a:spcBef>
                <a:spcPts val="375"/>
              </a:spcBef>
              <a:buClr>
                <a:srgbClr val="4B6C4E"/>
              </a:buClr>
              <a:buSzPct val="60526"/>
              <a:buFont typeface="Wingdings"/>
              <a:buChar char=""/>
              <a:tabLst>
                <a:tab pos="683260" algn="l"/>
                <a:tab pos="683895" algn="l"/>
              </a:tabLst>
            </a:pPr>
            <a:r>
              <a:rPr sz="1900" spc="-5" dirty="0">
                <a:latin typeface="Arial"/>
                <a:cs typeface="Arial"/>
              </a:rPr>
              <a:t>You may also access the above link through 501043 website</a:t>
            </a:r>
            <a:r>
              <a:rPr sz="1900" spc="300" dirty="0">
                <a:latin typeface="Arial"/>
                <a:cs typeface="Arial"/>
              </a:rPr>
              <a:t> </a:t>
            </a:r>
            <a:r>
              <a:rPr sz="1900" spc="-5" dirty="0">
                <a:latin typeface="Wingdings"/>
                <a:cs typeface="Wingdings"/>
              </a:rPr>
              <a:t></a:t>
            </a:r>
            <a:endParaRPr sz="1900">
              <a:latin typeface="Wingdings"/>
              <a:cs typeface="Wingdings"/>
            </a:endParaRPr>
          </a:p>
          <a:p>
            <a:pPr marL="683260">
              <a:lnSpc>
                <a:spcPts val="2165"/>
              </a:lnSpc>
            </a:pPr>
            <a:r>
              <a:rPr sz="1900" spc="-5" dirty="0">
                <a:latin typeface="Arial"/>
                <a:cs typeface="Arial"/>
              </a:rPr>
              <a:t>Resources </a:t>
            </a:r>
            <a:r>
              <a:rPr sz="1900" spc="-5" dirty="0">
                <a:latin typeface="Wingdings"/>
                <a:cs typeface="Wingdings"/>
              </a:rPr>
              <a:t></a:t>
            </a:r>
            <a:r>
              <a:rPr sz="1900" spc="-5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Arial"/>
                <a:cs typeface="Arial"/>
              </a:rPr>
              <a:t>Online</a:t>
            </a:r>
            <a:r>
              <a:rPr sz="1900" spc="120" dirty="0">
                <a:latin typeface="Arial"/>
                <a:cs typeface="Arial"/>
              </a:rPr>
              <a:t> </a:t>
            </a:r>
            <a:r>
              <a:rPr sz="1900" spc="-5" dirty="0">
                <a:latin typeface="Arial"/>
                <a:cs typeface="Arial"/>
              </a:rPr>
              <a:t>(</a:t>
            </a:r>
            <a:r>
              <a:rPr sz="1900" u="heavy" spc="-5" dirty="0">
                <a:solidFill>
                  <a:srgbClr val="4B6C80"/>
                </a:solidFill>
                <a:uFill>
                  <a:solidFill>
                    <a:srgbClr val="4B6C80"/>
                  </a:solidFill>
                </a:uFill>
                <a:latin typeface="Arial"/>
                <a:cs typeface="Arial"/>
                <a:hlinkClick r:id="rId3"/>
              </a:rPr>
              <a:t>http://sakai.it.tdt.edu.vn</a:t>
            </a:r>
            <a:r>
              <a:rPr sz="1900" spc="-5" dirty="0">
                <a:latin typeface="Arial"/>
                <a:cs typeface="Arial"/>
              </a:rPr>
              <a:t>)</a:t>
            </a:r>
            <a:endParaRPr sz="1900">
              <a:latin typeface="Arial"/>
              <a:cs typeface="Arial"/>
            </a:endParaRPr>
          </a:p>
          <a:p>
            <a:pPr marL="683260" marR="301625" lvl="1" indent="-327025">
              <a:lnSpc>
                <a:spcPts val="2050"/>
              </a:lnSpc>
              <a:spcBef>
                <a:spcPts val="635"/>
              </a:spcBef>
              <a:buClr>
                <a:srgbClr val="4B6C4E"/>
              </a:buClr>
              <a:buSzPct val="60526"/>
              <a:buFont typeface="Wingdings"/>
              <a:buChar char=""/>
              <a:tabLst>
                <a:tab pos="683260" algn="l"/>
                <a:tab pos="683895" algn="l"/>
              </a:tabLst>
            </a:pPr>
            <a:r>
              <a:rPr sz="1900" spc="-5" dirty="0">
                <a:latin typeface="Arial"/>
                <a:cs typeface="Arial"/>
              </a:rPr>
              <a:t>For Java programmers, it is </a:t>
            </a:r>
            <a:r>
              <a:rPr sz="1900" spc="-5" dirty="0">
                <a:solidFill>
                  <a:srgbClr val="C00000"/>
                </a:solidFill>
                <a:latin typeface="Arial"/>
                <a:cs typeface="Arial"/>
              </a:rPr>
              <a:t>very important </a:t>
            </a:r>
            <a:r>
              <a:rPr sz="1900" spc="-5" dirty="0">
                <a:latin typeface="Arial"/>
                <a:cs typeface="Arial"/>
              </a:rPr>
              <a:t>to refer to the </a:t>
            </a:r>
            <a:r>
              <a:rPr sz="1900" spc="-10" dirty="0">
                <a:latin typeface="Arial"/>
                <a:cs typeface="Arial"/>
              </a:rPr>
              <a:t>API  </a:t>
            </a:r>
            <a:r>
              <a:rPr sz="1900" spc="-5" dirty="0">
                <a:latin typeface="Arial"/>
                <a:cs typeface="Arial"/>
              </a:rPr>
              <a:t>documentation</a:t>
            </a:r>
            <a:r>
              <a:rPr sz="1900" spc="45" dirty="0">
                <a:latin typeface="Arial"/>
                <a:cs typeface="Arial"/>
              </a:rPr>
              <a:t> </a:t>
            </a:r>
            <a:r>
              <a:rPr sz="1900" spc="-5" dirty="0">
                <a:latin typeface="Arial"/>
                <a:cs typeface="Arial"/>
              </a:rPr>
              <a:t>regularly!</a:t>
            </a:r>
            <a:endParaRPr sz="19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1495"/>
              </a:spcBef>
              <a:buClr>
                <a:srgbClr val="009999"/>
              </a:buClr>
              <a:buSzPct val="6363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200" spc="-5" dirty="0">
                <a:latin typeface="Arial"/>
                <a:cs typeface="Arial"/>
              </a:rPr>
              <a:t>The API </a:t>
            </a:r>
            <a:r>
              <a:rPr sz="2200" dirty="0">
                <a:latin typeface="Arial"/>
                <a:cs typeface="Arial"/>
              </a:rPr>
              <a:t>consists </a:t>
            </a:r>
            <a:r>
              <a:rPr sz="2200" spc="-5" dirty="0">
                <a:latin typeface="Arial"/>
                <a:cs typeface="Arial"/>
              </a:rPr>
              <a:t>of many</a:t>
            </a:r>
            <a:r>
              <a:rPr sz="2200" spc="35" dirty="0">
                <a:latin typeface="Arial"/>
                <a:cs typeface="Arial"/>
              </a:rPr>
              <a:t> </a:t>
            </a:r>
            <a:r>
              <a:rPr sz="2200" spc="-5" dirty="0">
                <a:latin typeface="Arial"/>
                <a:cs typeface="Arial"/>
              </a:rPr>
              <a:t>classes</a:t>
            </a:r>
            <a:endParaRPr sz="2200">
              <a:latin typeface="Arial"/>
              <a:cs typeface="Arial"/>
            </a:endParaRPr>
          </a:p>
          <a:p>
            <a:pPr marL="683260" marR="100965" lvl="1" indent="-327025">
              <a:lnSpc>
                <a:spcPts val="2050"/>
              </a:lnSpc>
              <a:spcBef>
                <a:spcPts val="645"/>
              </a:spcBef>
              <a:buClr>
                <a:srgbClr val="4B6C4E"/>
              </a:buClr>
              <a:buSzPct val="60526"/>
              <a:buFont typeface="Wingdings"/>
              <a:buChar char=""/>
              <a:tabLst>
                <a:tab pos="683260" algn="l"/>
                <a:tab pos="683895" algn="l"/>
              </a:tabLst>
            </a:pPr>
            <a:r>
              <a:rPr sz="1900" spc="-5" dirty="0">
                <a:latin typeface="Arial"/>
                <a:cs typeface="Arial"/>
              </a:rPr>
              <a:t>You do not need to know all the classes (there are easily a few  thousand classes</a:t>
            </a:r>
            <a:r>
              <a:rPr sz="1900" spc="55" dirty="0">
                <a:latin typeface="Arial"/>
                <a:cs typeface="Arial"/>
              </a:rPr>
              <a:t> </a:t>
            </a:r>
            <a:r>
              <a:rPr sz="1900" spc="-5" dirty="0">
                <a:latin typeface="Arial"/>
                <a:cs typeface="Arial"/>
              </a:rPr>
              <a:t>altogether!)</a:t>
            </a:r>
            <a:endParaRPr sz="1900">
              <a:latin typeface="Arial"/>
              <a:cs typeface="Arial"/>
            </a:endParaRPr>
          </a:p>
          <a:p>
            <a:pPr marL="683260" lvl="1" indent="-327025">
              <a:lnSpc>
                <a:spcPct val="100000"/>
              </a:lnSpc>
              <a:spcBef>
                <a:spcPts val="345"/>
              </a:spcBef>
              <a:buClr>
                <a:srgbClr val="4B6C4E"/>
              </a:buClr>
              <a:buSzPct val="60526"/>
              <a:buFont typeface="Wingdings"/>
              <a:buChar char=""/>
              <a:tabLst>
                <a:tab pos="683260" algn="l"/>
                <a:tab pos="683895" algn="l"/>
              </a:tabLst>
            </a:pPr>
            <a:r>
              <a:rPr sz="1900" spc="-5" dirty="0">
                <a:latin typeface="Arial"/>
                <a:cs typeface="Arial"/>
              </a:rPr>
              <a:t>You </a:t>
            </a:r>
            <a:r>
              <a:rPr sz="1900" spc="-10" dirty="0">
                <a:latin typeface="Arial"/>
                <a:cs typeface="Arial"/>
              </a:rPr>
              <a:t>will </a:t>
            </a:r>
            <a:r>
              <a:rPr sz="1900" spc="-5" dirty="0">
                <a:latin typeface="Arial"/>
                <a:cs typeface="Arial"/>
              </a:rPr>
              <a:t>learn some more classes in this</a:t>
            </a:r>
            <a:r>
              <a:rPr sz="1900" spc="150" dirty="0">
                <a:latin typeface="Arial"/>
                <a:cs typeface="Arial"/>
              </a:rPr>
              <a:t> </a:t>
            </a:r>
            <a:r>
              <a:rPr sz="1900" spc="-5" dirty="0">
                <a:latin typeface="Arial"/>
                <a:cs typeface="Arial"/>
              </a:rPr>
              <a:t>course</a:t>
            </a:r>
            <a:endParaRPr sz="19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1525"/>
              </a:spcBef>
              <a:buClr>
                <a:srgbClr val="009999"/>
              </a:buClr>
              <a:buSzPct val="6363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200" spc="-5" dirty="0">
                <a:solidFill>
                  <a:srgbClr val="000099"/>
                </a:solidFill>
                <a:latin typeface="Arial"/>
                <a:cs typeface="Arial"/>
              </a:rPr>
              <a:t>This </a:t>
            </a:r>
            <a:r>
              <a:rPr sz="2200" dirty="0">
                <a:solidFill>
                  <a:srgbClr val="000099"/>
                </a:solidFill>
                <a:latin typeface="Arial"/>
                <a:cs typeface="Arial"/>
              </a:rPr>
              <a:t>week reading</a:t>
            </a:r>
            <a:r>
              <a:rPr sz="2200" spc="25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000099"/>
                </a:solidFill>
                <a:latin typeface="Arial"/>
                <a:cs typeface="Arial"/>
              </a:rPr>
              <a:t>assignment</a:t>
            </a:r>
            <a:endParaRPr sz="2200">
              <a:latin typeface="Arial"/>
              <a:cs typeface="Arial"/>
            </a:endParaRPr>
          </a:p>
          <a:p>
            <a:pPr marL="683260" lvl="1" indent="-327025">
              <a:lnSpc>
                <a:spcPct val="100000"/>
              </a:lnSpc>
              <a:spcBef>
                <a:spcPts val="385"/>
              </a:spcBef>
              <a:buClr>
                <a:srgbClr val="4B6C4E"/>
              </a:buClr>
              <a:buSzPct val="60526"/>
              <a:buFont typeface="Wingdings"/>
              <a:buChar char=""/>
              <a:tabLst>
                <a:tab pos="683260" algn="l"/>
                <a:tab pos="683895" algn="l"/>
              </a:tabLst>
            </a:pPr>
            <a:r>
              <a:rPr sz="1900" spc="-5" dirty="0">
                <a:latin typeface="Arial"/>
                <a:cs typeface="Arial"/>
              </a:rPr>
              <a:t>Read up </a:t>
            </a:r>
            <a:r>
              <a:rPr sz="1900" spc="-5" dirty="0">
                <a:solidFill>
                  <a:srgbClr val="C00000"/>
                </a:solidFill>
                <a:latin typeface="Arial"/>
                <a:cs typeface="Arial"/>
              </a:rPr>
              <a:t>Scanner </a:t>
            </a:r>
            <a:r>
              <a:rPr sz="1900" spc="-5" dirty="0">
                <a:latin typeface="Arial"/>
                <a:cs typeface="Arial"/>
              </a:rPr>
              <a:t>class in the </a:t>
            </a:r>
            <a:r>
              <a:rPr sz="1900" spc="-10" dirty="0">
                <a:latin typeface="Arial"/>
                <a:cs typeface="Arial"/>
              </a:rPr>
              <a:t>API</a:t>
            </a:r>
            <a:r>
              <a:rPr sz="1900" spc="125" dirty="0">
                <a:latin typeface="Arial"/>
                <a:cs typeface="Arial"/>
              </a:rPr>
              <a:t> </a:t>
            </a:r>
            <a:r>
              <a:rPr sz="1900" spc="-5" dirty="0">
                <a:latin typeface="Arial"/>
                <a:cs typeface="Arial"/>
              </a:rPr>
              <a:t>documentation</a:t>
            </a:r>
            <a:endParaRPr sz="19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543800" y="5257800"/>
            <a:ext cx="1031748" cy="119329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89"/>
              </a:lnSpc>
              <a:tabLst>
                <a:tab pos="1996439" algn="l"/>
                <a:tab pos="8046720" algn="l"/>
              </a:tabLst>
            </a:pPr>
            <a:r>
              <a:rPr dirty="0"/>
              <a:t>[501043 Lecture 1: Intro</a:t>
            </a:r>
            <a:r>
              <a:rPr spc="-6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Java]	</a:t>
            </a:r>
            <a:r>
              <a:rPr u="heavy" dirty="0">
                <a:uFill>
                  <a:solidFill>
                    <a:srgbClr val="009999"/>
                  </a:solidFill>
                </a:uFill>
              </a:rPr>
              <a:t> 	</a:t>
            </a:r>
            <a:r>
              <a:rPr sz="1600" b="1" i="1" spc="-5" dirty="0">
                <a:solidFill>
                  <a:srgbClr val="C00000"/>
                </a:solidFill>
                <a:latin typeface="Arial"/>
                <a:cs typeface="Arial"/>
              </a:rPr>
              <a:t>47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962" y="6630161"/>
            <a:ext cx="75565" cy="0"/>
          </a:xfrm>
          <a:custGeom>
            <a:avLst/>
            <a:gdLst/>
            <a:ahLst/>
            <a:cxnLst/>
            <a:rect l="l" t="t" r="r" b="b"/>
            <a:pathLst>
              <a:path w="75565">
                <a:moveTo>
                  <a:pt x="0" y="0"/>
                </a:moveTo>
                <a:lnTo>
                  <a:pt x="75437" y="0"/>
                </a:lnTo>
              </a:path>
            </a:pathLst>
          </a:custGeom>
          <a:ln w="19812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35940" y="248158"/>
            <a:ext cx="27470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5" dirty="0">
                <a:solidFill>
                  <a:srgbClr val="C00000"/>
                </a:solidFill>
              </a:rPr>
              <a:t>4.4 </a:t>
            </a:r>
            <a:r>
              <a:rPr spc="25" dirty="0"/>
              <a:t>API</a:t>
            </a:r>
            <a:r>
              <a:rPr spc="-200" dirty="0"/>
              <a:t> </a:t>
            </a:r>
            <a:r>
              <a:rPr spc="60" dirty="0"/>
              <a:t>(2/2)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280415" y="1143000"/>
            <a:ext cx="8554720" cy="4876800"/>
            <a:chOff x="280415" y="1143000"/>
            <a:chExt cx="8554720" cy="4876800"/>
          </a:xfrm>
        </p:grpSpPr>
        <p:sp>
          <p:nvSpPr>
            <p:cNvPr id="5" name="object 5"/>
            <p:cNvSpPr/>
            <p:nvPr/>
          </p:nvSpPr>
          <p:spPr>
            <a:xfrm>
              <a:off x="309371" y="1143000"/>
              <a:ext cx="8525256" cy="48768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94893" y="4191761"/>
              <a:ext cx="681355" cy="304800"/>
            </a:xfrm>
            <a:custGeom>
              <a:avLst/>
              <a:gdLst/>
              <a:ahLst/>
              <a:cxnLst/>
              <a:rect l="l" t="t" r="r" b="b"/>
              <a:pathLst>
                <a:path w="681355" h="304800">
                  <a:moveTo>
                    <a:pt x="0" y="152400"/>
                  </a:moveTo>
                  <a:lnTo>
                    <a:pt x="21310" y="99209"/>
                  </a:lnTo>
                  <a:lnTo>
                    <a:pt x="80109" y="54197"/>
                  </a:lnTo>
                  <a:lnTo>
                    <a:pt x="121162" y="35831"/>
                  </a:lnTo>
                  <a:lnTo>
                    <a:pt x="168701" y="20799"/>
                  </a:lnTo>
                  <a:lnTo>
                    <a:pt x="221764" y="9530"/>
                  </a:lnTo>
                  <a:lnTo>
                    <a:pt x="279389" y="2454"/>
                  </a:lnTo>
                  <a:lnTo>
                    <a:pt x="340614" y="0"/>
                  </a:lnTo>
                  <a:lnTo>
                    <a:pt x="401838" y="2454"/>
                  </a:lnTo>
                  <a:lnTo>
                    <a:pt x="459463" y="9530"/>
                  </a:lnTo>
                  <a:lnTo>
                    <a:pt x="512526" y="20799"/>
                  </a:lnTo>
                  <a:lnTo>
                    <a:pt x="560065" y="35831"/>
                  </a:lnTo>
                  <a:lnTo>
                    <a:pt x="601118" y="54197"/>
                  </a:lnTo>
                  <a:lnTo>
                    <a:pt x="634723" y="75466"/>
                  </a:lnTo>
                  <a:lnTo>
                    <a:pt x="675740" y="124997"/>
                  </a:lnTo>
                  <a:lnTo>
                    <a:pt x="681228" y="152400"/>
                  </a:lnTo>
                  <a:lnTo>
                    <a:pt x="675740" y="179802"/>
                  </a:lnTo>
                  <a:lnTo>
                    <a:pt x="634723" y="229333"/>
                  </a:lnTo>
                  <a:lnTo>
                    <a:pt x="601118" y="250602"/>
                  </a:lnTo>
                  <a:lnTo>
                    <a:pt x="560065" y="268968"/>
                  </a:lnTo>
                  <a:lnTo>
                    <a:pt x="512526" y="284000"/>
                  </a:lnTo>
                  <a:lnTo>
                    <a:pt x="459463" y="295269"/>
                  </a:lnTo>
                  <a:lnTo>
                    <a:pt x="401838" y="302345"/>
                  </a:lnTo>
                  <a:lnTo>
                    <a:pt x="340614" y="304800"/>
                  </a:lnTo>
                  <a:lnTo>
                    <a:pt x="279389" y="302345"/>
                  </a:lnTo>
                  <a:lnTo>
                    <a:pt x="221764" y="295269"/>
                  </a:lnTo>
                  <a:lnTo>
                    <a:pt x="168701" y="284000"/>
                  </a:lnTo>
                  <a:lnTo>
                    <a:pt x="121162" y="268968"/>
                  </a:lnTo>
                  <a:lnTo>
                    <a:pt x="80109" y="250602"/>
                  </a:lnTo>
                  <a:lnTo>
                    <a:pt x="46504" y="229333"/>
                  </a:lnTo>
                  <a:lnTo>
                    <a:pt x="5487" y="179802"/>
                  </a:lnTo>
                  <a:lnTo>
                    <a:pt x="0" y="152400"/>
                  </a:lnTo>
                  <a:close/>
                </a:path>
              </a:pathLst>
            </a:custGeom>
            <a:ln w="2895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89"/>
              </a:lnSpc>
              <a:tabLst>
                <a:tab pos="1996439" algn="l"/>
                <a:tab pos="8046720" algn="l"/>
              </a:tabLst>
            </a:pPr>
            <a:r>
              <a:rPr dirty="0"/>
              <a:t>[501043 Lecture 1: Intro</a:t>
            </a:r>
            <a:r>
              <a:rPr spc="-6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Java]	</a:t>
            </a:r>
            <a:r>
              <a:rPr u="heavy" dirty="0">
                <a:uFill>
                  <a:solidFill>
                    <a:srgbClr val="009999"/>
                  </a:solidFill>
                </a:uFill>
              </a:rPr>
              <a:t> 	</a:t>
            </a:r>
            <a:r>
              <a:rPr sz="1600" b="1" i="1" spc="-5" dirty="0">
                <a:solidFill>
                  <a:srgbClr val="C00000"/>
                </a:solidFill>
                <a:latin typeface="Arial"/>
                <a:cs typeface="Arial"/>
              </a:rPr>
              <a:t>48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3444" y="1543938"/>
            <a:ext cx="7153909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114" dirty="0">
                <a:solidFill>
                  <a:srgbClr val="C00000"/>
                </a:solidFill>
                <a:latin typeface="Trebuchet MS"/>
                <a:cs typeface="Trebuchet MS"/>
              </a:rPr>
              <a:t>4.5 </a:t>
            </a:r>
            <a:r>
              <a:rPr sz="4000" spc="-35" dirty="0">
                <a:solidFill>
                  <a:srgbClr val="003399"/>
                </a:solidFill>
                <a:latin typeface="Trebuchet MS"/>
                <a:cs typeface="Trebuchet MS"/>
              </a:rPr>
              <a:t>Math </a:t>
            </a:r>
            <a:r>
              <a:rPr sz="4000" spc="20" dirty="0">
                <a:solidFill>
                  <a:srgbClr val="003399"/>
                </a:solidFill>
                <a:latin typeface="Trebuchet MS"/>
                <a:cs typeface="Trebuchet MS"/>
              </a:rPr>
              <a:t>class, </a:t>
            </a:r>
            <a:r>
              <a:rPr sz="4000" spc="95" dirty="0">
                <a:solidFill>
                  <a:srgbClr val="003399"/>
                </a:solidFill>
                <a:latin typeface="Trebuchet MS"/>
                <a:cs typeface="Trebuchet MS"/>
              </a:rPr>
              <a:t>Class</a:t>
            </a:r>
            <a:r>
              <a:rPr sz="4000" spc="-105" dirty="0">
                <a:solidFill>
                  <a:srgbClr val="003399"/>
                </a:solidFill>
                <a:latin typeface="Trebuchet MS"/>
                <a:cs typeface="Trebuchet MS"/>
              </a:rPr>
              <a:t> </a:t>
            </a:r>
            <a:r>
              <a:rPr sz="4000" spc="-95" dirty="0">
                <a:solidFill>
                  <a:srgbClr val="003399"/>
                </a:solidFill>
                <a:latin typeface="Trebuchet MS"/>
                <a:cs typeface="Trebuchet MS"/>
              </a:rPr>
              <a:t>Attributes</a:t>
            </a:r>
            <a:endParaRPr sz="40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60194" y="3970782"/>
            <a:ext cx="3446779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" dirty="0">
                <a:latin typeface="Carlito"/>
                <a:cs typeface="Carlito"/>
              </a:rPr>
              <a:t>Using </a:t>
            </a:r>
            <a:r>
              <a:rPr sz="3200" dirty="0">
                <a:latin typeface="Carlito"/>
                <a:cs typeface="Carlito"/>
              </a:rPr>
              <a:t>the Math</a:t>
            </a:r>
            <a:r>
              <a:rPr sz="3200" spc="-40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class</a:t>
            </a:r>
            <a:endParaRPr sz="3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248158"/>
            <a:ext cx="50876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5" dirty="0">
                <a:solidFill>
                  <a:srgbClr val="C00000"/>
                </a:solidFill>
              </a:rPr>
              <a:t>4.5 </a:t>
            </a:r>
            <a:r>
              <a:rPr spc="-114" dirty="0"/>
              <a:t>The </a:t>
            </a:r>
            <a:r>
              <a:rPr b="1" spc="-100" dirty="0">
                <a:latin typeface="Trebuchet MS"/>
                <a:cs typeface="Trebuchet MS"/>
              </a:rPr>
              <a:t>Math </a:t>
            </a:r>
            <a:r>
              <a:rPr spc="85" dirty="0"/>
              <a:t>class</a:t>
            </a:r>
            <a:r>
              <a:rPr spc="-45" dirty="0"/>
              <a:t> </a:t>
            </a:r>
            <a:r>
              <a:rPr spc="60" dirty="0"/>
              <a:t>(1/2)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092453"/>
            <a:ext cx="42506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009999"/>
              </a:buClr>
              <a:buSzPct val="64583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From the </a:t>
            </a:r>
            <a:r>
              <a:rPr sz="2400" spc="-5" dirty="0">
                <a:latin typeface="Arial"/>
                <a:cs typeface="Arial"/>
              </a:rPr>
              <a:t>API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documentation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53923" y="1600200"/>
            <a:ext cx="8761730" cy="4543425"/>
            <a:chOff x="153923" y="1600200"/>
            <a:chExt cx="8761730" cy="4543425"/>
          </a:xfrm>
        </p:grpSpPr>
        <p:sp>
          <p:nvSpPr>
            <p:cNvPr id="5" name="object 5"/>
            <p:cNvSpPr/>
            <p:nvPr/>
          </p:nvSpPr>
          <p:spPr>
            <a:xfrm>
              <a:off x="228600" y="1600200"/>
              <a:ext cx="8686800" cy="454304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68401" y="3871722"/>
              <a:ext cx="472440" cy="205740"/>
            </a:xfrm>
            <a:custGeom>
              <a:avLst/>
              <a:gdLst/>
              <a:ahLst/>
              <a:cxnLst/>
              <a:rect l="l" t="t" r="r" b="b"/>
              <a:pathLst>
                <a:path w="472440" h="205739">
                  <a:moveTo>
                    <a:pt x="0" y="102869"/>
                  </a:moveTo>
                  <a:lnTo>
                    <a:pt x="32252" y="50969"/>
                  </a:lnTo>
                  <a:lnTo>
                    <a:pt x="69189" y="30146"/>
                  </a:lnTo>
                  <a:lnTo>
                    <a:pt x="116998" y="14054"/>
                  </a:lnTo>
                  <a:lnTo>
                    <a:pt x="173425" y="3677"/>
                  </a:lnTo>
                  <a:lnTo>
                    <a:pt x="236220" y="0"/>
                  </a:lnTo>
                  <a:lnTo>
                    <a:pt x="299014" y="3677"/>
                  </a:lnTo>
                  <a:lnTo>
                    <a:pt x="355441" y="14054"/>
                  </a:lnTo>
                  <a:lnTo>
                    <a:pt x="403250" y="30146"/>
                  </a:lnTo>
                  <a:lnTo>
                    <a:pt x="440187" y="50969"/>
                  </a:lnTo>
                  <a:lnTo>
                    <a:pt x="472440" y="102869"/>
                  </a:lnTo>
                  <a:lnTo>
                    <a:pt x="464001" y="130201"/>
                  </a:lnTo>
                  <a:lnTo>
                    <a:pt x="403250" y="175593"/>
                  </a:lnTo>
                  <a:lnTo>
                    <a:pt x="355441" y="191685"/>
                  </a:lnTo>
                  <a:lnTo>
                    <a:pt x="299014" y="202062"/>
                  </a:lnTo>
                  <a:lnTo>
                    <a:pt x="236220" y="205739"/>
                  </a:lnTo>
                  <a:lnTo>
                    <a:pt x="173425" y="202062"/>
                  </a:lnTo>
                  <a:lnTo>
                    <a:pt x="116998" y="191685"/>
                  </a:lnTo>
                  <a:lnTo>
                    <a:pt x="69189" y="175593"/>
                  </a:lnTo>
                  <a:lnTo>
                    <a:pt x="32252" y="154770"/>
                  </a:lnTo>
                  <a:lnTo>
                    <a:pt x="0" y="102869"/>
                  </a:lnTo>
                  <a:close/>
                </a:path>
              </a:pathLst>
            </a:custGeom>
            <a:ln w="2895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89"/>
              </a:lnSpc>
              <a:tabLst>
                <a:tab pos="1996439" algn="l"/>
                <a:tab pos="8046720" algn="l"/>
              </a:tabLst>
            </a:pPr>
            <a:r>
              <a:rPr dirty="0"/>
              <a:t>[501043 Lecture 1: Intro</a:t>
            </a:r>
            <a:r>
              <a:rPr spc="-6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Java]	</a:t>
            </a:r>
            <a:r>
              <a:rPr u="heavy" dirty="0">
                <a:uFill>
                  <a:solidFill>
                    <a:srgbClr val="009999"/>
                  </a:solidFill>
                </a:uFill>
              </a:rPr>
              <a:t> 	</a:t>
            </a:r>
            <a:r>
              <a:rPr sz="1600" b="1" i="1" spc="-5" dirty="0">
                <a:solidFill>
                  <a:srgbClr val="C00000"/>
                </a:solidFill>
                <a:latin typeface="Arial"/>
                <a:cs typeface="Arial"/>
              </a:rPr>
              <a:t>50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248158"/>
            <a:ext cx="50888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5" dirty="0">
                <a:solidFill>
                  <a:srgbClr val="C00000"/>
                </a:solidFill>
              </a:rPr>
              <a:t>4.5 </a:t>
            </a:r>
            <a:r>
              <a:rPr spc="-114" dirty="0"/>
              <a:t>The </a:t>
            </a:r>
            <a:r>
              <a:rPr b="1" spc="-100" dirty="0">
                <a:latin typeface="Trebuchet MS"/>
                <a:cs typeface="Trebuchet MS"/>
              </a:rPr>
              <a:t>Math </a:t>
            </a:r>
            <a:r>
              <a:rPr spc="85" dirty="0"/>
              <a:t>class</a:t>
            </a:r>
            <a:r>
              <a:rPr spc="-40" dirty="0"/>
              <a:t> </a:t>
            </a:r>
            <a:r>
              <a:rPr spc="60" dirty="0"/>
              <a:t>(2/2)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89"/>
              </a:lnSpc>
              <a:tabLst>
                <a:tab pos="1996439" algn="l"/>
                <a:tab pos="8046720" algn="l"/>
              </a:tabLst>
            </a:pPr>
            <a:r>
              <a:rPr dirty="0"/>
              <a:t>[501043 Lecture 1: Intro</a:t>
            </a:r>
            <a:r>
              <a:rPr spc="-6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Java]	</a:t>
            </a:r>
            <a:r>
              <a:rPr u="heavy" dirty="0">
                <a:uFill>
                  <a:solidFill>
                    <a:srgbClr val="009999"/>
                  </a:solidFill>
                </a:uFill>
              </a:rPr>
              <a:t> 	</a:t>
            </a:r>
            <a:r>
              <a:rPr sz="1600" b="1" i="1" spc="-5" dirty="0">
                <a:solidFill>
                  <a:srgbClr val="C00000"/>
                </a:solidFill>
                <a:latin typeface="Arial"/>
                <a:cs typeface="Arial"/>
              </a:rPr>
              <a:t>51</a:t>
            </a:r>
            <a:endParaRPr sz="1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885722"/>
            <a:ext cx="4858385" cy="4060190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110"/>
              </a:spcBef>
              <a:buClr>
                <a:srgbClr val="009999"/>
              </a:buClr>
              <a:buSzPct val="64285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Package: </a:t>
            </a:r>
            <a:r>
              <a:rPr sz="2800" spc="-5" dirty="0">
                <a:latin typeface="Arial"/>
                <a:cs typeface="Arial"/>
              </a:rPr>
              <a:t>java.lang</a:t>
            </a:r>
            <a:r>
              <a:rPr sz="2800" spc="-1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(default)</a:t>
            </a:r>
            <a:endParaRPr sz="2800">
              <a:latin typeface="Arial"/>
              <a:cs typeface="Arial"/>
            </a:endParaRPr>
          </a:p>
          <a:p>
            <a:pPr marL="355600" indent="-342900">
              <a:lnSpc>
                <a:spcPts val="3350"/>
              </a:lnSpc>
              <a:spcBef>
                <a:spcPts val="1010"/>
              </a:spcBef>
              <a:buClr>
                <a:srgbClr val="009999"/>
              </a:buClr>
              <a:buSzPct val="64285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spc="-5" dirty="0">
                <a:latin typeface="Arial"/>
                <a:cs typeface="Arial"/>
              </a:rPr>
              <a:t>Some </a:t>
            </a:r>
            <a:r>
              <a:rPr sz="2800" dirty="0">
                <a:latin typeface="Arial"/>
                <a:cs typeface="Arial"/>
              </a:rPr>
              <a:t>useful </a:t>
            </a:r>
            <a:r>
              <a:rPr sz="2800" b="1" spc="-5" dirty="0">
                <a:latin typeface="Courier New"/>
                <a:cs typeface="Courier New"/>
              </a:rPr>
              <a:t>Math</a:t>
            </a:r>
            <a:r>
              <a:rPr sz="2800" b="1" spc="-950" dirty="0">
                <a:latin typeface="Courier New"/>
                <a:cs typeface="Courier New"/>
              </a:rPr>
              <a:t> </a:t>
            </a:r>
            <a:r>
              <a:rPr sz="2800" spc="-5" dirty="0">
                <a:latin typeface="Arial"/>
                <a:cs typeface="Arial"/>
              </a:rPr>
              <a:t>methods:</a:t>
            </a:r>
            <a:endParaRPr sz="2800">
              <a:latin typeface="Arial"/>
              <a:cs typeface="Arial"/>
            </a:endParaRPr>
          </a:p>
          <a:p>
            <a:pPr marL="683260" lvl="1" indent="-327025">
              <a:lnSpc>
                <a:spcPts val="2870"/>
              </a:lnSpc>
              <a:buClr>
                <a:srgbClr val="4B6C4E"/>
              </a:buClr>
              <a:buSzPct val="60416"/>
              <a:buFont typeface="Wingdings"/>
              <a:buChar char=""/>
              <a:tabLst>
                <a:tab pos="683260" algn="l"/>
                <a:tab pos="683895" algn="l"/>
              </a:tabLst>
            </a:pPr>
            <a:r>
              <a:rPr sz="2400" b="1" spc="-5" dirty="0">
                <a:solidFill>
                  <a:srgbClr val="C00000"/>
                </a:solidFill>
                <a:latin typeface="Courier New"/>
                <a:cs typeface="Courier New"/>
              </a:rPr>
              <a:t>abs()</a:t>
            </a:r>
            <a:endParaRPr sz="2400">
              <a:latin typeface="Courier New"/>
              <a:cs typeface="Courier New"/>
            </a:endParaRPr>
          </a:p>
          <a:p>
            <a:pPr marL="683260" lvl="1" indent="-327025">
              <a:lnSpc>
                <a:spcPct val="100000"/>
              </a:lnSpc>
              <a:buClr>
                <a:srgbClr val="4B6C4E"/>
              </a:buClr>
              <a:buSzPct val="60416"/>
              <a:buFont typeface="Wingdings"/>
              <a:buChar char=""/>
              <a:tabLst>
                <a:tab pos="683260" algn="l"/>
                <a:tab pos="683895" algn="l"/>
              </a:tabLst>
            </a:pPr>
            <a:r>
              <a:rPr sz="2400" b="1" spc="-5" dirty="0">
                <a:solidFill>
                  <a:srgbClr val="C00000"/>
                </a:solidFill>
                <a:latin typeface="Courier New"/>
                <a:cs typeface="Courier New"/>
              </a:rPr>
              <a:t>ceil()</a:t>
            </a:r>
            <a:endParaRPr sz="2400">
              <a:latin typeface="Courier New"/>
              <a:cs typeface="Courier New"/>
            </a:endParaRPr>
          </a:p>
          <a:p>
            <a:pPr marL="683260" lvl="1" indent="-327025">
              <a:lnSpc>
                <a:spcPct val="100000"/>
              </a:lnSpc>
              <a:buClr>
                <a:srgbClr val="4B6C4E"/>
              </a:buClr>
              <a:buSzPct val="60416"/>
              <a:buFont typeface="Wingdings"/>
              <a:buChar char=""/>
              <a:tabLst>
                <a:tab pos="683260" algn="l"/>
                <a:tab pos="683895" algn="l"/>
              </a:tabLst>
            </a:pPr>
            <a:r>
              <a:rPr sz="2400" b="1" spc="-5" dirty="0">
                <a:solidFill>
                  <a:srgbClr val="C00000"/>
                </a:solidFill>
                <a:latin typeface="Courier New"/>
                <a:cs typeface="Courier New"/>
              </a:rPr>
              <a:t>floor()</a:t>
            </a:r>
            <a:endParaRPr sz="2400">
              <a:latin typeface="Courier New"/>
              <a:cs typeface="Courier New"/>
            </a:endParaRPr>
          </a:p>
          <a:p>
            <a:pPr marL="683260" lvl="1" indent="-327025">
              <a:lnSpc>
                <a:spcPct val="100000"/>
              </a:lnSpc>
              <a:spcBef>
                <a:spcPts val="5"/>
              </a:spcBef>
              <a:buClr>
                <a:srgbClr val="4B6C4E"/>
              </a:buClr>
              <a:buSzPct val="60416"/>
              <a:buFont typeface="Wingdings"/>
              <a:buChar char=""/>
              <a:tabLst>
                <a:tab pos="683260" algn="l"/>
                <a:tab pos="683895" algn="l"/>
              </a:tabLst>
            </a:pPr>
            <a:r>
              <a:rPr sz="2400" b="1" spc="-5" dirty="0">
                <a:solidFill>
                  <a:srgbClr val="C00000"/>
                </a:solidFill>
                <a:latin typeface="Courier New"/>
                <a:cs typeface="Courier New"/>
              </a:rPr>
              <a:t>max()</a:t>
            </a:r>
            <a:endParaRPr sz="2400">
              <a:latin typeface="Courier New"/>
              <a:cs typeface="Courier New"/>
            </a:endParaRPr>
          </a:p>
          <a:p>
            <a:pPr marL="683260" lvl="1" indent="-327025">
              <a:lnSpc>
                <a:spcPct val="100000"/>
              </a:lnSpc>
              <a:buClr>
                <a:srgbClr val="4B6C4E"/>
              </a:buClr>
              <a:buSzPct val="60416"/>
              <a:buFont typeface="Wingdings"/>
              <a:buChar char=""/>
              <a:tabLst>
                <a:tab pos="683260" algn="l"/>
                <a:tab pos="683895" algn="l"/>
              </a:tabLst>
            </a:pPr>
            <a:r>
              <a:rPr sz="2400" b="1" spc="-5" dirty="0">
                <a:solidFill>
                  <a:srgbClr val="C00000"/>
                </a:solidFill>
                <a:latin typeface="Courier New"/>
                <a:cs typeface="Courier New"/>
              </a:rPr>
              <a:t>min()</a:t>
            </a:r>
            <a:endParaRPr sz="2400">
              <a:latin typeface="Courier New"/>
              <a:cs typeface="Courier New"/>
            </a:endParaRPr>
          </a:p>
          <a:p>
            <a:pPr marL="683260" lvl="1" indent="-327025">
              <a:lnSpc>
                <a:spcPct val="100000"/>
              </a:lnSpc>
              <a:buClr>
                <a:srgbClr val="4B6C4E"/>
              </a:buClr>
              <a:buSzPct val="60416"/>
              <a:buFont typeface="Wingdings"/>
              <a:buChar char=""/>
              <a:tabLst>
                <a:tab pos="683260" algn="l"/>
                <a:tab pos="683895" algn="l"/>
              </a:tabLst>
            </a:pPr>
            <a:r>
              <a:rPr sz="2400" b="1" spc="-5" dirty="0">
                <a:solidFill>
                  <a:srgbClr val="C00000"/>
                </a:solidFill>
                <a:latin typeface="Courier New"/>
                <a:cs typeface="Courier New"/>
              </a:rPr>
              <a:t>pow()</a:t>
            </a:r>
            <a:endParaRPr sz="2400">
              <a:latin typeface="Courier New"/>
              <a:cs typeface="Courier New"/>
            </a:endParaRPr>
          </a:p>
          <a:p>
            <a:pPr marL="683260" lvl="1" indent="-327025">
              <a:lnSpc>
                <a:spcPct val="100000"/>
              </a:lnSpc>
              <a:buClr>
                <a:srgbClr val="4B6C4E"/>
              </a:buClr>
              <a:buSzPct val="60416"/>
              <a:buFont typeface="Wingdings"/>
              <a:buChar char=""/>
              <a:tabLst>
                <a:tab pos="683260" algn="l"/>
                <a:tab pos="683895" algn="l"/>
              </a:tabLst>
            </a:pPr>
            <a:r>
              <a:rPr sz="2400" b="1" spc="-10" dirty="0">
                <a:solidFill>
                  <a:srgbClr val="C00000"/>
                </a:solidFill>
                <a:latin typeface="Courier New"/>
                <a:cs typeface="Courier New"/>
              </a:rPr>
              <a:t>random()</a:t>
            </a:r>
            <a:endParaRPr sz="2400">
              <a:latin typeface="Courier New"/>
              <a:cs typeface="Courier New"/>
            </a:endParaRPr>
          </a:p>
          <a:p>
            <a:pPr marL="683260" lvl="1" indent="-327025">
              <a:lnSpc>
                <a:spcPct val="100000"/>
              </a:lnSpc>
              <a:buClr>
                <a:srgbClr val="4B6C4E"/>
              </a:buClr>
              <a:buSzPct val="60416"/>
              <a:buFont typeface="Wingdings"/>
              <a:buChar char=""/>
              <a:tabLst>
                <a:tab pos="683260" algn="l"/>
                <a:tab pos="683895" algn="l"/>
              </a:tabLst>
            </a:pPr>
            <a:r>
              <a:rPr sz="2400" b="1" spc="-5" dirty="0">
                <a:solidFill>
                  <a:srgbClr val="C00000"/>
                </a:solidFill>
                <a:latin typeface="Courier New"/>
                <a:cs typeface="Courier New"/>
              </a:rPr>
              <a:t>sqrt()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248158"/>
            <a:ext cx="40297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5" dirty="0">
                <a:solidFill>
                  <a:srgbClr val="C00000"/>
                </a:solidFill>
              </a:rPr>
              <a:t>4.5 </a:t>
            </a:r>
            <a:r>
              <a:rPr spc="85" dirty="0"/>
              <a:t>Class</a:t>
            </a:r>
            <a:r>
              <a:rPr spc="-165" dirty="0"/>
              <a:t> </a:t>
            </a:r>
            <a:r>
              <a:rPr spc="-80" dirty="0"/>
              <a:t>Attributes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990346"/>
            <a:ext cx="66433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Clr>
                <a:srgbClr val="009999"/>
              </a:buClr>
              <a:buSzPct val="64285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spc="-5" dirty="0">
                <a:latin typeface="Arial"/>
                <a:cs typeface="Arial"/>
              </a:rPr>
              <a:t>The </a:t>
            </a:r>
            <a:r>
              <a:rPr sz="2800" b="1" spc="-5" dirty="0">
                <a:latin typeface="Courier New"/>
                <a:cs typeface="Courier New"/>
              </a:rPr>
              <a:t>Math</a:t>
            </a:r>
            <a:r>
              <a:rPr sz="2800" b="1" spc="-885" dirty="0">
                <a:latin typeface="Courier New"/>
                <a:cs typeface="Courier New"/>
              </a:rPr>
              <a:t> </a:t>
            </a:r>
            <a:r>
              <a:rPr sz="2800" spc="-5" dirty="0">
                <a:latin typeface="Arial"/>
                <a:cs typeface="Arial"/>
              </a:rPr>
              <a:t>class has two </a:t>
            </a:r>
            <a:r>
              <a:rPr sz="2800" dirty="0">
                <a:solidFill>
                  <a:srgbClr val="C00000"/>
                </a:solidFill>
                <a:latin typeface="Arial"/>
                <a:cs typeface="Arial"/>
              </a:rPr>
              <a:t>class attributes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2691206"/>
            <a:ext cx="7972425" cy="32404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lr>
                <a:srgbClr val="009999"/>
              </a:buClr>
              <a:buSzPct val="65384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600" dirty="0">
                <a:latin typeface="Arial"/>
                <a:cs typeface="Arial"/>
              </a:rPr>
              <a:t>A </a:t>
            </a:r>
            <a:r>
              <a:rPr sz="2600" dirty="0">
                <a:solidFill>
                  <a:srgbClr val="C00000"/>
                </a:solidFill>
                <a:latin typeface="Arial"/>
                <a:cs typeface="Arial"/>
              </a:rPr>
              <a:t>class attribute </a:t>
            </a:r>
            <a:r>
              <a:rPr sz="2600" dirty="0">
                <a:latin typeface="Arial"/>
                <a:cs typeface="Arial"/>
              </a:rPr>
              <a:t>(or </a:t>
            </a:r>
            <a:r>
              <a:rPr sz="2600" dirty="0">
                <a:solidFill>
                  <a:srgbClr val="C00000"/>
                </a:solidFill>
                <a:latin typeface="Arial"/>
                <a:cs typeface="Arial"/>
              </a:rPr>
              <a:t>class member</a:t>
            </a:r>
            <a:r>
              <a:rPr sz="2600" dirty="0">
                <a:latin typeface="Arial"/>
                <a:cs typeface="Arial"/>
              </a:rPr>
              <a:t>) is associated  with the </a:t>
            </a:r>
            <a:r>
              <a:rPr sz="2600" spc="5" dirty="0">
                <a:latin typeface="Arial"/>
                <a:cs typeface="Arial"/>
              </a:rPr>
              <a:t>class, not </a:t>
            </a:r>
            <a:r>
              <a:rPr sz="2600" dirty="0">
                <a:latin typeface="Arial"/>
                <a:cs typeface="Arial"/>
              </a:rPr>
              <a:t>the individual instances (objects).  Every instance of a </a:t>
            </a:r>
            <a:r>
              <a:rPr sz="2600" spc="5" dirty="0">
                <a:latin typeface="Arial"/>
                <a:cs typeface="Arial"/>
              </a:rPr>
              <a:t>class </a:t>
            </a:r>
            <a:r>
              <a:rPr sz="2600" dirty="0">
                <a:latin typeface="Arial"/>
                <a:cs typeface="Arial"/>
              </a:rPr>
              <a:t>shares the class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attribute.</a:t>
            </a:r>
            <a:endParaRPr sz="2600">
              <a:latin typeface="Arial"/>
              <a:cs typeface="Arial"/>
            </a:endParaRPr>
          </a:p>
          <a:p>
            <a:pPr marL="812800" lvl="1" indent="-343535">
              <a:lnSpc>
                <a:spcPct val="100000"/>
              </a:lnSpc>
              <a:spcBef>
                <a:spcPts val="5"/>
              </a:spcBef>
              <a:buClr>
                <a:srgbClr val="009999"/>
              </a:buClr>
              <a:buSzPct val="63636"/>
              <a:buFont typeface="Wingdings"/>
              <a:buChar char=""/>
              <a:tabLst>
                <a:tab pos="812800" algn="l"/>
                <a:tab pos="813435" algn="l"/>
              </a:tabLst>
            </a:pPr>
            <a:r>
              <a:rPr sz="2200" spc="-5" dirty="0">
                <a:latin typeface="Arial"/>
                <a:cs typeface="Arial"/>
              </a:rPr>
              <a:t>We will explain about “objects”</a:t>
            </a:r>
            <a:r>
              <a:rPr sz="2200" spc="15" dirty="0">
                <a:latin typeface="Arial"/>
                <a:cs typeface="Arial"/>
              </a:rPr>
              <a:t> </a:t>
            </a:r>
            <a:r>
              <a:rPr sz="2200" spc="-5" dirty="0">
                <a:latin typeface="Arial"/>
                <a:cs typeface="Arial"/>
              </a:rPr>
              <a:t>later.</a:t>
            </a:r>
            <a:endParaRPr sz="22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1200"/>
              </a:spcBef>
              <a:buClr>
                <a:srgbClr val="009999"/>
              </a:buClr>
              <a:buSzPct val="65384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600" spc="5" dirty="0">
                <a:latin typeface="Arial"/>
                <a:cs typeface="Arial"/>
              </a:rPr>
              <a:t>How </a:t>
            </a:r>
            <a:r>
              <a:rPr sz="2600" spc="-5" dirty="0">
                <a:latin typeface="Arial"/>
                <a:cs typeface="Arial"/>
              </a:rPr>
              <a:t>to </a:t>
            </a:r>
            <a:r>
              <a:rPr sz="2600" spc="5" dirty="0">
                <a:latin typeface="Arial"/>
                <a:cs typeface="Arial"/>
              </a:rPr>
              <a:t>use</a:t>
            </a:r>
            <a:r>
              <a:rPr sz="2600" spc="-9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it?</a:t>
            </a:r>
            <a:endParaRPr sz="2600">
              <a:latin typeface="Arial"/>
              <a:cs typeface="Arial"/>
            </a:endParaRPr>
          </a:p>
          <a:p>
            <a:pPr marL="812800" lvl="1" indent="-343535">
              <a:lnSpc>
                <a:spcPct val="100000"/>
              </a:lnSpc>
              <a:spcBef>
                <a:spcPts val="605"/>
              </a:spcBef>
              <a:buClr>
                <a:srgbClr val="009999"/>
              </a:buClr>
              <a:buSzPct val="63636"/>
              <a:buFont typeface="Wingdings"/>
              <a:buChar char=""/>
              <a:tabLst>
                <a:tab pos="812800" algn="l"/>
                <a:tab pos="813435" algn="l"/>
              </a:tabLst>
            </a:pPr>
            <a:r>
              <a:rPr sz="2200" spc="-5" dirty="0">
                <a:latin typeface="Arial"/>
                <a:cs typeface="Arial"/>
              </a:rPr>
              <a:t>Example:</a:t>
            </a:r>
            <a:endParaRPr sz="220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105"/>
              </a:spcBef>
            </a:pPr>
            <a:r>
              <a:rPr sz="2000" b="1" spc="-5" dirty="0">
                <a:latin typeface="Courier New"/>
                <a:cs typeface="Courier New"/>
              </a:rPr>
              <a:t>double </a:t>
            </a:r>
            <a:r>
              <a:rPr sz="2000" b="1" dirty="0">
                <a:latin typeface="Courier New"/>
                <a:cs typeface="Courier New"/>
              </a:rPr>
              <a:t>area = </a:t>
            </a:r>
            <a:r>
              <a:rPr sz="2000" b="1" spc="-5" dirty="0">
                <a:solidFill>
                  <a:srgbClr val="000099"/>
                </a:solidFill>
                <a:latin typeface="Courier New"/>
                <a:cs typeface="Courier New"/>
              </a:rPr>
              <a:t>Math.PI </a:t>
            </a:r>
            <a:r>
              <a:rPr sz="2000" b="1" dirty="0">
                <a:latin typeface="Courier New"/>
                <a:cs typeface="Courier New"/>
              </a:rPr>
              <a:t>*</a:t>
            </a:r>
            <a:r>
              <a:rPr sz="2000" b="1" spc="15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Math.pow(radius,2);</a:t>
            </a:r>
            <a:endParaRPr sz="2000">
              <a:latin typeface="Courier New"/>
              <a:cs typeface="Courier New"/>
            </a:endParaRPr>
          </a:p>
          <a:p>
            <a:pPr marL="812800" lvl="1" indent="-343535">
              <a:lnSpc>
                <a:spcPct val="100000"/>
              </a:lnSpc>
              <a:spcBef>
                <a:spcPts val="590"/>
              </a:spcBef>
              <a:buClr>
                <a:srgbClr val="009999"/>
              </a:buClr>
              <a:buSzPct val="63636"/>
              <a:buFont typeface="Wingdings"/>
              <a:buChar char=""/>
              <a:tabLst>
                <a:tab pos="812800" algn="l"/>
                <a:tab pos="813435" algn="l"/>
              </a:tabLst>
            </a:pPr>
            <a:r>
              <a:rPr sz="2200" spc="-5" dirty="0">
                <a:latin typeface="Arial"/>
                <a:cs typeface="Arial"/>
              </a:rPr>
              <a:t>Here, </a:t>
            </a:r>
            <a:r>
              <a:rPr sz="2200" b="1" spc="-5" dirty="0">
                <a:solidFill>
                  <a:srgbClr val="000099"/>
                </a:solidFill>
                <a:latin typeface="Courier New"/>
                <a:cs typeface="Courier New"/>
              </a:rPr>
              <a:t>Math.PI</a:t>
            </a:r>
            <a:r>
              <a:rPr sz="2200" b="1" spc="-595" dirty="0">
                <a:solidFill>
                  <a:srgbClr val="000099"/>
                </a:solidFill>
                <a:latin typeface="Courier New"/>
                <a:cs typeface="Courier New"/>
              </a:rPr>
              <a:t> </a:t>
            </a:r>
            <a:r>
              <a:rPr sz="2200" spc="-5" dirty="0">
                <a:latin typeface="Arial"/>
                <a:cs typeface="Arial"/>
              </a:rPr>
              <a:t>is used as the constant </a:t>
            </a:r>
            <a:r>
              <a:rPr sz="2200" spc="-5" dirty="0">
                <a:latin typeface="Symbol"/>
                <a:cs typeface="Symbol"/>
              </a:rPr>
              <a:t></a:t>
            </a:r>
            <a:endParaRPr sz="2200">
              <a:latin typeface="Symbol"/>
              <a:cs typeface="Symbo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28600" y="1510283"/>
            <a:ext cx="8763000" cy="966469"/>
            <a:chOff x="228600" y="1510283"/>
            <a:chExt cx="8763000" cy="966469"/>
          </a:xfrm>
        </p:grpSpPr>
        <p:sp>
          <p:nvSpPr>
            <p:cNvPr id="6" name="object 6"/>
            <p:cNvSpPr/>
            <p:nvPr/>
          </p:nvSpPr>
          <p:spPr>
            <a:xfrm>
              <a:off x="228600" y="1523999"/>
              <a:ext cx="8763000" cy="9525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768345" y="1524761"/>
              <a:ext cx="457200" cy="767080"/>
            </a:xfrm>
            <a:custGeom>
              <a:avLst/>
              <a:gdLst/>
              <a:ahLst/>
              <a:cxnLst/>
              <a:rect l="l" t="t" r="r" b="b"/>
              <a:pathLst>
                <a:path w="457200" h="767080">
                  <a:moveTo>
                    <a:pt x="0" y="152400"/>
                  </a:moveTo>
                  <a:lnTo>
                    <a:pt x="23237" y="85363"/>
                  </a:lnTo>
                  <a:lnTo>
                    <a:pt x="50225" y="57067"/>
                  </a:lnTo>
                  <a:lnTo>
                    <a:pt x="85628" y="33470"/>
                  </a:lnTo>
                  <a:lnTo>
                    <a:pt x="128073" y="15484"/>
                  </a:lnTo>
                  <a:lnTo>
                    <a:pt x="176188" y="4023"/>
                  </a:lnTo>
                  <a:lnTo>
                    <a:pt x="228600" y="0"/>
                  </a:lnTo>
                  <a:lnTo>
                    <a:pt x="281011" y="4023"/>
                  </a:lnTo>
                  <a:lnTo>
                    <a:pt x="329126" y="15484"/>
                  </a:lnTo>
                  <a:lnTo>
                    <a:pt x="371571" y="33470"/>
                  </a:lnTo>
                  <a:lnTo>
                    <a:pt x="406974" y="57067"/>
                  </a:lnTo>
                  <a:lnTo>
                    <a:pt x="433962" y="85363"/>
                  </a:lnTo>
                  <a:lnTo>
                    <a:pt x="457200" y="152400"/>
                  </a:lnTo>
                  <a:lnTo>
                    <a:pt x="451161" y="187354"/>
                  </a:lnTo>
                  <a:lnTo>
                    <a:pt x="406974" y="247732"/>
                  </a:lnTo>
                  <a:lnTo>
                    <a:pt x="371571" y="271329"/>
                  </a:lnTo>
                  <a:lnTo>
                    <a:pt x="329126" y="289315"/>
                  </a:lnTo>
                  <a:lnTo>
                    <a:pt x="281011" y="300776"/>
                  </a:lnTo>
                  <a:lnTo>
                    <a:pt x="228600" y="304800"/>
                  </a:lnTo>
                  <a:lnTo>
                    <a:pt x="176188" y="300776"/>
                  </a:lnTo>
                  <a:lnTo>
                    <a:pt x="128073" y="289315"/>
                  </a:lnTo>
                  <a:lnTo>
                    <a:pt x="85628" y="271329"/>
                  </a:lnTo>
                  <a:lnTo>
                    <a:pt x="50225" y="247732"/>
                  </a:lnTo>
                  <a:lnTo>
                    <a:pt x="23237" y="219436"/>
                  </a:lnTo>
                  <a:lnTo>
                    <a:pt x="0" y="152400"/>
                  </a:lnTo>
                  <a:close/>
                </a:path>
                <a:path w="457200" h="767080">
                  <a:moveTo>
                    <a:pt x="0" y="614172"/>
                  </a:moveTo>
                  <a:lnTo>
                    <a:pt x="23237" y="547135"/>
                  </a:lnTo>
                  <a:lnTo>
                    <a:pt x="50225" y="518839"/>
                  </a:lnTo>
                  <a:lnTo>
                    <a:pt x="85628" y="495242"/>
                  </a:lnTo>
                  <a:lnTo>
                    <a:pt x="128073" y="477256"/>
                  </a:lnTo>
                  <a:lnTo>
                    <a:pt x="176188" y="465795"/>
                  </a:lnTo>
                  <a:lnTo>
                    <a:pt x="228600" y="461772"/>
                  </a:lnTo>
                  <a:lnTo>
                    <a:pt x="281011" y="465795"/>
                  </a:lnTo>
                  <a:lnTo>
                    <a:pt x="329126" y="477256"/>
                  </a:lnTo>
                  <a:lnTo>
                    <a:pt x="371571" y="495242"/>
                  </a:lnTo>
                  <a:lnTo>
                    <a:pt x="406974" y="518839"/>
                  </a:lnTo>
                  <a:lnTo>
                    <a:pt x="433962" y="547135"/>
                  </a:lnTo>
                  <a:lnTo>
                    <a:pt x="457200" y="614172"/>
                  </a:lnTo>
                  <a:lnTo>
                    <a:pt x="451161" y="649126"/>
                  </a:lnTo>
                  <a:lnTo>
                    <a:pt x="406974" y="709504"/>
                  </a:lnTo>
                  <a:lnTo>
                    <a:pt x="371571" y="733101"/>
                  </a:lnTo>
                  <a:lnTo>
                    <a:pt x="329126" y="751087"/>
                  </a:lnTo>
                  <a:lnTo>
                    <a:pt x="281011" y="762548"/>
                  </a:lnTo>
                  <a:lnTo>
                    <a:pt x="228600" y="766572"/>
                  </a:lnTo>
                  <a:lnTo>
                    <a:pt x="176188" y="762548"/>
                  </a:lnTo>
                  <a:lnTo>
                    <a:pt x="128073" y="751087"/>
                  </a:lnTo>
                  <a:lnTo>
                    <a:pt x="85628" y="733101"/>
                  </a:lnTo>
                  <a:lnTo>
                    <a:pt x="50225" y="709504"/>
                  </a:lnTo>
                  <a:lnTo>
                    <a:pt x="23237" y="681208"/>
                  </a:lnTo>
                  <a:lnTo>
                    <a:pt x="0" y="614172"/>
                  </a:lnTo>
                  <a:close/>
                </a:path>
              </a:pathLst>
            </a:custGeom>
            <a:ln w="28956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89"/>
              </a:lnSpc>
              <a:tabLst>
                <a:tab pos="1996439" algn="l"/>
                <a:tab pos="8046720" algn="l"/>
              </a:tabLst>
            </a:pPr>
            <a:r>
              <a:rPr dirty="0"/>
              <a:t>[501043 Lecture 1: Intro</a:t>
            </a:r>
            <a:r>
              <a:rPr spc="-6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Java]	</a:t>
            </a:r>
            <a:r>
              <a:rPr u="heavy" dirty="0">
                <a:uFill>
                  <a:solidFill>
                    <a:srgbClr val="009999"/>
                  </a:solidFill>
                </a:uFill>
              </a:rPr>
              <a:t> 	</a:t>
            </a:r>
            <a:r>
              <a:rPr sz="1600" b="1" i="1" spc="-5" dirty="0">
                <a:solidFill>
                  <a:srgbClr val="C00000"/>
                </a:solidFill>
                <a:latin typeface="Arial"/>
                <a:cs typeface="Arial"/>
              </a:rPr>
              <a:t>52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5" dirty="0">
                <a:solidFill>
                  <a:srgbClr val="C00000"/>
                </a:solidFill>
              </a:rPr>
              <a:t>4.5 </a:t>
            </a:r>
            <a:r>
              <a:rPr spc="-114" dirty="0"/>
              <a:t>The </a:t>
            </a:r>
            <a:r>
              <a:rPr b="1" spc="-100" dirty="0">
                <a:latin typeface="Trebuchet MS"/>
                <a:cs typeface="Trebuchet MS"/>
              </a:rPr>
              <a:t>Math </a:t>
            </a:r>
            <a:r>
              <a:rPr spc="20" dirty="0"/>
              <a:t>class:</a:t>
            </a:r>
            <a:r>
              <a:rPr spc="-20" dirty="0"/>
              <a:t> </a:t>
            </a:r>
            <a:r>
              <a:rPr spc="-15" dirty="0"/>
              <a:t>Demo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97344" y="978344"/>
            <a:ext cx="7950834" cy="5320665"/>
            <a:chOff x="597344" y="978344"/>
            <a:chExt cx="7950834" cy="5320665"/>
          </a:xfrm>
        </p:grpSpPr>
        <p:sp>
          <p:nvSpPr>
            <p:cNvPr id="4" name="object 4"/>
            <p:cNvSpPr/>
            <p:nvPr/>
          </p:nvSpPr>
          <p:spPr>
            <a:xfrm>
              <a:off x="610362" y="991361"/>
              <a:ext cx="7924800" cy="5294630"/>
            </a:xfrm>
            <a:custGeom>
              <a:avLst/>
              <a:gdLst/>
              <a:ahLst/>
              <a:cxnLst/>
              <a:rect l="l" t="t" r="r" b="b"/>
              <a:pathLst>
                <a:path w="7924800" h="5294630">
                  <a:moveTo>
                    <a:pt x="7924800" y="0"/>
                  </a:moveTo>
                  <a:lnTo>
                    <a:pt x="0" y="0"/>
                  </a:lnTo>
                  <a:lnTo>
                    <a:pt x="0" y="87630"/>
                  </a:lnTo>
                  <a:lnTo>
                    <a:pt x="0" y="5294376"/>
                  </a:lnTo>
                  <a:lnTo>
                    <a:pt x="7924800" y="5294376"/>
                  </a:lnTo>
                  <a:lnTo>
                    <a:pt x="7924800" y="87630"/>
                  </a:lnTo>
                  <a:lnTo>
                    <a:pt x="7924800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10361" y="991362"/>
              <a:ext cx="7924800" cy="5294630"/>
            </a:xfrm>
            <a:custGeom>
              <a:avLst/>
              <a:gdLst/>
              <a:ahLst/>
              <a:cxnLst/>
              <a:rect l="l" t="t" r="r" b="b"/>
              <a:pathLst>
                <a:path w="7924800" h="5294630">
                  <a:moveTo>
                    <a:pt x="0" y="5294376"/>
                  </a:moveTo>
                  <a:lnTo>
                    <a:pt x="7924800" y="5294376"/>
                  </a:lnTo>
                  <a:lnTo>
                    <a:pt x="7924800" y="0"/>
                  </a:lnTo>
                  <a:lnTo>
                    <a:pt x="0" y="0"/>
                  </a:lnTo>
                  <a:lnTo>
                    <a:pt x="0" y="5294376"/>
                  </a:lnTo>
                  <a:close/>
                </a:path>
              </a:pathLst>
            </a:custGeom>
            <a:ln w="25908">
              <a:solidFill>
                <a:srgbClr val="AAC9C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688340" y="2033142"/>
            <a:ext cx="31661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0000FF"/>
                </a:solidFill>
                <a:latin typeface="Courier New"/>
                <a:cs typeface="Courier New"/>
              </a:rPr>
              <a:t>public class </a:t>
            </a:r>
            <a:r>
              <a:rPr sz="1800" b="1" spc="-10" dirty="0">
                <a:latin typeface="Courier New"/>
                <a:cs typeface="Courier New"/>
              </a:rPr>
              <a:t>TestMath</a:t>
            </a:r>
            <a:r>
              <a:rPr sz="1800" b="1" spc="-7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88340" y="2581783"/>
            <a:ext cx="7383145" cy="35928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46100" marR="1630045" indent="-262255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0000FF"/>
                </a:solidFill>
                <a:latin typeface="Courier New"/>
                <a:cs typeface="Courier New"/>
              </a:rPr>
              <a:t>public static void </a:t>
            </a:r>
            <a:r>
              <a:rPr sz="1800" b="1" spc="-10" dirty="0">
                <a:latin typeface="Courier New"/>
                <a:cs typeface="Courier New"/>
              </a:rPr>
              <a:t>main(String[] </a:t>
            </a:r>
            <a:r>
              <a:rPr sz="1800" b="1" spc="-5" dirty="0">
                <a:latin typeface="Courier New"/>
                <a:cs typeface="Courier New"/>
              </a:rPr>
              <a:t>args) </a:t>
            </a:r>
            <a:r>
              <a:rPr sz="1800" b="1" dirty="0">
                <a:latin typeface="Courier New"/>
                <a:cs typeface="Courier New"/>
              </a:rPr>
              <a:t>{  </a:t>
            </a:r>
            <a:r>
              <a:rPr sz="1800" b="1" spc="-10" dirty="0">
                <a:latin typeface="Courier New"/>
                <a:cs typeface="Courier New"/>
              </a:rPr>
              <a:t>Scanner </a:t>
            </a:r>
            <a:r>
              <a:rPr sz="1800" b="1" spc="-5" dirty="0">
                <a:latin typeface="Courier New"/>
                <a:cs typeface="Courier New"/>
              </a:rPr>
              <a:t>sc </a:t>
            </a:r>
            <a:r>
              <a:rPr sz="1800" b="1" dirty="0">
                <a:latin typeface="Courier New"/>
                <a:cs typeface="Courier New"/>
              </a:rPr>
              <a:t>= </a:t>
            </a:r>
            <a:r>
              <a:rPr sz="1800" b="1" spc="-10" dirty="0">
                <a:latin typeface="Courier New"/>
                <a:cs typeface="Courier New"/>
              </a:rPr>
              <a:t>new</a:t>
            </a:r>
            <a:r>
              <a:rPr sz="1800" b="1" spc="-7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Scanner(System.in);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900">
              <a:latin typeface="Courier New"/>
              <a:cs typeface="Courier New"/>
            </a:endParaRPr>
          </a:p>
          <a:p>
            <a:pPr marL="546100" marR="687705">
              <a:lnSpc>
                <a:spcPct val="100000"/>
              </a:lnSpc>
              <a:spcBef>
                <a:spcPts val="5"/>
              </a:spcBef>
            </a:pPr>
            <a:r>
              <a:rPr sz="1800" b="1" spc="-10" dirty="0">
                <a:latin typeface="Courier New"/>
                <a:cs typeface="Courier New"/>
              </a:rPr>
              <a:t>System.out.print("Enter area of </a:t>
            </a:r>
            <a:r>
              <a:rPr sz="1800" b="1" dirty="0">
                <a:latin typeface="Courier New"/>
                <a:cs typeface="Courier New"/>
              </a:rPr>
              <a:t>a </a:t>
            </a:r>
            <a:r>
              <a:rPr sz="1800" b="1" spc="-10" dirty="0">
                <a:latin typeface="Courier New"/>
                <a:cs typeface="Courier New"/>
              </a:rPr>
              <a:t>square: ");  </a:t>
            </a:r>
            <a:r>
              <a:rPr sz="1800" b="1" spc="-10" dirty="0">
                <a:solidFill>
                  <a:srgbClr val="0000FF"/>
                </a:solidFill>
                <a:latin typeface="Courier New"/>
                <a:cs typeface="Courier New"/>
              </a:rPr>
              <a:t>double </a:t>
            </a:r>
            <a:r>
              <a:rPr sz="1800" b="1" spc="-10" dirty="0">
                <a:latin typeface="Courier New"/>
                <a:cs typeface="Courier New"/>
              </a:rPr>
              <a:t>areaSquare </a:t>
            </a:r>
            <a:r>
              <a:rPr sz="1800" b="1" dirty="0">
                <a:latin typeface="Courier New"/>
                <a:cs typeface="Courier New"/>
              </a:rPr>
              <a:t>=</a:t>
            </a:r>
            <a:r>
              <a:rPr sz="1800" b="1" spc="-5" dirty="0">
                <a:latin typeface="Courier New"/>
                <a:cs typeface="Courier New"/>
              </a:rPr>
              <a:t> </a:t>
            </a:r>
            <a:r>
              <a:rPr sz="1800" b="1" i="1" spc="-10" dirty="0">
                <a:solidFill>
                  <a:srgbClr val="6600CC"/>
                </a:solidFill>
                <a:latin typeface="Courier New"/>
                <a:cs typeface="Courier New"/>
              </a:rPr>
              <a:t>sc.nextDouble</a:t>
            </a:r>
            <a:r>
              <a:rPr sz="1800" b="1" spc="-10" dirty="0">
                <a:solidFill>
                  <a:srgbClr val="6600CC"/>
                </a:solidFill>
                <a:latin typeface="Courier New"/>
                <a:cs typeface="Courier New"/>
              </a:rPr>
              <a:t>()</a:t>
            </a:r>
            <a:r>
              <a:rPr sz="1800" b="1" spc="-10" dirty="0">
                <a:latin typeface="Courier New"/>
                <a:cs typeface="Courier New"/>
              </a:rPr>
              <a:t>;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900">
              <a:latin typeface="Courier New"/>
              <a:cs typeface="Courier New"/>
            </a:endParaRPr>
          </a:p>
          <a:p>
            <a:pPr marL="546100">
              <a:lnSpc>
                <a:spcPct val="100000"/>
              </a:lnSpc>
            </a:pPr>
            <a:r>
              <a:rPr sz="1800" b="1" spc="-10" dirty="0">
                <a:solidFill>
                  <a:srgbClr val="0000FF"/>
                </a:solidFill>
                <a:latin typeface="Courier New"/>
                <a:cs typeface="Courier New"/>
              </a:rPr>
              <a:t>double </a:t>
            </a:r>
            <a:r>
              <a:rPr sz="1800" b="1" spc="-10" dirty="0">
                <a:latin typeface="Courier New"/>
                <a:cs typeface="Courier New"/>
              </a:rPr>
              <a:t>radius </a:t>
            </a:r>
            <a:r>
              <a:rPr sz="1800" b="1" dirty="0">
                <a:latin typeface="Courier New"/>
                <a:cs typeface="Courier New"/>
              </a:rPr>
              <a:t>=</a:t>
            </a:r>
            <a:r>
              <a:rPr sz="1800" b="1" spc="-20" dirty="0">
                <a:latin typeface="Courier New"/>
                <a:cs typeface="Courier New"/>
              </a:rPr>
              <a:t> </a:t>
            </a:r>
            <a:r>
              <a:rPr sz="1800" b="1" spc="-10" dirty="0">
                <a:solidFill>
                  <a:srgbClr val="C00000"/>
                </a:solidFill>
                <a:latin typeface="Courier New"/>
                <a:cs typeface="Courier New"/>
              </a:rPr>
              <a:t>Math.sqrt</a:t>
            </a:r>
            <a:r>
              <a:rPr sz="1800" b="1" spc="-10" dirty="0">
                <a:latin typeface="Courier New"/>
                <a:cs typeface="Courier New"/>
              </a:rPr>
              <a:t>(areaSquare)/</a:t>
            </a:r>
            <a:r>
              <a:rPr sz="1800" b="1" spc="-10" dirty="0">
                <a:solidFill>
                  <a:srgbClr val="008000"/>
                </a:solidFill>
                <a:latin typeface="Courier New"/>
                <a:cs typeface="Courier New"/>
              </a:rPr>
              <a:t>2</a:t>
            </a:r>
            <a:r>
              <a:rPr sz="1800" b="1" spc="-10" dirty="0">
                <a:latin typeface="Courier New"/>
                <a:cs typeface="Courier New"/>
              </a:rPr>
              <a:t>;</a:t>
            </a:r>
            <a:endParaRPr sz="1800">
              <a:latin typeface="Courier New"/>
              <a:cs typeface="Courier New"/>
            </a:endParaRPr>
          </a:p>
          <a:p>
            <a:pPr marL="546100">
              <a:lnSpc>
                <a:spcPct val="100000"/>
              </a:lnSpc>
            </a:pPr>
            <a:r>
              <a:rPr sz="1800" b="1" spc="-10" dirty="0">
                <a:solidFill>
                  <a:srgbClr val="0000FF"/>
                </a:solidFill>
                <a:latin typeface="Courier New"/>
                <a:cs typeface="Courier New"/>
              </a:rPr>
              <a:t>double </a:t>
            </a:r>
            <a:r>
              <a:rPr sz="1800" b="1" spc="-10" dirty="0">
                <a:latin typeface="Courier New"/>
                <a:cs typeface="Courier New"/>
              </a:rPr>
              <a:t>areaCircle </a:t>
            </a:r>
            <a:r>
              <a:rPr sz="1800" b="1" dirty="0">
                <a:latin typeface="Courier New"/>
                <a:cs typeface="Courier New"/>
              </a:rPr>
              <a:t>= </a:t>
            </a:r>
            <a:r>
              <a:rPr sz="1800" b="1" spc="-10" dirty="0">
                <a:solidFill>
                  <a:srgbClr val="C00000"/>
                </a:solidFill>
                <a:latin typeface="Courier New"/>
                <a:cs typeface="Courier New"/>
              </a:rPr>
              <a:t>Math.PI </a:t>
            </a:r>
            <a:r>
              <a:rPr sz="1800" b="1" dirty="0">
                <a:latin typeface="Courier New"/>
                <a:cs typeface="Courier New"/>
              </a:rPr>
              <a:t>* </a:t>
            </a:r>
            <a:r>
              <a:rPr sz="1800" b="1" spc="-10" dirty="0">
                <a:solidFill>
                  <a:srgbClr val="C00000"/>
                </a:solidFill>
                <a:latin typeface="Courier New"/>
                <a:cs typeface="Courier New"/>
              </a:rPr>
              <a:t>Math.pow</a:t>
            </a:r>
            <a:r>
              <a:rPr sz="1800" b="1" spc="-10" dirty="0">
                <a:latin typeface="Courier New"/>
                <a:cs typeface="Courier New"/>
              </a:rPr>
              <a:t>(radius,</a:t>
            </a:r>
            <a:r>
              <a:rPr sz="1800" b="1" spc="-60" dirty="0">
                <a:latin typeface="Courier New"/>
                <a:cs typeface="Courier New"/>
              </a:rPr>
              <a:t> </a:t>
            </a:r>
            <a:r>
              <a:rPr sz="1800" b="1" spc="-15" dirty="0">
                <a:solidFill>
                  <a:srgbClr val="008000"/>
                </a:solidFill>
                <a:latin typeface="Courier New"/>
                <a:cs typeface="Courier New"/>
              </a:rPr>
              <a:t>2</a:t>
            </a:r>
            <a:r>
              <a:rPr sz="1800" b="1" spc="-15" dirty="0">
                <a:latin typeface="Courier New"/>
                <a:cs typeface="Courier New"/>
              </a:rPr>
              <a:t>);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900">
              <a:latin typeface="Courier New"/>
              <a:cs typeface="Courier New"/>
            </a:endParaRPr>
          </a:p>
          <a:p>
            <a:pPr marL="546100">
              <a:lnSpc>
                <a:spcPct val="100000"/>
              </a:lnSpc>
            </a:pPr>
            <a:r>
              <a:rPr sz="1800" b="1" spc="-10" dirty="0">
                <a:latin typeface="Courier New"/>
                <a:cs typeface="Courier New"/>
              </a:rPr>
              <a:t>System.out.printf("Area of circle </a:t>
            </a:r>
            <a:r>
              <a:rPr sz="1800" b="1" dirty="0">
                <a:latin typeface="Courier New"/>
                <a:cs typeface="Courier New"/>
              </a:rPr>
              <a:t>=</a:t>
            </a:r>
            <a:r>
              <a:rPr sz="1800" b="1" spc="-30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%.4f\n",</a:t>
            </a:r>
            <a:endParaRPr sz="1800">
              <a:latin typeface="Courier New"/>
              <a:cs typeface="Courier New"/>
            </a:endParaRPr>
          </a:p>
          <a:p>
            <a:pPr marL="3004820">
              <a:lnSpc>
                <a:spcPct val="100000"/>
              </a:lnSpc>
              <a:spcBef>
                <a:spcPts val="5"/>
              </a:spcBef>
            </a:pPr>
            <a:r>
              <a:rPr sz="1800" b="1" spc="-10" dirty="0">
                <a:latin typeface="Courier New"/>
                <a:cs typeface="Courier New"/>
              </a:rPr>
              <a:t>areaCircle);</a:t>
            </a:r>
            <a:endParaRPr sz="1800">
              <a:latin typeface="Courier New"/>
              <a:cs typeface="Courier New"/>
            </a:endParaRPr>
          </a:p>
          <a:p>
            <a:pPr marL="283845">
              <a:lnSpc>
                <a:spcPct val="100000"/>
              </a:lnSpc>
            </a:pPr>
            <a:r>
              <a:rPr sz="1800" b="1" dirty="0"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7010145" y="767841"/>
            <a:ext cx="1765300" cy="317500"/>
            <a:chOff x="7010145" y="767841"/>
            <a:chExt cx="1765300" cy="317500"/>
          </a:xfrm>
        </p:grpSpPr>
        <p:sp>
          <p:nvSpPr>
            <p:cNvPr id="9" name="object 9"/>
            <p:cNvSpPr/>
            <p:nvPr/>
          </p:nvSpPr>
          <p:spPr>
            <a:xfrm>
              <a:off x="7016495" y="774191"/>
              <a:ext cx="1752600" cy="304800"/>
            </a:xfrm>
            <a:custGeom>
              <a:avLst/>
              <a:gdLst/>
              <a:ahLst/>
              <a:cxnLst/>
              <a:rect l="l" t="t" r="r" b="b"/>
              <a:pathLst>
                <a:path w="1752600" h="304800">
                  <a:moveTo>
                    <a:pt x="17526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1752600" y="304800"/>
                  </a:lnTo>
                  <a:lnTo>
                    <a:pt x="1752600" y="0"/>
                  </a:lnTo>
                  <a:close/>
                </a:path>
              </a:pathLst>
            </a:custGeom>
            <a:solidFill>
              <a:srgbClr val="B8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016495" y="774191"/>
              <a:ext cx="1752600" cy="304800"/>
            </a:xfrm>
            <a:custGeom>
              <a:avLst/>
              <a:gdLst/>
              <a:ahLst/>
              <a:cxnLst/>
              <a:rect l="l" t="t" r="r" b="b"/>
              <a:pathLst>
                <a:path w="1752600" h="304800">
                  <a:moveTo>
                    <a:pt x="0" y="304800"/>
                  </a:moveTo>
                  <a:lnTo>
                    <a:pt x="1752600" y="304800"/>
                  </a:lnTo>
                  <a:lnTo>
                    <a:pt x="1752600" y="0"/>
                  </a:lnTo>
                  <a:lnTo>
                    <a:pt x="0" y="0"/>
                  </a:lnTo>
                  <a:lnTo>
                    <a:pt x="0" y="304800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688340" y="762127"/>
            <a:ext cx="7887334" cy="1022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ts val="2020"/>
              </a:lnSpc>
              <a:spcBef>
                <a:spcPts val="100"/>
              </a:spcBef>
            </a:pPr>
            <a:r>
              <a:rPr sz="1800" b="1" spc="-160" dirty="0">
                <a:latin typeface="Carlito"/>
                <a:cs typeface="Carlito"/>
              </a:rPr>
              <a:t>T</a:t>
            </a:r>
            <a:r>
              <a:rPr sz="1800" b="1" dirty="0">
                <a:latin typeface="Carlito"/>
                <a:cs typeface="Carlito"/>
              </a:rPr>
              <a:t>e</a:t>
            </a:r>
            <a:r>
              <a:rPr sz="1800" b="1" spc="-25" dirty="0">
                <a:latin typeface="Carlito"/>
                <a:cs typeface="Carlito"/>
              </a:rPr>
              <a:t>s</a:t>
            </a:r>
            <a:r>
              <a:rPr sz="1800" b="1" dirty="0">
                <a:latin typeface="Carlito"/>
                <a:cs typeface="Carlito"/>
              </a:rPr>
              <a:t>tM</a:t>
            </a:r>
            <a:r>
              <a:rPr sz="1800" b="1" spc="-15" dirty="0">
                <a:latin typeface="Carlito"/>
                <a:cs typeface="Carlito"/>
              </a:rPr>
              <a:t>a</a:t>
            </a:r>
            <a:r>
              <a:rPr sz="1800" b="1" dirty="0">
                <a:latin typeface="Carlito"/>
                <a:cs typeface="Carlito"/>
              </a:rPr>
              <a:t>th.j</a:t>
            </a:r>
            <a:r>
              <a:rPr sz="1800" b="1" spc="-25" dirty="0">
                <a:latin typeface="Carlito"/>
                <a:cs typeface="Carlito"/>
              </a:rPr>
              <a:t>av</a:t>
            </a:r>
            <a:r>
              <a:rPr sz="1800" b="1" dirty="0">
                <a:latin typeface="Carlito"/>
                <a:cs typeface="Carlito"/>
              </a:rPr>
              <a:t>a</a:t>
            </a:r>
            <a:endParaRPr sz="1800">
              <a:latin typeface="Carlito"/>
              <a:cs typeface="Carlito"/>
            </a:endParaRPr>
          </a:p>
          <a:p>
            <a:pPr marL="12700">
              <a:lnSpc>
                <a:spcPts val="1780"/>
              </a:lnSpc>
            </a:pPr>
            <a:r>
              <a:rPr sz="1600" b="1" spc="-5" dirty="0">
                <a:latin typeface="Courier New"/>
                <a:cs typeface="Courier New"/>
              </a:rPr>
              <a:t>// To </a:t>
            </a:r>
            <a:r>
              <a:rPr sz="1600" b="1" dirty="0">
                <a:latin typeface="Courier New"/>
                <a:cs typeface="Courier New"/>
              </a:rPr>
              <a:t>find </a:t>
            </a:r>
            <a:r>
              <a:rPr sz="1600" b="1" spc="-5" dirty="0">
                <a:latin typeface="Courier New"/>
                <a:cs typeface="Courier New"/>
              </a:rPr>
              <a:t>the area of the largest circle</a:t>
            </a:r>
            <a:r>
              <a:rPr sz="1600" b="1" spc="45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inscribed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ts val="1905"/>
              </a:lnSpc>
            </a:pPr>
            <a:r>
              <a:rPr sz="1600" b="1" spc="-5" dirty="0">
                <a:latin typeface="Courier New"/>
                <a:cs typeface="Courier New"/>
              </a:rPr>
              <a:t>// inside a square, given the area </a:t>
            </a:r>
            <a:r>
              <a:rPr sz="1600" b="1" dirty="0">
                <a:latin typeface="Courier New"/>
                <a:cs typeface="Courier New"/>
              </a:rPr>
              <a:t>of </a:t>
            </a:r>
            <a:r>
              <a:rPr sz="1600" b="1" spc="-5" dirty="0">
                <a:latin typeface="Courier New"/>
                <a:cs typeface="Courier New"/>
              </a:rPr>
              <a:t>the</a:t>
            </a:r>
            <a:r>
              <a:rPr sz="1600" b="1" spc="5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square.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ts val="2145"/>
              </a:lnSpc>
            </a:pPr>
            <a:r>
              <a:rPr sz="1800" b="1" spc="-10" dirty="0">
                <a:latin typeface="Courier New"/>
                <a:cs typeface="Courier New"/>
              </a:rPr>
              <a:t>import</a:t>
            </a:r>
            <a:r>
              <a:rPr sz="1800" b="1" spc="-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java.util.*;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617207" y="1664207"/>
            <a:ext cx="1550035" cy="1417320"/>
            <a:chOff x="6617207" y="1664207"/>
            <a:chExt cx="1550035" cy="1417320"/>
          </a:xfrm>
        </p:grpSpPr>
        <p:sp>
          <p:nvSpPr>
            <p:cNvPr id="13" name="object 13"/>
            <p:cNvSpPr/>
            <p:nvPr/>
          </p:nvSpPr>
          <p:spPr>
            <a:xfrm>
              <a:off x="6630161" y="1677161"/>
              <a:ext cx="1524000" cy="1391920"/>
            </a:xfrm>
            <a:custGeom>
              <a:avLst/>
              <a:gdLst/>
              <a:ahLst/>
              <a:cxnLst/>
              <a:rect l="l" t="t" r="r" b="b"/>
              <a:pathLst>
                <a:path w="1524000" h="1391920">
                  <a:moveTo>
                    <a:pt x="1524000" y="0"/>
                  </a:moveTo>
                  <a:lnTo>
                    <a:pt x="0" y="0"/>
                  </a:lnTo>
                  <a:lnTo>
                    <a:pt x="0" y="1391412"/>
                  </a:lnTo>
                  <a:lnTo>
                    <a:pt x="1524000" y="1391412"/>
                  </a:lnTo>
                  <a:lnTo>
                    <a:pt x="152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630161" y="1677161"/>
              <a:ext cx="1524000" cy="1391920"/>
            </a:xfrm>
            <a:custGeom>
              <a:avLst/>
              <a:gdLst/>
              <a:ahLst/>
              <a:cxnLst/>
              <a:rect l="l" t="t" r="r" b="b"/>
              <a:pathLst>
                <a:path w="1524000" h="1391920">
                  <a:moveTo>
                    <a:pt x="0" y="1391412"/>
                  </a:moveTo>
                  <a:lnTo>
                    <a:pt x="1524000" y="1391412"/>
                  </a:lnTo>
                  <a:lnTo>
                    <a:pt x="1524000" y="0"/>
                  </a:lnTo>
                  <a:lnTo>
                    <a:pt x="0" y="0"/>
                  </a:lnTo>
                  <a:lnTo>
                    <a:pt x="0" y="1391412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630161" y="1696973"/>
              <a:ext cx="1524000" cy="1371600"/>
            </a:xfrm>
            <a:custGeom>
              <a:avLst/>
              <a:gdLst/>
              <a:ahLst/>
              <a:cxnLst/>
              <a:rect l="l" t="t" r="r" b="b"/>
              <a:pathLst>
                <a:path w="1524000" h="1371600">
                  <a:moveTo>
                    <a:pt x="762000" y="0"/>
                  </a:moveTo>
                  <a:lnTo>
                    <a:pt x="711894" y="1458"/>
                  </a:lnTo>
                  <a:lnTo>
                    <a:pt x="662654" y="5775"/>
                  </a:lnTo>
                  <a:lnTo>
                    <a:pt x="614381" y="12859"/>
                  </a:lnTo>
                  <a:lnTo>
                    <a:pt x="567174" y="22619"/>
                  </a:lnTo>
                  <a:lnTo>
                    <a:pt x="521134" y="34966"/>
                  </a:lnTo>
                  <a:lnTo>
                    <a:pt x="476362" y="49809"/>
                  </a:lnTo>
                  <a:lnTo>
                    <a:pt x="432958" y="67057"/>
                  </a:lnTo>
                  <a:lnTo>
                    <a:pt x="391022" y="86621"/>
                  </a:lnTo>
                  <a:lnTo>
                    <a:pt x="350655" y="108409"/>
                  </a:lnTo>
                  <a:lnTo>
                    <a:pt x="311956" y="132331"/>
                  </a:lnTo>
                  <a:lnTo>
                    <a:pt x="275027" y="158298"/>
                  </a:lnTo>
                  <a:lnTo>
                    <a:pt x="239968" y="186218"/>
                  </a:lnTo>
                  <a:lnTo>
                    <a:pt x="206878" y="216000"/>
                  </a:lnTo>
                  <a:lnTo>
                    <a:pt x="175859" y="247556"/>
                  </a:lnTo>
                  <a:lnTo>
                    <a:pt x="147011" y="280793"/>
                  </a:lnTo>
                  <a:lnTo>
                    <a:pt x="120433" y="315623"/>
                  </a:lnTo>
                  <a:lnTo>
                    <a:pt x="96228" y="351954"/>
                  </a:lnTo>
                  <a:lnTo>
                    <a:pt x="74494" y="389695"/>
                  </a:lnTo>
                  <a:lnTo>
                    <a:pt x="55332" y="428758"/>
                  </a:lnTo>
                  <a:lnTo>
                    <a:pt x="38843" y="469050"/>
                  </a:lnTo>
                  <a:lnTo>
                    <a:pt x="25127" y="510482"/>
                  </a:lnTo>
                  <a:lnTo>
                    <a:pt x="14284" y="552964"/>
                  </a:lnTo>
                  <a:lnTo>
                    <a:pt x="6415" y="596404"/>
                  </a:lnTo>
                  <a:lnTo>
                    <a:pt x="1620" y="640713"/>
                  </a:lnTo>
                  <a:lnTo>
                    <a:pt x="0" y="685800"/>
                  </a:lnTo>
                  <a:lnTo>
                    <a:pt x="1620" y="730886"/>
                  </a:lnTo>
                  <a:lnTo>
                    <a:pt x="6415" y="775195"/>
                  </a:lnTo>
                  <a:lnTo>
                    <a:pt x="14284" y="818635"/>
                  </a:lnTo>
                  <a:lnTo>
                    <a:pt x="25127" y="861117"/>
                  </a:lnTo>
                  <a:lnTo>
                    <a:pt x="38843" y="902549"/>
                  </a:lnTo>
                  <a:lnTo>
                    <a:pt x="55332" y="942841"/>
                  </a:lnTo>
                  <a:lnTo>
                    <a:pt x="74494" y="981904"/>
                  </a:lnTo>
                  <a:lnTo>
                    <a:pt x="96228" y="1019645"/>
                  </a:lnTo>
                  <a:lnTo>
                    <a:pt x="120433" y="1055976"/>
                  </a:lnTo>
                  <a:lnTo>
                    <a:pt x="147011" y="1090806"/>
                  </a:lnTo>
                  <a:lnTo>
                    <a:pt x="175859" y="1124043"/>
                  </a:lnTo>
                  <a:lnTo>
                    <a:pt x="206878" y="1155599"/>
                  </a:lnTo>
                  <a:lnTo>
                    <a:pt x="239968" y="1185381"/>
                  </a:lnTo>
                  <a:lnTo>
                    <a:pt x="275027" y="1213301"/>
                  </a:lnTo>
                  <a:lnTo>
                    <a:pt x="311956" y="1239268"/>
                  </a:lnTo>
                  <a:lnTo>
                    <a:pt x="350655" y="1263190"/>
                  </a:lnTo>
                  <a:lnTo>
                    <a:pt x="391022" y="1284978"/>
                  </a:lnTo>
                  <a:lnTo>
                    <a:pt x="432958" y="1304542"/>
                  </a:lnTo>
                  <a:lnTo>
                    <a:pt x="476362" y="1321790"/>
                  </a:lnTo>
                  <a:lnTo>
                    <a:pt x="521134" y="1336633"/>
                  </a:lnTo>
                  <a:lnTo>
                    <a:pt x="567174" y="1348980"/>
                  </a:lnTo>
                  <a:lnTo>
                    <a:pt x="614381" y="1358740"/>
                  </a:lnTo>
                  <a:lnTo>
                    <a:pt x="662654" y="1365824"/>
                  </a:lnTo>
                  <a:lnTo>
                    <a:pt x="711894" y="1370141"/>
                  </a:lnTo>
                  <a:lnTo>
                    <a:pt x="762000" y="1371600"/>
                  </a:lnTo>
                  <a:lnTo>
                    <a:pt x="812105" y="1370141"/>
                  </a:lnTo>
                  <a:lnTo>
                    <a:pt x="861345" y="1365824"/>
                  </a:lnTo>
                  <a:lnTo>
                    <a:pt x="909618" y="1358740"/>
                  </a:lnTo>
                  <a:lnTo>
                    <a:pt x="956825" y="1348980"/>
                  </a:lnTo>
                  <a:lnTo>
                    <a:pt x="1002865" y="1336633"/>
                  </a:lnTo>
                  <a:lnTo>
                    <a:pt x="1047637" y="1321790"/>
                  </a:lnTo>
                  <a:lnTo>
                    <a:pt x="1091041" y="1304542"/>
                  </a:lnTo>
                  <a:lnTo>
                    <a:pt x="1132977" y="1284978"/>
                  </a:lnTo>
                  <a:lnTo>
                    <a:pt x="1173344" y="1263190"/>
                  </a:lnTo>
                  <a:lnTo>
                    <a:pt x="1212043" y="1239268"/>
                  </a:lnTo>
                  <a:lnTo>
                    <a:pt x="1248972" y="1213301"/>
                  </a:lnTo>
                  <a:lnTo>
                    <a:pt x="1284031" y="1185381"/>
                  </a:lnTo>
                  <a:lnTo>
                    <a:pt x="1317121" y="1155599"/>
                  </a:lnTo>
                  <a:lnTo>
                    <a:pt x="1348140" y="1124043"/>
                  </a:lnTo>
                  <a:lnTo>
                    <a:pt x="1376988" y="1090806"/>
                  </a:lnTo>
                  <a:lnTo>
                    <a:pt x="1403566" y="1055976"/>
                  </a:lnTo>
                  <a:lnTo>
                    <a:pt x="1427771" y="1019645"/>
                  </a:lnTo>
                  <a:lnTo>
                    <a:pt x="1449505" y="981904"/>
                  </a:lnTo>
                  <a:lnTo>
                    <a:pt x="1468667" y="942841"/>
                  </a:lnTo>
                  <a:lnTo>
                    <a:pt x="1485156" y="902549"/>
                  </a:lnTo>
                  <a:lnTo>
                    <a:pt x="1498872" y="861117"/>
                  </a:lnTo>
                  <a:lnTo>
                    <a:pt x="1509715" y="818635"/>
                  </a:lnTo>
                  <a:lnTo>
                    <a:pt x="1517584" y="775195"/>
                  </a:lnTo>
                  <a:lnTo>
                    <a:pt x="1522379" y="730886"/>
                  </a:lnTo>
                  <a:lnTo>
                    <a:pt x="1524000" y="685800"/>
                  </a:lnTo>
                  <a:lnTo>
                    <a:pt x="1522379" y="640713"/>
                  </a:lnTo>
                  <a:lnTo>
                    <a:pt x="1517584" y="596404"/>
                  </a:lnTo>
                  <a:lnTo>
                    <a:pt x="1509715" y="552964"/>
                  </a:lnTo>
                  <a:lnTo>
                    <a:pt x="1498872" y="510482"/>
                  </a:lnTo>
                  <a:lnTo>
                    <a:pt x="1485156" y="469050"/>
                  </a:lnTo>
                  <a:lnTo>
                    <a:pt x="1468667" y="428758"/>
                  </a:lnTo>
                  <a:lnTo>
                    <a:pt x="1449505" y="389695"/>
                  </a:lnTo>
                  <a:lnTo>
                    <a:pt x="1427771" y="351954"/>
                  </a:lnTo>
                  <a:lnTo>
                    <a:pt x="1403566" y="315623"/>
                  </a:lnTo>
                  <a:lnTo>
                    <a:pt x="1376988" y="280793"/>
                  </a:lnTo>
                  <a:lnTo>
                    <a:pt x="1348140" y="247556"/>
                  </a:lnTo>
                  <a:lnTo>
                    <a:pt x="1317121" y="216000"/>
                  </a:lnTo>
                  <a:lnTo>
                    <a:pt x="1284031" y="186218"/>
                  </a:lnTo>
                  <a:lnTo>
                    <a:pt x="1248972" y="158298"/>
                  </a:lnTo>
                  <a:lnTo>
                    <a:pt x="1212043" y="132331"/>
                  </a:lnTo>
                  <a:lnTo>
                    <a:pt x="1173344" y="108409"/>
                  </a:lnTo>
                  <a:lnTo>
                    <a:pt x="1132977" y="86621"/>
                  </a:lnTo>
                  <a:lnTo>
                    <a:pt x="1091041" y="67057"/>
                  </a:lnTo>
                  <a:lnTo>
                    <a:pt x="1047637" y="49809"/>
                  </a:lnTo>
                  <a:lnTo>
                    <a:pt x="1002865" y="34966"/>
                  </a:lnTo>
                  <a:lnTo>
                    <a:pt x="956825" y="22619"/>
                  </a:lnTo>
                  <a:lnTo>
                    <a:pt x="909618" y="12859"/>
                  </a:lnTo>
                  <a:lnTo>
                    <a:pt x="861345" y="5775"/>
                  </a:lnTo>
                  <a:lnTo>
                    <a:pt x="812105" y="1458"/>
                  </a:lnTo>
                  <a:lnTo>
                    <a:pt x="762000" y="0"/>
                  </a:lnTo>
                  <a:close/>
                </a:path>
              </a:pathLst>
            </a:custGeom>
            <a:solidFill>
              <a:srgbClr val="F1ED9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630161" y="1696973"/>
              <a:ext cx="1524000" cy="1371600"/>
            </a:xfrm>
            <a:custGeom>
              <a:avLst/>
              <a:gdLst/>
              <a:ahLst/>
              <a:cxnLst/>
              <a:rect l="l" t="t" r="r" b="b"/>
              <a:pathLst>
                <a:path w="1524000" h="1371600">
                  <a:moveTo>
                    <a:pt x="0" y="685800"/>
                  </a:moveTo>
                  <a:lnTo>
                    <a:pt x="1620" y="640713"/>
                  </a:lnTo>
                  <a:lnTo>
                    <a:pt x="6415" y="596404"/>
                  </a:lnTo>
                  <a:lnTo>
                    <a:pt x="14284" y="552964"/>
                  </a:lnTo>
                  <a:lnTo>
                    <a:pt x="25127" y="510482"/>
                  </a:lnTo>
                  <a:lnTo>
                    <a:pt x="38843" y="469050"/>
                  </a:lnTo>
                  <a:lnTo>
                    <a:pt x="55332" y="428758"/>
                  </a:lnTo>
                  <a:lnTo>
                    <a:pt x="74494" y="389695"/>
                  </a:lnTo>
                  <a:lnTo>
                    <a:pt x="96228" y="351954"/>
                  </a:lnTo>
                  <a:lnTo>
                    <a:pt x="120433" y="315623"/>
                  </a:lnTo>
                  <a:lnTo>
                    <a:pt x="147011" y="280793"/>
                  </a:lnTo>
                  <a:lnTo>
                    <a:pt x="175859" y="247556"/>
                  </a:lnTo>
                  <a:lnTo>
                    <a:pt x="206878" y="216000"/>
                  </a:lnTo>
                  <a:lnTo>
                    <a:pt x="239968" y="186218"/>
                  </a:lnTo>
                  <a:lnTo>
                    <a:pt x="275027" y="158298"/>
                  </a:lnTo>
                  <a:lnTo>
                    <a:pt x="311956" y="132331"/>
                  </a:lnTo>
                  <a:lnTo>
                    <a:pt x="350655" y="108409"/>
                  </a:lnTo>
                  <a:lnTo>
                    <a:pt x="391022" y="86621"/>
                  </a:lnTo>
                  <a:lnTo>
                    <a:pt x="432958" y="67057"/>
                  </a:lnTo>
                  <a:lnTo>
                    <a:pt x="476362" y="49809"/>
                  </a:lnTo>
                  <a:lnTo>
                    <a:pt x="521134" y="34966"/>
                  </a:lnTo>
                  <a:lnTo>
                    <a:pt x="567174" y="22619"/>
                  </a:lnTo>
                  <a:lnTo>
                    <a:pt x="614381" y="12859"/>
                  </a:lnTo>
                  <a:lnTo>
                    <a:pt x="662654" y="5775"/>
                  </a:lnTo>
                  <a:lnTo>
                    <a:pt x="711894" y="1458"/>
                  </a:lnTo>
                  <a:lnTo>
                    <a:pt x="762000" y="0"/>
                  </a:lnTo>
                  <a:lnTo>
                    <a:pt x="812105" y="1458"/>
                  </a:lnTo>
                  <a:lnTo>
                    <a:pt x="861345" y="5775"/>
                  </a:lnTo>
                  <a:lnTo>
                    <a:pt x="909618" y="12859"/>
                  </a:lnTo>
                  <a:lnTo>
                    <a:pt x="956825" y="22619"/>
                  </a:lnTo>
                  <a:lnTo>
                    <a:pt x="1002865" y="34966"/>
                  </a:lnTo>
                  <a:lnTo>
                    <a:pt x="1047637" y="49809"/>
                  </a:lnTo>
                  <a:lnTo>
                    <a:pt x="1091041" y="67057"/>
                  </a:lnTo>
                  <a:lnTo>
                    <a:pt x="1132977" y="86621"/>
                  </a:lnTo>
                  <a:lnTo>
                    <a:pt x="1173344" y="108409"/>
                  </a:lnTo>
                  <a:lnTo>
                    <a:pt x="1212043" y="132331"/>
                  </a:lnTo>
                  <a:lnTo>
                    <a:pt x="1248972" y="158298"/>
                  </a:lnTo>
                  <a:lnTo>
                    <a:pt x="1284031" y="186218"/>
                  </a:lnTo>
                  <a:lnTo>
                    <a:pt x="1317121" y="216000"/>
                  </a:lnTo>
                  <a:lnTo>
                    <a:pt x="1348140" y="247556"/>
                  </a:lnTo>
                  <a:lnTo>
                    <a:pt x="1376988" y="280793"/>
                  </a:lnTo>
                  <a:lnTo>
                    <a:pt x="1403566" y="315623"/>
                  </a:lnTo>
                  <a:lnTo>
                    <a:pt x="1427771" y="351954"/>
                  </a:lnTo>
                  <a:lnTo>
                    <a:pt x="1449505" y="389695"/>
                  </a:lnTo>
                  <a:lnTo>
                    <a:pt x="1468667" y="428758"/>
                  </a:lnTo>
                  <a:lnTo>
                    <a:pt x="1485156" y="469050"/>
                  </a:lnTo>
                  <a:lnTo>
                    <a:pt x="1498872" y="510482"/>
                  </a:lnTo>
                  <a:lnTo>
                    <a:pt x="1509715" y="552964"/>
                  </a:lnTo>
                  <a:lnTo>
                    <a:pt x="1517584" y="596404"/>
                  </a:lnTo>
                  <a:lnTo>
                    <a:pt x="1522379" y="640713"/>
                  </a:lnTo>
                  <a:lnTo>
                    <a:pt x="1524000" y="685800"/>
                  </a:lnTo>
                  <a:lnTo>
                    <a:pt x="1522379" y="730886"/>
                  </a:lnTo>
                  <a:lnTo>
                    <a:pt x="1517584" y="775195"/>
                  </a:lnTo>
                  <a:lnTo>
                    <a:pt x="1509715" y="818635"/>
                  </a:lnTo>
                  <a:lnTo>
                    <a:pt x="1498872" y="861117"/>
                  </a:lnTo>
                  <a:lnTo>
                    <a:pt x="1485156" y="902549"/>
                  </a:lnTo>
                  <a:lnTo>
                    <a:pt x="1468667" y="942841"/>
                  </a:lnTo>
                  <a:lnTo>
                    <a:pt x="1449505" y="981904"/>
                  </a:lnTo>
                  <a:lnTo>
                    <a:pt x="1427771" y="1019645"/>
                  </a:lnTo>
                  <a:lnTo>
                    <a:pt x="1403566" y="1055976"/>
                  </a:lnTo>
                  <a:lnTo>
                    <a:pt x="1376988" y="1090806"/>
                  </a:lnTo>
                  <a:lnTo>
                    <a:pt x="1348140" y="1124043"/>
                  </a:lnTo>
                  <a:lnTo>
                    <a:pt x="1317121" y="1155599"/>
                  </a:lnTo>
                  <a:lnTo>
                    <a:pt x="1284031" y="1185381"/>
                  </a:lnTo>
                  <a:lnTo>
                    <a:pt x="1248972" y="1213301"/>
                  </a:lnTo>
                  <a:lnTo>
                    <a:pt x="1212043" y="1239268"/>
                  </a:lnTo>
                  <a:lnTo>
                    <a:pt x="1173344" y="1263190"/>
                  </a:lnTo>
                  <a:lnTo>
                    <a:pt x="1132977" y="1284978"/>
                  </a:lnTo>
                  <a:lnTo>
                    <a:pt x="1091041" y="1304542"/>
                  </a:lnTo>
                  <a:lnTo>
                    <a:pt x="1047637" y="1321790"/>
                  </a:lnTo>
                  <a:lnTo>
                    <a:pt x="1002865" y="1336633"/>
                  </a:lnTo>
                  <a:lnTo>
                    <a:pt x="956825" y="1348980"/>
                  </a:lnTo>
                  <a:lnTo>
                    <a:pt x="909618" y="1358740"/>
                  </a:lnTo>
                  <a:lnTo>
                    <a:pt x="861345" y="1365824"/>
                  </a:lnTo>
                  <a:lnTo>
                    <a:pt x="812105" y="1370141"/>
                  </a:lnTo>
                  <a:lnTo>
                    <a:pt x="762000" y="1371600"/>
                  </a:lnTo>
                  <a:lnTo>
                    <a:pt x="711894" y="1370141"/>
                  </a:lnTo>
                  <a:lnTo>
                    <a:pt x="662654" y="1365824"/>
                  </a:lnTo>
                  <a:lnTo>
                    <a:pt x="614381" y="1358740"/>
                  </a:lnTo>
                  <a:lnTo>
                    <a:pt x="567174" y="1348980"/>
                  </a:lnTo>
                  <a:lnTo>
                    <a:pt x="521134" y="1336633"/>
                  </a:lnTo>
                  <a:lnTo>
                    <a:pt x="476362" y="1321790"/>
                  </a:lnTo>
                  <a:lnTo>
                    <a:pt x="432958" y="1304542"/>
                  </a:lnTo>
                  <a:lnTo>
                    <a:pt x="391022" y="1284978"/>
                  </a:lnTo>
                  <a:lnTo>
                    <a:pt x="350655" y="1263190"/>
                  </a:lnTo>
                  <a:lnTo>
                    <a:pt x="311956" y="1239268"/>
                  </a:lnTo>
                  <a:lnTo>
                    <a:pt x="275027" y="1213301"/>
                  </a:lnTo>
                  <a:lnTo>
                    <a:pt x="239968" y="1185381"/>
                  </a:lnTo>
                  <a:lnTo>
                    <a:pt x="206878" y="1155599"/>
                  </a:lnTo>
                  <a:lnTo>
                    <a:pt x="175859" y="1124043"/>
                  </a:lnTo>
                  <a:lnTo>
                    <a:pt x="147011" y="1090806"/>
                  </a:lnTo>
                  <a:lnTo>
                    <a:pt x="120433" y="1055976"/>
                  </a:lnTo>
                  <a:lnTo>
                    <a:pt x="96228" y="1019645"/>
                  </a:lnTo>
                  <a:lnTo>
                    <a:pt x="74494" y="981904"/>
                  </a:lnTo>
                  <a:lnTo>
                    <a:pt x="55332" y="942841"/>
                  </a:lnTo>
                  <a:lnTo>
                    <a:pt x="38843" y="902549"/>
                  </a:lnTo>
                  <a:lnTo>
                    <a:pt x="25127" y="861117"/>
                  </a:lnTo>
                  <a:lnTo>
                    <a:pt x="14284" y="818635"/>
                  </a:lnTo>
                  <a:lnTo>
                    <a:pt x="6415" y="775195"/>
                  </a:lnTo>
                  <a:lnTo>
                    <a:pt x="1620" y="730886"/>
                  </a:lnTo>
                  <a:lnTo>
                    <a:pt x="0" y="685800"/>
                  </a:lnTo>
                  <a:close/>
                </a:path>
              </a:pathLst>
            </a:custGeom>
            <a:ln w="25908">
              <a:solidFill>
                <a:srgbClr val="E89D0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392161" y="2382773"/>
              <a:ext cx="762000" cy="0"/>
            </a:xfrm>
            <a:custGeom>
              <a:avLst/>
              <a:gdLst/>
              <a:ahLst/>
              <a:cxnLst/>
              <a:rect l="l" t="t" r="r" b="b"/>
              <a:pathLst>
                <a:path w="762000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ln w="28956">
              <a:solidFill>
                <a:srgbClr val="009999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7479538" y="2091944"/>
            <a:ext cx="51117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Arial"/>
                <a:cs typeface="Arial"/>
              </a:rPr>
              <a:t>radius</a:t>
            </a:r>
            <a:endParaRPr sz="1400">
              <a:latin typeface="Arial"/>
              <a:cs typeface="Arial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89"/>
              </a:lnSpc>
              <a:tabLst>
                <a:tab pos="1996439" algn="l"/>
                <a:tab pos="8046720" algn="l"/>
              </a:tabLst>
            </a:pPr>
            <a:r>
              <a:rPr dirty="0"/>
              <a:t>[501043 Lecture 1: Intro</a:t>
            </a:r>
            <a:r>
              <a:rPr spc="-6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Java]	</a:t>
            </a:r>
            <a:r>
              <a:rPr u="heavy" dirty="0">
                <a:uFill>
                  <a:solidFill>
                    <a:srgbClr val="009999"/>
                  </a:solidFill>
                </a:uFill>
              </a:rPr>
              <a:t> 	</a:t>
            </a:r>
            <a:r>
              <a:rPr sz="1600" b="1" i="1" spc="-5" dirty="0">
                <a:solidFill>
                  <a:srgbClr val="C00000"/>
                </a:solidFill>
                <a:latin typeface="Arial"/>
                <a:cs typeface="Arial"/>
              </a:rPr>
              <a:t>53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3444" y="1540890"/>
            <a:ext cx="669861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130" dirty="0">
                <a:solidFill>
                  <a:srgbClr val="C00000"/>
                </a:solidFill>
                <a:latin typeface="Trebuchet MS"/>
                <a:cs typeface="Trebuchet MS"/>
              </a:rPr>
              <a:t>4.6 </a:t>
            </a:r>
            <a:r>
              <a:rPr sz="4400" spc="-95" dirty="0">
                <a:solidFill>
                  <a:srgbClr val="003399"/>
                </a:solidFill>
                <a:latin typeface="Trebuchet MS"/>
                <a:cs typeface="Trebuchet MS"/>
              </a:rPr>
              <a:t>User-defined</a:t>
            </a:r>
            <a:r>
              <a:rPr sz="4400" spc="-160" dirty="0">
                <a:solidFill>
                  <a:srgbClr val="003399"/>
                </a:solidFill>
                <a:latin typeface="Trebuchet MS"/>
                <a:cs typeface="Trebuchet MS"/>
              </a:rPr>
              <a:t> </a:t>
            </a:r>
            <a:r>
              <a:rPr sz="4400" spc="10" dirty="0">
                <a:solidFill>
                  <a:srgbClr val="003399"/>
                </a:solidFill>
                <a:latin typeface="Trebuchet MS"/>
                <a:cs typeface="Trebuchet MS"/>
              </a:rPr>
              <a:t>Functions</a:t>
            </a:r>
            <a:endParaRPr sz="44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60194" y="3970782"/>
            <a:ext cx="625729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Carlito"/>
                <a:cs typeface="Carlito"/>
              </a:rPr>
              <a:t>Reusable and independent code</a:t>
            </a:r>
            <a:r>
              <a:rPr sz="3200" spc="-25" dirty="0">
                <a:latin typeface="Carlito"/>
                <a:cs typeface="Carlito"/>
              </a:rPr>
              <a:t> </a:t>
            </a:r>
            <a:r>
              <a:rPr sz="3200" spc="-10" dirty="0">
                <a:latin typeface="Carlito"/>
                <a:cs typeface="Carlito"/>
              </a:rPr>
              <a:t>units</a:t>
            </a:r>
            <a:endParaRPr sz="3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248158"/>
            <a:ext cx="61214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5" dirty="0">
                <a:solidFill>
                  <a:srgbClr val="C00000"/>
                </a:solidFill>
              </a:rPr>
              <a:t>4.6 </a:t>
            </a:r>
            <a:r>
              <a:rPr spc="-25" dirty="0"/>
              <a:t>Function </a:t>
            </a:r>
            <a:r>
              <a:rPr spc="-135" dirty="0"/>
              <a:t>with </a:t>
            </a:r>
            <a:r>
              <a:rPr spc="10" dirty="0"/>
              <a:t>a </a:t>
            </a:r>
            <a:r>
              <a:rPr spc="-140" dirty="0"/>
              <a:t>new</a:t>
            </a:r>
            <a:r>
              <a:rPr spc="-55" dirty="0"/>
              <a:t> </a:t>
            </a:r>
            <a:r>
              <a:rPr spc="-35" dirty="0"/>
              <a:t>name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092453"/>
            <a:ext cx="8045450" cy="1306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ts val="2815"/>
              </a:lnSpc>
              <a:spcBef>
                <a:spcPts val="100"/>
              </a:spcBef>
              <a:buClr>
                <a:srgbClr val="009999"/>
              </a:buClr>
              <a:buSzPct val="64583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In Java, </a:t>
            </a:r>
            <a:r>
              <a:rPr sz="2400" spc="-10" dirty="0">
                <a:latin typeface="Arial"/>
                <a:cs typeface="Arial"/>
              </a:rPr>
              <a:t>C-like </a:t>
            </a:r>
            <a:r>
              <a:rPr sz="2400" spc="-5" dirty="0">
                <a:latin typeface="Arial"/>
                <a:cs typeface="Arial"/>
              </a:rPr>
              <a:t>function is known as </a:t>
            </a:r>
            <a:r>
              <a:rPr sz="2400" b="1" dirty="0">
                <a:latin typeface="Arial"/>
                <a:cs typeface="Arial"/>
              </a:rPr>
              <a:t>static/class</a:t>
            </a:r>
            <a:r>
              <a:rPr sz="2400" b="1" spc="7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method</a:t>
            </a:r>
            <a:endParaRPr sz="2400">
              <a:latin typeface="Arial"/>
              <a:cs typeface="Arial"/>
            </a:endParaRPr>
          </a:p>
          <a:p>
            <a:pPr marL="683260" lvl="1" indent="-327025">
              <a:lnSpc>
                <a:spcPts val="2335"/>
              </a:lnSpc>
              <a:buClr>
                <a:srgbClr val="4B6C4E"/>
              </a:buClr>
              <a:buSzPct val="60000"/>
              <a:buFont typeface="Wingdings"/>
              <a:buChar char=""/>
              <a:tabLst>
                <a:tab pos="683260" algn="l"/>
                <a:tab pos="683895" algn="l"/>
              </a:tabLst>
            </a:pPr>
            <a:r>
              <a:rPr sz="2000" spc="-5" dirty="0">
                <a:latin typeface="Arial"/>
                <a:cs typeface="Arial"/>
              </a:rPr>
              <a:t>Denoted </a:t>
            </a:r>
            <a:r>
              <a:rPr sz="2000" dirty="0">
                <a:latin typeface="Arial"/>
                <a:cs typeface="Arial"/>
              </a:rPr>
              <a:t>by </a:t>
            </a:r>
            <a:r>
              <a:rPr sz="2000" spc="-5" dirty="0">
                <a:latin typeface="Arial"/>
                <a:cs typeface="Arial"/>
              </a:rPr>
              <a:t>the </a:t>
            </a:r>
            <a:r>
              <a:rPr sz="2000" dirty="0">
                <a:latin typeface="Arial"/>
                <a:cs typeface="Arial"/>
              </a:rPr>
              <a:t>“</a:t>
            </a:r>
            <a:r>
              <a:rPr sz="2000" b="1" dirty="0">
                <a:solidFill>
                  <a:srgbClr val="660066"/>
                </a:solidFill>
                <a:latin typeface="Courier New"/>
                <a:cs typeface="Courier New"/>
              </a:rPr>
              <a:t>static</a:t>
            </a:r>
            <a:r>
              <a:rPr sz="2000" dirty="0">
                <a:latin typeface="Arial"/>
                <a:cs typeface="Arial"/>
              </a:rPr>
              <a:t>” keyword </a:t>
            </a:r>
            <a:r>
              <a:rPr sz="2000" spc="-5" dirty="0">
                <a:latin typeface="Arial"/>
                <a:cs typeface="Arial"/>
              </a:rPr>
              <a:t>before </a:t>
            </a:r>
            <a:r>
              <a:rPr sz="2000" dirty="0">
                <a:latin typeface="Arial"/>
                <a:cs typeface="Arial"/>
              </a:rPr>
              <a:t>return </a:t>
            </a:r>
            <a:r>
              <a:rPr sz="2000" spc="-5" dirty="0">
                <a:latin typeface="Arial"/>
                <a:cs typeface="Arial"/>
              </a:rPr>
              <a:t>data</a:t>
            </a:r>
            <a:r>
              <a:rPr sz="2000" spc="-175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type</a:t>
            </a:r>
            <a:endParaRPr sz="2000">
              <a:latin typeface="Arial"/>
              <a:cs typeface="Arial"/>
            </a:endParaRPr>
          </a:p>
          <a:p>
            <a:pPr marL="683260" marR="638175" lvl="1" indent="-327025">
              <a:lnSpc>
                <a:spcPct val="100000"/>
              </a:lnSpc>
              <a:spcBef>
                <a:spcPts val="135"/>
              </a:spcBef>
              <a:buClr>
                <a:srgbClr val="4B6C4E"/>
              </a:buClr>
              <a:buSzPct val="60000"/>
              <a:buFont typeface="Wingdings"/>
              <a:buChar char=""/>
              <a:tabLst>
                <a:tab pos="683260" algn="l"/>
                <a:tab pos="683895" algn="l"/>
              </a:tabLst>
            </a:pPr>
            <a:r>
              <a:rPr sz="2000" dirty="0">
                <a:latin typeface="Arial"/>
                <a:cs typeface="Arial"/>
              </a:rPr>
              <a:t>Another </a:t>
            </a:r>
            <a:r>
              <a:rPr sz="2000" spc="-5" dirty="0">
                <a:latin typeface="Arial"/>
                <a:cs typeface="Arial"/>
              </a:rPr>
              <a:t>type </a:t>
            </a:r>
            <a:r>
              <a:rPr sz="2000" dirty="0">
                <a:latin typeface="Arial"/>
                <a:cs typeface="Arial"/>
              </a:rPr>
              <a:t>of method, known as </a:t>
            </a:r>
            <a:r>
              <a:rPr sz="2000" b="1" dirty="0">
                <a:latin typeface="Arial"/>
                <a:cs typeface="Arial"/>
              </a:rPr>
              <a:t>instance method </a:t>
            </a:r>
            <a:r>
              <a:rPr sz="2000" dirty="0">
                <a:latin typeface="Arial"/>
                <a:cs typeface="Arial"/>
              </a:rPr>
              <a:t>will</a:t>
            </a:r>
            <a:r>
              <a:rPr sz="2000" spc="-1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be  covered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later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76237" y="2509837"/>
            <a:ext cx="8315325" cy="3743325"/>
            <a:chOff x="376237" y="2509837"/>
            <a:chExt cx="8315325" cy="3743325"/>
          </a:xfrm>
        </p:grpSpPr>
        <p:sp>
          <p:nvSpPr>
            <p:cNvPr id="5" name="object 5"/>
            <p:cNvSpPr/>
            <p:nvPr/>
          </p:nvSpPr>
          <p:spPr>
            <a:xfrm>
              <a:off x="381000" y="2514599"/>
              <a:ext cx="8305800" cy="3733800"/>
            </a:xfrm>
            <a:custGeom>
              <a:avLst/>
              <a:gdLst/>
              <a:ahLst/>
              <a:cxnLst/>
              <a:rect l="l" t="t" r="r" b="b"/>
              <a:pathLst>
                <a:path w="8305800" h="3733800">
                  <a:moveTo>
                    <a:pt x="8305800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0" y="3733800"/>
                  </a:lnTo>
                  <a:lnTo>
                    <a:pt x="8305800" y="3733800"/>
                  </a:lnTo>
                  <a:lnTo>
                    <a:pt x="8305800" y="228600"/>
                  </a:lnTo>
                  <a:lnTo>
                    <a:pt x="8305800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81000" y="2514600"/>
              <a:ext cx="8305800" cy="3733800"/>
            </a:xfrm>
            <a:custGeom>
              <a:avLst/>
              <a:gdLst/>
              <a:ahLst/>
              <a:cxnLst/>
              <a:rect l="l" t="t" r="r" b="b"/>
              <a:pathLst>
                <a:path w="8305800" h="3733800">
                  <a:moveTo>
                    <a:pt x="0" y="3733800"/>
                  </a:moveTo>
                  <a:lnTo>
                    <a:pt x="8305800" y="3733800"/>
                  </a:lnTo>
                  <a:lnTo>
                    <a:pt x="8305800" y="0"/>
                  </a:lnTo>
                  <a:lnTo>
                    <a:pt x="0" y="0"/>
                  </a:lnTo>
                  <a:lnTo>
                    <a:pt x="0" y="3733800"/>
                  </a:lnTo>
                  <a:close/>
                </a:path>
              </a:pathLst>
            </a:custGeom>
            <a:ln w="9144">
              <a:solidFill>
                <a:srgbClr val="DDEAE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59740" y="2525394"/>
            <a:ext cx="29565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solidFill>
                  <a:srgbClr val="0000FF"/>
                </a:solidFill>
                <a:latin typeface="Courier New"/>
                <a:cs typeface="Courier New"/>
              </a:rPr>
              <a:t>public class </a:t>
            </a:r>
            <a:r>
              <a:rPr sz="1600" b="1" spc="-5" dirty="0">
                <a:latin typeface="Courier New"/>
                <a:cs typeface="Courier New"/>
              </a:rPr>
              <a:t>Factorial</a:t>
            </a:r>
            <a:r>
              <a:rPr sz="1600" b="1" spc="-2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85800" y="2895600"/>
            <a:ext cx="4953000" cy="1524000"/>
          </a:xfrm>
          <a:prstGeom prst="rect">
            <a:avLst/>
          </a:prstGeom>
          <a:solidFill>
            <a:srgbClr val="FFC000">
              <a:alpha val="19999"/>
            </a:srgbClr>
          </a:solidFill>
          <a:ln w="12192">
            <a:solidFill>
              <a:srgbClr val="C00000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29845">
              <a:lnSpc>
                <a:spcPct val="100000"/>
              </a:lnSpc>
              <a:spcBef>
                <a:spcPts val="300"/>
              </a:spcBef>
            </a:pPr>
            <a:r>
              <a:rPr sz="1600" b="1" spc="-5" dirty="0">
                <a:solidFill>
                  <a:srgbClr val="800000"/>
                </a:solidFill>
                <a:latin typeface="Courier New"/>
                <a:cs typeface="Courier New"/>
              </a:rPr>
              <a:t>// Returns</a:t>
            </a:r>
            <a:r>
              <a:rPr sz="1600" b="1" spc="5" dirty="0">
                <a:solidFill>
                  <a:srgbClr val="800000"/>
                </a:solidFill>
                <a:latin typeface="Courier New"/>
                <a:cs typeface="Courier New"/>
              </a:rPr>
              <a:t> </a:t>
            </a:r>
            <a:r>
              <a:rPr sz="1600" b="1" spc="-5" dirty="0">
                <a:solidFill>
                  <a:srgbClr val="800000"/>
                </a:solidFill>
                <a:latin typeface="Courier New"/>
                <a:cs typeface="Courier New"/>
              </a:rPr>
              <a:t>n!</a:t>
            </a:r>
            <a:endParaRPr sz="1600">
              <a:latin typeface="Courier New"/>
              <a:cs typeface="Courier New"/>
            </a:endParaRPr>
          </a:p>
          <a:p>
            <a:pPr marL="29845">
              <a:lnSpc>
                <a:spcPct val="100000"/>
              </a:lnSpc>
            </a:pPr>
            <a:r>
              <a:rPr sz="1600" b="1" spc="-5" dirty="0">
                <a:solidFill>
                  <a:srgbClr val="800000"/>
                </a:solidFill>
                <a:latin typeface="Courier New"/>
                <a:cs typeface="Courier New"/>
              </a:rPr>
              <a:t>// </a:t>
            </a:r>
            <a:r>
              <a:rPr sz="1600" b="1" dirty="0">
                <a:solidFill>
                  <a:srgbClr val="800000"/>
                </a:solidFill>
                <a:latin typeface="Courier New"/>
                <a:cs typeface="Courier New"/>
              </a:rPr>
              <a:t>Pre-cond: </a:t>
            </a:r>
            <a:r>
              <a:rPr sz="1600" b="1" spc="-5" dirty="0">
                <a:solidFill>
                  <a:srgbClr val="800000"/>
                </a:solidFill>
                <a:latin typeface="Courier New"/>
                <a:cs typeface="Courier New"/>
              </a:rPr>
              <a:t>n &gt;=</a:t>
            </a:r>
            <a:r>
              <a:rPr sz="1600" b="1" spc="5" dirty="0">
                <a:solidFill>
                  <a:srgbClr val="800000"/>
                </a:solidFill>
                <a:latin typeface="Courier New"/>
                <a:cs typeface="Courier New"/>
              </a:rPr>
              <a:t> </a:t>
            </a:r>
            <a:r>
              <a:rPr sz="1600" b="1" spc="-5" dirty="0">
                <a:solidFill>
                  <a:srgbClr val="800000"/>
                </a:solidFill>
                <a:latin typeface="Courier New"/>
                <a:cs typeface="Courier New"/>
              </a:rPr>
              <a:t>0</a:t>
            </a:r>
            <a:endParaRPr sz="1600">
              <a:latin typeface="Courier New"/>
              <a:cs typeface="Courier New"/>
            </a:endParaRPr>
          </a:p>
          <a:p>
            <a:pPr marL="641350" marR="393700" indent="-611505">
              <a:lnSpc>
                <a:spcPct val="100000"/>
              </a:lnSpc>
            </a:pPr>
            <a:r>
              <a:rPr sz="1600" b="1" spc="-5" dirty="0">
                <a:solidFill>
                  <a:srgbClr val="0000FF"/>
                </a:solidFill>
                <a:latin typeface="Courier New"/>
                <a:cs typeface="Courier New"/>
              </a:rPr>
              <a:t>public static int </a:t>
            </a:r>
            <a:r>
              <a:rPr sz="1600" b="1" spc="-5" dirty="0">
                <a:latin typeface="Courier New"/>
                <a:cs typeface="Courier New"/>
              </a:rPr>
              <a:t>factorial </a:t>
            </a:r>
            <a:r>
              <a:rPr sz="1600" b="1" dirty="0">
                <a:latin typeface="Courier New"/>
                <a:cs typeface="Courier New"/>
              </a:rPr>
              <a:t>(</a:t>
            </a:r>
            <a:r>
              <a:rPr sz="1600" b="1" dirty="0">
                <a:solidFill>
                  <a:srgbClr val="0000FF"/>
                </a:solidFill>
                <a:latin typeface="Courier New"/>
                <a:cs typeface="Courier New"/>
              </a:rPr>
              <a:t>int </a:t>
            </a:r>
            <a:r>
              <a:rPr sz="1600" b="1" spc="5" dirty="0">
                <a:latin typeface="Courier New"/>
                <a:cs typeface="Courier New"/>
              </a:rPr>
              <a:t>n) </a:t>
            </a:r>
            <a:r>
              <a:rPr sz="1600" b="1" spc="-5" dirty="0">
                <a:latin typeface="Courier New"/>
                <a:cs typeface="Courier New"/>
              </a:rPr>
              <a:t>{  </a:t>
            </a:r>
            <a:r>
              <a:rPr sz="1600" b="1" spc="-5" dirty="0">
                <a:solidFill>
                  <a:srgbClr val="0000FF"/>
                </a:solidFill>
                <a:latin typeface="Courier New"/>
                <a:cs typeface="Courier New"/>
              </a:rPr>
              <a:t>if </a:t>
            </a:r>
            <a:r>
              <a:rPr sz="1600" b="1" spc="-5" dirty="0">
                <a:latin typeface="Courier New"/>
                <a:cs typeface="Courier New"/>
              </a:rPr>
              <a:t>(n == </a:t>
            </a:r>
            <a:r>
              <a:rPr sz="1600" b="1" spc="-5" dirty="0">
                <a:solidFill>
                  <a:srgbClr val="006600"/>
                </a:solidFill>
                <a:latin typeface="Courier New"/>
                <a:cs typeface="Courier New"/>
              </a:rPr>
              <a:t>0</a:t>
            </a:r>
            <a:r>
              <a:rPr sz="1600" b="1" spc="-5" dirty="0">
                <a:latin typeface="Courier New"/>
                <a:cs typeface="Courier New"/>
              </a:rPr>
              <a:t>) </a:t>
            </a:r>
            <a:r>
              <a:rPr sz="1600" b="1" dirty="0">
                <a:solidFill>
                  <a:srgbClr val="0000FF"/>
                </a:solidFill>
                <a:latin typeface="Courier New"/>
                <a:cs typeface="Courier New"/>
              </a:rPr>
              <a:t>return</a:t>
            </a:r>
            <a:r>
              <a:rPr sz="1600" b="1" spc="1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600" b="1" spc="-5" dirty="0">
                <a:solidFill>
                  <a:srgbClr val="006600"/>
                </a:solidFill>
                <a:latin typeface="Courier New"/>
                <a:cs typeface="Courier New"/>
              </a:rPr>
              <a:t>1</a:t>
            </a:r>
            <a:r>
              <a:rPr sz="1600" b="1" spc="-5" dirty="0">
                <a:latin typeface="Courier New"/>
                <a:cs typeface="Courier New"/>
              </a:rPr>
              <a:t>;</a:t>
            </a:r>
            <a:endParaRPr sz="1600">
              <a:latin typeface="Courier New"/>
              <a:cs typeface="Courier New"/>
            </a:endParaRPr>
          </a:p>
          <a:p>
            <a:pPr marL="641350">
              <a:lnSpc>
                <a:spcPct val="100000"/>
              </a:lnSpc>
            </a:pPr>
            <a:r>
              <a:rPr sz="1600" b="1" spc="-5" dirty="0">
                <a:solidFill>
                  <a:srgbClr val="0000FF"/>
                </a:solidFill>
                <a:latin typeface="Courier New"/>
                <a:cs typeface="Courier New"/>
              </a:rPr>
              <a:t>else return </a:t>
            </a:r>
            <a:r>
              <a:rPr sz="1600" b="1" spc="-5" dirty="0">
                <a:latin typeface="Courier New"/>
                <a:cs typeface="Courier New"/>
              </a:rPr>
              <a:t>n *</a:t>
            </a:r>
            <a:r>
              <a:rPr sz="1600" b="1" spc="2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factorial(n-</a:t>
            </a:r>
            <a:r>
              <a:rPr sz="1600" b="1" spc="-5" dirty="0">
                <a:solidFill>
                  <a:srgbClr val="006600"/>
                </a:solidFill>
                <a:latin typeface="Courier New"/>
                <a:cs typeface="Courier New"/>
              </a:rPr>
              <a:t>1</a:t>
            </a:r>
            <a:r>
              <a:rPr sz="1600" b="1" spc="-5" dirty="0">
                <a:latin typeface="Courier New"/>
                <a:cs typeface="Courier New"/>
              </a:rPr>
              <a:t>);</a:t>
            </a:r>
            <a:endParaRPr sz="1600">
              <a:latin typeface="Courier New"/>
              <a:cs typeface="Courier New"/>
            </a:endParaRPr>
          </a:p>
          <a:p>
            <a:pPr marL="29845">
              <a:lnSpc>
                <a:spcPct val="100000"/>
              </a:lnSpc>
              <a:spcBef>
                <a:spcPts val="5"/>
              </a:spcBef>
            </a:pPr>
            <a:r>
              <a:rPr sz="1600" b="1" spc="-5" dirty="0"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59740" y="4629150"/>
            <a:ext cx="7842250" cy="1549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5904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solidFill>
                  <a:srgbClr val="0000FF"/>
                </a:solidFill>
                <a:latin typeface="Courier New"/>
                <a:cs typeface="Courier New"/>
              </a:rPr>
              <a:t>public static void </a:t>
            </a:r>
            <a:r>
              <a:rPr sz="1600" b="1" spc="-5" dirty="0">
                <a:latin typeface="Courier New"/>
                <a:cs typeface="Courier New"/>
              </a:rPr>
              <a:t>main(String[] </a:t>
            </a:r>
            <a:r>
              <a:rPr sz="1600" b="1" dirty="0">
                <a:latin typeface="Courier New"/>
                <a:cs typeface="Courier New"/>
              </a:rPr>
              <a:t>args)</a:t>
            </a:r>
            <a:r>
              <a:rPr sz="1600" b="1" spc="45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  <a:p>
            <a:pPr marL="622300">
              <a:lnSpc>
                <a:spcPct val="100000"/>
              </a:lnSpc>
              <a:spcBef>
                <a:spcPts val="1200"/>
              </a:spcBef>
              <a:tabLst>
                <a:tab pos="2210435" algn="l"/>
              </a:tabLst>
            </a:pPr>
            <a:r>
              <a:rPr sz="1600" b="1" dirty="0">
                <a:solidFill>
                  <a:srgbClr val="0000FF"/>
                </a:solidFill>
                <a:latin typeface="Courier New"/>
                <a:cs typeface="Courier New"/>
              </a:rPr>
              <a:t>int </a:t>
            </a:r>
            <a:r>
              <a:rPr sz="1600" b="1" spc="-5" dirty="0">
                <a:latin typeface="Courier New"/>
                <a:cs typeface="Courier New"/>
              </a:rPr>
              <a:t>n</a:t>
            </a:r>
            <a:r>
              <a:rPr sz="1600" b="1" spc="5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=</a:t>
            </a:r>
            <a:r>
              <a:rPr sz="1600" b="1" spc="20" dirty="0">
                <a:latin typeface="Courier New"/>
                <a:cs typeface="Courier New"/>
              </a:rPr>
              <a:t> </a:t>
            </a:r>
            <a:r>
              <a:rPr sz="1600" b="1" spc="-5" dirty="0">
                <a:solidFill>
                  <a:srgbClr val="006600"/>
                </a:solidFill>
                <a:latin typeface="Courier New"/>
                <a:cs typeface="Courier New"/>
              </a:rPr>
              <a:t>5</a:t>
            </a:r>
            <a:r>
              <a:rPr sz="1600" b="1" spc="-5" dirty="0">
                <a:latin typeface="Courier New"/>
                <a:cs typeface="Courier New"/>
              </a:rPr>
              <a:t>;	</a:t>
            </a:r>
            <a:r>
              <a:rPr sz="1600" b="1" dirty="0">
                <a:solidFill>
                  <a:srgbClr val="800000"/>
                </a:solidFill>
                <a:latin typeface="Courier New"/>
                <a:cs typeface="Courier New"/>
              </a:rPr>
              <a:t>// </a:t>
            </a:r>
            <a:r>
              <a:rPr sz="1600" b="1" spc="-5" dirty="0">
                <a:solidFill>
                  <a:srgbClr val="800000"/>
                </a:solidFill>
                <a:latin typeface="Courier New"/>
                <a:cs typeface="Courier New"/>
              </a:rPr>
              <a:t>You can change it to interactive</a:t>
            </a:r>
            <a:r>
              <a:rPr sz="1600" b="1" spc="35" dirty="0">
                <a:solidFill>
                  <a:srgbClr val="800000"/>
                </a:solidFill>
                <a:latin typeface="Courier New"/>
                <a:cs typeface="Courier New"/>
              </a:rPr>
              <a:t> </a:t>
            </a:r>
            <a:r>
              <a:rPr sz="1600" b="1" spc="-5" dirty="0">
                <a:solidFill>
                  <a:srgbClr val="800000"/>
                </a:solidFill>
                <a:latin typeface="Courier New"/>
                <a:cs typeface="Courier New"/>
              </a:rPr>
              <a:t>input</a:t>
            </a:r>
            <a:endParaRPr sz="1600">
              <a:latin typeface="Courier New"/>
              <a:cs typeface="Courier New"/>
            </a:endParaRPr>
          </a:p>
          <a:p>
            <a:pPr marL="622300">
              <a:lnSpc>
                <a:spcPct val="100000"/>
              </a:lnSpc>
              <a:spcBef>
                <a:spcPts val="1200"/>
              </a:spcBef>
            </a:pPr>
            <a:r>
              <a:rPr sz="1600" b="1" i="1" spc="-5" dirty="0">
                <a:latin typeface="Courier New"/>
                <a:cs typeface="Courier New"/>
              </a:rPr>
              <a:t>System.out.printf</a:t>
            </a:r>
            <a:r>
              <a:rPr sz="1600" b="1" spc="-5" dirty="0">
                <a:latin typeface="Courier New"/>
                <a:cs typeface="Courier New"/>
              </a:rPr>
              <a:t>(</a:t>
            </a:r>
            <a:r>
              <a:rPr sz="1600" b="1" spc="-5" dirty="0">
                <a:solidFill>
                  <a:srgbClr val="006600"/>
                </a:solidFill>
                <a:latin typeface="Courier New"/>
                <a:cs typeface="Courier New"/>
              </a:rPr>
              <a:t>"Factorial(%d) = %d</a:t>
            </a:r>
            <a:r>
              <a:rPr sz="1600" b="1" spc="-5" dirty="0">
                <a:solidFill>
                  <a:srgbClr val="FF0000"/>
                </a:solidFill>
                <a:latin typeface="Courier New"/>
                <a:cs typeface="Courier New"/>
              </a:rPr>
              <a:t>\n</a:t>
            </a:r>
            <a:r>
              <a:rPr sz="1600" b="1" spc="-5" dirty="0">
                <a:solidFill>
                  <a:srgbClr val="006600"/>
                </a:solidFill>
                <a:latin typeface="Courier New"/>
                <a:cs typeface="Courier New"/>
              </a:rPr>
              <a:t>"</a:t>
            </a:r>
            <a:r>
              <a:rPr sz="1600" b="1" spc="-5" dirty="0">
                <a:latin typeface="Courier New"/>
                <a:cs typeface="Courier New"/>
              </a:rPr>
              <a:t>, </a:t>
            </a:r>
            <a:r>
              <a:rPr sz="1600" b="1" dirty="0">
                <a:latin typeface="Courier New"/>
                <a:cs typeface="Courier New"/>
              </a:rPr>
              <a:t>n,</a:t>
            </a:r>
            <a:r>
              <a:rPr sz="1600" b="1" spc="8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factorial(n));</a:t>
            </a:r>
            <a:endParaRPr sz="1600">
              <a:latin typeface="Courier New"/>
              <a:cs typeface="Courier New"/>
            </a:endParaRPr>
          </a:p>
          <a:p>
            <a:pPr marL="255904">
              <a:lnSpc>
                <a:spcPct val="100000"/>
              </a:lnSpc>
            </a:pPr>
            <a:r>
              <a:rPr sz="1600" b="1" spc="-5" dirty="0"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600" b="1" spc="-5" dirty="0"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699250" y="2355850"/>
            <a:ext cx="1917700" cy="393700"/>
            <a:chOff x="6699250" y="2355850"/>
            <a:chExt cx="1917700" cy="393700"/>
          </a:xfrm>
        </p:grpSpPr>
        <p:sp>
          <p:nvSpPr>
            <p:cNvPr id="11" name="object 11"/>
            <p:cNvSpPr/>
            <p:nvPr/>
          </p:nvSpPr>
          <p:spPr>
            <a:xfrm>
              <a:off x="6705600" y="2362200"/>
              <a:ext cx="1905000" cy="381000"/>
            </a:xfrm>
            <a:custGeom>
              <a:avLst/>
              <a:gdLst/>
              <a:ahLst/>
              <a:cxnLst/>
              <a:rect l="l" t="t" r="r" b="b"/>
              <a:pathLst>
                <a:path w="1905000" h="381000">
                  <a:moveTo>
                    <a:pt x="1905000" y="0"/>
                  </a:moveTo>
                  <a:lnTo>
                    <a:pt x="0" y="0"/>
                  </a:lnTo>
                  <a:lnTo>
                    <a:pt x="0" y="381000"/>
                  </a:lnTo>
                  <a:lnTo>
                    <a:pt x="1905000" y="381000"/>
                  </a:lnTo>
                  <a:lnTo>
                    <a:pt x="1905000" y="0"/>
                  </a:lnTo>
                  <a:close/>
                </a:path>
              </a:pathLst>
            </a:custGeom>
            <a:solidFill>
              <a:srgbClr val="B8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705600" y="2362200"/>
              <a:ext cx="1905000" cy="381000"/>
            </a:xfrm>
            <a:custGeom>
              <a:avLst/>
              <a:gdLst/>
              <a:ahLst/>
              <a:cxnLst/>
              <a:rect l="l" t="t" r="r" b="b"/>
              <a:pathLst>
                <a:path w="1905000" h="381000">
                  <a:moveTo>
                    <a:pt x="0" y="381000"/>
                  </a:moveTo>
                  <a:lnTo>
                    <a:pt x="1905000" y="381000"/>
                  </a:lnTo>
                  <a:lnTo>
                    <a:pt x="1905000" y="0"/>
                  </a:lnTo>
                  <a:lnTo>
                    <a:pt x="0" y="0"/>
                  </a:lnTo>
                  <a:lnTo>
                    <a:pt x="0" y="381000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7016242" y="2388234"/>
            <a:ext cx="12884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rlito"/>
                <a:cs typeface="Carlito"/>
              </a:rPr>
              <a:t>Factorial.java</a:t>
            </a:r>
            <a:endParaRPr sz="1800">
              <a:latin typeface="Carlito"/>
              <a:cs typeface="Carlito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007608" y="3188207"/>
            <a:ext cx="2769235" cy="1226820"/>
            <a:chOff x="6007608" y="3188207"/>
            <a:chExt cx="2769235" cy="1226820"/>
          </a:xfrm>
        </p:grpSpPr>
        <p:sp>
          <p:nvSpPr>
            <p:cNvPr id="15" name="object 15"/>
            <p:cNvSpPr/>
            <p:nvPr/>
          </p:nvSpPr>
          <p:spPr>
            <a:xfrm>
              <a:off x="6020562" y="3201161"/>
              <a:ext cx="2743200" cy="1201420"/>
            </a:xfrm>
            <a:custGeom>
              <a:avLst/>
              <a:gdLst/>
              <a:ahLst/>
              <a:cxnLst/>
              <a:rect l="l" t="t" r="r" b="b"/>
              <a:pathLst>
                <a:path w="2743200" h="1201420">
                  <a:moveTo>
                    <a:pt x="2743199" y="0"/>
                  </a:moveTo>
                  <a:lnTo>
                    <a:pt x="0" y="0"/>
                  </a:lnTo>
                  <a:lnTo>
                    <a:pt x="0" y="1200912"/>
                  </a:lnTo>
                  <a:lnTo>
                    <a:pt x="2743199" y="1200912"/>
                  </a:lnTo>
                  <a:lnTo>
                    <a:pt x="27431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020562" y="3201161"/>
              <a:ext cx="2743200" cy="1201420"/>
            </a:xfrm>
            <a:custGeom>
              <a:avLst/>
              <a:gdLst/>
              <a:ahLst/>
              <a:cxnLst/>
              <a:rect l="l" t="t" r="r" b="b"/>
              <a:pathLst>
                <a:path w="2743200" h="1201420">
                  <a:moveTo>
                    <a:pt x="0" y="1200912"/>
                  </a:moveTo>
                  <a:lnTo>
                    <a:pt x="2743199" y="1200912"/>
                  </a:lnTo>
                  <a:lnTo>
                    <a:pt x="2743199" y="0"/>
                  </a:lnTo>
                  <a:lnTo>
                    <a:pt x="0" y="0"/>
                  </a:lnTo>
                  <a:lnTo>
                    <a:pt x="0" y="1200912"/>
                  </a:lnTo>
                  <a:close/>
                </a:path>
              </a:pathLst>
            </a:custGeom>
            <a:ln w="25908">
              <a:solidFill>
                <a:srgbClr val="AAC9C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6099428" y="3226689"/>
            <a:ext cx="239522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If </a:t>
            </a:r>
            <a:r>
              <a:rPr sz="2400" i="1" spc="-5" dirty="0">
                <a:latin typeface="Arial"/>
                <a:cs typeface="Arial"/>
              </a:rPr>
              <a:t>n </a:t>
            </a:r>
            <a:r>
              <a:rPr sz="2400" spc="-5" dirty="0">
                <a:latin typeface="Arial"/>
                <a:cs typeface="Arial"/>
              </a:rPr>
              <a:t>is </a:t>
            </a:r>
            <a:r>
              <a:rPr sz="2400" dirty="0">
                <a:latin typeface="Arial"/>
                <a:cs typeface="Arial"/>
              </a:rPr>
              <a:t>too </a:t>
            </a:r>
            <a:r>
              <a:rPr sz="2400" spc="-5" dirty="0">
                <a:latin typeface="Arial"/>
                <a:cs typeface="Arial"/>
              </a:rPr>
              <a:t>big,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say  40, </a:t>
            </a:r>
            <a:r>
              <a:rPr sz="2400" spc="-5" dirty="0">
                <a:latin typeface="Arial"/>
                <a:cs typeface="Arial"/>
              </a:rPr>
              <a:t>what will  happen?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Why?</a:t>
            </a:r>
            <a:endParaRPr sz="2400">
              <a:latin typeface="Arial"/>
              <a:cs typeface="Arial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89"/>
              </a:lnSpc>
              <a:tabLst>
                <a:tab pos="1996439" algn="l"/>
                <a:tab pos="8046720" algn="l"/>
              </a:tabLst>
            </a:pPr>
            <a:r>
              <a:rPr dirty="0"/>
              <a:t>[501043 Lecture 1: Intro</a:t>
            </a:r>
            <a:r>
              <a:rPr spc="-6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Java]	</a:t>
            </a:r>
            <a:r>
              <a:rPr u="heavy" dirty="0">
                <a:uFill>
                  <a:solidFill>
                    <a:srgbClr val="009999"/>
                  </a:solidFill>
                </a:uFill>
              </a:rPr>
              <a:t> 	</a:t>
            </a:r>
            <a:r>
              <a:rPr sz="1600" b="1" i="1" spc="-5" dirty="0">
                <a:solidFill>
                  <a:srgbClr val="C00000"/>
                </a:solidFill>
                <a:latin typeface="Arial"/>
                <a:cs typeface="Arial"/>
              </a:rPr>
              <a:t>55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248158"/>
            <a:ext cx="62941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5" dirty="0">
                <a:solidFill>
                  <a:srgbClr val="C00000"/>
                </a:solidFill>
              </a:rPr>
              <a:t>4.6 </a:t>
            </a:r>
            <a:r>
              <a:rPr spc="-60" dirty="0"/>
              <a:t>Method </a:t>
            </a:r>
            <a:r>
              <a:rPr spc="-25" dirty="0"/>
              <a:t>Parameter</a:t>
            </a:r>
            <a:r>
              <a:rPr spc="-155" dirty="0"/>
              <a:t> </a:t>
            </a:r>
            <a:r>
              <a:rPr spc="114" dirty="0"/>
              <a:t>Passing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89"/>
              </a:lnSpc>
              <a:tabLst>
                <a:tab pos="1996439" algn="l"/>
                <a:tab pos="8046720" algn="l"/>
              </a:tabLst>
            </a:pPr>
            <a:r>
              <a:rPr dirty="0"/>
              <a:t>[501043 Lecture 1: Intro</a:t>
            </a:r>
            <a:r>
              <a:rPr spc="-6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Java]	</a:t>
            </a:r>
            <a:r>
              <a:rPr u="heavy" dirty="0">
                <a:uFill>
                  <a:solidFill>
                    <a:srgbClr val="009999"/>
                  </a:solidFill>
                </a:uFill>
              </a:rPr>
              <a:t> 	</a:t>
            </a:r>
            <a:r>
              <a:rPr sz="1600" b="1" i="1" spc="-5" dirty="0">
                <a:solidFill>
                  <a:srgbClr val="C00000"/>
                </a:solidFill>
                <a:latin typeface="Arial"/>
                <a:cs typeface="Arial"/>
              </a:rPr>
              <a:t>56</a:t>
            </a:r>
            <a:endParaRPr sz="1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090624"/>
            <a:ext cx="8016240" cy="48291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245745" indent="-342900">
              <a:lnSpc>
                <a:spcPct val="100000"/>
              </a:lnSpc>
              <a:spcBef>
                <a:spcPts val="95"/>
              </a:spcBef>
              <a:buClr>
                <a:srgbClr val="009999"/>
              </a:buClr>
              <a:buSzPct val="64285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spc="-5" dirty="0">
                <a:latin typeface="Arial"/>
                <a:cs typeface="Arial"/>
              </a:rPr>
              <a:t>All </a:t>
            </a:r>
            <a:r>
              <a:rPr sz="2800" dirty="0">
                <a:latin typeface="Arial"/>
                <a:cs typeface="Arial"/>
              </a:rPr>
              <a:t>parameters </a:t>
            </a:r>
            <a:r>
              <a:rPr sz="2800" spc="-5" dirty="0">
                <a:latin typeface="Arial"/>
                <a:cs typeface="Arial"/>
              </a:rPr>
              <a:t>in </a:t>
            </a:r>
            <a:r>
              <a:rPr sz="2800" dirty="0">
                <a:latin typeface="Arial"/>
                <a:cs typeface="Arial"/>
              </a:rPr>
              <a:t>Java </a:t>
            </a:r>
            <a:r>
              <a:rPr sz="2800" spc="-5" dirty="0">
                <a:latin typeface="Arial"/>
                <a:cs typeface="Arial"/>
              </a:rPr>
              <a:t>are </a:t>
            </a:r>
            <a:r>
              <a:rPr sz="2800" dirty="0">
                <a:solidFill>
                  <a:srgbClr val="C00000"/>
                </a:solidFill>
                <a:latin typeface="Arial"/>
                <a:cs typeface="Arial"/>
              </a:rPr>
              <a:t>passed by </a:t>
            </a:r>
            <a:r>
              <a:rPr sz="2800" spc="-5" dirty="0">
                <a:solidFill>
                  <a:srgbClr val="C00000"/>
                </a:solidFill>
                <a:latin typeface="Arial"/>
                <a:cs typeface="Arial"/>
              </a:rPr>
              <a:t>value </a:t>
            </a:r>
            <a:r>
              <a:rPr sz="2800" spc="-5" dirty="0">
                <a:latin typeface="Arial"/>
                <a:cs typeface="Arial"/>
              </a:rPr>
              <a:t>(as  in</a:t>
            </a:r>
            <a:r>
              <a:rPr sz="2800" spc="5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C):</a:t>
            </a:r>
            <a:endParaRPr sz="2800">
              <a:latin typeface="Arial"/>
              <a:cs typeface="Arial"/>
            </a:endParaRPr>
          </a:p>
          <a:p>
            <a:pPr marL="683260" marR="5080" lvl="1" indent="-327025">
              <a:lnSpc>
                <a:spcPct val="100000"/>
              </a:lnSpc>
              <a:spcBef>
                <a:spcPts val="620"/>
              </a:spcBef>
              <a:buClr>
                <a:srgbClr val="4B6C4E"/>
              </a:buClr>
              <a:buSzPct val="60416"/>
              <a:buFont typeface="Wingdings"/>
              <a:buChar char=""/>
              <a:tabLst>
                <a:tab pos="683260" algn="l"/>
                <a:tab pos="683895" algn="l"/>
              </a:tabLst>
            </a:pPr>
            <a:r>
              <a:rPr sz="2400" dirty="0">
                <a:latin typeface="Arial"/>
                <a:cs typeface="Arial"/>
              </a:rPr>
              <a:t>A </a:t>
            </a:r>
            <a:r>
              <a:rPr sz="2400" spc="-5" dirty="0">
                <a:latin typeface="Arial"/>
                <a:cs typeface="Arial"/>
              </a:rPr>
              <a:t>copy </a:t>
            </a:r>
            <a:r>
              <a:rPr sz="2400" dirty="0">
                <a:latin typeface="Arial"/>
                <a:cs typeface="Arial"/>
              </a:rPr>
              <a:t>of the </a:t>
            </a:r>
            <a:r>
              <a:rPr sz="2400" spc="-5" dirty="0">
                <a:latin typeface="Arial"/>
                <a:cs typeface="Arial"/>
              </a:rPr>
              <a:t>actual argument is created upon method  invocation</a:t>
            </a:r>
            <a:endParaRPr sz="2400">
              <a:latin typeface="Arial"/>
              <a:cs typeface="Arial"/>
            </a:endParaRPr>
          </a:p>
          <a:p>
            <a:pPr marL="683260" marR="324485" lvl="1" indent="-327025">
              <a:lnSpc>
                <a:spcPct val="100000"/>
              </a:lnSpc>
              <a:spcBef>
                <a:spcPts val="605"/>
              </a:spcBef>
              <a:buClr>
                <a:srgbClr val="4B6C4E"/>
              </a:buClr>
              <a:buSzPct val="60416"/>
              <a:buFont typeface="Wingdings"/>
              <a:buChar char=""/>
              <a:tabLst>
                <a:tab pos="683260" algn="l"/>
                <a:tab pos="683895" algn="l"/>
              </a:tabLst>
            </a:pPr>
            <a:r>
              <a:rPr sz="2400" dirty="0">
                <a:latin typeface="Arial"/>
                <a:cs typeface="Arial"/>
              </a:rPr>
              <a:t>The method </a:t>
            </a:r>
            <a:r>
              <a:rPr sz="2400" spc="-5" dirty="0">
                <a:latin typeface="Arial"/>
                <a:cs typeface="Arial"/>
              </a:rPr>
              <a:t>parameter and </a:t>
            </a:r>
            <a:r>
              <a:rPr sz="2400" dirty="0">
                <a:latin typeface="Arial"/>
                <a:cs typeface="Arial"/>
              </a:rPr>
              <a:t>its </a:t>
            </a:r>
            <a:r>
              <a:rPr sz="2400" spc="-5" dirty="0">
                <a:latin typeface="Arial"/>
                <a:cs typeface="Arial"/>
              </a:rPr>
              <a:t>corresponding actual  parameter are </a:t>
            </a:r>
            <a:r>
              <a:rPr sz="2400" dirty="0">
                <a:latin typeface="Arial"/>
                <a:cs typeface="Arial"/>
              </a:rPr>
              <a:t>two </a:t>
            </a:r>
            <a:r>
              <a:rPr sz="2400" spc="-5" dirty="0">
                <a:latin typeface="Arial"/>
                <a:cs typeface="Arial"/>
              </a:rPr>
              <a:t>independent</a:t>
            </a:r>
            <a:r>
              <a:rPr sz="2400" spc="6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variables</a:t>
            </a:r>
            <a:endParaRPr sz="2400">
              <a:latin typeface="Arial"/>
              <a:cs typeface="Arial"/>
            </a:endParaRPr>
          </a:p>
          <a:p>
            <a:pPr marL="355600" marR="1172845" indent="-342900">
              <a:lnSpc>
                <a:spcPct val="100000"/>
              </a:lnSpc>
              <a:spcBef>
                <a:spcPts val="1780"/>
              </a:spcBef>
              <a:buClr>
                <a:srgbClr val="009999"/>
              </a:buClr>
              <a:buSzPct val="64285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spc="-5" dirty="0">
                <a:latin typeface="Arial"/>
                <a:cs typeface="Arial"/>
              </a:rPr>
              <a:t>In </a:t>
            </a:r>
            <a:r>
              <a:rPr sz="2800" dirty="0">
                <a:latin typeface="Arial"/>
                <a:cs typeface="Arial"/>
              </a:rPr>
              <a:t>order </a:t>
            </a:r>
            <a:r>
              <a:rPr sz="2800" spc="-5" dirty="0">
                <a:latin typeface="Arial"/>
                <a:cs typeface="Arial"/>
              </a:rPr>
              <a:t>to let a method </a:t>
            </a:r>
            <a:r>
              <a:rPr sz="2800" dirty="0">
                <a:latin typeface="Arial"/>
                <a:cs typeface="Arial"/>
              </a:rPr>
              <a:t>modify the actual  argument:</a:t>
            </a:r>
            <a:endParaRPr sz="2800">
              <a:latin typeface="Arial"/>
              <a:cs typeface="Arial"/>
            </a:endParaRPr>
          </a:p>
          <a:p>
            <a:pPr marL="683260" marR="274320" lvl="1" indent="-327025">
              <a:lnSpc>
                <a:spcPct val="100000"/>
              </a:lnSpc>
              <a:spcBef>
                <a:spcPts val="620"/>
              </a:spcBef>
              <a:buClr>
                <a:srgbClr val="4B6C4E"/>
              </a:buClr>
              <a:buSzPct val="60416"/>
              <a:buFont typeface="Wingdings"/>
              <a:buChar char=""/>
              <a:tabLst>
                <a:tab pos="683260" algn="l"/>
                <a:tab pos="683895" algn="l"/>
              </a:tabLst>
            </a:pPr>
            <a:r>
              <a:rPr sz="2400" spc="-5" dirty="0">
                <a:latin typeface="Arial"/>
                <a:cs typeface="Arial"/>
              </a:rPr>
              <a:t>An </a:t>
            </a:r>
            <a:r>
              <a:rPr sz="2400" b="1" spc="-5" dirty="0">
                <a:latin typeface="Arial"/>
                <a:cs typeface="Arial"/>
              </a:rPr>
              <a:t>object reference data </a:t>
            </a:r>
            <a:r>
              <a:rPr sz="2400" b="1" spc="-10" dirty="0">
                <a:latin typeface="Arial"/>
                <a:cs typeface="Arial"/>
              </a:rPr>
              <a:t>type </a:t>
            </a:r>
            <a:r>
              <a:rPr sz="2400" spc="-5" dirty="0">
                <a:latin typeface="Arial"/>
                <a:cs typeface="Arial"/>
              </a:rPr>
              <a:t>is needed (similar </a:t>
            </a:r>
            <a:r>
              <a:rPr sz="2400" dirty="0">
                <a:latin typeface="Arial"/>
                <a:cs typeface="Arial"/>
              </a:rPr>
              <a:t>to  </a:t>
            </a:r>
            <a:r>
              <a:rPr sz="2400" spc="-5" dirty="0">
                <a:latin typeface="Arial"/>
                <a:cs typeface="Arial"/>
              </a:rPr>
              <a:t>pointer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C)</a:t>
            </a:r>
            <a:endParaRPr sz="2400">
              <a:latin typeface="Arial"/>
              <a:cs typeface="Arial"/>
            </a:endParaRPr>
          </a:p>
          <a:p>
            <a:pPr marL="683260" lvl="1" indent="-327025">
              <a:lnSpc>
                <a:spcPct val="100000"/>
              </a:lnSpc>
              <a:spcBef>
                <a:spcPts val="605"/>
              </a:spcBef>
              <a:buClr>
                <a:srgbClr val="4B6C4E"/>
              </a:buClr>
              <a:buSzPct val="60416"/>
              <a:buFont typeface="Wingdings"/>
              <a:buChar char=""/>
              <a:tabLst>
                <a:tab pos="683260" algn="l"/>
                <a:tab pos="683895" algn="l"/>
              </a:tabLst>
            </a:pPr>
            <a:r>
              <a:rPr sz="2400" spc="-5" dirty="0">
                <a:latin typeface="Arial"/>
                <a:cs typeface="Arial"/>
              </a:rPr>
              <a:t>Will be covered</a:t>
            </a:r>
            <a:r>
              <a:rPr sz="2400" spc="2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later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0" y="228599"/>
            <a:ext cx="8229600" cy="789940"/>
          </a:xfrm>
          <a:custGeom>
            <a:avLst/>
            <a:gdLst/>
            <a:ahLst/>
            <a:cxnLst/>
            <a:rect l="l" t="t" r="r" b="b"/>
            <a:pathLst>
              <a:path w="8229600" h="789940">
                <a:moveTo>
                  <a:pt x="8229600" y="0"/>
                </a:moveTo>
                <a:lnTo>
                  <a:pt x="0" y="0"/>
                </a:lnTo>
                <a:lnTo>
                  <a:pt x="0" y="685800"/>
                </a:lnTo>
                <a:lnTo>
                  <a:pt x="0" y="789432"/>
                </a:lnTo>
                <a:lnTo>
                  <a:pt x="8229600" y="789432"/>
                </a:lnTo>
                <a:lnTo>
                  <a:pt x="8229600" y="685800"/>
                </a:lnTo>
                <a:lnTo>
                  <a:pt x="8229600" y="0"/>
                </a:lnTo>
                <a:close/>
              </a:path>
            </a:pathLst>
          </a:custGeom>
          <a:solidFill>
            <a:srgbClr val="FFCCFF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35940" y="248158"/>
            <a:ext cx="213931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75" dirty="0"/>
              <a:t>Summa</a:t>
            </a:r>
            <a:r>
              <a:rPr sz="4000" spc="25" dirty="0"/>
              <a:t>r</a:t>
            </a:r>
            <a:r>
              <a:rPr sz="4000" spc="-170" dirty="0"/>
              <a:t>y</a:t>
            </a:r>
            <a:endParaRPr sz="4000"/>
          </a:p>
        </p:txBody>
      </p:sp>
      <p:grpSp>
        <p:nvGrpSpPr>
          <p:cNvPr id="4" name="object 4"/>
          <p:cNvGrpSpPr/>
          <p:nvPr/>
        </p:nvGrpSpPr>
        <p:grpSpPr>
          <a:xfrm>
            <a:off x="527050" y="908050"/>
            <a:ext cx="635000" cy="5499100"/>
            <a:chOff x="527050" y="908050"/>
            <a:chExt cx="635000" cy="5499100"/>
          </a:xfrm>
        </p:grpSpPr>
        <p:sp>
          <p:nvSpPr>
            <p:cNvPr id="5" name="object 5"/>
            <p:cNvSpPr/>
            <p:nvPr/>
          </p:nvSpPr>
          <p:spPr>
            <a:xfrm>
              <a:off x="533400" y="914400"/>
              <a:ext cx="622300" cy="5486400"/>
            </a:xfrm>
            <a:custGeom>
              <a:avLst/>
              <a:gdLst/>
              <a:ahLst/>
              <a:cxnLst/>
              <a:rect l="l" t="t" r="r" b="b"/>
              <a:pathLst>
                <a:path w="622300" h="5486400">
                  <a:moveTo>
                    <a:pt x="621792" y="0"/>
                  </a:moveTo>
                  <a:lnTo>
                    <a:pt x="0" y="0"/>
                  </a:lnTo>
                  <a:lnTo>
                    <a:pt x="0" y="5486400"/>
                  </a:lnTo>
                  <a:lnTo>
                    <a:pt x="621792" y="5486400"/>
                  </a:lnTo>
                  <a:lnTo>
                    <a:pt x="621792" y="0"/>
                  </a:lnTo>
                  <a:close/>
                </a:path>
              </a:pathLst>
            </a:custGeom>
            <a:solidFill>
              <a:srgbClr val="FF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33400" y="914400"/>
              <a:ext cx="622300" cy="5486400"/>
            </a:xfrm>
            <a:custGeom>
              <a:avLst/>
              <a:gdLst/>
              <a:ahLst/>
              <a:cxnLst/>
              <a:rect l="l" t="t" r="r" b="b"/>
              <a:pathLst>
                <a:path w="622300" h="5486400">
                  <a:moveTo>
                    <a:pt x="0" y="5486400"/>
                  </a:moveTo>
                  <a:lnTo>
                    <a:pt x="621792" y="5486400"/>
                  </a:lnTo>
                  <a:lnTo>
                    <a:pt x="621792" y="0"/>
                  </a:lnTo>
                  <a:lnTo>
                    <a:pt x="0" y="0"/>
                  </a:lnTo>
                  <a:lnTo>
                    <a:pt x="0" y="5486400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710299" y="2850636"/>
            <a:ext cx="281305" cy="161480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b="1" spc="-15" dirty="0">
                <a:latin typeface="Arial"/>
                <a:cs typeface="Arial"/>
              </a:rPr>
              <a:t>Java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Elements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155191" y="914400"/>
            <a:ext cx="7379334" cy="5486400"/>
          </a:xfrm>
          <a:custGeom>
            <a:avLst/>
            <a:gdLst/>
            <a:ahLst/>
            <a:cxnLst/>
            <a:rect l="l" t="t" r="r" b="b"/>
            <a:pathLst>
              <a:path w="7379334" h="5486400">
                <a:moveTo>
                  <a:pt x="0" y="5486400"/>
                </a:moveTo>
                <a:lnTo>
                  <a:pt x="7379208" y="5486400"/>
                </a:lnTo>
                <a:lnTo>
                  <a:pt x="7379208" y="0"/>
                </a:lnTo>
                <a:lnTo>
                  <a:pt x="0" y="0"/>
                </a:lnTo>
                <a:lnTo>
                  <a:pt x="0" y="5486400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234541" y="1252474"/>
            <a:ext cx="7189470" cy="47517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spc="-5" dirty="0">
                <a:latin typeface="Courier New"/>
                <a:cs typeface="Courier New"/>
              </a:rPr>
              <a:t>Data</a:t>
            </a:r>
            <a:r>
              <a:rPr sz="2000" b="1" i="1" spc="-10" dirty="0">
                <a:latin typeface="Courier New"/>
                <a:cs typeface="Courier New"/>
              </a:rPr>
              <a:t> </a:t>
            </a:r>
            <a:r>
              <a:rPr sz="2000" b="1" i="1" spc="-5" dirty="0">
                <a:latin typeface="Courier New"/>
                <a:cs typeface="Courier New"/>
              </a:rPr>
              <a:t>Types:</a:t>
            </a:r>
            <a:endParaRPr sz="2000">
              <a:latin typeface="Courier New"/>
              <a:cs typeface="Courier New"/>
            </a:endParaRPr>
          </a:p>
          <a:p>
            <a:pPr marL="622300" indent="-305435">
              <a:lnSpc>
                <a:spcPct val="100000"/>
              </a:lnSpc>
              <a:buChar char="-"/>
              <a:tabLst>
                <a:tab pos="622935" algn="l"/>
              </a:tabLst>
            </a:pPr>
            <a:r>
              <a:rPr sz="2000" b="1" i="1" spc="-5" dirty="0">
                <a:latin typeface="Courier New"/>
                <a:cs typeface="Courier New"/>
              </a:rPr>
              <a:t>Numeric Data</a:t>
            </a:r>
            <a:r>
              <a:rPr sz="2000" b="1" i="1" spc="-10" dirty="0">
                <a:latin typeface="Courier New"/>
                <a:cs typeface="Courier New"/>
              </a:rPr>
              <a:t> </a:t>
            </a:r>
            <a:r>
              <a:rPr sz="2000" b="1" i="1" spc="-5" dirty="0">
                <a:latin typeface="Courier New"/>
                <a:cs typeface="Courier New"/>
              </a:rPr>
              <a:t>Types:</a:t>
            </a:r>
            <a:endParaRPr sz="2000">
              <a:latin typeface="Courier New"/>
              <a:cs typeface="Courier New"/>
            </a:endParaRPr>
          </a:p>
          <a:p>
            <a:pPr marL="927100">
              <a:lnSpc>
                <a:spcPct val="100000"/>
              </a:lnSpc>
            </a:pPr>
            <a:r>
              <a:rPr sz="2000" b="1" i="1" spc="-5" dirty="0">
                <a:solidFill>
                  <a:srgbClr val="0000FF"/>
                </a:solidFill>
                <a:latin typeface="Courier New"/>
                <a:cs typeface="Courier New"/>
              </a:rPr>
              <a:t>byte</a:t>
            </a:r>
            <a:r>
              <a:rPr sz="2000" b="1" i="1" spc="-5" dirty="0">
                <a:solidFill>
                  <a:srgbClr val="006600"/>
                </a:solidFill>
                <a:latin typeface="Courier New"/>
                <a:cs typeface="Courier New"/>
              </a:rPr>
              <a:t>, </a:t>
            </a:r>
            <a:r>
              <a:rPr sz="2000" b="1" i="1" spc="-5" dirty="0">
                <a:solidFill>
                  <a:srgbClr val="0000FF"/>
                </a:solidFill>
                <a:latin typeface="Courier New"/>
                <a:cs typeface="Courier New"/>
              </a:rPr>
              <a:t>short</a:t>
            </a:r>
            <a:r>
              <a:rPr sz="2000" b="1" i="1" spc="-5" dirty="0">
                <a:solidFill>
                  <a:srgbClr val="006600"/>
                </a:solidFill>
                <a:latin typeface="Courier New"/>
                <a:cs typeface="Courier New"/>
              </a:rPr>
              <a:t>, </a:t>
            </a:r>
            <a:r>
              <a:rPr sz="2000" b="1" i="1" spc="-5" dirty="0">
                <a:solidFill>
                  <a:srgbClr val="0000FF"/>
                </a:solidFill>
                <a:latin typeface="Courier New"/>
                <a:cs typeface="Courier New"/>
              </a:rPr>
              <a:t>int</a:t>
            </a:r>
            <a:r>
              <a:rPr sz="2000" b="1" i="1" spc="-5" dirty="0">
                <a:solidFill>
                  <a:srgbClr val="006600"/>
                </a:solidFill>
                <a:latin typeface="Courier New"/>
                <a:cs typeface="Courier New"/>
              </a:rPr>
              <a:t>, </a:t>
            </a:r>
            <a:r>
              <a:rPr sz="2000" b="1" i="1" spc="-5" dirty="0">
                <a:solidFill>
                  <a:srgbClr val="0000FF"/>
                </a:solidFill>
                <a:latin typeface="Courier New"/>
                <a:cs typeface="Courier New"/>
              </a:rPr>
              <a:t>float</a:t>
            </a:r>
            <a:r>
              <a:rPr sz="2000" b="1" i="1" spc="-5" dirty="0">
                <a:solidFill>
                  <a:srgbClr val="006600"/>
                </a:solidFill>
                <a:latin typeface="Courier New"/>
                <a:cs typeface="Courier New"/>
              </a:rPr>
              <a:t>,</a:t>
            </a:r>
            <a:r>
              <a:rPr sz="2000" b="1" i="1" spc="-1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2000" b="1" i="1" spc="-5" dirty="0">
                <a:solidFill>
                  <a:srgbClr val="0000FF"/>
                </a:solidFill>
                <a:latin typeface="Courier New"/>
                <a:cs typeface="Courier New"/>
              </a:rPr>
              <a:t>double</a:t>
            </a:r>
            <a:endParaRPr sz="2000">
              <a:latin typeface="Courier New"/>
              <a:cs typeface="Courier New"/>
            </a:endParaRPr>
          </a:p>
          <a:p>
            <a:pPr marL="927100" marR="3815715" indent="-610235">
              <a:lnSpc>
                <a:spcPct val="100000"/>
              </a:lnSpc>
              <a:buChar char="-"/>
              <a:tabLst>
                <a:tab pos="622935" algn="l"/>
              </a:tabLst>
            </a:pPr>
            <a:r>
              <a:rPr sz="2000" b="1" i="1" spc="-5" dirty="0">
                <a:latin typeface="Courier New"/>
                <a:cs typeface="Courier New"/>
              </a:rPr>
              <a:t>Boolean Data</a:t>
            </a:r>
            <a:r>
              <a:rPr sz="2000" b="1" i="1" spc="-60" dirty="0">
                <a:latin typeface="Courier New"/>
                <a:cs typeface="Courier New"/>
              </a:rPr>
              <a:t> </a:t>
            </a:r>
            <a:r>
              <a:rPr sz="2000" b="1" i="1" spc="-5" dirty="0">
                <a:latin typeface="Courier New"/>
                <a:cs typeface="Courier New"/>
              </a:rPr>
              <a:t>Type: </a:t>
            </a:r>
            <a:r>
              <a:rPr sz="2000" b="1" i="1" spc="-5" dirty="0">
                <a:solidFill>
                  <a:srgbClr val="0000FF"/>
                </a:solidFill>
                <a:latin typeface="Courier New"/>
                <a:cs typeface="Courier New"/>
              </a:rPr>
              <a:t> boolean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b="1" i="1" spc="-5" dirty="0">
                <a:latin typeface="Courier New"/>
                <a:cs typeface="Courier New"/>
              </a:rPr>
              <a:t>Expressions:</a:t>
            </a:r>
            <a:endParaRPr sz="2000">
              <a:latin typeface="Courier New"/>
              <a:cs typeface="Courier New"/>
            </a:endParaRPr>
          </a:p>
          <a:p>
            <a:pPr marL="622300" indent="-305435">
              <a:lnSpc>
                <a:spcPct val="100000"/>
              </a:lnSpc>
              <a:buChar char="-"/>
              <a:tabLst>
                <a:tab pos="622935" algn="l"/>
              </a:tabLst>
            </a:pPr>
            <a:r>
              <a:rPr sz="2000" b="1" i="1" spc="-5" dirty="0">
                <a:latin typeface="Courier New"/>
                <a:cs typeface="Courier New"/>
              </a:rPr>
              <a:t>Arithmetic</a:t>
            </a:r>
            <a:r>
              <a:rPr sz="2000" b="1" i="1" spc="-10" dirty="0">
                <a:latin typeface="Courier New"/>
                <a:cs typeface="Courier New"/>
              </a:rPr>
              <a:t> </a:t>
            </a:r>
            <a:r>
              <a:rPr sz="2000" b="1" i="1" spc="-5" dirty="0">
                <a:latin typeface="Courier New"/>
                <a:cs typeface="Courier New"/>
              </a:rPr>
              <a:t>Expression</a:t>
            </a:r>
            <a:endParaRPr sz="2000">
              <a:latin typeface="Courier New"/>
              <a:cs typeface="Courier New"/>
            </a:endParaRPr>
          </a:p>
          <a:p>
            <a:pPr marL="622300" indent="-305435">
              <a:lnSpc>
                <a:spcPct val="100000"/>
              </a:lnSpc>
              <a:spcBef>
                <a:spcPts val="5"/>
              </a:spcBef>
              <a:buChar char="-"/>
              <a:tabLst>
                <a:tab pos="622935" algn="l"/>
              </a:tabLst>
            </a:pPr>
            <a:r>
              <a:rPr sz="2000" b="1" i="1" spc="-5" dirty="0">
                <a:latin typeface="Courier New"/>
                <a:cs typeface="Courier New"/>
              </a:rPr>
              <a:t>Boolean</a:t>
            </a:r>
            <a:r>
              <a:rPr sz="2000" b="1" i="1" spc="-10" dirty="0">
                <a:latin typeface="Courier New"/>
                <a:cs typeface="Courier New"/>
              </a:rPr>
              <a:t> </a:t>
            </a:r>
            <a:r>
              <a:rPr sz="2000" b="1" i="1" spc="-5" dirty="0">
                <a:latin typeface="Courier New"/>
                <a:cs typeface="Courier New"/>
              </a:rPr>
              <a:t>Expression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b="1" i="1" spc="-5" dirty="0">
                <a:latin typeface="Courier New"/>
                <a:cs typeface="Courier New"/>
              </a:rPr>
              <a:t>Control </a:t>
            </a:r>
            <a:r>
              <a:rPr sz="2000" b="1" i="1" dirty="0">
                <a:latin typeface="Courier New"/>
                <a:cs typeface="Courier New"/>
              </a:rPr>
              <a:t>Flow</a:t>
            </a:r>
            <a:r>
              <a:rPr sz="2000" b="1" i="1" spc="-10" dirty="0">
                <a:latin typeface="Courier New"/>
                <a:cs typeface="Courier New"/>
              </a:rPr>
              <a:t> </a:t>
            </a:r>
            <a:r>
              <a:rPr sz="2000" b="1" i="1" spc="-5" dirty="0">
                <a:latin typeface="Courier New"/>
                <a:cs typeface="Courier New"/>
              </a:rPr>
              <a:t>Statements:</a:t>
            </a:r>
            <a:endParaRPr sz="2000">
              <a:latin typeface="Courier New"/>
              <a:cs typeface="Courier New"/>
            </a:endParaRPr>
          </a:p>
          <a:p>
            <a:pPr marL="622300" indent="-305435">
              <a:lnSpc>
                <a:spcPct val="100000"/>
              </a:lnSpc>
              <a:buChar char="-"/>
              <a:tabLst>
                <a:tab pos="622935" algn="l"/>
              </a:tabLst>
            </a:pPr>
            <a:r>
              <a:rPr sz="2000" b="1" i="1" spc="-5" dirty="0">
                <a:latin typeface="Courier New"/>
                <a:cs typeface="Courier New"/>
              </a:rPr>
              <a:t>Selection Statements: </a:t>
            </a:r>
            <a:r>
              <a:rPr sz="2000" b="1" i="1" spc="-5" dirty="0">
                <a:solidFill>
                  <a:srgbClr val="660066"/>
                </a:solidFill>
                <a:latin typeface="Courier New"/>
                <a:cs typeface="Courier New"/>
              </a:rPr>
              <a:t>if-else,</a:t>
            </a:r>
            <a:r>
              <a:rPr sz="2000" b="1" i="1" spc="5" dirty="0">
                <a:solidFill>
                  <a:srgbClr val="660066"/>
                </a:solidFill>
                <a:latin typeface="Courier New"/>
                <a:cs typeface="Courier New"/>
              </a:rPr>
              <a:t> </a:t>
            </a:r>
            <a:r>
              <a:rPr sz="2000" b="1" i="1" spc="-5" dirty="0">
                <a:solidFill>
                  <a:srgbClr val="660066"/>
                </a:solidFill>
                <a:latin typeface="Courier New"/>
                <a:cs typeface="Courier New"/>
              </a:rPr>
              <a:t>switch-case</a:t>
            </a:r>
            <a:endParaRPr sz="2000">
              <a:latin typeface="Courier New"/>
              <a:cs typeface="Courier New"/>
            </a:endParaRPr>
          </a:p>
          <a:p>
            <a:pPr marL="622300" indent="-305435">
              <a:lnSpc>
                <a:spcPct val="100000"/>
              </a:lnSpc>
              <a:buChar char="-"/>
              <a:tabLst>
                <a:tab pos="622935" algn="l"/>
              </a:tabLst>
            </a:pPr>
            <a:r>
              <a:rPr sz="2000" b="1" i="1" spc="-5" dirty="0">
                <a:latin typeface="Courier New"/>
                <a:cs typeface="Courier New"/>
              </a:rPr>
              <a:t>Repetition Statements: </a:t>
            </a:r>
            <a:r>
              <a:rPr sz="2000" b="1" i="1" spc="-5" dirty="0">
                <a:solidFill>
                  <a:srgbClr val="660066"/>
                </a:solidFill>
                <a:latin typeface="Courier New"/>
                <a:cs typeface="Courier New"/>
              </a:rPr>
              <a:t>while, do-while,</a:t>
            </a:r>
            <a:r>
              <a:rPr sz="2000" b="1" i="1" spc="15" dirty="0">
                <a:solidFill>
                  <a:srgbClr val="660066"/>
                </a:solidFill>
                <a:latin typeface="Courier New"/>
                <a:cs typeface="Courier New"/>
              </a:rPr>
              <a:t> </a:t>
            </a:r>
            <a:r>
              <a:rPr sz="2000" b="1" i="1" spc="-5" dirty="0">
                <a:solidFill>
                  <a:srgbClr val="660066"/>
                </a:solidFill>
                <a:latin typeface="Courier New"/>
                <a:cs typeface="Courier New"/>
              </a:rPr>
              <a:t>for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b="1" i="1" spc="-5" dirty="0">
                <a:latin typeface="Courier New"/>
                <a:cs typeface="Courier New"/>
              </a:rPr>
              <a:t>Classes:</a:t>
            </a:r>
            <a:endParaRPr sz="2000">
              <a:latin typeface="Courier New"/>
              <a:cs typeface="Courier New"/>
            </a:endParaRPr>
          </a:p>
          <a:p>
            <a:pPr marL="622300" indent="-305435">
              <a:lnSpc>
                <a:spcPct val="100000"/>
              </a:lnSpc>
              <a:buClr>
                <a:srgbClr val="000000"/>
              </a:buClr>
              <a:buChar char="-"/>
              <a:tabLst>
                <a:tab pos="622935" algn="l"/>
              </a:tabLst>
            </a:pPr>
            <a:r>
              <a:rPr sz="2000" b="1" i="1" spc="-5" dirty="0">
                <a:solidFill>
                  <a:srgbClr val="C00000"/>
                </a:solidFill>
                <a:latin typeface="Courier New"/>
                <a:cs typeface="Courier New"/>
              </a:rPr>
              <a:t>Scanner</a:t>
            </a:r>
            <a:endParaRPr sz="2000">
              <a:latin typeface="Courier New"/>
              <a:cs typeface="Courier New"/>
            </a:endParaRPr>
          </a:p>
          <a:p>
            <a:pPr marL="622300" indent="-305435">
              <a:lnSpc>
                <a:spcPct val="100000"/>
              </a:lnSpc>
              <a:buClr>
                <a:srgbClr val="000000"/>
              </a:buClr>
              <a:buChar char="-"/>
              <a:tabLst>
                <a:tab pos="622935" algn="l"/>
              </a:tabLst>
            </a:pPr>
            <a:r>
              <a:rPr sz="2000" b="1" i="1" spc="-5" dirty="0">
                <a:solidFill>
                  <a:srgbClr val="C00000"/>
                </a:solidFill>
                <a:latin typeface="Courier New"/>
                <a:cs typeface="Courier New"/>
              </a:rPr>
              <a:t>Math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89"/>
              </a:lnSpc>
              <a:tabLst>
                <a:tab pos="1996439" algn="l"/>
                <a:tab pos="8046720" algn="l"/>
              </a:tabLst>
            </a:pPr>
            <a:r>
              <a:rPr dirty="0"/>
              <a:t>[501043 Lecture 1: Intro</a:t>
            </a:r>
            <a:r>
              <a:rPr spc="-6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Java]	</a:t>
            </a:r>
            <a:r>
              <a:rPr u="heavy" dirty="0">
                <a:uFill>
                  <a:solidFill>
                    <a:srgbClr val="009999"/>
                  </a:solidFill>
                </a:uFill>
              </a:rPr>
              <a:t> 	</a:t>
            </a:r>
            <a:r>
              <a:rPr sz="1600" b="1" i="1" spc="-5" dirty="0">
                <a:solidFill>
                  <a:srgbClr val="C00000"/>
                </a:solidFill>
                <a:latin typeface="Arial"/>
                <a:cs typeface="Arial"/>
              </a:rPr>
              <a:t>57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8229600" cy="789940"/>
          </a:xfrm>
          <a:prstGeom prst="rect">
            <a:avLst/>
          </a:prstGeom>
          <a:solidFill>
            <a:srgbClr val="FFCCFF">
              <a:alpha val="39999"/>
            </a:srgbClr>
          </a:solidFill>
        </p:spPr>
        <p:txBody>
          <a:bodyPr vert="horz" wrap="square" lIns="0" tIns="3175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50"/>
              </a:spcBef>
            </a:pPr>
            <a:r>
              <a:rPr sz="4000" spc="-195" dirty="0"/>
              <a:t>Next </a:t>
            </a:r>
            <a:r>
              <a:rPr sz="4000" spc="-185" dirty="0"/>
              <a:t>Week: </a:t>
            </a:r>
            <a:r>
              <a:rPr sz="4000" spc="-20" dirty="0"/>
              <a:t>Real</a:t>
            </a:r>
            <a:r>
              <a:rPr sz="4000" spc="375" dirty="0"/>
              <a:t> </a:t>
            </a:r>
            <a:r>
              <a:rPr sz="4000" spc="-20" dirty="0"/>
              <a:t>OOP</a:t>
            </a:r>
            <a:endParaRPr sz="4000"/>
          </a:p>
        </p:txBody>
      </p:sp>
      <p:sp>
        <p:nvSpPr>
          <p:cNvPr id="4" name="object 4"/>
          <p:cNvSpPr txBox="1"/>
          <p:nvPr/>
        </p:nvSpPr>
        <p:spPr>
          <a:xfrm>
            <a:off x="670051" y="6449696"/>
            <a:ext cx="8319770" cy="252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89"/>
              </a:lnSpc>
              <a:tabLst>
                <a:tab pos="1996439" algn="l"/>
                <a:tab pos="8046720" algn="l"/>
              </a:tabLst>
            </a:pPr>
            <a:r>
              <a:rPr sz="800" spc="-5" dirty="0">
                <a:solidFill>
                  <a:srgbClr val="003399"/>
                </a:solidFill>
                <a:latin typeface="Arial Black"/>
                <a:cs typeface="Arial Black"/>
              </a:rPr>
              <a:t>[</a:t>
            </a:r>
            <a:r>
              <a:rPr sz="800" dirty="0">
                <a:solidFill>
                  <a:srgbClr val="003399"/>
                </a:solidFill>
                <a:latin typeface="Arial Black"/>
                <a:cs typeface="Arial Black"/>
              </a:rPr>
              <a:t>501043</a:t>
            </a:r>
            <a:r>
              <a:rPr sz="800" spc="-15" dirty="0">
                <a:solidFill>
                  <a:srgbClr val="003399"/>
                </a:solidFill>
                <a:latin typeface="Arial Black"/>
                <a:cs typeface="Arial Black"/>
              </a:rPr>
              <a:t> </a:t>
            </a:r>
            <a:r>
              <a:rPr sz="800" dirty="0">
                <a:solidFill>
                  <a:srgbClr val="003399"/>
                </a:solidFill>
                <a:latin typeface="Arial Black"/>
                <a:cs typeface="Arial Black"/>
              </a:rPr>
              <a:t>Lecture</a:t>
            </a:r>
            <a:r>
              <a:rPr sz="800" spc="-30" dirty="0">
                <a:solidFill>
                  <a:srgbClr val="003399"/>
                </a:solidFill>
                <a:latin typeface="Arial Black"/>
                <a:cs typeface="Arial Black"/>
              </a:rPr>
              <a:t> </a:t>
            </a:r>
            <a:r>
              <a:rPr sz="800" dirty="0">
                <a:solidFill>
                  <a:srgbClr val="003399"/>
                </a:solidFill>
                <a:latin typeface="Arial Black"/>
                <a:cs typeface="Arial Black"/>
              </a:rPr>
              <a:t>1:</a:t>
            </a:r>
            <a:r>
              <a:rPr sz="800" spc="-20" dirty="0">
                <a:solidFill>
                  <a:srgbClr val="003399"/>
                </a:solidFill>
                <a:latin typeface="Arial Black"/>
                <a:cs typeface="Arial Black"/>
              </a:rPr>
              <a:t> </a:t>
            </a:r>
            <a:r>
              <a:rPr sz="800" spc="-5" dirty="0">
                <a:solidFill>
                  <a:srgbClr val="003399"/>
                </a:solidFill>
                <a:latin typeface="Arial Black"/>
                <a:cs typeface="Arial Black"/>
              </a:rPr>
              <a:t>I</a:t>
            </a:r>
            <a:r>
              <a:rPr sz="800" dirty="0">
                <a:solidFill>
                  <a:srgbClr val="003399"/>
                </a:solidFill>
                <a:latin typeface="Arial Black"/>
                <a:cs typeface="Arial Black"/>
              </a:rPr>
              <a:t>ntro</a:t>
            </a:r>
            <a:r>
              <a:rPr sz="800" spc="-25" dirty="0">
                <a:solidFill>
                  <a:srgbClr val="003399"/>
                </a:solidFill>
                <a:latin typeface="Arial Black"/>
                <a:cs typeface="Arial Black"/>
              </a:rPr>
              <a:t> </a:t>
            </a:r>
            <a:r>
              <a:rPr sz="800" dirty="0">
                <a:solidFill>
                  <a:srgbClr val="003399"/>
                </a:solidFill>
                <a:latin typeface="Arial Black"/>
                <a:cs typeface="Arial Black"/>
              </a:rPr>
              <a:t>to</a:t>
            </a:r>
            <a:r>
              <a:rPr sz="800" spc="-15" dirty="0">
                <a:solidFill>
                  <a:srgbClr val="003399"/>
                </a:solidFill>
                <a:latin typeface="Arial Black"/>
                <a:cs typeface="Arial Black"/>
              </a:rPr>
              <a:t> </a:t>
            </a:r>
            <a:r>
              <a:rPr sz="800" dirty="0">
                <a:solidFill>
                  <a:srgbClr val="003399"/>
                </a:solidFill>
                <a:latin typeface="Arial Black"/>
                <a:cs typeface="Arial Black"/>
              </a:rPr>
              <a:t>Java]	</a:t>
            </a:r>
            <a:r>
              <a:rPr sz="800" u="heavy" dirty="0">
                <a:solidFill>
                  <a:srgbClr val="003399"/>
                </a:solidFill>
                <a:uFill>
                  <a:solidFill>
                    <a:srgbClr val="009999"/>
                  </a:solidFill>
                </a:uFill>
                <a:latin typeface="Arial Black"/>
                <a:cs typeface="Arial Black"/>
              </a:rPr>
              <a:t> 	</a:t>
            </a:r>
            <a:r>
              <a:rPr sz="800" spc="-10" dirty="0">
                <a:solidFill>
                  <a:srgbClr val="003399"/>
                </a:solidFill>
                <a:latin typeface="Arial Black"/>
                <a:cs typeface="Arial Black"/>
              </a:rPr>
              <a:t> </a:t>
            </a:r>
            <a:r>
              <a:rPr sz="1600" b="1" i="1" spc="-5" dirty="0">
                <a:solidFill>
                  <a:srgbClr val="C00000"/>
                </a:solidFill>
                <a:latin typeface="Arial"/>
                <a:cs typeface="Arial"/>
              </a:rPr>
              <a:t>60</a:t>
            </a:r>
            <a:endParaRPr sz="16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 marR="97155" indent="-342900">
              <a:lnSpc>
                <a:spcPct val="100000"/>
              </a:lnSpc>
              <a:spcBef>
                <a:spcPts val="100"/>
              </a:spcBef>
              <a:buClr>
                <a:srgbClr val="009999"/>
              </a:buClr>
              <a:buSzPct val="65000"/>
              <a:buFont typeface="Wingdings"/>
              <a:buChar char=""/>
              <a:tabLst>
                <a:tab pos="356235" algn="l"/>
                <a:tab pos="356870" algn="l"/>
              </a:tabLst>
            </a:pPr>
            <a:r>
              <a:rPr dirty="0"/>
              <a:t>This week, the Java programs shown do not  </a:t>
            </a:r>
            <a:r>
              <a:rPr spc="-5" dirty="0"/>
              <a:t>truly use object-oriented programming (OOP)  features</a:t>
            </a:r>
          </a:p>
          <a:p>
            <a:pPr marL="356870" indent="-342900">
              <a:lnSpc>
                <a:spcPct val="100000"/>
              </a:lnSpc>
              <a:spcBef>
                <a:spcPts val="1205"/>
              </a:spcBef>
              <a:buClr>
                <a:srgbClr val="009999"/>
              </a:buClr>
              <a:buSzPct val="65000"/>
              <a:buFont typeface="Wingdings"/>
              <a:buChar char=""/>
              <a:tabLst>
                <a:tab pos="356235" algn="l"/>
                <a:tab pos="356870" algn="l"/>
                <a:tab pos="1142365" algn="l"/>
              </a:tabLst>
            </a:pPr>
            <a:r>
              <a:rPr dirty="0"/>
              <a:t>We	will learn some </a:t>
            </a:r>
            <a:r>
              <a:rPr spc="-5" dirty="0"/>
              <a:t>OOP </a:t>
            </a:r>
            <a:r>
              <a:rPr dirty="0"/>
              <a:t>concepts next</a:t>
            </a:r>
            <a:r>
              <a:rPr spc="-150" dirty="0"/>
              <a:t> </a:t>
            </a:r>
            <a:r>
              <a:rPr dirty="0"/>
              <a:t>week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962" y="6630161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600" y="0"/>
                </a:lnTo>
              </a:path>
            </a:pathLst>
          </a:custGeom>
          <a:ln w="19812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313938" y="2304110"/>
            <a:ext cx="251523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000000"/>
                </a:solidFill>
                <a:latin typeface="Arial"/>
                <a:cs typeface="Arial"/>
              </a:rPr>
              <a:t>End of</a:t>
            </a:r>
            <a:r>
              <a:rPr sz="4400" spc="-7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4400" dirty="0">
                <a:solidFill>
                  <a:srgbClr val="000000"/>
                </a:solidFill>
                <a:latin typeface="Arial"/>
                <a:cs typeface="Arial"/>
              </a:rPr>
              <a:t>file</a:t>
            </a:r>
            <a:endParaRPr sz="4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B6C8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</TotalTime>
  <Words>3955</Words>
  <Application>Microsoft Office PowerPoint</Application>
  <PresentationFormat>On-screen Show (4:3)</PresentationFormat>
  <Paragraphs>722</Paragraphs>
  <Slides>58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70" baseType="lpstr">
      <vt:lpstr>Arial</vt:lpstr>
      <vt:lpstr>Arial Black</vt:lpstr>
      <vt:lpstr>BPG Courier S GPL&amp;GNU</vt:lpstr>
      <vt:lpstr>Calibri</vt:lpstr>
      <vt:lpstr>Carlito</vt:lpstr>
      <vt:lpstr>Courier New</vt:lpstr>
      <vt:lpstr>Symbol</vt:lpstr>
      <vt:lpstr>Times New Roman</vt:lpstr>
      <vt:lpstr>Trebuchet MS</vt:lpstr>
      <vt:lpstr>Tw Cen MT</vt:lpstr>
      <vt:lpstr>Wingdings</vt:lpstr>
      <vt:lpstr>Office Theme</vt:lpstr>
      <vt:lpstr>PowerPoint Presentation</vt:lpstr>
      <vt:lpstr>About me - Dr. Hai Tran</vt:lpstr>
      <vt:lpstr>Initial– Find a group</vt:lpstr>
      <vt:lpstr>Acknowledgement</vt:lpstr>
      <vt:lpstr>Policies for students</vt:lpstr>
      <vt:lpstr>C  Java</vt:lpstr>
      <vt:lpstr>Outline</vt:lpstr>
      <vt:lpstr>1. Java: Brief History &amp; Background</vt:lpstr>
      <vt:lpstr>Recap: Process</vt:lpstr>
      <vt:lpstr>Recap: Run Cycle for C Programs</vt:lpstr>
      <vt:lpstr>Java: Compile Once, Run Anywhere?</vt:lpstr>
      <vt:lpstr>Run Cycle for Java Programs</vt:lpstr>
      <vt:lpstr>Java Execution Illustration</vt:lpstr>
      <vt:lpstr>3. Basic Java Program Structure</vt:lpstr>
      <vt:lpstr>Hello World!</vt:lpstr>
      <vt:lpstr>PowerPoint Presentation</vt:lpstr>
      <vt:lpstr>Key Observations (1/2)</vt:lpstr>
      <vt:lpstr>Key Observations (2/2)</vt:lpstr>
      <vt:lpstr>4.1 Arithmetic Expressions</vt:lpstr>
      <vt:lpstr>4.1 Identifier, Variable, Constant (1/2)</vt:lpstr>
      <vt:lpstr>4.1 Identifier, Variable, Constant (2/2)</vt:lpstr>
      <vt:lpstr>4.1 Numeric Data Types</vt:lpstr>
      <vt:lpstr>4.1 Numeric Operators</vt:lpstr>
      <vt:lpstr>4.1 Numeric Data Type Conversion</vt:lpstr>
      <vt:lpstr>4.1 Data Type Conversion</vt:lpstr>
      <vt:lpstr>4.1 Problem: Fahrenheit to Celsius</vt:lpstr>
      <vt:lpstr>4.1 Solution: Fahrenheit to Celsius</vt:lpstr>
      <vt:lpstr>PowerPoint Presentation</vt:lpstr>
      <vt:lpstr>4.2 Boolean Data Type [new in Java]</vt:lpstr>
      <vt:lpstr>4.2 Boolean Operators</vt:lpstr>
      <vt:lpstr>4.2 Comparison with C</vt:lpstr>
      <vt:lpstr>4.2 Selection Statements</vt:lpstr>
      <vt:lpstr>4.2 Repetition Statements (1/2)</vt:lpstr>
      <vt:lpstr>4.2 Repetition Statements (2/2)</vt:lpstr>
      <vt:lpstr>PowerPoint Presentation</vt:lpstr>
      <vt:lpstr>4.3 Reading input: The Scanner Class</vt:lpstr>
      <vt:lpstr>4.3 Reading Input: Fahrenheit Ver 2</vt:lpstr>
      <vt:lpstr>4.3 Reading Input: Key Points (1/3)</vt:lpstr>
      <vt:lpstr>4.3 Reading Input: Key Points (2/3)</vt:lpstr>
      <vt:lpstr>4.3 Reading Input: Key Points (3/3)</vt:lpstr>
      <vt:lpstr>4.3 Writing Output: The Standard Output</vt:lpstr>
      <vt:lpstr>4.3 Writing Output: printf()</vt:lpstr>
      <vt:lpstr>4.3 Problem: Approximating PI</vt:lpstr>
      <vt:lpstr>4.3 Solution: Approximating PI</vt:lpstr>
      <vt:lpstr>PowerPoint Presentation</vt:lpstr>
      <vt:lpstr>4.4 API (1/2)</vt:lpstr>
      <vt:lpstr>4.4 API (2/2)</vt:lpstr>
      <vt:lpstr>PowerPoint Presentation</vt:lpstr>
      <vt:lpstr>4.5 The Math class (1/2)</vt:lpstr>
      <vt:lpstr>4.5 The Math class (2/2)</vt:lpstr>
      <vt:lpstr>4.5 Class Attributes</vt:lpstr>
      <vt:lpstr>4.5 The Math class: Demo</vt:lpstr>
      <vt:lpstr>PowerPoint Presentation</vt:lpstr>
      <vt:lpstr>4.6 Function with a new name</vt:lpstr>
      <vt:lpstr>4.6 Method Parameter Passing</vt:lpstr>
      <vt:lpstr>Summary</vt:lpstr>
      <vt:lpstr>Next Week: Real OOP</vt:lpstr>
      <vt:lpstr>End of file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CS1020</dc:title>
  <dc:creator>Aaron Tan</dc:creator>
  <cp:lastModifiedBy>HaiTran</cp:lastModifiedBy>
  <cp:revision>5</cp:revision>
  <dcterms:created xsi:type="dcterms:W3CDTF">2023-02-06T05:19:22Z</dcterms:created>
  <dcterms:modified xsi:type="dcterms:W3CDTF">2023-02-06T06:23:30Z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2016-01-11T00:00:00Z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2023-02-06T00:00:00Z</vt:filetime>
  </property>
</Properties>
</file>