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0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</p:sldIdLst>
  <p:sldSz cx="9144000" cy="6858000" type="screen4x3"/>
  <p:notesSz cx="9144000" cy="6858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1099" y="2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10362" y="1219961"/>
            <a:ext cx="7924800" cy="914400"/>
          </a:xfrm>
          <a:custGeom>
            <a:avLst/>
            <a:gdLst/>
            <a:ahLst/>
            <a:cxnLst/>
            <a:rect l="l" t="t" r="r" b="b"/>
            <a:pathLst>
              <a:path w="7924800" h="914400">
                <a:moveTo>
                  <a:pt x="0" y="914400"/>
                </a:moveTo>
                <a:lnTo>
                  <a:pt x="0" y="0"/>
                </a:lnTo>
                <a:lnTo>
                  <a:pt x="7924800" y="0"/>
                </a:lnTo>
              </a:path>
            </a:pathLst>
          </a:custGeom>
          <a:ln w="25908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981961" y="3963161"/>
            <a:ext cx="6512559" cy="0"/>
          </a:xfrm>
          <a:custGeom>
            <a:avLst/>
            <a:gdLst/>
            <a:ahLst/>
            <a:cxnLst/>
            <a:rect l="l" t="t" r="r" b="b"/>
            <a:pathLst>
              <a:path w="6512559">
                <a:moveTo>
                  <a:pt x="0" y="0"/>
                </a:moveTo>
                <a:lnTo>
                  <a:pt x="6512052" y="0"/>
                </a:lnTo>
              </a:path>
            </a:pathLst>
          </a:custGeom>
          <a:ln w="19812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93444" y="1540890"/>
            <a:ext cx="7157110" cy="13677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00339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967485" y="3970782"/>
            <a:ext cx="7209028" cy="1001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003399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Lecture : OOP Part</a:t>
            </a:r>
            <a:r>
              <a:rPr spc="-165" dirty="0"/>
              <a:t> </a:t>
            </a:r>
            <a:r>
              <a:rPr dirty="0"/>
              <a:t>1]  </a:t>
            </a:r>
            <a:r>
              <a:rPr spc="-135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1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0339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800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003399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Lecture : OOP Part</a:t>
            </a:r>
            <a:r>
              <a:rPr spc="-165" dirty="0"/>
              <a:t> </a:t>
            </a:r>
            <a:r>
              <a:rPr dirty="0"/>
              <a:t>1]  </a:t>
            </a:r>
            <a:r>
              <a:rPr spc="-135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1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0339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01700" y="1550034"/>
            <a:ext cx="3552190" cy="3592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003399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Lecture : OOP Part</a:t>
            </a:r>
            <a:r>
              <a:rPr spc="-165" dirty="0"/>
              <a:t> </a:t>
            </a:r>
            <a:r>
              <a:rPr dirty="0"/>
              <a:t>1]  </a:t>
            </a:r>
            <a:r>
              <a:rPr spc="-135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1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81761" y="153162"/>
            <a:ext cx="8229600" cy="609600"/>
          </a:xfrm>
          <a:custGeom>
            <a:avLst/>
            <a:gdLst/>
            <a:ahLst/>
            <a:cxnLst/>
            <a:rect l="l" t="t" r="r" b="b"/>
            <a:pathLst>
              <a:path w="8229600" h="609600">
                <a:moveTo>
                  <a:pt x="0" y="609600"/>
                </a:moveTo>
                <a:lnTo>
                  <a:pt x="0" y="0"/>
                </a:lnTo>
                <a:lnTo>
                  <a:pt x="8229600" y="0"/>
                </a:lnTo>
              </a:path>
            </a:pathLst>
          </a:custGeom>
          <a:ln w="19812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57962" y="6630161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19812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0339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003399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Lecture : OOP Part</a:t>
            </a:r>
            <a:r>
              <a:rPr spc="-165" dirty="0"/>
              <a:t> </a:t>
            </a:r>
            <a:r>
              <a:rPr dirty="0"/>
              <a:t>1]  </a:t>
            </a:r>
            <a:r>
              <a:rPr spc="-135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1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003399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Lecture : OOP Part</a:t>
            </a:r>
            <a:r>
              <a:rPr spc="-165" dirty="0"/>
              <a:t> </a:t>
            </a:r>
            <a:r>
              <a:rPr dirty="0"/>
              <a:t>1]  </a:t>
            </a:r>
            <a:r>
              <a:rPr spc="-135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1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81761" y="153162"/>
            <a:ext cx="8229600" cy="609600"/>
          </a:xfrm>
          <a:custGeom>
            <a:avLst/>
            <a:gdLst/>
            <a:ahLst/>
            <a:cxnLst/>
            <a:rect l="l" t="t" r="r" b="b"/>
            <a:pathLst>
              <a:path w="8229600" h="609600">
                <a:moveTo>
                  <a:pt x="0" y="609600"/>
                </a:moveTo>
                <a:lnTo>
                  <a:pt x="0" y="0"/>
                </a:lnTo>
                <a:lnTo>
                  <a:pt x="8229600" y="0"/>
                </a:lnTo>
              </a:path>
            </a:pathLst>
          </a:custGeom>
          <a:ln w="19812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57962" y="6630161"/>
            <a:ext cx="75565" cy="0"/>
          </a:xfrm>
          <a:custGeom>
            <a:avLst/>
            <a:gdLst/>
            <a:ahLst/>
            <a:cxnLst/>
            <a:rect l="l" t="t" r="r" b="b"/>
            <a:pathLst>
              <a:path w="75565">
                <a:moveTo>
                  <a:pt x="0" y="0"/>
                </a:moveTo>
                <a:lnTo>
                  <a:pt x="75437" y="0"/>
                </a:lnTo>
              </a:path>
            </a:pathLst>
          </a:custGeom>
          <a:ln w="19812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93444" y="248158"/>
            <a:ext cx="79756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0339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3062986"/>
            <a:ext cx="7079615" cy="19767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00800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4519" y="6524133"/>
            <a:ext cx="8126095" cy="169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003399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Lecture : OOP Part</a:t>
            </a:r>
            <a:r>
              <a:rPr spc="-165" dirty="0"/>
              <a:t> </a:t>
            </a:r>
            <a:r>
              <a:rPr dirty="0"/>
              <a:t>1]  </a:t>
            </a:r>
            <a:r>
              <a:rPr spc="-135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88907" y="6542327"/>
            <a:ext cx="302259" cy="252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1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hyperlink" Target="http://docs.oracle.com/javase/7/docs/api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hyperlink" Target="http://docs.oracle.com/javase/7/docs/api/java/util/Scanner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://docs.oracle.com/javase/7/docs/api/java/lang/String.html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://docs.oracle.com/javase/7/docs/api/java/lang/Math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hyperlink" Target="http://drjava.sourceforge.net/" TargetMode="Externa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10362" y="1219961"/>
              <a:ext cx="7924800" cy="914400"/>
            </a:xfrm>
            <a:custGeom>
              <a:avLst/>
              <a:gdLst/>
              <a:ahLst/>
              <a:cxnLst/>
              <a:rect l="l" t="t" r="r" b="b"/>
              <a:pathLst>
                <a:path w="7924800" h="914400">
                  <a:moveTo>
                    <a:pt x="0" y="914400"/>
                  </a:moveTo>
                  <a:lnTo>
                    <a:pt x="0" y="0"/>
                  </a:lnTo>
                  <a:lnTo>
                    <a:pt x="7924800" y="0"/>
                  </a:lnTo>
                </a:path>
              </a:pathLst>
            </a:custGeom>
            <a:ln w="25908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81961" y="3963161"/>
              <a:ext cx="6512559" cy="0"/>
            </a:xfrm>
            <a:custGeom>
              <a:avLst/>
              <a:gdLst/>
              <a:ahLst/>
              <a:cxnLst/>
              <a:rect l="l" t="t" r="r" b="b"/>
              <a:pathLst>
                <a:path w="6512559">
                  <a:moveTo>
                    <a:pt x="0" y="0"/>
                  </a:moveTo>
                  <a:lnTo>
                    <a:pt x="6512052" y="0"/>
                  </a:lnTo>
                </a:path>
              </a:pathLst>
            </a:custGeom>
            <a:ln w="19812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060194" y="3984497"/>
            <a:ext cx="6097905" cy="2310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FF0000"/>
                </a:solidFill>
                <a:latin typeface="Arial"/>
                <a:cs typeface="Arial"/>
              </a:rPr>
              <a:t>Object Oriented</a:t>
            </a:r>
            <a:r>
              <a:rPr sz="3600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FF0000"/>
                </a:solidFill>
                <a:latin typeface="Arial"/>
                <a:cs typeface="Arial"/>
              </a:rPr>
              <a:t>Programming  (OOP) Part </a:t>
            </a:r>
            <a:r>
              <a:rPr sz="3600" spc="-5" dirty="0">
                <a:solidFill>
                  <a:srgbClr val="FF0000"/>
                </a:solidFill>
                <a:latin typeface="Arial"/>
                <a:cs typeface="Arial"/>
              </a:rPr>
              <a:t>1 </a:t>
            </a:r>
            <a:r>
              <a:rPr sz="3600" dirty="0">
                <a:solidFill>
                  <a:srgbClr val="FF0000"/>
                </a:solidFill>
                <a:latin typeface="Arial"/>
                <a:cs typeface="Arial"/>
              </a:rPr>
              <a:t>– </a:t>
            </a:r>
            <a:r>
              <a:rPr sz="3600" spc="-5" dirty="0">
                <a:solidFill>
                  <a:srgbClr val="FF0000"/>
                </a:solidFill>
                <a:latin typeface="Arial"/>
                <a:cs typeface="Arial"/>
              </a:rPr>
              <a:t>User</a:t>
            </a:r>
            <a:r>
              <a:rPr sz="3600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600" spc="-5" dirty="0">
                <a:solidFill>
                  <a:srgbClr val="FF0000"/>
                </a:solidFill>
                <a:latin typeface="Arial"/>
                <a:cs typeface="Arial"/>
              </a:rPr>
              <a:t>Mode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55"/>
              </a:spcBef>
            </a:pPr>
            <a:r>
              <a:rPr sz="3200" dirty="0">
                <a:latin typeface="Carlito"/>
                <a:cs typeface="Carlito"/>
              </a:rPr>
              <a:t>A </a:t>
            </a:r>
            <a:r>
              <a:rPr sz="3200" spc="-5" dirty="0">
                <a:latin typeface="Carlito"/>
                <a:cs typeface="Carlito"/>
              </a:rPr>
              <a:t>paradigm </a:t>
            </a:r>
            <a:r>
              <a:rPr sz="3200" spc="-10" dirty="0">
                <a:latin typeface="Carlito"/>
                <a:cs typeface="Carlito"/>
              </a:rPr>
              <a:t>shift:</a:t>
            </a:r>
            <a:endParaRPr sz="3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800" i="1" spc="-10" dirty="0">
                <a:latin typeface="Carlito"/>
                <a:cs typeface="Carlito"/>
              </a:rPr>
              <a:t>From procedural </a:t>
            </a:r>
            <a:r>
              <a:rPr sz="2800" i="1" spc="-5" dirty="0">
                <a:latin typeface="Carlito"/>
                <a:cs typeface="Carlito"/>
              </a:rPr>
              <a:t>to object-oriented</a:t>
            </a:r>
            <a:r>
              <a:rPr sz="2800" i="1" spc="55" dirty="0">
                <a:latin typeface="Carlito"/>
                <a:cs typeface="Carlito"/>
              </a:rPr>
              <a:t> </a:t>
            </a:r>
            <a:r>
              <a:rPr sz="2800" i="1" spc="-5" dirty="0">
                <a:latin typeface="Carlito"/>
                <a:cs typeface="Carlito"/>
              </a:rPr>
              <a:t>model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789940"/>
          </a:xfrm>
          <a:prstGeom prst="rect">
            <a:avLst/>
          </a:prstGeom>
          <a:solidFill>
            <a:srgbClr val="FFCCFF">
              <a:alpha val="39999"/>
            </a:srgbClr>
          </a:solidFill>
        </p:spPr>
        <p:txBody>
          <a:bodyPr vert="horz" wrap="square" lIns="0" tIns="3175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50"/>
              </a:spcBef>
            </a:pPr>
            <a:r>
              <a:rPr sz="4000" spc="-120" dirty="0"/>
              <a:t>Objectives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1511808" y="1414272"/>
            <a:ext cx="6122035" cy="1149350"/>
            <a:chOff x="1511808" y="1414272"/>
            <a:chExt cx="6122035" cy="1149350"/>
          </a:xfrm>
        </p:grpSpPr>
        <p:sp>
          <p:nvSpPr>
            <p:cNvPr id="4" name="object 4"/>
            <p:cNvSpPr/>
            <p:nvPr/>
          </p:nvSpPr>
          <p:spPr>
            <a:xfrm>
              <a:off x="1524762" y="1427226"/>
              <a:ext cx="6096000" cy="1123315"/>
            </a:xfrm>
            <a:custGeom>
              <a:avLst/>
              <a:gdLst/>
              <a:ahLst/>
              <a:cxnLst/>
              <a:rect l="l" t="t" r="r" b="b"/>
              <a:pathLst>
                <a:path w="6096000" h="1123314">
                  <a:moveTo>
                    <a:pt x="5908802" y="0"/>
                  </a:moveTo>
                  <a:lnTo>
                    <a:pt x="187198" y="0"/>
                  </a:lnTo>
                  <a:lnTo>
                    <a:pt x="137436" y="6687"/>
                  </a:lnTo>
                  <a:lnTo>
                    <a:pt x="92719" y="25559"/>
                  </a:lnTo>
                  <a:lnTo>
                    <a:pt x="54832" y="54832"/>
                  </a:lnTo>
                  <a:lnTo>
                    <a:pt x="25559" y="92719"/>
                  </a:lnTo>
                  <a:lnTo>
                    <a:pt x="6687" y="137436"/>
                  </a:lnTo>
                  <a:lnTo>
                    <a:pt x="0" y="187198"/>
                  </a:lnTo>
                  <a:lnTo>
                    <a:pt x="0" y="935989"/>
                  </a:lnTo>
                  <a:lnTo>
                    <a:pt x="6687" y="985751"/>
                  </a:lnTo>
                  <a:lnTo>
                    <a:pt x="25559" y="1030468"/>
                  </a:lnTo>
                  <a:lnTo>
                    <a:pt x="54832" y="1068355"/>
                  </a:lnTo>
                  <a:lnTo>
                    <a:pt x="92719" y="1097628"/>
                  </a:lnTo>
                  <a:lnTo>
                    <a:pt x="137436" y="1116500"/>
                  </a:lnTo>
                  <a:lnTo>
                    <a:pt x="187198" y="1123188"/>
                  </a:lnTo>
                  <a:lnTo>
                    <a:pt x="5908802" y="1123188"/>
                  </a:lnTo>
                  <a:lnTo>
                    <a:pt x="5958563" y="1116500"/>
                  </a:lnTo>
                  <a:lnTo>
                    <a:pt x="6003280" y="1097628"/>
                  </a:lnTo>
                  <a:lnTo>
                    <a:pt x="6041167" y="1068355"/>
                  </a:lnTo>
                  <a:lnTo>
                    <a:pt x="6070440" y="1030468"/>
                  </a:lnTo>
                  <a:lnTo>
                    <a:pt x="6089312" y="985751"/>
                  </a:lnTo>
                  <a:lnTo>
                    <a:pt x="6095999" y="935989"/>
                  </a:lnTo>
                  <a:lnTo>
                    <a:pt x="6095999" y="187198"/>
                  </a:lnTo>
                  <a:lnTo>
                    <a:pt x="6089312" y="137436"/>
                  </a:lnTo>
                  <a:lnTo>
                    <a:pt x="6070440" y="92719"/>
                  </a:lnTo>
                  <a:lnTo>
                    <a:pt x="6041167" y="54832"/>
                  </a:lnTo>
                  <a:lnTo>
                    <a:pt x="6003280" y="25559"/>
                  </a:lnTo>
                  <a:lnTo>
                    <a:pt x="5958563" y="6687"/>
                  </a:lnTo>
                  <a:lnTo>
                    <a:pt x="5908802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24762" y="1427226"/>
              <a:ext cx="6096000" cy="1123315"/>
            </a:xfrm>
            <a:custGeom>
              <a:avLst/>
              <a:gdLst/>
              <a:ahLst/>
              <a:cxnLst/>
              <a:rect l="l" t="t" r="r" b="b"/>
              <a:pathLst>
                <a:path w="6096000" h="1123314">
                  <a:moveTo>
                    <a:pt x="0" y="187198"/>
                  </a:moveTo>
                  <a:lnTo>
                    <a:pt x="6687" y="137436"/>
                  </a:lnTo>
                  <a:lnTo>
                    <a:pt x="25559" y="92719"/>
                  </a:lnTo>
                  <a:lnTo>
                    <a:pt x="54832" y="54832"/>
                  </a:lnTo>
                  <a:lnTo>
                    <a:pt x="92719" y="25559"/>
                  </a:lnTo>
                  <a:lnTo>
                    <a:pt x="137436" y="6687"/>
                  </a:lnTo>
                  <a:lnTo>
                    <a:pt x="187198" y="0"/>
                  </a:lnTo>
                  <a:lnTo>
                    <a:pt x="5908802" y="0"/>
                  </a:lnTo>
                  <a:lnTo>
                    <a:pt x="5958563" y="6687"/>
                  </a:lnTo>
                  <a:lnTo>
                    <a:pt x="6003280" y="25559"/>
                  </a:lnTo>
                  <a:lnTo>
                    <a:pt x="6041167" y="54832"/>
                  </a:lnTo>
                  <a:lnTo>
                    <a:pt x="6070440" y="92719"/>
                  </a:lnTo>
                  <a:lnTo>
                    <a:pt x="6089312" y="137436"/>
                  </a:lnTo>
                  <a:lnTo>
                    <a:pt x="6095999" y="187198"/>
                  </a:lnTo>
                  <a:lnTo>
                    <a:pt x="6095999" y="935989"/>
                  </a:lnTo>
                  <a:lnTo>
                    <a:pt x="6089312" y="985751"/>
                  </a:lnTo>
                  <a:lnTo>
                    <a:pt x="6070440" y="1030468"/>
                  </a:lnTo>
                  <a:lnTo>
                    <a:pt x="6041167" y="1068355"/>
                  </a:lnTo>
                  <a:lnTo>
                    <a:pt x="6003280" y="1097628"/>
                  </a:lnTo>
                  <a:lnTo>
                    <a:pt x="5958563" y="1116500"/>
                  </a:lnTo>
                  <a:lnTo>
                    <a:pt x="5908802" y="1123188"/>
                  </a:lnTo>
                  <a:lnTo>
                    <a:pt x="187198" y="1123188"/>
                  </a:lnTo>
                  <a:lnTo>
                    <a:pt x="137436" y="1116500"/>
                  </a:lnTo>
                  <a:lnTo>
                    <a:pt x="92719" y="1097628"/>
                  </a:lnTo>
                  <a:lnTo>
                    <a:pt x="54832" y="1068355"/>
                  </a:lnTo>
                  <a:lnTo>
                    <a:pt x="25559" y="1030468"/>
                  </a:lnTo>
                  <a:lnTo>
                    <a:pt x="6687" y="985751"/>
                  </a:lnTo>
                  <a:lnTo>
                    <a:pt x="0" y="935989"/>
                  </a:lnTo>
                  <a:lnTo>
                    <a:pt x="0" y="187198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705101" y="1250667"/>
            <a:ext cx="5297805" cy="3530600"/>
          </a:xfrm>
          <a:prstGeom prst="rect">
            <a:avLst/>
          </a:prstGeom>
        </p:spPr>
        <p:txBody>
          <a:bodyPr vert="horz" wrap="square" lIns="0" tIns="314325" rIns="0" bIns="0" rtlCol="0">
            <a:spAutoFit/>
          </a:bodyPr>
          <a:lstStyle/>
          <a:p>
            <a:pPr marL="56515">
              <a:lnSpc>
                <a:spcPct val="100000"/>
              </a:lnSpc>
              <a:spcBef>
                <a:spcPts val="2475"/>
              </a:spcBef>
            </a:pPr>
            <a:r>
              <a:rPr sz="4800" dirty="0">
                <a:solidFill>
                  <a:srgbClr val="FFFFFF"/>
                </a:solidFill>
                <a:latin typeface="Arial"/>
                <a:cs typeface="Arial"/>
              </a:rPr>
              <a:t>Java</a:t>
            </a:r>
            <a:endParaRPr sz="4800">
              <a:latin typeface="Arial"/>
              <a:cs typeface="Arial"/>
            </a:endParaRPr>
          </a:p>
          <a:p>
            <a:pPr marL="299085" indent="-287020">
              <a:lnSpc>
                <a:spcPct val="100000"/>
              </a:lnSpc>
              <a:spcBef>
                <a:spcPts val="1825"/>
              </a:spcBef>
              <a:buChar char="•"/>
              <a:tabLst>
                <a:tab pos="299720" algn="l"/>
              </a:tabLst>
            </a:pPr>
            <a:r>
              <a:rPr sz="3700" spc="-5" dirty="0">
                <a:latin typeface="Arial"/>
                <a:cs typeface="Arial"/>
              </a:rPr>
              <a:t>(Re)introducing</a:t>
            </a:r>
            <a:r>
              <a:rPr sz="3700" spc="-170" dirty="0">
                <a:latin typeface="Arial"/>
                <a:cs typeface="Arial"/>
              </a:rPr>
              <a:t> </a:t>
            </a:r>
            <a:r>
              <a:rPr sz="3700" spc="-10" dirty="0">
                <a:latin typeface="Arial"/>
                <a:cs typeface="Arial"/>
              </a:rPr>
              <a:t>API</a:t>
            </a:r>
            <a:endParaRPr sz="3700">
              <a:latin typeface="Arial"/>
              <a:cs typeface="Arial"/>
            </a:endParaRPr>
          </a:p>
          <a:p>
            <a:pPr marL="299085" indent="-287020">
              <a:lnSpc>
                <a:spcPct val="100000"/>
              </a:lnSpc>
              <a:spcBef>
                <a:spcPts val="245"/>
              </a:spcBef>
              <a:buChar char="•"/>
              <a:tabLst>
                <a:tab pos="299720" algn="l"/>
              </a:tabLst>
            </a:pPr>
            <a:r>
              <a:rPr sz="3700" spc="-10" dirty="0">
                <a:latin typeface="Arial"/>
                <a:cs typeface="Arial"/>
              </a:rPr>
              <a:t>Using </a:t>
            </a:r>
            <a:r>
              <a:rPr sz="3700" spc="-5" dirty="0">
                <a:latin typeface="Arial"/>
                <a:cs typeface="Arial"/>
              </a:rPr>
              <a:t>Java</a:t>
            </a:r>
            <a:r>
              <a:rPr sz="3700" spc="15" dirty="0">
                <a:latin typeface="Arial"/>
                <a:cs typeface="Arial"/>
              </a:rPr>
              <a:t> </a:t>
            </a:r>
            <a:r>
              <a:rPr sz="3700" spc="-5" dirty="0">
                <a:latin typeface="Arial"/>
                <a:cs typeface="Arial"/>
              </a:rPr>
              <a:t>classes</a:t>
            </a:r>
            <a:endParaRPr sz="3700">
              <a:latin typeface="Arial"/>
              <a:cs typeface="Arial"/>
            </a:endParaRPr>
          </a:p>
          <a:p>
            <a:pPr marL="299085" marR="5080" indent="-287020">
              <a:lnSpc>
                <a:spcPts val="3829"/>
              </a:lnSpc>
              <a:spcBef>
                <a:spcPts val="875"/>
              </a:spcBef>
              <a:buChar char="•"/>
              <a:tabLst>
                <a:tab pos="299720" algn="l"/>
              </a:tabLst>
            </a:pPr>
            <a:r>
              <a:rPr sz="3700" spc="-5" dirty="0">
                <a:latin typeface="Arial"/>
                <a:cs typeface="Arial"/>
              </a:rPr>
              <a:t>Basic</a:t>
            </a:r>
            <a:r>
              <a:rPr sz="3700" spc="-25" dirty="0">
                <a:latin typeface="Arial"/>
                <a:cs typeface="Arial"/>
              </a:rPr>
              <a:t> </a:t>
            </a:r>
            <a:r>
              <a:rPr sz="3700" spc="-5" dirty="0">
                <a:latin typeface="Arial"/>
                <a:cs typeface="Arial"/>
              </a:rPr>
              <a:t>features/concepts  of</a:t>
            </a:r>
            <a:r>
              <a:rPr sz="3700" spc="-10" dirty="0">
                <a:latin typeface="Arial"/>
                <a:cs typeface="Arial"/>
              </a:rPr>
              <a:t> </a:t>
            </a:r>
            <a:r>
              <a:rPr sz="3700" dirty="0">
                <a:latin typeface="Arial"/>
                <a:cs typeface="Arial"/>
              </a:rPr>
              <a:t>OOP</a:t>
            </a:r>
            <a:endParaRPr sz="37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Lecture : OOP Part</a:t>
            </a:r>
            <a:r>
              <a:rPr spc="-165" dirty="0"/>
              <a:t> </a:t>
            </a:r>
            <a:r>
              <a:rPr dirty="0"/>
              <a:t>1]  </a:t>
            </a:r>
            <a:r>
              <a:rPr spc="-135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901683" y="6542327"/>
            <a:ext cx="189230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2</a:t>
            </a:fld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789940"/>
          </a:xfrm>
          <a:prstGeom prst="rect">
            <a:avLst/>
          </a:prstGeom>
          <a:solidFill>
            <a:srgbClr val="FFCCFF">
              <a:alpha val="39999"/>
            </a:srgbClr>
          </a:solidFill>
        </p:spPr>
        <p:txBody>
          <a:bodyPr vert="horz" wrap="square" lIns="0" tIns="3175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50"/>
              </a:spcBef>
            </a:pPr>
            <a:r>
              <a:rPr sz="4000" spc="-80" dirty="0"/>
              <a:t>Outline</a:t>
            </a:r>
            <a:r>
              <a:rPr sz="4000" spc="15" dirty="0"/>
              <a:t> </a:t>
            </a:r>
            <a:r>
              <a:rPr sz="4000" spc="65" dirty="0"/>
              <a:t>(1/2)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Lecture : OOP Part</a:t>
            </a:r>
            <a:r>
              <a:rPr spc="-165" dirty="0"/>
              <a:t> </a:t>
            </a:r>
            <a:r>
              <a:rPr dirty="0"/>
              <a:t>1]  </a:t>
            </a:r>
            <a:r>
              <a:rPr spc="-135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901683" y="6542327"/>
            <a:ext cx="189230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3</a:t>
            </a:fld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937163"/>
            <a:ext cx="6214110" cy="459422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1305"/>
              </a:spcBef>
              <a:buClr>
                <a:srgbClr val="C00000"/>
              </a:buClr>
              <a:buAutoNum type="arabicPeriod"/>
              <a:tabLst>
                <a:tab pos="527685" algn="l"/>
                <a:tab pos="528320" algn="l"/>
              </a:tabLst>
            </a:pPr>
            <a:r>
              <a:rPr sz="2800" dirty="0">
                <a:latin typeface="Arial"/>
                <a:cs typeface="Arial"/>
              </a:rPr>
              <a:t>Recapitulation</a:t>
            </a:r>
            <a:endParaRPr sz="2800">
              <a:latin typeface="Arial"/>
              <a:cs typeface="Arial"/>
            </a:endParaRPr>
          </a:p>
          <a:p>
            <a:pPr marL="527685" indent="-515620">
              <a:lnSpc>
                <a:spcPct val="100000"/>
              </a:lnSpc>
              <a:spcBef>
                <a:spcPts val="1205"/>
              </a:spcBef>
              <a:buClr>
                <a:srgbClr val="C00000"/>
              </a:buClr>
              <a:buAutoNum type="arabicPeriod"/>
              <a:tabLst>
                <a:tab pos="527685" algn="l"/>
                <a:tab pos="528320" algn="l"/>
              </a:tabLst>
            </a:pPr>
            <a:r>
              <a:rPr sz="2800" spc="-10" dirty="0">
                <a:latin typeface="Arial"/>
                <a:cs typeface="Arial"/>
              </a:rPr>
              <a:t>API: </a:t>
            </a:r>
            <a:r>
              <a:rPr sz="2800" spc="-5" dirty="0">
                <a:latin typeface="Arial"/>
                <a:cs typeface="Arial"/>
              </a:rPr>
              <a:t>Where </a:t>
            </a:r>
            <a:r>
              <a:rPr sz="2800" dirty="0">
                <a:latin typeface="Arial"/>
                <a:cs typeface="Arial"/>
              </a:rPr>
              <a:t>you </a:t>
            </a:r>
            <a:r>
              <a:rPr sz="2800" spc="-5" dirty="0">
                <a:latin typeface="Arial"/>
                <a:cs typeface="Arial"/>
              </a:rPr>
              <a:t>find </a:t>
            </a:r>
            <a:r>
              <a:rPr sz="2800" dirty="0">
                <a:latin typeface="Arial"/>
                <a:cs typeface="Arial"/>
              </a:rPr>
              <a:t>service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classes</a:t>
            </a:r>
            <a:endParaRPr sz="2800">
              <a:latin typeface="Arial"/>
              <a:cs typeface="Arial"/>
            </a:endParaRPr>
          </a:p>
          <a:p>
            <a:pPr marL="1116330" lvl="1" indent="-593090">
              <a:lnSpc>
                <a:spcPct val="100000"/>
              </a:lnSpc>
              <a:spcBef>
                <a:spcPts val="315"/>
              </a:spcBef>
              <a:buClr>
                <a:srgbClr val="C00000"/>
              </a:buClr>
              <a:buAutoNum type="arabicPeriod"/>
              <a:tabLst>
                <a:tab pos="1115695" algn="l"/>
                <a:tab pos="1116330" algn="l"/>
              </a:tabLst>
            </a:pPr>
            <a:r>
              <a:rPr sz="2400" spc="-5" dirty="0">
                <a:latin typeface="Arial"/>
                <a:cs typeface="Arial"/>
              </a:rPr>
              <a:t>Scanner class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(revisit)</a:t>
            </a:r>
            <a:endParaRPr sz="2400">
              <a:latin typeface="Arial"/>
              <a:cs typeface="Arial"/>
            </a:endParaRPr>
          </a:p>
          <a:p>
            <a:pPr marL="1116330" lvl="1" indent="-593090">
              <a:lnSpc>
                <a:spcPct val="100000"/>
              </a:lnSpc>
              <a:spcBef>
                <a:spcPts val="300"/>
              </a:spcBef>
              <a:buClr>
                <a:srgbClr val="C00000"/>
              </a:buClr>
              <a:buAutoNum type="arabicPeriod"/>
              <a:tabLst>
                <a:tab pos="1115695" algn="l"/>
                <a:tab pos="1116330" algn="l"/>
              </a:tabLst>
            </a:pPr>
            <a:r>
              <a:rPr sz="2400" spc="-5" dirty="0">
                <a:latin typeface="Arial"/>
                <a:cs typeface="Arial"/>
              </a:rPr>
              <a:t>String class</a:t>
            </a:r>
            <a:r>
              <a:rPr sz="2400" dirty="0">
                <a:latin typeface="Arial"/>
                <a:cs typeface="Arial"/>
              </a:rPr>
              <a:t> (revisit)</a:t>
            </a:r>
            <a:endParaRPr sz="2400">
              <a:latin typeface="Arial"/>
              <a:cs typeface="Arial"/>
            </a:endParaRPr>
          </a:p>
          <a:p>
            <a:pPr marL="1116330" lvl="1" indent="-593090">
              <a:lnSpc>
                <a:spcPct val="100000"/>
              </a:lnSpc>
              <a:spcBef>
                <a:spcPts val="300"/>
              </a:spcBef>
              <a:buClr>
                <a:srgbClr val="C00000"/>
              </a:buClr>
              <a:buAutoNum type="arabicPeriod"/>
              <a:tabLst>
                <a:tab pos="1115695" algn="l"/>
                <a:tab pos="1116330" algn="l"/>
              </a:tabLst>
            </a:pPr>
            <a:r>
              <a:rPr sz="2400" spc="-5" dirty="0">
                <a:latin typeface="Arial"/>
                <a:cs typeface="Arial"/>
              </a:rPr>
              <a:t>Math class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(revisit)</a:t>
            </a:r>
            <a:endParaRPr sz="2400">
              <a:latin typeface="Arial"/>
              <a:cs typeface="Arial"/>
            </a:endParaRPr>
          </a:p>
          <a:p>
            <a:pPr marL="527685" indent="-515620">
              <a:lnSpc>
                <a:spcPct val="100000"/>
              </a:lnSpc>
              <a:spcBef>
                <a:spcPts val="1185"/>
              </a:spcBef>
              <a:buClr>
                <a:srgbClr val="C00000"/>
              </a:buClr>
              <a:buAutoNum type="arabicPeriod"/>
              <a:tabLst>
                <a:tab pos="527685" algn="l"/>
                <a:tab pos="528320" algn="l"/>
              </a:tabLst>
            </a:pPr>
            <a:r>
              <a:rPr sz="2800" spc="-5" dirty="0">
                <a:latin typeface="Arial"/>
                <a:cs typeface="Arial"/>
              </a:rPr>
              <a:t>OOP concepts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(basic)</a:t>
            </a:r>
            <a:endParaRPr sz="2800">
              <a:latin typeface="Arial"/>
              <a:cs typeface="Arial"/>
            </a:endParaRPr>
          </a:p>
          <a:p>
            <a:pPr marL="1035050" lvl="1" indent="-508000">
              <a:lnSpc>
                <a:spcPct val="100000"/>
              </a:lnSpc>
              <a:spcBef>
                <a:spcPts val="315"/>
              </a:spcBef>
              <a:buClr>
                <a:srgbClr val="C00000"/>
              </a:buClr>
              <a:buAutoNum type="arabicPeriod"/>
              <a:tabLst>
                <a:tab pos="1035685" algn="l"/>
              </a:tabLst>
            </a:pPr>
            <a:r>
              <a:rPr sz="2400" spc="-5" dirty="0">
                <a:latin typeface="Arial"/>
                <a:cs typeface="Arial"/>
              </a:rPr>
              <a:t>Modifiers</a:t>
            </a:r>
            <a:endParaRPr sz="2400">
              <a:latin typeface="Arial"/>
              <a:cs typeface="Arial"/>
            </a:endParaRPr>
          </a:p>
          <a:p>
            <a:pPr marL="1035050" lvl="1" indent="-508000">
              <a:lnSpc>
                <a:spcPct val="100000"/>
              </a:lnSpc>
              <a:spcBef>
                <a:spcPts val="305"/>
              </a:spcBef>
              <a:buClr>
                <a:srgbClr val="C00000"/>
              </a:buClr>
              <a:buAutoNum type="arabicPeriod"/>
              <a:tabLst>
                <a:tab pos="1035685" algn="l"/>
              </a:tabLst>
            </a:pPr>
            <a:r>
              <a:rPr sz="2400" spc="-5" dirty="0">
                <a:latin typeface="Arial"/>
                <a:cs typeface="Arial"/>
              </a:rPr>
              <a:t>Class </a:t>
            </a:r>
            <a:r>
              <a:rPr sz="2400" dirty="0">
                <a:latin typeface="Arial"/>
                <a:cs typeface="Arial"/>
              </a:rPr>
              <a:t>vs </a:t>
            </a:r>
            <a:r>
              <a:rPr sz="2400" spc="-5" dirty="0">
                <a:latin typeface="Arial"/>
                <a:cs typeface="Arial"/>
              </a:rPr>
              <a:t>Instance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methods</a:t>
            </a:r>
            <a:endParaRPr sz="2400">
              <a:latin typeface="Arial"/>
              <a:cs typeface="Arial"/>
            </a:endParaRPr>
          </a:p>
          <a:p>
            <a:pPr marL="1035050" lvl="1" indent="-508000">
              <a:lnSpc>
                <a:spcPct val="100000"/>
              </a:lnSpc>
              <a:spcBef>
                <a:spcPts val="300"/>
              </a:spcBef>
              <a:buClr>
                <a:srgbClr val="C00000"/>
              </a:buClr>
              <a:buAutoNum type="arabicPeriod"/>
              <a:tabLst>
                <a:tab pos="1035685" algn="l"/>
              </a:tabLst>
            </a:pPr>
            <a:r>
              <a:rPr sz="2400" spc="-5" dirty="0">
                <a:latin typeface="Arial"/>
                <a:cs typeface="Arial"/>
              </a:rPr>
              <a:t>Constructors</a:t>
            </a:r>
            <a:endParaRPr sz="2400">
              <a:latin typeface="Arial"/>
              <a:cs typeface="Arial"/>
            </a:endParaRPr>
          </a:p>
          <a:p>
            <a:pPr marL="1035050" lvl="1" indent="-508000">
              <a:lnSpc>
                <a:spcPct val="100000"/>
              </a:lnSpc>
              <a:spcBef>
                <a:spcPts val="300"/>
              </a:spcBef>
              <a:buClr>
                <a:srgbClr val="C00000"/>
              </a:buClr>
              <a:buAutoNum type="arabicPeriod"/>
              <a:tabLst>
                <a:tab pos="1035685" algn="l"/>
              </a:tabLst>
            </a:pPr>
            <a:r>
              <a:rPr sz="2400" spc="-5" dirty="0">
                <a:latin typeface="Arial"/>
                <a:cs typeface="Arial"/>
              </a:rPr>
              <a:t>Overloading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789940"/>
          </a:xfrm>
          <a:prstGeom prst="rect">
            <a:avLst/>
          </a:prstGeom>
          <a:solidFill>
            <a:srgbClr val="FFCCFF">
              <a:alpha val="39999"/>
            </a:srgbClr>
          </a:solidFill>
        </p:spPr>
        <p:txBody>
          <a:bodyPr vert="horz" wrap="square" lIns="0" tIns="3175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50"/>
              </a:spcBef>
            </a:pPr>
            <a:r>
              <a:rPr sz="4000" spc="-80" dirty="0"/>
              <a:t>Outline</a:t>
            </a:r>
            <a:r>
              <a:rPr sz="4000" spc="15" dirty="0"/>
              <a:t> </a:t>
            </a:r>
            <a:r>
              <a:rPr sz="4000" spc="65" dirty="0"/>
              <a:t>(2/2)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Lecture : OOP Part</a:t>
            </a:r>
            <a:r>
              <a:rPr spc="-165" dirty="0"/>
              <a:t> </a:t>
            </a:r>
            <a:r>
              <a:rPr dirty="0"/>
              <a:t>1]  </a:t>
            </a:r>
            <a:r>
              <a:rPr spc="-135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901683" y="6542327"/>
            <a:ext cx="189230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4</a:t>
            </a:fld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998914"/>
            <a:ext cx="5999480" cy="377761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819"/>
              </a:spcBef>
              <a:buClr>
                <a:srgbClr val="C00000"/>
              </a:buClr>
              <a:buAutoNum type="arabicPeriod" startAt="4"/>
              <a:tabLst>
                <a:tab pos="527685" algn="l"/>
                <a:tab pos="528320" algn="l"/>
              </a:tabLst>
            </a:pPr>
            <a:r>
              <a:rPr sz="2800" spc="-5" dirty="0">
                <a:latin typeface="Arial"/>
                <a:cs typeface="Arial"/>
              </a:rPr>
              <a:t>More </a:t>
            </a:r>
            <a:r>
              <a:rPr sz="2800" dirty="0">
                <a:latin typeface="Arial"/>
                <a:cs typeface="Arial"/>
              </a:rPr>
              <a:t>classes</a:t>
            </a:r>
            <a:r>
              <a:rPr sz="2800" spc="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(new)</a:t>
            </a:r>
            <a:endParaRPr sz="2800">
              <a:latin typeface="Arial"/>
              <a:cs typeface="Arial"/>
            </a:endParaRPr>
          </a:p>
          <a:p>
            <a:pPr marL="1035050" lvl="1" indent="-508000">
              <a:lnSpc>
                <a:spcPct val="100000"/>
              </a:lnSpc>
              <a:spcBef>
                <a:spcPts val="620"/>
              </a:spcBef>
              <a:buClr>
                <a:srgbClr val="C00000"/>
              </a:buClr>
              <a:buAutoNum type="arabicPeriod"/>
              <a:tabLst>
                <a:tab pos="1035685" algn="l"/>
              </a:tabLst>
            </a:pPr>
            <a:r>
              <a:rPr sz="2400" spc="-5" dirty="0">
                <a:latin typeface="Arial"/>
                <a:cs typeface="Arial"/>
              </a:rPr>
              <a:t>DecimalFormat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class</a:t>
            </a:r>
            <a:endParaRPr sz="2400">
              <a:latin typeface="Arial"/>
              <a:cs typeface="Arial"/>
            </a:endParaRPr>
          </a:p>
          <a:p>
            <a:pPr marL="1035050" lvl="1" indent="-508000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AutoNum type="arabicPeriod"/>
              <a:tabLst>
                <a:tab pos="1035685" algn="l"/>
              </a:tabLst>
            </a:pPr>
            <a:r>
              <a:rPr sz="2400" spc="-5" dirty="0">
                <a:latin typeface="Arial"/>
                <a:cs typeface="Arial"/>
              </a:rPr>
              <a:t>Random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class</a:t>
            </a:r>
            <a:endParaRPr sz="2400">
              <a:latin typeface="Arial"/>
              <a:cs typeface="Arial"/>
            </a:endParaRPr>
          </a:p>
          <a:p>
            <a:pPr marL="1035050" lvl="1" indent="-508000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AutoNum type="arabicPeriod"/>
              <a:tabLst>
                <a:tab pos="1035685" algn="l"/>
              </a:tabLst>
            </a:pPr>
            <a:r>
              <a:rPr sz="2400" spc="-5" dirty="0">
                <a:latin typeface="Arial"/>
                <a:cs typeface="Arial"/>
              </a:rPr>
              <a:t>Wrapper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classes</a:t>
            </a:r>
            <a:endParaRPr sz="2400">
              <a:latin typeface="Arial"/>
              <a:cs typeface="Arial"/>
            </a:endParaRPr>
          </a:p>
          <a:p>
            <a:pPr marL="1035050" lvl="1" indent="-508000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AutoNum type="arabicPeriod"/>
              <a:tabLst>
                <a:tab pos="1035685" algn="l"/>
              </a:tabLst>
            </a:pPr>
            <a:r>
              <a:rPr sz="2400" spc="-5" dirty="0">
                <a:latin typeface="Arial"/>
                <a:cs typeface="Arial"/>
              </a:rPr>
              <a:t>Point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class</a:t>
            </a:r>
            <a:endParaRPr sz="2400">
              <a:latin typeface="Arial"/>
              <a:cs typeface="Arial"/>
            </a:endParaRPr>
          </a:p>
          <a:p>
            <a:pPr marL="527685" indent="-515620">
              <a:lnSpc>
                <a:spcPct val="100000"/>
              </a:lnSpc>
              <a:spcBef>
                <a:spcPts val="1185"/>
              </a:spcBef>
              <a:buClr>
                <a:srgbClr val="C00000"/>
              </a:buClr>
              <a:buAutoNum type="arabicPeriod" startAt="4"/>
              <a:tabLst>
                <a:tab pos="527685" algn="l"/>
                <a:tab pos="528320" algn="l"/>
              </a:tabLst>
            </a:pPr>
            <a:r>
              <a:rPr sz="2800" spc="-5" dirty="0">
                <a:latin typeface="Arial"/>
                <a:cs typeface="Arial"/>
              </a:rPr>
              <a:t>Abstraction and Information</a:t>
            </a:r>
            <a:r>
              <a:rPr sz="2800" spc="5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Hiding</a:t>
            </a:r>
            <a:endParaRPr sz="2800">
              <a:latin typeface="Arial"/>
              <a:cs typeface="Arial"/>
            </a:endParaRPr>
          </a:p>
          <a:p>
            <a:pPr marL="1035050" lvl="1" indent="-508000">
              <a:lnSpc>
                <a:spcPct val="100000"/>
              </a:lnSpc>
              <a:spcBef>
                <a:spcPts val="615"/>
              </a:spcBef>
              <a:buClr>
                <a:srgbClr val="C00000"/>
              </a:buClr>
              <a:buAutoNum type="arabicPeriod"/>
              <a:tabLst>
                <a:tab pos="1035685" algn="l"/>
              </a:tabLst>
            </a:pPr>
            <a:r>
              <a:rPr sz="2400" spc="-5" dirty="0">
                <a:latin typeface="Arial"/>
                <a:cs typeface="Arial"/>
              </a:rPr>
              <a:t>What is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Abstraction?</a:t>
            </a:r>
            <a:endParaRPr sz="2400">
              <a:latin typeface="Arial"/>
              <a:cs typeface="Arial"/>
            </a:endParaRPr>
          </a:p>
          <a:p>
            <a:pPr marL="1035050" lvl="1" indent="-508000">
              <a:lnSpc>
                <a:spcPct val="100000"/>
              </a:lnSpc>
              <a:spcBef>
                <a:spcPts val="605"/>
              </a:spcBef>
              <a:buClr>
                <a:srgbClr val="C00000"/>
              </a:buClr>
              <a:buAutoNum type="arabicPeriod"/>
              <a:tabLst>
                <a:tab pos="1035685" algn="l"/>
              </a:tabLst>
            </a:pPr>
            <a:r>
              <a:rPr sz="2400" spc="-5" dirty="0">
                <a:latin typeface="Arial"/>
                <a:cs typeface="Arial"/>
              </a:rPr>
              <a:t>Procedural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Abstraction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228600"/>
            <a:ext cx="8153400" cy="789940"/>
          </a:xfrm>
          <a:prstGeom prst="rect">
            <a:avLst/>
          </a:prstGeom>
          <a:solidFill>
            <a:srgbClr val="FFFFCC"/>
          </a:solidFill>
        </p:spPr>
        <p:txBody>
          <a:bodyPr vert="horz" wrap="square" lIns="0" tIns="3175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50"/>
              </a:spcBef>
            </a:pPr>
            <a:r>
              <a:rPr sz="4000" dirty="0">
                <a:solidFill>
                  <a:srgbClr val="C00000"/>
                </a:solidFill>
              </a:rPr>
              <a:t>1.</a:t>
            </a:r>
            <a:r>
              <a:rPr sz="4000" spc="-10" dirty="0">
                <a:solidFill>
                  <a:srgbClr val="C00000"/>
                </a:solidFill>
              </a:rPr>
              <a:t> </a:t>
            </a:r>
            <a:r>
              <a:rPr sz="4000" spc="-50" dirty="0"/>
              <a:t>Recapitulation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88340" y="1090624"/>
            <a:ext cx="63874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5"/>
              </a:spcBef>
              <a:buClr>
                <a:srgbClr val="009999"/>
              </a:buClr>
              <a:buSzPct val="64285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5" dirty="0">
                <a:latin typeface="Arial"/>
                <a:cs typeface="Arial"/>
              </a:rPr>
              <a:t>Compiling and </a:t>
            </a:r>
            <a:r>
              <a:rPr sz="2800" dirty="0">
                <a:latin typeface="Arial"/>
                <a:cs typeface="Arial"/>
              </a:rPr>
              <a:t>running Java</a:t>
            </a:r>
            <a:r>
              <a:rPr sz="2800" spc="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programs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8340" y="1517421"/>
            <a:ext cx="5267325" cy="176339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300"/>
              </a:spcBef>
              <a:buClr>
                <a:srgbClr val="009999"/>
              </a:buClr>
              <a:buSzPct val="64285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5" dirty="0">
                <a:latin typeface="Arial"/>
                <a:cs typeface="Arial"/>
              </a:rPr>
              <a:t>Java program</a:t>
            </a:r>
            <a:r>
              <a:rPr sz="2800" spc="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structure</a:t>
            </a:r>
            <a:endParaRPr sz="28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1200"/>
              </a:spcBef>
              <a:buClr>
                <a:srgbClr val="009999"/>
              </a:buClr>
              <a:buSzPct val="64285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5" dirty="0">
                <a:latin typeface="Arial"/>
                <a:cs typeface="Arial"/>
              </a:rPr>
              <a:t>Basic </a:t>
            </a:r>
            <a:r>
              <a:rPr sz="2800" dirty="0">
                <a:latin typeface="Arial"/>
                <a:cs typeface="Arial"/>
              </a:rPr>
              <a:t>Java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elements</a:t>
            </a:r>
            <a:endParaRPr sz="28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1200"/>
              </a:spcBef>
              <a:buClr>
                <a:srgbClr val="009999"/>
              </a:buClr>
              <a:buSzPct val="64285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10" dirty="0">
                <a:latin typeface="Arial"/>
                <a:cs typeface="Arial"/>
              </a:rPr>
              <a:t>API: </a:t>
            </a:r>
            <a:r>
              <a:rPr sz="2800" spc="-5" dirty="0">
                <a:latin typeface="Arial"/>
                <a:cs typeface="Arial"/>
              </a:rPr>
              <a:t>Scanner class, Math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class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813740" y="2415476"/>
            <a:ext cx="1572895" cy="652145"/>
            <a:chOff x="6813740" y="2415476"/>
            <a:chExt cx="1572895" cy="652145"/>
          </a:xfrm>
        </p:grpSpPr>
        <p:sp>
          <p:nvSpPr>
            <p:cNvPr id="6" name="object 6"/>
            <p:cNvSpPr/>
            <p:nvPr/>
          </p:nvSpPr>
          <p:spPr>
            <a:xfrm>
              <a:off x="6826758" y="2428494"/>
              <a:ext cx="1546860" cy="626110"/>
            </a:xfrm>
            <a:custGeom>
              <a:avLst/>
              <a:gdLst/>
              <a:ahLst/>
              <a:cxnLst/>
              <a:rect l="l" t="t" r="r" b="b"/>
              <a:pathLst>
                <a:path w="1546859" h="626110">
                  <a:moveTo>
                    <a:pt x="1546860" y="0"/>
                  </a:moveTo>
                  <a:lnTo>
                    <a:pt x="0" y="0"/>
                  </a:lnTo>
                  <a:lnTo>
                    <a:pt x="0" y="592073"/>
                  </a:lnTo>
                  <a:lnTo>
                    <a:pt x="66276" y="601013"/>
                  </a:lnTo>
                  <a:lnTo>
                    <a:pt x="128773" y="608451"/>
                  </a:lnTo>
                  <a:lnTo>
                    <a:pt x="187729" y="614464"/>
                  </a:lnTo>
                  <a:lnTo>
                    <a:pt x="243379" y="619127"/>
                  </a:lnTo>
                  <a:lnTo>
                    <a:pt x="295959" y="622516"/>
                  </a:lnTo>
                  <a:lnTo>
                    <a:pt x="345705" y="624709"/>
                  </a:lnTo>
                  <a:lnTo>
                    <a:pt x="392854" y="625779"/>
                  </a:lnTo>
                  <a:lnTo>
                    <a:pt x="437642" y="625804"/>
                  </a:lnTo>
                  <a:lnTo>
                    <a:pt x="480304" y="624860"/>
                  </a:lnTo>
                  <a:lnTo>
                    <a:pt x="521077" y="623022"/>
                  </a:lnTo>
                  <a:lnTo>
                    <a:pt x="560197" y="620366"/>
                  </a:lnTo>
                  <a:lnTo>
                    <a:pt x="634423" y="612906"/>
                  </a:lnTo>
                  <a:lnTo>
                    <a:pt x="704871" y="603087"/>
                  </a:lnTo>
                  <a:lnTo>
                    <a:pt x="773429" y="591518"/>
                  </a:lnTo>
                  <a:lnTo>
                    <a:pt x="948959" y="558923"/>
                  </a:lnTo>
                  <a:lnTo>
                    <a:pt x="986662" y="552382"/>
                  </a:lnTo>
                  <a:lnTo>
                    <a:pt x="1025782" y="546012"/>
                  </a:lnTo>
                  <a:lnTo>
                    <a:pt x="1066555" y="539888"/>
                  </a:lnTo>
                  <a:lnTo>
                    <a:pt x="1109217" y="534086"/>
                  </a:lnTo>
                  <a:lnTo>
                    <a:pt x="1154005" y="528681"/>
                  </a:lnTo>
                  <a:lnTo>
                    <a:pt x="1201154" y="523751"/>
                  </a:lnTo>
                  <a:lnTo>
                    <a:pt x="1250900" y="519371"/>
                  </a:lnTo>
                  <a:lnTo>
                    <a:pt x="1303480" y="515617"/>
                  </a:lnTo>
                  <a:lnTo>
                    <a:pt x="1359130" y="512565"/>
                  </a:lnTo>
                  <a:lnTo>
                    <a:pt x="1418086" y="510291"/>
                  </a:lnTo>
                  <a:lnTo>
                    <a:pt x="1480583" y="508871"/>
                  </a:lnTo>
                  <a:lnTo>
                    <a:pt x="1546860" y="508380"/>
                  </a:lnTo>
                  <a:lnTo>
                    <a:pt x="1546860" y="0"/>
                  </a:lnTo>
                  <a:close/>
                </a:path>
              </a:pathLst>
            </a:custGeom>
            <a:solidFill>
              <a:srgbClr val="B8C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26758" y="2428494"/>
              <a:ext cx="1546860" cy="626110"/>
            </a:xfrm>
            <a:custGeom>
              <a:avLst/>
              <a:gdLst/>
              <a:ahLst/>
              <a:cxnLst/>
              <a:rect l="l" t="t" r="r" b="b"/>
              <a:pathLst>
                <a:path w="1546859" h="626110">
                  <a:moveTo>
                    <a:pt x="0" y="0"/>
                  </a:moveTo>
                  <a:lnTo>
                    <a:pt x="1546860" y="0"/>
                  </a:lnTo>
                  <a:lnTo>
                    <a:pt x="1546860" y="508380"/>
                  </a:lnTo>
                  <a:lnTo>
                    <a:pt x="1480583" y="508871"/>
                  </a:lnTo>
                  <a:lnTo>
                    <a:pt x="1418086" y="510291"/>
                  </a:lnTo>
                  <a:lnTo>
                    <a:pt x="1359130" y="512565"/>
                  </a:lnTo>
                  <a:lnTo>
                    <a:pt x="1303480" y="515617"/>
                  </a:lnTo>
                  <a:lnTo>
                    <a:pt x="1250900" y="519371"/>
                  </a:lnTo>
                  <a:lnTo>
                    <a:pt x="1201154" y="523751"/>
                  </a:lnTo>
                  <a:lnTo>
                    <a:pt x="1154005" y="528681"/>
                  </a:lnTo>
                  <a:lnTo>
                    <a:pt x="1109217" y="534086"/>
                  </a:lnTo>
                  <a:lnTo>
                    <a:pt x="1066555" y="539888"/>
                  </a:lnTo>
                  <a:lnTo>
                    <a:pt x="1025782" y="546012"/>
                  </a:lnTo>
                  <a:lnTo>
                    <a:pt x="986662" y="552382"/>
                  </a:lnTo>
                  <a:lnTo>
                    <a:pt x="948959" y="558923"/>
                  </a:lnTo>
                  <a:lnTo>
                    <a:pt x="876858" y="572210"/>
                  </a:lnTo>
                  <a:lnTo>
                    <a:pt x="841988" y="578805"/>
                  </a:lnTo>
                  <a:lnTo>
                    <a:pt x="807591" y="585266"/>
                  </a:lnTo>
                  <a:lnTo>
                    <a:pt x="739268" y="597484"/>
                  </a:lnTo>
                  <a:lnTo>
                    <a:pt x="670001" y="608254"/>
                  </a:lnTo>
                  <a:lnTo>
                    <a:pt x="597900" y="616969"/>
                  </a:lnTo>
                  <a:lnTo>
                    <a:pt x="521077" y="623022"/>
                  </a:lnTo>
                  <a:lnTo>
                    <a:pt x="480304" y="624860"/>
                  </a:lnTo>
                  <a:lnTo>
                    <a:pt x="437642" y="625804"/>
                  </a:lnTo>
                  <a:lnTo>
                    <a:pt x="392854" y="625779"/>
                  </a:lnTo>
                  <a:lnTo>
                    <a:pt x="345705" y="624709"/>
                  </a:lnTo>
                  <a:lnTo>
                    <a:pt x="295959" y="622516"/>
                  </a:lnTo>
                  <a:lnTo>
                    <a:pt x="243379" y="619127"/>
                  </a:lnTo>
                  <a:lnTo>
                    <a:pt x="187729" y="614464"/>
                  </a:lnTo>
                  <a:lnTo>
                    <a:pt x="128773" y="608451"/>
                  </a:lnTo>
                  <a:lnTo>
                    <a:pt x="66276" y="601013"/>
                  </a:lnTo>
                  <a:lnTo>
                    <a:pt x="0" y="592073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296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055866" y="2527249"/>
            <a:ext cx="108902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HelloWorld.java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528559" y="2077973"/>
            <a:ext cx="144780" cy="351790"/>
          </a:xfrm>
          <a:custGeom>
            <a:avLst/>
            <a:gdLst/>
            <a:ahLst/>
            <a:cxnLst/>
            <a:rect l="l" t="t" r="r" b="b"/>
            <a:pathLst>
              <a:path w="144779" h="351789">
                <a:moveTo>
                  <a:pt x="57912" y="264795"/>
                </a:moveTo>
                <a:lnTo>
                  <a:pt x="0" y="264795"/>
                </a:lnTo>
                <a:lnTo>
                  <a:pt x="72390" y="351663"/>
                </a:lnTo>
                <a:lnTo>
                  <a:pt x="132715" y="279273"/>
                </a:lnTo>
                <a:lnTo>
                  <a:pt x="57912" y="279273"/>
                </a:lnTo>
                <a:lnTo>
                  <a:pt x="57912" y="264795"/>
                </a:lnTo>
                <a:close/>
              </a:path>
              <a:path w="144779" h="351789">
                <a:moveTo>
                  <a:pt x="86868" y="0"/>
                </a:moveTo>
                <a:lnTo>
                  <a:pt x="57912" y="0"/>
                </a:lnTo>
                <a:lnTo>
                  <a:pt x="57912" y="279273"/>
                </a:lnTo>
                <a:lnTo>
                  <a:pt x="86868" y="279273"/>
                </a:lnTo>
                <a:lnTo>
                  <a:pt x="86868" y="0"/>
                </a:lnTo>
                <a:close/>
              </a:path>
              <a:path w="144779" h="351789">
                <a:moveTo>
                  <a:pt x="144780" y="264795"/>
                </a:moveTo>
                <a:lnTo>
                  <a:pt x="86868" y="264795"/>
                </a:lnTo>
                <a:lnTo>
                  <a:pt x="86868" y="279273"/>
                </a:lnTo>
                <a:lnTo>
                  <a:pt x="132715" y="279273"/>
                </a:lnTo>
                <a:lnTo>
                  <a:pt x="144780" y="2647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369558" y="1725929"/>
            <a:ext cx="2461260" cy="352425"/>
          </a:xfrm>
          <a:prstGeom prst="rect">
            <a:avLst/>
          </a:prstGeom>
          <a:solidFill>
            <a:srgbClr val="FFFFCC"/>
          </a:solidFill>
          <a:ln w="25907">
            <a:solidFill>
              <a:srgbClr val="FFC000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290"/>
              </a:spcBef>
            </a:pPr>
            <a:r>
              <a:rPr sz="1200" dirty="0">
                <a:latin typeface="BPG Courier S GPL&amp;GNU"/>
                <a:cs typeface="BPG Courier S GPL&amp;GNU"/>
              </a:rPr>
              <a:t>vim</a:t>
            </a:r>
            <a:r>
              <a:rPr sz="1200" spc="-10" dirty="0">
                <a:latin typeface="BPG Courier S GPL&amp;GNU"/>
                <a:cs typeface="BPG Courier S GPL&amp;GNU"/>
              </a:rPr>
              <a:t> </a:t>
            </a:r>
            <a:r>
              <a:rPr sz="1200" dirty="0">
                <a:latin typeface="BPG Courier S GPL&amp;GNU"/>
                <a:cs typeface="BPG Courier S GPL&amp;GNU"/>
              </a:rPr>
              <a:t>HelloWorld.java</a:t>
            </a:r>
            <a:endParaRPr sz="1200">
              <a:latin typeface="BPG Courier S GPL&amp;GNU"/>
              <a:cs typeface="BPG Courier S GPL&amp;GNU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69558" y="3412997"/>
            <a:ext cx="2461260" cy="352425"/>
          </a:xfrm>
          <a:prstGeom prst="rect">
            <a:avLst/>
          </a:prstGeom>
          <a:solidFill>
            <a:srgbClr val="FFFFCC"/>
          </a:solidFill>
          <a:ln w="25907">
            <a:solidFill>
              <a:srgbClr val="FFC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264160">
              <a:lnSpc>
                <a:spcPct val="100000"/>
              </a:lnSpc>
              <a:spcBef>
                <a:spcPts val="305"/>
              </a:spcBef>
            </a:pPr>
            <a:r>
              <a:rPr sz="1200" spc="-5" dirty="0">
                <a:latin typeface="BPG Courier S GPL&amp;GNU"/>
                <a:cs typeface="BPG Courier S GPL&amp;GNU"/>
              </a:rPr>
              <a:t>javac</a:t>
            </a:r>
            <a:r>
              <a:rPr sz="1200" spc="-20" dirty="0">
                <a:latin typeface="BPG Courier S GPL&amp;GNU"/>
                <a:cs typeface="BPG Courier S GPL&amp;GNU"/>
              </a:rPr>
              <a:t> </a:t>
            </a:r>
            <a:r>
              <a:rPr sz="1200" dirty="0">
                <a:latin typeface="BPG Courier S GPL&amp;GNU"/>
                <a:cs typeface="BPG Courier S GPL&amp;GNU"/>
              </a:rPr>
              <a:t>HelloWorld.java</a:t>
            </a:r>
            <a:endParaRPr sz="1200">
              <a:latin typeface="BPG Courier S GPL&amp;GNU"/>
              <a:cs typeface="BPG Courier S GPL&amp;GNU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813740" y="4104068"/>
            <a:ext cx="1572895" cy="650875"/>
            <a:chOff x="6813740" y="4104068"/>
            <a:chExt cx="1572895" cy="650875"/>
          </a:xfrm>
        </p:grpSpPr>
        <p:sp>
          <p:nvSpPr>
            <p:cNvPr id="13" name="object 13"/>
            <p:cNvSpPr/>
            <p:nvPr/>
          </p:nvSpPr>
          <p:spPr>
            <a:xfrm>
              <a:off x="6826758" y="4117085"/>
              <a:ext cx="1546860" cy="624840"/>
            </a:xfrm>
            <a:custGeom>
              <a:avLst/>
              <a:gdLst/>
              <a:ahLst/>
              <a:cxnLst/>
              <a:rect l="l" t="t" r="r" b="b"/>
              <a:pathLst>
                <a:path w="1546859" h="624839">
                  <a:moveTo>
                    <a:pt x="1546860" y="0"/>
                  </a:moveTo>
                  <a:lnTo>
                    <a:pt x="0" y="0"/>
                  </a:lnTo>
                  <a:lnTo>
                    <a:pt x="0" y="590676"/>
                  </a:lnTo>
                  <a:lnTo>
                    <a:pt x="66276" y="599585"/>
                  </a:lnTo>
                  <a:lnTo>
                    <a:pt x="128773" y="606997"/>
                  </a:lnTo>
                  <a:lnTo>
                    <a:pt x="187729" y="612988"/>
                  </a:lnTo>
                  <a:lnTo>
                    <a:pt x="243379" y="617635"/>
                  </a:lnTo>
                  <a:lnTo>
                    <a:pt x="295959" y="621012"/>
                  </a:lnTo>
                  <a:lnTo>
                    <a:pt x="345705" y="623196"/>
                  </a:lnTo>
                  <a:lnTo>
                    <a:pt x="392854" y="624262"/>
                  </a:lnTo>
                  <a:lnTo>
                    <a:pt x="437642" y="624286"/>
                  </a:lnTo>
                  <a:lnTo>
                    <a:pt x="480304" y="623343"/>
                  </a:lnTo>
                  <a:lnTo>
                    <a:pt x="521077" y="621511"/>
                  </a:lnTo>
                  <a:lnTo>
                    <a:pt x="560197" y="618863"/>
                  </a:lnTo>
                  <a:lnTo>
                    <a:pt x="634423" y="611426"/>
                  </a:lnTo>
                  <a:lnTo>
                    <a:pt x="704871" y="601638"/>
                  </a:lnTo>
                  <a:lnTo>
                    <a:pt x="773429" y="590105"/>
                  </a:lnTo>
                  <a:lnTo>
                    <a:pt x="948959" y="557615"/>
                  </a:lnTo>
                  <a:lnTo>
                    <a:pt x="986662" y="551096"/>
                  </a:lnTo>
                  <a:lnTo>
                    <a:pt x="1025782" y="544746"/>
                  </a:lnTo>
                  <a:lnTo>
                    <a:pt x="1066555" y="538642"/>
                  </a:lnTo>
                  <a:lnTo>
                    <a:pt x="1109217" y="532859"/>
                  </a:lnTo>
                  <a:lnTo>
                    <a:pt x="1154005" y="527472"/>
                  </a:lnTo>
                  <a:lnTo>
                    <a:pt x="1201154" y="522558"/>
                  </a:lnTo>
                  <a:lnTo>
                    <a:pt x="1250900" y="518192"/>
                  </a:lnTo>
                  <a:lnTo>
                    <a:pt x="1303480" y="514451"/>
                  </a:lnTo>
                  <a:lnTo>
                    <a:pt x="1359130" y="511408"/>
                  </a:lnTo>
                  <a:lnTo>
                    <a:pt x="1418086" y="509142"/>
                  </a:lnTo>
                  <a:lnTo>
                    <a:pt x="1480583" y="507726"/>
                  </a:lnTo>
                  <a:lnTo>
                    <a:pt x="1546860" y="507238"/>
                  </a:lnTo>
                  <a:lnTo>
                    <a:pt x="1546860" y="0"/>
                  </a:lnTo>
                  <a:close/>
                </a:path>
              </a:pathLst>
            </a:custGeom>
            <a:solidFill>
              <a:srgbClr val="B8C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826758" y="4117085"/>
              <a:ext cx="1546860" cy="624840"/>
            </a:xfrm>
            <a:custGeom>
              <a:avLst/>
              <a:gdLst/>
              <a:ahLst/>
              <a:cxnLst/>
              <a:rect l="l" t="t" r="r" b="b"/>
              <a:pathLst>
                <a:path w="1546859" h="624839">
                  <a:moveTo>
                    <a:pt x="0" y="0"/>
                  </a:moveTo>
                  <a:lnTo>
                    <a:pt x="1546860" y="0"/>
                  </a:lnTo>
                  <a:lnTo>
                    <a:pt x="1546860" y="507238"/>
                  </a:lnTo>
                  <a:lnTo>
                    <a:pt x="1480583" y="507726"/>
                  </a:lnTo>
                  <a:lnTo>
                    <a:pt x="1418086" y="509142"/>
                  </a:lnTo>
                  <a:lnTo>
                    <a:pt x="1359130" y="511408"/>
                  </a:lnTo>
                  <a:lnTo>
                    <a:pt x="1303480" y="514451"/>
                  </a:lnTo>
                  <a:lnTo>
                    <a:pt x="1250900" y="518192"/>
                  </a:lnTo>
                  <a:lnTo>
                    <a:pt x="1201154" y="522558"/>
                  </a:lnTo>
                  <a:lnTo>
                    <a:pt x="1154005" y="527472"/>
                  </a:lnTo>
                  <a:lnTo>
                    <a:pt x="1109217" y="532859"/>
                  </a:lnTo>
                  <a:lnTo>
                    <a:pt x="1066555" y="538642"/>
                  </a:lnTo>
                  <a:lnTo>
                    <a:pt x="1025782" y="544746"/>
                  </a:lnTo>
                  <a:lnTo>
                    <a:pt x="986662" y="551096"/>
                  </a:lnTo>
                  <a:lnTo>
                    <a:pt x="948959" y="557615"/>
                  </a:lnTo>
                  <a:lnTo>
                    <a:pt x="876858" y="570860"/>
                  </a:lnTo>
                  <a:lnTo>
                    <a:pt x="841988" y="577433"/>
                  </a:lnTo>
                  <a:lnTo>
                    <a:pt x="807591" y="583874"/>
                  </a:lnTo>
                  <a:lnTo>
                    <a:pt x="739268" y="596052"/>
                  </a:lnTo>
                  <a:lnTo>
                    <a:pt x="670001" y="606788"/>
                  </a:lnTo>
                  <a:lnTo>
                    <a:pt x="597900" y="615476"/>
                  </a:lnTo>
                  <a:lnTo>
                    <a:pt x="521077" y="621511"/>
                  </a:lnTo>
                  <a:lnTo>
                    <a:pt x="480304" y="623343"/>
                  </a:lnTo>
                  <a:lnTo>
                    <a:pt x="437642" y="624286"/>
                  </a:lnTo>
                  <a:lnTo>
                    <a:pt x="392854" y="624262"/>
                  </a:lnTo>
                  <a:lnTo>
                    <a:pt x="345705" y="623196"/>
                  </a:lnTo>
                  <a:lnTo>
                    <a:pt x="295959" y="621012"/>
                  </a:lnTo>
                  <a:lnTo>
                    <a:pt x="243379" y="617635"/>
                  </a:lnTo>
                  <a:lnTo>
                    <a:pt x="187729" y="612988"/>
                  </a:lnTo>
                  <a:lnTo>
                    <a:pt x="128773" y="606997"/>
                  </a:lnTo>
                  <a:lnTo>
                    <a:pt x="66276" y="599585"/>
                  </a:lnTo>
                  <a:lnTo>
                    <a:pt x="0" y="590676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296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022083" y="4216145"/>
            <a:ext cx="11576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HelloWorld.class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528559" y="3062477"/>
            <a:ext cx="144780" cy="351790"/>
          </a:xfrm>
          <a:custGeom>
            <a:avLst/>
            <a:gdLst/>
            <a:ahLst/>
            <a:cxnLst/>
            <a:rect l="l" t="t" r="r" b="b"/>
            <a:pathLst>
              <a:path w="144779" h="351789">
                <a:moveTo>
                  <a:pt x="57912" y="264795"/>
                </a:moveTo>
                <a:lnTo>
                  <a:pt x="0" y="264795"/>
                </a:lnTo>
                <a:lnTo>
                  <a:pt x="72390" y="351663"/>
                </a:lnTo>
                <a:lnTo>
                  <a:pt x="132715" y="279273"/>
                </a:lnTo>
                <a:lnTo>
                  <a:pt x="57912" y="279273"/>
                </a:lnTo>
                <a:lnTo>
                  <a:pt x="57912" y="264795"/>
                </a:lnTo>
                <a:close/>
              </a:path>
              <a:path w="144779" h="351789">
                <a:moveTo>
                  <a:pt x="86868" y="0"/>
                </a:moveTo>
                <a:lnTo>
                  <a:pt x="57912" y="0"/>
                </a:lnTo>
                <a:lnTo>
                  <a:pt x="57912" y="279273"/>
                </a:lnTo>
                <a:lnTo>
                  <a:pt x="86868" y="279273"/>
                </a:lnTo>
                <a:lnTo>
                  <a:pt x="86868" y="0"/>
                </a:lnTo>
                <a:close/>
              </a:path>
              <a:path w="144779" h="351789">
                <a:moveTo>
                  <a:pt x="144780" y="264795"/>
                </a:moveTo>
                <a:lnTo>
                  <a:pt x="86868" y="264795"/>
                </a:lnTo>
                <a:lnTo>
                  <a:pt x="86868" y="279273"/>
                </a:lnTo>
                <a:lnTo>
                  <a:pt x="132715" y="279273"/>
                </a:lnTo>
                <a:lnTo>
                  <a:pt x="144780" y="2647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528560" y="3765041"/>
            <a:ext cx="144780" cy="1336675"/>
          </a:xfrm>
          <a:custGeom>
            <a:avLst/>
            <a:gdLst/>
            <a:ahLst/>
            <a:cxnLst/>
            <a:rect l="l" t="t" r="r" b="b"/>
            <a:pathLst>
              <a:path w="144779" h="1336675">
                <a:moveTo>
                  <a:pt x="144780" y="1249299"/>
                </a:moveTo>
                <a:lnTo>
                  <a:pt x="86868" y="1249299"/>
                </a:lnTo>
                <a:lnTo>
                  <a:pt x="86868" y="984504"/>
                </a:lnTo>
                <a:lnTo>
                  <a:pt x="57912" y="984504"/>
                </a:lnTo>
                <a:lnTo>
                  <a:pt x="57912" y="1249299"/>
                </a:lnTo>
                <a:lnTo>
                  <a:pt x="0" y="1249299"/>
                </a:lnTo>
                <a:lnTo>
                  <a:pt x="72390" y="1336167"/>
                </a:lnTo>
                <a:lnTo>
                  <a:pt x="132715" y="1263777"/>
                </a:lnTo>
                <a:lnTo>
                  <a:pt x="144780" y="1249299"/>
                </a:lnTo>
                <a:close/>
              </a:path>
              <a:path w="144779" h="1336675">
                <a:moveTo>
                  <a:pt x="144780" y="264795"/>
                </a:moveTo>
                <a:lnTo>
                  <a:pt x="86868" y="264795"/>
                </a:lnTo>
                <a:lnTo>
                  <a:pt x="86868" y="0"/>
                </a:lnTo>
                <a:lnTo>
                  <a:pt x="57912" y="0"/>
                </a:lnTo>
                <a:lnTo>
                  <a:pt x="57912" y="264795"/>
                </a:lnTo>
                <a:lnTo>
                  <a:pt x="0" y="264795"/>
                </a:lnTo>
                <a:lnTo>
                  <a:pt x="72390" y="351663"/>
                </a:lnTo>
                <a:lnTo>
                  <a:pt x="132715" y="279273"/>
                </a:lnTo>
                <a:lnTo>
                  <a:pt x="144780" y="2647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544818" y="5101590"/>
            <a:ext cx="2040889" cy="352425"/>
          </a:xfrm>
          <a:prstGeom prst="rect">
            <a:avLst/>
          </a:prstGeom>
          <a:solidFill>
            <a:srgbClr val="FFFFCC"/>
          </a:solidFill>
          <a:ln w="25907">
            <a:solidFill>
              <a:srgbClr val="FFC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330200">
              <a:lnSpc>
                <a:spcPct val="100000"/>
              </a:lnSpc>
              <a:spcBef>
                <a:spcPts val="305"/>
              </a:spcBef>
            </a:pPr>
            <a:r>
              <a:rPr sz="1200" spc="-5" dirty="0">
                <a:latin typeface="BPG Courier S GPL&amp;GNU"/>
                <a:cs typeface="BPG Courier S GPL&amp;GNU"/>
              </a:rPr>
              <a:t>java</a:t>
            </a:r>
            <a:r>
              <a:rPr sz="1200" spc="-25" dirty="0">
                <a:latin typeface="BPG Courier S GPL&amp;GNU"/>
                <a:cs typeface="BPG Courier S GPL&amp;GNU"/>
              </a:rPr>
              <a:t> </a:t>
            </a:r>
            <a:r>
              <a:rPr sz="1200" dirty="0">
                <a:latin typeface="BPG Courier S GPL&amp;GNU"/>
                <a:cs typeface="BPG Courier S GPL&amp;GNU"/>
              </a:rPr>
              <a:t>HelloWorld</a:t>
            </a:r>
            <a:endParaRPr sz="1200">
              <a:latin typeface="BPG Courier S GPL&amp;GNU"/>
              <a:cs typeface="BPG Courier S GPL&amp;GNU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989000" y="5792660"/>
            <a:ext cx="1222375" cy="518795"/>
            <a:chOff x="6989000" y="5792660"/>
            <a:chExt cx="1222375" cy="518795"/>
          </a:xfrm>
        </p:grpSpPr>
        <p:sp>
          <p:nvSpPr>
            <p:cNvPr id="20" name="object 20"/>
            <p:cNvSpPr/>
            <p:nvPr/>
          </p:nvSpPr>
          <p:spPr>
            <a:xfrm>
              <a:off x="7002018" y="5805677"/>
              <a:ext cx="1196340" cy="492759"/>
            </a:xfrm>
            <a:custGeom>
              <a:avLst/>
              <a:gdLst/>
              <a:ahLst/>
              <a:cxnLst/>
              <a:rect l="l" t="t" r="r" b="b"/>
              <a:pathLst>
                <a:path w="1196340" h="492760">
                  <a:moveTo>
                    <a:pt x="1114298" y="0"/>
                  </a:moveTo>
                  <a:lnTo>
                    <a:pt x="82041" y="0"/>
                  </a:lnTo>
                  <a:lnTo>
                    <a:pt x="50095" y="6446"/>
                  </a:lnTo>
                  <a:lnTo>
                    <a:pt x="24018" y="24028"/>
                  </a:lnTo>
                  <a:lnTo>
                    <a:pt x="6443" y="50106"/>
                  </a:lnTo>
                  <a:lnTo>
                    <a:pt x="0" y="82042"/>
                  </a:lnTo>
                  <a:lnTo>
                    <a:pt x="0" y="410210"/>
                  </a:lnTo>
                  <a:lnTo>
                    <a:pt x="6443" y="442145"/>
                  </a:lnTo>
                  <a:lnTo>
                    <a:pt x="24018" y="468223"/>
                  </a:lnTo>
                  <a:lnTo>
                    <a:pt x="50095" y="485805"/>
                  </a:lnTo>
                  <a:lnTo>
                    <a:pt x="82041" y="492252"/>
                  </a:lnTo>
                  <a:lnTo>
                    <a:pt x="1114298" y="492252"/>
                  </a:lnTo>
                  <a:lnTo>
                    <a:pt x="1146244" y="485805"/>
                  </a:lnTo>
                  <a:lnTo>
                    <a:pt x="1172321" y="468223"/>
                  </a:lnTo>
                  <a:lnTo>
                    <a:pt x="1189896" y="442145"/>
                  </a:lnTo>
                  <a:lnTo>
                    <a:pt x="1196339" y="410210"/>
                  </a:lnTo>
                  <a:lnTo>
                    <a:pt x="1196339" y="82042"/>
                  </a:lnTo>
                  <a:lnTo>
                    <a:pt x="1189896" y="50106"/>
                  </a:lnTo>
                  <a:lnTo>
                    <a:pt x="1172321" y="24028"/>
                  </a:lnTo>
                  <a:lnTo>
                    <a:pt x="1146244" y="6446"/>
                  </a:lnTo>
                  <a:lnTo>
                    <a:pt x="1114298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02018" y="5805677"/>
              <a:ext cx="1196340" cy="492759"/>
            </a:xfrm>
            <a:custGeom>
              <a:avLst/>
              <a:gdLst/>
              <a:ahLst/>
              <a:cxnLst/>
              <a:rect l="l" t="t" r="r" b="b"/>
              <a:pathLst>
                <a:path w="1196340" h="492760">
                  <a:moveTo>
                    <a:pt x="0" y="82042"/>
                  </a:moveTo>
                  <a:lnTo>
                    <a:pt x="6443" y="50106"/>
                  </a:lnTo>
                  <a:lnTo>
                    <a:pt x="24018" y="24028"/>
                  </a:lnTo>
                  <a:lnTo>
                    <a:pt x="50095" y="6446"/>
                  </a:lnTo>
                  <a:lnTo>
                    <a:pt x="82041" y="0"/>
                  </a:lnTo>
                  <a:lnTo>
                    <a:pt x="1114298" y="0"/>
                  </a:lnTo>
                  <a:lnTo>
                    <a:pt x="1146244" y="6446"/>
                  </a:lnTo>
                  <a:lnTo>
                    <a:pt x="1172321" y="24028"/>
                  </a:lnTo>
                  <a:lnTo>
                    <a:pt x="1189896" y="50106"/>
                  </a:lnTo>
                  <a:lnTo>
                    <a:pt x="1196339" y="82042"/>
                  </a:lnTo>
                  <a:lnTo>
                    <a:pt x="1196339" y="410210"/>
                  </a:lnTo>
                  <a:lnTo>
                    <a:pt x="1189896" y="442145"/>
                  </a:lnTo>
                  <a:lnTo>
                    <a:pt x="1172321" y="468223"/>
                  </a:lnTo>
                  <a:lnTo>
                    <a:pt x="1146244" y="485805"/>
                  </a:lnTo>
                  <a:lnTo>
                    <a:pt x="1114298" y="492252"/>
                  </a:lnTo>
                  <a:lnTo>
                    <a:pt x="82041" y="492252"/>
                  </a:lnTo>
                  <a:lnTo>
                    <a:pt x="50095" y="485805"/>
                  </a:lnTo>
                  <a:lnTo>
                    <a:pt x="24018" y="468223"/>
                  </a:lnTo>
                  <a:lnTo>
                    <a:pt x="6443" y="442145"/>
                  </a:lnTo>
                  <a:lnTo>
                    <a:pt x="0" y="410210"/>
                  </a:lnTo>
                  <a:lnTo>
                    <a:pt x="0" y="82042"/>
                  </a:lnTo>
                  <a:close/>
                </a:path>
              </a:pathLst>
            </a:custGeom>
            <a:ln w="25908">
              <a:solidFill>
                <a:srgbClr val="006E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375017" y="5923889"/>
            <a:ext cx="451484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"/>
                <a:cs typeface="Arial"/>
              </a:rPr>
              <a:t>o</a:t>
            </a:r>
            <a:r>
              <a:rPr sz="1200" spc="5" dirty="0">
                <a:latin typeface="Arial"/>
                <a:cs typeface="Arial"/>
              </a:rPr>
              <a:t>u</a:t>
            </a:r>
            <a:r>
              <a:rPr sz="1200" dirty="0">
                <a:latin typeface="Arial"/>
                <a:cs typeface="Arial"/>
              </a:rPr>
              <a:t>tput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528559" y="5453634"/>
            <a:ext cx="144780" cy="351790"/>
          </a:xfrm>
          <a:custGeom>
            <a:avLst/>
            <a:gdLst/>
            <a:ahLst/>
            <a:cxnLst/>
            <a:rect l="l" t="t" r="r" b="b"/>
            <a:pathLst>
              <a:path w="144779" h="351789">
                <a:moveTo>
                  <a:pt x="57912" y="264820"/>
                </a:moveTo>
                <a:lnTo>
                  <a:pt x="0" y="264820"/>
                </a:lnTo>
                <a:lnTo>
                  <a:pt x="72390" y="351688"/>
                </a:lnTo>
                <a:lnTo>
                  <a:pt x="132715" y="279298"/>
                </a:lnTo>
                <a:lnTo>
                  <a:pt x="57912" y="279298"/>
                </a:lnTo>
                <a:lnTo>
                  <a:pt x="57912" y="264820"/>
                </a:lnTo>
                <a:close/>
              </a:path>
              <a:path w="144779" h="351789">
                <a:moveTo>
                  <a:pt x="86868" y="0"/>
                </a:moveTo>
                <a:lnTo>
                  <a:pt x="57912" y="0"/>
                </a:lnTo>
                <a:lnTo>
                  <a:pt x="57912" y="279298"/>
                </a:lnTo>
                <a:lnTo>
                  <a:pt x="86868" y="279298"/>
                </a:lnTo>
                <a:lnTo>
                  <a:pt x="86868" y="0"/>
                </a:lnTo>
                <a:close/>
              </a:path>
              <a:path w="144779" h="351789">
                <a:moveTo>
                  <a:pt x="144780" y="264820"/>
                </a:moveTo>
                <a:lnTo>
                  <a:pt x="86868" y="264820"/>
                </a:lnTo>
                <a:lnTo>
                  <a:pt x="86868" y="279298"/>
                </a:lnTo>
                <a:lnTo>
                  <a:pt x="132715" y="279298"/>
                </a:lnTo>
                <a:lnTo>
                  <a:pt x="144780" y="2648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85800" y="3403091"/>
            <a:ext cx="5321808" cy="30449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Lecture : OOP Part</a:t>
            </a:r>
            <a:r>
              <a:rPr spc="-165" dirty="0"/>
              <a:t> </a:t>
            </a:r>
            <a:r>
              <a:rPr dirty="0"/>
              <a:t>1]  </a:t>
            </a:r>
            <a:r>
              <a:rPr spc="-135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8901683" y="6542327"/>
            <a:ext cx="189230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5</a:t>
            </a:fld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3444" y="1540890"/>
            <a:ext cx="373062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10" dirty="0">
                <a:solidFill>
                  <a:srgbClr val="C00000"/>
                </a:solidFill>
                <a:latin typeface="Trebuchet MS"/>
                <a:cs typeface="Trebuchet MS"/>
              </a:rPr>
              <a:t>2. </a:t>
            </a:r>
            <a:r>
              <a:rPr sz="4400" spc="30" dirty="0">
                <a:solidFill>
                  <a:srgbClr val="003399"/>
                </a:solidFill>
                <a:latin typeface="Trebuchet MS"/>
                <a:cs typeface="Trebuchet MS"/>
              </a:rPr>
              <a:t>API</a:t>
            </a:r>
            <a:r>
              <a:rPr sz="4400" spc="-80" dirty="0">
                <a:solidFill>
                  <a:srgbClr val="003399"/>
                </a:solidFill>
                <a:latin typeface="Trebuchet MS"/>
                <a:cs typeface="Trebuchet MS"/>
              </a:rPr>
              <a:t> </a:t>
            </a:r>
            <a:r>
              <a:rPr sz="4400" spc="-25" dirty="0">
                <a:solidFill>
                  <a:srgbClr val="003399"/>
                </a:solidFill>
                <a:latin typeface="Trebuchet MS"/>
                <a:cs typeface="Trebuchet MS"/>
              </a:rPr>
              <a:t>(Revisit)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4900" marR="5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Application </a:t>
            </a:r>
            <a:r>
              <a:rPr dirty="0"/>
              <a:t>Programming Interface –  Where you </a:t>
            </a:r>
            <a:r>
              <a:rPr spc="-5" dirty="0"/>
              <a:t>find service</a:t>
            </a:r>
            <a:r>
              <a:rPr spc="-40" dirty="0"/>
              <a:t> </a:t>
            </a:r>
            <a:r>
              <a:rPr spc="-5" dirty="0"/>
              <a:t>classes</a:t>
            </a:r>
          </a:p>
        </p:txBody>
      </p:sp>
      <p:sp>
        <p:nvSpPr>
          <p:cNvPr id="4" name="object 4"/>
          <p:cNvSpPr/>
          <p:nvPr/>
        </p:nvSpPr>
        <p:spPr>
          <a:xfrm>
            <a:off x="5181600" y="1652016"/>
            <a:ext cx="2590800" cy="18577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48158"/>
            <a:ext cx="36055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Java</a:t>
            </a:r>
            <a:r>
              <a:rPr spc="-80" dirty="0"/>
              <a:t> </a:t>
            </a:r>
            <a:r>
              <a:rPr spc="40" dirty="0"/>
              <a:t>Programmer</a:t>
            </a:r>
          </a:p>
        </p:txBody>
      </p:sp>
      <p:sp>
        <p:nvSpPr>
          <p:cNvPr id="3" name="object 3"/>
          <p:cNvSpPr/>
          <p:nvPr/>
        </p:nvSpPr>
        <p:spPr>
          <a:xfrm>
            <a:off x="163068" y="187452"/>
            <a:ext cx="523240" cy="1184275"/>
          </a:xfrm>
          <a:custGeom>
            <a:avLst/>
            <a:gdLst/>
            <a:ahLst/>
            <a:cxnLst/>
            <a:rect l="l" t="t" r="r" b="b"/>
            <a:pathLst>
              <a:path w="523240" h="1184275">
                <a:moveTo>
                  <a:pt x="522731" y="0"/>
                </a:moveTo>
                <a:lnTo>
                  <a:pt x="0" y="0"/>
                </a:lnTo>
                <a:lnTo>
                  <a:pt x="0" y="1184148"/>
                </a:lnTo>
                <a:lnTo>
                  <a:pt x="522731" y="1184148"/>
                </a:lnTo>
                <a:lnTo>
                  <a:pt x="522731" y="0"/>
                </a:lnTo>
                <a:close/>
              </a:path>
            </a:pathLst>
          </a:custGeom>
          <a:solidFill>
            <a:srgbClr val="FFCC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44239" y="328344"/>
            <a:ext cx="381000" cy="9652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990"/>
              </a:lnSpc>
            </a:pPr>
            <a:r>
              <a:rPr sz="2800" dirty="0">
                <a:solidFill>
                  <a:srgbClr val="C00000"/>
                </a:solidFill>
                <a:latin typeface="Trebuchet MS"/>
                <a:cs typeface="Trebuchet MS"/>
              </a:rPr>
              <a:t>2.</a:t>
            </a:r>
            <a:r>
              <a:rPr sz="2800" spc="-8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800" spc="15" dirty="0">
                <a:solidFill>
                  <a:srgbClr val="000099"/>
                </a:solidFill>
                <a:latin typeface="Trebuchet MS"/>
                <a:cs typeface="Trebuchet MS"/>
              </a:rPr>
              <a:t>API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23608" y="778763"/>
            <a:ext cx="6416675" cy="3799840"/>
            <a:chOff x="423608" y="778763"/>
            <a:chExt cx="6416675" cy="3799840"/>
          </a:xfrm>
        </p:grpSpPr>
        <p:sp>
          <p:nvSpPr>
            <p:cNvPr id="6" name="object 6"/>
            <p:cNvSpPr/>
            <p:nvPr/>
          </p:nvSpPr>
          <p:spPr>
            <a:xfrm>
              <a:off x="4876799" y="778763"/>
              <a:ext cx="1962911" cy="23347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36625" y="1809241"/>
              <a:ext cx="5073650" cy="2755900"/>
            </a:xfrm>
            <a:custGeom>
              <a:avLst/>
              <a:gdLst/>
              <a:ahLst/>
              <a:cxnLst/>
              <a:rect l="l" t="t" r="r" b="b"/>
              <a:pathLst>
                <a:path w="5073650" h="2755900">
                  <a:moveTo>
                    <a:pt x="5073269" y="0"/>
                  </a:moveTo>
                  <a:lnTo>
                    <a:pt x="3983736" y="878840"/>
                  </a:lnTo>
                  <a:lnTo>
                    <a:pt x="3983736" y="503428"/>
                  </a:lnTo>
                  <a:lnTo>
                    <a:pt x="0" y="503428"/>
                  </a:lnTo>
                  <a:lnTo>
                    <a:pt x="0" y="2755900"/>
                  </a:lnTo>
                  <a:lnTo>
                    <a:pt x="3983736" y="2755900"/>
                  </a:lnTo>
                  <a:lnTo>
                    <a:pt x="3983736" y="1441958"/>
                  </a:lnTo>
                  <a:lnTo>
                    <a:pt x="50732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6625" y="1809241"/>
              <a:ext cx="5073650" cy="2755900"/>
            </a:xfrm>
            <a:custGeom>
              <a:avLst/>
              <a:gdLst/>
              <a:ahLst/>
              <a:cxnLst/>
              <a:rect l="l" t="t" r="r" b="b"/>
              <a:pathLst>
                <a:path w="5073650" h="2755900">
                  <a:moveTo>
                    <a:pt x="0" y="503428"/>
                  </a:moveTo>
                  <a:lnTo>
                    <a:pt x="2323846" y="503428"/>
                  </a:lnTo>
                  <a:lnTo>
                    <a:pt x="3319779" y="503428"/>
                  </a:lnTo>
                  <a:lnTo>
                    <a:pt x="3983736" y="503428"/>
                  </a:lnTo>
                  <a:lnTo>
                    <a:pt x="3983736" y="878840"/>
                  </a:lnTo>
                  <a:lnTo>
                    <a:pt x="5073269" y="0"/>
                  </a:lnTo>
                  <a:lnTo>
                    <a:pt x="3983736" y="1441958"/>
                  </a:lnTo>
                  <a:lnTo>
                    <a:pt x="3983736" y="2755900"/>
                  </a:lnTo>
                  <a:lnTo>
                    <a:pt x="3319779" y="2755900"/>
                  </a:lnTo>
                  <a:lnTo>
                    <a:pt x="2323846" y="2755900"/>
                  </a:lnTo>
                  <a:lnTo>
                    <a:pt x="0" y="2755900"/>
                  </a:lnTo>
                  <a:lnTo>
                    <a:pt x="0" y="1441958"/>
                  </a:lnTo>
                  <a:lnTo>
                    <a:pt x="0" y="878840"/>
                  </a:lnTo>
                  <a:lnTo>
                    <a:pt x="0" y="503428"/>
                  </a:lnTo>
                  <a:close/>
                </a:path>
              </a:pathLst>
            </a:custGeom>
            <a:ln w="25908">
              <a:solidFill>
                <a:srgbClr val="BBBB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7199" y="2311908"/>
              <a:ext cx="3939540" cy="225247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73581" y="1152905"/>
            <a:ext cx="2509520" cy="1006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Carlito"/>
                <a:cs typeface="Carlito"/>
              </a:rPr>
              <a:t>API</a:t>
            </a:r>
            <a:r>
              <a:rPr sz="2400" i="1" spc="-35" dirty="0">
                <a:latin typeface="Carlito"/>
                <a:cs typeface="Carlito"/>
              </a:rPr>
              <a:t> </a:t>
            </a:r>
            <a:r>
              <a:rPr sz="2400" i="1" spc="-5" dirty="0">
                <a:latin typeface="Carlito"/>
                <a:cs typeface="Carlito"/>
              </a:rPr>
              <a:t>Specification</a:t>
            </a:r>
            <a:endParaRPr sz="2400">
              <a:latin typeface="Carlito"/>
              <a:cs typeface="Carlito"/>
            </a:endParaRPr>
          </a:p>
          <a:p>
            <a:pPr algn="ctr">
              <a:lnSpc>
                <a:spcPts val="2370"/>
              </a:lnSpc>
              <a:spcBef>
                <a:spcPts val="100"/>
              </a:spcBef>
            </a:pPr>
            <a:r>
              <a:rPr sz="2000" u="heavy" spc="-5" dirty="0">
                <a:solidFill>
                  <a:srgbClr val="002571"/>
                </a:solidFill>
                <a:uFill>
                  <a:solidFill>
                    <a:srgbClr val="002571"/>
                  </a:solidFill>
                </a:uFill>
                <a:latin typeface="Arial"/>
                <a:cs typeface="Arial"/>
                <a:hlinkClick r:id="rId4"/>
              </a:rPr>
              <a:t>http://docs.oracle.com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ts val="2370"/>
              </a:lnSpc>
            </a:pPr>
            <a:r>
              <a:rPr sz="2000" u="heavy" dirty="0">
                <a:solidFill>
                  <a:srgbClr val="002571"/>
                </a:solidFill>
                <a:uFill>
                  <a:solidFill>
                    <a:srgbClr val="002571"/>
                  </a:solidFill>
                </a:uFill>
                <a:latin typeface="Arial"/>
                <a:cs typeface="Arial"/>
                <a:hlinkClick r:id="rId4"/>
              </a:rPr>
              <a:t>/javase/7/docs/api/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901946" y="3353561"/>
            <a:ext cx="3810000" cy="2862580"/>
          </a:xfrm>
          <a:custGeom>
            <a:avLst/>
            <a:gdLst/>
            <a:ahLst/>
            <a:cxnLst/>
            <a:rect l="l" t="t" r="r" b="b"/>
            <a:pathLst>
              <a:path w="3810000" h="2862579">
                <a:moveTo>
                  <a:pt x="3810000" y="0"/>
                </a:moveTo>
                <a:lnTo>
                  <a:pt x="0" y="0"/>
                </a:lnTo>
                <a:lnTo>
                  <a:pt x="0" y="2862072"/>
                </a:lnTo>
                <a:lnTo>
                  <a:pt x="3810000" y="2862072"/>
                </a:lnTo>
                <a:lnTo>
                  <a:pt x="3810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901946" y="3353561"/>
            <a:ext cx="3810000" cy="2862580"/>
          </a:xfrm>
          <a:prstGeom prst="rect">
            <a:avLst/>
          </a:prstGeom>
          <a:ln w="25907">
            <a:solidFill>
              <a:srgbClr val="446146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90170">
              <a:lnSpc>
                <a:spcPts val="2865"/>
              </a:lnSpc>
              <a:spcBef>
                <a:spcPts val="300"/>
              </a:spcBef>
            </a:pPr>
            <a:r>
              <a:rPr sz="2400" spc="-5" dirty="0">
                <a:latin typeface="Arial"/>
                <a:cs typeface="Arial"/>
              </a:rPr>
              <a:t>Last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week:</a:t>
            </a:r>
            <a:endParaRPr sz="2400">
              <a:latin typeface="Arial"/>
              <a:cs typeface="Arial"/>
            </a:endParaRPr>
          </a:p>
          <a:p>
            <a:pPr marL="90170">
              <a:lnSpc>
                <a:spcPts val="3825"/>
              </a:lnSpc>
            </a:pPr>
            <a:r>
              <a:rPr sz="3200" dirty="0">
                <a:solidFill>
                  <a:srgbClr val="C00000"/>
                </a:solidFill>
                <a:latin typeface="Arial"/>
                <a:cs typeface="Arial"/>
              </a:rPr>
              <a:t>Scanner</a:t>
            </a:r>
            <a:r>
              <a:rPr sz="3200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class</a:t>
            </a:r>
            <a:endParaRPr sz="3200">
              <a:latin typeface="Arial"/>
              <a:cs typeface="Arial"/>
            </a:endParaRPr>
          </a:p>
          <a:p>
            <a:pPr marL="90170" marR="1610995">
              <a:lnSpc>
                <a:spcPct val="100000"/>
              </a:lnSpc>
            </a:pPr>
            <a:r>
              <a:rPr sz="3200" dirty="0">
                <a:solidFill>
                  <a:srgbClr val="C00000"/>
                </a:solidFill>
                <a:latin typeface="Arial"/>
                <a:cs typeface="Arial"/>
              </a:rPr>
              <a:t>String</a:t>
            </a:r>
            <a:r>
              <a:rPr sz="3200" spc="-10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class  </a:t>
            </a:r>
            <a:r>
              <a:rPr sz="3200" dirty="0">
                <a:solidFill>
                  <a:srgbClr val="C00000"/>
                </a:solidFill>
                <a:latin typeface="Arial"/>
                <a:cs typeface="Arial"/>
              </a:rPr>
              <a:t>Math</a:t>
            </a:r>
            <a:r>
              <a:rPr sz="3200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class</a:t>
            </a:r>
            <a:endParaRPr sz="3200">
              <a:latin typeface="Arial"/>
              <a:cs typeface="Arial"/>
            </a:endParaRPr>
          </a:p>
          <a:p>
            <a:pPr marL="90170" marR="1052830">
              <a:lnSpc>
                <a:spcPct val="100000"/>
              </a:lnSpc>
              <a:spcBef>
                <a:spcPts val="1475"/>
              </a:spcBef>
            </a:pPr>
            <a:r>
              <a:rPr sz="2400" i="1" spc="-5" dirty="0">
                <a:latin typeface="Arial"/>
                <a:cs typeface="Arial"/>
              </a:rPr>
              <a:t>And </a:t>
            </a:r>
            <a:r>
              <a:rPr sz="2400" i="1" dirty="0">
                <a:latin typeface="Arial"/>
                <a:cs typeface="Arial"/>
              </a:rPr>
              <a:t>from </a:t>
            </a:r>
            <a:r>
              <a:rPr sz="2400" i="1" spc="-5" dirty="0">
                <a:latin typeface="Arial"/>
                <a:cs typeface="Arial"/>
              </a:rPr>
              <a:t>now on,  </a:t>
            </a:r>
            <a:r>
              <a:rPr sz="2400" i="1" spc="-10" dirty="0">
                <a:solidFill>
                  <a:srgbClr val="0000FF"/>
                </a:solidFill>
                <a:latin typeface="Arial"/>
                <a:cs typeface="Arial"/>
              </a:rPr>
              <a:t>many many</a:t>
            </a:r>
            <a:r>
              <a:rPr sz="2400" i="1" spc="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0000FF"/>
                </a:solidFill>
                <a:latin typeface="Arial"/>
                <a:cs typeface="Arial"/>
              </a:rPr>
              <a:t>more</a:t>
            </a:r>
            <a:r>
              <a:rPr sz="2400" i="1" spc="-10" dirty="0">
                <a:latin typeface="Arial"/>
                <a:cs typeface="Arial"/>
              </a:rPr>
              <a:t>…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199376" y="3784091"/>
            <a:ext cx="1260475" cy="1379220"/>
            <a:chOff x="7199376" y="3784091"/>
            <a:chExt cx="1260475" cy="1379220"/>
          </a:xfrm>
        </p:grpSpPr>
        <p:sp>
          <p:nvSpPr>
            <p:cNvPr id="14" name="object 14"/>
            <p:cNvSpPr/>
            <p:nvPr/>
          </p:nvSpPr>
          <p:spPr>
            <a:xfrm>
              <a:off x="7620000" y="3784091"/>
              <a:ext cx="839724" cy="36271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199376" y="4297679"/>
              <a:ext cx="841248" cy="36271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199376" y="4800599"/>
              <a:ext cx="841248" cy="36271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</a:t>
            </a:r>
            <a:r>
              <a:rPr spc="5" dirty="0"/>
              <a:t>Lecture </a:t>
            </a:r>
            <a:r>
              <a:rPr dirty="0"/>
              <a:t>: OOP Part</a:t>
            </a:r>
            <a:r>
              <a:rPr spc="-190" dirty="0"/>
              <a:t> </a:t>
            </a:r>
            <a:r>
              <a:rPr dirty="0"/>
              <a:t>1]  </a:t>
            </a:r>
            <a:r>
              <a:rPr spc="-130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7</a:t>
            </a:fld>
            <a:endParaRPr spc="-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48158"/>
            <a:ext cx="62128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50" dirty="0">
                <a:uFill>
                  <a:solidFill>
                    <a:srgbClr val="003399"/>
                  </a:solidFill>
                </a:uFill>
              </a:rPr>
              <a:t>Scanner</a:t>
            </a:r>
            <a:r>
              <a:rPr spc="50" dirty="0"/>
              <a:t> </a:t>
            </a:r>
            <a:r>
              <a:rPr spc="25" dirty="0"/>
              <a:t>Class: </a:t>
            </a:r>
            <a:r>
              <a:rPr spc="20" dirty="0"/>
              <a:t>Reading</a:t>
            </a:r>
            <a:r>
              <a:rPr spc="-204" dirty="0"/>
              <a:t> </a:t>
            </a:r>
            <a:r>
              <a:rPr spc="30" dirty="0"/>
              <a:t>Inputs</a:t>
            </a:r>
          </a:p>
        </p:txBody>
      </p:sp>
      <p:sp>
        <p:nvSpPr>
          <p:cNvPr id="3" name="object 3"/>
          <p:cNvSpPr/>
          <p:nvPr/>
        </p:nvSpPr>
        <p:spPr>
          <a:xfrm>
            <a:off x="163068" y="187452"/>
            <a:ext cx="523240" cy="1184275"/>
          </a:xfrm>
          <a:custGeom>
            <a:avLst/>
            <a:gdLst/>
            <a:ahLst/>
            <a:cxnLst/>
            <a:rect l="l" t="t" r="r" b="b"/>
            <a:pathLst>
              <a:path w="523240" h="1184275">
                <a:moveTo>
                  <a:pt x="522731" y="0"/>
                </a:moveTo>
                <a:lnTo>
                  <a:pt x="0" y="0"/>
                </a:lnTo>
                <a:lnTo>
                  <a:pt x="0" y="1184148"/>
                </a:lnTo>
                <a:lnTo>
                  <a:pt x="522731" y="1184148"/>
                </a:lnTo>
                <a:lnTo>
                  <a:pt x="522731" y="0"/>
                </a:lnTo>
                <a:close/>
              </a:path>
            </a:pathLst>
          </a:custGeom>
          <a:solidFill>
            <a:srgbClr val="FFCC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44239" y="328344"/>
            <a:ext cx="381000" cy="9652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990"/>
              </a:lnSpc>
            </a:pPr>
            <a:r>
              <a:rPr sz="2800" dirty="0">
                <a:solidFill>
                  <a:srgbClr val="C00000"/>
                </a:solidFill>
                <a:latin typeface="Trebuchet MS"/>
                <a:cs typeface="Trebuchet MS"/>
              </a:rPr>
              <a:t>2.</a:t>
            </a:r>
            <a:r>
              <a:rPr sz="2800" spc="-8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800" spc="15" dirty="0">
                <a:solidFill>
                  <a:srgbClr val="000099"/>
                </a:solidFill>
                <a:latin typeface="Trebuchet MS"/>
                <a:cs typeface="Trebuchet MS"/>
              </a:rPr>
              <a:t>API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940053"/>
            <a:ext cx="77082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API documentation</a:t>
            </a:r>
            <a:endParaRPr sz="2400">
              <a:latin typeface="Arial"/>
              <a:cs typeface="Arial"/>
            </a:endParaRPr>
          </a:p>
          <a:p>
            <a:pPr marL="683260" lvl="1" indent="-327025">
              <a:lnSpc>
                <a:spcPct val="100000"/>
              </a:lnSpc>
              <a:buClr>
                <a:srgbClr val="4B6C4E"/>
              </a:buClr>
              <a:buSzPct val="60000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000" u="heavy" spc="-5" dirty="0">
                <a:solidFill>
                  <a:srgbClr val="002571"/>
                </a:solidFill>
                <a:uFill>
                  <a:solidFill>
                    <a:srgbClr val="002571"/>
                  </a:solidFill>
                </a:uFill>
                <a:latin typeface="Arial"/>
                <a:cs typeface="Arial"/>
                <a:hlinkClick r:id="rId2"/>
              </a:rPr>
              <a:t>http://docs.oracle.com/javase/7/docs/api/java/util/Scanner.html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540" y="1610995"/>
            <a:ext cx="3568065" cy="833119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0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dirty="0">
                <a:latin typeface="Arial"/>
                <a:cs typeface="Arial"/>
              </a:rPr>
              <a:t>For </a:t>
            </a:r>
            <a:r>
              <a:rPr sz="2400" spc="-5" dirty="0">
                <a:latin typeface="Arial"/>
                <a:cs typeface="Arial"/>
              </a:rPr>
              <a:t>reading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input</a:t>
            </a:r>
            <a:endParaRPr sz="24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30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dirty="0">
                <a:latin typeface="Arial"/>
                <a:cs typeface="Arial"/>
              </a:rPr>
              <a:t>Import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00099"/>
                </a:solidFill>
                <a:latin typeface="Arial"/>
                <a:cs typeface="Arial"/>
              </a:rPr>
              <a:t>java.util.Scanner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88784" y="2590800"/>
            <a:ext cx="7731759" cy="3811904"/>
            <a:chOff x="688784" y="2590800"/>
            <a:chExt cx="7731759" cy="3811904"/>
          </a:xfrm>
        </p:grpSpPr>
        <p:sp>
          <p:nvSpPr>
            <p:cNvPr id="8" name="object 8"/>
            <p:cNvSpPr/>
            <p:nvPr/>
          </p:nvSpPr>
          <p:spPr>
            <a:xfrm>
              <a:off x="3299838" y="2590800"/>
              <a:ext cx="5120261" cy="38115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01802" y="2777489"/>
              <a:ext cx="2209800" cy="1940560"/>
            </a:xfrm>
            <a:custGeom>
              <a:avLst/>
              <a:gdLst/>
              <a:ahLst/>
              <a:cxnLst/>
              <a:rect l="l" t="t" r="r" b="b"/>
              <a:pathLst>
                <a:path w="2209800" h="1940560">
                  <a:moveTo>
                    <a:pt x="2209800" y="0"/>
                  </a:moveTo>
                  <a:lnTo>
                    <a:pt x="0" y="0"/>
                  </a:lnTo>
                  <a:lnTo>
                    <a:pt x="0" y="1940051"/>
                  </a:lnTo>
                  <a:lnTo>
                    <a:pt x="2209800" y="1940051"/>
                  </a:lnTo>
                  <a:lnTo>
                    <a:pt x="2209800" y="0"/>
                  </a:lnTo>
                  <a:close/>
                </a:path>
              </a:pathLst>
            </a:custGeom>
            <a:solidFill>
              <a:srgbClr val="FF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01802" y="2777489"/>
              <a:ext cx="2209800" cy="1940560"/>
            </a:xfrm>
            <a:custGeom>
              <a:avLst/>
              <a:gdLst/>
              <a:ahLst/>
              <a:cxnLst/>
              <a:rect l="l" t="t" r="r" b="b"/>
              <a:pathLst>
                <a:path w="2209800" h="1940560">
                  <a:moveTo>
                    <a:pt x="0" y="1940051"/>
                  </a:moveTo>
                  <a:lnTo>
                    <a:pt x="2209800" y="1940051"/>
                  </a:lnTo>
                  <a:lnTo>
                    <a:pt x="2209800" y="0"/>
                  </a:lnTo>
                  <a:lnTo>
                    <a:pt x="0" y="0"/>
                  </a:lnTo>
                  <a:lnTo>
                    <a:pt x="0" y="1940051"/>
                  </a:lnTo>
                  <a:close/>
                </a:path>
              </a:pathLst>
            </a:custGeom>
            <a:ln w="25908">
              <a:solidFill>
                <a:srgbClr val="CC6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01801" y="2777489"/>
            <a:ext cx="2209800" cy="1685925"/>
          </a:xfrm>
          <a:prstGeom prst="rect">
            <a:avLst/>
          </a:prstGeom>
          <a:ln w="25908">
            <a:solidFill>
              <a:srgbClr val="CC66FF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90170" marR="366395">
              <a:lnSpc>
                <a:spcPct val="100000"/>
              </a:lnSpc>
              <a:spcBef>
                <a:spcPts val="300"/>
              </a:spcBef>
            </a:pPr>
            <a:r>
              <a:rPr sz="2400" spc="-5" dirty="0">
                <a:latin typeface="Arial"/>
                <a:cs typeface="Arial"/>
              </a:rPr>
              <a:t>next()  </a:t>
            </a:r>
            <a:r>
              <a:rPr sz="2400" dirty="0">
                <a:latin typeface="Arial"/>
                <a:cs typeface="Arial"/>
              </a:rPr>
              <a:t>ne</a:t>
            </a:r>
            <a:r>
              <a:rPr sz="2400" spc="-15" dirty="0">
                <a:latin typeface="Arial"/>
                <a:cs typeface="Arial"/>
              </a:rPr>
              <a:t>x</a:t>
            </a:r>
            <a:r>
              <a:rPr sz="2400" dirty="0">
                <a:latin typeface="Arial"/>
                <a:cs typeface="Arial"/>
              </a:rPr>
              <a:t>tDouble()  nextInt()  </a:t>
            </a:r>
            <a:r>
              <a:rPr sz="2400" spc="-5" dirty="0">
                <a:latin typeface="Arial"/>
                <a:cs typeface="Arial"/>
              </a:rPr>
              <a:t>nextLine()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79780" y="4266387"/>
            <a:ext cx="3308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…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511744" y="4450016"/>
            <a:ext cx="2693035" cy="1966595"/>
            <a:chOff x="1511744" y="4450016"/>
            <a:chExt cx="2693035" cy="1966595"/>
          </a:xfrm>
        </p:grpSpPr>
        <p:sp>
          <p:nvSpPr>
            <p:cNvPr id="14" name="object 14"/>
            <p:cNvSpPr/>
            <p:nvPr/>
          </p:nvSpPr>
          <p:spPr>
            <a:xfrm>
              <a:off x="1524762" y="4463033"/>
              <a:ext cx="2667000" cy="1940560"/>
            </a:xfrm>
            <a:custGeom>
              <a:avLst/>
              <a:gdLst/>
              <a:ahLst/>
              <a:cxnLst/>
              <a:rect l="l" t="t" r="r" b="b"/>
              <a:pathLst>
                <a:path w="2667000" h="1940560">
                  <a:moveTo>
                    <a:pt x="2667000" y="0"/>
                  </a:moveTo>
                  <a:lnTo>
                    <a:pt x="0" y="0"/>
                  </a:lnTo>
                  <a:lnTo>
                    <a:pt x="0" y="1940052"/>
                  </a:lnTo>
                  <a:lnTo>
                    <a:pt x="2667000" y="1940052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FF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524762" y="4463033"/>
              <a:ext cx="2667000" cy="1940560"/>
            </a:xfrm>
            <a:custGeom>
              <a:avLst/>
              <a:gdLst/>
              <a:ahLst/>
              <a:cxnLst/>
              <a:rect l="l" t="t" r="r" b="b"/>
              <a:pathLst>
                <a:path w="2667000" h="1940560">
                  <a:moveTo>
                    <a:pt x="0" y="1940052"/>
                  </a:moveTo>
                  <a:lnTo>
                    <a:pt x="2667000" y="1940052"/>
                  </a:lnTo>
                  <a:lnTo>
                    <a:pt x="2667000" y="0"/>
                  </a:lnTo>
                  <a:lnTo>
                    <a:pt x="0" y="0"/>
                  </a:lnTo>
                  <a:lnTo>
                    <a:pt x="0" y="1940052"/>
                  </a:lnTo>
                  <a:close/>
                </a:path>
              </a:pathLst>
            </a:custGeom>
            <a:ln w="25908">
              <a:solidFill>
                <a:srgbClr val="CC6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602994" y="4489450"/>
            <a:ext cx="13442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has</a:t>
            </a:r>
            <a:r>
              <a:rPr sz="2400" spc="-15" dirty="0">
                <a:latin typeface="Arial"/>
                <a:cs typeface="Arial"/>
              </a:rPr>
              <a:t>N</a:t>
            </a:r>
            <a:r>
              <a:rPr sz="2400" spc="-5" dirty="0">
                <a:latin typeface="Arial"/>
                <a:cs typeface="Arial"/>
              </a:rPr>
              <a:t>e</a:t>
            </a:r>
            <a:r>
              <a:rPr sz="2400" spc="-20" dirty="0">
                <a:latin typeface="Arial"/>
                <a:cs typeface="Arial"/>
              </a:rPr>
              <a:t>x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5" dirty="0">
                <a:latin typeface="Arial"/>
                <a:cs typeface="Arial"/>
              </a:rPr>
              <a:t>(</a:t>
            </a:r>
            <a:r>
              <a:rPr sz="2400" dirty="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02994" y="4854905"/>
            <a:ext cx="2309495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h</a:t>
            </a:r>
            <a:r>
              <a:rPr sz="2400" spc="-10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s</a:t>
            </a:r>
            <a:r>
              <a:rPr sz="2400" spc="-10" dirty="0">
                <a:latin typeface="Arial"/>
                <a:cs typeface="Arial"/>
              </a:rPr>
              <a:t>N</a:t>
            </a:r>
            <a:r>
              <a:rPr sz="2400" dirty="0">
                <a:latin typeface="Arial"/>
                <a:cs typeface="Arial"/>
              </a:rPr>
              <a:t>e</a:t>
            </a:r>
            <a:r>
              <a:rPr sz="2400" spc="-20" dirty="0">
                <a:latin typeface="Arial"/>
                <a:cs typeface="Arial"/>
              </a:rPr>
              <a:t>x</a:t>
            </a:r>
            <a:r>
              <a:rPr sz="2400" dirty="0">
                <a:latin typeface="Arial"/>
                <a:cs typeface="Arial"/>
              </a:rPr>
              <a:t>tDo</a:t>
            </a:r>
            <a:r>
              <a:rPr sz="2400" spc="-10" dirty="0">
                <a:latin typeface="Arial"/>
                <a:cs typeface="Arial"/>
              </a:rPr>
              <a:t>u</a:t>
            </a:r>
            <a:r>
              <a:rPr sz="2400" dirty="0">
                <a:latin typeface="Arial"/>
                <a:cs typeface="Arial"/>
              </a:rPr>
              <a:t>ble()  </a:t>
            </a:r>
            <a:r>
              <a:rPr sz="2400" spc="-5" dirty="0">
                <a:latin typeface="Arial"/>
                <a:cs typeface="Arial"/>
              </a:rPr>
              <a:t>hasNextInt()  hasNextLine()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"/>
                <a:cs typeface="Arial"/>
              </a:rPr>
              <a:t>…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713482" y="2061717"/>
            <a:ext cx="2520950" cy="2655570"/>
          </a:xfrm>
          <a:custGeom>
            <a:avLst/>
            <a:gdLst/>
            <a:ahLst/>
            <a:cxnLst/>
            <a:rect l="l" t="t" r="r" b="b"/>
            <a:pathLst>
              <a:path w="2520950" h="2655570">
                <a:moveTo>
                  <a:pt x="2328164" y="233553"/>
                </a:moveTo>
                <a:lnTo>
                  <a:pt x="2304796" y="216535"/>
                </a:lnTo>
                <a:lnTo>
                  <a:pt x="600252" y="2579992"/>
                </a:lnTo>
                <a:lnTo>
                  <a:pt x="605523" y="2525268"/>
                </a:lnTo>
                <a:lnTo>
                  <a:pt x="599694" y="2518283"/>
                </a:lnTo>
                <a:lnTo>
                  <a:pt x="591820" y="2517521"/>
                </a:lnTo>
                <a:lnTo>
                  <a:pt x="583819" y="2516632"/>
                </a:lnTo>
                <a:lnTo>
                  <a:pt x="576707" y="2522474"/>
                </a:lnTo>
                <a:lnTo>
                  <a:pt x="563880" y="2655316"/>
                </a:lnTo>
                <a:lnTo>
                  <a:pt x="597293" y="2640457"/>
                </a:lnTo>
                <a:lnTo>
                  <a:pt x="685800" y="2601087"/>
                </a:lnTo>
                <a:lnTo>
                  <a:pt x="688975" y="2592578"/>
                </a:lnTo>
                <a:lnTo>
                  <a:pt x="685800" y="2585339"/>
                </a:lnTo>
                <a:lnTo>
                  <a:pt x="682498" y="2577973"/>
                </a:lnTo>
                <a:lnTo>
                  <a:pt x="673989" y="2574671"/>
                </a:lnTo>
                <a:lnTo>
                  <a:pt x="623620" y="2597073"/>
                </a:lnTo>
                <a:lnTo>
                  <a:pt x="2328164" y="233553"/>
                </a:lnTo>
                <a:close/>
              </a:path>
              <a:path w="2520950" h="2655570">
                <a:moveTo>
                  <a:pt x="2520569" y="26416"/>
                </a:moveTo>
                <a:lnTo>
                  <a:pt x="2508631" y="0"/>
                </a:lnTo>
                <a:lnTo>
                  <a:pt x="68821" y="1109027"/>
                </a:lnTo>
                <a:lnTo>
                  <a:pt x="100584" y="1064133"/>
                </a:lnTo>
                <a:lnTo>
                  <a:pt x="99060" y="1055116"/>
                </a:lnTo>
                <a:lnTo>
                  <a:pt x="92583" y="1050417"/>
                </a:lnTo>
                <a:lnTo>
                  <a:pt x="86106" y="1045845"/>
                </a:lnTo>
                <a:lnTo>
                  <a:pt x="76962" y="1047369"/>
                </a:lnTo>
                <a:lnTo>
                  <a:pt x="0" y="1156208"/>
                </a:lnTo>
                <a:lnTo>
                  <a:pt x="124714" y="1168908"/>
                </a:lnTo>
                <a:lnTo>
                  <a:pt x="132588" y="1169797"/>
                </a:lnTo>
                <a:lnTo>
                  <a:pt x="139700" y="1163955"/>
                </a:lnTo>
                <a:lnTo>
                  <a:pt x="140411" y="1157478"/>
                </a:lnTo>
                <a:lnTo>
                  <a:pt x="140589" y="1155954"/>
                </a:lnTo>
                <a:lnTo>
                  <a:pt x="141351" y="1148080"/>
                </a:lnTo>
                <a:lnTo>
                  <a:pt x="135509" y="1140968"/>
                </a:lnTo>
                <a:lnTo>
                  <a:pt x="127635" y="1140079"/>
                </a:lnTo>
                <a:lnTo>
                  <a:pt x="80746" y="1135329"/>
                </a:lnTo>
                <a:lnTo>
                  <a:pt x="2520569" y="264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724400" y="1720595"/>
            <a:ext cx="4114800" cy="708660"/>
          </a:xfrm>
          <a:prstGeom prst="rect">
            <a:avLst/>
          </a:prstGeom>
          <a:solidFill>
            <a:srgbClr val="C2C2D5"/>
          </a:solidFill>
        </p:spPr>
        <p:txBody>
          <a:bodyPr vert="horz" wrap="square" lIns="0" tIns="39369" rIns="0" bIns="0" rtlCol="0">
            <a:spAutoFit/>
          </a:bodyPr>
          <a:lstStyle/>
          <a:p>
            <a:pPr marL="92075" marR="113030">
              <a:lnSpc>
                <a:spcPct val="100000"/>
              </a:lnSpc>
              <a:spcBef>
                <a:spcPts val="309"/>
              </a:spcBef>
            </a:pPr>
            <a:r>
              <a:rPr sz="2000" dirty="0">
                <a:latin typeface="Arial"/>
                <a:cs typeface="Arial"/>
              </a:rPr>
              <a:t>Note Java naming convention  Method names –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lowerCamelCase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</a:t>
            </a:r>
            <a:r>
              <a:rPr spc="5" dirty="0"/>
              <a:t>Lecture </a:t>
            </a:r>
            <a:r>
              <a:rPr dirty="0"/>
              <a:t>: OOP Part</a:t>
            </a:r>
            <a:r>
              <a:rPr spc="-190" dirty="0"/>
              <a:t> </a:t>
            </a:r>
            <a:r>
              <a:rPr dirty="0"/>
              <a:t>1]  </a:t>
            </a:r>
            <a:r>
              <a:rPr spc="-130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8</a:t>
            </a:fld>
            <a:endParaRPr spc="-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48158"/>
            <a:ext cx="55460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50" dirty="0">
                <a:uFill>
                  <a:solidFill>
                    <a:srgbClr val="003399"/>
                  </a:solidFill>
                </a:uFill>
              </a:rPr>
              <a:t>Scanner</a:t>
            </a:r>
            <a:r>
              <a:rPr spc="50" dirty="0"/>
              <a:t> </a:t>
            </a:r>
            <a:r>
              <a:rPr spc="25" dirty="0"/>
              <a:t>Class: </a:t>
            </a:r>
            <a:r>
              <a:rPr spc="-15" dirty="0"/>
              <a:t>Demo</a:t>
            </a:r>
            <a:r>
              <a:rPr spc="-180" dirty="0"/>
              <a:t> </a:t>
            </a:r>
            <a:r>
              <a:rPr spc="55" dirty="0"/>
              <a:t>(1/2)</a:t>
            </a:r>
          </a:p>
        </p:txBody>
      </p:sp>
      <p:sp>
        <p:nvSpPr>
          <p:cNvPr id="3" name="object 3"/>
          <p:cNvSpPr/>
          <p:nvPr/>
        </p:nvSpPr>
        <p:spPr>
          <a:xfrm>
            <a:off x="163068" y="187452"/>
            <a:ext cx="523240" cy="1184275"/>
          </a:xfrm>
          <a:custGeom>
            <a:avLst/>
            <a:gdLst/>
            <a:ahLst/>
            <a:cxnLst/>
            <a:rect l="l" t="t" r="r" b="b"/>
            <a:pathLst>
              <a:path w="523240" h="1184275">
                <a:moveTo>
                  <a:pt x="522731" y="0"/>
                </a:moveTo>
                <a:lnTo>
                  <a:pt x="0" y="0"/>
                </a:lnTo>
                <a:lnTo>
                  <a:pt x="0" y="1184148"/>
                </a:lnTo>
                <a:lnTo>
                  <a:pt x="522731" y="1184148"/>
                </a:lnTo>
                <a:lnTo>
                  <a:pt x="522731" y="0"/>
                </a:lnTo>
                <a:close/>
              </a:path>
            </a:pathLst>
          </a:custGeom>
          <a:solidFill>
            <a:srgbClr val="FFCC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44239" y="328344"/>
            <a:ext cx="381000" cy="9652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990"/>
              </a:lnSpc>
            </a:pPr>
            <a:r>
              <a:rPr sz="2800" dirty="0">
                <a:solidFill>
                  <a:srgbClr val="C00000"/>
                </a:solidFill>
                <a:latin typeface="Trebuchet MS"/>
                <a:cs typeface="Trebuchet MS"/>
              </a:rPr>
              <a:t>2.</a:t>
            </a:r>
            <a:r>
              <a:rPr sz="2800" spc="-8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800" spc="15" dirty="0">
                <a:solidFill>
                  <a:srgbClr val="000099"/>
                </a:solidFill>
                <a:latin typeface="Trebuchet MS"/>
                <a:cs typeface="Trebuchet MS"/>
              </a:rPr>
              <a:t>API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0936" y="1827212"/>
            <a:ext cx="8091170" cy="4119879"/>
            <a:chOff x="380936" y="1827212"/>
            <a:chExt cx="8091170" cy="4119879"/>
          </a:xfrm>
        </p:grpSpPr>
        <p:sp>
          <p:nvSpPr>
            <p:cNvPr id="6" name="object 6"/>
            <p:cNvSpPr/>
            <p:nvPr/>
          </p:nvSpPr>
          <p:spPr>
            <a:xfrm>
              <a:off x="393954" y="1840229"/>
              <a:ext cx="8065134" cy="4093845"/>
            </a:xfrm>
            <a:custGeom>
              <a:avLst/>
              <a:gdLst/>
              <a:ahLst/>
              <a:cxnLst/>
              <a:rect l="l" t="t" r="r" b="b"/>
              <a:pathLst>
                <a:path w="8065134" h="4093845">
                  <a:moveTo>
                    <a:pt x="8065008" y="0"/>
                  </a:moveTo>
                  <a:lnTo>
                    <a:pt x="0" y="0"/>
                  </a:lnTo>
                  <a:lnTo>
                    <a:pt x="0" y="549402"/>
                  </a:lnTo>
                  <a:lnTo>
                    <a:pt x="0" y="3902202"/>
                  </a:lnTo>
                  <a:lnTo>
                    <a:pt x="0" y="4093464"/>
                  </a:lnTo>
                  <a:lnTo>
                    <a:pt x="8065008" y="4093464"/>
                  </a:lnTo>
                  <a:lnTo>
                    <a:pt x="8065008" y="3902202"/>
                  </a:lnTo>
                  <a:lnTo>
                    <a:pt x="8065008" y="549402"/>
                  </a:lnTo>
                  <a:lnTo>
                    <a:pt x="8065008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3954" y="1840229"/>
              <a:ext cx="8065134" cy="4093845"/>
            </a:xfrm>
            <a:custGeom>
              <a:avLst/>
              <a:gdLst/>
              <a:ahLst/>
              <a:cxnLst/>
              <a:rect l="l" t="t" r="r" b="b"/>
              <a:pathLst>
                <a:path w="8065134" h="4093845">
                  <a:moveTo>
                    <a:pt x="0" y="4093464"/>
                  </a:moveTo>
                  <a:lnTo>
                    <a:pt x="8065008" y="4093464"/>
                  </a:lnTo>
                  <a:lnTo>
                    <a:pt x="8065008" y="0"/>
                  </a:lnTo>
                  <a:lnTo>
                    <a:pt x="0" y="0"/>
                  </a:lnTo>
                  <a:lnTo>
                    <a:pt x="0" y="4093464"/>
                  </a:lnTo>
                  <a:close/>
                </a:path>
              </a:pathLst>
            </a:custGeom>
            <a:ln w="25908">
              <a:solidFill>
                <a:srgbClr val="AAC9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72541" y="1692655"/>
            <a:ext cx="357568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56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CC0099"/>
                </a:solidFill>
                <a:latin typeface="Courier New"/>
                <a:cs typeface="Courier New"/>
              </a:rPr>
              <a:t>import </a:t>
            </a:r>
            <a:r>
              <a:rPr sz="1800" b="1" spc="-10" dirty="0">
                <a:latin typeface="Courier New"/>
                <a:cs typeface="Courier New"/>
              </a:rPr>
              <a:t>java.util.*;  </a:t>
            </a:r>
            <a:r>
              <a:rPr sz="1800" b="1" spc="-10" dirty="0">
                <a:solidFill>
                  <a:srgbClr val="0000CC"/>
                </a:solidFill>
                <a:latin typeface="Courier New"/>
                <a:cs typeface="Courier New"/>
              </a:rPr>
              <a:t>public class </a:t>
            </a:r>
            <a:r>
              <a:rPr sz="1800" b="1" spc="-10" dirty="0">
                <a:latin typeface="Courier New"/>
                <a:cs typeface="Courier New"/>
              </a:rPr>
              <a:t>TestScanner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2101" y="2698191"/>
            <a:ext cx="5487035" cy="1550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00CC"/>
                </a:solidFill>
                <a:latin typeface="Courier New"/>
                <a:cs typeface="Courier New"/>
              </a:rPr>
              <a:t>public static </a:t>
            </a:r>
            <a:r>
              <a:rPr sz="1800" b="1" spc="-5" dirty="0">
                <a:solidFill>
                  <a:srgbClr val="0000CC"/>
                </a:solidFill>
                <a:latin typeface="Courier New"/>
                <a:cs typeface="Courier New"/>
              </a:rPr>
              <a:t>void </a:t>
            </a:r>
            <a:r>
              <a:rPr sz="1800" b="1" spc="-10" dirty="0">
                <a:latin typeface="Courier New"/>
                <a:cs typeface="Courier New"/>
              </a:rPr>
              <a:t>main(String[] </a:t>
            </a:r>
            <a:r>
              <a:rPr sz="1800" b="1" spc="-5" dirty="0">
                <a:latin typeface="Courier New"/>
                <a:cs typeface="Courier New"/>
              </a:rPr>
              <a:t>args)</a:t>
            </a:r>
            <a:r>
              <a:rPr sz="1800" b="1" spc="-8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37465" algn="ctr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latin typeface="Courier New"/>
                <a:cs typeface="Courier New"/>
              </a:rPr>
              <a:t>Scanner </a:t>
            </a:r>
            <a:r>
              <a:rPr sz="1800" b="1" spc="-5" dirty="0">
                <a:latin typeface="Courier New"/>
                <a:cs typeface="Courier New"/>
              </a:rPr>
              <a:t>sc </a:t>
            </a:r>
            <a:r>
              <a:rPr sz="1800" b="1" dirty="0">
                <a:latin typeface="Courier New"/>
                <a:cs typeface="Courier New"/>
              </a:rPr>
              <a:t>= </a:t>
            </a:r>
            <a:r>
              <a:rPr sz="1800" b="1" spc="-10" dirty="0">
                <a:solidFill>
                  <a:srgbClr val="0000CC"/>
                </a:solidFill>
                <a:latin typeface="Courier New"/>
                <a:cs typeface="Courier New"/>
              </a:rPr>
              <a:t>new</a:t>
            </a:r>
            <a:r>
              <a:rPr sz="1800" b="1" spc="-50" dirty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Scanner(System.in);</a:t>
            </a:r>
            <a:endParaRPr sz="1800">
              <a:latin typeface="Courier New"/>
              <a:cs typeface="Courier New"/>
            </a:endParaRPr>
          </a:p>
          <a:p>
            <a:pPr marL="302260" marR="535940" algn="just">
              <a:lnSpc>
                <a:spcPct val="100000"/>
              </a:lnSpc>
              <a:spcBef>
                <a:spcPts val="1200"/>
              </a:spcBef>
            </a:pPr>
            <a:r>
              <a:rPr sz="1800" b="1" spc="-5" dirty="0">
                <a:solidFill>
                  <a:srgbClr val="C00000"/>
                </a:solidFill>
                <a:latin typeface="Courier New"/>
                <a:cs typeface="Courier New"/>
              </a:rPr>
              <a:t>// </a:t>
            </a:r>
            <a:r>
              <a:rPr sz="1800" b="1" spc="-10" dirty="0">
                <a:solidFill>
                  <a:srgbClr val="C00000"/>
                </a:solidFill>
                <a:latin typeface="Courier New"/>
                <a:cs typeface="Courier New"/>
              </a:rPr>
              <a:t>Comparing nextLine() and next()  </a:t>
            </a:r>
            <a:r>
              <a:rPr sz="1800" b="1" spc="-10" dirty="0">
                <a:latin typeface="Courier New"/>
                <a:cs typeface="Courier New"/>
              </a:rPr>
              <a:t>System.out.print(</a:t>
            </a:r>
            <a:r>
              <a:rPr sz="1800" b="1" spc="-10" dirty="0">
                <a:solidFill>
                  <a:srgbClr val="008000"/>
                </a:solidFill>
                <a:latin typeface="Courier New"/>
                <a:cs typeface="Courier New"/>
              </a:rPr>
              <a:t>"Enter name1: </a:t>
            </a:r>
            <a:r>
              <a:rPr sz="1800" b="1" spc="-25" dirty="0">
                <a:solidFill>
                  <a:srgbClr val="008000"/>
                </a:solidFill>
                <a:latin typeface="Courier New"/>
                <a:cs typeface="Courier New"/>
              </a:rPr>
              <a:t>"</a:t>
            </a:r>
            <a:r>
              <a:rPr sz="1800" b="1" spc="-25" dirty="0">
                <a:latin typeface="Courier New"/>
                <a:cs typeface="Courier New"/>
              </a:rPr>
              <a:t>);  </a:t>
            </a:r>
            <a:r>
              <a:rPr sz="1800" b="1" spc="-10" dirty="0">
                <a:latin typeface="Courier New"/>
                <a:cs typeface="Courier New"/>
              </a:rPr>
              <a:t>String name1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2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sc.nextLine();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032611" y="4242599"/>
          <a:ext cx="6908799" cy="12380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59020"/>
                <a:gridCol w="242570"/>
                <a:gridCol w="733425"/>
                <a:gridCol w="1073784"/>
              </a:tblGrid>
              <a:tr h="344559">
                <a:tc>
                  <a:txBody>
                    <a:bodyPr/>
                    <a:lstStyle/>
                    <a:p>
                      <a:pPr marL="31750">
                        <a:lnSpc>
                          <a:spcPts val="1900"/>
                        </a:lnSpc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System.out.println(</a:t>
                      </a:r>
                      <a:r>
                        <a:rPr sz="1600" b="1" spc="-5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"name1 entered is</a:t>
                      </a:r>
                      <a:r>
                        <a:rPr sz="1600" b="1" spc="50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'"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+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name1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900"/>
                        </a:lnSpc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+</a:t>
                      </a:r>
                      <a:r>
                        <a:rPr sz="1600" b="1" spc="-8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"'."</a:t>
                      </a:r>
                      <a:r>
                        <a:rPr sz="1600" b="1" dirty="0">
                          <a:latin typeface="Courier New"/>
                          <a:cs typeface="Courier New"/>
                        </a:rPr>
                        <a:t>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</a:tr>
              <a:tr h="893524">
                <a:tc>
                  <a:txBody>
                    <a:bodyPr/>
                    <a:lstStyle/>
                    <a:p>
                      <a:pPr marL="31750" marR="51435">
                        <a:lnSpc>
                          <a:spcPct val="100699"/>
                        </a:lnSpc>
                        <a:spcBef>
                          <a:spcPts val="335"/>
                        </a:spcBef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System.out.print("Enter name2: ");  String name2 </a:t>
                      </a:r>
                      <a:r>
                        <a:rPr sz="1800" b="1" dirty="0">
                          <a:latin typeface="Courier New"/>
                          <a:cs typeface="Courier New"/>
                        </a:rPr>
                        <a:t>= </a:t>
                      </a:r>
                      <a:r>
                        <a:rPr sz="1800" b="1" spc="-10" dirty="0">
                          <a:latin typeface="Courier New"/>
                          <a:cs typeface="Courier New"/>
                        </a:rPr>
                        <a:t>sc.next();  </a:t>
                      </a:r>
                      <a:r>
                        <a:rPr sz="1600" b="1" spc="-5" dirty="0">
                          <a:latin typeface="Courier New"/>
                          <a:cs typeface="Courier New"/>
                        </a:rPr>
                        <a:t>System.out.println(</a:t>
                      </a:r>
                      <a:r>
                        <a:rPr sz="1600" b="1" spc="-5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"name2 entered is</a:t>
                      </a:r>
                      <a:r>
                        <a:rPr sz="1600" b="1" spc="30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'"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42545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2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+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2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name2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250">
                        <a:latin typeface="Times New Roman"/>
                        <a:cs typeface="Times New Roman"/>
                      </a:endParaRPr>
                    </a:p>
                    <a:p>
                      <a:pPr marR="24130" algn="r">
                        <a:lnSpc>
                          <a:spcPct val="100000"/>
                        </a:lnSpc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+</a:t>
                      </a:r>
                      <a:r>
                        <a:rPr sz="1600" b="1" spc="-8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"'."</a:t>
                      </a:r>
                      <a:r>
                        <a:rPr sz="1600" b="1" dirty="0">
                          <a:latin typeface="Courier New"/>
                          <a:cs typeface="Courier New"/>
                        </a:rPr>
                        <a:t>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grpSp>
        <p:nvGrpSpPr>
          <p:cNvPr id="11" name="object 11"/>
          <p:cNvGrpSpPr/>
          <p:nvPr/>
        </p:nvGrpSpPr>
        <p:grpSpPr>
          <a:xfrm>
            <a:off x="6473697" y="5736082"/>
            <a:ext cx="2143760" cy="393700"/>
            <a:chOff x="6473697" y="5736082"/>
            <a:chExt cx="2143760" cy="393700"/>
          </a:xfrm>
        </p:grpSpPr>
        <p:sp>
          <p:nvSpPr>
            <p:cNvPr id="12" name="object 12"/>
            <p:cNvSpPr/>
            <p:nvPr/>
          </p:nvSpPr>
          <p:spPr>
            <a:xfrm>
              <a:off x="6480047" y="5742432"/>
              <a:ext cx="2131060" cy="381000"/>
            </a:xfrm>
            <a:custGeom>
              <a:avLst/>
              <a:gdLst/>
              <a:ahLst/>
              <a:cxnLst/>
              <a:rect l="l" t="t" r="r" b="b"/>
              <a:pathLst>
                <a:path w="2131059" h="381000">
                  <a:moveTo>
                    <a:pt x="2130552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2130552" y="381000"/>
                  </a:lnTo>
                  <a:lnTo>
                    <a:pt x="2130552" y="0"/>
                  </a:lnTo>
                  <a:close/>
                </a:path>
              </a:pathLst>
            </a:custGeom>
            <a:solidFill>
              <a:srgbClr val="B8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480047" y="5742432"/>
              <a:ext cx="2131060" cy="381000"/>
            </a:xfrm>
            <a:custGeom>
              <a:avLst/>
              <a:gdLst/>
              <a:ahLst/>
              <a:cxnLst/>
              <a:rect l="l" t="t" r="r" b="b"/>
              <a:pathLst>
                <a:path w="2131059" h="381000">
                  <a:moveTo>
                    <a:pt x="0" y="381000"/>
                  </a:moveTo>
                  <a:lnTo>
                    <a:pt x="2130552" y="381000"/>
                  </a:lnTo>
                  <a:lnTo>
                    <a:pt x="2130552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754114" y="5768746"/>
            <a:ext cx="1584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0" dirty="0">
                <a:latin typeface="Carlito"/>
                <a:cs typeface="Carlito"/>
              </a:rPr>
              <a:t>TestScanner.java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262628" y="1062227"/>
            <a:ext cx="4581525" cy="1332230"/>
            <a:chOff x="4262628" y="1062227"/>
            <a:chExt cx="4581525" cy="1332230"/>
          </a:xfrm>
        </p:grpSpPr>
        <p:sp>
          <p:nvSpPr>
            <p:cNvPr id="16" name="object 16"/>
            <p:cNvSpPr/>
            <p:nvPr/>
          </p:nvSpPr>
          <p:spPr>
            <a:xfrm>
              <a:off x="4267200" y="1066799"/>
              <a:ext cx="4572000" cy="1323340"/>
            </a:xfrm>
            <a:custGeom>
              <a:avLst/>
              <a:gdLst/>
              <a:ahLst/>
              <a:cxnLst/>
              <a:rect l="l" t="t" r="r" b="b"/>
              <a:pathLst>
                <a:path w="4572000" h="1323339">
                  <a:moveTo>
                    <a:pt x="4572000" y="0"/>
                  </a:moveTo>
                  <a:lnTo>
                    <a:pt x="0" y="0"/>
                  </a:lnTo>
                  <a:lnTo>
                    <a:pt x="0" y="1322832"/>
                  </a:lnTo>
                  <a:lnTo>
                    <a:pt x="4572000" y="1322832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ED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67200" y="1066799"/>
              <a:ext cx="4572000" cy="1323340"/>
            </a:xfrm>
            <a:custGeom>
              <a:avLst/>
              <a:gdLst/>
              <a:ahLst/>
              <a:cxnLst/>
              <a:rect l="l" t="t" r="r" b="b"/>
              <a:pathLst>
                <a:path w="4572000" h="1323339">
                  <a:moveTo>
                    <a:pt x="0" y="1322832"/>
                  </a:moveTo>
                  <a:lnTo>
                    <a:pt x="4572000" y="1322832"/>
                  </a:lnTo>
                  <a:lnTo>
                    <a:pt x="4572000" y="0"/>
                  </a:lnTo>
                  <a:lnTo>
                    <a:pt x="0" y="0"/>
                  </a:lnTo>
                  <a:lnTo>
                    <a:pt x="0" y="132283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346575" y="1069594"/>
            <a:ext cx="35312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Courier New"/>
                <a:cs typeface="Courier New"/>
              </a:rPr>
              <a:t>Enter name1: </a:t>
            </a:r>
            <a:r>
              <a:rPr sz="2000" b="1" spc="-5" dirty="0">
                <a:solidFill>
                  <a:srgbClr val="0000CC"/>
                </a:solidFill>
                <a:latin typeface="Courier New"/>
                <a:cs typeface="Courier New"/>
              </a:rPr>
              <a:t>Wilson</a:t>
            </a:r>
            <a:r>
              <a:rPr sz="2000" b="1" spc="-40" dirty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0000CC"/>
                </a:solidFill>
                <a:latin typeface="Courier New"/>
                <a:cs typeface="Courier New"/>
              </a:rPr>
              <a:t>Wee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3085" y="6375879"/>
            <a:ext cx="22987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80"/>
              </a:lnSpc>
            </a:pPr>
            <a:r>
              <a:rPr sz="1800" spc="2595" dirty="0">
                <a:latin typeface="Wingdings"/>
                <a:cs typeface="Wingdings"/>
              </a:rPr>
              <a:t></a:t>
            </a:r>
            <a:endParaRPr sz="1800">
              <a:latin typeface="Wingdings"/>
              <a:cs typeface="Wingdings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</a:t>
            </a:r>
            <a:r>
              <a:rPr spc="5" dirty="0"/>
              <a:t>Lecture </a:t>
            </a:r>
            <a:r>
              <a:rPr dirty="0"/>
              <a:t>: OOP Part</a:t>
            </a:r>
            <a:r>
              <a:rPr spc="-190" dirty="0"/>
              <a:t> </a:t>
            </a:r>
            <a:r>
              <a:rPr dirty="0"/>
              <a:t>1]  </a:t>
            </a:r>
            <a:r>
              <a:rPr spc="-130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9</a:t>
            </a:fld>
            <a:endParaRPr spc="-5" dirty="0"/>
          </a:p>
        </p:txBody>
      </p:sp>
      <p:sp>
        <p:nvSpPr>
          <p:cNvPr id="19" name="object 19"/>
          <p:cNvSpPr txBox="1"/>
          <p:nvPr/>
        </p:nvSpPr>
        <p:spPr>
          <a:xfrm>
            <a:off x="4346575" y="1374089"/>
            <a:ext cx="246380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Courier New"/>
                <a:cs typeface="Courier New"/>
              </a:rPr>
              <a:t>name1 entered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is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46575" y="1679575"/>
            <a:ext cx="35312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Courier New"/>
                <a:cs typeface="Courier New"/>
              </a:rPr>
              <a:t>Enter name2: </a:t>
            </a:r>
            <a:r>
              <a:rPr sz="2000" b="1" spc="-5" dirty="0">
                <a:solidFill>
                  <a:srgbClr val="0000CC"/>
                </a:solidFill>
                <a:latin typeface="Courier New"/>
                <a:cs typeface="Courier New"/>
              </a:rPr>
              <a:t>Wilson</a:t>
            </a:r>
            <a:r>
              <a:rPr sz="2000" b="1" spc="-40" dirty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0000CC"/>
                </a:solidFill>
                <a:latin typeface="Courier New"/>
                <a:cs typeface="Courier New"/>
              </a:rPr>
              <a:t>Wee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346575" y="1984375"/>
            <a:ext cx="24638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Courier New"/>
                <a:cs typeface="Courier New"/>
              </a:rPr>
              <a:t>name2 entered</a:t>
            </a:r>
            <a:r>
              <a:rPr sz="2000" spc="-6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is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994906" y="1396949"/>
            <a:ext cx="4508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???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994906" y="1969135"/>
            <a:ext cx="4508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???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48158"/>
            <a:ext cx="55460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50" dirty="0">
                <a:uFill>
                  <a:solidFill>
                    <a:srgbClr val="003399"/>
                  </a:solidFill>
                </a:uFill>
              </a:rPr>
              <a:t>Scanner</a:t>
            </a:r>
            <a:r>
              <a:rPr spc="50" dirty="0"/>
              <a:t> </a:t>
            </a:r>
            <a:r>
              <a:rPr spc="25" dirty="0"/>
              <a:t>Class: </a:t>
            </a:r>
            <a:r>
              <a:rPr spc="-15" dirty="0"/>
              <a:t>Demo</a:t>
            </a:r>
            <a:r>
              <a:rPr spc="-195" dirty="0"/>
              <a:t> </a:t>
            </a:r>
            <a:r>
              <a:rPr spc="60" dirty="0"/>
              <a:t>(2/2)</a:t>
            </a:r>
          </a:p>
        </p:txBody>
      </p:sp>
      <p:sp>
        <p:nvSpPr>
          <p:cNvPr id="3" name="object 3"/>
          <p:cNvSpPr/>
          <p:nvPr/>
        </p:nvSpPr>
        <p:spPr>
          <a:xfrm>
            <a:off x="163068" y="187451"/>
            <a:ext cx="523240" cy="1184275"/>
          </a:xfrm>
          <a:custGeom>
            <a:avLst/>
            <a:gdLst/>
            <a:ahLst/>
            <a:cxnLst/>
            <a:rect l="l" t="t" r="r" b="b"/>
            <a:pathLst>
              <a:path w="523240" h="1184275">
                <a:moveTo>
                  <a:pt x="522732" y="0"/>
                </a:moveTo>
                <a:lnTo>
                  <a:pt x="0" y="0"/>
                </a:lnTo>
                <a:lnTo>
                  <a:pt x="0" y="811530"/>
                </a:lnTo>
                <a:lnTo>
                  <a:pt x="0" y="1184148"/>
                </a:lnTo>
                <a:lnTo>
                  <a:pt x="522732" y="1184148"/>
                </a:lnTo>
                <a:lnTo>
                  <a:pt x="522732" y="811530"/>
                </a:lnTo>
                <a:lnTo>
                  <a:pt x="522732" y="0"/>
                </a:lnTo>
                <a:close/>
              </a:path>
            </a:pathLst>
          </a:custGeom>
          <a:solidFill>
            <a:srgbClr val="FFCC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56939" y="962575"/>
            <a:ext cx="355600" cy="614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60"/>
              </a:lnSpc>
            </a:pPr>
            <a:r>
              <a:rPr sz="2800" spc="-229" dirty="0">
                <a:solidFill>
                  <a:srgbClr val="C00000"/>
                </a:solidFill>
                <a:latin typeface="Trebuchet MS"/>
                <a:cs typeface="Trebuchet MS"/>
              </a:rPr>
              <a:t>.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ts val="2800"/>
              </a:lnSpc>
              <a:spcBef>
                <a:spcPts val="675"/>
              </a:spcBef>
            </a:pPr>
            <a:r>
              <a:rPr sz="2800" spc="235" dirty="0">
                <a:solidFill>
                  <a:srgbClr val="C00000"/>
                </a:solidFill>
                <a:latin typeface="Trebuchet MS"/>
                <a:cs typeface="Trebuchet MS"/>
              </a:rPr>
              <a:t>2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4239" y="328344"/>
            <a:ext cx="381000" cy="53975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990"/>
              </a:lnSpc>
            </a:pPr>
            <a:r>
              <a:rPr sz="2800" dirty="0">
                <a:solidFill>
                  <a:srgbClr val="000099"/>
                </a:solidFill>
                <a:latin typeface="Trebuchet MS"/>
                <a:cs typeface="Trebuchet MS"/>
              </a:rPr>
              <a:t>API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11416" y="985964"/>
            <a:ext cx="8441690" cy="4227830"/>
            <a:chOff x="411416" y="985964"/>
            <a:chExt cx="8441690" cy="4227830"/>
          </a:xfrm>
        </p:grpSpPr>
        <p:sp>
          <p:nvSpPr>
            <p:cNvPr id="7" name="object 7"/>
            <p:cNvSpPr/>
            <p:nvPr/>
          </p:nvSpPr>
          <p:spPr>
            <a:xfrm>
              <a:off x="424434" y="998981"/>
              <a:ext cx="8415655" cy="4201795"/>
            </a:xfrm>
            <a:custGeom>
              <a:avLst/>
              <a:gdLst/>
              <a:ahLst/>
              <a:cxnLst/>
              <a:rect l="l" t="t" r="r" b="b"/>
              <a:pathLst>
                <a:path w="8415655" h="4201795">
                  <a:moveTo>
                    <a:pt x="8415528" y="0"/>
                  </a:moveTo>
                  <a:lnTo>
                    <a:pt x="0" y="0"/>
                  </a:lnTo>
                  <a:lnTo>
                    <a:pt x="0" y="2777490"/>
                  </a:lnTo>
                  <a:lnTo>
                    <a:pt x="0" y="4201668"/>
                  </a:lnTo>
                  <a:lnTo>
                    <a:pt x="8415528" y="4201668"/>
                  </a:lnTo>
                  <a:lnTo>
                    <a:pt x="8415528" y="2777490"/>
                  </a:lnTo>
                  <a:lnTo>
                    <a:pt x="8415528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4434" y="998982"/>
              <a:ext cx="8415655" cy="4201795"/>
            </a:xfrm>
            <a:custGeom>
              <a:avLst/>
              <a:gdLst/>
              <a:ahLst/>
              <a:cxnLst/>
              <a:rect l="l" t="t" r="r" b="b"/>
              <a:pathLst>
                <a:path w="8415655" h="4201795">
                  <a:moveTo>
                    <a:pt x="0" y="4201668"/>
                  </a:moveTo>
                  <a:lnTo>
                    <a:pt x="8415528" y="4201668"/>
                  </a:lnTo>
                  <a:lnTo>
                    <a:pt x="8415528" y="0"/>
                  </a:lnTo>
                  <a:lnTo>
                    <a:pt x="0" y="0"/>
                  </a:lnTo>
                  <a:lnTo>
                    <a:pt x="0" y="4201668"/>
                  </a:lnTo>
                  <a:close/>
                </a:path>
              </a:pathLst>
            </a:custGeom>
            <a:ln w="25908">
              <a:solidFill>
                <a:srgbClr val="AAC9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82141" y="1004442"/>
            <a:ext cx="7341870" cy="2723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ourier New"/>
                <a:cs typeface="Courier New"/>
              </a:rPr>
              <a:t>sc.nextLine(); </a:t>
            </a:r>
            <a:r>
              <a:rPr sz="1800" b="1" spc="-10" dirty="0">
                <a:solidFill>
                  <a:srgbClr val="C00000"/>
                </a:solidFill>
                <a:latin typeface="Courier New"/>
                <a:cs typeface="Courier New"/>
              </a:rPr>
              <a:t>// to skip the rest of </a:t>
            </a:r>
            <a:r>
              <a:rPr sz="1800" b="1" spc="-5" dirty="0">
                <a:solidFill>
                  <a:srgbClr val="C00000"/>
                </a:solidFill>
                <a:latin typeface="Courier New"/>
                <a:cs typeface="Courier New"/>
              </a:rPr>
              <a:t>the </a:t>
            </a:r>
            <a:r>
              <a:rPr sz="1800" b="1" spc="-10" dirty="0">
                <a:solidFill>
                  <a:srgbClr val="C00000"/>
                </a:solidFill>
                <a:latin typeface="Courier New"/>
                <a:cs typeface="Courier New"/>
              </a:rPr>
              <a:t>line</a:t>
            </a:r>
            <a:r>
              <a:rPr sz="1800" b="1" spc="-4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ourier New"/>
                <a:cs typeface="Courier New"/>
              </a:rPr>
              <a:t>after</a:t>
            </a:r>
            <a:endParaRPr sz="1800">
              <a:latin typeface="Courier New"/>
              <a:cs typeface="Courier New"/>
            </a:endParaRPr>
          </a:p>
          <a:p>
            <a:pPr marL="2061210">
              <a:lnSpc>
                <a:spcPct val="100000"/>
              </a:lnSpc>
            </a:pPr>
            <a:r>
              <a:rPr sz="1800" b="1" spc="-10" dirty="0">
                <a:solidFill>
                  <a:srgbClr val="C00000"/>
                </a:solidFill>
                <a:latin typeface="Courier New"/>
                <a:cs typeface="Courier New"/>
              </a:rPr>
              <a:t>// the next() method captured</a:t>
            </a:r>
            <a:r>
              <a:rPr sz="1800" b="1" spc="-4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ourier New"/>
                <a:cs typeface="Courier New"/>
              </a:rPr>
              <a:t>the</a:t>
            </a:r>
            <a:endParaRPr sz="1800">
              <a:latin typeface="Courier New"/>
              <a:cs typeface="Courier New"/>
            </a:endParaRPr>
          </a:p>
          <a:p>
            <a:pPr marL="2061210">
              <a:lnSpc>
                <a:spcPct val="100000"/>
              </a:lnSpc>
            </a:pPr>
            <a:r>
              <a:rPr sz="1800" b="1" spc="-10" dirty="0">
                <a:solidFill>
                  <a:srgbClr val="C00000"/>
                </a:solidFill>
                <a:latin typeface="Courier New"/>
                <a:cs typeface="Courier New"/>
              </a:rPr>
              <a:t>// first word of the second</a:t>
            </a:r>
            <a:r>
              <a:rPr sz="1800" b="1" spc="-2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ourier New"/>
                <a:cs typeface="Courier New"/>
              </a:rPr>
              <a:t>name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00">
              <a:latin typeface="Courier New"/>
              <a:cs typeface="Courier New"/>
            </a:endParaRPr>
          </a:p>
          <a:p>
            <a:pPr marL="12700" marR="2542540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solidFill>
                  <a:srgbClr val="C00000"/>
                </a:solidFill>
                <a:latin typeface="Courier New"/>
                <a:cs typeface="Courier New"/>
              </a:rPr>
              <a:t>// </a:t>
            </a:r>
            <a:r>
              <a:rPr sz="1800" b="1" spc="-10" dirty="0">
                <a:solidFill>
                  <a:srgbClr val="C00000"/>
                </a:solidFill>
                <a:latin typeface="Courier New"/>
                <a:cs typeface="Courier New"/>
              </a:rPr>
              <a:t>Using nextInt() and hasNextInt()  </a:t>
            </a:r>
            <a:r>
              <a:rPr sz="1800" b="1" spc="-5" dirty="0">
                <a:solidFill>
                  <a:srgbClr val="0000CC"/>
                </a:solidFill>
                <a:latin typeface="Courier New"/>
                <a:cs typeface="Courier New"/>
              </a:rPr>
              <a:t>int </a:t>
            </a:r>
            <a:r>
              <a:rPr sz="1800" b="1" spc="-10" dirty="0">
                <a:latin typeface="Courier New"/>
                <a:cs typeface="Courier New"/>
              </a:rPr>
              <a:t>num, sum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008000"/>
                </a:solidFill>
                <a:latin typeface="Courier New"/>
                <a:cs typeface="Courier New"/>
              </a:rPr>
              <a:t>0</a:t>
            </a:r>
            <a:r>
              <a:rPr sz="1800" b="1" spc="-10" dirty="0">
                <a:latin typeface="Courier New"/>
                <a:cs typeface="Courier New"/>
              </a:rPr>
              <a:t>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1780"/>
              </a:lnSpc>
              <a:spcBef>
                <a:spcPts val="35"/>
              </a:spcBef>
            </a:pPr>
            <a:r>
              <a:rPr sz="1500" b="1" spc="-5" dirty="0">
                <a:latin typeface="Courier New"/>
                <a:cs typeface="Courier New"/>
              </a:rPr>
              <a:t>System.out.println(</a:t>
            </a:r>
            <a:r>
              <a:rPr sz="1500" b="1" spc="-5" dirty="0">
                <a:solidFill>
                  <a:srgbClr val="008000"/>
                </a:solidFill>
                <a:latin typeface="Courier New"/>
                <a:cs typeface="Courier New"/>
              </a:rPr>
              <a:t>"Enter integers, terminate with</a:t>
            </a:r>
            <a:r>
              <a:rPr sz="1500" b="1" spc="-6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500" b="1" spc="-5" dirty="0">
                <a:solidFill>
                  <a:srgbClr val="008000"/>
                </a:solidFill>
                <a:latin typeface="Courier New"/>
                <a:cs typeface="Courier New"/>
              </a:rPr>
              <a:t>control-d:"</a:t>
            </a:r>
            <a:r>
              <a:rPr sz="1500" b="1" spc="-5" dirty="0">
                <a:latin typeface="Courier New"/>
                <a:cs typeface="Courier New"/>
              </a:rPr>
              <a:t>);</a:t>
            </a:r>
            <a:endParaRPr sz="1500">
              <a:latin typeface="Courier New"/>
              <a:cs typeface="Courier New"/>
            </a:endParaRPr>
          </a:p>
          <a:p>
            <a:pPr marL="12700">
              <a:lnSpc>
                <a:spcPts val="2140"/>
              </a:lnSpc>
            </a:pPr>
            <a:r>
              <a:rPr sz="1800" b="1" spc="-10" dirty="0">
                <a:solidFill>
                  <a:srgbClr val="0000CC"/>
                </a:solidFill>
                <a:latin typeface="Courier New"/>
                <a:cs typeface="Courier New"/>
              </a:rPr>
              <a:t>while </a:t>
            </a:r>
            <a:r>
              <a:rPr sz="1800" b="1" spc="-10" dirty="0">
                <a:latin typeface="Courier New"/>
                <a:cs typeface="Courier New"/>
              </a:rPr>
              <a:t>(sc.hasNextInt()) </a:t>
            </a:r>
            <a:r>
              <a:rPr sz="1800" b="1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287020" marR="1175385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num </a:t>
            </a:r>
            <a:r>
              <a:rPr sz="1800" b="1" dirty="0">
                <a:latin typeface="Courier New"/>
                <a:cs typeface="Courier New"/>
              </a:rPr>
              <a:t>= </a:t>
            </a:r>
            <a:r>
              <a:rPr sz="1800" b="1" spc="-10" dirty="0">
                <a:latin typeface="Courier New"/>
                <a:cs typeface="Courier New"/>
              </a:rPr>
              <a:t>sc.nextInt();  System.out.println(</a:t>
            </a:r>
            <a:r>
              <a:rPr sz="1800" b="1" spc="-10" dirty="0">
                <a:solidFill>
                  <a:srgbClr val="008000"/>
                </a:solidFill>
                <a:latin typeface="Courier New"/>
                <a:cs typeface="Courier New"/>
              </a:rPr>
              <a:t>"Integer read: </a:t>
            </a:r>
            <a:r>
              <a:rPr sz="1800" b="1" dirty="0">
                <a:solidFill>
                  <a:srgbClr val="008000"/>
                </a:solidFill>
                <a:latin typeface="Courier New"/>
                <a:cs typeface="Courier New"/>
              </a:rPr>
              <a:t>" </a:t>
            </a:r>
            <a:r>
              <a:rPr sz="1800" b="1" dirty="0">
                <a:latin typeface="Courier New"/>
                <a:cs typeface="Courier New"/>
              </a:rPr>
              <a:t>+</a:t>
            </a:r>
            <a:r>
              <a:rPr sz="1800" b="1" spc="-7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num);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6486" y="3702557"/>
            <a:ext cx="1527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ourier New"/>
                <a:cs typeface="Courier New"/>
              </a:rPr>
              <a:t>sum </a:t>
            </a:r>
            <a:r>
              <a:rPr sz="1800" b="1" spc="-10" dirty="0">
                <a:latin typeface="Courier New"/>
                <a:cs typeface="Courier New"/>
              </a:rPr>
              <a:t>+=</a:t>
            </a:r>
            <a:r>
              <a:rPr sz="1800" b="1" spc="-10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num;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82141" y="3976573"/>
            <a:ext cx="48037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latin typeface="Courier New"/>
                <a:cs typeface="Courier New"/>
              </a:rPr>
              <a:t>System.out.println(</a:t>
            </a:r>
            <a:r>
              <a:rPr sz="1800" b="1" spc="-10" dirty="0">
                <a:solidFill>
                  <a:srgbClr val="008000"/>
                </a:solidFill>
                <a:latin typeface="Courier New"/>
                <a:cs typeface="Courier New"/>
              </a:rPr>
              <a:t>"Sum </a:t>
            </a:r>
            <a:r>
              <a:rPr sz="1800" b="1" dirty="0">
                <a:solidFill>
                  <a:srgbClr val="008000"/>
                </a:solidFill>
                <a:latin typeface="Courier New"/>
                <a:cs typeface="Courier New"/>
              </a:rPr>
              <a:t>= " </a:t>
            </a:r>
            <a:r>
              <a:rPr sz="1800" b="1" dirty="0">
                <a:latin typeface="Courier New"/>
                <a:cs typeface="Courier New"/>
              </a:rPr>
              <a:t>+</a:t>
            </a:r>
            <a:r>
              <a:rPr sz="1800" b="1" spc="-10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sum);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2581" y="4525771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3021" y="4800092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091237" y="3771709"/>
            <a:ext cx="2905125" cy="1980564"/>
            <a:chOff x="6091237" y="3771709"/>
            <a:chExt cx="2905125" cy="1980564"/>
          </a:xfrm>
        </p:grpSpPr>
        <p:sp>
          <p:nvSpPr>
            <p:cNvPr id="15" name="object 15"/>
            <p:cNvSpPr/>
            <p:nvPr/>
          </p:nvSpPr>
          <p:spPr>
            <a:xfrm>
              <a:off x="6096000" y="3776471"/>
              <a:ext cx="2895600" cy="1971039"/>
            </a:xfrm>
            <a:custGeom>
              <a:avLst/>
              <a:gdLst/>
              <a:ahLst/>
              <a:cxnLst/>
              <a:rect l="l" t="t" r="r" b="b"/>
              <a:pathLst>
                <a:path w="2895600" h="1971039">
                  <a:moveTo>
                    <a:pt x="2895600" y="0"/>
                  </a:moveTo>
                  <a:lnTo>
                    <a:pt x="0" y="0"/>
                  </a:lnTo>
                  <a:lnTo>
                    <a:pt x="0" y="1970531"/>
                  </a:lnTo>
                  <a:lnTo>
                    <a:pt x="2895600" y="1970531"/>
                  </a:lnTo>
                  <a:lnTo>
                    <a:pt x="2895600" y="0"/>
                  </a:lnTo>
                  <a:close/>
                </a:path>
              </a:pathLst>
            </a:custGeom>
            <a:solidFill>
              <a:srgbClr val="ED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96000" y="3776471"/>
              <a:ext cx="2895600" cy="1971039"/>
            </a:xfrm>
            <a:custGeom>
              <a:avLst/>
              <a:gdLst/>
              <a:ahLst/>
              <a:cxnLst/>
              <a:rect l="l" t="t" r="r" b="b"/>
              <a:pathLst>
                <a:path w="2895600" h="1971039">
                  <a:moveTo>
                    <a:pt x="0" y="1970531"/>
                  </a:moveTo>
                  <a:lnTo>
                    <a:pt x="2895600" y="1970531"/>
                  </a:lnTo>
                  <a:lnTo>
                    <a:pt x="2895600" y="0"/>
                  </a:lnTo>
                  <a:lnTo>
                    <a:pt x="0" y="0"/>
                  </a:lnTo>
                  <a:lnTo>
                    <a:pt x="0" y="1970531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175628" y="3783838"/>
            <a:ext cx="262064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urier New"/>
                <a:cs typeface="Courier New"/>
              </a:rPr>
              <a:t>Enter integers,</a:t>
            </a:r>
            <a:r>
              <a:rPr sz="1800" spc="-8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...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0000CC"/>
                </a:solidFill>
                <a:latin typeface="Courier New"/>
                <a:cs typeface="Courier New"/>
              </a:rPr>
              <a:t>17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Integer read: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17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0000CC"/>
                </a:solidFill>
                <a:latin typeface="Courier New"/>
                <a:cs typeface="Courier New"/>
              </a:rPr>
              <a:t>5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Integer read:</a:t>
            </a:r>
            <a:r>
              <a:rPr sz="1800" spc="-5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5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75628" y="5178678"/>
            <a:ext cx="2034539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i="1" spc="-10" dirty="0">
                <a:latin typeface="Arial"/>
                <a:cs typeface="Arial"/>
              </a:rPr>
              <a:t>(More </a:t>
            </a:r>
            <a:r>
              <a:rPr sz="1600" i="1" spc="-5" dirty="0">
                <a:latin typeface="Arial"/>
                <a:cs typeface="Arial"/>
              </a:rPr>
              <a:t>will be shown </a:t>
            </a:r>
            <a:r>
              <a:rPr sz="1600" i="1" dirty="0">
                <a:latin typeface="Arial"/>
                <a:cs typeface="Arial"/>
              </a:rPr>
              <a:t>in  </a:t>
            </a:r>
            <a:r>
              <a:rPr sz="1600" i="1" spc="-5" dirty="0">
                <a:latin typeface="Arial"/>
                <a:cs typeface="Arial"/>
              </a:rPr>
              <a:t>lecture)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51687" y="5265420"/>
            <a:ext cx="4744720" cy="1091565"/>
            <a:chOff x="551687" y="5265420"/>
            <a:chExt cx="4744720" cy="1091565"/>
          </a:xfrm>
        </p:grpSpPr>
        <p:sp>
          <p:nvSpPr>
            <p:cNvPr id="20" name="object 20"/>
            <p:cNvSpPr/>
            <p:nvPr/>
          </p:nvSpPr>
          <p:spPr>
            <a:xfrm>
              <a:off x="647705" y="5315727"/>
              <a:ext cx="4648188" cy="90674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51687" y="5265420"/>
              <a:ext cx="4495800" cy="109118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85799" y="5334000"/>
              <a:ext cx="4572000" cy="83058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85800" y="5334000"/>
            <a:ext cx="4572000" cy="830580"/>
          </a:xfrm>
          <a:prstGeom prst="rect">
            <a:avLst/>
          </a:prstGeom>
          <a:ln w="9144">
            <a:solidFill>
              <a:srgbClr val="A4C5C5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10"/>
              </a:spcBef>
            </a:pPr>
            <a:r>
              <a:rPr sz="2400" dirty="0">
                <a:latin typeface="Arial"/>
                <a:cs typeface="Arial"/>
              </a:rPr>
              <a:t>What </a:t>
            </a:r>
            <a:r>
              <a:rPr sz="2400" spc="-10" dirty="0">
                <a:latin typeface="Arial"/>
                <a:cs typeface="Arial"/>
              </a:rPr>
              <a:t>is </a:t>
            </a:r>
            <a:r>
              <a:rPr sz="2400" spc="-5" dirty="0">
                <a:latin typeface="Arial"/>
                <a:cs typeface="Arial"/>
              </a:rPr>
              <a:t>this</a:t>
            </a:r>
            <a:r>
              <a:rPr sz="2400" dirty="0">
                <a:latin typeface="Arial"/>
                <a:cs typeface="Arial"/>
              </a:rPr>
              <a:t> for?</a:t>
            </a:r>
            <a:endParaRPr sz="24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sz="2400" dirty="0">
                <a:solidFill>
                  <a:srgbClr val="0000CC"/>
                </a:solidFill>
                <a:latin typeface="Arial"/>
                <a:cs typeface="Arial"/>
              </a:rPr>
              <a:t>Attend </a:t>
            </a:r>
            <a:r>
              <a:rPr sz="2400" spc="-5" dirty="0">
                <a:solidFill>
                  <a:srgbClr val="0000CC"/>
                </a:solidFill>
                <a:latin typeface="Arial"/>
                <a:cs typeface="Arial"/>
              </a:rPr>
              <a:t>lecture </a:t>
            </a:r>
            <a:r>
              <a:rPr sz="2400" dirty="0">
                <a:solidFill>
                  <a:srgbClr val="0000CC"/>
                </a:solidFill>
                <a:latin typeface="Arial"/>
                <a:cs typeface="Arial"/>
              </a:rPr>
              <a:t>for</a:t>
            </a:r>
            <a:r>
              <a:rPr sz="2400" spc="-3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000CC"/>
                </a:solidFill>
                <a:latin typeface="Arial"/>
                <a:cs typeface="Arial"/>
              </a:rPr>
              <a:t>explanation!</a:t>
            </a:r>
            <a:endParaRPr sz="24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082292" y="1372235"/>
            <a:ext cx="523875" cy="3964304"/>
          </a:xfrm>
          <a:custGeom>
            <a:avLst/>
            <a:gdLst/>
            <a:ahLst/>
            <a:cxnLst/>
            <a:rect l="l" t="t" r="r" b="b"/>
            <a:pathLst>
              <a:path w="523875" h="3964304">
                <a:moveTo>
                  <a:pt x="60148" y="57114"/>
                </a:moveTo>
                <a:lnTo>
                  <a:pt x="48554" y="83546"/>
                </a:lnTo>
                <a:lnTo>
                  <a:pt x="495172" y="3964178"/>
                </a:lnTo>
                <a:lnTo>
                  <a:pt x="523875" y="3960876"/>
                </a:lnTo>
                <a:lnTo>
                  <a:pt x="77366" y="80108"/>
                </a:lnTo>
                <a:lnTo>
                  <a:pt x="60148" y="57114"/>
                </a:lnTo>
                <a:close/>
              </a:path>
              <a:path w="523875" h="3964304">
                <a:moveTo>
                  <a:pt x="53593" y="0"/>
                </a:moveTo>
                <a:lnTo>
                  <a:pt x="0" y="122174"/>
                </a:lnTo>
                <a:lnTo>
                  <a:pt x="3301" y="130682"/>
                </a:lnTo>
                <a:lnTo>
                  <a:pt x="17906" y="137160"/>
                </a:lnTo>
                <a:lnTo>
                  <a:pt x="26543" y="133857"/>
                </a:lnTo>
                <a:lnTo>
                  <a:pt x="29718" y="126491"/>
                </a:lnTo>
                <a:lnTo>
                  <a:pt x="48554" y="83546"/>
                </a:lnTo>
                <a:lnTo>
                  <a:pt x="42418" y="30225"/>
                </a:lnTo>
                <a:lnTo>
                  <a:pt x="71246" y="26924"/>
                </a:lnTo>
                <a:lnTo>
                  <a:pt x="73744" y="26924"/>
                </a:lnTo>
                <a:lnTo>
                  <a:pt x="53593" y="0"/>
                </a:lnTo>
                <a:close/>
              </a:path>
              <a:path w="523875" h="3964304">
                <a:moveTo>
                  <a:pt x="73744" y="26924"/>
                </a:moveTo>
                <a:lnTo>
                  <a:pt x="71246" y="26924"/>
                </a:lnTo>
                <a:lnTo>
                  <a:pt x="77366" y="80108"/>
                </a:lnTo>
                <a:lnTo>
                  <a:pt x="110362" y="124205"/>
                </a:lnTo>
                <a:lnTo>
                  <a:pt x="119380" y="125475"/>
                </a:lnTo>
                <a:lnTo>
                  <a:pt x="132206" y="115950"/>
                </a:lnTo>
                <a:lnTo>
                  <a:pt x="133476" y="106806"/>
                </a:lnTo>
                <a:lnTo>
                  <a:pt x="128777" y="100456"/>
                </a:lnTo>
                <a:lnTo>
                  <a:pt x="73744" y="26924"/>
                </a:lnTo>
                <a:close/>
              </a:path>
              <a:path w="523875" h="3964304">
                <a:moveTo>
                  <a:pt x="71246" y="26924"/>
                </a:moveTo>
                <a:lnTo>
                  <a:pt x="42418" y="30225"/>
                </a:lnTo>
                <a:lnTo>
                  <a:pt x="48554" y="83546"/>
                </a:lnTo>
                <a:lnTo>
                  <a:pt x="60148" y="57114"/>
                </a:lnTo>
                <a:lnTo>
                  <a:pt x="45338" y="37337"/>
                </a:lnTo>
                <a:lnTo>
                  <a:pt x="70103" y="34416"/>
                </a:lnTo>
                <a:lnTo>
                  <a:pt x="72109" y="34416"/>
                </a:lnTo>
                <a:lnTo>
                  <a:pt x="71246" y="26924"/>
                </a:lnTo>
                <a:close/>
              </a:path>
              <a:path w="523875" h="3964304">
                <a:moveTo>
                  <a:pt x="72109" y="34416"/>
                </a:moveTo>
                <a:lnTo>
                  <a:pt x="70103" y="34416"/>
                </a:lnTo>
                <a:lnTo>
                  <a:pt x="60148" y="57114"/>
                </a:lnTo>
                <a:lnTo>
                  <a:pt x="77366" y="80108"/>
                </a:lnTo>
                <a:lnTo>
                  <a:pt x="72109" y="34416"/>
                </a:lnTo>
                <a:close/>
              </a:path>
              <a:path w="523875" h="3964304">
                <a:moveTo>
                  <a:pt x="70103" y="34416"/>
                </a:moveTo>
                <a:lnTo>
                  <a:pt x="45338" y="37337"/>
                </a:lnTo>
                <a:lnTo>
                  <a:pt x="60148" y="57114"/>
                </a:lnTo>
                <a:lnTo>
                  <a:pt x="70103" y="34416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53085" y="6375879"/>
            <a:ext cx="22987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80"/>
              </a:lnSpc>
            </a:pPr>
            <a:r>
              <a:rPr sz="1800" spc="2595" dirty="0">
                <a:latin typeface="Wingdings"/>
                <a:cs typeface="Wingdings"/>
              </a:rPr>
              <a:t></a:t>
            </a:r>
            <a:endParaRPr sz="1800">
              <a:latin typeface="Wingdings"/>
              <a:cs typeface="Wingdings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</a:t>
            </a:r>
            <a:r>
              <a:rPr spc="5" dirty="0"/>
              <a:t>Lecture </a:t>
            </a:r>
            <a:r>
              <a:rPr dirty="0"/>
              <a:t>: OOP Part</a:t>
            </a:r>
            <a:r>
              <a:rPr spc="-190" dirty="0"/>
              <a:t> </a:t>
            </a:r>
            <a:r>
              <a:rPr dirty="0"/>
              <a:t>1]  </a:t>
            </a:r>
            <a:r>
              <a:rPr spc="-130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10</a:t>
            </a:fld>
            <a:endParaRPr spc="-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48158"/>
            <a:ext cx="64338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50" dirty="0">
                <a:uFill>
                  <a:solidFill>
                    <a:srgbClr val="003399"/>
                  </a:solidFill>
                </a:uFill>
              </a:rPr>
              <a:t>Scanner</a:t>
            </a:r>
            <a:r>
              <a:rPr spc="50" dirty="0"/>
              <a:t> </a:t>
            </a:r>
            <a:r>
              <a:rPr spc="25" dirty="0"/>
              <a:t>Class: </a:t>
            </a:r>
            <a:r>
              <a:rPr spc="20" dirty="0"/>
              <a:t>For</a:t>
            </a:r>
            <a:r>
              <a:rPr spc="-220" dirty="0"/>
              <a:t> </a:t>
            </a:r>
            <a:r>
              <a:rPr spc="5" dirty="0"/>
              <a:t>CodeCrunch</a:t>
            </a:r>
          </a:p>
        </p:txBody>
      </p:sp>
      <p:sp>
        <p:nvSpPr>
          <p:cNvPr id="3" name="object 3"/>
          <p:cNvSpPr/>
          <p:nvPr/>
        </p:nvSpPr>
        <p:spPr>
          <a:xfrm>
            <a:off x="163068" y="187452"/>
            <a:ext cx="523240" cy="1184275"/>
          </a:xfrm>
          <a:custGeom>
            <a:avLst/>
            <a:gdLst/>
            <a:ahLst/>
            <a:cxnLst/>
            <a:rect l="l" t="t" r="r" b="b"/>
            <a:pathLst>
              <a:path w="523240" h="1184275">
                <a:moveTo>
                  <a:pt x="522731" y="0"/>
                </a:moveTo>
                <a:lnTo>
                  <a:pt x="0" y="0"/>
                </a:lnTo>
                <a:lnTo>
                  <a:pt x="0" y="1184148"/>
                </a:lnTo>
                <a:lnTo>
                  <a:pt x="522731" y="1184148"/>
                </a:lnTo>
                <a:lnTo>
                  <a:pt x="522731" y="0"/>
                </a:lnTo>
                <a:close/>
              </a:path>
            </a:pathLst>
          </a:custGeom>
          <a:solidFill>
            <a:srgbClr val="FFCC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44239" y="328344"/>
            <a:ext cx="381000" cy="9652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990"/>
              </a:lnSpc>
            </a:pPr>
            <a:r>
              <a:rPr sz="2800" dirty="0">
                <a:solidFill>
                  <a:srgbClr val="C00000"/>
                </a:solidFill>
                <a:latin typeface="Trebuchet MS"/>
                <a:cs typeface="Trebuchet MS"/>
              </a:rPr>
              <a:t>2.</a:t>
            </a:r>
            <a:r>
              <a:rPr sz="2800" spc="-8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800" spc="15" dirty="0">
                <a:solidFill>
                  <a:srgbClr val="000099"/>
                </a:solidFill>
                <a:latin typeface="Trebuchet MS"/>
                <a:cs typeface="Trebuchet MS"/>
              </a:rPr>
              <a:t>API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1472311"/>
            <a:ext cx="7707630" cy="1884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18110" indent="-343535">
              <a:lnSpc>
                <a:spcPct val="100000"/>
              </a:lnSpc>
              <a:spcBef>
                <a:spcPts val="95"/>
              </a:spcBef>
              <a:buClr>
                <a:srgbClr val="009999"/>
              </a:buClr>
              <a:buSzPct val="64285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5" dirty="0">
                <a:latin typeface="Arial"/>
                <a:cs typeface="Arial"/>
              </a:rPr>
              <a:t>For a program to work in </a:t>
            </a:r>
            <a:r>
              <a:rPr sz="2800" dirty="0">
                <a:latin typeface="Arial"/>
                <a:cs typeface="Arial"/>
              </a:rPr>
              <a:t>CodeCrunch, </a:t>
            </a:r>
            <a:r>
              <a:rPr sz="2800" spc="-5" dirty="0">
                <a:latin typeface="Arial"/>
                <a:cs typeface="Arial"/>
              </a:rPr>
              <a:t>it </a:t>
            </a:r>
            <a:r>
              <a:rPr sz="2800" spc="-5" dirty="0">
                <a:solidFill>
                  <a:srgbClr val="C00000"/>
                </a:solidFill>
                <a:latin typeface="Arial"/>
                <a:cs typeface="Arial"/>
              </a:rPr>
              <a:t>must </a:t>
            </a:r>
            <a:r>
              <a:rPr sz="2800" u="heavy" spc="-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Arial"/>
                <a:cs typeface="Arial"/>
              </a:rPr>
              <a:t> </a:t>
            </a:r>
            <a:r>
              <a:rPr sz="2800" u="heavy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Arial"/>
                <a:cs typeface="Arial"/>
              </a:rPr>
              <a:t>not</a:t>
            </a:r>
            <a:r>
              <a:rPr sz="280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C00000"/>
                </a:solidFill>
                <a:latin typeface="Arial"/>
                <a:cs typeface="Arial"/>
              </a:rPr>
              <a:t>have more </a:t>
            </a:r>
            <a:r>
              <a:rPr sz="2800" dirty="0">
                <a:solidFill>
                  <a:srgbClr val="C00000"/>
                </a:solidFill>
                <a:latin typeface="Arial"/>
                <a:cs typeface="Arial"/>
              </a:rPr>
              <a:t>than one </a:t>
            </a:r>
            <a:r>
              <a:rPr sz="2800" spc="-5" dirty="0">
                <a:solidFill>
                  <a:srgbClr val="C00000"/>
                </a:solidFill>
                <a:latin typeface="Arial"/>
                <a:cs typeface="Arial"/>
              </a:rPr>
              <a:t>Scanner</a:t>
            </a:r>
            <a:r>
              <a:rPr sz="2800" spc="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spc="5" dirty="0">
                <a:solidFill>
                  <a:srgbClr val="C00000"/>
                </a:solidFill>
                <a:latin typeface="Arial"/>
                <a:cs typeface="Arial"/>
              </a:rPr>
              <a:t>object</a:t>
            </a:r>
            <a:r>
              <a:rPr sz="2800" spc="5" dirty="0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  <a:p>
            <a:pPr marL="355600" marR="5080" indent="-343535">
              <a:lnSpc>
                <a:spcPct val="100000"/>
              </a:lnSpc>
              <a:spcBef>
                <a:spcPts val="1200"/>
              </a:spcBef>
              <a:buClr>
                <a:srgbClr val="009999"/>
              </a:buClr>
              <a:buSzPct val="64285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5" dirty="0">
                <a:latin typeface="Arial"/>
                <a:cs typeface="Arial"/>
              </a:rPr>
              <a:t>Hence, </a:t>
            </a:r>
            <a:r>
              <a:rPr sz="2800" dirty="0">
                <a:latin typeface="Arial"/>
                <a:cs typeface="Arial"/>
              </a:rPr>
              <a:t>create at </a:t>
            </a:r>
            <a:r>
              <a:rPr sz="2800" spc="-5" dirty="0">
                <a:latin typeface="Arial"/>
                <a:cs typeface="Arial"/>
              </a:rPr>
              <a:t>most </a:t>
            </a:r>
            <a:r>
              <a:rPr sz="2800" dirty="0">
                <a:latin typeface="Arial"/>
                <a:cs typeface="Arial"/>
              </a:rPr>
              <a:t>one Scanner object </a:t>
            </a:r>
            <a:r>
              <a:rPr sz="2800" spc="-5" dirty="0">
                <a:latin typeface="Arial"/>
                <a:cs typeface="Arial"/>
              </a:rPr>
              <a:t>and  use </a:t>
            </a:r>
            <a:r>
              <a:rPr sz="2800" dirty="0">
                <a:latin typeface="Arial"/>
                <a:cs typeface="Arial"/>
              </a:rPr>
              <a:t>it </a:t>
            </a:r>
            <a:r>
              <a:rPr sz="2800" spc="-5" dirty="0">
                <a:latin typeface="Arial"/>
                <a:cs typeface="Arial"/>
              </a:rPr>
              <a:t>to read all</a:t>
            </a:r>
            <a:r>
              <a:rPr sz="2800" spc="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inputs.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543800" y="228600"/>
            <a:ext cx="1219200" cy="1219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</a:t>
            </a:r>
            <a:r>
              <a:rPr spc="5" dirty="0"/>
              <a:t>Lecture </a:t>
            </a:r>
            <a:r>
              <a:rPr dirty="0"/>
              <a:t>: OOP Part</a:t>
            </a:r>
            <a:r>
              <a:rPr spc="-190" dirty="0"/>
              <a:t> </a:t>
            </a:r>
            <a:r>
              <a:rPr dirty="0"/>
              <a:t>1]  </a:t>
            </a:r>
            <a:r>
              <a:rPr spc="-130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11</a:t>
            </a:fld>
            <a:endParaRPr spc="-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48158"/>
            <a:ext cx="72853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45" dirty="0">
                <a:uFill>
                  <a:solidFill>
                    <a:srgbClr val="003399"/>
                  </a:solidFill>
                </a:uFill>
              </a:rPr>
              <a:t>String</a:t>
            </a:r>
            <a:r>
              <a:rPr spc="45" dirty="0"/>
              <a:t> </a:t>
            </a:r>
            <a:r>
              <a:rPr spc="20" dirty="0"/>
              <a:t>Class: </a:t>
            </a:r>
            <a:r>
              <a:rPr spc="-25" dirty="0"/>
              <a:t>Representation </a:t>
            </a:r>
            <a:r>
              <a:rPr spc="25" dirty="0"/>
              <a:t>in</a:t>
            </a:r>
            <a:r>
              <a:rPr spc="-140" dirty="0"/>
              <a:t> </a:t>
            </a:r>
            <a:r>
              <a:rPr spc="-200" dirty="0"/>
              <a:t>Text</a:t>
            </a:r>
          </a:p>
        </p:txBody>
      </p:sp>
      <p:sp>
        <p:nvSpPr>
          <p:cNvPr id="3" name="object 3"/>
          <p:cNvSpPr/>
          <p:nvPr/>
        </p:nvSpPr>
        <p:spPr>
          <a:xfrm>
            <a:off x="163068" y="187452"/>
            <a:ext cx="523240" cy="1184275"/>
          </a:xfrm>
          <a:custGeom>
            <a:avLst/>
            <a:gdLst/>
            <a:ahLst/>
            <a:cxnLst/>
            <a:rect l="l" t="t" r="r" b="b"/>
            <a:pathLst>
              <a:path w="523240" h="1184275">
                <a:moveTo>
                  <a:pt x="522731" y="0"/>
                </a:moveTo>
                <a:lnTo>
                  <a:pt x="0" y="0"/>
                </a:lnTo>
                <a:lnTo>
                  <a:pt x="0" y="1184148"/>
                </a:lnTo>
                <a:lnTo>
                  <a:pt x="522731" y="1184148"/>
                </a:lnTo>
                <a:lnTo>
                  <a:pt x="522731" y="0"/>
                </a:lnTo>
                <a:close/>
              </a:path>
            </a:pathLst>
          </a:custGeom>
          <a:solidFill>
            <a:srgbClr val="FFCC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44239" y="328344"/>
            <a:ext cx="381000" cy="9652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990"/>
              </a:lnSpc>
            </a:pPr>
            <a:r>
              <a:rPr sz="2800" dirty="0">
                <a:solidFill>
                  <a:srgbClr val="C00000"/>
                </a:solidFill>
                <a:latin typeface="Trebuchet MS"/>
                <a:cs typeface="Trebuchet MS"/>
              </a:rPr>
              <a:t>2.</a:t>
            </a:r>
            <a:r>
              <a:rPr sz="2800" spc="-8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800" spc="15" dirty="0">
                <a:solidFill>
                  <a:srgbClr val="000099"/>
                </a:solidFill>
                <a:latin typeface="Trebuchet MS"/>
                <a:cs typeface="Trebuchet MS"/>
              </a:rPr>
              <a:t>API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940053"/>
            <a:ext cx="7581265" cy="1504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API documentation</a:t>
            </a:r>
            <a:endParaRPr sz="2400">
              <a:latin typeface="Arial"/>
              <a:cs typeface="Arial"/>
            </a:endParaRPr>
          </a:p>
          <a:p>
            <a:pPr marL="683260" lvl="1" indent="-327025">
              <a:lnSpc>
                <a:spcPct val="100000"/>
              </a:lnSpc>
              <a:buClr>
                <a:srgbClr val="4B6C4E"/>
              </a:buClr>
              <a:buSzPct val="60000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000" u="heavy" spc="-5" dirty="0">
                <a:solidFill>
                  <a:srgbClr val="002571"/>
                </a:solidFill>
                <a:uFill>
                  <a:solidFill>
                    <a:srgbClr val="002571"/>
                  </a:solidFill>
                </a:uFill>
                <a:latin typeface="Arial"/>
                <a:cs typeface="Arial"/>
                <a:hlinkClick r:id="rId2"/>
              </a:rPr>
              <a:t>http://docs.oracle.com/javase/7/docs/api/java/lang/String.html</a:t>
            </a:r>
            <a:endParaRPr sz="20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30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dirty="0">
                <a:latin typeface="Arial"/>
                <a:cs typeface="Arial"/>
              </a:rPr>
              <a:t>Import </a:t>
            </a:r>
            <a:r>
              <a:rPr sz="2400" spc="-5" dirty="0">
                <a:solidFill>
                  <a:srgbClr val="000099"/>
                </a:solidFill>
                <a:latin typeface="Arial"/>
                <a:cs typeface="Arial"/>
              </a:rPr>
              <a:t>java.lang.String</a:t>
            </a:r>
            <a:r>
              <a:rPr sz="240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(optional)</a:t>
            </a:r>
            <a:endParaRPr sz="24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30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Ubiquitous; Has a rich </a:t>
            </a:r>
            <a:r>
              <a:rPr sz="2400" dirty="0">
                <a:latin typeface="Arial"/>
                <a:cs typeface="Arial"/>
              </a:rPr>
              <a:t>set of</a:t>
            </a:r>
            <a:r>
              <a:rPr sz="2400" spc="3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methods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2762" y="2515361"/>
            <a:ext cx="2438400" cy="3662679"/>
          </a:xfrm>
          <a:prstGeom prst="rect">
            <a:avLst/>
          </a:prstGeom>
          <a:solidFill>
            <a:srgbClr val="FFCCFF"/>
          </a:solidFill>
          <a:ln w="25908">
            <a:solidFill>
              <a:srgbClr val="CC66FF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90170" marR="668655">
              <a:lnSpc>
                <a:spcPct val="100000"/>
              </a:lnSpc>
              <a:spcBef>
                <a:spcPts val="300"/>
              </a:spcBef>
            </a:pPr>
            <a:r>
              <a:rPr sz="2000" dirty="0">
                <a:latin typeface="Arial"/>
                <a:cs typeface="Arial"/>
              </a:rPr>
              <a:t>charAt()  concat()  equals()  indexOf()  lastIndexOf()  length()  toL</a:t>
            </a:r>
            <a:r>
              <a:rPr sz="2000" spc="5" dirty="0">
                <a:latin typeface="Arial"/>
                <a:cs typeface="Arial"/>
              </a:rPr>
              <a:t>ow</a:t>
            </a:r>
            <a:r>
              <a:rPr sz="2000" dirty="0">
                <a:latin typeface="Arial"/>
                <a:cs typeface="Arial"/>
              </a:rPr>
              <a:t>e</a:t>
            </a:r>
            <a:r>
              <a:rPr sz="2000" spc="10" dirty="0">
                <a:latin typeface="Arial"/>
                <a:cs typeface="Arial"/>
              </a:rPr>
              <a:t>r</a:t>
            </a:r>
            <a:r>
              <a:rPr sz="2000" spc="5" dirty="0">
                <a:latin typeface="Arial"/>
                <a:cs typeface="Arial"/>
              </a:rPr>
              <a:t>C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10" dirty="0">
                <a:latin typeface="Arial"/>
                <a:cs typeface="Arial"/>
              </a:rPr>
              <a:t>s</a:t>
            </a:r>
            <a:r>
              <a:rPr sz="2000" spc="-25" dirty="0">
                <a:latin typeface="Arial"/>
                <a:cs typeface="Arial"/>
              </a:rPr>
              <a:t>e</a:t>
            </a:r>
            <a:r>
              <a:rPr sz="2000" dirty="0">
                <a:latin typeface="Arial"/>
                <a:cs typeface="Arial"/>
              </a:rPr>
              <a:t>()  to</a:t>
            </a:r>
            <a:r>
              <a:rPr sz="2000" spc="5" dirty="0">
                <a:latin typeface="Arial"/>
                <a:cs typeface="Arial"/>
              </a:rPr>
              <a:t>U</a:t>
            </a:r>
            <a:r>
              <a:rPr sz="2000" dirty="0">
                <a:latin typeface="Arial"/>
                <a:cs typeface="Arial"/>
              </a:rPr>
              <a:t>p</a:t>
            </a:r>
            <a:r>
              <a:rPr sz="2000" spc="5" dirty="0">
                <a:latin typeface="Arial"/>
                <a:cs typeface="Arial"/>
              </a:rPr>
              <a:t>p</a:t>
            </a:r>
            <a:r>
              <a:rPr sz="2000" dirty="0">
                <a:latin typeface="Arial"/>
                <a:cs typeface="Arial"/>
              </a:rPr>
              <a:t>e</a:t>
            </a:r>
            <a:r>
              <a:rPr sz="2000" spc="10" dirty="0">
                <a:latin typeface="Arial"/>
                <a:cs typeface="Arial"/>
              </a:rPr>
              <a:t>r</a:t>
            </a:r>
            <a:r>
              <a:rPr sz="2000" spc="5" dirty="0">
                <a:latin typeface="Arial"/>
                <a:cs typeface="Arial"/>
              </a:rPr>
              <a:t>C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10" dirty="0">
                <a:latin typeface="Arial"/>
                <a:cs typeface="Arial"/>
              </a:rPr>
              <a:t>s</a:t>
            </a:r>
            <a:r>
              <a:rPr sz="2000" spc="-25" dirty="0">
                <a:latin typeface="Arial"/>
                <a:cs typeface="Arial"/>
              </a:rPr>
              <a:t>e</a:t>
            </a:r>
            <a:r>
              <a:rPr sz="2000" dirty="0">
                <a:latin typeface="Arial"/>
                <a:cs typeface="Arial"/>
              </a:rPr>
              <a:t>()  substring()  trim()</a:t>
            </a:r>
            <a:endParaRPr sz="2000">
              <a:latin typeface="Arial"/>
              <a:cs typeface="Arial"/>
            </a:endParaRPr>
          </a:p>
          <a:p>
            <a:pPr marL="90170">
              <a:lnSpc>
                <a:spcPct val="100000"/>
              </a:lnSpc>
              <a:spcBef>
                <a:spcPts val="1465"/>
              </a:spcBef>
            </a:pPr>
            <a:r>
              <a:rPr sz="1600" i="1" spc="-5" dirty="0">
                <a:latin typeface="Arial"/>
                <a:cs typeface="Arial"/>
              </a:rPr>
              <a:t>And </a:t>
            </a:r>
            <a:r>
              <a:rPr sz="1600" i="1" spc="-10" dirty="0">
                <a:latin typeface="Arial"/>
                <a:cs typeface="Arial"/>
              </a:rPr>
              <a:t>many</a:t>
            </a:r>
            <a:r>
              <a:rPr sz="1600" i="1" spc="10" dirty="0">
                <a:latin typeface="Arial"/>
                <a:cs typeface="Arial"/>
              </a:rPr>
              <a:t> </a:t>
            </a:r>
            <a:r>
              <a:rPr sz="1600" i="1" spc="-10" dirty="0">
                <a:latin typeface="Arial"/>
                <a:cs typeface="Arial"/>
              </a:rPr>
              <a:t>more…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549155" y="2514600"/>
            <a:ext cx="5318652" cy="3810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</a:t>
            </a:r>
            <a:r>
              <a:rPr spc="5" dirty="0"/>
              <a:t>Lecture </a:t>
            </a:r>
            <a:r>
              <a:rPr dirty="0"/>
              <a:t>: OOP Part</a:t>
            </a:r>
            <a:r>
              <a:rPr spc="-190" dirty="0"/>
              <a:t> </a:t>
            </a:r>
            <a:r>
              <a:rPr dirty="0"/>
              <a:t>1]  </a:t>
            </a:r>
            <a:r>
              <a:rPr spc="-130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12</a:t>
            </a:fld>
            <a:endParaRPr spc="-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48158"/>
            <a:ext cx="51123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45" dirty="0">
                <a:uFill>
                  <a:solidFill>
                    <a:srgbClr val="003399"/>
                  </a:solidFill>
                </a:uFill>
              </a:rPr>
              <a:t>String</a:t>
            </a:r>
            <a:r>
              <a:rPr spc="45" dirty="0"/>
              <a:t> </a:t>
            </a:r>
            <a:r>
              <a:rPr spc="20" dirty="0"/>
              <a:t>Class: </a:t>
            </a:r>
            <a:r>
              <a:rPr spc="-15" dirty="0"/>
              <a:t>Demo</a:t>
            </a:r>
            <a:r>
              <a:rPr spc="-130" dirty="0"/>
              <a:t> </a:t>
            </a:r>
            <a:r>
              <a:rPr spc="55" dirty="0"/>
              <a:t>(1/2)</a:t>
            </a:r>
          </a:p>
        </p:txBody>
      </p:sp>
      <p:sp>
        <p:nvSpPr>
          <p:cNvPr id="3" name="object 3"/>
          <p:cNvSpPr/>
          <p:nvPr/>
        </p:nvSpPr>
        <p:spPr>
          <a:xfrm>
            <a:off x="163068" y="187451"/>
            <a:ext cx="523240" cy="1184275"/>
          </a:xfrm>
          <a:custGeom>
            <a:avLst/>
            <a:gdLst/>
            <a:ahLst/>
            <a:cxnLst/>
            <a:rect l="l" t="t" r="r" b="b"/>
            <a:pathLst>
              <a:path w="523240" h="1184275">
                <a:moveTo>
                  <a:pt x="522732" y="0"/>
                </a:moveTo>
                <a:lnTo>
                  <a:pt x="0" y="0"/>
                </a:lnTo>
                <a:lnTo>
                  <a:pt x="0" y="803910"/>
                </a:lnTo>
                <a:lnTo>
                  <a:pt x="0" y="1184148"/>
                </a:lnTo>
                <a:lnTo>
                  <a:pt x="522732" y="1184148"/>
                </a:lnTo>
                <a:lnTo>
                  <a:pt x="522732" y="803910"/>
                </a:lnTo>
                <a:lnTo>
                  <a:pt x="522732" y="0"/>
                </a:lnTo>
                <a:close/>
              </a:path>
            </a:pathLst>
          </a:custGeom>
          <a:solidFill>
            <a:srgbClr val="FFCC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56939" y="962575"/>
            <a:ext cx="355600" cy="614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60"/>
              </a:lnSpc>
            </a:pPr>
            <a:r>
              <a:rPr sz="2800" spc="-229" dirty="0">
                <a:solidFill>
                  <a:srgbClr val="C00000"/>
                </a:solidFill>
                <a:latin typeface="Trebuchet MS"/>
                <a:cs typeface="Trebuchet MS"/>
              </a:rPr>
              <a:t>.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ts val="2800"/>
              </a:lnSpc>
              <a:spcBef>
                <a:spcPts val="675"/>
              </a:spcBef>
            </a:pPr>
            <a:r>
              <a:rPr sz="2800" spc="235" dirty="0">
                <a:solidFill>
                  <a:srgbClr val="C00000"/>
                </a:solidFill>
                <a:latin typeface="Trebuchet MS"/>
                <a:cs typeface="Trebuchet MS"/>
              </a:rPr>
              <a:t>2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4239" y="328344"/>
            <a:ext cx="381000" cy="53975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990"/>
              </a:lnSpc>
            </a:pPr>
            <a:r>
              <a:rPr sz="2800" dirty="0">
                <a:solidFill>
                  <a:srgbClr val="000099"/>
                </a:solidFill>
                <a:latin typeface="Trebuchet MS"/>
                <a:cs typeface="Trebuchet MS"/>
              </a:rPr>
              <a:t>API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44944" y="978344"/>
            <a:ext cx="8091170" cy="5360035"/>
            <a:chOff x="444944" y="978344"/>
            <a:chExt cx="8091170" cy="5360035"/>
          </a:xfrm>
        </p:grpSpPr>
        <p:sp>
          <p:nvSpPr>
            <p:cNvPr id="7" name="object 7"/>
            <p:cNvSpPr/>
            <p:nvPr/>
          </p:nvSpPr>
          <p:spPr>
            <a:xfrm>
              <a:off x="457962" y="991361"/>
              <a:ext cx="8065134" cy="5334000"/>
            </a:xfrm>
            <a:custGeom>
              <a:avLst/>
              <a:gdLst/>
              <a:ahLst/>
              <a:cxnLst/>
              <a:rect l="l" t="t" r="r" b="b"/>
              <a:pathLst>
                <a:path w="8065134" h="5334000">
                  <a:moveTo>
                    <a:pt x="8064995" y="0"/>
                  </a:moveTo>
                  <a:lnTo>
                    <a:pt x="0" y="0"/>
                  </a:lnTo>
                  <a:lnTo>
                    <a:pt x="0" y="227838"/>
                  </a:lnTo>
                  <a:lnTo>
                    <a:pt x="0" y="5334000"/>
                  </a:lnTo>
                  <a:lnTo>
                    <a:pt x="8064995" y="5334000"/>
                  </a:lnTo>
                  <a:lnTo>
                    <a:pt x="8064995" y="227838"/>
                  </a:lnTo>
                  <a:lnTo>
                    <a:pt x="8064995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961" y="991362"/>
              <a:ext cx="8065134" cy="5334000"/>
            </a:xfrm>
            <a:custGeom>
              <a:avLst/>
              <a:gdLst/>
              <a:ahLst/>
              <a:cxnLst/>
              <a:rect l="l" t="t" r="r" b="b"/>
              <a:pathLst>
                <a:path w="8065134" h="5334000">
                  <a:moveTo>
                    <a:pt x="0" y="5334000"/>
                  </a:moveTo>
                  <a:lnTo>
                    <a:pt x="8065008" y="5334000"/>
                  </a:lnTo>
                  <a:lnTo>
                    <a:pt x="8065008" y="0"/>
                  </a:lnTo>
                  <a:lnTo>
                    <a:pt x="0" y="0"/>
                  </a:lnTo>
                  <a:lnTo>
                    <a:pt x="0" y="5334000"/>
                  </a:lnTo>
                  <a:close/>
                </a:path>
              </a:pathLst>
            </a:custGeom>
            <a:ln w="25908">
              <a:solidFill>
                <a:srgbClr val="AAC9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5940" y="964437"/>
            <a:ext cx="30803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0000FF"/>
                </a:solidFill>
                <a:latin typeface="Courier New"/>
                <a:cs typeface="Courier New"/>
              </a:rPr>
              <a:t>public class </a:t>
            </a:r>
            <a:r>
              <a:rPr sz="1600" b="1" spc="-5" dirty="0">
                <a:latin typeface="Courier New"/>
                <a:cs typeface="Courier New"/>
              </a:rPr>
              <a:t>TestString {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5940" y="1208278"/>
            <a:ext cx="7680325" cy="50558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2425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0000FF"/>
                </a:solidFill>
                <a:latin typeface="Courier New"/>
                <a:cs typeface="Courier New"/>
              </a:rPr>
              <a:t>public </a:t>
            </a:r>
            <a:r>
              <a:rPr sz="1600" b="1" dirty="0">
                <a:solidFill>
                  <a:srgbClr val="0000FF"/>
                </a:solidFill>
                <a:latin typeface="Courier New"/>
                <a:cs typeface="Courier New"/>
              </a:rPr>
              <a:t>static </a:t>
            </a:r>
            <a:r>
              <a:rPr sz="1600" b="1" spc="-5" dirty="0">
                <a:solidFill>
                  <a:srgbClr val="0000FF"/>
                </a:solidFill>
                <a:latin typeface="Courier New"/>
                <a:cs typeface="Courier New"/>
              </a:rPr>
              <a:t>void </a:t>
            </a:r>
            <a:r>
              <a:rPr sz="1600" b="1" spc="-5" dirty="0">
                <a:latin typeface="Courier New"/>
                <a:cs typeface="Courier New"/>
              </a:rPr>
              <a:t>main(String[] args)</a:t>
            </a:r>
            <a:r>
              <a:rPr sz="1600" b="1" spc="4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702945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String text = </a:t>
            </a:r>
            <a:r>
              <a:rPr sz="1600" b="1" spc="-5" dirty="0">
                <a:solidFill>
                  <a:srgbClr val="0000FF"/>
                </a:solidFill>
                <a:latin typeface="Courier New"/>
                <a:cs typeface="Courier New"/>
              </a:rPr>
              <a:t>new </a:t>
            </a:r>
            <a:r>
              <a:rPr sz="1600" b="1" spc="-5" dirty="0">
                <a:latin typeface="Courier New"/>
                <a:cs typeface="Courier New"/>
              </a:rPr>
              <a:t>String(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"I'm studying</a:t>
            </a:r>
            <a:r>
              <a:rPr sz="1600" b="1" spc="4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501043."</a:t>
            </a:r>
            <a:r>
              <a:rPr sz="1600" b="1" dirty="0"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702945">
              <a:lnSpc>
                <a:spcPct val="100000"/>
              </a:lnSpc>
            </a:pPr>
            <a:r>
              <a:rPr sz="1600" b="1" spc="-5" dirty="0">
                <a:solidFill>
                  <a:srgbClr val="800000"/>
                </a:solidFill>
                <a:latin typeface="Courier New"/>
                <a:cs typeface="Courier New"/>
              </a:rPr>
              <a:t>// or </a:t>
            </a:r>
            <a:r>
              <a:rPr sz="1600" b="1" spc="-5" dirty="0">
                <a:latin typeface="Courier New"/>
                <a:cs typeface="Courier New"/>
              </a:rPr>
              <a:t>String text = 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"I'm studying</a:t>
            </a:r>
            <a:r>
              <a:rPr sz="1600" b="1" spc="7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501043."</a:t>
            </a:r>
            <a:r>
              <a:rPr sz="1600" b="1" spc="-5" dirty="0"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 marL="702945" marR="5080">
              <a:lnSpc>
                <a:spcPct val="100000"/>
              </a:lnSpc>
              <a:spcBef>
                <a:spcPts val="5"/>
              </a:spcBef>
            </a:pPr>
            <a:r>
              <a:rPr sz="1600" b="1" spc="-5" dirty="0">
                <a:solidFill>
                  <a:srgbClr val="800000"/>
                </a:solidFill>
                <a:latin typeface="Courier New"/>
                <a:cs typeface="Courier New"/>
              </a:rPr>
              <a:t>// We will explain the difference later.  </a:t>
            </a:r>
            <a:r>
              <a:rPr sz="1600" b="1" spc="-5" dirty="0">
                <a:latin typeface="Courier New"/>
                <a:cs typeface="Courier New"/>
              </a:rPr>
              <a:t>System.out.println(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"text: " </a:t>
            </a:r>
            <a:r>
              <a:rPr sz="1600" b="1" spc="-5" dirty="0">
                <a:latin typeface="Courier New"/>
                <a:cs typeface="Courier New"/>
              </a:rPr>
              <a:t>+ text);  System.out.println(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"text.length() = " </a:t>
            </a:r>
            <a:r>
              <a:rPr sz="1600" b="1" spc="-5" dirty="0">
                <a:latin typeface="Courier New"/>
                <a:cs typeface="Courier New"/>
              </a:rPr>
              <a:t>+ text.length());  System.out.println(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"text.charAt(5) = " </a:t>
            </a:r>
            <a:r>
              <a:rPr sz="1600" b="1" spc="-5" dirty="0">
                <a:latin typeface="Courier New"/>
                <a:cs typeface="Courier New"/>
              </a:rPr>
              <a:t>+ text.charAt(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5</a:t>
            </a:r>
            <a:r>
              <a:rPr sz="1600" b="1" spc="-5" dirty="0">
                <a:latin typeface="Courier New"/>
                <a:cs typeface="Courier New"/>
              </a:rPr>
              <a:t>));  System.out.println(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"text.substring(5,8) = "</a:t>
            </a:r>
            <a:r>
              <a:rPr sz="1600" b="1" spc="3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+</a:t>
            </a:r>
            <a:endParaRPr sz="1600">
              <a:latin typeface="Courier New"/>
              <a:cs typeface="Courier New"/>
            </a:endParaRPr>
          </a:p>
          <a:p>
            <a:pPr marL="702945" marR="1349375" indent="2442845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text.substring(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5</a:t>
            </a:r>
            <a:r>
              <a:rPr sz="1600" b="1" spc="-5" dirty="0">
                <a:latin typeface="Courier New"/>
                <a:cs typeface="Courier New"/>
              </a:rPr>
              <a:t>,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8</a:t>
            </a:r>
            <a:r>
              <a:rPr sz="1600" b="1" spc="-5" dirty="0">
                <a:latin typeface="Courier New"/>
                <a:cs typeface="Courier New"/>
              </a:rPr>
              <a:t>));  System.out.println(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"text.indexOf(</a:t>
            </a:r>
            <a:r>
              <a:rPr sz="1600" b="1" spc="-5" dirty="0">
                <a:solidFill>
                  <a:srgbClr val="FF0000"/>
                </a:solidFill>
                <a:latin typeface="Courier New"/>
                <a:cs typeface="Courier New"/>
              </a:rPr>
              <a:t>\"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in</a:t>
            </a:r>
            <a:r>
              <a:rPr sz="1600" b="1" spc="-5" dirty="0">
                <a:solidFill>
                  <a:srgbClr val="FF0000"/>
                </a:solidFill>
                <a:latin typeface="Courier New"/>
                <a:cs typeface="Courier New"/>
              </a:rPr>
              <a:t>\"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) = "</a:t>
            </a:r>
            <a:r>
              <a:rPr sz="1600" b="1" spc="5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+</a:t>
            </a:r>
            <a:endParaRPr sz="1600">
              <a:latin typeface="Courier New"/>
              <a:cs typeface="Courier New"/>
            </a:endParaRPr>
          </a:p>
          <a:p>
            <a:pPr marL="3146425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text.indexOf(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"in"</a:t>
            </a:r>
            <a:r>
              <a:rPr sz="1600" b="1" spc="-5" dirty="0">
                <a:latin typeface="Courier New"/>
                <a:cs typeface="Courier New"/>
              </a:rPr>
              <a:t>));</a:t>
            </a:r>
            <a:endParaRPr sz="1600">
              <a:latin typeface="Courier New"/>
              <a:cs typeface="Courier New"/>
            </a:endParaRPr>
          </a:p>
          <a:p>
            <a:pPr marL="702945" marR="1838325">
              <a:lnSpc>
                <a:spcPct val="100000"/>
              </a:lnSpc>
              <a:spcBef>
                <a:spcPts val="1200"/>
              </a:spcBef>
            </a:pPr>
            <a:r>
              <a:rPr sz="1600" b="1" spc="-5" dirty="0">
                <a:latin typeface="Courier New"/>
                <a:cs typeface="Courier New"/>
              </a:rPr>
              <a:t>String newText = text + 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"How about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you?"</a:t>
            </a:r>
            <a:r>
              <a:rPr sz="1600" b="1" dirty="0">
                <a:latin typeface="Courier New"/>
                <a:cs typeface="Courier New"/>
              </a:rPr>
              <a:t>;  </a:t>
            </a:r>
            <a:r>
              <a:rPr sz="1600" b="1" spc="-5" dirty="0">
                <a:latin typeface="Courier New"/>
                <a:cs typeface="Courier New"/>
              </a:rPr>
              <a:t>newText = newText.toUpperCase();  System.out.println(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"newText: " </a:t>
            </a:r>
            <a:r>
              <a:rPr sz="1600" b="1" spc="-5" dirty="0">
                <a:latin typeface="Courier New"/>
                <a:cs typeface="Courier New"/>
              </a:rPr>
              <a:t>+ newText);  </a:t>
            </a:r>
            <a:r>
              <a:rPr sz="1600" b="1" spc="-5" dirty="0">
                <a:solidFill>
                  <a:srgbClr val="0000FF"/>
                </a:solidFill>
                <a:latin typeface="Courier New"/>
                <a:cs typeface="Courier New"/>
              </a:rPr>
              <a:t>if </a:t>
            </a:r>
            <a:r>
              <a:rPr sz="1600" b="1" spc="-5" dirty="0">
                <a:latin typeface="Courier New"/>
                <a:cs typeface="Courier New"/>
              </a:rPr>
              <a:t>(text.equals(newText))</a:t>
            </a:r>
            <a:endParaRPr sz="1600">
              <a:latin typeface="Courier New"/>
              <a:cs typeface="Courier New"/>
            </a:endParaRPr>
          </a:p>
          <a:p>
            <a:pPr marL="1044575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System.out.println(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"text and newText are</a:t>
            </a:r>
            <a:r>
              <a:rPr sz="1600" b="1" spc="60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equal."</a:t>
            </a:r>
            <a:r>
              <a:rPr sz="1600" b="1" spc="-5" dirty="0"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702945">
              <a:lnSpc>
                <a:spcPct val="100000"/>
              </a:lnSpc>
            </a:pPr>
            <a:r>
              <a:rPr sz="1600" b="1" spc="-5" dirty="0">
                <a:solidFill>
                  <a:srgbClr val="0000FF"/>
                </a:solidFill>
                <a:latin typeface="Courier New"/>
                <a:cs typeface="Courier New"/>
              </a:rPr>
              <a:t>else</a:t>
            </a:r>
            <a:endParaRPr sz="1600">
              <a:latin typeface="Courier New"/>
              <a:cs typeface="Courier New"/>
            </a:endParaRPr>
          </a:p>
          <a:p>
            <a:pPr marL="1044575">
              <a:lnSpc>
                <a:spcPct val="100000"/>
              </a:lnSpc>
              <a:spcBef>
                <a:spcPts val="5"/>
              </a:spcBef>
            </a:pPr>
            <a:r>
              <a:rPr sz="1600" b="1" spc="-5" dirty="0">
                <a:latin typeface="Courier New"/>
                <a:cs typeface="Courier New"/>
              </a:rPr>
              <a:t>System.out.println(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"text and newText are </a:t>
            </a:r>
            <a:r>
              <a:rPr sz="1600" b="1" dirty="0">
                <a:solidFill>
                  <a:srgbClr val="006600"/>
                </a:solidFill>
                <a:latin typeface="Courier New"/>
                <a:cs typeface="Courier New"/>
              </a:rPr>
              <a:t>not</a:t>
            </a:r>
            <a:r>
              <a:rPr sz="1600" b="1" spc="7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equal."</a:t>
            </a:r>
            <a:r>
              <a:rPr sz="1600" b="1" spc="-5" dirty="0"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352425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699504" y="832103"/>
            <a:ext cx="1917700" cy="393700"/>
            <a:chOff x="6699504" y="832103"/>
            <a:chExt cx="1917700" cy="393700"/>
          </a:xfrm>
        </p:grpSpPr>
        <p:sp>
          <p:nvSpPr>
            <p:cNvPr id="12" name="object 12"/>
            <p:cNvSpPr/>
            <p:nvPr/>
          </p:nvSpPr>
          <p:spPr>
            <a:xfrm>
              <a:off x="6705600" y="838199"/>
              <a:ext cx="1905000" cy="381000"/>
            </a:xfrm>
            <a:custGeom>
              <a:avLst/>
              <a:gdLst/>
              <a:ahLst/>
              <a:cxnLst/>
              <a:rect l="l" t="t" r="r" b="b"/>
              <a:pathLst>
                <a:path w="1905000" h="381000">
                  <a:moveTo>
                    <a:pt x="19050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1905000" y="381000"/>
                  </a:lnTo>
                  <a:lnTo>
                    <a:pt x="1905000" y="0"/>
                  </a:lnTo>
                  <a:close/>
                </a:path>
              </a:pathLst>
            </a:custGeom>
            <a:solidFill>
              <a:srgbClr val="B8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705600" y="838199"/>
              <a:ext cx="1905000" cy="381000"/>
            </a:xfrm>
            <a:custGeom>
              <a:avLst/>
              <a:gdLst/>
              <a:ahLst/>
              <a:cxnLst/>
              <a:rect l="l" t="t" r="r" b="b"/>
              <a:pathLst>
                <a:path w="1905000" h="381000">
                  <a:moveTo>
                    <a:pt x="0" y="381000"/>
                  </a:moveTo>
                  <a:lnTo>
                    <a:pt x="1905000" y="381000"/>
                  </a:lnTo>
                  <a:lnTo>
                    <a:pt x="19050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956806" y="863853"/>
            <a:ext cx="1405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Carlito"/>
                <a:cs typeface="Carlito"/>
              </a:rPr>
              <a:t>TestString.java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</a:t>
            </a:r>
            <a:r>
              <a:rPr spc="5" dirty="0"/>
              <a:t>Lecture </a:t>
            </a:r>
            <a:r>
              <a:rPr dirty="0"/>
              <a:t>: OOP Part</a:t>
            </a:r>
            <a:r>
              <a:rPr spc="-190" dirty="0"/>
              <a:t> </a:t>
            </a:r>
            <a:r>
              <a:rPr dirty="0"/>
              <a:t>1]  </a:t>
            </a:r>
            <a:r>
              <a:rPr spc="-130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13</a:t>
            </a:fld>
            <a:endParaRPr spc="-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48158"/>
            <a:ext cx="51130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45" dirty="0">
                <a:uFill>
                  <a:solidFill>
                    <a:srgbClr val="003399"/>
                  </a:solidFill>
                </a:uFill>
              </a:rPr>
              <a:t>String</a:t>
            </a:r>
            <a:r>
              <a:rPr spc="45" dirty="0"/>
              <a:t> </a:t>
            </a:r>
            <a:r>
              <a:rPr spc="20" dirty="0"/>
              <a:t>Class: </a:t>
            </a:r>
            <a:r>
              <a:rPr spc="-15" dirty="0"/>
              <a:t>Demo</a:t>
            </a:r>
            <a:r>
              <a:rPr spc="-145" dirty="0"/>
              <a:t> </a:t>
            </a:r>
            <a:r>
              <a:rPr spc="60" dirty="0"/>
              <a:t>(2/2)</a:t>
            </a:r>
          </a:p>
        </p:txBody>
      </p:sp>
      <p:sp>
        <p:nvSpPr>
          <p:cNvPr id="3" name="object 3"/>
          <p:cNvSpPr/>
          <p:nvPr/>
        </p:nvSpPr>
        <p:spPr>
          <a:xfrm>
            <a:off x="163068" y="187452"/>
            <a:ext cx="523240" cy="1184275"/>
          </a:xfrm>
          <a:custGeom>
            <a:avLst/>
            <a:gdLst/>
            <a:ahLst/>
            <a:cxnLst/>
            <a:rect l="l" t="t" r="r" b="b"/>
            <a:pathLst>
              <a:path w="523240" h="1184275">
                <a:moveTo>
                  <a:pt x="522731" y="0"/>
                </a:moveTo>
                <a:lnTo>
                  <a:pt x="0" y="0"/>
                </a:lnTo>
                <a:lnTo>
                  <a:pt x="0" y="1184148"/>
                </a:lnTo>
                <a:lnTo>
                  <a:pt x="522731" y="1184148"/>
                </a:lnTo>
                <a:lnTo>
                  <a:pt x="522731" y="0"/>
                </a:lnTo>
                <a:close/>
              </a:path>
            </a:pathLst>
          </a:custGeom>
          <a:solidFill>
            <a:srgbClr val="FFCC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44239" y="328344"/>
            <a:ext cx="381000" cy="9652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990"/>
              </a:lnSpc>
            </a:pPr>
            <a:r>
              <a:rPr sz="2800" dirty="0">
                <a:solidFill>
                  <a:srgbClr val="C00000"/>
                </a:solidFill>
                <a:latin typeface="Trebuchet MS"/>
                <a:cs typeface="Trebuchet MS"/>
              </a:rPr>
              <a:t>2.</a:t>
            </a:r>
            <a:r>
              <a:rPr sz="2800" spc="-8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800" spc="15" dirty="0">
                <a:solidFill>
                  <a:srgbClr val="000099"/>
                </a:solidFill>
                <a:latin typeface="Trebuchet MS"/>
                <a:cs typeface="Trebuchet MS"/>
              </a:rPr>
              <a:t>API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7200" y="1447800"/>
            <a:ext cx="4267200" cy="368935"/>
          </a:xfrm>
          <a:prstGeom prst="rect">
            <a:avLst/>
          </a:prstGeom>
          <a:solidFill>
            <a:srgbClr val="99CCFF"/>
          </a:solidFill>
          <a:ln w="9144">
            <a:solidFill>
              <a:srgbClr val="000000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45"/>
              </a:spcBef>
            </a:pPr>
            <a:r>
              <a:rPr sz="1800" b="1" spc="-10" dirty="0">
                <a:latin typeface="Courier New"/>
                <a:cs typeface="Courier New"/>
              </a:rPr>
              <a:t>text: I'm studying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501043.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7200" y="1981200"/>
            <a:ext cx="4267200" cy="368935"/>
          </a:xfrm>
          <a:prstGeom prst="rect">
            <a:avLst/>
          </a:prstGeom>
          <a:solidFill>
            <a:srgbClr val="99CCFF"/>
          </a:solidFill>
          <a:ln w="9144">
            <a:solidFill>
              <a:srgbClr val="000000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45"/>
              </a:spcBef>
            </a:pPr>
            <a:r>
              <a:rPr sz="1800" b="1" spc="-10" dirty="0">
                <a:latin typeface="Courier New"/>
                <a:cs typeface="Courier New"/>
              </a:rPr>
              <a:t>text.length()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20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4540" y="940053"/>
            <a:ext cx="6568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13935" algn="l"/>
              </a:tabLst>
            </a:pPr>
            <a:r>
              <a:rPr sz="2400" dirty="0">
                <a:latin typeface="Arial"/>
                <a:cs typeface="Arial"/>
              </a:rPr>
              <a:t>Ou</a:t>
            </a:r>
            <a:r>
              <a:rPr sz="2400" spc="5" dirty="0">
                <a:latin typeface="Arial"/>
                <a:cs typeface="Arial"/>
              </a:rPr>
              <a:t>t</a:t>
            </a:r>
            <a:r>
              <a:rPr sz="2400" spc="-5" dirty="0">
                <a:latin typeface="Arial"/>
                <a:cs typeface="Arial"/>
              </a:rPr>
              <a:t>puts	E</a:t>
            </a:r>
            <a:r>
              <a:rPr sz="2400" spc="-25" dirty="0">
                <a:latin typeface="Arial"/>
                <a:cs typeface="Arial"/>
              </a:rPr>
              <a:t>x</a:t>
            </a:r>
            <a:r>
              <a:rPr sz="2400" spc="-5" dirty="0">
                <a:latin typeface="Arial"/>
                <a:cs typeface="Arial"/>
              </a:rPr>
              <a:t>p</a:t>
            </a:r>
            <a:r>
              <a:rPr sz="2400" spc="-15" dirty="0">
                <a:latin typeface="Arial"/>
                <a:cs typeface="Arial"/>
              </a:rPr>
              <a:t>l</a:t>
            </a:r>
            <a:r>
              <a:rPr sz="2400" spc="-5" dirty="0">
                <a:latin typeface="Arial"/>
                <a:cs typeface="Arial"/>
              </a:rPr>
              <a:t>an</a:t>
            </a:r>
            <a:r>
              <a:rPr sz="2400" spc="-15" dirty="0">
                <a:latin typeface="Arial"/>
                <a:cs typeface="Arial"/>
              </a:rPr>
              <a:t>a</a:t>
            </a:r>
            <a:r>
              <a:rPr sz="2400" spc="-5" dirty="0">
                <a:latin typeface="Arial"/>
                <a:cs typeface="Arial"/>
              </a:rPr>
              <a:t>tions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81600" y="1752600"/>
            <a:ext cx="3733800" cy="585470"/>
          </a:xfrm>
          <a:prstGeom prst="rect">
            <a:avLst/>
          </a:prstGeom>
          <a:solidFill>
            <a:srgbClr val="CCFFCC"/>
          </a:solidFill>
          <a:ln w="9144">
            <a:solidFill>
              <a:srgbClr val="000000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92075" marR="144780">
              <a:lnSpc>
                <a:spcPct val="100000"/>
              </a:lnSpc>
              <a:spcBef>
                <a:spcPts val="190"/>
              </a:spcBef>
            </a:pPr>
            <a:r>
              <a:rPr sz="1600" b="1" spc="-5" dirty="0">
                <a:solidFill>
                  <a:srgbClr val="C00000"/>
                </a:solidFill>
                <a:latin typeface="Courier New"/>
                <a:cs typeface="Courier New"/>
              </a:rPr>
              <a:t>length()</a:t>
            </a:r>
            <a:r>
              <a:rPr sz="1600" b="1" spc="-50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latin typeface="Carlito"/>
                <a:cs typeface="Carlito"/>
              </a:rPr>
              <a:t>returns </a:t>
            </a:r>
            <a:r>
              <a:rPr sz="1600" spc="-5" dirty="0">
                <a:latin typeface="Carlito"/>
                <a:cs typeface="Carlito"/>
              </a:rPr>
              <a:t>the </a:t>
            </a:r>
            <a:r>
              <a:rPr sz="1600" spc="-10" dirty="0">
                <a:latin typeface="Carlito"/>
                <a:cs typeface="Carlito"/>
              </a:rPr>
              <a:t>length (number of  characters) </a:t>
            </a:r>
            <a:r>
              <a:rPr sz="1600" spc="-5" dirty="0">
                <a:latin typeface="Carlito"/>
                <a:cs typeface="Carlito"/>
              </a:rPr>
              <a:t>in</a:t>
            </a:r>
            <a:r>
              <a:rPr sz="1600" spc="10" dirty="0">
                <a:latin typeface="Carlito"/>
                <a:cs typeface="Carlito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text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7200" y="3124200"/>
            <a:ext cx="4267200" cy="368935"/>
          </a:xfrm>
          <a:prstGeom prst="rect">
            <a:avLst/>
          </a:prstGeom>
          <a:solidFill>
            <a:srgbClr val="99CCFF"/>
          </a:solidFill>
          <a:ln w="9144">
            <a:solidFill>
              <a:srgbClr val="000000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50"/>
              </a:spcBef>
            </a:pPr>
            <a:r>
              <a:rPr sz="1800" b="1" spc="-10" dirty="0">
                <a:latin typeface="Courier New"/>
                <a:cs typeface="Courier New"/>
              </a:rPr>
              <a:t>text.substring(5,8)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50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tud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81600" y="3048000"/>
            <a:ext cx="3733800" cy="830580"/>
          </a:xfrm>
          <a:prstGeom prst="rect">
            <a:avLst/>
          </a:prstGeom>
          <a:solidFill>
            <a:srgbClr val="CCFFCC"/>
          </a:solidFill>
          <a:ln w="9144">
            <a:solidFill>
              <a:srgbClr val="000000"/>
            </a:solidFill>
          </a:ln>
        </p:spPr>
        <p:txBody>
          <a:bodyPr vert="horz" wrap="square" lIns="0" tIns="22860" rIns="0" bIns="0" rtlCol="0">
            <a:spAutoFit/>
          </a:bodyPr>
          <a:lstStyle/>
          <a:p>
            <a:pPr marL="92075" marR="210185">
              <a:lnSpc>
                <a:spcPct val="100600"/>
              </a:lnSpc>
              <a:spcBef>
                <a:spcPts val="180"/>
              </a:spcBef>
            </a:pPr>
            <a:r>
              <a:rPr sz="1600" b="1" spc="-5" dirty="0">
                <a:solidFill>
                  <a:srgbClr val="C00000"/>
                </a:solidFill>
                <a:latin typeface="Courier New"/>
                <a:cs typeface="Courier New"/>
              </a:rPr>
              <a:t>substring(5,8</a:t>
            </a:r>
            <a:r>
              <a:rPr sz="1600" b="1" spc="-5" dirty="0">
                <a:solidFill>
                  <a:srgbClr val="C00000"/>
                </a:solidFill>
                <a:latin typeface="Carlito"/>
                <a:cs typeface="Carlito"/>
              </a:rPr>
              <a:t>) </a:t>
            </a:r>
            <a:r>
              <a:rPr sz="1600" spc="-15" dirty="0">
                <a:latin typeface="Carlito"/>
                <a:cs typeface="Carlito"/>
              </a:rPr>
              <a:t>returns </a:t>
            </a:r>
            <a:r>
              <a:rPr sz="1600" spc="-5" dirty="0">
                <a:latin typeface="Carlito"/>
                <a:cs typeface="Carlito"/>
              </a:rPr>
              <a:t>the </a:t>
            </a:r>
            <a:r>
              <a:rPr sz="1600" spc="-10" dirty="0">
                <a:latin typeface="Carlito"/>
                <a:cs typeface="Carlito"/>
              </a:rPr>
              <a:t>substring  </a:t>
            </a:r>
            <a:r>
              <a:rPr sz="1600" spc="-5" dirty="0">
                <a:latin typeface="Carlito"/>
                <a:cs typeface="Carlito"/>
              </a:rPr>
              <a:t>in </a:t>
            </a:r>
            <a:r>
              <a:rPr sz="1600" b="1" spc="-5" dirty="0">
                <a:latin typeface="Courier New"/>
                <a:cs typeface="Courier New"/>
              </a:rPr>
              <a:t>text </a:t>
            </a:r>
            <a:r>
              <a:rPr sz="1600" spc="-15" dirty="0">
                <a:latin typeface="Carlito"/>
                <a:cs typeface="Carlito"/>
              </a:rPr>
              <a:t>from </a:t>
            </a:r>
            <a:r>
              <a:rPr sz="1600" spc="-5" dirty="0">
                <a:latin typeface="Carlito"/>
                <a:cs typeface="Carlito"/>
              </a:rPr>
              <a:t>position 5 (‘</a:t>
            </a:r>
            <a:r>
              <a:rPr sz="1600" b="1" spc="-5" dirty="0">
                <a:latin typeface="Courier New"/>
                <a:cs typeface="Courier New"/>
              </a:rPr>
              <a:t>t</a:t>
            </a:r>
            <a:r>
              <a:rPr sz="1600" spc="-5" dirty="0">
                <a:latin typeface="Carlito"/>
                <a:cs typeface="Carlito"/>
              </a:rPr>
              <a:t>’) </a:t>
            </a:r>
            <a:r>
              <a:rPr sz="1600" spc="-10" dirty="0">
                <a:latin typeface="Carlito"/>
                <a:cs typeface="Carlito"/>
              </a:rPr>
              <a:t>through  </a:t>
            </a:r>
            <a:r>
              <a:rPr sz="1600" spc="-5" dirty="0">
                <a:latin typeface="Carlito"/>
                <a:cs typeface="Carlito"/>
              </a:rPr>
              <a:t>position </a:t>
            </a:r>
            <a:r>
              <a:rPr sz="1600" b="1" spc="-5" dirty="0">
                <a:latin typeface="Carlito"/>
                <a:cs typeface="Carlito"/>
              </a:rPr>
              <a:t>7 </a:t>
            </a:r>
            <a:r>
              <a:rPr sz="1600" spc="-5" dirty="0">
                <a:latin typeface="Carlito"/>
                <a:cs typeface="Carlito"/>
              </a:rPr>
              <a:t>(‘</a:t>
            </a:r>
            <a:r>
              <a:rPr sz="1600" b="1" spc="-5" dirty="0">
                <a:latin typeface="Courier New"/>
                <a:cs typeface="Courier New"/>
              </a:rPr>
              <a:t>d</a:t>
            </a:r>
            <a:r>
              <a:rPr sz="1600" spc="-5" dirty="0">
                <a:latin typeface="Carlito"/>
                <a:cs typeface="Carlito"/>
              </a:rPr>
              <a:t>’). </a:t>
            </a:r>
            <a:r>
              <a:rPr sz="1600" b="1" spc="-5" dirty="0">
                <a:solidFill>
                  <a:srgbClr val="0000CC"/>
                </a:solidFill>
                <a:latin typeface="Wingdings"/>
                <a:cs typeface="Wingdings"/>
              </a:rPr>
              <a:t></a:t>
            </a:r>
            <a:r>
              <a:rPr sz="1600" b="1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00" b="1" i="1" spc="-45" dirty="0">
                <a:solidFill>
                  <a:srgbClr val="0000CC"/>
                </a:solidFill>
                <a:latin typeface="Carlito"/>
                <a:cs typeface="Carlito"/>
              </a:rPr>
              <a:t>Take</a:t>
            </a:r>
            <a:r>
              <a:rPr sz="1600" b="1" i="1" spc="-5" dirty="0">
                <a:solidFill>
                  <a:srgbClr val="0000CC"/>
                </a:solidFill>
                <a:latin typeface="Carlito"/>
                <a:cs typeface="Carlito"/>
              </a:rPr>
              <a:t> </a:t>
            </a:r>
            <a:r>
              <a:rPr sz="1600" b="1" i="1" spc="-10" dirty="0">
                <a:solidFill>
                  <a:srgbClr val="0000CC"/>
                </a:solidFill>
                <a:latin typeface="Carlito"/>
                <a:cs typeface="Carlito"/>
              </a:rPr>
              <a:t>note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7200" y="3962400"/>
            <a:ext cx="4267200" cy="368935"/>
          </a:xfrm>
          <a:prstGeom prst="rect">
            <a:avLst/>
          </a:prstGeom>
          <a:solidFill>
            <a:srgbClr val="99CCFF"/>
          </a:solidFill>
          <a:ln w="9144">
            <a:solidFill>
              <a:srgbClr val="000000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50"/>
              </a:spcBef>
            </a:pPr>
            <a:r>
              <a:rPr sz="1800" b="1" spc="-10" dirty="0">
                <a:latin typeface="Courier New"/>
                <a:cs typeface="Courier New"/>
              </a:rPr>
              <a:t>text.indexOf("in")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9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81600" y="3962400"/>
            <a:ext cx="3733800" cy="338455"/>
          </a:xfrm>
          <a:prstGeom prst="rect">
            <a:avLst/>
          </a:prstGeom>
          <a:solidFill>
            <a:srgbClr val="CCFFCC"/>
          </a:solidFill>
          <a:ln w="9144">
            <a:solidFill>
              <a:srgbClr val="000000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95"/>
              </a:spcBef>
            </a:pPr>
            <a:r>
              <a:rPr sz="1600" b="1" spc="-5" dirty="0">
                <a:solidFill>
                  <a:srgbClr val="C00000"/>
                </a:solidFill>
                <a:latin typeface="Courier New"/>
                <a:cs typeface="Courier New"/>
              </a:rPr>
              <a:t>indexOf("in")</a:t>
            </a:r>
            <a:r>
              <a:rPr sz="1600" b="1" spc="-52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latin typeface="Carlito"/>
                <a:cs typeface="Carlito"/>
              </a:rPr>
              <a:t>returns </a:t>
            </a:r>
            <a:r>
              <a:rPr sz="1600" spc="-5" dirty="0">
                <a:latin typeface="Carlito"/>
                <a:cs typeface="Carlito"/>
              </a:rPr>
              <a:t>the </a:t>
            </a:r>
            <a:r>
              <a:rPr sz="1600" spc="-5" dirty="0">
                <a:solidFill>
                  <a:srgbClr val="C00000"/>
                </a:solidFill>
                <a:latin typeface="Carlito"/>
                <a:cs typeface="Carlito"/>
              </a:rPr>
              <a:t>…?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7200" y="5334000"/>
            <a:ext cx="6172200" cy="368935"/>
          </a:xfrm>
          <a:prstGeom prst="rect">
            <a:avLst/>
          </a:prstGeom>
          <a:solidFill>
            <a:srgbClr val="99CCFF"/>
          </a:solidFill>
          <a:ln w="9144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55"/>
              </a:spcBef>
            </a:pPr>
            <a:r>
              <a:rPr sz="1800" b="1" spc="-10" dirty="0">
                <a:latin typeface="Courier New"/>
                <a:cs typeface="Courier New"/>
              </a:rPr>
              <a:t>newText: I'M STUDYING 501043.HOW ABOUT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YOU?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81800" y="5105400"/>
            <a:ext cx="2133600" cy="585470"/>
          </a:xfrm>
          <a:prstGeom prst="rect">
            <a:avLst/>
          </a:prstGeom>
          <a:solidFill>
            <a:srgbClr val="CCFFCC"/>
          </a:solidFill>
          <a:ln w="9144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30"/>
              </a:spcBef>
            </a:pPr>
            <a:r>
              <a:rPr sz="1600" spc="-5" dirty="0">
                <a:latin typeface="Arial"/>
                <a:cs typeface="Arial"/>
              </a:rPr>
              <a:t>The </a:t>
            </a:r>
            <a:r>
              <a:rPr sz="1600" spc="-5" dirty="0">
                <a:solidFill>
                  <a:srgbClr val="C00000"/>
                </a:solidFill>
                <a:latin typeface="Arial"/>
                <a:cs typeface="Arial"/>
              </a:rPr>
              <a:t>+ </a:t>
            </a:r>
            <a:r>
              <a:rPr sz="1600" spc="-5" dirty="0">
                <a:latin typeface="Arial"/>
                <a:cs typeface="Arial"/>
              </a:rPr>
              <a:t>operator</a:t>
            </a:r>
            <a:r>
              <a:rPr sz="1600" spc="3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is</a:t>
            </a:r>
            <a:endParaRPr sz="160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</a:pPr>
            <a:r>
              <a:rPr sz="1600" spc="-5" dirty="0">
                <a:latin typeface="Arial"/>
                <a:cs typeface="Arial"/>
              </a:rPr>
              <a:t>string</a:t>
            </a:r>
            <a:r>
              <a:rPr sz="160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concatenation.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7200" y="5943600"/>
            <a:ext cx="4572000" cy="368935"/>
          </a:xfrm>
          <a:prstGeom prst="rect">
            <a:avLst/>
          </a:prstGeom>
          <a:solidFill>
            <a:srgbClr val="99CCFF"/>
          </a:solidFill>
          <a:ln w="9144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55"/>
              </a:spcBef>
            </a:pPr>
            <a:r>
              <a:rPr sz="1800" b="1" spc="-10" dirty="0">
                <a:latin typeface="Courier New"/>
                <a:cs typeface="Courier New"/>
              </a:rPr>
              <a:t>text </a:t>
            </a:r>
            <a:r>
              <a:rPr sz="1800" b="1" spc="-5" dirty="0">
                <a:latin typeface="Courier New"/>
                <a:cs typeface="Courier New"/>
              </a:rPr>
              <a:t>and </a:t>
            </a:r>
            <a:r>
              <a:rPr sz="1800" b="1" spc="-10" dirty="0">
                <a:latin typeface="Courier New"/>
                <a:cs typeface="Courier New"/>
              </a:rPr>
              <a:t>newText </a:t>
            </a:r>
            <a:r>
              <a:rPr sz="1800" b="1" spc="-5" dirty="0">
                <a:latin typeface="Courier New"/>
                <a:cs typeface="Courier New"/>
              </a:rPr>
              <a:t>are not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equal.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253037" y="5786437"/>
            <a:ext cx="3667125" cy="625475"/>
            <a:chOff x="5253037" y="5786437"/>
            <a:chExt cx="3667125" cy="625475"/>
          </a:xfrm>
        </p:grpSpPr>
        <p:sp>
          <p:nvSpPr>
            <p:cNvPr id="17" name="object 17"/>
            <p:cNvSpPr/>
            <p:nvPr/>
          </p:nvSpPr>
          <p:spPr>
            <a:xfrm>
              <a:off x="5257800" y="5791200"/>
              <a:ext cx="3657600" cy="615950"/>
            </a:xfrm>
            <a:custGeom>
              <a:avLst/>
              <a:gdLst/>
              <a:ahLst/>
              <a:cxnLst/>
              <a:rect l="l" t="t" r="r" b="b"/>
              <a:pathLst>
                <a:path w="3657600" h="615950">
                  <a:moveTo>
                    <a:pt x="3657600" y="0"/>
                  </a:moveTo>
                  <a:lnTo>
                    <a:pt x="0" y="0"/>
                  </a:lnTo>
                  <a:lnTo>
                    <a:pt x="0" y="615696"/>
                  </a:lnTo>
                  <a:lnTo>
                    <a:pt x="3657600" y="615696"/>
                  </a:lnTo>
                  <a:lnTo>
                    <a:pt x="365760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257800" y="5791200"/>
              <a:ext cx="3657600" cy="615950"/>
            </a:xfrm>
            <a:custGeom>
              <a:avLst/>
              <a:gdLst/>
              <a:ahLst/>
              <a:cxnLst/>
              <a:rect l="l" t="t" r="r" b="b"/>
              <a:pathLst>
                <a:path w="3657600" h="615950">
                  <a:moveTo>
                    <a:pt x="0" y="615696"/>
                  </a:moveTo>
                  <a:lnTo>
                    <a:pt x="3657600" y="615696"/>
                  </a:lnTo>
                  <a:lnTo>
                    <a:pt x="3657600" y="0"/>
                  </a:lnTo>
                  <a:lnTo>
                    <a:pt x="0" y="0"/>
                  </a:lnTo>
                  <a:lnTo>
                    <a:pt x="0" y="61569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277611" y="5804408"/>
            <a:ext cx="3619500" cy="5499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239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C00000"/>
                </a:solidFill>
                <a:latin typeface="Courier New"/>
                <a:cs typeface="Courier New"/>
              </a:rPr>
              <a:t>equals()</a:t>
            </a:r>
            <a:r>
              <a:rPr sz="1600" b="1" spc="-51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latin typeface="Carlito"/>
                <a:cs typeface="Carlito"/>
              </a:rPr>
              <a:t>compares </a:t>
            </a:r>
            <a:r>
              <a:rPr sz="1600" spc="-10" dirty="0">
                <a:latin typeface="Carlito"/>
                <a:cs typeface="Carlito"/>
              </a:rPr>
              <a:t>two </a:t>
            </a:r>
            <a:r>
              <a:rPr sz="1600" spc="-5" dirty="0">
                <a:latin typeface="Carlito"/>
                <a:cs typeface="Carlito"/>
              </a:rPr>
              <a:t>String </a:t>
            </a:r>
            <a:r>
              <a:rPr sz="1600" spc="-10" dirty="0">
                <a:latin typeface="Carlito"/>
                <a:cs typeface="Carlito"/>
              </a:rPr>
              <a:t>objects.</a:t>
            </a:r>
            <a:endParaRPr sz="1600">
              <a:latin typeface="Carlito"/>
              <a:cs typeface="Carlito"/>
            </a:endParaRPr>
          </a:p>
          <a:p>
            <a:pPr marL="72390">
              <a:lnSpc>
                <a:spcPct val="100000"/>
              </a:lnSpc>
              <a:spcBef>
                <a:spcPts val="50"/>
              </a:spcBef>
            </a:pPr>
            <a:r>
              <a:rPr sz="1800" spc="-5" dirty="0">
                <a:latin typeface="Carlito"/>
                <a:cs typeface="Carlito"/>
              </a:rPr>
              <a:t>Do </a:t>
            </a:r>
            <a:r>
              <a:rPr sz="1800" b="1" u="heavy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not</a:t>
            </a:r>
            <a:r>
              <a:rPr sz="1800" b="1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use </a:t>
            </a:r>
            <a:r>
              <a:rPr sz="1800" b="1" dirty="0">
                <a:solidFill>
                  <a:srgbClr val="0000CC"/>
                </a:solidFill>
                <a:latin typeface="Carlito"/>
                <a:cs typeface="Carlito"/>
              </a:rPr>
              <a:t>==</a:t>
            </a:r>
            <a:r>
              <a:rPr sz="1800" dirty="0">
                <a:latin typeface="Carlito"/>
                <a:cs typeface="Carlito"/>
              </a:rPr>
              <a:t>. </a:t>
            </a:r>
            <a:r>
              <a:rPr sz="1600" spc="-55" dirty="0">
                <a:latin typeface="Carlito"/>
                <a:cs typeface="Carlito"/>
              </a:rPr>
              <a:t>(To </a:t>
            </a:r>
            <a:r>
              <a:rPr sz="1600" spc="-5" dirty="0">
                <a:latin typeface="Carlito"/>
                <a:cs typeface="Carlito"/>
              </a:rPr>
              <a:t>be </a:t>
            </a:r>
            <a:r>
              <a:rPr sz="1600" spc="-10" dirty="0">
                <a:latin typeface="Carlito"/>
                <a:cs typeface="Carlito"/>
              </a:rPr>
              <a:t>explained</a:t>
            </a:r>
            <a:r>
              <a:rPr sz="1600" spc="55" dirty="0">
                <a:latin typeface="Carlito"/>
                <a:cs typeface="Carlito"/>
              </a:rPr>
              <a:t> </a:t>
            </a:r>
            <a:r>
              <a:rPr sz="1600" spc="-30" dirty="0">
                <a:latin typeface="Carlito"/>
                <a:cs typeface="Carlito"/>
              </a:rPr>
              <a:t>later.)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7200" y="2514600"/>
            <a:ext cx="4267200" cy="368935"/>
          </a:xfrm>
          <a:prstGeom prst="rect">
            <a:avLst/>
          </a:prstGeom>
          <a:solidFill>
            <a:srgbClr val="99CCFF"/>
          </a:solidFill>
          <a:ln w="9144">
            <a:solidFill>
              <a:srgbClr val="000000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45"/>
              </a:spcBef>
            </a:pPr>
            <a:r>
              <a:rPr sz="1800" b="1" spc="-10" dirty="0">
                <a:latin typeface="Courier New"/>
                <a:cs typeface="Courier New"/>
              </a:rPr>
              <a:t>text.charAt(5)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t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181600" y="2398776"/>
            <a:ext cx="3733800" cy="585470"/>
          </a:xfrm>
          <a:prstGeom prst="rect">
            <a:avLst/>
          </a:prstGeom>
          <a:solidFill>
            <a:srgbClr val="CCFFCC"/>
          </a:solidFill>
          <a:ln w="9144">
            <a:solidFill>
              <a:srgbClr val="000000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90"/>
              </a:spcBef>
            </a:pPr>
            <a:r>
              <a:rPr sz="1600" b="1" spc="-5" dirty="0">
                <a:solidFill>
                  <a:srgbClr val="C00000"/>
                </a:solidFill>
                <a:latin typeface="Courier New"/>
                <a:cs typeface="Courier New"/>
              </a:rPr>
              <a:t>charAt(5)</a:t>
            </a:r>
            <a:r>
              <a:rPr sz="1600" b="1" spc="-51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600" spc="-15" dirty="0">
                <a:latin typeface="Carlito"/>
                <a:cs typeface="Carlito"/>
              </a:rPr>
              <a:t>returns </a:t>
            </a:r>
            <a:r>
              <a:rPr sz="1600" spc="-5" dirty="0">
                <a:latin typeface="Carlito"/>
                <a:cs typeface="Carlito"/>
              </a:rPr>
              <a:t>the </a:t>
            </a:r>
            <a:r>
              <a:rPr sz="1600" spc="-10" dirty="0">
                <a:latin typeface="Carlito"/>
                <a:cs typeface="Carlito"/>
              </a:rPr>
              <a:t>character at</a:t>
            </a:r>
            <a:endParaRPr sz="1600">
              <a:latin typeface="Carlito"/>
              <a:cs typeface="Carlito"/>
            </a:endParaRPr>
          </a:p>
          <a:p>
            <a:pPr marL="92075">
              <a:lnSpc>
                <a:spcPct val="100000"/>
              </a:lnSpc>
            </a:pPr>
            <a:r>
              <a:rPr sz="1600" spc="-5" dirty="0">
                <a:latin typeface="Carlito"/>
                <a:cs typeface="Carlito"/>
              </a:rPr>
              <a:t>position 5 in </a:t>
            </a:r>
            <a:r>
              <a:rPr sz="1600" b="1" spc="-5" dirty="0">
                <a:latin typeface="Courier New"/>
                <a:cs typeface="Courier New"/>
              </a:rPr>
              <a:t>text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66800" y="4648200"/>
            <a:ext cx="4724400" cy="615950"/>
          </a:xfrm>
          <a:prstGeom prst="rect">
            <a:avLst/>
          </a:prstGeom>
          <a:solidFill>
            <a:srgbClr val="CCFFCC"/>
          </a:solidFill>
          <a:ln w="9144">
            <a:solidFill>
              <a:srgbClr val="000000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50"/>
              </a:spcBef>
            </a:pPr>
            <a:r>
              <a:rPr sz="1800" b="1" spc="-10" dirty="0">
                <a:latin typeface="Courier New"/>
                <a:cs typeface="Courier New"/>
              </a:rPr>
              <a:t>newText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5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newText.toUppercase()</a:t>
            </a:r>
            <a:endParaRPr sz="1800">
              <a:latin typeface="Courier New"/>
              <a:cs typeface="Courier New"/>
            </a:endParaRPr>
          </a:p>
          <a:p>
            <a:pPr marL="91440">
              <a:lnSpc>
                <a:spcPct val="100000"/>
              </a:lnSpc>
              <a:spcBef>
                <a:spcPts val="70"/>
              </a:spcBef>
            </a:pPr>
            <a:r>
              <a:rPr sz="1600" spc="-5" dirty="0">
                <a:latin typeface="Arial"/>
                <a:cs typeface="Arial"/>
              </a:rPr>
              <a:t>converts characters in </a:t>
            </a:r>
            <a:r>
              <a:rPr sz="1600" b="1" spc="-5" dirty="0">
                <a:latin typeface="Courier New"/>
                <a:cs typeface="Courier New"/>
              </a:rPr>
              <a:t>newText</a:t>
            </a:r>
            <a:r>
              <a:rPr sz="1600" b="1" spc="-42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Arial"/>
                <a:cs typeface="Arial"/>
              </a:rPr>
              <a:t>to uppercase.</a:t>
            </a:r>
            <a:endParaRPr sz="16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258561" y="5791961"/>
            <a:ext cx="3657600" cy="585470"/>
          </a:xfrm>
          <a:custGeom>
            <a:avLst/>
            <a:gdLst/>
            <a:ahLst/>
            <a:cxnLst/>
            <a:rect l="l" t="t" r="r" b="b"/>
            <a:pathLst>
              <a:path w="3657600" h="585470">
                <a:moveTo>
                  <a:pt x="0" y="585216"/>
                </a:moveTo>
                <a:lnTo>
                  <a:pt x="3657599" y="585216"/>
                </a:lnTo>
                <a:lnTo>
                  <a:pt x="3657599" y="0"/>
                </a:lnTo>
                <a:lnTo>
                  <a:pt x="0" y="0"/>
                </a:lnTo>
                <a:lnTo>
                  <a:pt x="0" y="585216"/>
                </a:lnTo>
                <a:close/>
              </a:path>
            </a:pathLst>
          </a:custGeom>
          <a:ln w="38100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53085" y="6375879"/>
            <a:ext cx="22987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80"/>
              </a:lnSpc>
            </a:pPr>
            <a:r>
              <a:rPr sz="1800" spc="2595" dirty="0">
                <a:latin typeface="Wingdings"/>
                <a:cs typeface="Wingdings"/>
              </a:rPr>
              <a:t></a:t>
            </a:r>
            <a:endParaRPr sz="1800">
              <a:latin typeface="Wingdings"/>
              <a:cs typeface="Wingdings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</a:t>
            </a:r>
            <a:r>
              <a:rPr spc="5" dirty="0"/>
              <a:t>Lecture </a:t>
            </a:r>
            <a:r>
              <a:rPr dirty="0"/>
              <a:t>: OOP Part</a:t>
            </a:r>
            <a:r>
              <a:rPr spc="-190" dirty="0"/>
              <a:t> </a:t>
            </a:r>
            <a:r>
              <a:rPr dirty="0"/>
              <a:t>1]  </a:t>
            </a:r>
            <a:r>
              <a:rPr spc="-130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14</a:t>
            </a:fld>
            <a:endParaRPr spc="-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48158"/>
            <a:ext cx="64928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45" dirty="0">
                <a:uFill>
                  <a:solidFill>
                    <a:srgbClr val="003399"/>
                  </a:solidFill>
                </a:uFill>
              </a:rPr>
              <a:t>String</a:t>
            </a:r>
            <a:r>
              <a:rPr spc="45" dirty="0"/>
              <a:t> </a:t>
            </a:r>
            <a:r>
              <a:rPr spc="25" dirty="0"/>
              <a:t>Class: Comparing</a:t>
            </a:r>
            <a:r>
              <a:rPr spc="-185" dirty="0"/>
              <a:t> </a:t>
            </a:r>
            <a:r>
              <a:rPr spc="75" dirty="0"/>
              <a:t>strings</a:t>
            </a:r>
          </a:p>
        </p:txBody>
      </p:sp>
      <p:sp>
        <p:nvSpPr>
          <p:cNvPr id="3" name="object 3"/>
          <p:cNvSpPr/>
          <p:nvPr/>
        </p:nvSpPr>
        <p:spPr>
          <a:xfrm>
            <a:off x="163068" y="187452"/>
            <a:ext cx="523240" cy="1184275"/>
          </a:xfrm>
          <a:custGeom>
            <a:avLst/>
            <a:gdLst/>
            <a:ahLst/>
            <a:cxnLst/>
            <a:rect l="l" t="t" r="r" b="b"/>
            <a:pathLst>
              <a:path w="523240" h="1184275">
                <a:moveTo>
                  <a:pt x="522731" y="0"/>
                </a:moveTo>
                <a:lnTo>
                  <a:pt x="0" y="0"/>
                </a:lnTo>
                <a:lnTo>
                  <a:pt x="0" y="1184148"/>
                </a:lnTo>
                <a:lnTo>
                  <a:pt x="522731" y="1184148"/>
                </a:lnTo>
                <a:lnTo>
                  <a:pt x="522731" y="0"/>
                </a:lnTo>
                <a:close/>
              </a:path>
            </a:pathLst>
          </a:custGeom>
          <a:solidFill>
            <a:srgbClr val="FFCC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44239" y="328344"/>
            <a:ext cx="381000" cy="9652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990"/>
              </a:lnSpc>
            </a:pPr>
            <a:r>
              <a:rPr sz="2800" dirty="0">
                <a:solidFill>
                  <a:srgbClr val="C00000"/>
                </a:solidFill>
                <a:latin typeface="Trebuchet MS"/>
                <a:cs typeface="Trebuchet MS"/>
              </a:rPr>
              <a:t>2.</a:t>
            </a:r>
            <a:r>
              <a:rPr sz="2800" spc="-8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800" spc="15" dirty="0">
                <a:solidFill>
                  <a:srgbClr val="000099"/>
                </a:solidFill>
                <a:latin typeface="Trebuchet MS"/>
                <a:cs typeface="Trebuchet MS"/>
              </a:rPr>
              <a:t>API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1244549"/>
            <a:ext cx="7454900" cy="1642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dirty="0">
                <a:latin typeface="Arial"/>
                <a:cs typeface="Arial"/>
              </a:rPr>
              <a:t>As </a:t>
            </a:r>
            <a:r>
              <a:rPr sz="2400" dirty="0">
                <a:solidFill>
                  <a:srgbClr val="6F2F9F"/>
                </a:solidFill>
                <a:latin typeface="Arial"/>
                <a:cs typeface="Arial"/>
              </a:rPr>
              <a:t>strings are objects</a:t>
            </a:r>
            <a:r>
              <a:rPr sz="2400" dirty="0">
                <a:latin typeface="Arial"/>
                <a:cs typeface="Arial"/>
              </a:rPr>
              <a:t>, </a:t>
            </a:r>
            <a:r>
              <a:rPr sz="2400" spc="-5" dirty="0">
                <a:latin typeface="Arial"/>
                <a:cs typeface="Arial"/>
              </a:rPr>
              <a:t>do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not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use </a:t>
            </a: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== </a:t>
            </a:r>
            <a:r>
              <a:rPr sz="2400" dirty="0">
                <a:latin typeface="Arial"/>
                <a:cs typeface="Arial"/>
              </a:rPr>
              <a:t>if you </a:t>
            </a:r>
            <a:r>
              <a:rPr sz="2400" spc="-5" dirty="0">
                <a:latin typeface="Arial"/>
                <a:cs typeface="Arial"/>
              </a:rPr>
              <a:t>want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Arial"/>
                <a:cs typeface="Arial"/>
              </a:rPr>
              <a:t>check </a:t>
            </a:r>
            <a:r>
              <a:rPr sz="2400" dirty="0">
                <a:latin typeface="Arial"/>
                <a:cs typeface="Arial"/>
              </a:rPr>
              <a:t>if two strings </a:t>
            </a:r>
            <a:r>
              <a:rPr sz="2400" spc="-5" dirty="0">
                <a:latin typeface="Arial"/>
                <a:cs typeface="Arial"/>
              </a:rPr>
              <a:t>contain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same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text</a:t>
            </a:r>
            <a:endParaRPr sz="2400">
              <a:latin typeface="Arial"/>
              <a:cs typeface="Arial"/>
            </a:endParaRPr>
          </a:p>
          <a:p>
            <a:pPr marL="355600" marR="5080" indent="-343535">
              <a:lnSpc>
                <a:spcPct val="100000"/>
              </a:lnSpc>
              <a:spcBef>
                <a:spcPts val="120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Use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C00000"/>
                </a:solidFill>
                <a:latin typeface="Arial"/>
                <a:cs typeface="Arial"/>
              </a:rPr>
              <a:t>equals() </a:t>
            </a:r>
            <a:r>
              <a:rPr sz="2400" spc="-5" dirty="0">
                <a:latin typeface="Arial"/>
                <a:cs typeface="Arial"/>
              </a:rPr>
              <a:t>method provided in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String </a:t>
            </a:r>
            <a:r>
              <a:rPr sz="2400" spc="-5" dirty="0">
                <a:latin typeface="Arial"/>
                <a:cs typeface="Arial"/>
              </a:rPr>
              <a:t>class  instead </a:t>
            </a:r>
            <a:r>
              <a:rPr sz="2000" dirty="0">
                <a:latin typeface="Arial"/>
                <a:cs typeface="Arial"/>
              </a:rPr>
              <a:t>(more details about </a:t>
            </a: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equals() </a:t>
            </a:r>
            <a:r>
              <a:rPr sz="2000" dirty="0">
                <a:latin typeface="Arial"/>
                <a:cs typeface="Arial"/>
              </a:rPr>
              <a:t>in </a:t>
            </a:r>
            <a:r>
              <a:rPr sz="2000" spc="-5" dirty="0">
                <a:latin typeface="Arial"/>
                <a:cs typeface="Arial"/>
              </a:rPr>
              <a:t>next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lecture)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543800" y="228600"/>
            <a:ext cx="1219200" cy="1219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59079" y="3009900"/>
          <a:ext cx="8712199" cy="21854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85180"/>
                <a:gridCol w="2034540"/>
                <a:gridCol w="792479"/>
              </a:tblGrid>
              <a:tr h="863346">
                <a:tc gridSpan="2">
                  <a:txBody>
                    <a:bodyPr/>
                    <a:lstStyle/>
                    <a:p>
                      <a:pPr marL="90805" marR="30480">
                        <a:lnSpc>
                          <a:spcPts val="2165"/>
                        </a:lnSpc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Scanner sc </a:t>
                      </a:r>
                      <a:r>
                        <a:rPr sz="2000" b="1" dirty="0">
                          <a:latin typeface="Courier New"/>
                          <a:cs typeface="Courier New"/>
                        </a:rPr>
                        <a:t>=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new</a:t>
                      </a:r>
                      <a:r>
                        <a:rPr sz="2000" b="1" spc="-10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b="1" spc="-5" dirty="0">
                          <a:latin typeface="Courier New"/>
                          <a:cs typeface="Courier New"/>
                        </a:rPr>
                        <a:t>Scanner(System.in);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90805" marR="30480">
                        <a:lnSpc>
                          <a:spcPct val="100000"/>
                        </a:lnSpc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System.out.println(</a:t>
                      </a:r>
                      <a:r>
                        <a:rPr sz="2000" b="1" spc="-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"Enter </a:t>
                      </a:r>
                      <a:r>
                        <a:rPr sz="2000" b="1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2 </a:t>
                      </a:r>
                      <a:r>
                        <a:rPr sz="2000" b="1" spc="-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identical</a:t>
                      </a:r>
                      <a:r>
                        <a:rPr sz="2000" b="1" spc="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006600"/>
                          </a:solidFill>
                          <a:latin typeface="Courier New"/>
                          <a:cs typeface="Courier New"/>
                        </a:rPr>
                        <a:t>strings:"</a:t>
                      </a:r>
                      <a:r>
                        <a:rPr sz="2000" b="1" spc="-5" dirty="0">
                          <a:latin typeface="Courier New"/>
                          <a:cs typeface="Courier New"/>
                        </a:rPr>
                        <a:t>);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90805" marR="30480">
                        <a:lnSpc>
                          <a:spcPts val="2135"/>
                        </a:lnSpc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String </a:t>
                      </a:r>
                      <a:r>
                        <a:rPr sz="2000" b="1" dirty="0">
                          <a:latin typeface="Courier New"/>
                          <a:cs typeface="Courier New"/>
                        </a:rPr>
                        <a:t>str1 =</a:t>
                      </a:r>
                      <a:r>
                        <a:rPr sz="2000" b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b="1" spc="-5" dirty="0">
                          <a:latin typeface="Courier New"/>
                          <a:cs typeface="Courier New"/>
                        </a:rPr>
                        <a:t>sc.nextLine();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AAC9C9"/>
                      </a:solidFill>
                      <a:prstDash val="solid"/>
                    </a:lnL>
                    <a:lnR w="28575">
                      <a:solidFill>
                        <a:srgbClr val="AAC9C9"/>
                      </a:solidFill>
                      <a:prstDash val="solid"/>
                    </a:lnR>
                    <a:lnT w="28575">
                      <a:solidFill>
                        <a:srgbClr val="AAC9C9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AAC9C9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00912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String str2 </a:t>
                      </a:r>
                      <a:r>
                        <a:rPr sz="2000" b="1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2000" b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b="1" spc="-5" dirty="0">
                          <a:latin typeface="Courier New"/>
                          <a:cs typeface="Courier New"/>
                        </a:rPr>
                        <a:t>sc.nextLine();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205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System.out.println(</a:t>
                      </a:r>
                      <a:r>
                        <a:rPr sz="2000" b="1" spc="-5" dirty="0">
                          <a:solidFill>
                            <a:srgbClr val="C00000"/>
                          </a:solidFill>
                          <a:latin typeface="Courier New"/>
                          <a:cs typeface="Courier New"/>
                        </a:rPr>
                        <a:t>str1 == str2</a:t>
                      </a:r>
                      <a:r>
                        <a:rPr sz="2000" b="1" spc="-5" dirty="0">
                          <a:latin typeface="Courier New"/>
                          <a:cs typeface="Courier New"/>
                        </a:rPr>
                        <a:t>);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90805">
                        <a:lnSpc>
                          <a:spcPts val="1985"/>
                        </a:lnSpc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System.out.println(</a:t>
                      </a:r>
                      <a:r>
                        <a:rPr sz="2000" b="1" spc="-5" dirty="0">
                          <a:solidFill>
                            <a:srgbClr val="C00000"/>
                          </a:solidFill>
                          <a:latin typeface="Courier New"/>
                          <a:cs typeface="Courier New"/>
                        </a:rPr>
                        <a:t>str1.equals(str2)</a:t>
                      </a:r>
                      <a:r>
                        <a:rPr sz="2000" b="1" spc="-5" dirty="0">
                          <a:latin typeface="Courier New"/>
                          <a:cs typeface="Courier New"/>
                        </a:rPr>
                        <a:t>);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21590" marB="0">
                    <a:lnL w="28575">
                      <a:solidFill>
                        <a:srgbClr val="AAC9C9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095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Enter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2</a:t>
                      </a:r>
                      <a:r>
                        <a:rPr sz="1800" spc="-8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latin typeface="Courier New"/>
                          <a:cs typeface="Courier New"/>
                        </a:rPr>
                        <a:t>identi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92075" marR="295910">
                        <a:lnSpc>
                          <a:spcPct val="100000"/>
                        </a:lnSpc>
                      </a:pPr>
                      <a:r>
                        <a:rPr sz="1800" b="1" spc="-10" dirty="0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Hello</a:t>
                      </a:r>
                      <a:r>
                        <a:rPr sz="1800" b="1" spc="-90" dirty="0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world!  Hello</a:t>
                      </a:r>
                      <a:r>
                        <a:rPr sz="1800" b="1" spc="-90" dirty="0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world!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i="1" spc="-5" dirty="0">
                          <a:latin typeface="Arial"/>
                          <a:cs typeface="Arial"/>
                        </a:rPr>
                        <a:t>(What will be</a:t>
                      </a:r>
                      <a:r>
                        <a:rPr sz="1800" i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i="1" spc="-5" dirty="0">
                          <a:latin typeface="Arial"/>
                          <a:cs typeface="Arial"/>
                        </a:rPr>
                        <a:t>printe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90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AAC9C9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cal</a:t>
                      </a:r>
                      <a:r>
                        <a:rPr sz="1800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…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36195">
                        <a:lnSpc>
                          <a:spcPct val="100000"/>
                        </a:lnSpc>
                      </a:pPr>
                      <a:r>
                        <a:rPr sz="1800" i="1" spc="-5" dirty="0">
                          <a:latin typeface="Arial"/>
                          <a:cs typeface="Arial"/>
                        </a:rPr>
                        <a:t>d?)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9050" marB="0">
                    <a:lnL w="28575">
                      <a:solidFill>
                        <a:srgbClr val="AAC9C9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F4F4"/>
                    </a:solidFill>
                  </a:tcPr>
                </a:tc>
              </a:tr>
              <a:tr h="121157">
                <a:tc gridSpan="2"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AAC9C9"/>
                      </a:solidFill>
                      <a:prstDash val="solid"/>
                    </a:lnL>
                    <a:lnR w="28575">
                      <a:solidFill>
                        <a:srgbClr val="AAC9C9"/>
                      </a:solidFill>
                      <a:prstDash val="solid"/>
                    </a:lnR>
                    <a:lnB w="28575">
                      <a:solidFill>
                        <a:srgbClr val="AAC9C9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AAC9C9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253085" y="6375879"/>
            <a:ext cx="22987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80"/>
              </a:lnSpc>
            </a:pPr>
            <a:r>
              <a:rPr sz="1800" spc="2595" dirty="0">
                <a:latin typeface="Wingdings"/>
                <a:cs typeface="Wingdings"/>
              </a:rPr>
              <a:t></a:t>
            </a:r>
            <a:endParaRPr sz="1800">
              <a:latin typeface="Wingdings"/>
              <a:cs typeface="Wingding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</a:t>
            </a:r>
            <a:r>
              <a:rPr spc="5" dirty="0"/>
              <a:t>Lecture </a:t>
            </a:r>
            <a:r>
              <a:rPr dirty="0"/>
              <a:t>: OOP Part</a:t>
            </a:r>
            <a:r>
              <a:rPr spc="-190" dirty="0"/>
              <a:t> </a:t>
            </a:r>
            <a:r>
              <a:rPr dirty="0"/>
              <a:t>1]  </a:t>
            </a:r>
            <a:r>
              <a:rPr spc="-130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15</a:t>
            </a:fld>
            <a:endParaRPr spc="-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48158"/>
            <a:ext cx="74891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30" dirty="0">
                <a:uFill>
                  <a:solidFill>
                    <a:srgbClr val="003399"/>
                  </a:solidFill>
                </a:uFill>
              </a:rPr>
              <a:t>Math</a:t>
            </a:r>
            <a:r>
              <a:rPr spc="-30" dirty="0"/>
              <a:t> </a:t>
            </a:r>
            <a:r>
              <a:rPr spc="20" dirty="0"/>
              <a:t>Class: </a:t>
            </a:r>
            <a:r>
              <a:rPr spc="15" dirty="0"/>
              <a:t>Performing</a:t>
            </a:r>
            <a:r>
              <a:rPr spc="-35" dirty="0"/>
              <a:t> </a:t>
            </a:r>
            <a:r>
              <a:rPr spc="-45" dirty="0"/>
              <a:t>Computation</a:t>
            </a:r>
          </a:p>
        </p:txBody>
      </p:sp>
      <p:sp>
        <p:nvSpPr>
          <p:cNvPr id="3" name="object 3"/>
          <p:cNvSpPr/>
          <p:nvPr/>
        </p:nvSpPr>
        <p:spPr>
          <a:xfrm>
            <a:off x="163068" y="187452"/>
            <a:ext cx="523240" cy="1184275"/>
          </a:xfrm>
          <a:custGeom>
            <a:avLst/>
            <a:gdLst/>
            <a:ahLst/>
            <a:cxnLst/>
            <a:rect l="l" t="t" r="r" b="b"/>
            <a:pathLst>
              <a:path w="523240" h="1184275">
                <a:moveTo>
                  <a:pt x="522731" y="0"/>
                </a:moveTo>
                <a:lnTo>
                  <a:pt x="0" y="0"/>
                </a:lnTo>
                <a:lnTo>
                  <a:pt x="0" y="1184148"/>
                </a:lnTo>
                <a:lnTo>
                  <a:pt x="522731" y="1184148"/>
                </a:lnTo>
                <a:lnTo>
                  <a:pt x="522731" y="0"/>
                </a:lnTo>
                <a:close/>
              </a:path>
            </a:pathLst>
          </a:custGeom>
          <a:solidFill>
            <a:srgbClr val="FFCC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44239" y="328344"/>
            <a:ext cx="381000" cy="9652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990"/>
              </a:lnSpc>
            </a:pPr>
            <a:r>
              <a:rPr sz="2800" dirty="0">
                <a:solidFill>
                  <a:srgbClr val="C00000"/>
                </a:solidFill>
                <a:latin typeface="Trebuchet MS"/>
                <a:cs typeface="Trebuchet MS"/>
              </a:rPr>
              <a:t>2.</a:t>
            </a:r>
            <a:r>
              <a:rPr sz="2800" spc="-8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800" spc="15" dirty="0">
                <a:solidFill>
                  <a:srgbClr val="000099"/>
                </a:solidFill>
                <a:latin typeface="Trebuchet MS"/>
                <a:cs typeface="Trebuchet MS"/>
              </a:rPr>
              <a:t>API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940053"/>
            <a:ext cx="7482840" cy="1062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API documentation</a:t>
            </a:r>
            <a:endParaRPr sz="2400">
              <a:latin typeface="Arial"/>
              <a:cs typeface="Arial"/>
            </a:endParaRPr>
          </a:p>
          <a:p>
            <a:pPr marL="683260" lvl="1" indent="-327025">
              <a:lnSpc>
                <a:spcPct val="100000"/>
              </a:lnSpc>
              <a:buClr>
                <a:srgbClr val="4B6C4E"/>
              </a:buClr>
              <a:buSzPct val="60000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000" u="heavy" spc="-5" dirty="0">
                <a:solidFill>
                  <a:srgbClr val="002571"/>
                </a:solidFill>
                <a:uFill>
                  <a:solidFill>
                    <a:srgbClr val="002571"/>
                  </a:solidFill>
                </a:uFill>
                <a:latin typeface="Arial"/>
                <a:cs typeface="Arial"/>
                <a:hlinkClick r:id="rId2"/>
              </a:rPr>
              <a:t>http://docs.oracle.com/javase/7/docs/api/java/lang/Math.html</a:t>
            </a:r>
            <a:endParaRPr sz="20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buClr>
                <a:srgbClr val="009999"/>
              </a:buClr>
              <a:buSzPct val="64583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dirty="0">
                <a:latin typeface="Arial"/>
                <a:cs typeface="Arial"/>
              </a:rPr>
              <a:t>Import </a:t>
            </a:r>
            <a:r>
              <a:rPr sz="2400" spc="-5" dirty="0">
                <a:solidFill>
                  <a:srgbClr val="000099"/>
                </a:solidFill>
                <a:latin typeface="Arial"/>
                <a:cs typeface="Arial"/>
              </a:rPr>
              <a:t>java.lang.String</a:t>
            </a:r>
            <a:r>
              <a:rPr sz="240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(optional)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77161" y="2058161"/>
            <a:ext cx="1981200" cy="3293745"/>
          </a:xfrm>
          <a:prstGeom prst="rect">
            <a:avLst/>
          </a:prstGeom>
          <a:solidFill>
            <a:srgbClr val="FFCCFF"/>
          </a:solidFill>
          <a:ln w="25907">
            <a:solidFill>
              <a:srgbClr val="CC66FF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00"/>
              </a:spcBef>
            </a:pPr>
            <a:r>
              <a:rPr sz="2000" dirty="0">
                <a:latin typeface="Arial"/>
                <a:cs typeface="Arial"/>
              </a:rPr>
              <a:t>abs()</a:t>
            </a:r>
            <a:endParaRPr sz="2000">
              <a:latin typeface="Arial"/>
              <a:cs typeface="Arial"/>
            </a:endParaRPr>
          </a:p>
          <a:p>
            <a:pPr marL="90805" marR="108966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ceil()  floor()  hypo</a:t>
            </a:r>
            <a:r>
              <a:rPr sz="2000" spc="-10" dirty="0">
                <a:latin typeface="Arial"/>
                <a:cs typeface="Arial"/>
              </a:rPr>
              <a:t>t</a:t>
            </a:r>
            <a:r>
              <a:rPr sz="2000" dirty="0">
                <a:latin typeface="Arial"/>
                <a:cs typeface="Arial"/>
              </a:rPr>
              <a:t>()  max()</a:t>
            </a:r>
            <a:endParaRPr sz="2000">
              <a:latin typeface="Arial"/>
              <a:cs typeface="Arial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Arial"/>
                <a:cs typeface="Arial"/>
              </a:rPr>
              <a:t>min()</a:t>
            </a:r>
            <a:endParaRPr sz="2000">
              <a:latin typeface="Arial"/>
              <a:cs typeface="Arial"/>
            </a:endParaRPr>
          </a:p>
          <a:p>
            <a:pPr marL="90805" marR="848994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pow()  random</a:t>
            </a:r>
            <a:r>
              <a:rPr sz="2000" spc="5" dirty="0">
                <a:latin typeface="Arial"/>
                <a:cs typeface="Arial"/>
              </a:rPr>
              <a:t>(</a:t>
            </a:r>
            <a:r>
              <a:rPr sz="2000" dirty="0">
                <a:latin typeface="Arial"/>
                <a:cs typeface="Arial"/>
              </a:rPr>
              <a:t>)  sqrt()</a:t>
            </a:r>
            <a:endParaRPr sz="2000">
              <a:latin typeface="Arial"/>
              <a:cs typeface="Arial"/>
            </a:endParaRPr>
          </a:p>
          <a:p>
            <a:pPr marL="90805">
              <a:lnSpc>
                <a:spcPct val="100000"/>
              </a:lnSpc>
              <a:spcBef>
                <a:spcPts val="1455"/>
              </a:spcBef>
            </a:pPr>
            <a:r>
              <a:rPr sz="1600" i="1" spc="-5" dirty="0">
                <a:latin typeface="Arial"/>
                <a:cs typeface="Arial"/>
              </a:rPr>
              <a:t>And </a:t>
            </a:r>
            <a:r>
              <a:rPr sz="1600" i="1" spc="-10" dirty="0">
                <a:latin typeface="Arial"/>
                <a:cs typeface="Arial"/>
              </a:rPr>
              <a:t>many</a:t>
            </a:r>
            <a:r>
              <a:rPr sz="1600" i="1" spc="-5" dirty="0">
                <a:latin typeface="Arial"/>
                <a:cs typeface="Arial"/>
              </a:rPr>
              <a:t> </a:t>
            </a:r>
            <a:r>
              <a:rPr sz="1600" i="1" spc="-10" dirty="0">
                <a:latin typeface="Arial"/>
                <a:cs typeface="Arial"/>
              </a:rPr>
              <a:t>more…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276600" y="2057400"/>
            <a:ext cx="5583555" cy="4403090"/>
            <a:chOff x="3276600" y="2057400"/>
            <a:chExt cx="5583555" cy="4403090"/>
          </a:xfrm>
        </p:grpSpPr>
        <p:sp>
          <p:nvSpPr>
            <p:cNvPr id="8" name="object 8"/>
            <p:cNvSpPr/>
            <p:nvPr/>
          </p:nvSpPr>
          <p:spPr>
            <a:xfrm>
              <a:off x="3789666" y="2057400"/>
              <a:ext cx="5069867" cy="440283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76600" y="5486400"/>
              <a:ext cx="4271772" cy="96926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91361" y="5410961"/>
            <a:ext cx="1981200" cy="923925"/>
          </a:xfrm>
          <a:prstGeom prst="rect">
            <a:avLst/>
          </a:prstGeom>
          <a:solidFill>
            <a:srgbClr val="FFFF99"/>
          </a:solidFill>
          <a:ln w="25908">
            <a:solidFill>
              <a:srgbClr val="FFCC66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0805" marR="169545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latin typeface="Arial"/>
                <a:cs typeface="Arial"/>
              </a:rPr>
              <a:t>2 class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attributes  (constants):</a:t>
            </a:r>
            <a:endParaRPr sz="1800">
              <a:latin typeface="Arial"/>
              <a:cs typeface="Arial"/>
            </a:endParaRPr>
          </a:p>
          <a:p>
            <a:pPr marL="90805">
              <a:lnSpc>
                <a:spcPct val="100000"/>
              </a:lnSpc>
            </a:pPr>
            <a:r>
              <a:rPr sz="1800" dirty="0">
                <a:solidFill>
                  <a:srgbClr val="0000CC"/>
                </a:solidFill>
                <a:latin typeface="Arial"/>
                <a:cs typeface="Arial"/>
              </a:rPr>
              <a:t>E </a:t>
            </a:r>
            <a:r>
              <a:rPr sz="1800" spc="-5" dirty="0">
                <a:latin typeface="Arial"/>
                <a:cs typeface="Arial"/>
              </a:rPr>
              <a:t>and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0000CC"/>
                </a:solidFill>
                <a:latin typeface="Arial"/>
                <a:cs typeface="Arial"/>
              </a:rPr>
              <a:t>PI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</a:t>
            </a:r>
            <a:r>
              <a:rPr spc="5" dirty="0"/>
              <a:t>Lecture </a:t>
            </a:r>
            <a:r>
              <a:rPr dirty="0"/>
              <a:t>: OOP Part</a:t>
            </a:r>
            <a:r>
              <a:rPr spc="-190" dirty="0"/>
              <a:t> </a:t>
            </a:r>
            <a:r>
              <a:rPr dirty="0"/>
              <a:t>1]  </a:t>
            </a:r>
            <a:r>
              <a:rPr spc="-130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16</a:t>
            </a:fld>
            <a:endParaRPr spc="-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48158"/>
            <a:ext cx="36398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30" dirty="0">
                <a:uFill>
                  <a:solidFill>
                    <a:srgbClr val="003399"/>
                  </a:solidFill>
                </a:uFill>
              </a:rPr>
              <a:t>Math</a:t>
            </a:r>
            <a:r>
              <a:rPr spc="-30" dirty="0"/>
              <a:t> </a:t>
            </a:r>
            <a:r>
              <a:rPr spc="20" dirty="0"/>
              <a:t>Class:</a:t>
            </a:r>
            <a:r>
              <a:rPr spc="-50" dirty="0"/>
              <a:t> </a:t>
            </a:r>
            <a:r>
              <a:rPr spc="-15" dirty="0"/>
              <a:t>Demo</a:t>
            </a:r>
          </a:p>
        </p:txBody>
      </p:sp>
      <p:sp>
        <p:nvSpPr>
          <p:cNvPr id="3" name="object 3"/>
          <p:cNvSpPr/>
          <p:nvPr/>
        </p:nvSpPr>
        <p:spPr>
          <a:xfrm>
            <a:off x="163068" y="187451"/>
            <a:ext cx="523240" cy="1184275"/>
          </a:xfrm>
          <a:custGeom>
            <a:avLst/>
            <a:gdLst/>
            <a:ahLst/>
            <a:cxnLst/>
            <a:rect l="l" t="t" r="r" b="b"/>
            <a:pathLst>
              <a:path w="523240" h="1184275">
                <a:moveTo>
                  <a:pt x="522732" y="0"/>
                </a:moveTo>
                <a:lnTo>
                  <a:pt x="0" y="0"/>
                </a:lnTo>
                <a:lnTo>
                  <a:pt x="0" y="1146810"/>
                </a:lnTo>
                <a:lnTo>
                  <a:pt x="0" y="1184148"/>
                </a:lnTo>
                <a:lnTo>
                  <a:pt x="522732" y="1184148"/>
                </a:lnTo>
                <a:lnTo>
                  <a:pt x="522732" y="1146810"/>
                </a:lnTo>
                <a:lnTo>
                  <a:pt x="522732" y="0"/>
                </a:lnTo>
                <a:close/>
              </a:path>
            </a:pathLst>
          </a:custGeom>
          <a:solidFill>
            <a:srgbClr val="FFCC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44239" y="328344"/>
            <a:ext cx="381000" cy="9652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990"/>
              </a:lnSpc>
            </a:pPr>
            <a:r>
              <a:rPr sz="2800" dirty="0">
                <a:solidFill>
                  <a:srgbClr val="C00000"/>
                </a:solidFill>
                <a:latin typeface="Trebuchet MS"/>
                <a:cs typeface="Trebuchet MS"/>
              </a:rPr>
              <a:t>2.</a:t>
            </a:r>
            <a:r>
              <a:rPr sz="2800" spc="-8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800" spc="15" dirty="0">
                <a:solidFill>
                  <a:srgbClr val="000099"/>
                </a:solidFill>
                <a:latin typeface="Trebuchet MS"/>
                <a:cs typeface="Trebuchet MS"/>
              </a:rPr>
              <a:t>API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44944" y="1321244"/>
            <a:ext cx="8091170" cy="5073650"/>
            <a:chOff x="444944" y="1321244"/>
            <a:chExt cx="8091170" cy="5073650"/>
          </a:xfrm>
        </p:grpSpPr>
        <p:sp>
          <p:nvSpPr>
            <p:cNvPr id="6" name="object 6"/>
            <p:cNvSpPr/>
            <p:nvPr/>
          </p:nvSpPr>
          <p:spPr>
            <a:xfrm>
              <a:off x="457962" y="1334261"/>
              <a:ext cx="8065134" cy="5047615"/>
            </a:xfrm>
            <a:custGeom>
              <a:avLst/>
              <a:gdLst/>
              <a:ahLst/>
              <a:cxnLst/>
              <a:rect l="l" t="t" r="r" b="b"/>
              <a:pathLst>
                <a:path w="8065134" h="5047615">
                  <a:moveTo>
                    <a:pt x="8064995" y="0"/>
                  </a:moveTo>
                  <a:lnTo>
                    <a:pt x="0" y="0"/>
                  </a:lnTo>
                  <a:lnTo>
                    <a:pt x="0" y="2393442"/>
                  </a:lnTo>
                  <a:lnTo>
                    <a:pt x="0" y="4793742"/>
                  </a:lnTo>
                  <a:lnTo>
                    <a:pt x="0" y="5047488"/>
                  </a:lnTo>
                  <a:lnTo>
                    <a:pt x="8064995" y="5047488"/>
                  </a:lnTo>
                  <a:lnTo>
                    <a:pt x="8064995" y="4793742"/>
                  </a:lnTo>
                  <a:lnTo>
                    <a:pt x="8064995" y="2393442"/>
                  </a:lnTo>
                  <a:lnTo>
                    <a:pt x="8064995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961" y="1334262"/>
              <a:ext cx="8065134" cy="5047615"/>
            </a:xfrm>
            <a:custGeom>
              <a:avLst/>
              <a:gdLst/>
              <a:ahLst/>
              <a:cxnLst/>
              <a:rect l="l" t="t" r="r" b="b"/>
              <a:pathLst>
                <a:path w="8065134" h="5047615">
                  <a:moveTo>
                    <a:pt x="0" y="5047488"/>
                  </a:moveTo>
                  <a:lnTo>
                    <a:pt x="8065008" y="5047488"/>
                  </a:lnTo>
                  <a:lnTo>
                    <a:pt x="8065008" y="0"/>
                  </a:lnTo>
                  <a:lnTo>
                    <a:pt x="0" y="0"/>
                  </a:lnTo>
                  <a:lnTo>
                    <a:pt x="0" y="5047488"/>
                  </a:lnTo>
                  <a:close/>
                </a:path>
              </a:pathLst>
            </a:custGeom>
            <a:ln w="25908">
              <a:solidFill>
                <a:srgbClr val="AAC9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5940" y="1343913"/>
            <a:ext cx="4519295" cy="9093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9900CC"/>
                </a:solidFill>
                <a:latin typeface="Courier New"/>
                <a:cs typeface="Courier New"/>
              </a:rPr>
              <a:t>import</a:t>
            </a:r>
            <a:r>
              <a:rPr sz="1600" b="1" spc="10" dirty="0">
                <a:solidFill>
                  <a:srgbClr val="9900CC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java.util.*;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1600" b="1" spc="-5" dirty="0">
                <a:solidFill>
                  <a:srgbClr val="0000FF"/>
                </a:solidFill>
                <a:latin typeface="Courier New"/>
                <a:cs typeface="Courier New"/>
              </a:rPr>
              <a:t>public class </a:t>
            </a:r>
            <a:r>
              <a:rPr sz="1600" b="1" spc="-5" dirty="0">
                <a:latin typeface="Courier New"/>
                <a:cs typeface="Courier New"/>
              </a:rPr>
              <a:t>TestMath2</a:t>
            </a:r>
            <a:r>
              <a:rPr sz="1600" b="1" spc="3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52425">
              <a:lnSpc>
                <a:spcPct val="100000"/>
              </a:lnSpc>
            </a:pPr>
            <a:r>
              <a:rPr sz="1600" b="1" spc="-5" dirty="0">
                <a:solidFill>
                  <a:srgbClr val="0000CC"/>
                </a:solidFill>
                <a:latin typeface="Courier New"/>
                <a:cs typeface="Courier New"/>
              </a:rPr>
              <a:t>public </a:t>
            </a:r>
            <a:r>
              <a:rPr sz="1600" b="1" dirty="0">
                <a:solidFill>
                  <a:srgbClr val="0000CC"/>
                </a:solidFill>
                <a:latin typeface="Courier New"/>
                <a:cs typeface="Courier New"/>
              </a:rPr>
              <a:t>static </a:t>
            </a:r>
            <a:r>
              <a:rPr sz="1600" b="1" spc="-5" dirty="0">
                <a:solidFill>
                  <a:srgbClr val="0000CC"/>
                </a:solidFill>
                <a:latin typeface="Courier New"/>
                <a:cs typeface="Courier New"/>
              </a:rPr>
              <a:t>void </a:t>
            </a:r>
            <a:r>
              <a:rPr sz="1600" b="1" spc="-5" dirty="0">
                <a:latin typeface="Courier New"/>
                <a:cs typeface="Courier New"/>
              </a:rPr>
              <a:t>main(String[]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10" dirty="0">
                <a:latin typeface="Courier New"/>
                <a:cs typeface="Courier New"/>
              </a:rPr>
              <a:t>a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41976" y="2031021"/>
            <a:ext cx="733425" cy="869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50"/>
              </a:lnSpc>
            </a:pPr>
            <a:r>
              <a:rPr sz="1600" b="1" dirty="0">
                <a:latin typeface="Courier New"/>
                <a:cs typeface="Courier New"/>
              </a:rPr>
              <a:t>rgs)</a:t>
            </a:r>
            <a:r>
              <a:rPr sz="1600" b="1" spc="-9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10541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in);</a:t>
            </a:r>
            <a:endParaRPr sz="1600">
              <a:latin typeface="Courier New"/>
              <a:cs typeface="Courier New"/>
            </a:endParaRPr>
          </a:p>
          <a:p>
            <a:pPr marL="105410">
              <a:lnSpc>
                <a:spcPct val="100000"/>
              </a:lnSpc>
              <a:spcBef>
                <a:spcPts val="1200"/>
              </a:spcBef>
            </a:pPr>
            <a:r>
              <a:rPr sz="1600" b="1" spc="-5" dirty="0">
                <a:solidFill>
                  <a:srgbClr val="008000"/>
                </a:solidFill>
                <a:latin typeface="Courier New"/>
                <a:cs typeface="Courier New"/>
              </a:rPr>
              <a:t>:</a:t>
            </a:r>
            <a:r>
              <a:rPr sz="1600" b="1" spc="-8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600" b="1" spc="5" dirty="0">
                <a:solidFill>
                  <a:srgbClr val="008000"/>
                </a:solidFill>
                <a:latin typeface="Courier New"/>
                <a:cs typeface="Courier New"/>
              </a:rPr>
              <a:t>"</a:t>
            </a:r>
            <a:r>
              <a:rPr sz="1600" b="1" spc="5" dirty="0"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26616" y="2868548"/>
            <a:ext cx="368998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0000FF"/>
                </a:solidFill>
                <a:latin typeface="Courier New"/>
                <a:cs typeface="Courier New"/>
              </a:rPr>
              <a:t>double </a:t>
            </a:r>
            <a:r>
              <a:rPr sz="1600" b="1" spc="-5" dirty="0">
                <a:latin typeface="Courier New"/>
                <a:cs typeface="Courier New"/>
              </a:rPr>
              <a:t>num1 = sc.nextDouble();  </a:t>
            </a:r>
            <a:r>
              <a:rPr sz="1600" b="1" spc="-5" dirty="0">
                <a:solidFill>
                  <a:srgbClr val="0000FF"/>
                </a:solidFill>
                <a:latin typeface="Courier New"/>
                <a:cs typeface="Courier New"/>
              </a:rPr>
              <a:t>double </a:t>
            </a:r>
            <a:r>
              <a:rPr sz="1600" b="1" spc="-5" dirty="0">
                <a:latin typeface="Courier New"/>
                <a:cs typeface="Courier New"/>
              </a:rPr>
              <a:t>num2 = sc.nextDouble();  </a:t>
            </a:r>
            <a:r>
              <a:rPr sz="1600" b="1" spc="-5" dirty="0">
                <a:solidFill>
                  <a:srgbClr val="0000FF"/>
                </a:solidFill>
                <a:latin typeface="Courier New"/>
                <a:cs typeface="Courier New"/>
              </a:rPr>
              <a:t>double </a:t>
            </a:r>
            <a:r>
              <a:rPr sz="1600" b="1" spc="-5" dirty="0">
                <a:latin typeface="Courier New"/>
                <a:cs typeface="Courier New"/>
              </a:rPr>
              <a:t>num3 =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sc.nextDouble();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5791" y="3752469"/>
            <a:ext cx="7213600" cy="2281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322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Courier New"/>
                <a:cs typeface="Courier New"/>
              </a:rPr>
              <a:t>System.out.printf(</a:t>
            </a:r>
            <a:r>
              <a:rPr sz="1600" b="1" spc="-5" dirty="0">
                <a:solidFill>
                  <a:srgbClr val="008000"/>
                </a:solidFill>
                <a:latin typeface="Courier New"/>
                <a:cs typeface="Courier New"/>
              </a:rPr>
              <a:t>"pow(%.2f,%.2f) =</a:t>
            </a:r>
            <a:r>
              <a:rPr sz="1600" b="1" spc="1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8000"/>
                </a:solidFill>
                <a:latin typeface="Courier New"/>
                <a:cs typeface="Courier New"/>
              </a:rPr>
              <a:t>%.3f</a:t>
            </a:r>
            <a:r>
              <a:rPr sz="1600" b="1" dirty="0">
                <a:latin typeface="Courier New"/>
                <a:cs typeface="Courier New"/>
              </a:rPr>
              <a:t>\n",</a:t>
            </a:r>
            <a:endParaRPr sz="1600">
              <a:latin typeface="Courier New"/>
              <a:cs typeface="Courier New"/>
            </a:endParaRPr>
          </a:p>
          <a:p>
            <a:pPr marL="2560955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num1, num2,</a:t>
            </a:r>
            <a:r>
              <a:rPr sz="1600" b="1" spc="5" dirty="0">
                <a:latin typeface="Courier New"/>
                <a:cs typeface="Courier New"/>
              </a:rPr>
              <a:t> </a:t>
            </a:r>
            <a:r>
              <a:rPr sz="1600" b="1" u="heavy" spc="-5" dirty="0">
                <a:uFill>
                  <a:solidFill>
                    <a:srgbClr val="C00000"/>
                  </a:solidFill>
                </a:uFill>
                <a:latin typeface="Courier New"/>
                <a:cs typeface="Courier New"/>
              </a:rPr>
              <a:t>Math.pow(num1,num2)</a:t>
            </a:r>
            <a:r>
              <a:rPr sz="1600" b="1" spc="-5" dirty="0"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363220">
              <a:lnSpc>
                <a:spcPct val="100000"/>
              </a:lnSpc>
              <a:spcBef>
                <a:spcPts val="1205"/>
              </a:spcBef>
            </a:pPr>
            <a:r>
              <a:rPr sz="1600" b="1" spc="-5" dirty="0">
                <a:latin typeface="Courier New"/>
                <a:cs typeface="Courier New"/>
              </a:rPr>
              <a:t>System.out.println("</a:t>
            </a:r>
            <a:r>
              <a:rPr sz="1600" b="1" spc="-5" dirty="0">
                <a:solidFill>
                  <a:srgbClr val="008000"/>
                </a:solidFill>
                <a:latin typeface="Courier New"/>
                <a:cs typeface="Courier New"/>
              </a:rPr>
              <a:t>Largest = "</a:t>
            </a:r>
            <a:r>
              <a:rPr sz="1600" b="1" spc="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+</a:t>
            </a:r>
            <a:endParaRPr sz="1600">
              <a:latin typeface="Courier New"/>
              <a:cs typeface="Courier New"/>
            </a:endParaRPr>
          </a:p>
          <a:p>
            <a:pPr marL="2684780">
              <a:lnSpc>
                <a:spcPct val="100000"/>
              </a:lnSpc>
            </a:pPr>
            <a:r>
              <a:rPr sz="1600" b="1" u="heavy" spc="-5" dirty="0">
                <a:uFill>
                  <a:solidFill>
                    <a:srgbClr val="C00000"/>
                  </a:solidFill>
                </a:uFill>
                <a:latin typeface="Courier New"/>
                <a:cs typeface="Courier New"/>
              </a:rPr>
              <a:t>Math.max(Math.max(num1,num2),</a:t>
            </a:r>
            <a:r>
              <a:rPr sz="1600" b="1" u="heavy" spc="-15" dirty="0">
                <a:uFill>
                  <a:solidFill>
                    <a:srgbClr val="C00000"/>
                  </a:solidFill>
                </a:uFill>
                <a:latin typeface="Courier New"/>
                <a:cs typeface="Courier New"/>
              </a:rPr>
              <a:t> </a:t>
            </a:r>
            <a:r>
              <a:rPr sz="1600" b="1" u="heavy" spc="-5" dirty="0">
                <a:uFill>
                  <a:solidFill>
                    <a:srgbClr val="C00000"/>
                  </a:solidFill>
                </a:uFill>
                <a:latin typeface="Courier New"/>
                <a:cs typeface="Courier New"/>
              </a:rPr>
              <a:t>num3)</a:t>
            </a:r>
            <a:r>
              <a:rPr sz="1600" b="1" spc="-5" dirty="0"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363220">
              <a:lnSpc>
                <a:spcPct val="100000"/>
              </a:lnSpc>
              <a:spcBef>
                <a:spcPts val="1200"/>
              </a:spcBef>
            </a:pPr>
            <a:r>
              <a:rPr sz="1600" b="1" spc="-5" dirty="0">
                <a:latin typeface="Courier New"/>
                <a:cs typeface="Courier New"/>
              </a:rPr>
              <a:t>System.out.println(</a:t>
            </a:r>
            <a:r>
              <a:rPr sz="1600" b="1" spc="-5" dirty="0">
                <a:solidFill>
                  <a:srgbClr val="008000"/>
                </a:solidFill>
                <a:latin typeface="Courier New"/>
                <a:cs typeface="Courier New"/>
              </a:rPr>
              <a:t>"Generating 5 random</a:t>
            </a:r>
            <a:r>
              <a:rPr sz="1600" b="1" spc="2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008000"/>
                </a:solidFill>
                <a:latin typeface="Courier New"/>
                <a:cs typeface="Courier New"/>
              </a:rPr>
              <a:t>values:"</a:t>
            </a:r>
            <a:r>
              <a:rPr sz="1600" b="1" dirty="0"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363220">
              <a:lnSpc>
                <a:spcPct val="100000"/>
              </a:lnSpc>
            </a:pPr>
            <a:r>
              <a:rPr sz="1600" b="1" spc="-5" dirty="0">
                <a:solidFill>
                  <a:srgbClr val="0000FF"/>
                </a:solidFill>
                <a:latin typeface="Courier New"/>
                <a:cs typeface="Courier New"/>
              </a:rPr>
              <a:t>for </a:t>
            </a:r>
            <a:r>
              <a:rPr sz="1600" b="1" dirty="0">
                <a:latin typeface="Courier New"/>
                <a:cs typeface="Courier New"/>
              </a:rPr>
              <a:t>(</a:t>
            </a:r>
            <a:r>
              <a:rPr sz="1600" b="1" dirty="0">
                <a:solidFill>
                  <a:srgbClr val="0000FF"/>
                </a:solidFill>
                <a:latin typeface="Courier New"/>
                <a:cs typeface="Courier New"/>
              </a:rPr>
              <a:t>int </a:t>
            </a:r>
            <a:r>
              <a:rPr sz="1600" b="1" dirty="0">
                <a:latin typeface="Courier New"/>
                <a:cs typeface="Courier New"/>
              </a:rPr>
              <a:t>i=</a:t>
            </a:r>
            <a:r>
              <a:rPr sz="1600" b="1" dirty="0">
                <a:solidFill>
                  <a:srgbClr val="008000"/>
                </a:solidFill>
                <a:latin typeface="Courier New"/>
                <a:cs typeface="Courier New"/>
              </a:rPr>
              <a:t>0</a:t>
            </a:r>
            <a:r>
              <a:rPr sz="1600" b="1" dirty="0">
                <a:latin typeface="Courier New"/>
                <a:cs typeface="Courier New"/>
              </a:rPr>
              <a:t>; </a:t>
            </a:r>
            <a:r>
              <a:rPr sz="1600" b="1" spc="-5" dirty="0">
                <a:latin typeface="Courier New"/>
                <a:cs typeface="Courier New"/>
              </a:rPr>
              <a:t>i&lt;</a:t>
            </a:r>
            <a:r>
              <a:rPr sz="1600" b="1" spc="-5" dirty="0">
                <a:solidFill>
                  <a:srgbClr val="008000"/>
                </a:solidFill>
                <a:latin typeface="Courier New"/>
                <a:cs typeface="Courier New"/>
              </a:rPr>
              <a:t>5</a:t>
            </a:r>
            <a:r>
              <a:rPr sz="1600" b="1" spc="-5" dirty="0">
                <a:latin typeface="Courier New"/>
                <a:cs typeface="Courier New"/>
              </a:rPr>
              <a:t>;</a:t>
            </a:r>
            <a:r>
              <a:rPr sz="1600" b="1" spc="5" dirty="0">
                <a:latin typeface="Courier New"/>
                <a:cs typeface="Courier New"/>
              </a:rPr>
              <a:t> </a:t>
            </a:r>
            <a:r>
              <a:rPr sz="1600" b="1" spc="-10" dirty="0">
                <a:latin typeface="Courier New"/>
                <a:cs typeface="Courier New"/>
              </a:rPr>
              <a:t>i++)</a:t>
            </a:r>
            <a:endParaRPr sz="1600">
              <a:latin typeface="Courier New"/>
              <a:cs typeface="Courier New"/>
            </a:endParaRPr>
          </a:p>
          <a:p>
            <a:pPr marL="70485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System.out.println(</a:t>
            </a:r>
            <a:r>
              <a:rPr sz="1600" b="1" u="heavy" spc="-5" dirty="0">
                <a:uFill>
                  <a:solidFill>
                    <a:srgbClr val="C00000"/>
                  </a:solidFill>
                </a:uFill>
                <a:latin typeface="Courier New"/>
                <a:cs typeface="Courier New"/>
              </a:rPr>
              <a:t>Math.random())</a:t>
            </a:r>
            <a:r>
              <a:rPr sz="1600" b="1" spc="-5" dirty="0"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5940" y="6008623"/>
            <a:ext cx="147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699250" y="6121653"/>
            <a:ext cx="1917700" cy="393700"/>
            <a:chOff x="6699250" y="6121653"/>
            <a:chExt cx="1917700" cy="393700"/>
          </a:xfrm>
        </p:grpSpPr>
        <p:sp>
          <p:nvSpPr>
            <p:cNvPr id="14" name="object 14"/>
            <p:cNvSpPr/>
            <p:nvPr/>
          </p:nvSpPr>
          <p:spPr>
            <a:xfrm>
              <a:off x="6705600" y="6128003"/>
              <a:ext cx="1905000" cy="381000"/>
            </a:xfrm>
            <a:custGeom>
              <a:avLst/>
              <a:gdLst/>
              <a:ahLst/>
              <a:cxnLst/>
              <a:rect l="l" t="t" r="r" b="b"/>
              <a:pathLst>
                <a:path w="1905000" h="381000">
                  <a:moveTo>
                    <a:pt x="19050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1905000" y="381000"/>
                  </a:lnTo>
                  <a:lnTo>
                    <a:pt x="1905000" y="0"/>
                  </a:lnTo>
                  <a:close/>
                </a:path>
              </a:pathLst>
            </a:custGeom>
            <a:solidFill>
              <a:srgbClr val="B8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705600" y="6128003"/>
              <a:ext cx="1905000" cy="381000"/>
            </a:xfrm>
            <a:custGeom>
              <a:avLst/>
              <a:gdLst/>
              <a:ahLst/>
              <a:cxnLst/>
              <a:rect l="l" t="t" r="r" b="b"/>
              <a:pathLst>
                <a:path w="1905000" h="381000">
                  <a:moveTo>
                    <a:pt x="0" y="381000"/>
                  </a:moveTo>
                  <a:lnTo>
                    <a:pt x="1905000" y="381000"/>
                  </a:lnTo>
                  <a:lnTo>
                    <a:pt x="19050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920230" y="6155232"/>
            <a:ext cx="14782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Carlito"/>
                <a:cs typeface="Carlito"/>
              </a:rPr>
              <a:t>TestMath2.java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100828" y="1138427"/>
            <a:ext cx="3895725" cy="2593975"/>
            <a:chOff x="5100828" y="1138427"/>
            <a:chExt cx="3895725" cy="2593975"/>
          </a:xfrm>
        </p:grpSpPr>
        <p:sp>
          <p:nvSpPr>
            <p:cNvPr id="18" name="object 18"/>
            <p:cNvSpPr/>
            <p:nvPr/>
          </p:nvSpPr>
          <p:spPr>
            <a:xfrm>
              <a:off x="5105400" y="1142999"/>
              <a:ext cx="3886200" cy="2585085"/>
            </a:xfrm>
            <a:custGeom>
              <a:avLst/>
              <a:gdLst/>
              <a:ahLst/>
              <a:cxnLst/>
              <a:rect l="l" t="t" r="r" b="b"/>
              <a:pathLst>
                <a:path w="3886200" h="2585085">
                  <a:moveTo>
                    <a:pt x="3886200" y="0"/>
                  </a:moveTo>
                  <a:lnTo>
                    <a:pt x="0" y="0"/>
                  </a:lnTo>
                  <a:lnTo>
                    <a:pt x="0" y="2584704"/>
                  </a:lnTo>
                  <a:lnTo>
                    <a:pt x="3886200" y="2584704"/>
                  </a:lnTo>
                  <a:lnTo>
                    <a:pt x="3886200" y="0"/>
                  </a:lnTo>
                  <a:close/>
                </a:path>
              </a:pathLst>
            </a:custGeom>
            <a:solidFill>
              <a:srgbClr val="ED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105400" y="1142999"/>
              <a:ext cx="3886200" cy="2585085"/>
            </a:xfrm>
            <a:custGeom>
              <a:avLst/>
              <a:gdLst/>
              <a:ahLst/>
              <a:cxnLst/>
              <a:rect l="l" t="t" r="r" b="b"/>
              <a:pathLst>
                <a:path w="3886200" h="2585085">
                  <a:moveTo>
                    <a:pt x="0" y="2584704"/>
                  </a:moveTo>
                  <a:lnTo>
                    <a:pt x="3886200" y="2584704"/>
                  </a:lnTo>
                  <a:lnTo>
                    <a:pt x="3886200" y="0"/>
                  </a:lnTo>
                  <a:lnTo>
                    <a:pt x="0" y="0"/>
                  </a:lnTo>
                  <a:lnTo>
                    <a:pt x="0" y="258470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64540" y="941578"/>
            <a:ext cx="8133080" cy="507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ts val="1895"/>
              </a:lnSpc>
              <a:spcBef>
                <a:spcPts val="100"/>
              </a:spcBef>
              <a:buClr>
                <a:srgbClr val="009999"/>
              </a:buClr>
              <a:buSzPct val="63888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1800" dirty="0">
                <a:latin typeface="Arial"/>
                <a:cs typeface="Arial"/>
              </a:rPr>
              <a:t>A </a:t>
            </a:r>
            <a:r>
              <a:rPr sz="1800" spc="-5" dirty="0">
                <a:latin typeface="Arial"/>
                <a:cs typeface="Arial"/>
              </a:rPr>
              <a:t>demo </a:t>
            </a:r>
            <a:r>
              <a:rPr sz="1800" spc="-15" dirty="0">
                <a:latin typeface="Arial"/>
                <a:cs typeface="Arial"/>
              </a:rPr>
              <a:t>was </a:t>
            </a:r>
            <a:r>
              <a:rPr sz="1800" spc="-5" dirty="0">
                <a:latin typeface="Arial"/>
                <a:cs typeface="Arial"/>
              </a:rPr>
              <a:t>given last </a:t>
            </a:r>
            <a:r>
              <a:rPr sz="1800" spc="-15" dirty="0">
                <a:latin typeface="Arial"/>
                <a:cs typeface="Arial"/>
              </a:rPr>
              <a:t>week. </a:t>
            </a:r>
            <a:r>
              <a:rPr sz="1800" spc="-5" dirty="0">
                <a:latin typeface="Arial"/>
                <a:cs typeface="Arial"/>
              </a:rPr>
              <a:t>Here’s</a:t>
            </a:r>
            <a:r>
              <a:rPr sz="1800" spc="14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another.</a:t>
            </a:r>
            <a:endParaRPr sz="1800">
              <a:latin typeface="Arial"/>
              <a:cs typeface="Arial"/>
            </a:endParaRPr>
          </a:p>
          <a:p>
            <a:pPr marL="4432935">
              <a:lnSpc>
                <a:spcPts val="1895"/>
              </a:lnSpc>
            </a:pPr>
            <a:r>
              <a:rPr sz="1800" spc="-10" dirty="0">
                <a:latin typeface="Courier New"/>
                <a:cs typeface="Courier New"/>
              </a:rPr>
              <a:t>Enter </a:t>
            </a:r>
            <a:r>
              <a:rPr sz="1800" dirty="0">
                <a:latin typeface="Courier New"/>
                <a:cs typeface="Courier New"/>
              </a:rPr>
              <a:t>3 </a:t>
            </a:r>
            <a:r>
              <a:rPr sz="1800" spc="-10" dirty="0">
                <a:latin typeface="Courier New"/>
                <a:cs typeface="Courier New"/>
              </a:rPr>
              <a:t>values: </a:t>
            </a:r>
            <a:r>
              <a:rPr sz="1800" b="1" spc="-5" dirty="0">
                <a:solidFill>
                  <a:srgbClr val="0000FF"/>
                </a:solidFill>
                <a:latin typeface="Courier New"/>
                <a:cs typeface="Courier New"/>
              </a:rPr>
              <a:t>3.2 </a:t>
            </a:r>
            <a:r>
              <a:rPr sz="1800" b="1" spc="-10" dirty="0">
                <a:solidFill>
                  <a:srgbClr val="0000FF"/>
                </a:solidFill>
                <a:latin typeface="Courier New"/>
                <a:cs typeface="Courier New"/>
              </a:rPr>
              <a:t>9.6</a:t>
            </a:r>
            <a:r>
              <a:rPr sz="1800" b="1" spc="-9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0000FF"/>
                </a:solidFill>
                <a:latin typeface="Courier New"/>
                <a:cs typeface="Courier New"/>
              </a:rPr>
              <a:t>5.8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</a:t>
            </a:r>
            <a:r>
              <a:rPr spc="5" dirty="0"/>
              <a:t>Lecture </a:t>
            </a:r>
            <a:r>
              <a:rPr dirty="0"/>
              <a:t>: OOP Part</a:t>
            </a:r>
            <a:r>
              <a:rPr spc="-190" dirty="0"/>
              <a:t> </a:t>
            </a:r>
            <a:r>
              <a:rPr dirty="0"/>
              <a:t>1]  </a:t>
            </a:r>
            <a:r>
              <a:rPr spc="-130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" dirty="0"/>
              <a:t>17</a:t>
            </a:fld>
            <a:endParaRPr spc="-5" dirty="0"/>
          </a:p>
        </p:txBody>
      </p:sp>
      <p:sp>
        <p:nvSpPr>
          <p:cNvPr id="21" name="object 21"/>
          <p:cNvSpPr txBox="1"/>
          <p:nvPr/>
        </p:nvSpPr>
        <p:spPr>
          <a:xfrm>
            <a:off x="5185028" y="1422857"/>
            <a:ext cx="35756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urier New"/>
                <a:cs typeface="Courier New"/>
              </a:rPr>
              <a:t>pow(3.20,9.60)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7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70703.317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185028" y="1697863"/>
            <a:ext cx="1800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urier New"/>
                <a:cs typeface="Courier New"/>
              </a:rPr>
              <a:t>Largest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9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9.6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85028" y="1972183"/>
            <a:ext cx="3711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urier New"/>
                <a:cs typeface="Courier New"/>
              </a:rPr>
              <a:t>Generating </a:t>
            </a:r>
            <a:r>
              <a:rPr sz="1800" dirty="0">
                <a:latin typeface="Courier New"/>
                <a:cs typeface="Courier New"/>
              </a:rPr>
              <a:t>5 </a:t>
            </a:r>
            <a:r>
              <a:rPr sz="1800" spc="-10" dirty="0">
                <a:latin typeface="Courier New"/>
                <a:cs typeface="Courier New"/>
              </a:rPr>
              <a:t>random</a:t>
            </a:r>
            <a:r>
              <a:rPr sz="1800" spc="-9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values: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88516" y="2080387"/>
            <a:ext cx="6381115" cy="81788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60"/>
              </a:spcBef>
            </a:pPr>
            <a:r>
              <a:rPr sz="1600" b="1" spc="-5" dirty="0">
                <a:latin typeface="Courier New"/>
                <a:cs typeface="Courier New"/>
              </a:rPr>
              <a:t>Scanner sc = </a:t>
            </a:r>
            <a:r>
              <a:rPr sz="1600" b="1" spc="-5" dirty="0">
                <a:solidFill>
                  <a:srgbClr val="0000CC"/>
                </a:solidFill>
                <a:latin typeface="Courier New"/>
                <a:cs typeface="Courier New"/>
              </a:rPr>
              <a:t>new </a:t>
            </a:r>
            <a:r>
              <a:rPr sz="1600" b="1" spc="-5" dirty="0">
                <a:latin typeface="Courier New"/>
                <a:cs typeface="Courier New"/>
              </a:rPr>
              <a:t>Scanner(System.</a:t>
            </a:r>
            <a:r>
              <a:rPr sz="1600" b="1" spc="-530" dirty="0">
                <a:latin typeface="Courier New"/>
                <a:cs typeface="Courier New"/>
              </a:rPr>
              <a:t> </a:t>
            </a:r>
            <a:r>
              <a:rPr sz="2700" spc="-15" baseline="-10802" dirty="0">
                <a:latin typeface="Courier New"/>
                <a:cs typeface="Courier New"/>
              </a:rPr>
              <a:t>0.874782725744965</a:t>
            </a:r>
            <a:endParaRPr sz="2700" baseline="-10802">
              <a:latin typeface="Courier New"/>
              <a:cs typeface="Courier New"/>
            </a:endParaRPr>
          </a:p>
          <a:p>
            <a:pPr marL="50800">
              <a:lnSpc>
                <a:spcPct val="100000"/>
              </a:lnSpc>
              <a:spcBef>
                <a:spcPts val="960"/>
              </a:spcBef>
            </a:pPr>
            <a:r>
              <a:rPr sz="1600" b="1" spc="-5" dirty="0">
                <a:latin typeface="Courier New"/>
                <a:cs typeface="Courier New"/>
              </a:rPr>
              <a:t>System.out.print(</a:t>
            </a:r>
            <a:r>
              <a:rPr sz="1600" b="1" spc="-5" dirty="0">
                <a:solidFill>
                  <a:srgbClr val="008000"/>
                </a:solidFill>
                <a:latin typeface="Courier New"/>
                <a:cs typeface="Courier New"/>
              </a:rPr>
              <a:t>"Enter 3 values</a:t>
            </a:r>
            <a:r>
              <a:rPr sz="1600" b="1" spc="-56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2700" spc="-15" baseline="18518" dirty="0">
                <a:latin typeface="Courier New"/>
                <a:cs typeface="Courier New"/>
              </a:rPr>
              <a:t>0.948361014412348</a:t>
            </a:r>
            <a:endParaRPr sz="2700" baseline="18518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185028" y="2794838"/>
            <a:ext cx="275590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urier New"/>
                <a:cs typeface="Courier New"/>
              </a:rPr>
              <a:t>0.8968816217113053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ourier New"/>
                <a:cs typeface="Courier New"/>
              </a:rPr>
              <a:t>0.028525690859603103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0.5846509364262972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3444" y="1540890"/>
            <a:ext cx="41783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15" dirty="0">
                <a:solidFill>
                  <a:srgbClr val="C00000"/>
                </a:solidFill>
                <a:latin typeface="Trebuchet MS"/>
                <a:cs typeface="Trebuchet MS"/>
              </a:rPr>
              <a:t>3. </a:t>
            </a:r>
            <a:r>
              <a:rPr sz="4400" spc="-15" dirty="0">
                <a:solidFill>
                  <a:srgbClr val="003399"/>
                </a:solidFill>
                <a:latin typeface="Trebuchet MS"/>
                <a:cs typeface="Trebuchet MS"/>
              </a:rPr>
              <a:t>OOP</a:t>
            </a:r>
            <a:r>
              <a:rPr sz="4400" spc="-100" dirty="0">
                <a:solidFill>
                  <a:srgbClr val="003399"/>
                </a:solidFill>
                <a:latin typeface="Trebuchet MS"/>
                <a:cs typeface="Trebuchet MS"/>
              </a:rPr>
              <a:t> </a:t>
            </a:r>
            <a:r>
              <a:rPr sz="4400" spc="-30" dirty="0">
                <a:solidFill>
                  <a:srgbClr val="003399"/>
                </a:solidFill>
                <a:latin typeface="Trebuchet MS"/>
                <a:cs typeface="Trebuchet MS"/>
              </a:rPr>
              <a:t>Concepts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60194" y="3970782"/>
            <a:ext cx="574802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rlito"/>
                <a:cs typeface="Carlito"/>
              </a:rPr>
              <a:t>What makes Java</a:t>
            </a:r>
            <a:r>
              <a:rPr sz="3200" spc="-25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object-oriented?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48158"/>
            <a:ext cx="18954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Modifiers</a:t>
            </a:r>
          </a:p>
        </p:txBody>
      </p:sp>
      <p:sp>
        <p:nvSpPr>
          <p:cNvPr id="3" name="object 3"/>
          <p:cNvSpPr/>
          <p:nvPr/>
        </p:nvSpPr>
        <p:spPr>
          <a:xfrm>
            <a:off x="163068" y="187452"/>
            <a:ext cx="523240" cy="1412875"/>
          </a:xfrm>
          <a:custGeom>
            <a:avLst/>
            <a:gdLst/>
            <a:ahLst/>
            <a:cxnLst/>
            <a:rect l="l" t="t" r="r" b="b"/>
            <a:pathLst>
              <a:path w="523240" h="1412875">
                <a:moveTo>
                  <a:pt x="522731" y="0"/>
                </a:moveTo>
                <a:lnTo>
                  <a:pt x="0" y="0"/>
                </a:lnTo>
                <a:lnTo>
                  <a:pt x="0" y="1412748"/>
                </a:lnTo>
                <a:lnTo>
                  <a:pt x="522731" y="1412748"/>
                </a:lnTo>
                <a:lnTo>
                  <a:pt x="522731" y="0"/>
                </a:lnTo>
                <a:close/>
              </a:path>
            </a:pathLst>
          </a:custGeom>
          <a:solidFill>
            <a:srgbClr val="FFCC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44239" y="399123"/>
            <a:ext cx="381000" cy="11226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990"/>
              </a:lnSpc>
            </a:pPr>
            <a:r>
              <a:rPr sz="2800" spc="5" dirty="0">
                <a:solidFill>
                  <a:srgbClr val="C00000"/>
                </a:solidFill>
                <a:latin typeface="Trebuchet MS"/>
                <a:cs typeface="Trebuchet MS"/>
              </a:rPr>
              <a:t>3.</a:t>
            </a:r>
            <a:r>
              <a:rPr sz="2800" spc="-9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800" spc="-20" dirty="0">
                <a:solidFill>
                  <a:srgbClr val="000099"/>
                </a:solidFill>
                <a:latin typeface="Trebuchet MS"/>
                <a:cs typeface="Trebuchet MS"/>
              </a:rPr>
              <a:t>OOP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29639" y="2177795"/>
            <a:ext cx="7772400" cy="460375"/>
          </a:xfrm>
          <a:custGeom>
            <a:avLst/>
            <a:gdLst/>
            <a:ahLst/>
            <a:cxnLst/>
            <a:rect l="l" t="t" r="r" b="b"/>
            <a:pathLst>
              <a:path w="7772400" h="460375">
                <a:moveTo>
                  <a:pt x="7772400" y="0"/>
                </a:moveTo>
                <a:lnTo>
                  <a:pt x="0" y="0"/>
                </a:lnTo>
                <a:lnTo>
                  <a:pt x="0" y="460248"/>
                </a:lnTo>
                <a:lnTo>
                  <a:pt x="7772400" y="460248"/>
                </a:lnTo>
                <a:lnTo>
                  <a:pt x="7772400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29639" y="2177795"/>
            <a:ext cx="7772400" cy="4603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70"/>
              </a:spcBef>
            </a:pPr>
            <a:r>
              <a:rPr sz="2400" b="1" spc="-5" dirty="0">
                <a:latin typeface="Courier New"/>
                <a:cs typeface="Courier New"/>
              </a:rPr>
              <a:t>public </a:t>
            </a:r>
            <a:r>
              <a:rPr sz="2400" b="1" spc="-10" dirty="0">
                <a:latin typeface="Courier New"/>
                <a:cs typeface="Courier New"/>
              </a:rPr>
              <a:t>static void main(String[]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args)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29639" y="1600200"/>
            <a:ext cx="4495800" cy="462280"/>
          </a:xfrm>
          <a:custGeom>
            <a:avLst/>
            <a:gdLst/>
            <a:ahLst/>
            <a:cxnLst/>
            <a:rect l="l" t="t" r="r" b="b"/>
            <a:pathLst>
              <a:path w="4495800" h="462280">
                <a:moveTo>
                  <a:pt x="4495800" y="0"/>
                </a:moveTo>
                <a:lnTo>
                  <a:pt x="0" y="0"/>
                </a:lnTo>
                <a:lnTo>
                  <a:pt x="0" y="461772"/>
                </a:lnTo>
                <a:lnTo>
                  <a:pt x="4495800" y="461772"/>
                </a:lnTo>
                <a:lnTo>
                  <a:pt x="4495800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29639" y="1600200"/>
            <a:ext cx="4495800" cy="46228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75"/>
              </a:spcBef>
            </a:pPr>
            <a:r>
              <a:rPr sz="2400" b="1" spc="-5" dirty="0">
                <a:latin typeface="Courier New"/>
                <a:cs typeface="Courier New"/>
              </a:rPr>
              <a:t>public </a:t>
            </a:r>
            <a:r>
              <a:rPr sz="2400" b="1" spc="-10" dirty="0">
                <a:latin typeface="Courier New"/>
                <a:cs typeface="Courier New"/>
              </a:rPr>
              <a:t>class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TestMath2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958845" y="381761"/>
            <a:ext cx="5524500" cy="830580"/>
          </a:xfrm>
          <a:custGeom>
            <a:avLst/>
            <a:gdLst/>
            <a:ahLst/>
            <a:cxnLst/>
            <a:rect l="l" t="t" r="r" b="b"/>
            <a:pathLst>
              <a:path w="5524500" h="830580">
                <a:moveTo>
                  <a:pt x="5524500" y="0"/>
                </a:moveTo>
                <a:lnTo>
                  <a:pt x="0" y="0"/>
                </a:lnTo>
                <a:lnTo>
                  <a:pt x="0" y="830580"/>
                </a:lnTo>
                <a:lnTo>
                  <a:pt x="5524500" y="830580"/>
                </a:lnTo>
                <a:lnTo>
                  <a:pt x="55245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917384" y="1587944"/>
            <a:ext cx="7785100" cy="4127500"/>
            <a:chOff x="917384" y="1587944"/>
            <a:chExt cx="7785100" cy="4127500"/>
          </a:xfrm>
        </p:grpSpPr>
        <p:sp>
          <p:nvSpPr>
            <p:cNvPr id="11" name="object 11"/>
            <p:cNvSpPr/>
            <p:nvPr/>
          </p:nvSpPr>
          <p:spPr>
            <a:xfrm>
              <a:off x="930402" y="2189226"/>
              <a:ext cx="1280160" cy="462280"/>
            </a:xfrm>
            <a:custGeom>
              <a:avLst/>
              <a:gdLst/>
              <a:ahLst/>
              <a:cxnLst/>
              <a:rect l="l" t="t" r="r" b="b"/>
              <a:pathLst>
                <a:path w="1280160" h="462280">
                  <a:moveTo>
                    <a:pt x="0" y="76962"/>
                  </a:moveTo>
                  <a:lnTo>
                    <a:pt x="6047" y="46988"/>
                  </a:lnTo>
                  <a:lnTo>
                    <a:pt x="22540" y="22526"/>
                  </a:lnTo>
                  <a:lnTo>
                    <a:pt x="47004" y="6042"/>
                  </a:lnTo>
                  <a:lnTo>
                    <a:pt x="76961" y="0"/>
                  </a:lnTo>
                  <a:lnTo>
                    <a:pt x="1203198" y="0"/>
                  </a:lnTo>
                  <a:lnTo>
                    <a:pt x="1233171" y="6042"/>
                  </a:lnTo>
                  <a:lnTo>
                    <a:pt x="1257633" y="22526"/>
                  </a:lnTo>
                  <a:lnTo>
                    <a:pt x="1274117" y="46988"/>
                  </a:lnTo>
                  <a:lnTo>
                    <a:pt x="1280160" y="76962"/>
                  </a:lnTo>
                  <a:lnTo>
                    <a:pt x="1280160" y="384810"/>
                  </a:lnTo>
                  <a:lnTo>
                    <a:pt x="1274117" y="414783"/>
                  </a:lnTo>
                  <a:lnTo>
                    <a:pt x="1257633" y="439245"/>
                  </a:lnTo>
                  <a:lnTo>
                    <a:pt x="1233171" y="455729"/>
                  </a:lnTo>
                  <a:lnTo>
                    <a:pt x="1203198" y="461772"/>
                  </a:lnTo>
                  <a:lnTo>
                    <a:pt x="76961" y="461772"/>
                  </a:lnTo>
                  <a:lnTo>
                    <a:pt x="47004" y="455729"/>
                  </a:lnTo>
                  <a:lnTo>
                    <a:pt x="22540" y="439245"/>
                  </a:lnTo>
                  <a:lnTo>
                    <a:pt x="6047" y="414783"/>
                  </a:lnTo>
                  <a:lnTo>
                    <a:pt x="0" y="384810"/>
                  </a:lnTo>
                  <a:lnTo>
                    <a:pt x="0" y="76962"/>
                  </a:lnTo>
                  <a:close/>
                </a:path>
              </a:pathLst>
            </a:custGeom>
            <a:ln w="25908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73046" y="2189226"/>
              <a:ext cx="1195070" cy="462280"/>
            </a:xfrm>
            <a:custGeom>
              <a:avLst/>
              <a:gdLst/>
              <a:ahLst/>
              <a:cxnLst/>
              <a:rect l="l" t="t" r="r" b="b"/>
              <a:pathLst>
                <a:path w="1195070" h="462280">
                  <a:moveTo>
                    <a:pt x="0" y="76962"/>
                  </a:moveTo>
                  <a:lnTo>
                    <a:pt x="6042" y="46988"/>
                  </a:lnTo>
                  <a:lnTo>
                    <a:pt x="22526" y="22526"/>
                  </a:lnTo>
                  <a:lnTo>
                    <a:pt x="46988" y="6042"/>
                  </a:lnTo>
                  <a:lnTo>
                    <a:pt x="76962" y="0"/>
                  </a:lnTo>
                  <a:lnTo>
                    <a:pt x="1117854" y="0"/>
                  </a:lnTo>
                  <a:lnTo>
                    <a:pt x="1147827" y="6042"/>
                  </a:lnTo>
                  <a:lnTo>
                    <a:pt x="1172289" y="22526"/>
                  </a:lnTo>
                  <a:lnTo>
                    <a:pt x="1188773" y="46988"/>
                  </a:lnTo>
                  <a:lnTo>
                    <a:pt x="1194816" y="76962"/>
                  </a:lnTo>
                  <a:lnTo>
                    <a:pt x="1194816" y="384810"/>
                  </a:lnTo>
                  <a:lnTo>
                    <a:pt x="1188773" y="414783"/>
                  </a:lnTo>
                  <a:lnTo>
                    <a:pt x="1172289" y="439245"/>
                  </a:lnTo>
                  <a:lnTo>
                    <a:pt x="1147827" y="455729"/>
                  </a:lnTo>
                  <a:lnTo>
                    <a:pt x="1117854" y="461772"/>
                  </a:lnTo>
                  <a:lnTo>
                    <a:pt x="76962" y="461772"/>
                  </a:lnTo>
                  <a:lnTo>
                    <a:pt x="46988" y="455729"/>
                  </a:lnTo>
                  <a:lnTo>
                    <a:pt x="22526" y="439245"/>
                  </a:lnTo>
                  <a:lnTo>
                    <a:pt x="6042" y="414783"/>
                  </a:lnTo>
                  <a:lnTo>
                    <a:pt x="0" y="384810"/>
                  </a:lnTo>
                  <a:lnTo>
                    <a:pt x="0" y="76962"/>
                  </a:lnTo>
                  <a:close/>
                </a:path>
              </a:pathLst>
            </a:custGeom>
            <a:ln w="25908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653411" y="2666111"/>
              <a:ext cx="272415" cy="2061210"/>
            </a:xfrm>
            <a:custGeom>
              <a:avLst/>
              <a:gdLst/>
              <a:ahLst/>
              <a:cxnLst/>
              <a:rect l="l" t="t" r="r" b="b"/>
              <a:pathLst>
                <a:path w="272414" h="2061210">
                  <a:moveTo>
                    <a:pt x="211123" y="57223"/>
                  </a:moveTo>
                  <a:lnTo>
                    <a:pt x="194274" y="80535"/>
                  </a:lnTo>
                  <a:lnTo>
                    <a:pt x="0" y="2057908"/>
                  </a:lnTo>
                  <a:lnTo>
                    <a:pt x="28701" y="2060828"/>
                  </a:lnTo>
                  <a:lnTo>
                    <a:pt x="223108" y="83372"/>
                  </a:lnTo>
                  <a:lnTo>
                    <a:pt x="211123" y="57223"/>
                  </a:lnTo>
                  <a:close/>
                </a:path>
                <a:path w="272414" h="2061210">
                  <a:moveTo>
                    <a:pt x="229227" y="27177"/>
                  </a:moveTo>
                  <a:lnTo>
                    <a:pt x="199516" y="27177"/>
                  </a:lnTo>
                  <a:lnTo>
                    <a:pt x="228345" y="30099"/>
                  </a:lnTo>
                  <a:lnTo>
                    <a:pt x="223108" y="83372"/>
                  </a:lnTo>
                  <a:lnTo>
                    <a:pt x="245999" y="133350"/>
                  </a:lnTo>
                  <a:lnTo>
                    <a:pt x="254634" y="136525"/>
                  </a:lnTo>
                  <a:lnTo>
                    <a:pt x="269239" y="129921"/>
                  </a:lnTo>
                  <a:lnTo>
                    <a:pt x="272414" y="121285"/>
                  </a:lnTo>
                  <a:lnTo>
                    <a:pt x="268986" y="114046"/>
                  </a:lnTo>
                  <a:lnTo>
                    <a:pt x="229227" y="27177"/>
                  </a:lnTo>
                  <a:close/>
                </a:path>
                <a:path w="272414" h="2061210">
                  <a:moveTo>
                    <a:pt x="216788" y="0"/>
                  </a:moveTo>
                  <a:lnTo>
                    <a:pt x="138556" y="108203"/>
                  </a:lnTo>
                  <a:lnTo>
                    <a:pt x="140081" y="117221"/>
                  </a:lnTo>
                  <a:lnTo>
                    <a:pt x="153034" y="126618"/>
                  </a:lnTo>
                  <a:lnTo>
                    <a:pt x="162051" y="125094"/>
                  </a:lnTo>
                  <a:lnTo>
                    <a:pt x="194274" y="80535"/>
                  </a:lnTo>
                  <a:lnTo>
                    <a:pt x="199516" y="27177"/>
                  </a:lnTo>
                  <a:lnTo>
                    <a:pt x="229227" y="27177"/>
                  </a:lnTo>
                  <a:lnTo>
                    <a:pt x="216788" y="0"/>
                  </a:lnTo>
                  <a:close/>
                </a:path>
                <a:path w="272414" h="2061210">
                  <a:moveTo>
                    <a:pt x="227896" y="34671"/>
                  </a:moveTo>
                  <a:lnTo>
                    <a:pt x="200787" y="34671"/>
                  </a:lnTo>
                  <a:lnTo>
                    <a:pt x="225678" y="37084"/>
                  </a:lnTo>
                  <a:lnTo>
                    <a:pt x="211123" y="57223"/>
                  </a:lnTo>
                  <a:lnTo>
                    <a:pt x="223108" y="83372"/>
                  </a:lnTo>
                  <a:lnTo>
                    <a:pt x="227896" y="34671"/>
                  </a:lnTo>
                  <a:close/>
                </a:path>
                <a:path w="272414" h="2061210">
                  <a:moveTo>
                    <a:pt x="199516" y="27177"/>
                  </a:moveTo>
                  <a:lnTo>
                    <a:pt x="194274" y="80535"/>
                  </a:lnTo>
                  <a:lnTo>
                    <a:pt x="211123" y="57223"/>
                  </a:lnTo>
                  <a:lnTo>
                    <a:pt x="200787" y="34671"/>
                  </a:lnTo>
                  <a:lnTo>
                    <a:pt x="227896" y="34671"/>
                  </a:lnTo>
                  <a:lnTo>
                    <a:pt x="228345" y="30099"/>
                  </a:lnTo>
                  <a:lnTo>
                    <a:pt x="199516" y="27177"/>
                  </a:lnTo>
                  <a:close/>
                </a:path>
                <a:path w="272414" h="2061210">
                  <a:moveTo>
                    <a:pt x="200787" y="34671"/>
                  </a:moveTo>
                  <a:lnTo>
                    <a:pt x="211123" y="57223"/>
                  </a:lnTo>
                  <a:lnTo>
                    <a:pt x="225678" y="37084"/>
                  </a:lnTo>
                  <a:lnTo>
                    <a:pt x="200787" y="34671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10126" y="2965704"/>
              <a:ext cx="4891913" cy="274929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932682" y="3911346"/>
              <a:ext cx="822960" cy="1172210"/>
            </a:xfrm>
            <a:custGeom>
              <a:avLst/>
              <a:gdLst/>
              <a:ahLst/>
              <a:cxnLst/>
              <a:rect l="l" t="t" r="r" b="b"/>
              <a:pathLst>
                <a:path w="822960" h="1172210">
                  <a:moveTo>
                    <a:pt x="0" y="64769"/>
                  </a:moveTo>
                  <a:lnTo>
                    <a:pt x="5083" y="39540"/>
                  </a:lnTo>
                  <a:lnTo>
                    <a:pt x="18954" y="18954"/>
                  </a:lnTo>
                  <a:lnTo>
                    <a:pt x="39540" y="5083"/>
                  </a:lnTo>
                  <a:lnTo>
                    <a:pt x="64769" y="0"/>
                  </a:lnTo>
                  <a:lnTo>
                    <a:pt x="758189" y="0"/>
                  </a:lnTo>
                  <a:lnTo>
                    <a:pt x="783419" y="5083"/>
                  </a:lnTo>
                  <a:lnTo>
                    <a:pt x="804005" y="18954"/>
                  </a:lnTo>
                  <a:lnTo>
                    <a:pt x="817876" y="39540"/>
                  </a:lnTo>
                  <a:lnTo>
                    <a:pt x="822959" y="64769"/>
                  </a:lnTo>
                  <a:lnTo>
                    <a:pt x="822959" y="323849"/>
                  </a:lnTo>
                  <a:lnTo>
                    <a:pt x="817876" y="349079"/>
                  </a:lnTo>
                  <a:lnTo>
                    <a:pt x="804005" y="369665"/>
                  </a:lnTo>
                  <a:lnTo>
                    <a:pt x="783419" y="383536"/>
                  </a:lnTo>
                  <a:lnTo>
                    <a:pt x="758189" y="388619"/>
                  </a:lnTo>
                  <a:lnTo>
                    <a:pt x="64769" y="388619"/>
                  </a:lnTo>
                  <a:lnTo>
                    <a:pt x="39540" y="383536"/>
                  </a:lnTo>
                  <a:lnTo>
                    <a:pt x="18954" y="369665"/>
                  </a:lnTo>
                  <a:lnTo>
                    <a:pt x="5083" y="349079"/>
                  </a:lnTo>
                  <a:lnTo>
                    <a:pt x="0" y="323849"/>
                  </a:lnTo>
                  <a:lnTo>
                    <a:pt x="0" y="64769"/>
                  </a:lnTo>
                  <a:close/>
                </a:path>
                <a:path w="822960" h="1172210">
                  <a:moveTo>
                    <a:pt x="0" y="848105"/>
                  </a:moveTo>
                  <a:lnTo>
                    <a:pt x="5083" y="822876"/>
                  </a:lnTo>
                  <a:lnTo>
                    <a:pt x="18954" y="802290"/>
                  </a:lnTo>
                  <a:lnTo>
                    <a:pt x="39540" y="788419"/>
                  </a:lnTo>
                  <a:lnTo>
                    <a:pt x="64769" y="783335"/>
                  </a:lnTo>
                  <a:lnTo>
                    <a:pt x="758189" y="783335"/>
                  </a:lnTo>
                  <a:lnTo>
                    <a:pt x="783419" y="788419"/>
                  </a:lnTo>
                  <a:lnTo>
                    <a:pt x="804005" y="802290"/>
                  </a:lnTo>
                  <a:lnTo>
                    <a:pt x="817876" y="822876"/>
                  </a:lnTo>
                  <a:lnTo>
                    <a:pt x="822959" y="848105"/>
                  </a:lnTo>
                  <a:lnTo>
                    <a:pt x="822959" y="1107185"/>
                  </a:lnTo>
                  <a:lnTo>
                    <a:pt x="817876" y="1132415"/>
                  </a:lnTo>
                  <a:lnTo>
                    <a:pt x="804005" y="1153001"/>
                  </a:lnTo>
                  <a:lnTo>
                    <a:pt x="783419" y="1166872"/>
                  </a:lnTo>
                  <a:lnTo>
                    <a:pt x="758189" y="1171955"/>
                  </a:lnTo>
                  <a:lnTo>
                    <a:pt x="64769" y="1171955"/>
                  </a:lnTo>
                  <a:lnTo>
                    <a:pt x="39540" y="1166872"/>
                  </a:lnTo>
                  <a:lnTo>
                    <a:pt x="18954" y="1153001"/>
                  </a:lnTo>
                  <a:lnTo>
                    <a:pt x="5083" y="1132415"/>
                  </a:lnTo>
                  <a:lnTo>
                    <a:pt x="0" y="1107185"/>
                  </a:lnTo>
                  <a:lnTo>
                    <a:pt x="0" y="848105"/>
                  </a:lnTo>
                  <a:close/>
                </a:path>
              </a:pathLst>
            </a:custGeom>
            <a:ln w="25908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964688" y="4104893"/>
              <a:ext cx="968375" cy="862965"/>
            </a:xfrm>
            <a:custGeom>
              <a:avLst/>
              <a:gdLst/>
              <a:ahLst/>
              <a:cxnLst/>
              <a:rect l="l" t="t" r="r" b="b"/>
              <a:pathLst>
                <a:path w="968375" h="862964">
                  <a:moveTo>
                    <a:pt x="967994" y="0"/>
                  </a:moveTo>
                  <a:lnTo>
                    <a:pt x="834771" y="5969"/>
                  </a:lnTo>
                  <a:lnTo>
                    <a:pt x="828675" y="12827"/>
                  </a:lnTo>
                  <a:lnTo>
                    <a:pt x="828929" y="20701"/>
                  </a:lnTo>
                  <a:lnTo>
                    <a:pt x="829310" y="28702"/>
                  </a:lnTo>
                  <a:lnTo>
                    <a:pt x="836168" y="34925"/>
                  </a:lnTo>
                  <a:lnTo>
                    <a:pt x="891235" y="32410"/>
                  </a:lnTo>
                  <a:lnTo>
                    <a:pt x="0" y="607822"/>
                  </a:lnTo>
                  <a:lnTo>
                    <a:pt x="15748" y="632079"/>
                  </a:lnTo>
                  <a:lnTo>
                    <a:pt x="906881" y="56654"/>
                  </a:lnTo>
                  <a:lnTo>
                    <a:pt x="885571" y="98679"/>
                  </a:lnTo>
                  <a:lnTo>
                    <a:pt x="881888" y="105791"/>
                  </a:lnTo>
                  <a:lnTo>
                    <a:pt x="884682" y="114554"/>
                  </a:lnTo>
                  <a:lnTo>
                    <a:pt x="891921" y="118110"/>
                  </a:lnTo>
                  <a:lnTo>
                    <a:pt x="899033" y="121793"/>
                  </a:lnTo>
                  <a:lnTo>
                    <a:pt x="907669" y="118872"/>
                  </a:lnTo>
                  <a:lnTo>
                    <a:pt x="911352" y="111760"/>
                  </a:lnTo>
                  <a:lnTo>
                    <a:pt x="966254" y="3429"/>
                  </a:lnTo>
                  <a:lnTo>
                    <a:pt x="967994" y="0"/>
                  </a:lnTo>
                  <a:close/>
                </a:path>
                <a:path w="968375" h="862964">
                  <a:moveTo>
                    <a:pt x="968121" y="783336"/>
                  </a:moveTo>
                  <a:lnTo>
                    <a:pt x="942759" y="771144"/>
                  </a:lnTo>
                  <a:lnTo>
                    <a:pt x="847852" y="725551"/>
                  </a:lnTo>
                  <a:lnTo>
                    <a:pt x="839216" y="728599"/>
                  </a:lnTo>
                  <a:lnTo>
                    <a:pt x="835660" y="735838"/>
                  </a:lnTo>
                  <a:lnTo>
                    <a:pt x="832231" y="743077"/>
                  </a:lnTo>
                  <a:lnTo>
                    <a:pt x="835279" y="751713"/>
                  </a:lnTo>
                  <a:lnTo>
                    <a:pt x="884783" y="775462"/>
                  </a:lnTo>
                  <a:lnTo>
                    <a:pt x="159131" y="833882"/>
                  </a:lnTo>
                  <a:lnTo>
                    <a:pt x="161417" y="862711"/>
                  </a:lnTo>
                  <a:lnTo>
                    <a:pt x="887183" y="804392"/>
                  </a:lnTo>
                  <a:lnTo>
                    <a:pt x="842010" y="835787"/>
                  </a:lnTo>
                  <a:lnTo>
                    <a:pt x="840486" y="844804"/>
                  </a:lnTo>
                  <a:lnTo>
                    <a:pt x="845058" y="851408"/>
                  </a:lnTo>
                  <a:lnTo>
                    <a:pt x="849630" y="857885"/>
                  </a:lnTo>
                  <a:lnTo>
                    <a:pt x="858647" y="859536"/>
                  </a:lnTo>
                  <a:lnTo>
                    <a:pt x="865124" y="854964"/>
                  </a:lnTo>
                  <a:lnTo>
                    <a:pt x="968121" y="783336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26414" y="4694682"/>
              <a:ext cx="2152015" cy="830580"/>
            </a:xfrm>
            <a:custGeom>
              <a:avLst/>
              <a:gdLst/>
              <a:ahLst/>
              <a:cxnLst/>
              <a:rect l="l" t="t" r="r" b="b"/>
              <a:pathLst>
                <a:path w="2152015" h="830579">
                  <a:moveTo>
                    <a:pt x="2151888" y="0"/>
                  </a:moveTo>
                  <a:lnTo>
                    <a:pt x="0" y="0"/>
                  </a:lnTo>
                  <a:lnTo>
                    <a:pt x="0" y="830580"/>
                  </a:lnTo>
                  <a:lnTo>
                    <a:pt x="2151888" y="830580"/>
                  </a:lnTo>
                  <a:lnTo>
                    <a:pt x="2151888" y="0"/>
                  </a:lnTo>
                  <a:close/>
                </a:path>
              </a:pathLst>
            </a:custGeom>
            <a:solidFill>
              <a:srgbClr val="D9FF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26414" y="4694682"/>
              <a:ext cx="2152015" cy="830580"/>
            </a:xfrm>
            <a:custGeom>
              <a:avLst/>
              <a:gdLst/>
              <a:ahLst/>
              <a:cxnLst/>
              <a:rect l="l" t="t" r="r" b="b"/>
              <a:pathLst>
                <a:path w="2152015" h="830579">
                  <a:moveTo>
                    <a:pt x="0" y="830580"/>
                  </a:moveTo>
                  <a:lnTo>
                    <a:pt x="2151888" y="830580"/>
                  </a:lnTo>
                  <a:lnTo>
                    <a:pt x="2151888" y="0"/>
                  </a:lnTo>
                  <a:lnTo>
                    <a:pt x="0" y="0"/>
                  </a:lnTo>
                  <a:lnTo>
                    <a:pt x="0" y="830580"/>
                  </a:lnTo>
                  <a:close/>
                </a:path>
              </a:pathLst>
            </a:custGeom>
            <a:ln w="25908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30402" y="1600962"/>
              <a:ext cx="1280160" cy="462280"/>
            </a:xfrm>
            <a:custGeom>
              <a:avLst/>
              <a:gdLst/>
              <a:ahLst/>
              <a:cxnLst/>
              <a:rect l="l" t="t" r="r" b="b"/>
              <a:pathLst>
                <a:path w="1280160" h="462280">
                  <a:moveTo>
                    <a:pt x="0" y="76962"/>
                  </a:moveTo>
                  <a:lnTo>
                    <a:pt x="6047" y="46988"/>
                  </a:lnTo>
                  <a:lnTo>
                    <a:pt x="22540" y="22526"/>
                  </a:lnTo>
                  <a:lnTo>
                    <a:pt x="47004" y="6042"/>
                  </a:lnTo>
                  <a:lnTo>
                    <a:pt x="76961" y="0"/>
                  </a:lnTo>
                  <a:lnTo>
                    <a:pt x="1203198" y="0"/>
                  </a:lnTo>
                  <a:lnTo>
                    <a:pt x="1233171" y="6042"/>
                  </a:lnTo>
                  <a:lnTo>
                    <a:pt x="1257633" y="22526"/>
                  </a:lnTo>
                  <a:lnTo>
                    <a:pt x="1274117" y="46988"/>
                  </a:lnTo>
                  <a:lnTo>
                    <a:pt x="1280160" y="76962"/>
                  </a:lnTo>
                  <a:lnTo>
                    <a:pt x="1280160" y="384810"/>
                  </a:lnTo>
                  <a:lnTo>
                    <a:pt x="1274117" y="414783"/>
                  </a:lnTo>
                  <a:lnTo>
                    <a:pt x="1257633" y="439245"/>
                  </a:lnTo>
                  <a:lnTo>
                    <a:pt x="1233171" y="455729"/>
                  </a:lnTo>
                  <a:lnTo>
                    <a:pt x="1203198" y="461772"/>
                  </a:lnTo>
                  <a:lnTo>
                    <a:pt x="76961" y="461772"/>
                  </a:lnTo>
                  <a:lnTo>
                    <a:pt x="47004" y="455729"/>
                  </a:lnTo>
                  <a:lnTo>
                    <a:pt x="22540" y="439245"/>
                  </a:lnTo>
                  <a:lnTo>
                    <a:pt x="6047" y="414783"/>
                  </a:lnTo>
                  <a:lnTo>
                    <a:pt x="0" y="384810"/>
                  </a:lnTo>
                  <a:lnTo>
                    <a:pt x="0" y="76962"/>
                  </a:lnTo>
                  <a:close/>
                </a:path>
              </a:pathLst>
            </a:custGeom>
            <a:ln w="25908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958845" y="381761"/>
            <a:ext cx="5524500" cy="830580"/>
          </a:xfrm>
          <a:prstGeom prst="rect">
            <a:avLst/>
          </a:prstGeom>
          <a:ln w="25907">
            <a:solidFill>
              <a:srgbClr val="AAC9C9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318770" marR="216535" indent="-228600">
              <a:lnSpc>
                <a:spcPct val="100000"/>
              </a:lnSpc>
              <a:spcBef>
                <a:spcPts val="295"/>
              </a:spcBef>
              <a:tabLst>
                <a:tab pos="318770" algn="l"/>
              </a:tabLst>
            </a:pPr>
            <a:r>
              <a:rPr sz="2400" dirty="0">
                <a:latin typeface="Arial"/>
                <a:cs typeface="Arial"/>
              </a:rPr>
              <a:t>:	</a:t>
            </a:r>
            <a:r>
              <a:rPr sz="2400" spc="-5" dirty="0">
                <a:latin typeface="Arial"/>
                <a:cs typeface="Arial"/>
              </a:rPr>
              <a:t>keywords added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specify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spc="-10" dirty="0">
                <a:latin typeface="Arial"/>
                <a:cs typeface="Arial"/>
              </a:rPr>
              <a:t>way </a:t>
            </a:r>
            <a:r>
              <a:rPr sz="2400" spc="-5" dirty="0">
                <a:latin typeface="Arial"/>
                <a:cs typeface="Arial"/>
              </a:rPr>
              <a:t>a  class/attribute/method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works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26413" y="4720590"/>
            <a:ext cx="213931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535" marR="432434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8000"/>
                </a:solidFill>
                <a:latin typeface="Arial"/>
                <a:cs typeface="Arial"/>
              </a:rPr>
              <a:t>N</a:t>
            </a:r>
            <a:r>
              <a:rPr sz="2400" spc="-15" dirty="0">
                <a:solidFill>
                  <a:srgbClr val="008000"/>
                </a:solidFill>
                <a:latin typeface="Arial"/>
                <a:cs typeface="Arial"/>
              </a:rPr>
              <a:t>o</a:t>
            </a:r>
            <a:r>
              <a:rPr sz="2400" spc="-10" dirty="0">
                <a:solidFill>
                  <a:srgbClr val="008000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srgbClr val="008000"/>
                </a:solidFill>
                <a:latin typeface="Arial"/>
                <a:cs typeface="Arial"/>
              </a:rPr>
              <a:t>-access  </a:t>
            </a:r>
            <a:r>
              <a:rPr sz="2400" spc="-5" dirty="0">
                <a:solidFill>
                  <a:srgbClr val="008000"/>
                </a:solidFill>
                <a:latin typeface="Arial"/>
                <a:cs typeface="Arial"/>
              </a:rPr>
              <a:t>modifiers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45261" y="1922398"/>
            <a:ext cx="474980" cy="1212850"/>
          </a:xfrm>
          <a:custGeom>
            <a:avLst/>
            <a:gdLst/>
            <a:ahLst/>
            <a:cxnLst/>
            <a:rect l="l" t="t" r="r" b="b"/>
            <a:pathLst>
              <a:path w="474980" h="1212850">
                <a:moveTo>
                  <a:pt x="147015" y="119126"/>
                </a:moveTo>
                <a:lnTo>
                  <a:pt x="100876" y="27813"/>
                </a:lnTo>
                <a:lnTo>
                  <a:pt x="86829" y="0"/>
                </a:lnTo>
                <a:lnTo>
                  <a:pt x="17272" y="104394"/>
                </a:lnTo>
                <a:lnTo>
                  <a:pt x="12839" y="110998"/>
                </a:lnTo>
                <a:lnTo>
                  <a:pt x="14630" y="120015"/>
                </a:lnTo>
                <a:lnTo>
                  <a:pt x="27940" y="128905"/>
                </a:lnTo>
                <a:lnTo>
                  <a:pt x="36931" y="127127"/>
                </a:lnTo>
                <a:lnTo>
                  <a:pt x="41363" y="120396"/>
                </a:lnTo>
                <a:lnTo>
                  <a:pt x="67437" y="81356"/>
                </a:lnTo>
                <a:lnTo>
                  <a:pt x="0" y="1201928"/>
                </a:lnTo>
                <a:lnTo>
                  <a:pt x="28905" y="1203706"/>
                </a:lnTo>
                <a:lnTo>
                  <a:pt x="96342" y="83045"/>
                </a:lnTo>
                <a:lnTo>
                  <a:pt x="117563" y="124968"/>
                </a:lnTo>
                <a:lnTo>
                  <a:pt x="121170" y="132207"/>
                </a:lnTo>
                <a:lnTo>
                  <a:pt x="129870" y="135001"/>
                </a:lnTo>
                <a:lnTo>
                  <a:pt x="137007" y="131445"/>
                </a:lnTo>
                <a:lnTo>
                  <a:pt x="144145" y="127762"/>
                </a:lnTo>
                <a:lnTo>
                  <a:pt x="147015" y="119126"/>
                </a:lnTo>
                <a:close/>
              </a:path>
              <a:path w="474980" h="1212850">
                <a:moveTo>
                  <a:pt x="474751" y="821563"/>
                </a:moveTo>
                <a:lnTo>
                  <a:pt x="353174" y="852170"/>
                </a:lnTo>
                <a:lnTo>
                  <a:pt x="345427" y="854202"/>
                </a:lnTo>
                <a:lnTo>
                  <a:pt x="340728" y="862076"/>
                </a:lnTo>
                <a:lnTo>
                  <a:pt x="344639" y="877570"/>
                </a:lnTo>
                <a:lnTo>
                  <a:pt x="352513" y="882269"/>
                </a:lnTo>
                <a:lnTo>
                  <a:pt x="360273" y="880237"/>
                </a:lnTo>
                <a:lnTo>
                  <a:pt x="405917" y="868768"/>
                </a:lnTo>
                <a:lnTo>
                  <a:pt x="75946" y="1192276"/>
                </a:lnTo>
                <a:lnTo>
                  <a:pt x="96215" y="1212850"/>
                </a:lnTo>
                <a:lnTo>
                  <a:pt x="426161" y="889368"/>
                </a:lnTo>
                <a:lnTo>
                  <a:pt x="413715" y="934847"/>
                </a:lnTo>
                <a:lnTo>
                  <a:pt x="411594" y="942467"/>
                </a:lnTo>
                <a:lnTo>
                  <a:pt x="416140" y="950468"/>
                </a:lnTo>
                <a:lnTo>
                  <a:pt x="423849" y="952627"/>
                </a:lnTo>
                <a:lnTo>
                  <a:pt x="431558" y="954659"/>
                </a:lnTo>
                <a:lnTo>
                  <a:pt x="439521" y="950214"/>
                </a:lnTo>
                <a:lnTo>
                  <a:pt x="472071" y="831342"/>
                </a:lnTo>
                <a:lnTo>
                  <a:pt x="474751" y="82156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49174" y="3129533"/>
            <a:ext cx="2710180" cy="1201420"/>
          </a:xfrm>
          <a:prstGeom prst="rect">
            <a:avLst/>
          </a:prstGeom>
          <a:solidFill>
            <a:srgbClr val="FFD4FF">
              <a:alpha val="50195"/>
            </a:srgbClr>
          </a:solidFill>
          <a:ln w="25908">
            <a:solidFill>
              <a:srgbClr val="C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90805" marR="325120">
              <a:lnSpc>
                <a:spcPct val="100000"/>
              </a:lnSpc>
              <a:spcBef>
                <a:spcPts val="300"/>
              </a:spcBef>
            </a:pPr>
            <a:r>
              <a:rPr sz="2400" spc="-5" dirty="0">
                <a:solidFill>
                  <a:srgbClr val="C00000"/>
                </a:solidFill>
                <a:latin typeface="Arial"/>
                <a:cs typeface="Arial"/>
              </a:rPr>
              <a:t>Access-control  modifiers</a:t>
            </a:r>
            <a:r>
              <a:rPr sz="2400" spc="-5" dirty="0">
                <a:latin typeface="Arial"/>
                <a:cs typeface="Arial"/>
              </a:rPr>
              <a:t>: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public,  private,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etc.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27774" y="4344161"/>
            <a:ext cx="2545080" cy="1894839"/>
            <a:chOff x="427774" y="4344161"/>
            <a:chExt cx="2545080" cy="1894839"/>
          </a:xfrm>
        </p:grpSpPr>
        <p:sp>
          <p:nvSpPr>
            <p:cNvPr id="25" name="object 25"/>
            <p:cNvSpPr/>
            <p:nvPr/>
          </p:nvSpPr>
          <p:spPr>
            <a:xfrm>
              <a:off x="427774" y="4344161"/>
              <a:ext cx="1027430" cy="1760855"/>
            </a:xfrm>
            <a:custGeom>
              <a:avLst/>
              <a:gdLst/>
              <a:ahLst/>
              <a:cxnLst/>
              <a:rect l="l" t="t" r="r" b="b"/>
              <a:pathLst>
                <a:path w="1027430" h="1760854">
                  <a:moveTo>
                    <a:pt x="219538" y="76290"/>
                  </a:moveTo>
                  <a:lnTo>
                    <a:pt x="188391" y="160908"/>
                  </a:lnTo>
                  <a:lnTo>
                    <a:pt x="158724" y="243331"/>
                  </a:lnTo>
                  <a:lnTo>
                    <a:pt x="130263" y="325246"/>
                  </a:lnTo>
                  <a:lnTo>
                    <a:pt x="103530" y="406273"/>
                  </a:lnTo>
                  <a:lnTo>
                    <a:pt x="90906" y="446405"/>
                  </a:lnTo>
                  <a:lnTo>
                    <a:pt x="78854" y="486282"/>
                  </a:lnTo>
                  <a:lnTo>
                    <a:pt x="67462" y="525780"/>
                  </a:lnTo>
                  <a:lnTo>
                    <a:pt x="56832" y="564895"/>
                  </a:lnTo>
                  <a:lnTo>
                    <a:pt x="46875" y="603757"/>
                  </a:lnTo>
                  <a:lnTo>
                    <a:pt x="37655" y="642238"/>
                  </a:lnTo>
                  <a:lnTo>
                    <a:pt x="29413" y="680212"/>
                  </a:lnTo>
                  <a:lnTo>
                    <a:pt x="22021" y="717931"/>
                  </a:lnTo>
                  <a:lnTo>
                    <a:pt x="10198" y="791590"/>
                  </a:lnTo>
                  <a:lnTo>
                    <a:pt x="2679" y="863345"/>
                  </a:lnTo>
                  <a:lnTo>
                    <a:pt x="0" y="932560"/>
                  </a:lnTo>
                  <a:lnTo>
                    <a:pt x="495" y="966343"/>
                  </a:lnTo>
                  <a:lnTo>
                    <a:pt x="5778" y="1032001"/>
                  </a:lnTo>
                  <a:lnTo>
                    <a:pt x="17043" y="1094740"/>
                  </a:lnTo>
                  <a:lnTo>
                    <a:pt x="34645" y="1154430"/>
                  </a:lnTo>
                  <a:lnTo>
                    <a:pt x="59143" y="1210691"/>
                  </a:lnTo>
                  <a:lnTo>
                    <a:pt x="90462" y="1263294"/>
                  </a:lnTo>
                  <a:lnTo>
                    <a:pt x="127914" y="1312418"/>
                  </a:lnTo>
                  <a:lnTo>
                    <a:pt x="171157" y="1358239"/>
                  </a:lnTo>
                  <a:lnTo>
                    <a:pt x="219684" y="1401203"/>
                  </a:lnTo>
                  <a:lnTo>
                    <a:pt x="273050" y="1441310"/>
                  </a:lnTo>
                  <a:lnTo>
                    <a:pt x="330847" y="1479118"/>
                  </a:lnTo>
                  <a:lnTo>
                    <a:pt x="392607" y="1514513"/>
                  </a:lnTo>
                  <a:lnTo>
                    <a:pt x="457835" y="1548028"/>
                  </a:lnTo>
                  <a:lnTo>
                    <a:pt x="526288" y="1579854"/>
                  </a:lnTo>
                  <a:lnTo>
                    <a:pt x="561543" y="1595183"/>
                  </a:lnTo>
                  <a:lnTo>
                    <a:pt x="597344" y="1610106"/>
                  </a:lnTo>
                  <a:lnTo>
                    <a:pt x="633844" y="1624761"/>
                  </a:lnTo>
                  <a:lnTo>
                    <a:pt x="708190" y="1653235"/>
                  </a:lnTo>
                  <a:lnTo>
                    <a:pt x="784186" y="1680832"/>
                  </a:lnTo>
                  <a:lnTo>
                    <a:pt x="861402" y="1707743"/>
                  </a:lnTo>
                  <a:lnTo>
                    <a:pt x="1017739" y="1760232"/>
                  </a:lnTo>
                  <a:lnTo>
                    <a:pt x="1026883" y="1732775"/>
                  </a:lnTo>
                  <a:lnTo>
                    <a:pt x="870673" y="1680298"/>
                  </a:lnTo>
                  <a:lnTo>
                    <a:pt x="793711" y="1653489"/>
                  </a:lnTo>
                  <a:lnTo>
                    <a:pt x="718070" y="1626019"/>
                  </a:lnTo>
                  <a:lnTo>
                    <a:pt x="644207" y="1597723"/>
                  </a:lnTo>
                  <a:lnTo>
                    <a:pt x="608126" y="1583245"/>
                  </a:lnTo>
                  <a:lnTo>
                    <a:pt x="572681" y="1568450"/>
                  </a:lnTo>
                  <a:lnTo>
                    <a:pt x="503669" y="1537779"/>
                  </a:lnTo>
                  <a:lnTo>
                    <a:pt x="437756" y="1505623"/>
                  </a:lnTo>
                  <a:lnTo>
                    <a:pt x="375348" y="1471815"/>
                  </a:lnTo>
                  <a:lnTo>
                    <a:pt x="316915" y="1436039"/>
                  </a:lnTo>
                  <a:lnTo>
                    <a:pt x="262801" y="1398155"/>
                  </a:lnTo>
                  <a:lnTo>
                    <a:pt x="213601" y="1357998"/>
                  </a:lnTo>
                  <a:lnTo>
                    <a:pt x="169456" y="1315326"/>
                  </a:lnTo>
                  <a:lnTo>
                    <a:pt x="131013" y="1270050"/>
                  </a:lnTo>
                  <a:lnTo>
                    <a:pt x="98412" y="1221867"/>
                  </a:lnTo>
                  <a:lnTo>
                    <a:pt x="72237" y="1170686"/>
                  </a:lnTo>
                  <a:lnTo>
                    <a:pt x="52527" y="1116076"/>
                  </a:lnTo>
                  <a:lnTo>
                    <a:pt x="39039" y="1057910"/>
                  </a:lnTo>
                  <a:lnTo>
                    <a:pt x="31254" y="996569"/>
                  </a:lnTo>
                  <a:lnTo>
                    <a:pt x="28943" y="932179"/>
                  </a:lnTo>
                  <a:lnTo>
                    <a:pt x="29705" y="898906"/>
                  </a:lnTo>
                  <a:lnTo>
                    <a:pt x="34696" y="830199"/>
                  </a:lnTo>
                  <a:lnTo>
                    <a:pt x="44221" y="759206"/>
                  </a:lnTo>
                  <a:lnTo>
                    <a:pt x="57823" y="685800"/>
                  </a:lnTo>
                  <a:lnTo>
                    <a:pt x="65963" y="648335"/>
                  </a:lnTo>
                  <a:lnTo>
                    <a:pt x="75031" y="610488"/>
                  </a:lnTo>
                  <a:lnTo>
                    <a:pt x="84886" y="572135"/>
                  </a:lnTo>
                  <a:lnTo>
                    <a:pt x="95402" y="533400"/>
                  </a:lnTo>
                  <a:lnTo>
                    <a:pt x="106679" y="494283"/>
                  </a:lnTo>
                  <a:lnTo>
                    <a:pt x="118630" y="454660"/>
                  </a:lnTo>
                  <a:lnTo>
                    <a:pt x="131152" y="414908"/>
                  </a:lnTo>
                  <a:lnTo>
                    <a:pt x="157759" y="334263"/>
                  </a:lnTo>
                  <a:lnTo>
                    <a:pt x="186067" y="252856"/>
                  </a:lnTo>
                  <a:lnTo>
                    <a:pt x="215645" y="170687"/>
                  </a:lnTo>
                  <a:lnTo>
                    <a:pt x="246682" y="86412"/>
                  </a:lnTo>
                  <a:lnTo>
                    <a:pt x="219538" y="76290"/>
                  </a:lnTo>
                  <a:close/>
                </a:path>
                <a:path w="1027430" h="1760854">
                  <a:moveTo>
                    <a:pt x="270168" y="62737"/>
                  </a:moveTo>
                  <a:lnTo>
                    <a:pt x="224586" y="62737"/>
                  </a:lnTo>
                  <a:lnTo>
                    <a:pt x="251714" y="72898"/>
                  </a:lnTo>
                  <a:lnTo>
                    <a:pt x="246682" y="86412"/>
                  </a:lnTo>
                  <a:lnTo>
                    <a:pt x="273786" y="96519"/>
                  </a:lnTo>
                  <a:lnTo>
                    <a:pt x="270168" y="62737"/>
                  </a:lnTo>
                  <a:close/>
                </a:path>
                <a:path w="1027430" h="1760854">
                  <a:moveTo>
                    <a:pt x="224586" y="62737"/>
                  </a:moveTo>
                  <a:lnTo>
                    <a:pt x="219538" y="76290"/>
                  </a:lnTo>
                  <a:lnTo>
                    <a:pt x="246682" y="86412"/>
                  </a:lnTo>
                  <a:lnTo>
                    <a:pt x="251714" y="72898"/>
                  </a:lnTo>
                  <a:lnTo>
                    <a:pt x="224586" y="62737"/>
                  </a:lnTo>
                  <a:close/>
                </a:path>
                <a:path w="1027430" h="1760854">
                  <a:moveTo>
                    <a:pt x="263448" y="0"/>
                  </a:moveTo>
                  <a:lnTo>
                    <a:pt x="192392" y="66167"/>
                  </a:lnTo>
                  <a:lnTo>
                    <a:pt x="219538" y="76290"/>
                  </a:lnTo>
                  <a:lnTo>
                    <a:pt x="224586" y="62737"/>
                  </a:lnTo>
                  <a:lnTo>
                    <a:pt x="270168" y="62737"/>
                  </a:lnTo>
                  <a:lnTo>
                    <a:pt x="263448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38961" y="5715761"/>
              <a:ext cx="2133600" cy="523240"/>
            </a:xfrm>
            <a:custGeom>
              <a:avLst/>
              <a:gdLst/>
              <a:ahLst/>
              <a:cxnLst/>
              <a:rect l="l" t="t" r="r" b="b"/>
              <a:pathLst>
                <a:path w="2133600" h="523239">
                  <a:moveTo>
                    <a:pt x="2133600" y="0"/>
                  </a:moveTo>
                  <a:lnTo>
                    <a:pt x="0" y="0"/>
                  </a:lnTo>
                  <a:lnTo>
                    <a:pt x="0" y="522731"/>
                  </a:lnTo>
                  <a:lnTo>
                    <a:pt x="2133600" y="522731"/>
                  </a:lnTo>
                  <a:lnTo>
                    <a:pt x="2133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838961" y="5715761"/>
            <a:ext cx="2133600" cy="523240"/>
          </a:xfrm>
          <a:prstGeom prst="rect">
            <a:avLst/>
          </a:prstGeom>
          <a:ln w="19812">
            <a:solidFill>
              <a:srgbClr val="6F2F9F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0805" marR="207645">
              <a:lnSpc>
                <a:spcPct val="100000"/>
              </a:lnSpc>
              <a:spcBef>
                <a:spcPts val="320"/>
              </a:spcBef>
            </a:pPr>
            <a:r>
              <a:rPr sz="1400" spc="-5" dirty="0">
                <a:latin typeface="Arial"/>
                <a:cs typeface="Arial"/>
              </a:rPr>
              <a:t>More about ‘public’</a:t>
            </a:r>
            <a:r>
              <a:rPr sz="1400" spc="-16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and  ‘private’ in </a:t>
            </a:r>
            <a:r>
              <a:rPr sz="1400" spc="-10" dirty="0">
                <a:latin typeface="Arial"/>
                <a:cs typeface="Arial"/>
              </a:rPr>
              <a:t>next</a:t>
            </a:r>
            <a:r>
              <a:rPr sz="1400" spc="-10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lecture.</a:t>
            </a:r>
            <a:endParaRPr sz="14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</a:t>
            </a:r>
            <a:r>
              <a:rPr spc="5" dirty="0"/>
              <a:t>Lecture </a:t>
            </a:r>
            <a:r>
              <a:rPr dirty="0"/>
              <a:t>: OOP Part</a:t>
            </a:r>
            <a:r>
              <a:rPr spc="-190" dirty="0"/>
              <a:t> </a:t>
            </a:r>
            <a:r>
              <a:rPr dirty="0"/>
              <a:t>1]  </a:t>
            </a:r>
            <a:r>
              <a:rPr spc="-130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r>
              <a:rPr spc="-5" dirty="0"/>
              <a:t>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48158"/>
            <a:ext cx="65989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5" dirty="0"/>
              <a:t>Class </a:t>
            </a:r>
            <a:r>
              <a:rPr spc="30" dirty="0"/>
              <a:t>vs </a:t>
            </a:r>
            <a:r>
              <a:rPr spc="5" dirty="0"/>
              <a:t>Instance </a:t>
            </a:r>
            <a:r>
              <a:rPr spc="-35" dirty="0"/>
              <a:t>methods</a:t>
            </a:r>
            <a:r>
              <a:rPr spc="-185" dirty="0"/>
              <a:t> </a:t>
            </a:r>
            <a:r>
              <a:rPr spc="55" dirty="0"/>
              <a:t>(1/4)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3420236"/>
            <a:ext cx="5180330" cy="3105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A </a:t>
            </a: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static </a:t>
            </a:r>
            <a:r>
              <a:rPr sz="2400" spc="-5" dirty="0">
                <a:solidFill>
                  <a:srgbClr val="C00000"/>
                </a:solidFill>
                <a:latin typeface="Arial"/>
                <a:cs typeface="Arial"/>
              </a:rPr>
              <a:t>method </a:t>
            </a:r>
            <a:r>
              <a:rPr sz="2400" dirty="0">
                <a:latin typeface="Arial"/>
                <a:cs typeface="Arial"/>
              </a:rPr>
              <a:t>(preferably </a:t>
            </a:r>
            <a:r>
              <a:rPr sz="2400" spc="-5" dirty="0">
                <a:latin typeface="Arial"/>
                <a:cs typeface="Arial"/>
              </a:rPr>
              <a:t>called a </a:t>
            </a:r>
            <a:r>
              <a:rPr sz="2400" spc="-5" dirty="0">
                <a:solidFill>
                  <a:srgbClr val="C00000"/>
                </a:solidFill>
                <a:latin typeface="Arial"/>
                <a:cs typeface="Arial"/>
              </a:rPr>
              <a:t> class method</a:t>
            </a:r>
            <a:r>
              <a:rPr sz="2400" spc="-5" dirty="0">
                <a:latin typeface="Arial"/>
                <a:cs typeface="Arial"/>
              </a:rPr>
              <a:t>) means </a:t>
            </a:r>
            <a:r>
              <a:rPr sz="2400" dirty="0">
                <a:latin typeface="Arial"/>
                <a:cs typeface="Arial"/>
              </a:rPr>
              <a:t>that </a:t>
            </a:r>
            <a:r>
              <a:rPr sz="2400" spc="-5" dirty="0">
                <a:latin typeface="Arial"/>
                <a:cs typeface="Arial"/>
              </a:rPr>
              <a:t>no object  (instance) </a:t>
            </a:r>
            <a:r>
              <a:rPr sz="2400" dirty="0">
                <a:latin typeface="Arial"/>
                <a:cs typeface="Arial"/>
              </a:rPr>
              <a:t>of the </a:t>
            </a:r>
            <a:r>
              <a:rPr sz="2400" spc="-5" dirty="0">
                <a:latin typeface="Arial"/>
                <a:cs typeface="Arial"/>
              </a:rPr>
              <a:t>class is needed </a:t>
            </a:r>
            <a:r>
              <a:rPr sz="2400" dirty="0">
                <a:latin typeface="Arial"/>
                <a:cs typeface="Arial"/>
              </a:rPr>
              <a:t>to  </a:t>
            </a:r>
            <a:r>
              <a:rPr sz="2400" spc="-5" dirty="0">
                <a:latin typeface="Arial"/>
                <a:cs typeface="Arial"/>
              </a:rPr>
              <a:t>use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method.</a:t>
            </a:r>
            <a:endParaRPr sz="2400">
              <a:latin typeface="Arial"/>
              <a:cs typeface="Arial"/>
            </a:endParaRPr>
          </a:p>
          <a:p>
            <a:pPr marL="355600" marR="122555" indent="-342900">
              <a:lnSpc>
                <a:spcPct val="100000"/>
              </a:lnSpc>
              <a:spcBef>
                <a:spcPts val="1205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A </a:t>
            </a:r>
            <a:r>
              <a:rPr sz="2400" spc="-5" dirty="0">
                <a:solidFill>
                  <a:srgbClr val="C00000"/>
                </a:solidFill>
                <a:latin typeface="Arial"/>
                <a:cs typeface="Arial"/>
              </a:rPr>
              <a:t>non-static method </a:t>
            </a:r>
            <a:r>
              <a:rPr sz="2400" spc="-5" dirty="0">
                <a:latin typeface="Arial"/>
                <a:cs typeface="Arial"/>
              </a:rPr>
              <a:t>(preferably  called an </a:t>
            </a:r>
            <a:r>
              <a:rPr sz="2400" spc="-5" dirty="0">
                <a:solidFill>
                  <a:srgbClr val="C00000"/>
                </a:solidFill>
                <a:latin typeface="Arial"/>
                <a:cs typeface="Arial"/>
              </a:rPr>
              <a:t>instance method</a:t>
            </a:r>
            <a:r>
              <a:rPr sz="2400" spc="-5" dirty="0">
                <a:latin typeface="Arial"/>
                <a:cs typeface="Arial"/>
              </a:rPr>
              <a:t>) means  </a:t>
            </a:r>
            <a:r>
              <a:rPr sz="2400" dirty="0">
                <a:latin typeface="Arial"/>
                <a:cs typeface="Arial"/>
              </a:rPr>
              <a:t>that </a:t>
            </a:r>
            <a:r>
              <a:rPr sz="2400" spc="-5" dirty="0">
                <a:latin typeface="Arial"/>
                <a:cs typeface="Arial"/>
              </a:rPr>
              <a:t>the method </a:t>
            </a:r>
            <a:r>
              <a:rPr sz="2400" dirty="0">
                <a:latin typeface="Arial"/>
                <a:cs typeface="Arial"/>
              </a:rPr>
              <a:t>must </a:t>
            </a:r>
            <a:r>
              <a:rPr sz="2400" spc="-5" dirty="0">
                <a:latin typeface="Arial"/>
                <a:cs typeface="Arial"/>
              </a:rPr>
              <a:t>be applied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dirty="0">
                <a:solidFill>
                  <a:srgbClr val="6F2F9F"/>
                </a:solidFill>
                <a:latin typeface="Arial"/>
                <a:cs typeface="Arial"/>
              </a:rPr>
              <a:t> an object </a:t>
            </a:r>
            <a:r>
              <a:rPr sz="2400" spc="-5" dirty="0">
                <a:latin typeface="Arial"/>
                <a:cs typeface="Arial"/>
              </a:rPr>
              <a:t>(</a:t>
            </a:r>
            <a:r>
              <a:rPr sz="2400" spc="-5" dirty="0">
                <a:solidFill>
                  <a:srgbClr val="6F2F9F"/>
                </a:solidFill>
                <a:latin typeface="Arial"/>
                <a:cs typeface="Arial"/>
              </a:rPr>
              <a:t>instance</a:t>
            </a:r>
            <a:r>
              <a:rPr sz="2400" spc="-5" dirty="0">
                <a:latin typeface="Arial"/>
                <a:cs typeface="Arial"/>
              </a:rPr>
              <a:t>) </a:t>
            </a:r>
            <a:r>
              <a:rPr sz="2400" dirty="0">
                <a:latin typeface="Arial"/>
                <a:cs typeface="Arial"/>
              </a:rPr>
              <a:t>of that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class.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3068" y="187452"/>
            <a:ext cx="523240" cy="1412875"/>
          </a:xfrm>
          <a:custGeom>
            <a:avLst/>
            <a:gdLst/>
            <a:ahLst/>
            <a:cxnLst/>
            <a:rect l="l" t="t" r="r" b="b"/>
            <a:pathLst>
              <a:path w="523240" h="1412875">
                <a:moveTo>
                  <a:pt x="522731" y="0"/>
                </a:moveTo>
                <a:lnTo>
                  <a:pt x="0" y="0"/>
                </a:lnTo>
                <a:lnTo>
                  <a:pt x="0" y="1412748"/>
                </a:lnTo>
                <a:lnTo>
                  <a:pt x="522731" y="1412748"/>
                </a:lnTo>
                <a:lnTo>
                  <a:pt x="522731" y="0"/>
                </a:lnTo>
                <a:close/>
              </a:path>
            </a:pathLst>
          </a:custGeom>
          <a:solidFill>
            <a:srgbClr val="FFCC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44239" y="399123"/>
            <a:ext cx="381000" cy="11226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990"/>
              </a:lnSpc>
            </a:pPr>
            <a:r>
              <a:rPr sz="2800" spc="5" dirty="0">
                <a:solidFill>
                  <a:srgbClr val="C00000"/>
                </a:solidFill>
                <a:latin typeface="Trebuchet MS"/>
                <a:cs typeface="Trebuchet MS"/>
              </a:rPr>
              <a:t>3.</a:t>
            </a:r>
            <a:r>
              <a:rPr sz="2800" spc="-9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800" spc="-20" dirty="0">
                <a:solidFill>
                  <a:srgbClr val="000099"/>
                </a:solidFill>
                <a:latin typeface="Trebuchet MS"/>
                <a:cs typeface="Trebuchet MS"/>
              </a:rPr>
              <a:t>OOP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066850" y="1354836"/>
            <a:ext cx="3505200" cy="1955800"/>
            <a:chOff x="1066850" y="1354836"/>
            <a:chExt cx="3505200" cy="1955800"/>
          </a:xfrm>
        </p:grpSpPr>
        <p:sp>
          <p:nvSpPr>
            <p:cNvPr id="7" name="object 7"/>
            <p:cNvSpPr/>
            <p:nvPr/>
          </p:nvSpPr>
          <p:spPr>
            <a:xfrm>
              <a:off x="1066850" y="1354836"/>
              <a:ext cx="3505200" cy="195529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59001" y="2123694"/>
              <a:ext cx="670560" cy="925194"/>
            </a:xfrm>
            <a:custGeom>
              <a:avLst/>
              <a:gdLst/>
              <a:ahLst/>
              <a:cxnLst/>
              <a:rect l="l" t="t" r="r" b="b"/>
              <a:pathLst>
                <a:path w="670560" h="925194">
                  <a:moveTo>
                    <a:pt x="0" y="111759"/>
                  </a:moveTo>
                  <a:lnTo>
                    <a:pt x="8782" y="68258"/>
                  </a:lnTo>
                  <a:lnTo>
                    <a:pt x="32734" y="32734"/>
                  </a:lnTo>
                  <a:lnTo>
                    <a:pt x="68258" y="8782"/>
                  </a:lnTo>
                  <a:lnTo>
                    <a:pt x="111759" y="0"/>
                  </a:lnTo>
                  <a:lnTo>
                    <a:pt x="558799" y="0"/>
                  </a:lnTo>
                  <a:lnTo>
                    <a:pt x="602301" y="8782"/>
                  </a:lnTo>
                  <a:lnTo>
                    <a:pt x="637825" y="32734"/>
                  </a:lnTo>
                  <a:lnTo>
                    <a:pt x="661777" y="68258"/>
                  </a:lnTo>
                  <a:lnTo>
                    <a:pt x="670560" y="111759"/>
                  </a:lnTo>
                  <a:lnTo>
                    <a:pt x="670560" y="813307"/>
                  </a:lnTo>
                  <a:lnTo>
                    <a:pt x="661777" y="856809"/>
                  </a:lnTo>
                  <a:lnTo>
                    <a:pt x="637825" y="892333"/>
                  </a:lnTo>
                  <a:lnTo>
                    <a:pt x="602301" y="916285"/>
                  </a:lnTo>
                  <a:lnTo>
                    <a:pt x="558799" y="925067"/>
                  </a:lnTo>
                  <a:lnTo>
                    <a:pt x="111759" y="925067"/>
                  </a:lnTo>
                  <a:lnTo>
                    <a:pt x="68258" y="916285"/>
                  </a:lnTo>
                  <a:lnTo>
                    <a:pt x="32734" y="892333"/>
                  </a:lnTo>
                  <a:lnTo>
                    <a:pt x="8782" y="856809"/>
                  </a:lnTo>
                  <a:lnTo>
                    <a:pt x="0" y="813307"/>
                  </a:lnTo>
                  <a:lnTo>
                    <a:pt x="0" y="111759"/>
                  </a:lnTo>
                  <a:close/>
                </a:path>
              </a:pathLst>
            </a:custGeom>
            <a:ln w="25908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340358" y="919353"/>
            <a:ext cx="160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C00000"/>
                </a:solidFill>
                <a:latin typeface="Arial"/>
                <a:cs typeface="Arial"/>
              </a:rPr>
              <a:t>String</a:t>
            </a:r>
            <a:r>
              <a:rPr sz="2400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class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410200" y="4303776"/>
            <a:ext cx="3544824" cy="20101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57800" y="893063"/>
            <a:ext cx="3500628" cy="250088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928609" y="457327"/>
            <a:ext cx="7188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C00000"/>
                </a:solidFill>
                <a:latin typeface="Arial"/>
                <a:cs typeface="Arial"/>
              </a:rPr>
              <a:t>Math  </a:t>
            </a:r>
            <a:r>
              <a:rPr sz="2400" spc="-5" dirty="0">
                <a:latin typeface="Arial"/>
                <a:cs typeface="Arial"/>
              </a:rPr>
              <a:t>cl</a:t>
            </a:r>
            <a:r>
              <a:rPr sz="2400" spc="-15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ss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52438" y="3832097"/>
            <a:ext cx="19399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C00000"/>
                </a:solidFill>
                <a:latin typeface="Arial"/>
                <a:cs typeface="Arial"/>
              </a:rPr>
              <a:t>Scanner</a:t>
            </a:r>
            <a:r>
              <a:rPr sz="2400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class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289041" y="893825"/>
            <a:ext cx="594360" cy="2417445"/>
          </a:xfrm>
          <a:custGeom>
            <a:avLst/>
            <a:gdLst/>
            <a:ahLst/>
            <a:cxnLst/>
            <a:rect l="l" t="t" r="r" b="b"/>
            <a:pathLst>
              <a:path w="594360" h="2417445">
                <a:moveTo>
                  <a:pt x="0" y="99060"/>
                </a:moveTo>
                <a:lnTo>
                  <a:pt x="7780" y="60489"/>
                </a:lnTo>
                <a:lnTo>
                  <a:pt x="29003" y="29003"/>
                </a:lnTo>
                <a:lnTo>
                  <a:pt x="60489" y="7780"/>
                </a:lnTo>
                <a:lnTo>
                  <a:pt x="99060" y="0"/>
                </a:lnTo>
                <a:lnTo>
                  <a:pt x="495300" y="0"/>
                </a:lnTo>
                <a:lnTo>
                  <a:pt x="533870" y="7780"/>
                </a:lnTo>
                <a:lnTo>
                  <a:pt x="565356" y="29003"/>
                </a:lnTo>
                <a:lnTo>
                  <a:pt x="586579" y="60489"/>
                </a:lnTo>
                <a:lnTo>
                  <a:pt x="594360" y="99060"/>
                </a:lnTo>
                <a:lnTo>
                  <a:pt x="594360" y="2318004"/>
                </a:lnTo>
                <a:lnTo>
                  <a:pt x="586579" y="2356574"/>
                </a:lnTo>
                <a:lnTo>
                  <a:pt x="565356" y="2388060"/>
                </a:lnTo>
                <a:lnTo>
                  <a:pt x="533870" y="2409283"/>
                </a:lnTo>
                <a:lnTo>
                  <a:pt x="495300" y="2417064"/>
                </a:lnTo>
                <a:lnTo>
                  <a:pt x="99060" y="2417064"/>
                </a:lnTo>
                <a:lnTo>
                  <a:pt x="60489" y="2409283"/>
                </a:lnTo>
                <a:lnTo>
                  <a:pt x="29003" y="2388060"/>
                </a:lnTo>
                <a:lnTo>
                  <a:pt x="7780" y="2356574"/>
                </a:lnTo>
                <a:lnTo>
                  <a:pt x="0" y="2318004"/>
                </a:lnTo>
                <a:lnTo>
                  <a:pt x="0" y="99060"/>
                </a:lnTo>
                <a:close/>
              </a:path>
            </a:pathLst>
          </a:custGeom>
          <a:ln w="25908">
            <a:solidFill>
              <a:srgbClr val="008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</a:t>
            </a:r>
            <a:r>
              <a:rPr spc="5" dirty="0"/>
              <a:t>Lecture </a:t>
            </a:r>
            <a:r>
              <a:rPr dirty="0"/>
              <a:t>: OOP Part</a:t>
            </a:r>
            <a:r>
              <a:rPr spc="-190" dirty="0"/>
              <a:t> </a:t>
            </a:r>
            <a:r>
              <a:rPr dirty="0"/>
              <a:t>1]  </a:t>
            </a:r>
            <a:r>
              <a:rPr spc="-130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r>
              <a:rPr spc="-5" dirty="0"/>
              <a:t>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48158"/>
            <a:ext cx="659828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5" dirty="0"/>
              <a:t>Class </a:t>
            </a:r>
            <a:r>
              <a:rPr spc="30" dirty="0"/>
              <a:t>vs </a:t>
            </a:r>
            <a:r>
              <a:rPr spc="5" dirty="0"/>
              <a:t>Instance </a:t>
            </a:r>
            <a:r>
              <a:rPr spc="-35" dirty="0"/>
              <a:t>methods</a:t>
            </a:r>
            <a:r>
              <a:rPr spc="-204" dirty="0"/>
              <a:t> </a:t>
            </a:r>
            <a:r>
              <a:rPr spc="60" dirty="0"/>
              <a:t>(2/4)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3515975"/>
            <a:ext cx="4817745" cy="254190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9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Observations</a:t>
            </a:r>
            <a:endParaRPr sz="2400">
              <a:latin typeface="Arial"/>
              <a:cs typeface="Arial"/>
            </a:endParaRPr>
          </a:p>
          <a:p>
            <a:pPr marL="683260" marR="388620" lvl="1" indent="-327025">
              <a:lnSpc>
                <a:spcPct val="100000"/>
              </a:lnSpc>
              <a:spcBef>
                <a:spcPts val="610"/>
              </a:spcBef>
              <a:buClr>
                <a:srgbClr val="4B6C4E"/>
              </a:buClr>
              <a:buSzPct val="60000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000" dirty="0">
                <a:latin typeface="Arial"/>
                <a:cs typeface="Arial"/>
              </a:rPr>
              <a:t>All methods in </a:t>
            </a:r>
            <a:r>
              <a:rPr sz="2000" spc="-5" dirty="0">
                <a:latin typeface="Arial"/>
                <a:cs typeface="Arial"/>
              </a:rPr>
              <a:t>the </a:t>
            </a: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Math </a:t>
            </a:r>
            <a:r>
              <a:rPr sz="2000" dirty="0">
                <a:latin typeface="Arial"/>
                <a:cs typeface="Arial"/>
              </a:rPr>
              <a:t>class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are  class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methods.</a:t>
            </a:r>
            <a:endParaRPr sz="2000">
              <a:latin typeface="Arial"/>
              <a:cs typeface="Arial"/>
            </a:endParaRPr>
          </a:p>
          <a:p>
            <a:pPr marL="683260" lvl="1" indent="-327025">
              <a:lnSpc>
                <a:spcPct val="100000"/>
              </a:lnSpc>
              <a:spcBef>
                <a:spcPts val="600"/>
              </a:spcBef>
              <a:buClr>
                <a:srgbClr val="4B6C4E"/>
              </a:buClr>
              <a:buSzPct val="60000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000" dirty="0">
                <a:latin typeface="Arial"/>
                <a:cs typeface="Arial"/>
              </a:rPr>
              <a:t>All methods in </a:t>
            </a:r>
            <a:r>
              <a:rPr sz="2000" spc="-5" dirty="0">
                <a:latin typeface="Arial"/>
                <a:cs typeface="Arial"/>
              </a:rPr>
              <a:t>the </a:t>
            </a: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Scanner </a:t>
            </a:r>
            <a:r>
              <a:rPr sz="2000" dirty="0">
                <a:latin typeface="Arial"/>
                <a:cs typeface="Arial"/>
              </a:rPr>
              <a:t>class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are</a:t>
            </a:r>
            <a:endParaRPr sz="2000">
              <a:latin typeface="Arial"/>
              <a:cs typeface="Arial"/>
            </a:endParaRPr>
          </a:p>
          <a:p>
            <a:pPr marL="68326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instance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methods.</a:t>
            </a:r>
            <a:endParaRPr sz="2000">
              <a:latin typeface="Arial"/>
              <a:cs typeface="Arial"/>
            </a:endParaRPr>
          </a:p>
          <a:p>
            <a:pPr marL="683260" marR="121285" lvl="1" indent="-327025">
              <a:lnSpc>
                <a:spcPct val="100000"/>
              </a:lnSpc>
              <a:spcBef>
                <a:spcPts val="600"/>
              </a:spcBef>
              <a:buClr>
                <a:srgbClr val="4B6C4E"/>
              </a:buClr>
              <a:buSzPct val="60000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000" dirty="0">
                <a:latin typeface="Arial"/>
                <a:cs typeface="Arial"/>
              </a:rPr>
              <a:t>The </a:t>
            </a: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String </a:t>
            </a:r>
            <a:r>
              <a:rPr sz="2000" dirty="0">
                <a:latin typeface="Arial"/>
                <a:cs typeface="Arial"/>
              </a:rPr>
              <a:t>class comprises a mix</a:t>
            </a:r>
            <a:r>
              <a:rPr sz="2000" spc="-1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  class and instance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methods.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3068" y="187452"/>
            <a:ext cx="523240" cy="1412875"/>
          </a:xfrm>
          <a:custGeom>
            <a:avLst/>
            <a:gdLst/>
            <a:ahLst/>
            <a:cxnLst/>
            <a:rect l="l" t="t" r="r" b="b"/>
            <a:pathLst>
              <a:path w="523240" h="1412875">
                <a:moveTo>
                  <a:pt x="522731" y="0"/>
                </a:moveTo>
                <a:lnTo>
                  <a:pt x="0" y="0"/>
                </a:lnTo>
                <a:lnTo>
                  <a:pt x="0" y="1412748"/>
                </a:lnTo>
                <a:lnTo>
                  <a:pt x="522731" y="1412748"/>
                </a:lnTo>
                <a:lnTo>
                  <a:pt x="522731" y="0"/>
                </a:lnTo>
                <a:close/>
              </a:path>
            </a:pathLst>
          </a:custGeom>
          <a:solidFill>
            <a:srgbClr val="FFCC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44239" y="399123"/>
            <a:ext cx="381000" cy="11226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990"/>
              </a:lnSpc>
            </a:pPr>
            <a:r>
              <a:rPr sz="2800" spc="5" dirty="0">
                <a:solidFill>
                  <a:srgbClr val="C00000"/>
                </a:solidFill>
                <a:latin typeface="Trebuchet MS"/>
                <a:cs typeface="Trebuchet MS"/>
              </a:rPr>
              <a:t>3.</a:t>
            </a:r>
            <a:r>
              <a:rPr sz="2800" spc="-9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800" spc="-20" dirty="0">
                <a:solidFill>
                  <a:srgbClr val="000099"/>
                </a:solidFill>
                <a:latin typeface="Trebuchet MS"/>
                <a:cs typeface="Trebuchet MS"/>
              </a:rPr>
              <a:t>OOP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066850" y="1354836"/>
            <a:ext cx="3505200" cy="1955800"/>
            <a:chOff x="1066850" y="1354836"/>
            <a:chExt cx="3505200" cy="1955800"/>
          </a:xfrm>
        </p:grpSpPr>
        <p:sp>
          <p:nvSpPr>
            <p:cNvPr id="7" name="object 7"/>
            <p:cNvSpPr/>
            <p:nvPr/>
          </p:nvSpPr>
          <p:spPr>
            <a:xfrm>
              <a:off x="1066850" y="1354836"/>
              <a:ext cx="3505200" cy="195529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59001" y="2123694"/>
              <a:ext cx="670560" cy="925194"/>
            </a:xfrm>
            <a:custGeom>
              <a:avLst/>
              <a:gdLst/>
              <a:ahLst/>
              <a:cxnLst/>
              <a:rect l="l" t="t" r="r" b="b"/>
              <a:pathLst>
                <a:path w="670560" h="925194">
                  <a:moveTo>
                    <a:pt x="0" y="111759"/>
                  </a:moveTo>
                  <a:lnTo>
                    <a:pt x="8782" y="68258"/>
                  </a:lnTo>
                  <a:lnTo>
                    <a:pt x="32734" y="32734"/>
                  </a:lnTo>
                  <a:lnTo>
                    <a:pt x="68258" y="8782"/>
                  </a:lnTo>
                  <a:lnTo>
                    <a:pt x="111759" y="0"/>
                  </a:lnTo>
                  <a:lnTo>
                    <a:pt x="558799" y="0"/>
                  </a:lnTo>
                  <a:lnTo>
                    <a:pt x="602301" y="8782"/>
                  </a:lnTo>
                  <a:lnTo>
                    <a:pt x="637825" y="32734"/>
                  </a:lnTo>
                  <a:lnTo>
                    <a:pt x="661777" y="68258"/>
                  </a:lnTo>
                  <a:lnTo>
                    <a:pt x="670560" y="111759"/>
                  </a:lnTo>
                  <a:lnTo>
                    <a:pt x="670560" y="813307"/>
                  </a:lnTo>
                  <a:lnTo>
                    <a:pt x="661777" y="856809"/>
                  </a:lnTo>
                  <a:lnTo>
                    <a:pt x="637825" y="892333"/>
                  </a:lnTo>
                  <a:lnTo>
                    <a:pt x="602301" y="916285"/>
                  </a:lnTo>
                  <a:lnTo>
                    <a:pt x="558799" y="925067"/>
                  </a:lnTo>
                  <a:lnTo>
                    <a:pt x="111759" y="925067"/>
                  </a:lnTo>
                  <a:lnTo>
                    <a:pt x="68258" y="916285"/>
                  </a:lnTo>
                  <a:lnTo>
                    <a:pt x="32734" y="892333"/>
                  </a:lnTo>
                  <a:lnTo>
                    <a:pt x="8782" y="856809"/>
                  </a:lnTo>
                  <a:lnTo>
                    <a:pt x="0" y="813307"/>
                  </a:lnTo>
                  <a:lnTo>
                    <a:pt x="0" y="111759"/>
                  </a:lnTo>
                  <a:close/>
                </a:path>
              </a:pathLst>
            </a:custGeom>
            <a:ln w="25908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340358" y="919353"/>
            <a:ext cx="160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C00000"/>
                </a:solidFill>
                <a:latin typeface="Arial"/>
                <a:cs typeface="Arial"/>
              </a:rPr>
              <a:t>String</a:t>
            </a:r>
            <a:r>
              <a:rPr sz="2400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class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410200" y="4303776"/>
            <a:ext cx="3544824" cy="20101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5257800" y="880872"/>
            <a:ext cx="3500754" cy="2513330"/>
            <a:chOff x="5257800" y="880872"/>
            <a:chExt cx="3500754" cy="2513330"/>
          </a:xfrm>
        </p:grpSpPr>
        <p:sp>
          <p:nvSpPr>
            <p:cNvPr id="12" name="object 12"/>
            <p:cNvSpPr/>
            <p:nvPr/>
          </p:nvSpPr>
          <p:spPr>
            <a:xfrm>
              <a:off x="5257800" y="893064"/>
              <a:ext cx="3500628" cy="250088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89042" y="893826"/>
              <a:ext cx="594360" cy="2417445"/>
            </a:xfrm>
            <a:custGeom>
              <a:avLst/>
              <a:gdLst/>
              <a:ahLst/>
              <a:cxnLst/>
              <a:rect l="l" t="t" r="r" b="b"/>
              <a:pathLst>
                <a:path w="594360" h="2417445">
                  <a:moveTo>
                    <a:pt x="0" y="99060"/>
                  </a:moveTo>
                  <a:lnTo>
                    <a:pt x="7780" y="60489"/>
                  </a:lnTo>
                  <a:lnTo>
                    <a:pt x="29003" y="29003"/>
                  </a:lnTo>
                  <a:lnTo>
                    <a:pt x="60489" y="7780"/>
                  </a:lnTo>
                  <a:lnTo>
                    <a:pt x="99060" y="0"/>
                  </a:lnTo>
                  <a:lnTo>
                    <a:pt x="495300" y="0"/>
                  </a:lnTo>
                  <a:lnTo>
                    <a:pt x="533870" y="7780"/>
                  </a:lnTo>
                  <a:lnTo>
                    <a:pt x="565356" y="29003"/>
                  </a:lnTo>
                  <a:lnTo>
                    <a:pt x="586579" y="60489"/>
                  </a:lnTo>
                  <a:lnTo>
                    <a:pt x="594360" y="99060"/>
                  </a:lnTo>
                  <a:lnTo>
                    <a:pt x="594360" y="2318004"/>
                  </a:lnTo>
                  <a:lnTo>
                    <a:pt x="586579" y="2356574"/>
                  </a:lnTo>
                  <a:lnTo>
                    <a:pt x="565356" y="2388060"/>
                  </a:lnTo>
                  <a:lnTo>
                    <a:pt x="533870" y="2409283"/>
                  </a:lnTo>
                  <a:lnTo>
                    <a:pt x="495300" y="2417064"/>
                  </a:lnTo>
                  <a:lnTo>
                    <a:pt x="99060" y="2417064"/>
                  </a:lnTo>
                  <a:lnTo>
                    <a:pt x="60489" y="2409283"/>
                  </a:lnTo>
                  <a:lnTo>
                    <a:pt x="29003" y="2388060"/>
                  </a:lnTo>
                  <a:lnTo>
                    <a:pt x="7780" y="2356574"/>
                  </a:lnTo>
                  <a:lnTo>
                    <a:pt x="0" y="2318004"/>
                  </a:lnTo>
                  <a:lnTo>
                    <a:pt x="0" y="99060"/>
                  </a:lnTo>
                  <a:close/>
                </a:path>
              </a:pathLst>
            </a:custGeom>
            <a:ln w="25908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552438" y="3832097"/>
            <a:ext cx="19399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C00000"/>
                </a:solidFill>
                <a:latin typeface="Arial"/>
                <a:cs typeface="Arial"/>
              </a:rPr>
              <a:t>Scanner</a:t>
            </a:r>
            <a:r>
              <a:rPr sz="2400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class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</a:t>
            </a:r>
            <a:r>
              <a:rPr spc="5" dirty="0"/>
              <a:t>Lecture </a:t>
            </a:r>
            <a:r>
              <a:rPr dirty="0"/>
              <a:t>: OOP Part</a:t>
            </a:r>
            <a:r>
              <a:rPr spc="-190" dirty="0"/>
              <a:t> </a:t>
            </a:r>
            <a:r>
              <a:rPr dirty="0"/>
              <a:t>1]  </a:t>
            </a:r>
            <a:r>
              <a:rPr spc="-130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r>
              <a:rPr spc="-5" dirty="0"/>
              <a:t>26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928609" y="457327"/>
            <a:ext cx="7188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C00000"/>
                </a:solidFill>
                <a:latin typeface="Arial"/>
                <a:cs typeface="Arial"/>
              </a:rPr>
              <a:t>Math  </a:t>
            </a:r>
            <a:r>
              <a:rPr sz="2400" spc="-5" dirty="0">
                <a:latin typeface="Arial"/>
                <a:cs typeface="Arial"/>
              </a:rPr>
              <a:t>cl</a:t>
            </a:r>
            <a:r>
              <a:rPr sz="2400" spc="-15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ss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48158"/>
            <a:ext cx="65995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5" dirty="0"/>
              <a:t>Class </a:t>
            </a:r>
            <a:r>
              <a:rPr spc="30" dirty="0"/>
              <a:t>vs </a:t>
            </a:r>
            <a:r>
              <a:rPr spc="5" dirty="0"/>
              <a:t>Instance </a:t>
            </a:r>
            <a:r>
              <a:rPr spc="-35" dirty="0"/>
              <a:t>methods</a:t>
            </a:r>
            <a:r>
              <a:rPr spc="-200" dirty="0"/>
              <a:t> </a:t>
            </a:r>
            <a:r>
              <a:rPr spc="60" dirty="0"/>
              <a:t>(3/4)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5844" y="1092453"/>
            <a:ext cx="344042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10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Calling a 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class</a:t>
            </a:r>
            <a:r>
              <a:rPr sz="2400" spc="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method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3068" y="187452"/>
            <a:ext cx="523240" cy="1412875"/>
          </a:xfrm>
          <a:custGeom>
            <a:avLst/>
            <a:gdLst/>
            <a:ahLst/>
            <a:cxnLst/>
            <a:rect l="l" t="t" r="r" b="b"/>
            <a:pathLst>
              <a:path w="523240" h="1412875">
                <a:moveTo>
                  <a:pt x="522731" y="0"/>
                </a:moveTo>
                <a:lnTo>
                  <a:pt x="0" y="0"/>
                </a:lnTo>
                <a:lnTo>
                  <a:pt x="0" y="1412748"/>
                </a:lnTo>
                <a:lnTo>
                  <a:pt x="522731" y="1412748"/>
                </a:lnTo>
                <a:lnTo>
                  <a:pt x="522731" y="0"/>
                </a:lnTo>
                <a:close/>
              </a:path>
            </a:pathLst>
          </a:custGeom>
          <a:solidFill>
            <a:srgbClr val="FFCC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44239" y="399123"/>
            <a:ext cx="381000" cy="11226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990"/>
              </a:lnSpc>
            </a:pPr>
            <a:r>
              <a:rPr sz="2800" spc="5" dirty="0">
                <a:solidFill>
                  <a:srgbClr val="C00000"/>
                </a:solidFill>
                <a:latin typeface="Trebuchet MS"/>
                <a:cs typeface="Trebuchet MS"/>
              </a:rPr>
              <a:t>3.</a:t>
            </a:r>
            <a:r>
              <a:rPr sz="2800" spc="-9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800" spc="-20" dirty="0">
                <a:solidFill>
                  <a:srgbClr val="000099"/>
                </a:solidFill>
                <a:latin typeface="Trebuchet MS"/>
                <a:cs typeface="Trebuchet MS"/>
              </a:rPr>
              <a:t>OOP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29561" y="1600961"/>
            <a:ext cx="4495800" cy="338455"/>
          </a:xfrm>
          <a:custGeom>
            <a:avLst/>
            <a:gdLst/>
            <a:ahLst/>
            <a:cxnLst/>
            <a:rect l="l" t="t" r="r" b="b"/>
            <a:pathLst>
              <a:path w="4495800" h="338455">
                <a:moveTo>
                  <a:pt x="4495800" y="0"/>
                </a:moveTo>
                <a:lnTo>
                  <a:pt x="0" y="0"/>
                </a:lnTo>
                <a:lnTo>
                  <a:pt x="0" y="338327"/>
                </a:lnTo>
                <a:lnTo>
                  <a:pt x="4495800" y="338327"/>
                </a:lnTo>
                <a:lnTo>
                  <a:pt x="4495800" y="0"/>
                </a:lnTo>
                <a:close/>
              </a:path>
            </a:pathLst>
          </a:custGeom>
          <a:solidFill>
            <a:srgbClr val="B8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829561" y="1600961"/>
            <a:ext cx="4495800" cy="338455"/>
          </a:xfrm>
          <a:prstGeom prst="rect">
            <a:avLst/>
          </a:prstGeom>
          <a:ln w="25907">
            <a:solidFill>
              <a:srgbClr val="AAC9C9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75"/>
              </a:spcBef>
            </a:pPr>
            <a:r>
              <a:rPr sz="1600" b="1" spc="-5" dirty="0">
                <a:latin typeface="Courier New"/>
                <a:cs typeface="Courier New"/>
              </a:rPr>
              <a:t>double answer = </a:t>
            </a:r>
            <a:r>
              <a:rPr sz="1600" b="1" spc="-5" dirty="0">
                <a:solidFill>
                  <a:srgbClr val="C00000"/>
                </a:solidFill>
                <a:latin typeface="Courier New"/>
                <a:cs typeface="Courier New"/>
              </a:rPr>
              <a:t>Math</a:t>
            </a:r>
            <a:r>
              <a:rPr sz="1600" b="1" spc="-5" dirty="0">
                <a:latin typeface="Courier New"/>
                <a:cs typeface="Courier New"/>
              </a:rPr>
              <a:t>.</a:t>
            </a:r>
            <a:r>
              <a:rPr sz="1600" b="1" spc="-5" dirty="0">
                <a:solidFill>
                  <a:srgbClr val="0000FF"/>
                </a:solidFill>
                <a:latin typeface="Courier New"/>
                <a:cs typeface="Courier New"/>
              </a:rPr>
              <a:t>pow</a:t>
            </a:r>
            <a:r>
              <a:rPr sz="1600" b="1" spc="-5" dirty="0">
                <a:latin typeface="Courier New"/>
                <a:cs typeface="Courier New"/>
              </a:rPr>
              <a:t>(3.5,</a:t>
            </a:r>
            <a:r>
              <a:rPr sz="1600" b="1" spc="2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2.2);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018026" y="1895855"/>
            <a:ext cx="3917950" cy="542925"/>
            <a:chOff x="4018026" y="1895855"/>
            <a:chExt cx="3917950" cy="542925"/>
          </a:xfrm>
        </p:grpSpPr>
        <p:sp>
          <p:nvSpPr>
            <p:cNvPr id="9" name="object 9"/>
            <p:cNvSpPr/>
            <p:nvPr/>
          </p:nvSpPr>
          <p:spPr>
            <a:xfrm>
              <a:off x="4018026" y="1946909"/>
              <a:ext cx="1898650" cy="358775"/>
            </a:xfrm>
            <a:custGeom>
              <a:avLst/>
              <a:gdLst/>
              <a:ahLst/>
              <a:cxnLst/>
              <a:rect l="l" t="t" r="r" b="b"/>
              <a:pathLst>
                <a:path w="1898650" h="358775">
                  <a:moveTo>
                    <a:pt x="44018" y="63000"/>
                  </a:moveTo>
                  <a:lnTo>
                    <a:pt x="26508" y="72100"/>
                  </a:lnTo>
                  <a:lnTo>
                    <a:pt x="32893" y="83947"/>
                  </a:lnTo>
                  <a:lnTo>
                    <a:pt x="48513" y="110109"/>
                  </a:lnTo>
                  <a:lnTo>
                    <a:pt x="84836" y="160527"/>
                  </a:lnTo>
                  <a:lnTo>
                    <a:pt x="117856" y="196468"/>
                  </a:lnTo>
                  <a:lnTo>
                    <a:pt x="156972" y="229869"/>
                  </a:lnTo>
                  <a:lnTo>
                    <a:pt x="203708" y="260350"/>
                  </a:lnTo>
                  <a:lnTo>
                    <a:pt x="239395" y="278891"/>
                  </a:lnTo>
                  <a:lnTo>
                    <a:pt x="279146" y="295655"/>
                  </a:lnTo>
                  <a:lnTo>
                    <a:pt x="323469" y="310641"/>
                  </a:lnTo>
                  <a:lnTo>
                    <a:pt x="372618" y="323723"/>
                  </a:lnTo>
                  <a:lnTo>
                    <a:pt x="426847" y="334772"/>
                  </a:lnTo>
                  <a:lnTo>
                    <a:pt x="486663" y="343535"/>
                  </a:lnTo>
                  <a:lnTo>
                    <a:pt x="551941" y="350265"/>
                  </a:lnTo>
                  <a:lnTo>
                    <a:pt x="659257" y="356488"/>
                  </a:lnTo>
                  <a:lnTo>
                    <a:pt x="697357" y="357631"/>
                  </a:lnTo>
                  <a:lnTo>
                    <a:pt x="736726" y="358393"/>
                  </a:lnTo>
                  <a:lnTo>
                    <a:pt x="777113" y="358648"/>
                  </a:lnTo>
                  <a:lnTo>
                    <a:pt x="818388" y="358648"/>
                  </a:lnTo>
                  <a:lnTo>
                    <a:pt x="904113" y="357377"/>
                  </a:lnTo>
                  <a:lnTo>
                    <a:pt x="1039113" y="352805"/>
                  </a:lnTo>
                  <a:lnTo>
                    <a:pt x="1229740" y="342773"/>
                  </a:lnTo>
                  <a:lnTo>
                    <a:pt x="1290204" y="338836"/>
                  </a:lnTo>
                  <a:lnTo>
                    <a:pt x="776986" y="338836"/>
                  </a:lnTo>
                  <a:lnTo>
                    <a:pt x="736853" y="338581"/>
                  </a:lnTo>
                  <a:lnTo>
                    <a:pt x="697864" y="337819"/>
                  </a:lnTo>
                  <a:lnTo>
                    <a:pt x="659764" y="336676"/>
                  </a:lnTo>
                  <a:lnTo>
                    <a:pt x="587628" y="333120"/>
                  </a:lnTo>
                  <a:lnTo>
                    <a:pt x="520446" y="327532"/>
                  </a:lnTo>
                  <a:lnTo>
                    <a:pt x="458724" y="319786"/>
                  </a:lnTo>
                  <a:lnTo>
                    <a:pt x="402716" y="310006"/>
                  </a:lnTo>
                  <a:lnTo>
                    <a:pt x="352298" y="298195"/>
                  </a:lnTo>
                  <a:lnTo>
                    <a:pt x="306704" y="284479"/>
                  </a:lnTo>
                  <a:lnTo>
                    <a:pt x="266064" y="268986"/>
                  </a:lnTo>
                  <a:lnTo>
                    <a:pt x="229743" y="251967"/>
                  </a:lnTo>
                  <a:lnTo>
                    <a:pt x="182625" y="223774"/>
                  </a:lnTo>
                  <a:lnTo>
                    <a:pt x="143001" y="192786"/>
                  </a:lnTo>
                  <a:lnTo>
                    <a:pt x="109727" y="159257"/>
                  </a:lnTo>
                  <a:lnTo>
                    <a:pt x="81534" y="123698"/>
                  </a:lnTo>
                  <a:lnTo>
                    <a:pt x="49784" y="73787"/>
                  </a:lnTo>
                  <a:lnTo>
                    <a:pt x="44018" y="63000"/>
                  </a:lnTo>
                  <a:close/>
                </a:path>
                <a:path w="1898650" h="358775">
                  <a:moveTo>
                    <a:pt x="1896490" y="271272"/>
                  </a:moveTo>
                  <a:lnTo>
                    <a:pt x="1277620" y="319913"/>
                  </a:lnTo>
                  <a:lnTo>
                    <a:pt x="1084834" y="330962"/>
                  </a:lnTo>
                  <a:lnTo>
                    <a:pt x="903604" y="337565"/>
                  </a:lnTo>
                  <a:lnTo>
                    <a:pt x="818134" y="338836"/>
                  </a:lnTo>
                  <a:lnTo>
                    <a:pt x="1290204" y="338836"/>
                  </a:lnTo>
                  <a:lnTo>
                    <a:pt x="1898269" y="291084"/>
                  </a:lnTo>
                  <a:lnTo>
                    <a:pt x="1896490" y="271272"/>
                  </a:lnTo>
                  <a:close/>
                </a:path>
                <a:path w="1898650" h="358775">
                  <a:moveTo>
                    <a:pt x="0" y="0"/>
                  </a:moveTo>
                  <a:lnTo>
                    <a:pt x="1270" y="85216"/>
                  </a:lnTo>
                  <a:lnTo>
                    <a:pt x="26508" y="72100"/>
                  </a:lnTo>
                  <a:lnTo>
                    <a:pt x="20574" y="61087"/>
                  </a:lnTo>
                  <a:lnTo>
                    <a:pt x="37973" y="51688"/>
                  </a:lnTo>
                  <a:lnTo>
                    <a:pt x="65784" y="51688"/>
                  </a:lnTo>
                  <a:lnTo>
                    <a:pt x="68961" y="50037"/>
                  </a:lnTo>
                  <a:lnTo>
                    <a:pt x="0" y="0"/>
                  </a:lnTo>
                  <a:close/>
                </a:path>
                <a:path w="1898650" h="358775">
                  <a:moveTo>
                    <a:pt x="37973" y="51688"/>
                  </a:moveTo>
                  <a:lnTo>
                    <a:pt x="20574" y="61087"/>
                  </a:lnTo>
                  <a:lnTo>
                    <a:pt x="26508" y="72100"/>
                  </a:lnTo>
                  <a:lnTo>
                    <a:pt x="44018" y="63000"/>
                  </a:lnTo>
                  <a:lnTo>
                    <a:pt x="37973" y="51688"/>
                  </a:lnTo>
                  <a:close/>
                </a:path>
                <a:path w="1898650" h="358775">
                  <a:moveTo>
                    <a:pt x="65784" y="51688"/>
                  </a:moveTo>
                  <a:lnTo>
                    <a:pt x="37973" y="51688"/>
                  </a:lnTo>
                  <a:lnTo>
                    <a:pt x="44018" y="63000"/>
                  </a:lnTo>
                  <a:lnTo>
                    <a:pt x="65784" y="51688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91961" y="1905761"/>
              <a:ext cx="2133600" cy="523240"/>
            </a:xfrm>
            <a:custGeom>
              <a:avLst/>
              <a:gdLst/>
              <a:ahLst/>
              <a:cxnLst/>
              <a:rect l="l" t="t" r="r" b="b"/>
              <a:pathLst>
                <a:path w="2133600" h="523239">
                  <a:moveTo>
                    <a:pt x="2133599" y="0"/>
                  </a:moveTo>
                  <a:lnTo>
                    <a:pt x="0" y="0"/>
                  </a:lnTo>
                  <a:lnTo>
                    <a:pt x="0" y="522731"/>
                  </a:lnTo>
                  <a:lnTo>
                    <a:pt x="2133599" y="522731"/>
                  </a:lnTo>
                  <a:lnTo>
                    <a:pt x="21335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91961" y="1905761"/>
              <a:ext cx="2133600" cy="523240"/>
            </a:xfrm>
            <a:custGeom>
              <a:avLst/>
              <a:gdLst/>
              <a:ahLst/>
              <a:cxnLst/>
              <a:rect l="l" t="t" r="r" b="b"/>
              <a:pathLst>
                <a:path w="2133600" h="523239">
                  <a:moveTo>
                    <a:pt x="0" y="522731"/>
                  </a:moveTo>
                  <a:lnTo>
                    <a:pt x="2133599" y="522731"/>
                  </a:lnTo>
                  <a:lnTo>
                    <a:pt x="2133599" y="0"/>
                  </a:lnTo>
                  <a:lnTo>
                    <a:pt x="0" y="0"/>
                  </a:lnTo>
                  <a:lnTo>
                    <a:pt x="0" y="522731"/>
                  </a:lnTo>
                  <a:close/>
                </a:path>
              </a:pathLst>
            </a:custGeom>
            <a:ln w="19812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368744" y="2502344"/>
            <a:ext cx="7493634" cy="3811904"/>
            <a:chOff x="368744" y="2502344"/>
            <a:chExt cx="7493634" cy="3811904"/>
          </a:xfrm>
        </p:grpSpPr>
        <p:sp>
          <p:nvSpPr>
            <p:cNvPr id="13" name="object 13"/>
            <p:cNvSpPr/>
            <p:nvPr/>
          </p:nvSpPr>
          <p:spPr>
            <a:xfrm>
              <a:off x="381761" y="2515362"/>
              <a:ext cx="7467600" cy="3785870"/>
            </a:xfrm>
            <a:custGeom>
              <a:avLst/>
              <a:gdLst/>
              <a:ahLst/>
              <a:cxnLst/>
              <a:rect l="l" t="t" r="r" b="b"/>
              <a:pathLst>
                <a:path w="7467600" h="3785870">
                  <a:moveTo>
                    <a:pt x="7467600" y="0"/>
                  </a:moveTo>
                  <a:lnTo>
                    <a:pt x="0" y="0"/>
                  </a:lnTo>
                  <a:lnTo>
                    <a:pt x="0" y="3785616"/>
                  </a:lnTo>
                  <a:lnTo>
                    <a:pt x="7467600" y="3785616"/>
                  </a:lnTo>
                  <a:lnTo>
                    <a:pt x="74676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1761" y="2515362"/>
              <a:ext cx="7467600" cy="3785870"/>
            </a:xfrm>
            <a:custGeom>
              <a:avLst/>
              <a:gdLst/>
              <a:ahLst/>
              <a:cxnLst/>
              <a:rect l="l" t="t" r="r" b="b"/>
              <a:pathLst>
                <a:path w="7467600" h="3785870">
                  <a:moveTo>
                    <a:pt x="0" y="3785616"/>
                  </a:moveTo>
                  <a:lnTo>
                    <a:pt x="7467600" y="3785616"/>
                  </a:lnTo>
                  <a:lnTo>
                    <a:pt x="7467600" y="0"/>
                  </a:lnTo>
                  <a:lnTo>
                    <a:pt x="0" y="0"/>
                  </a:lnTo>
                  <a:lnTo>
                    <a:pt x="0" y="3785616"/>
                  </a:lnTo>
                  <a:close/>
                </a:path>
              </a:pathLst>
            </a:custGeom>
            <a:ln w="25908">
              <a:solidFill>
                <a:srgbClr val="AAC9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59740" y="1932558"/>
            <a:ext cx="7456170" cy="159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423535" marR="36068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Arial"/>
                <a:cs typeface="Arial"/>
              </a:rPr>
              <a:t>Precede method</a:t>
            </a:r>
            <a:r>
              <a:rPr sz="1400" spc="-15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with  </a:t>
            </a:r>
            <a:r>
              <a:rPr sz="1400" dirty="0">
                <a:latin typeface="Arial"/>
                <a:cs typeface="Arial"/>
              </a:rPr>
              <a:t>the class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name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1600" b="1" spc="-5" dirty="0">
                <a:latin typeface="Courier New"/>
                <a:cs typeface="Courier New"/>
              </a:rPr>
              <a:t>public class Exercise</a:t>
            </a:r>
            <a:r>
              <a:rPr sz="1600" b="1" spc="2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294005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public static double volumeCone(double rad, double ht)</a:t>
            </a:r>
            <a:r>
              <a:rPr sz="1600" b="1" spc="8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64516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return Math.PI * </a:t>
            </a:r>
            <a:r>
              <a:rPr sz="1600" b="1" dirty="0">
                <a:latin typeface="Courier New"/>
                <a:cs typeface="Courier New"/>
              </a:rPr>
              <a:t>rad </a:t>
            </a:r>
            <a:r>
              <a:rPr sz="1600" b="1" spc="-5" dirty="0">
                <a:latin typeface="Courier New"/>
                <a:cs typeface="Courier New"/>
              </a:rPr>
              <a:t>* rad * ht /</a:t>
            </a:r>
            <a:r>
              <a:rPr sz="1600" b="1" spc="5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3.0;</a:t>
            </a:r>
            <a:endParaRPr sz="1600">
              <a:latin typeface="Courier New"/>
              <a:cs typeface="Courier New"/>
            </a:endParaRPr>
          </a:p>
          <a:p>
            <a:pPr marL="294005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1680" y="3744848"/>
            <a:ext cx="491236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Courier New"/>
                <a:cs typeface="Courier New"/>
              </a:rPr>
              <a:t>public static void main(String[] </a:t>
            </a:r>
            <a:r>
              <a:rPr sz="1600" b="1" dirty="0">
                <a:latin typeface="Courier New"/>
                <a:cs typeface="Courier New"/>
              </a:rPr>
              <a:t>args)</a:t>
            </a:r>
            <a:r>
              <a:rPr sz="1600" b="1" spc="2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6322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. . .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9740" y="4476750"/>
            <a:ext cx="6643370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4516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Courier New"/>
                <a:cs typeface="Courier New"/>
              </a:rPr>
              <a:t>double vol = </a:t>
            </a:r>
            <a:r>
              <a:rPr sz="1600" b="1" spc="-5" dirty="0">
                <a:solidFill>
                  <a:srgbClr val="0000FF"/>
                </a:solidFill>
                <a:latin typeface="Courier New"/>
                <a:cs typeface="Courier New"/>
              </a:rPr>
              <a:t>volumeCone</a:t>
            </a:r>
            <a:r>
              <a:rPr sz="1600" b="1" spc="-5" dirty="0">
                <a:latin typeface="Courier New"/>
                <a:cs typeface="Courier New"/>
              </a:rPr>
              <a:t>(radius,</a:t>
            </a:r>
            <a:r>
              <a:rPr sz="1600" b="1" spc="3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height);</a:t>
            </a:r>
            <a:endParaRPr sz="1600">
              <a:latin typeface="Courier New"/>
              <a:cs typeface="Courier New"/>
            </a:endParaRPr>
          </a:p>
          <a:p>
            <a:pPr marL="64516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/* Alternatively:</a:t>
            </a:r>
            <a:endParaRPr sz="1600">
              <a:latin typeface="Courier New"/>
              <a:cs typeface="Courier New"/>
            </a:endParaRPr>
          </a:p>
          <a:p>
            <a:pPr marL="64516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double vol = </a:t>
            </a:r>
            <a:r>
              <a:rPr sz="1600" b="1" spc="-5" dirty="0">
                <a:solidFill>
                  <a:srgbClr val="C00000"/>
                </a:solidFill>
                <a:latin typeface="Courier New"/>
                <a:cs typeface="Courier New"/>
              </a:rPr>
              <a:t>Exercise</a:t>
            </a:r>
            <a:r>
              <a:rPr sz="1600" b="1" spc="-5" dirty="0">
                <a:latin typeface="Courier New"/>
                <a:cs typeface="Courier New"/>
              </a:rPr>
              <a:t>.</a:t>
            </a:r>
            <a:r>
              <a:rPr sz="1600" b="1" spc="-5" dirty="0">
                <a:solidFill>
                  <a:srgbClr val="0000FF"/>
                </a:solidFill>
                <a:latin typeface="Courier New"/>
                <a:cs typeface="Courier New"/>
              </a:rPr>
              <a:t>volumeCone</a:t>
            </a:r>
            <a:r>
              <a:rPr sz="1600" b="1" spc="-5" dirty="0">
                <a:latin typeface="Courier New"/>
                <a:cs typeface="Courier New"/>
              </a:rPr>
              <a:t>(radius,</a:t>
            </a:r>
            <a:r>
              <a:rPr sz="1600" b="1" spc="7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height);</a:t>
            </a:r>
            <a:endParaRPr sz="1600">
              <a:latin typeface="Courier New"/>
              <a:cs typeface="Courier New"/>
            </a:endParaRPr>
          </a:p>
          <a:p>
            <a:pPr marL="64516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*/</a:t>
            </a:r>
            <a:endParaRPr sz="1600">
              <a:latin typeface="Courier New"/>
              <a:cs typeface="Courier New"/>
            </a:endParaRPr>
          </a:p>
          <a:p>
            <a:pPr marL="294005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505961" y="3724655"/>
            <a:ext cx="5115560" cy="775335"/>
            <a:chOff x="3505961" y="3724655"/>
            <a:chExt cx="5115560" cy="775335"/>
          </a:xfrm>
        </p:grpSpPr>
        <p:sp>
          <p:nvSpPr>
            <p:cNvPr id="19" name="object 19"/>
            <p:cNvSpPr/>
            <p:nvPr/>
          </p:nvSpPr>
          <p:spPr>
            <a:xfrm>
              <a:off x="3505961" y="4133976"/>
              <a:ext cx="2362835" cy="365760"/>
            </a:xfrm>
            <a:custGeom>
              <a:avLst/>
              <a:gdLst/>
              <a:ahLst/>
              <a:cxnLst/>
              <a:rect l="l" t="t" r="r" b="b"/>
              <a:pathLst>
                <a:path w="2362835" h="365760">
                  <a:moveTo>
                    <a:pt x="8382" y="280797"/>
                  </a:moveTo>
                  <a:lnTo>
                    <a:pt x="0" y="365633"/>
                  </a:lnTo>
                  <a:lnTo>
                    <a:pt x="72898" y="321437"/>
                  </a:lnTo>
                  <a:lnTo>
                    <a:pt x="66446" y="317373"/>
                  </a:lnTo>
                  <a:lnTo>
                    <a:pt x="42163" y="317373"/>
                  </a:lnTo>
                  <a:lnTo>
                    <a:pt x="25526" y="306450"/>
                  </a:lnTo>
                  <a:lnTo>
                    <a:pt x="32443" y="295953"/>
                  </a:lnTo>
                  <a:lnTo>
                    <a:pt x="8382" y="280797"/>
                  </a:lnTo>
                  <a:close/>
                </a:path>
                <a:path w="2362835" h="365760">
                  <a:moveTo>
                    <a:pt x="32443" y="295953"/>
                  </a:moveTo>
                  <a:lnTo>
                    <a:pt x="25526" y="306450"/>
                  </a:lnTo>
                  <a:lnTo>
                    <a:pt x="42163" y="317373"/>
                  </a:lnTo>
                  <a:lnTo>
                    <a:pt x="49247" y="306539"/>
                  </a:lnTo>
                  <a:lnTo>
                    <a:pt x="32443" y="295953"/>
                  </a:lnTo>
                  <a:close/>
                </a:path>
                <a:path w="2362835" h="365760">
                  <a:moveTo>
                    <a:pt x="49247" y="306539"/>
                  </a:moveTo>
                  <a:lnTo>
                    <a:pt x="42163" y="317373"/>
                  </a:lnTo>
                  <a:lnTo>
                    <a:pt x="66446" y="317373"/>
                  </a:lnTo>
                  <a:lnTo>
                    <a:pt x="49247" y="306539"/>
                  </a:lnTo>
                  <a:close/>
                </a:path>
                <a:path w="2362835" h="365760">
                  <a:moveTo>
                    <a:pt x="1018921" y="0"/>
                  </a:moveTo>
                  <a:lnTo>
                    <a:pt x="917193" y="254"/>
                  </a:lnTo>
                  <a:lnTo>
                    <a:pt x="820801" y="2159"/>
                  </a:lnTo>
                  <a:lnTo>
                    <a:pt x="730250" y="5842"/>
                  </a:lnTo>
                  <a:lnTo>
                    <a:pt x="687324" y="8509"/>
                  </a:lnTo>
                  <a:lnTo>
                    <a:pt x="646049" y="11556"/>
                  </a:lnTo>
                  <a:lnTo>
                    <a:pt x="606298" y="15367"/>
                  </a:lnTo>
                  <a:lnTo>
                    <a:pt x="568325" y="19558"/>
                  </a:lnTo>
                  <a:lnTo>
                    <a:pt x="497586" y="29718"/>
                  </a:lnTo>
                  <a:lnTo>
                    <a:pt x="433450" y="42037"/>
                  </a:lnTo>
                  <a:lnTo>
                    <a:pt x="375792" y="56261"/>
                  </a:lnTo>
                  <a:lnTo>
                    <a:pt x="323596" y="72390"/>
                  </a:lnTo>
                  <a:lnTo>
                    <a:pt x="276860" y="90297"/>
                  </a:lnTo>
                  <a:lnTo>
                    <a:pt x="235076" y="109855"/>
                  </a:lnTo>
                  <a:lnTo>
                    <a:pt x="197612" y="130937"/>
                  </a:lnTo>
                  <a:lnTo>
                    <a:pt x="164337" y="153162"/>
                  </a:lnTo>
                  <a:lnTo>
                    <a:pt x="121030" y="188975"/>
                  </a:lnTo>
                  <a:lnTo>
                    <a:pt x="84327" y="226822"/>
                  </a:lnTo>
                  <a:lnTo>
                    <a:pt x="43434" y="279273"/>
                  </a:lnTo>
                  <a:lnTo>
                    <a:pt x="32443" y="295953"/>
                  </a:lnTo>
                  <a:lnTo>
                    <a:pt x="49247" y="306539"/>
                  </a:lnTo>
                  <a:lnTo>
                    <a:pt x="59436" y="290956"/>
                  </a:lnTo>
                  <a:lnTo>
                    <a:pt x="78359" y="265303"/>
                  </a:lnTo>
                  <a:lnTo>
                    <a:pt x="110236" y="227711"/>
                  </a:lnTo>
                  <a:lnTo>
                    <a:pt x="147320" y="192024"/>
                  </a:lnTo>
                  <a:lnTo>
                    <a:pt x="191262" y="158623"/>
                  </a:lnTo>
                  <a:lnTo>
                    <a:pt x="225171" y="137668"/>
                  </a:lnTo>
                  <a:lnTo>
                    <a:pt x="263525" y="117983"/>
                  </a:lnTo>
                  <a:lnTo>
                    <a:pt x="306450" y="99822"/>
                  </a:lnTo>
                  <a:lnTo>
                    <a:pt x="354584" y="83058"/>
                  </a:lnTo>
                  <a:lnTo>
                    <a:pt x="408432" y="68199"/>
                  </a:lnTo>
                  <a:lnTo>
                    <a:pt x="468249" y="55118"/>
                  </a:lnTo>
                  <a:lnTo>
                    <a:pt x="534670" y="43942"/>
                  </a:lnTo>
                  <a:lnTo>
                    <a:pt x="608202" y="35052"/>
                  </a:lnTo>
                  <a:lnTo>
                    <a:pt x="647446" y="31368"/>
                  </a:lnTo>
                  <a:lnTo>
                    <a:pt x="688466" y="28321"/>
                  </a:lnTo>
                  <a:lnTo>
                    <a:pt x="731265" y="25654"/>
                  </a:lnTo>
                  <a:lnTo>
                    <a:pt x="821309" y="21971"/>
                  </a:lnTo>
                  <a:lnTo>
                    <a:pt x="917321" y="20066"/>
                  </a:lnTo>
                  <a:lnTo>
                    <a:pt x="1600825" y="19812"/>
                  </a:lnTo>
                  <a:lnTo>
                    <a:pt x="1351534" y="8128"/>
                  </a:lnTo>
                  <a:lnTo>
                    <a:pt x="1236472" y="4064"/>
                  </a:lnTo>
                  <a:lnTo>
                    <a:pt x="1125474" y="1270"/>
                  </a:lnTo>
                  <a:lnTo>
                    <a:pt x="1018921" y="0"/>
                  </a:lnTo>
                  <a:close/>
                </a:path>
                <a:path w="2362835" h="365760">
                  <a:moveTo>
                    <a:pt x="1600825" y="19812"/>
                  </a:moveTo>
                  <a:lnTo>
                    <a:pt x="1018666" y="19812"/>
                  </a:lnTo>
                  <a:lnTo>
                    <a:pt x="1124965" y="21081"/>
                  </a:lnTo>
                  <a:lnTo>
                    <a:pt x="1350645" y="27812"/>
                  </a:lnTo>
                  <a:lnTo>
                    <a:pt x="1590802" y="39116"/>
                  </a:lnTo>
                  <a:lnTo>
                    <a:pt x="2361565" y="88773"/>
                  </a:lnTo>
                  <a:lnTo>
                    <a:pt x="2362835" y="68961"/>
                  </a:lnTo>
                  <a:lnTo>
                    <a:pt x="1600825" y="19812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15761" y="3734561"/>
              <a:ext cx="2895600" cy="739140"/>
            </a:xfrm>
            <a:custGeom>
              <a:avLst/>
              <a:gdLst/>
              <a:ahLst/>
              <a:cxnLst/>
              <a:rect l="l" t="t" r="r" b="b"/>
              <a:pathLst>
                <a:path w="2895600" h="739139">
                  <a:moveTo>
                    <a:pt x="2895599" y="0"/>
                  </a:moveTo>
                  <a:lnTo>
                    <a:pt x="0" y="0"/>
                  </a:lnTo>
                  <a:lnTo>
                    <a:pt x="0" y="739139"/>
                  </a:lnTo>
                  <a:lnTo>
                    <a:pt x="2895599" y="739139"/>
                  </a:lnTo>
                  <a:lnTo>
                    <a:pt x="28955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715761" y="3734561"/>
              <a:ext cx="2895600" cy="739140"/>
            </a:xfrm>
            <a:custGeom>
              <a:avLst/>
              <a:gdLst/>
              <a:ahLst/>
              <a:cxnLst/>
              <a:rect l="l" t="t" r="r" b="b"/>
              <a:pathLst>
                <a:path w="2895600" h="739139">
                  <a:moveTo>
                    <a:pt x="0" y="739139"/>
                  </a:moveTo>
                  <a:lnTo>
                    <a:pt x="2895599" y="739139"/>
                  </a:lnTo>
                  <a:lnTo>
                    <a:pt x="2895599" y="0"/>
                  </a:lnTo>
                  <a:lnTo>
                    <a:pt x="0" y="0"/>
                  </a:lnTo>
                  <a:lnTo>
                    <a:pt x="0" y="739139"/>
                  </a:lnTo>
                  <a:close/>
                </a:path>
              </a:pathLst>
            </a:custGeom>
            <a:ln w="19812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794628" y="3761613"/>
            <a:ext cx="2576195" cy="66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Optional to precede method</a:t>
            </a:r>
            <a:r>
              <a:rPr sz="1400" spc="-19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with  </a:t>
            </a:r>
            <a:r>
              <a:rPr sz="1400" dirty="0">
                <a:latin typeface="Arial"/>
                <a:cs typeface="Arial"/>
              </a:rPr>
              <a:t>the class name if the method is  defined in the class it is</a:t>
            </a:r>
            <a:r>
              <a:rPr sz="1400" spc="-1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called.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</a:t>
            </a:r>
            <a:r>
              <a:rPr spc="5" dirty="0"/>
              <a:t>Lecture </a:t>
            </a:r>
            <a:r>
              <a:rPr dirty="0"/>
              <a:t>: OOP Part</a:t>
            </a:r>
            <a:r>
              <a:rPr spc="-190" dirty="0"/>
              <a:t> </a:t>
            </a:r>
            <a:r>
              <a:rPr dirty="0"/>
              <a:t>1]  </a:t>
            </a:r>
            <a:r>
              <a:rPr spc="-130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r>
              <a:rPr spc="-5" dirty="0"/>
              <a:t>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48158"/>
            <a:ext cx="659828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5" dirty="0"/>
              <a:t>Class </a:t>
            </a:r>
            <a:r>
              <a:rPr spc="30" dirty="0"/>
              <a:t>vs </a:t>
            </a:r>
            <a:r>
              <a:rPr spc="5" dirty="0"/>
              <a:t>Instance </a:t>
            </a:r>
            <a:r>
              <a:rPr spc="-35" dirty="0"/>
              <a:t>methods</a:t>
            </a:r>
            <a:r>
              <a:rPr spc="-204" dirty="0"/>
              <a:t> </a:t>
            </a:r>
            <a:r>
              <a:rPr spc="60" dirty="0"/>
              <a:t>(4/4)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5844" y="1092453"/>
            <a:ext cx="40493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10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Calling an 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instance</a:t>
            </a:r>
            <a:r>
              <a:rPr sz="2400" spc="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method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3068" y="187452"/>
            <a:ext cx="523240" cy="1412875"/>
          </a:xfrm>
          <a:custGeom>
            <a:avLst/>
            <a:gdLst/>
            <a:ahLst/>
            <a:cxnLst/>
            <a:rect l="l" t="t" r="r" b="b"/>
            <a:pathLst>
              <a:path w="523240" h="1412875">
                <a:moveTo>
                  <a:pt x="522731" y="0"/>
                </a:moveTo>
                <a:lnTo>
                  <a:pt x="0" y="0"/>
                </a:lnTo>
                <a:lnTo>
                  <a:pt x="0" y="1412748"/>
                </a:lnTo>
                <a:lnTo>
                  <a:pt x="522731" y="1412748"/>
                </a:lnTo>
                <a:lnTo>
                  <a:pt x="522731" y="0"/>
                </a:lnTo>
                <a:close/>
              </a:path>
            </a:pathLst>
          </a:custGeom>
          <a:solidFill>
            <a:srgbClr val="FFCC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44239" y="399123"/>
            <a:ext cx="381000" cy="11226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990"/>
              </a:lnSpc>
            </a:pPr>
            <a:r>
              <a:rPr sz="2800" spc="5" dirty="0">
                <a:solidFill>
                  <a:srgbClr val="C00000"/>
                </a:solidFill>
                <a:latin typeface="Trebuchet MS"/>
                <a:cs typeface="Trebuchet MS"/>
              </a:rPr>
              <a:t>3.</a:t>
            </a:r>
            <a:r>
              <a:rPr sz="2800" spc="-9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800" spc="-20" dirty="0">
                <a:solidFill>
                  <a:srgbClr val="000099"/>
                </a:solidFill>
                <a:latin typeface="Trebuchet MS"/>
                <a:cs typeface="Trebuchet MS"/>
              </a:rPr>
              <a:t>OOP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29561" y="1600961"/>
            <a:ext cx="4495800" cy="338455"/>
          </a:xfrm>
          <a:prstGeom prst="rect">
            <a:avLst/>
          </a:prstGeom>
          <a:solidFill>
            <a:srgbClr val="B8FFFF"/>
          </a:solidFill>
          <a:ln w="25907">
            <a:solidFill>
              <a:srgbClr val="AAC9C9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75"/>
              </a:spcBef>
            </a:pPr>
            <a:r>
              <a:rPr sz="1600" b="1" spc="-5" dirty="0">
                <a:latin typeface="Courier New"/>
                <a:cs typeface="Courier New"/>
              </a:rPr>
              <a:t>int value =</a:t>
            </a:r>
            <a:r>
              <a:rPr sz="1600" b="1" spc="25" dirty="0"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C00000"/>
                </a:solidFill>
                <a:latin typeface="Courier New"/>
                <a:cs typeface="Courier New"/>
              </a:rPr>
              <a:t>Scanner</a:t>
            </a:r>
            <a:r>
              <a:rPr sz="1600" b="1" spc="-5" dirty="0">
                <a:latin typeface="Courier New"/>
                <a:cs typeface="Courier New"/>
              </a:rPr>
              <a:t>.</a:t>
            </a:r>
            <a:r>
              <a:rPr sz="1600" b="1" spc="-5" dirty="0">
                <a:solidFill>
                  <a:srgbClr val="0000FF"/>
                </a:solidFill>
                <a:latin typeface="Courier New"/>
                <a:cs typeface="Courier New"/>
              </a:rPr>
              <a:t>nextInt</a:t>
            </a:r>
            <a:r>
              <a:rPr sz="1600" b="1" spc="-5" dirty="0">
                <a:latin typeface="Courier New"/>
                <a:cs typeface="Courier New"/>
              </a:rPr>
              <a:t>();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400800" y="1371600"/>
            <a:ext cx="1143000" cy="457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38961" y="2058161"/>
            <a:ext cx="5486400" cy="830580"/>
          </a:xfrm>
          <a:prstGeom prst="rect">
            <a:avLst/>
          </a:prstGeom>
          <a:solidFill>
            <a:srgbClr val="B8FFFF"/>
          </a:solidFill>
          <a:ln w="25907">
            <a:solidFill>
              <a:srgbClr val="AAC9C9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90805" marR="384810">
              <a:lnSpc>
                <a:spcPct val="100000"/>
              </a:lnSpc>
              <a:spcBef>
                <a:spcPts val="175"/>
              </a:spcBef>
            </a:pPr>
            <a:r>
              <a:rPr sz="1600" b="1" spc="-5" dirty="0">
                <a:solidFill>
                  <a:srgbClr val="008000"/>
                </a:solidFill>
                <a:latin typeface="Courier New"/>
                <a:cs typeface="Courier New"/>
              </a:rPr>
              <a:t>// create an instance (object) of Scanner  </a:t>
            </a:r>
            <a:r>
              <a:rPr sz="1600" b="1" spc="-5" dirty="0">
                <a:latin typeface="Courier New"/>
                <a:cs typeface="Courier New"/>
              </a:rPr>
              <a:t>Scanner sc = new</a:t>
            </a:r>
            <a:r>
              <a:rPr sz="1600" b="1" spc="2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Scanner(System.in);</a:t>
            </a:r>
            <a:endParaRPr sz="1600">
              <a:latin typeface="Courier New"/>
              <a:cs typeface="Courier New"/>
            </a:endParaRPr>
          </a:p>
          <a:p>
            <a:pPr marL="90805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int value =</a:t>
            </a:r>
            <a:r>
              <a:rPr sz="1600" b="1" spc="25" dirty="0"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C00000"/>
                </a:solidFill>
                <a:latin typeface="Courier New"/>
                <a:cs typeface="Courier New"/>
              </a:rPr>
              <a:t>sc</a:t>
            </a:r>
            <a:r>
              <a:rPr sz="1600" b="1" spc="-5" dirty="0">
                <a:latin typeface="Courier New"/>
                <a:cs typeface="Courier New"/>
              </a:rPr>
              <a:t>.</a:t>
            </a:r>
            <a:r>
              <a:rPr sz="1600" b="1" spc="-5" dirty="0">
                <a:solidFill>
                  <a:srgbClr val="0000FF"/>
                </a:solidFill>
                <a:latin typeface="Courier New"/>
                <a:cs typeface="Courier New"/>
              </a:rPr>
              <a:t>nextInt</a:t>
            </a:r>
            <a:r>
              <a:rPr sz="1600" b="1" spc="-5" dirty="0">
                <a:latin typeface="Courier New"/>
                <a:cs typeface="Courier New"/>
              </a:rPr>
              <a:t>();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400800" y="2133600"/>
            <a:ext cx="1143000" cy="609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829561" y="3277361"/>
            <a:ext cx="4495800" cy="585470"/>
          </a:xfrm>
          <a:prstGeom prst="rect">
            <a:avLst/>
          </a:prstGeom>
          <a:solidFill>
            <a:srgbClr val="FFFFCC"/>
          </a:solidFill>
          <a:ln w="25907">
            <a:solidFill>
              <a:srgbClr val="AAC9C9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90805" marR="1098550">
              <a:lnSpc>
                <a:spcPct val="100000"/>
              </a:lnSpc>
              <a:spcBef>
                <a:spcPts val="175"/>
              </a:spcBef>
            </a:pPr>
            <a:r>
              <a:rPr sz="1600" b="1" spc="-5" dirty="0">
                <a:latin typeface="Courier New"/>
                <a:cs typeface="Courier New"/>
              </a:rPr>
              <a:t>String str = "Some text";  str =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C00000"/>
                </a:solidFill>
                <a:latin typeface="Courier New"/>
                <a:cs typeface="Courier New"/>
              </a:rPr>
              <a:t>String</a:t>
            </a:r>
            <a:r>
              <a:rPr sz="1600" b="1" spc="-5" dirty="0">
                <a:latin typeface="Courier New"/>
                <a:cs typeface="Courier New"/>
              </a:rPr>
              <a:t>.</a:t>
            </a:r>
            <a:r>
              <a:rPr sz="1600" b="1" spc="-5" dirty="0">
                <a:solidFill>
                  <a:srgbClr val="0000FF"/>
                </a:solidFill>
                <a:latin typeface="Courier New"/>
                <a:cs typeface="Courier New"/>
              </a:rPr>
              <a:t>toUpperCase</a:t>
            </a:r>
            <a:r>
              <a:rPr sz="1600" b="1" spc="-5" dirty="0">
                <a:latin typeface="Courier New"/>
                <a:cs typeface="Courier New"/>
              </a:rPr>
              <a:t>();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400800" y="3200400"/>
            <a:ext cx="1143000" cy="457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829561" y="3963161"/>
            <a:ext cx="4495800" cy="585470"/>
          </a:xfrm>
          <a:prstGeom prst="rect">
            <a:avLst/>
          </a:prstGeom>
          <a:solidFill>
            <a:srgbClr val="FFFFCC"/>
          </a:solidFill>
          <a:ln w="25907">
            <a:solidFill>
              <a:srgbClr val="AAC9C9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75"/>
              </a:spcBef>
            </a:pPr>
            <a:r>
              <a:rPr sz="1600" b="1" spc="-5" dirty="0">
                <a:latin typeface="Courier New"/>
                <a:cs typeface="Courier New"/>
              </a:rPr>
              <a:t>String str = "Some</a:t>
            </a:r>
            <a:r>
              <a:rPr sz="1600" b="1" spc="2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text";</a:t>
            </a:r>
            <a:endParaRPr sz="1600">
              <a:latin typeface="Courier New"/>
              <a:cs typeface="Courier New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1600" b="1" spc="-5" dirty="0">
                <a:latin typeface="Courier New"/>
                <a:cs typeface="Courier New"/>
              </a:rPr>
              <a:t>str =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C00000"/>
                </a:solidFill>
                <a:latin typeface="Courier New"/>
                <a:cs typeface="Courier New"/>
              </a:rPr>
              <a:t>str</a:t>
            </a:r>
            <a:r>
              <a:rPr sz="1600" b="1" spc="-5" dirty="0">
                <a:latin typeface="Courier New"/>
                <a:cs typeface="Courier New"/>
              </a:rPr>
              <a:t>.</a:t>
            </a:r>
            <a:r>
              <a:rPr sz="1600" b="1" spc="-5" dirty="0">
                <a:solidFill>
                  <a:srgbClr val="0000FF"/>
                </a:solidFill>
                <a:latin typeface="Courier New"/>
                <a:cs typeface="Courier New"/>
              </a:rPr>
              <a:t>toUpperCase</a:t>
            </a:r>
            <a:r>
              <a:rPr sz="1600" b="1" spc="-5" dirty="0">
                <a:latin typeface="Courier New"/>
                <a:cs typeface="Courier New"/>
              </a:rPr>
              <a:t>();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400800" y="3886200"/>
            <a:ext cx="1143000" cy="609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718817" y="4751070"/>
            <a:ext cx="6106795" cy="1322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8455" indent="-326390">
              <a:lnSpc>
                <a:spcPct val="100000"/>
              </a:lnSpc>
              <a:spcBef>
                <a:spcPts val="100"/>
              </a:spcBef>
              <a:buClr>
                <a:srgbClr val="4B6C4E"/>
              </a:buClr>
              <a:buSzPct val="60000"/>
              <a:buFont typeface="Wingdings"/>
              <a:buChar char=""/>
              <a:tabLst>
                <a:tab pos="338455" algn="l"/>
                <a:tab pos="339090" algn="l"/>
              </a:tabLst>
            </a:pPr>
            <a:r>
              <a:rPr sz="2000" dirty="0">
                <a:latin typeface="Arial"/>
                <a:cs typeface="Arial"/>
              </a:rPr>
              <a:t>An instance method must be applied </a:t>
            </a:r>
            <a:r>
              <a:rPr sz="2000" spc="-5" dirty="0">
                <a:latin typeface="Arial"/>
                <a:cs typeface="Arial"/>
              </a:rPr>
              <a:t>to </a:t>
            </a:r>
            <a:r>
              <a:rPr sz="2000" dirty="0">
                <a:latin typeface="Arial"/>
                <a:cs typeface="Arial"/>
              </a:rPr>
              <a:t>an</a:t>
            </a:r>
            <a:r>
              <a:rPr sz="2000" spc="-1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instance</a:t>
            </a:r>
            <a:endParaRPr sz="2000">
              <a:latin typeface="Arial"/>
              <a:cs typeface="Arial"/>
            </a:endParaRPr>
          </a:p>
          <a:p>
            <a:pPr marL="338455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(object) of a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5" dirty="0">
                <a:latin typeface="Arial"/>
                <a:cs typeface="Arial"/>
              </a:rPr>
              <a:t>class.</a:t>
            </a:r>
            <a:endParaRPr sz="2000">
              <a:latin typeface="Arial"/>
              <a:cs typeface="Arial"/>
            </a:endParaRPr>
          </a:p>
          <a:p>
            <a:pPr marL="338455" marR="14604" indent="-326390">
              <a:lnSpc>
                <a:spcPct val="100000"/>
              </a:lnSpc>
              <a:spcBef>
                <a:spcPts val="605"/>
              </a:spcBef>
              <a:buClr>
                <a:srgbClr val="4B6C4E"/>
              </a:buClr>
              <a:buSzPct val="60000"/>
              <a:buFont typeface="Wingdings"/>
              <a:buChar char=""/>
              <a:tabLst>
                <a:tab pos="338455" algn="l"/>
                <a:tab pos="339090" algn="l"/>
              </a:tabLst>
            </a:pPr>
            <a:r>
              <a:rPr sz="2000" dirty="0">
                <a:latin typeface="Arial"/>
                <a:cs typeface="Arial"/>
              </a:rPr>
              <a:t>“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Calling an instance method</a:t>
            </a:r>
            <a:r>
              <a:rPr sz="2000" dirty="0">
                <a:latin typeface="Arial"/>
                <a:cs typeface="Arial"/>
              </a:rPr>
              <a:t>” </a:t>
            </a:r>
            <a:r>
              <a:rPr sz="2000" spc="-5" dirty="0">
                <a:latin typeface="Arial"/>
                <a:cs typeface="Arial"/>
              </a:rPr>
              <a:t>is </a:t>
            </a:r>
            <a:r>
              <a:rPr sz="2000" dirty="0">
                <a:latin typeface="Arial"/>
                <a:cs typeface="Arial"/>
              </a:rPr>
              <a:t>sometimes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referred  to </a:t>
            </a:r>
            <a:r>
              <a:rPr sz="2000" spc="-5" dirty="0">
                <a:latin typeface="Arial"/>
                <a:cs typeface="Arial"/>
              </a:rPr>
              <a:t>as </a:t>
            </a:r>
            <a:r>
              <a:rPr sz="2000" dirty="0">
                <a:latin typeface="Arial"/>
                <a:cs typeface="Arial"/>
              </a:rPr>
              <a:t>“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passing a message to an instance</a:t>
            </a:r>
            <a:r>
              <a:rPr sz="2000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0000FF"/>
                </a:solidFill>
                <a:latin typeface="Arial"/>
                <a:cs typeface="Arial"/>
              </a:rPr>
              <a:t>(object)</a:t>
            </a:r>
            <a:r>
              <a:rPr sz="2000" spc="-5" dirty="0">
                <a:latin typeface="Arial"/>
                <a:cs typeface="Arial"/>
              </a:rPr>
              <a:t>”.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</a:t>
            </a:r>
            <a:r>
              <a:rPr spc="5" dirty="0"/>
              <a:t>Lecture </a:t>
            </a:r>
            <a:r>
              <a:rPr dirty="0"/>
              <a:t>: OOP Part</a:t>
            </a:r>
            <a:r>
              <a:rPr spc="-190" dirty="0"/>
              <a:t> </a:t>
            </a:r>
            <a:r>
              <a:rPr dirty="0"/>
              <a:t>1]  </a:t>
            </a:r>
            <a:r>
              <a:rPr spc="-130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r>
              <a:rPr spc="-5" dirty="0"/>
              <a:t>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48158"/>
            <a:ext cx="60064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5" dirty="0"/>
              <a:t>Class </a:t>
            </a:r>
            <a:r>
              <a:rPr spc="-35" dirty="0"/>
              <a:t>methods </a:t>
            </a:r>
            <a:r>
              <a:rPr spc="25" dirty="0"/>
              <a:t>in </a:t>
            </a:r>
            <a:r>
              <a:rPr spc="45" dirty="0"/>
              <a:t>String</a:t>
            </a:r>
            <a:r>
              <a:rPr spc="-130" dirty="0"/>
              <a:t> </a:t>
            </a:r>
            <a:r>
              <a:rPr spc="75" dirty="0"/>
              <a:t>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14307" y="6523126"/>
            <a:ext cx="2514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29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5844" y="1092453"/>
            <a:ext cx="7369175" cy="1199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We </a:t>
            </a:r>
            <a:r>
              <a:rPr sz="2400" spc="-5" dirty="0">
                <a:latin typeface="Arial"/>
                <a:cs typeface="Arial"/>
              </a:rPr>
              <a:t>have used instance methods in 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String </a:t>
            </a:r>
            <a:r>
              <a:rPr sz="2400" spc="-5" dirty="0">
                <a:latin typeface="Arial"/>
                <a:cs typeface="Arial"/>
              </a:rPr>
              <a:t>class, </a:t>
            </a:r>
            <a:r>
              <a:rPr sz="2400" dirty="0">
                <a:latin typeface="Arial"/>
                <a:cs typeface="Arial"/>
              </a:rPr>
              <a:t>but  </a:t>
            </a:r>
            <a:r>
              <a:rPr sz="2400" spc="-5" dirty="0">
                <a:latin typeface="Arial"/>
                <a:cs typeface="Arial"/>
              </a:rPr>
              <a:t>not class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methods</a:t>
            </a:r>
            <a:endParaRPr sz="2400">
              <a:latin typeface="Arial"/>
              <a:cs typeface="Arial"/>
            </a:endParaRPr>
          </a:p>
          <a:p>
            <a:pPr marL="354965" indent="-342900">
              <a:lnSpc>
                <a:spcPct val="100000"/>
              </a:lnSpc>
              <a:spcBef>
                <a:spcPts val="60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Some class methods in 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String</a:t>
            </a:r>
            <a:r>
              <a:rPr sz="2400" spc="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class: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3068" y="187452"/>
            <a:ext cx="523240" cy="1412875"/>
          </a:xfrm>
          <a:custGeom>
            <a:avLst/>
            <a:gdLst/>
            <a:ahLst/>
            <a:cxnLst/>
            <a:rect l="l" t="t" r="r" b="b"/>
            <a:pathLst>
              <a:path w="523240" h="1412875">
                <a:moveTo>
                  <a:pt x="522731" y="0"/>
                </a:moveTo>
                <a:lnTo>
                  <a:pt x="0" y="0"/>
                </a:lnTo>
                <a:lnTo>
                  <a:pt x="0" y="1412748"/>
                </a:lnTo>
                <a:lnTo>
                  <a:pt x="522731" y="1412748"/>
                </a:lnTo>
                <a:lnTo>
                  <a:pt x="522731" y="0"/>
                </a:lnTo>
                <a:close/>
              </a:path>
            </a:pathLst>
          </a:custGeom>
          <a:solidFill>
            <a:srgbClr val="FFCC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44239" y="399123"/>
            <a:ext cx="381000" cy="11226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990"/>
              </a:lnSpc>
            </a:pPr>
            <a:r>
              <a:rPr sz="2800" spc="5" dirty="0">
                <a:solidFill>
                  <a:srgbClr val="C00000"/>
                </a:solidFill>
                <a:latin typeface="Trebuchet MS"/>
                <a:cs typeface="Trebuchet MS"/>
              </a:rPr>
              <a:t>3.</a:t>
            </a:r>
            <a:r>
              <a:rPr sz="2800" spc="-9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800" spc="-20" dirty="0">
                <a:solidFill>
                  <a:srgbClr val="000099"/>
                </a:solidFill>
                <a:latin typeface="Trebuchet MS"/>
                <a:cs typeface="Trebuchet MS"/>
              </a:rPr>
              <a:t>OOP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79999" y="2362200"/>
            <a:ext cx="6652520" cy="1600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448561" y="4115561"/>
            <a:ext cx="5715000" cy="401320"/>
          </a:xfrm>
          <a:prstGeom prst="rect">
            <a:avLst/>
          </a:prstGeom>
          <a:solidFill>
            <a:srgbClr val="FFFFCC"/>
          </a:solidFill>
          <a:ln w="25907">
            <a:solidFill>
              <a:srgbClr val="AAC9C9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25"/>
              </a:spcBef>
            </a:pPr>
            <a:r>
              <a:rPr sz="2000" b="1" spc="-5" dirty="0">
                <a:latin typeface="Courier New"/>
                <a:cs typeface="Courier New"/>
              </a:rPr>
              <a:t>String str </a:t>
            </a:r>
            <a:r>
              <a:rPr sz="2000" b="1" dirty="0">
                <a:latin typeface="Courier New"/>
                <a:cs typeface="Courier New"/>
              </a:rPr>
              <a:t>=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String.valueOf(123);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4519" y="6534404"/>
            <a:ext cx="812609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12759" algn="l"/>
              </a:tabLst>
            </a:pPr>
            <a:r>
              <a:rPr sz="800" dirty="0">
                <a:solidFill>
                  <a:srgbClr val="003399"/>
                </a:solidFill>
                <a:latin typeface="Arial Black"/>
                <a:cs typeface="Arial Black"/>
              </a:rPr>
              <a:t>[501043 </a:t>
            </a:r>
            <a:r>
              <a:rPr sz="800" spc="5" dirty="0">
                <a:solidFill>
                  <a:srgbClr val="003399"/>
                </a:solidFill>
                <a:latin typeface="Arial Black"/>
                <a:cs typeface="Arial Black"/>
              </a:rPr>
              <a:t>Lecture </a:t>
            </a:r>
            <a:r>
              <a:rPr sz="800" dirty="0">
                <a:solidFill>
                  <a:srgbClr val="003399"/>
                </a:solidFill>
                <a:latin typeface="Arial Black"/>
                <a:cs typeface="Arial Black"/>
              </a:rPr>
              <a:t>: OOP Part</a:t>
            </a:r>
            <a:r>
              <a:rPr sz="800" spc="-190" dirty="0">
                <a:solidFill>
                  <a:srgbClr val="003399"/>
                </a:solidFill>
                <a:latin typeface="Arial Black"/>
                <a:cs typeface="Arial Black"/>
              </a:rPr>
              <a:t> </a:t>
            </a:r>
            <a:r>
              <a:rPr sz="800" dirty="0">
                <a:solidFill>
                  <a:srgbClr val="003399"/>
                </a:solidFill>
                <a:latin typeface="Arial Black"/>
                <a:cs typeface="Arial Black"/>
              </a:rPr>
              <a:t>1]  </a:t>
            </a:r>
            <a:r>
              <a:rPr sz="800" spc="-130" dirty="0">
                <a:solidFill>
                  <a:srgbClr val="003399"/>
                </a:solidFill>
                <a:latin typeface="Arial Black"/>
                <a:cs typeface="Arial Black"/>
              </a:rPr>
              <a:t> </a:t>
            </a:r>
            <a:r>
              <a:rPr sz="800" u="heavy" dirty="0">
                <a:solidFill>
                  <a:srgbClr val="003399"/>
                </a:solidFill>
                <a:uFill>
                  <a:solidFill>
                    <a:srgbClr val="009999"/>
                  </a:solidFill>
                </a:uFill>
                <a:latin typeface="Arial Black"/>
                <a:cs typeface="Arial Black"/>
              </a:rPr>
              <a:t> 	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3085" y="6352743"/>
            <a:ext cx="2298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595" dirty="0">
                <a:latin typeface="Wingdings"/>
                <a:cs typeface="Wingdings"/>
              </a:rPr>
              <a:t></a:t>
            </a:r>
            <a:endParaRPr sz="1800">
              <a:latin typeface="Wingdings"/>
              <a:cs typeface="Wingding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45844" y="4653533"/>
            <a:ext cx="689355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What </a:t>
            </a:r>
            <a:r>
              <a:rPr sz="2400" spc="-5" dirty="0">
                <a:latin typeface="Arial"/>
                <a:cs typeface="Arial"/>
              </a:rPr>
              <a:t>does </a:t>
            </a:r>
            <a:r>
              <a:rPr sz="2400" b="1" spc="-5" dirty="0">
                <a:latin typeface="Courier New"/>
                <a:cs typeface="Courier New"/>
              </a:rPr>
              <a:t>str</a:t>
            </a:r>
            <a:r>
              <a:rPr sz="2400" b="1" spc="-755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Arial"/>
                <a:cs typeface="Arial"/>
              </a:rPr>
              <a:t>contain </a:t>
            </a:r>
            <a:r>
              <a:rPr sz="2400" dirty="0">
                <a:latin typeface="Arial"/>
                <a:cs typeface="Arial"/>
              </a:rPr>
              <a:t>after the </a:t>
            </a:r>
            <a:r>
              <a:rPr sz="2400" spc="-5" dirty="0">
                <a:latin typeface="Arial"/>
                <a:cs typeface="Arial"/>
              </a:rPr>
              <a:t>above statement?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48158"/>
            <a:ext cx="3886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0" dirty="0"/>
              <a:t>Constructors</a:t>
            </a:r>
            <a:r>
              <a:rPr spc="-85" dirty="0"/>
              <a:t> </a:t>
            </a:r>
            <a:r>
              <a:rPr spc="55" dirty="0"/>
              <a:t>(1/2)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1016253"/>
            <a:ext cx="7484109" cy="1565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When a class </a:t>
            </a:r>
            <a:r>
              <a:rPr sz="1800" spc="-5" dirty="0">
                <a:latin typeface="Arial"/>
                <a:cs typeface="Arial"/>
              </a:rPr>
              <a:t>(eg: String, Scanner) </a:t>
            </a:r>
            <a:r>
              <a:rPr sz="2400" spc="-5" dirty="0">
                <a:latin typeface="Arial"/>
                <a:cs typeface="Arial"/>
              </a:rPr>
              <a:t>provides instance  methods, it expects instances </a:t>
            </a:r>
            <a:r>
              <a:rPr sz="2400" dirty="0">
                <a:latin typeface="Arial"/>
                <a:cs typeface="Arial"/>
              </a:rPr>
              <a:t>(objects) to be created  from that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class</a:t>
            </a:r>
            <a:endParaRPr sz="2400">
              <a:latin typeface="Arial"/>
              <a:cs typeface="Arial"/>
            </a:endParaRPr>
          </a:p>
          <a:p>
            <a:pPr marL="354965" indent="-342900">
              <a:lnSpc>
                <a:spcPct val="100000"/>
              </a:lnSpc>
              <a:spcBef>
                <a:spcPts val="60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This requires a special method called a</a:t>
            </a:r>
            <a:r>
              <a:rPr sz="2400" spc="100" dirty="0"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constructor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3068" y="187452"/>
            <a:ext cx="523240" cy="1412875"/>
          </a:xfrm>
          <a:custGeom>
            <a:avLst/>
            <a:gdLst/>
            <a:ahLst/>
            <a:cxnLst/>
            <a:rect l="l" t="t" r="r" b="b"/>
            <a:pathLst>
              <a:path w="523240" h="1412875">
                <a:moveTo>
                  <a:pt x="522731" y="0"/>
                </a:moveTo>
                <a:lnTo>
                  <a:pt x="0" y="0"/>
                </a:lnTo>
                <a:lnTo>
                  <a:pt x="0" y="1412748"/>
                </a:lnTo>
                <a:lnTo>
                  <a:pt x="522731" y="1412748"/>
                </a:lnTo>
                <a:lnTo>
                  <a:pt x="522731" y="0"/>
                </a:lnTo>
                <a:close/>
              </a:path>
            </a:pathLst>
          </a:custGeom>
          <a:solidFill>
            <a:srgbClr val="FFCC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44239" y="399123"/>
            <a:ext cx="381000" cy="11226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990"/>
              </a:lnSpc>
            </a:pPr>
            <a:r>
              <a:rPr sz="2800" spc="5" dirty="0">
                <a:solidFill>
                  <a:srgbClr val="C00000"/>
                </a:solidFill>
                <a:latin typeface="Trebuchet MS"/>
                <a:cs typeface="Trebuchet MS"/>
              </a:rPr>
              <a:t>3.</a:t>
            </a:r>
            <a:r>
              <a:rPr sz="2800" spc="-9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800" spc="-20" dirty="0">
                <a:solidFill>
                  <a:srgbClr val="000099"/>
                </a:solidFill>
                <a:latin typeface="Trebuchet MS"/>
                <a:cs typeface="Trebuchet MS"/>
              </a:rPr>
              <a:t>OOP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419479" y="2743200"/>
            <a:ext cx="5181976" cy="8092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600325" y="4267200"/>
            <a:ext cx="6010275" cy="685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590800" y="5029200"/>
            <a:ext cx="6019800" cy="5334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57962" y="3582161"/>
            <a:ext cx="4953000" cy="338455"/>
          </a:xfrm>
          <a:prstGeom prst="rect">
            <a:avLst/>
          </a:prstGeom>
          <a:solidFill>
            <a:srgbClr val="B8FFFF"/>
          </a:solidFill>
          <a:ln w="25907">
            <a:solidFill>
              <a:srgbClr val="AAC9C9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75"/>
              </a:spcBef>
            </a:pPr>
            <a:r>
              <a:rPr sz="1600" b="1" spc="-5" dirty="0">
                <a:latin typeface="Courier New"/>
                <a:cs typeface="Courier New"/>
              </a:rPr>
              <a:t>Scanner sc = </a:t>
            </a:r>
            <a:r>
              <a:rPr sz="1600" b="1" spc="-5" dirty="0">
                <a:solidFill>
                  <a:srgbClr val="C00000"/>
                </a:solidFill>
                <a:latin typeface="Courier New"/>
                <a:cs typeface="Courier New"/>
              </a:rPr>
              <a:t>new</a:t>
            </a:r>
            <a:r>
              <a:rPr sz="1600" b="1" spc="4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Scanner(System.in);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7962" y="5563361"/>
            <a:ext cx="6248400" cy="585470"/>
          </a:xfrm>
          <a:prstGeom prst="rect">
            <a:avLst/>
          </a:prstGeom>
          <a:solidFill>
            <a:srgbClr val="FFFFCC"/>
          </a:solidFill>
          <a:ln w="25907">
            <a:solidFill>
              <a:srgbClr val="AAC9C9"/>
            </a:solidFill>
          </a:ln>
        </p:spPr>
        <p:txBody>
          <a:bodyPr vert="horz" wrap="square" lIns="0" tIns="2286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80"/>
              </a:spcBef>
            </a:pPr>
            <a:r>
              <a:rPr sz="1600" b="1" spc="-5" dirty="0">
                <a:latin typeface="Courier New"/>
                <a:cs typeface="Courier New"/>
              </a:rPr>
              <a:t>String str1 = </a:t>
            </a:r>
            <a:r>
              <a:rPr sz="1600" b="1" spc="-5" dirty="0">
                <a:solidFill>
                  <a:srgbClr val="C00000"/>
                </a:solidFill>
                <a:latin typeface="Courier New"/>
                <a:cs typeface="Courier New"/>
              </a:rPr>
              <a:t>new</a:t>
            </a:r>
            <a:r>
              <a:rPr sz="1600" b="1" spc="4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String();</a:t>
            </a:r>
            <a:endParaRPr sz="1600">
              <a:latin typeface="Courier New"/>
              <a:cs typeface="Courier New"/>
            </a:endParaRPr>
          </a:p>
          <a:p>
            <a:pPr marL="9017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String str2 = </a:t>
            </a:r>
            <a:r>
              <a:rPr sz="1600" b="1" spc="-5" dirty="0">
                <a:solidFill>
                  <a:srgbClr val="C00000"/>
                </a:solidFill>
                <a:latin typeface="Courier New"/>
                <a:cs typeface="Courier New"/>
              </a:rPr>
              <a:t>new </a:t>
            </a:r>
            <a:r>
              <a:rPr sz="1600" b="1" spc="-5" dirty="0">
                <a:latin typeface="Courier New"/>
                <a:cs typeface="Courier New"/>
              </a:rPr>
              <a:t>String("To be or not to</a:t>
            </a:r>
            <a:r>
              <a:rPr sz="1600" b="1" spc="7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be?");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81761" y="3963161"/>
            <a:ext cx="2133600" cy="1600200"/>
            <a:chOff x="381761" y="3963161"/>
            <a:chExt cx="2133600" cy="1600200"/>
          </a:xfrm>
        </p:grpSpPr>
        <p:sp>
          <p:nvSpPr>
            <p:cNvPr id="12" name="object 12"/>
            <p:cNvSpPr/>
            <p:nvPr/>
          </p:nvSpPr>
          <p:spPr>
            <a:xfrm>
              <a:off x="1745107" y="3963161"/>
              <a:ext cx="617855" cy="1600200"/>
            </a:xfrm>
            <a:custGeom>
              <a:avLst/>
              <a:gdLst/>
              <a:ahLst/>
              <a:cxnLst/>
              <a:rect l="l" t="t" r="r" b="b"/>
              <a:pathLst>
                <a:path w="617855" h="1600200">
                  <a:moveTo>
                    <a:pt x="465455" y="0"/>
                  </a:moveTo>
                  <a:lnTo>
                    <a:pt x="360934" y="36195"/>
                  </a:lnTo>
                  <a:lnTo>
                    <a:pt x="358140" y="41910"/>
                  </a:lnTo>
                  <a:lnTo>
                    <a:pt x="360045" y="47117"/>
                  </a:lnTo>
                  <a:lnTo>
                    <a:pt x="361823" y="52197"/>
                  </a:lnTo>
                  <a:lnTo>
                    <a:pt x="367411" y="54991"/>
                  </a:lnTo>
                  <a:lnTo>
                    <a:pt x="421170" y="36334"/>
                  </a:lnTo>
                  <a:lnTo>
                    <a:pt x="762" y="526923"/>
                  </a:lnTo>
                  <a:lnTo>
                    <a:pt x="15748" y="539877"/>
                  </a:lnTo>
                  <a:lnTo>
                    <a:pt x="436372" y="49187"/>
                  </a:lnTo>
                  <a:lnTo>
                    <a:pt x="427101" y="99949"/>
                  </a:lnTo>
                  <a:lnTo>
                    <a:pt x="426085" y="105283"/>
                  </a:lnTo>
                  <a:lnTo>
                    <a:pt x="429641" y="110490"/>
                  </a:lnTo>
                  <a:lnTo>
                    <a:pt x="435102" y="111379"/>
                  </a:lnTo>
                  <a:lnTo>
                    <a:pt x="440436" y="112395"/>
                  </a:lnTo>
                  <a:lnTo>
                    <a:pt x="445643" y="108839"/>
                  </a:lnTo>
                  <a:lnTo>
                    <a:pt x="446532" y="103505"/>
                  </a:lnTo>
                  <a:lnTo>
                    <a:pt x="463918" y="8382"/>
                  </a:lnTo>
                  <a:lnTo>
                    <a:pt x="465455" y="0"/>
                  </a:lnTo>
                  <a:close/>
                </a:path>
                <a:path w="617855" h="1600200">
                  <a:moveTo>
                    <a:pt x="617855" y="1600200"/>
                  </a:moveTo>
                  <a:lnTo>
                    <a:pt x="617207" y="1589405"/>
                  </a:lnTo>
                  <a:lnTo>
                    <a:pt x="611632" y="1495171"/>
                  </a:lnTo>
                  <a:lnTo>
                    <a:pt x="611251" y="1489710"/>
                  </a:lnTo>
                  <a:lnTo>
                    <a:pt x="606552" y="1485646"/>
                  </a:lnTo>
                  <a:lnTo>
                    <a:pt x="601091" y="1485900"/>
                  </a:lnTo>
                  <a:lnTo>
                    <a:pt x="595630" y="1486281"/>
                  </a:lnTo>
                  <a:lnTo>
                    <a:pt x="591439" y="1490980"/>
                  </a:lnTo>
                  <a:lnTo>
                    <a:pt x="591820" y="1496441"/>
                  </a:lnTo>
                  <a:lnTo>
                    <a:pt x="594855" y="1547876"/>
                  </a:lnTo>
                  <a:lnTo>
                    <a:pt x="16510" y="680339"/>
                  </a:lnTo>
                  <a:lnTo>
                    <a:pt x="0" y="691261"/>
                  </a:lnTo>
                  <a:lnTo>
                    <a:pt x="578218" y="1558734"/>
                  </a:lnTo>
                  <a:lnTo>
                    <a:pt x="527177" y="1533779"/>
                  </a:lnTo>
                  <a:lnTo>
                    <a:pt x="521208" y="1535811"/>
                  </a:lnTo>
                  <a:lnTo>
                    <a:pt x="516382" y="1545717"/>
                  </a:lnTo>
                  <a:lnTo>
                    <a:pt x="518414" y="1551686"/>
                  </a:lnTo>
                  <a:lnTo>
                    <a:pt x="523367" y="1553972"/>
                  </a:lnTo>
                  <a:lnTo>
                    <a:pt x="617855" y="160020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1761" y="4344161"/>
              <a:ext cx="2133600" cy="307975"/>
            </a:xfrm>
            <a:custGeom>
              <a:avLst/>
              <a:gdLst/>
              <a:ahLst/>
              <a:cxnLst/>
              <a:rect l="l" t="t" r="r" b="b"/>
              <a:pathLst>
                <a:path w="2133600" h="307975">
                  <a:moveTo>
                    <a:pt x="2133600" y="0"/>
                  </a:moveTo>
                  <a:lnTo>
                    <a:pt x="0" y="0"/>
                  </a:lnTo>
                  <a:lnTo>
                    <a:pt x="0" y="307848"/>
                  </a:lnTo>
                  <a:lnTo>
                    <a:pt x="2133600" y="307848"/>
                  </a:lnTo>
                  <a:lnTo>
                    <a:pt x="2133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81761" y="4344161"/>
            <a:ext cx="2133600" cy="307975"/>
          </a:xfrm>
          <a:prstGeom prst="rect">
            <a:avLst/>
          </a:prstGeom>
          <a:ln w="19812">
            <a:solidFill>
              <a:srgbClr val="6F2F9F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20"/>
              </a:spcBef>
            </a:pPr>
            <a:r>
              <a:rPr sz="1400" spc="-5" dirty="0">
                <a:latin typeface="Arial"/>
                <a:cs typeface="Arial"/>
              </a:rPr>
              <a:t>Note </a:t>
            </a:r>
            <a:r>
              <a:rPr sz="1400" dirty="0">
                <a:latin typeface="Arial"/>
                <a:cs typeface="Arial"/>
              </a:rPr>
              <a:t>the </a:t>
            </a:r>
            <a:r>
              <a:rPr sz="1400" spc="-5" dirty="0">
                <a:latin typeface="Arial"/>
                <a:cs typeface="Arial"/>
              </a:rPr>
              <a:t>keyword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C00000"/>
                </a:solidFill>
                <a:latin typeface="Arial"/>
                <a:cs typeface="Arial"/>
              </a:rPr>
              <a:t>new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</a:t>
            </a:r>
            <a:r>
              <a:rPr spc="5" dirty="0"/>
              <a:t>Lecture </a:t>
            </a:r>
            <a:r>
              <a:rPr dirty="0"/>
              <a:t>: OOP Part</a:t>
            </a:r>
            <a:r>
              <a:rPr spc="-190" dirty="0"/>
              <a:t> </a:t>
            </a:r>
            <a:r>
              <a:rPr dirty="0"/>
              <a:t>1]  </a:t>
            </a:r>
            <a:r>
              <a:rPr spc="-130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r>
              <a:rPr spc="-5" dirty="0"/>
              <a:t>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48158"/>
            <a:ext cx="3886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0" dirty="0"/>
              <a:t>Constructors</a:t>
            </a:r>
            <a:r>
              <a:rPr spc="-80" dirty="0"/>
              <a:t> </a:t>
            </a:r>
            <a:r>
              <a:rPr spc="55" dirty="0"/>
              <a:t>(2/2)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0739" y="940434"/>
            <a:ext cx="7214870" cy="909319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95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keyword </a:t>
            </a:r>
            <a:r>
              <a:rPr sz="2400" spc="-5" dirty="0">
                <a:solidFill>
                  <a:srgbClr val="C00000"/>
                </a:solidFill>
                <a:latin typeface="Arial"/>
                <a:cs typeface="Arial"/>
              </a:rPr>
              <a:t>new </a:t>
            </a:r>
            <a:r>
              <a:rPr sz="2400" spc="-5" dirty="0">
                <a:latin typeface="Arial"/>
                <a:cs typeface="Arial"/>
              </a:rPr>
              <a:t>is used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invoke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7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constructor</a:t>
            </a:r>
            <a:endParaRPr sz="24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60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Exception: 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String</a:t>
            </a:r>
            <a:r>
              <a:rPr sz="2400" spc="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class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3068" y="187452"/>
            <a:ext cx="523240" cy="1412875"/>
          </a:xfrm>
          <a:custGeom>
            <a:avLst/>
            <a:gdLst/>
            <a:ahLst/>
            <a:cxnLst/>
            <a:rect l="l" t="t" r="r" b="b"/>
            <a:pathLst>
              <a:path w="523240" h="1412875">
                <a:moveTo>
                  <a:pt x="522731" y="0"/>
                </a:moveTo>
                <a:lnTo>
                  <a:pt x="0" y="0"/>
                </a:lnTo>
                <a:lnTo>
                  <a:pt x="0" y="1412748"/>
                </a:lnTo>
                <a:lnTo>
                  <a:pt x="522731" y="1412748"/>
                </a:lnTo>
                <a:lnTo>
                  <a:pt x="522731" y="0"/>
                </a:lnTo>
                <a:close/>
              </a:path>
            </a:pathLst>
          </a:custGeom>
          <a:solidFill>
            <a:srgbClr val="FFCC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44239" y="399123"/>
            <a:ext cx="381000" cy="11226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990"/>
              </a:lnSpc>
            </a:pPr>
            <a:r>
              <a:rPr sz="2800" spc="5" dirty="0">
                <a:solidFill>
                  <a:srgbClr val="C00000"/>
                </a:solidFill>
                <a:latin typeface="Trebuchet MS"/>
                <a:cs typeface="Trebuchet MS"/>
              </a:rPr>
              <a:t>3.</a:t>
            </a:r>
            <a:r>
              <a:rPr sz="2800" spc="-9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800" spc="-20" dirty="0">
                <a:solidFill>
                  <a:srgbClr val="000099"/>
                </a:solidFill>
                <a:latin typeface="Trebuchet MS"/>
                <a:cs typeface="Trebuchet MS"/>
              </a:rPr>
              <a:t>OOP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1361" y="1981961"/>
            <a:ext cx="6248400" cy="585470"/>
          </a:xfrm>
          <a:prstGeom prst="rect">
            <a:avLst/>
          </a:prstGeom>
          <a:solidFill>
            <a:srgbClr val="FFFFCC"/>
          </a:solidFill>
          <a:ln w="25907">
            <a:solidFill>
              <a:srgbClr val="AAC9C9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75"/>
              </a:spcBef>
            </a:pPr>
            <a:r>
              <a:rPr sz="1600" b="1" spc="-5" dirty="0">
                <a:latin typeface="Courier New"/>
                <a:cs typeface="Courier New"/>
              </a:rPr>
              <a:t>String str1 = </a:t>
            </a:r>
            <a:r>
              <a:rPr sz="1600" b="1" spc="-5" dirty="0">
                <a:solidFill>
                  <a:srgbClr val="C00000"/>
                </a:solidFill>
                <a:latin typeface="Courier New"/>
                <a:cs typeface="Courier New"/>
              </a:rPr>
              <a:t>new</a:t>
            </a:r>
            <a:r>
              <a:rPr sz="1600" b="1" spc="3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String();</a:t>
            </a:r>
            <a:endParaRPr sz="1600">
              <a:latin typeface="Courier New"/>
              <a:cs typeface="Courier New"/>
            </a:endParaRPr>
          </a:p>
          <a:p>
            <a:pPr marL="90805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String str2 = </a:t>
            </a:r>
            <a:r>
              <a:rPr sz="1600" b="1" spc="-5" dirty="0">
                <a:solidFill>
                  <a:srgbClr val="C00000"/>
                </a:solidFill>
                <a:latin typeface="Courier New"/>
                <a:cs typeface="Courier New"/>
              </a:rPr>
              <a:t>new </a:t>
            </a:r>
            <a:r>
              <a:rPr sz="1600" b="1" spc="-5" dirty="0">
                <a:latin typeface="Courier New"/>
                <a:cs typeface="Courier New"/>
              </a:rPr>
              <a:t>String("To be or not to</a:t>
            </a:r>
            <a:r>
              <a:rPr sz="1600" b="1" spc="6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be?");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156204" y="2604516"/>
            <a:ext cx="317500" cy="585470"/>
            <a:chOff x="3156204" y="2604516"/>
            <a:chExt cx="317500" cy="585470"/>
          </a:xfrm>
        </p:grpSpPr>
        <p:sp>
          <p:nvSpPr>
            <p:cNvPr id="8" name="object 8"/>
            <p:cNvSpPr/>
            <p:nvPr/>
          </p:nvSpPr>
          <p:spPr>
            <a:xfrm>
              <a:off x="3162300" y="2610612"/>
              <a:ext cx="304800" cy="573405"/>
            </a:xfrm>
            <a:custGeom>
              <a:avLst/>
              <a:gdLst/>
              <a:ahLst/>
              <a:cxnLst/>
              <a:rect l="l" t="t" r="r" b="b"/>
              <a:pathLst>
                <a:path w="304800" h="573405">
                  <a:moveTo>
                    <a:pt x="152400" y="0"/>
                  </a:moveTo>
                  <a:lnTo>
                    <a:pt x="0" y="152400"/>
                  </a:lnTo>
                  <a:lnTo>
                    <a:pt x="76200" y="152400"/>
                  </a:lnTo>
                  <a:lnTo>
                    <a:pt x="76200" y="420624"/>
                  </a:lnTo>
                  <a:lnTo>
                    <a:pt x="0" y="420624"/>
                  </a:lnTo>
                  <a:lnTo>
                    <a:pt x="152400" y="573024"/>
                  </a:lnTo>
                  <a:lnTo>
                    <a:pt x="304800" y="420624"/>
                  </a:lnTo>
                  <a:lnTo>
                    <a:pt x="228600" y="420624"/>
                  </a:lnTo>
                  <a:lnTo>
                    <a:pt x="228600" y="152400"/>
                  </a:lnTo>
                  <a:lnTo>
                    <a:pt x="3048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AF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62300" y="2610612"/>
              <a:ext cx="304800" cy="573405"/>
            </a:xfrm>
            <a:custGeom>
              <a:avLst/>
              <a:gdLst/>
              <a:ahLst/>
              <a:cxnLst/>
              <a:rect l="l" t="t" r="r" b="b"/>
              <a:pathLst>
                <a:path w="304800" h="573405">
                  <a:moveTo>
                    <a:pt x="0" y="152400"/>
                  </a:moveTo>
                  <a:lnTo>
                    <a:pt x="152400" y="0"/>
                  </a:lnTo>
                  <a:lnTo>
                    <a:pt x="304800" y="152400"/>
                  </a:lnTo>
                  <a:lnTo>
                    <a:pt x="228600" y="152400"/>
                  </a:lnTo>
                  <a:lnTo>
                    <a:pt x="228600" y="420624"/>
                  </a:lnTo>
                  <a:lnTo>
                    <a:pt x="304800" y="420624"/>
                  </a:lnTo>
                  <a:lnTo>
                    <a:pt x="152400" y="573024"/>
                  </a:lnTo>
                  <a:lnTo>
                    <a:pt x="0" y="420624"/>
                  </a:lnTo>
                  <a:lnTo>
                    <a:pt x="76200" y="420624"/>
                  </a:lnTo>
                  <a:lnTo>
                    <a:pt x="76200" y="152400"/>
                  </a:lnTo>
                  <a:lnTo>
                    <a:pt x="0" y="152400"/>
                  </a:lnTo>
                  <a:close/>
                </a:path>
              </a:pathLst>
            </a:custGeom>
            <a:ln w="12192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544061" y="2740278"/>
            <a:ext cx="2362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latin typeface="Arial"/>
                <a:cs typeface="Arial"/>
              </a:rPr>
              <a:t>Somewhat equivalent</a:t>
            </a:r>
            <a:r>
              <a:rPr sz="1800" i="1" spc="-30" dirty="0">
                <a:latin typeface="Arial"/>
                <a:cs typeface="Arial"/>
              </a:rPr>
              <a:t> </a:t>
            </a:r>
            <a:r>
              <a:rPr sz="1800" i="1" spc="-5" dirty="0">
                <a:latin typeface="Arial"/>
                <a:cs typeface="Arial"/>
              </a:rPr>
              <a:t>*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0739" y="4141470"/>
            <a:ext cx="6748780" cy="1306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String </a:t>
            </a:r>
            <a:r>
              <a:rPr sz="2400" spc="-5" dirty="0">
                <a:latin typeface="Arial"/>
                <a:cs typeface="Arial"/>
              </a:rPr>
              <a:t>is a special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class</a:t>
            </a:r>
            <a:endParaRPr sz="2400">
              <a:latin typeface="Arial"/>
              <a:cs typeface="Arial"/>
            </a:endParaRPr>
          </a:p>
          <a:p>
            <a:pPr marL="812800" lvl="1" indent="-343535">
              <a:lnSpc>
                <a:spcPct val="100000"/>
              </a:lnSpc>
              <a:buClr>
                <a:srgbClr val="009999"/>
              </a:buClr>
              <a:buSzPct val="65000"/>
              <a:buFont typeface="Wingdings"/>
              <a:buChar char=""/>
              <a:tabLst>
                <a:tab pos="812800" algn="l"/>
                <a:tab pos="813435" algn="l"/>
              </a:tabLst>
            </a:pPr>
            <a:r>
              <a:rPr sz="2000" dirty="0">
                <a:latin typeface="Arial"/>
                <a:cs typeface="Arial"/>
              </a:rPr>
              <a:t>Has an alternative syntax to construct a String</a:t>
            </a:r>
            <a:r>
              <a:rPr sz="2000" spc="-1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object</a:t>
            </a:r>
            <a:endParaRPr sz="2000">
              <a:latin typeface="Arial"/>
              <a:cs typeface="Arial"/>
            </a:endParaRPr>
          </a:p>
          <a:p>
            <a:pPr marL="812800" lvl="1" indent="-343535">
              <a:lnSpc>
                <a:spcPct val="100000"/>
              </a:lnSpc>
              <a:buClr>
                <a:srgbClr val="009999"/>
              </a:buClr>
              <a:buSzPct val="65000"/>
              <a:buFont typeface="Wingdings"/>
              <a:buChar char=""/>
              <a:tabLst>
                <a:tab pos="812800" algn="l"/>
                <a:tab pos="813435" algn="l"/>
              </a:tabLst>
            </a:pPr>
            <a:r>
              <a:rPr sz="2000" dirty="0">
                <a:latin typeface="Arial"/>
                <a:cs typeface="Arial"/>
              </a:rPr>
              <a:t>String objects are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immutable</a:t>
            </a:r>
            <a:endParaRPr sz="2000">
              <a:latin typeface="Arial"/>
              <a:cs typeface="Arial"/>
            </a:endParaRPr>
          </a:p>
          <a:p>
            <a:pPr marL="812800" lvl="1" indent="-343535">
              <a:lnSpc>
                <a:spcPct val="100000"/>
              </a:lnSpc>
              <a:buClr>
                <a:srgbClr val="009999"/>
              </a:buClr>
              <a:buSzPct val="65000"/>
              <a:buFont typeface="Wingdings"/>
              <a:buChar char=""/>
              <a:tabLst>
                <a:tab pos="812800" algn="l"/>
                <a:tab pos="813435" algn="l"/>
              </a:tabLst>
            </a:pPr>
            <a:r>
              <a:rPr sz="2000" dirty="0">
                <a:latin typeface="Arial"/>
                <a:cs typeface="Arial"/>
              </a:rPr>
              <a:t>More about Strings (to be explored in</a:t>
            </a:r>
            <a:r>
              <a:rPr sz="2000" spc="-1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tutorial)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058661" y="2897885"/>
            <a:ext cx="2933700" cy="1077595"/>
          </a:xfrm>
          <a:custGeom>
            <a:avLst/>
            <a:gdLst/>
            <a:ahLst/>
            <a:cxnLst/>
            <a:rect l="l" t="t" r="r" b="b"/>
            <a:pathLst>
              <a:path w="2933700" h="1077595">
                <a:moveTo>
                  <a:pt x="2933699" y="0"/>
                </a:moveTo>
                <a:lnTo>
                  <a:pt x="0" y="0"/>
                </a:lnTo>
                <a:lnTo>
                  <a:pt x="0" y="1077468"/>
                </a:lnTo>
                <a:lnTo>
                  <a:pt x="2933699" y="1077468"/>
                </a:lnTo>
                <a:lnTo>
                  <a:pt x="29336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978408" y="2884932"/>
          <a:ext cx="7999093" cy="11577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3285"/>
                <a:gridCol w="610235"/>
                <a:gridCol w="244475"/>
                <a:gridCol w="487044"/>
                <a:gridCol w="366394"/>
                <a:gridCol w="365760"/>
                <a:gridCol w="487680"/>
                <a:gridCol w="365760"/>
                <a:gridCol w="1254760"/>
                <a:gridCol w="2933700"/>
              </a:tblGrid>
              <a:tr h="347472">
                <a:tc gridSpan="9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AAC9C9"/>
                      </a:solidFill>
                      <a:prstDash val="solid"/>
                    </a:lnR>
                    <a:lnB w="28575">
                      <a:solidFill>
                        <a:srgbClr val="AAC9C9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pos="318135" algn="l"/>
                        </a:tabLst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*	Just for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today’s</a:t>
                      </a:r>
                      <a:r>
                        <a:rPr sz="1600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purpose.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AAC9C9"/>
                      </a:solidFill>
                      <a:prstDash val="solid"/>
                    </a:lnL>
                    <a:lnR w="28575">
                      <a:solidFill>
                        <a:srgbClr val="AAC9C9"/>
                      </a:solidFill>
                      <a:prstDash val="solid"/>
                    </a:lnR>
                    <a:lnT w="28575">
                      <a:solidFill>
                        <a:srgbClr val="AAC9C9"/>
                      </a:solidFill>
                      <a:prstDash val="solid"/>
                    </a:lnT>
                    <a:lnB w="28575">
                      <a:solidFill>
                        <a:srgbClr val="AAC9C9"/>
                      </a:solidFill>
                      <a:prstDash val="solid"/>
                    </a:lnB>
                  </a:tcPr>
                </a:tc>
              </a:tr>
              <a:tr h="585215">
                <a:tc>
                  <a:txBody>
                    <a:bodyPr/>
                    <a:lstStyle/>
                    <a:p>
                      <a:pPr marL="90805" marR="5397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1600" b="1" dirty="0"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600" b="1" spc="-5" dirty="0"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600" b="1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600" b="1" spc="-5" dirty="0">
                          <a:latin typeface="Courier New"/>
                          <a:cs typeface="Courier New"/>
                        </a:rPr>
                        <a:t>ng  S</a:t>
                      </a:r>
                      <a:r>
                        <a:rPr sz="1600" b="1" dirty="0"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600" b="1" spc="-5" dirty="0"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600" b="1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600" b="1" spc="-5" dirty="0">
                          <a:latin typeface="Courier New"/>
                          <a:cs typeface="Courier New"/>
                        </a:rPr>
                        <a:t>ng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L w="28575">
                      <a:solidFill>
                        <a:srgbClr val="AAC9C9"/>
                      </a:solidFill>
                      <a:prstDash val="solid"/>
                    </a:lnL>
                    <a:lnT w="28575">
                      <a:solidFill>
                        <a:srgbClr val="AAC9C9"/>
                      </a:solidFill>
                      <a:prstDash val="solid"/>
                    </a:lnT>
                    <a:lnB w="28575">
                      <a:solidFill>
                        <a:srgbClr val="AAC9C9"/>
                      </a:solidFill>
                      <a:prstDash val="solid"/>
                    </a:lnB>
                    <a:solidFill>
                      <a:srgbClr val="B8FFFF"/>
                    </a:solidFill>
                  </a:tcPr>
                </a:tc>
                <a:tc>
                  <a:txBody>
                    <a:bodyPr/>
                    <a:lstStyle/>
                    <a:p>
                      <a:pPr marL="61594" marR="5397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1600" b="1" dirty="0"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600" b="1" spc="-5" dirty="0">
                          <a:latin typeface="Courier New"/>
                          <a:cs typeface="Courier New"/>
                        </a:rPr>
                        <a:t>r1  s</a:t>
                      </a:r>
                      <a:r>
                        <a:rPr sz="1600" b="1" dirty="0"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600" b="1" spc="-5" dirty="0">
                          <a:latin typeface="Courier New"/>
                          <a:cs typeface="Courier New"/>
                        </a:rPr>
                        <a:t>r2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T w="28575">
                      <a:solidFill>
                        <a:srgbClr val="AAC9C9"/>
                      </a:solidFill>
                      <a:prstDash val="solid"/>
                    </a:lnT>
                    <a:lnB w="28575">
                      <a:solidFill>
                        <a:srgbClr val="AAC9C9"/>
                      </a:solidFill>
                      <a:prstDash val="solid"/>
                    </a:lnB>
                    <a:solidFill>
                      <a:srgbClr val="B8FFFF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=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=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T w="28575">
                      <a:solidFill>
                        <a:srgbClr val="AAC9C9"/>
                      </a:solidFill>
                      <a:prstDash val="solid"/>
                    </a:lnT>
                    <a:lnB w="28575">
                      <a:solidFill>
                        <a:srgbClr val="AAC9C9"/>
                      </a:solidFill>
                      <a:prstDash val="solid"/>
                    </a:lnB>
                    <a:solidFill>
                      <a:srgbClr val="B8FFFF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"";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"To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T w="28575">
                      <a:solidFill>
                        <a:srgbClr val="AAC9C9"/>
                      </a:solidFill>
                      <a:prstDash val="solid"/>
                    </a:lnT>
                    <a:lnB w="28575">
                      <a:solidFill>
                        <a:srgbClr val="AAC9C9"/>
                      </a:solidFill>
                      <a:prstDash val="solid"/>
                    </a:lnB>
                    <a:solidFill>
                      <a:srgbClr val="B8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be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3175" marB="0">
                    <a:lnT w="28575">
                      <a:solidFill>
                        <a:srgbClr val="AAC9C9"/>
                      </a:solidFill>
                      <a:prstDash val="solid"/>
                    </a:lnT>
                    <a:lnB w="28575">
                      <a:solidFill>
                        <a:srgbClr val="AAC9C9"/>
                      </a:solidFill>
                      <a:prstDash val="solid"/>
                    </a:lnB>
                    <a:solidFill>
                      <a:srgbClr val="B8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Courier New"/>
                          <a:cs typeface="Courier New"/>
                        </a:rPr>
                        <a:t>or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3175" marB="0">
                    <a:lnT w="28575">
                      <a:solidFill>
                        <a:srgbClr val="AAC9C9"/>
                      </a:solidFill>
                      <a:prstDash val="solid"/>
                    </a:lnT>
                    <a:lnB w="28575">
                      <a:solidFill>
                        <a:srgbClr val="AAC9C9"/>
                      </a:solidFill>
                      <a:prstDash val="solid"/>
                    </a:lnB>
                    <a:solidFill>
                      <a:srgbClr val="B8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not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3175" marB="0">
                    <a:lnT w="28575">
                      <a:solidFill>
                        <a:srgbClr val="AAC9C9"/>
                      </a:solidFill>
                      <a:prstDash val="solid"/>
                    </a:lnT>
                    <a:lnB w="28575">
                      <a:solidFill>
                        <a:srgbClr val="AAC9C9"/>
                      </a:solidFill>
                      <a:prstDash val="solid"/>
                    </a:lnB>
                    <a:solidFill>
                      <a:srgbClr val="B8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Courier New"/>
                          <a:cs typeface="Courier New"/>
                        </a:rPr>
                        <a:t>to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3175" marB="0">
                    <a:lnT w="28575">
                      <a:solidFill>
                        <a:srgbClr val="AAC9C9"/>
                      </a:solidFill>
                      <a:prstDash val="solid"/>
                    </a:lnT>
                    <a:lnB w="28575">
                      <a:solidFill>
                        <a:srgbClr val="AAC9C9"/>
                      </a:solidFill>
                      <a:prstDash val="solid"/>
                    </a:lnB>
                    <a:solidFill>
                      <a:srgbClr val="B8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be?";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3175" marB="0">
                    <a:lnR w="28575">
                      <a:solidFill>
                        <a:srgbClr val="AAC9C9"/>
                      </a:solidFill>
                      <a:prstDash val="solid"/>
                    </a:lnR>
                    <a:lnT w="28575">
                      <a:solidFill>
                        <a:srgbClr val="AAC9C9"/>
                      </a:solidFill>
                      <a:prstDash val="solid"/>
                    </a:lnT>
                    <a:lnB w="28575">
                      <a:solidFill>
                        <a:srgbClr val="AAC9C9"/>
                      </a:solidFill>
                      <a:prstDash val="solid"/>
                    </a:lnB>
                    <a:solidFill>
                      <a:srgbClr val="B8FFFF"/>
                    </a:solidFill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ts val="1425"/>
                        </a:lnSpc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The 2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ways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600" spc="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constructing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318135" marR="562610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a string are not exactly  equivalent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though.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AAC9C9"/>
                      </a:solidFill>
                      <a:prstDash val="solid"/>
                    </a:lnL>
                    <a:lnR w="28575">
                      <a:solidFill>
                        <a:srgbClr val="AAC9C9"/>
                      </a:solidFill>
                      <a:prstDash val="solid"/>
                    </a:lnR>
                    <a:lnT w="28575">
                      <a:solidFill>
                        <a:srgbClr val="AAC9C9"/>
                      </a:solidFill>
                      <a:prstDash val="solid"/>
                    </a:lnT>
                    <a:lnB w="28575">
                      <a:solidFill>
                        <a:srgbClr val="AAC9C9"/>
                      </a:solidFill>
                      <a:prstDash val="solid"/>
                    </a:lnB>
                  </a:tcPr>
                </a:tc>
              </a:tr>
              <a:tr h="144780">
                <a:tc gridSpan="9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AAC9C9"/>
                      </a:solidFill>
                      <a:prstDash val="solid"/>
                    </a:lnR>
                    <a:lnT w="28575">
                      <a:solidFill>
                        <a:srgbClr val="AAC9C9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AAC9C9"/>
                      </a:solidFill>
                      <a:prstDash val="solid"/>
                    </a:lnL>
                    <a:lnR w="28575">
                      <a:solidFill>
                        <a:srgbClr val="AAC9C9"/>
                      </a:solidFill>
                      <a:prstDash val="solid"/>
                    </a:lnR>
                    <a:lnT w="28575">
                      <a:solidFill>
                        <a:srgbClr val="AAC9C9"/>
                      </a:solidFill>
                      <a:prstDash val="solid"/>
                    </a:lnT>
                    <a:lnB w="28575">
                      <a:solidFill>
                        <a:srgbClr val="AAC9C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</a:t>
            </a:r>
            <a:r>
              <a:rPr spc="5" dirty="0"/>
              <a:t>Lecture </a:t>
            </a:r>
            <a:r>
              <a:rPr dirty="0"/>
              <a:t>: OOP Part</a:t>
            </a:r>
            <a:r>
              <a:rPr spc="-190" dirty="0"/>
              <a:t> </a:t>
            </a:r>
            <a:r>
              <a:rPr dirty="0"/>
              <a:t>1]  </a:t>
            </a:r>
            <a:r>
              <a:rPr spc="-130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r>
              <a:rPr spc="-5" dirty="0"/>
              <a:t>31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48158"/>
            <a:ext cx="24377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Overloading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0739" y="926338"/>
            <a:ext cx="77387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dirty="0">
                <a:latin typeface="Arial"/>
                <a:cs typeface="Arial"/>
              </a:rPr>
              <a:t>Observe that </a:t>
            </a:r>
            <a:r>
              <a:rPr sz="2400" spc="-5" dirty="0">
                <a:latin typeface="Arial"/>
                <a:cs typeface="Arial"/>
              </a:rPr>
              <a:t>some methods have identical </a:t>
            </a:r>
            <a:r>
              <a:rPr sz="2400" dirty="0">
                <a:latin typeface="Arial"/>
                <a:cs typeface="Arial"/>
              </a:rPr>
              <a:t>names, </a:t>
            </a:r>
            <a:r>
              <a:rPr sz="2400" spc="-5" dirty="0">
                <a:latin typeface="Arial"/>
                <a:cs typeface="Arial"/>
              </a:rPr>
              <a:t>but  with different </a:t>
            </a:r>
            <a:r>
              <a:rPr sz="2400" dirty="0">
                <a:latin typeface="Arial"/>
                <a:cs typeface="Arial"/>
              </a:rPr>
              <a:t>parameters. </a:t>
            </a:r>
            <a:r>
              <a:rPr sz="2400" spc="-10" dirty="0">
                <a:latin typeface="Arial"/>
                <a:cs typeface="Arial"/>
              </a:rPr>
              <a:t>This </a:t>
            </a:r>
            <a:r>
              <a:rPr sz="2400" spc="-5" dirty="0">
                <a:latin typeface="Arial"/>
                <a:cs typeface="Arial"/>
              </a:rPr>
              <a:t>is called</a:t>
            </a:r>
            <a:r>
              <a:rPr sz="2400" spc="100" dirty="0"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Arial"/>
                <a:cs typeface="Arial"/>
              </a:rPr>
              <a:t>overloading.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3068" y="187452"/>
            <a:ext cx="523240" cy="1412875"/>
          </a:xfrm>
          <a:custGeom>
            <a:avLst/>
            <a:gdLst/>
            <a:ahLst/>
            <a:cxnLst/>
            <a:rect l="l" t="t" r="r" b="b"/>
            <a:pathLst>
              <a:path w="523240" h="1412875">
                <a:moveTo>
                  <a:pt x="522731" y="0"/>
                </a:moveTo>
                <a:lnTo>
                  <a:pt x="0" y="0"/>
                </a:lnTo>
                <a:lnTo>
                  <a:pt x="0" y="1412748"/>
                </a:lnTo>
                <a:lnTo>
                  <a:pt x="522731" y="1412748"/>
                </a:lnTo>
                <a:lnTo>
                  <a:pt x="522731" y="0"/>
                </a:lnTo>
                <a:close/>
              </a:path>
            </a:pathLst>
          </a:custGeom>
          <a:solidFill>
            <a:srgbClr val="FFCC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44239" y="399123"/>
            <a:ext cx="381000" cy="11226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990"/>
              </a:lnSpc>
            </a:pPr>
            <a:r>
              <a:rPr sz="2800" spc="5" dirty="0">
                <a:solidFill>
                  <a:srgbClr val="C00000"/>
                </a:solidFill>
                <a:latin typeface="Trebuchet MS"/>
                <a:cs typeface="Trebuchet MS"/>
              </a:rPr>
              <a:t>3.</a:t>
            </a:r>
            <a:r>
              <a:rPr sz="2800" spc="-9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800" spc="-20" dirty="0">
                <a:solidFill>
                  <a:srgbClr val="000099"/>
                </a:solidFill>
                <a:latin typeface="Trebuchet MS"/>
                <a:cs typeface="Trebuchet MS"/>
              </a:rPr>
              <a:t>OOP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89340" y="3870959"/>
            <a:ext cx="4582803" cy="838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192961" y="4861559"/>
            <a:ext cx="4646238" cy="6263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4184276" y="5547359"/>
            <a:ext cx="4655185" cy="967105"/>
            <a:chOff x="4184276" y="5547359"/>
            <a:chExt cx="4655185" cy="967105"/>
          </a:xfrm>
        </p:grpSpPr>
        <p:sp>
          <p:nvSpPr>
            <p:cNvPr id="9" name="object 9"/>
            <p:cNvSpPr/>
            <p:nvPr/>
          </p:nvSpPr>
          <p:spPr>
            <a:xfrm>
              <a:off x="4184276" y="5547359"/>
              <a:ext cx="4654923" cy="48767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630161" y="5868161"/>
              <a:ext cx="1524000" cy="646430"/>
            </a:xfrm>
            <a:custGeom>
              <a:avLst/>
              <a:gdLst/>
              <a:ahLst/>
              <a:cxnLst/>
              <a:rect l="l" t="t" r="r" b="b"/>
              <a:pathLst>
                <a:path w="1524000" h="646429">
                  <a:moveTo>
                    <a:pt x="1524000" y="0"/>
                  </a:moveTo>
                  <a:lnTo>
                    <a:pt x="0" y="0"/>
                  </a:lnTo>
                  <a:lnTo>
                    <a:pt x="0" y="646176"/>
                  </a:lnTo>
                  <a:lnTo>
                    <a:pt x="1524000" y="646176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547609" y="3516884"/>
            <a:ext cx="13392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String</a:t>
            </a:r>
            <a:r>
              <a:rPr sz="2000" spc="-9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class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40703" y="1813560"/>
            <a:ext cx="4164696" cy="16672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31140" y="1764030"/>
            <a:ext cx="60579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Math  </a:t>
            </a:r>
            <a:r>
              <a:rPr sz="2000" dirty="0">
                <a:latin typeface="Arial"/>
                <a:cs typeface="Arial"/>
              </a:rPr>
              <a:t>class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30161" y="5868161"/>
            <a:ext cx="1524000" cy="646430"/>
          </a:xfrm>
          <a:prstGeom prst="rect">
            <a:avLst/>
          </a:prstGeom>
          <a:ln w="25907">
            <a:solidFill>
              <a:srgbClr val="AAC9C9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1440" marR="178435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latin typeface="Arial"/>
                <a:cs typeface="Arial"/>
              </a:rPr>
              <a:t>Overloaded  construc</a:t>
            </a:r>
            <a:r>
              <a:rPr sz="1800" spc="5" dirty="0">
                <a:latin typeface="Arial"/>
                <a:cs typeface="Arial"/>
              </a:rPr>
              <a:t>t</a:t>
            </a:r>
            <a:r>
              <a:rPr sz="1800" spc="-5" dirty="0">
                <a:latin typeface="Arial"/>
                <a:cs typeface="Arial"/>
              </a:rPr>
              <a:t>ors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87161" y="2271522"/>
            <a:ext cx="1524000" cy="647700"/>
          </a:xfrm>
          <a:prstGeom prst="rect">
            <a:avLst/>
          </a:prstGeom>
          <a:ln w="25907">
            <a:solidFill>
              <a:srgbClr val="AAC9C9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1440" marR="24511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latin typeface="Arial"/>
                <a:cs typeface="Arial"/>
              </a:rPr>
              <a:t>Overl</a:t>
            </a:r>
            <a:r>
              <a:rPr sz="1800" spc="-15" dirty="0">
                <a:latin typeface="Arial"/>
                <a:cs typeface="Arial"/>
              </a:rPr>
              <a:t>o</a:t>
            </a:r>
            <a:r>
              <a:rPr sz="1800" spc="-5" dirty="0">
                <a:latin typeface="Arial"/>
                <a:cs typeface="Arial"/>
              </a:rPr>
              <a:t>a</a:t>
            </a:r>
            <a:r>
              <a:rPr sz="1800" spc="-15" dirty="0">
                <a:latin typeface="Arial"/>
                <a:cs typeface="Arial"/>
              </a:rPr>
              <a:t>d</a:t>
            </a:r>
            <a:r>
              <a:rPr sz="1800" spc="-5" dirty="0">
                <a:latin typeface="Arial"/>
                <a:cs typeface="Arial"/>
              </a:rPr>
              <a:t>ed  methods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181600" y="1813560"/>
            <a:ext cx="228600" cy="1676400"/>
          </a:xfrm>
          <a:custGeom>
            <a:avLst/>
            <a:gdLst/>
            <a:ahLst/>
            <a:cxnLst/>
            <a:rect l="l" t="t" r="r" b="b"/>
            <a:pathLst>
              <a:path w="228600" h="1676400">
                <a:moveTo>
                  <a:pt x="0" y="0"/>
                </a:moveTo>
                <a:lnTo>
                  <a:pt x="44487" y="7223"/>
                </a:lnTo>
                <a:lnTo>
                  <a:pt x="80819" y="26924"/>
                </a:lnTo>
                <a:lnTo>
                  <a:pt x="105316" y="56149"/>
                </a:lnTo>
                <a:lnTo>
                  <a:pt x="114300" y="91948"/>
                </a:lnTo>
                <a:lnTo>
                  <a:pt x="114300" y="746251"/>
                </a:lnTo>
                <a:lnTo>
                  <a:pt x="123283" y="782050"/>
                </a:lnTo>
                <a:lnTo>
                  <a:pt x="147780" y="811276"/>
                </a:lnTo>
                <a:lnTo>
                  <a:pt x="184112" y="830976"/>
                </a:lnTo>
                <a:lnTo>
                  <a:pt x="228600" y="838200"/>
                </a:lnTo>
                <a:lnTo>
                  <a:pt x="184112" y="845423"/>
                </a:lnTo>
                <a:lnTo>
                  <a:pt x="147780" y="865124"/>
                </a:lnTo>
                <a:lnTo>
                  <a:pt x="123283" y="894349"/>
                </a:lnTo>
                <a:lnTo>
                  <a:pt x="114300" y="930148"/>
                </a:lnTo>
                <a:lnTo>
                  <a:pt x="114300" y="1584452"/>
                </a:lnTo>
                <a:lnTo>
                  <a:pt x="105316" y="1620250"/>
                </a:lnTo>
                <a:lnTo>
                  <a:pt x="80819" y="1649476"/>
                </a:lnTo>
                <a:lnTo>
                  <a:pt x="44487" y="1669176"/>
                </a:lnTo>
                <a:lnTo>
                  <a:pt x="0" y="1676400"/>
                </a:lnTo>
              </a:path>
            </a:pathLst>
          </a:custGeom>
          <a:ln w="12192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975603" y="2956051"/>
            <a:ext cx="127000" cy="915035"/>
          </a:xfrm>
          <a:custGeom>
            <a:avLst/>
            <a:gdLst/>
            <a:ahLst/>
            <a:cxnLst/>
            <a:rect l="l" t="t" r="r" b="b"/>
            <a:pathLst>
              <a:path w="127000" h="915035">
                <a:moveTo>
                  <a:pt x="7747" y="815467"/>
                </a:moveTo>
                <a:lnTo>
                  <a:pt x="1397" y="818515"/>
                </a:lnTo>
                <a:lnTo>
                  <a:pt x="0" y="822325"/>
                </a:lnTo>
                <a:lnTo>
                  <a:pt x="44196" y="914908"/>
                </a:lnTo>
                <a:lnTo>
                  <a:pt x="52565" y="902970"/>
                </a:lnTo>
                <a:lnTo>
                  <a:pt x="51562" y="902970"/>
                </a:lnTo>
                <a:lnTo>
                  <a:pt x="38862" y="901827"/>
                </a:lnTo>
                <a:lnTo>
                  <a:pt x="40810" y="878453"/>
                </a:lnTo>
                <a:lnTo>
                  <a:pt x="12954" y="820039"/>
                </a:lnTo>
                <a:lnTo>
                  <a:pt x="11557" y="816864"/>
                </a:lnTo>
                <a:lnTo>
                  <a:pt x="7747" y="815467"/>
                </a:lnTo>
                <a:close/>
              </a:path>
              <a:path w="127000" h="915035">
                <a:moveTo>
                  <a:pt x="40810" y="878453"/>
                </a:moveTo>
                <a:lnTo>
                  <a:pt x="38862" y="901827"/>
                </a:lnTo>
                <a:lnTo>
                  <a:pt x="51562" y="902970"/>
                </a:lnTo>
                <a:lnTo>
                  <a:pt x="51837" y="899668"/>
                </a:lnTo>
                <a:lnTo>
                  <a:pt x="50926" y="899668"/>
                </a:lnTo>
                <a:lnTo>
                  <a:pt x="40005" y="898779"/>
                </a:lnTo>
                <a:lnTo>
                  <a:pt x="46253" y="889868"/>
                </a:lnTo>
                <a:lnTo>
                  <a:pt x="40810" y="878453"/>
                </a:lnTo>
                <a:close/>
              </a:path>
              <a:path w="127000" h="915035">
                <a:moveTo>
                  <a:pt x="96647" y="822960"/>
                </a:moveTo>
                <a:lnTo>
                  <a:pt x="92710" y="823595"/>
                </a:lnTo>
                <a:lnTo>
                  <a:pt x="53517" y="879509"/>
                </a:lnTo>
                <a:lnTo>
                  <a:pt x="51562" y="902970"/>
                </a:lnTo>
                <a:lnTo>
                  <a:pt x="52565" y="902970"/>
                </a:lnTo>
                <a:lnTo>
                  <a:pt x="101092" y="833755"/>
                </a:lnTo>
                <a:lnTo>
                  <a:pt x="103124" y="830961"/>
                </a:lnTo>
                <a:lnTo>
                  <a:pt x="102362" y="826897"/>
                </a:lnTo>
                <a:lnTo>
                  <a:pt x="99568" y="824992"/>
                </a:lnTo>
                <a:lnTo>
                  <a:pt x="96647" y="822960"/>
                </a:lnTo>
                <a:close/>
              </a:path>
              <a:path w="127000" h="915035">
                <a:moveTo>
                  <a:pt x="46253" y="889868"/>
                </a:moveTo>
                <a:lnTo>
                  <a:pt x="40005" y="898779"/>
                </a:lnTo>
                <a:lnTo>
                  <a:pt x="50926" y="899668"/>
                </a:lnTo>
                <a:lnTo>
                  <a:pt x="46253" y="889868"/>
                </a:lnTo>
                <a:close/>
              </a:path>
              <a:path w="127000" h="915035">
                <a:moveTo>
                  <a:pt x="53517" y="879509"/>
                </a:moveTo>
                <a:lnTo>
                  <a:pt x="46253" y="889868"/>
                </a:lnTo>
                <a:lnTo>
                  <a:pt x="50926" y="899668"/>
                </a:lnTo>
                <a:lnTo>
                  <a:pt x="51837" y="899668"/>
                </a:lnTo>
                <a:lnTo>
                  <a:pt x="53517" y="879509"/>
                </a:lnTo>
                <a:close/>
              </a:path>
              <a:path w="127000" h="915035">
                <a:moveTo>
                  <a:pt x="114046" y="0"/>
                </a:moveTo>
                <a:lnTo>
                  <a:pt x="40810" y="878453"/>
                </a:lnTo>
                <a:lnTo>
                  <a:pt x="46253" y="889868"/>
                </a:lnTo>
                <a:lnTo>
                  <a:pt x="53517" y="879509"/>
                </a:lnTo>
                <a:lnTo>
                  <a:pt x="126746" y="1015"/>
                </a:lnTo>
                <a:lnTo>
                  <a:pt x="114046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83540" y="3645789"/>
            <a:ext cx="3568065" cy="2713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92075" indent="-342900">
              <a:lnSpc>
                <a:spcPct val="100000"/>
              </a:lnSpc>
              <a:spcBef>
                <a:spcPts val="100"/>
              </a:spcBef>
              <a:buClr>
                <a:srgbClr val="009999"/>
              </a:buClr>
              <a:buSzPct val="6388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1800" spc="-5" dirty="0">
                <a:latin typeface="Arial"/>
                <a:cs typeface="Arial"/>
              </a:rPr>
              <a:t>Without overloading, different  named methods </a:t>
            </a:r>
            <a:r>
              <a:rPr sz="1800" spc="-15" dirty="0">
                <a:latin typeface="Arial"/>
                <a:cs typeface="Arial"/>
              </a:rPr>
              <a:t>would </a:t>
            </a:r>
            <a:r>
              <a:rPr sz="1800" spc="-5" dirty="0">
                <a:latin typeface="Arial"/>
                <a:cs typeface="Arial"/>
              </a:rPr>
              <a:t>have </a:t>
            </a:r>
            <a:r>
              <a:rPr sz="1800" dirty="0">
                <a:latin typeface="Arial"/>
                <a:cs typeface="Arial"/>
              </a:rPr>
              <a:t>to  </a:t>
            </a:r>
            <a:r>
              <a:rPr sz="1800" spc="-5" dirty="0">
                <a:latin typeface="Arial"/>
                <a:cs typeface="Arial"/>
              </a:rPr>
              <a:t>be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provided:</a:t>
            </a:r>
            <a:endParaRPr sz="1800">
              <a:latin typeface="Arial"/>
              <a:cs typeface="Arial"/>
            </a:endParaRPr>
          </a:p>
          <a:p>
            <a:pPr marL="812800" lvl="1" indent="-343535">
              <a:lnSpc>
                <a:spcPts val="1785"/>
              </a:lnSpc>
              <a:buClr>
                <a:srgbClr val="009999"/>
              </a:buClr>
              <a:buSzPct val="65625"/>
              <a:buFont typeface="Wingdings"/>
              <a:buChar char=""/>
              <a:tabLst>
                <a:tab pos="812800" algn="l"/>
                <a:tab pos="813435" algn="l"/>
              </a:tabLst>
            </a:pPr>
            <a:r>
              <a:rPr sz="1600" b="1" spc="-5" dirty="0">
                <a:latin typeface="Courier New"/>
                <a:cs typeface="Courier New"/>
              </a:rPr>
              <a:t>absDouble(double a)</a:t>
            </a:r>
            <a:endParaRPr sz="1600">
              <a:latin typeface="Courier New"/>
              <a:cs typeface="Courier New"/>
            </a:endParaRPr>
          </a:p>
          <a:p>
            <a:pPr marL="812800" lvl="1" indent="-343535">
              <a:lnSpc>
                <a:spcPct val="100000"/>
              </a:lnSpc>
              <a:buClr>
                <a:srgbClr val="009999"/>
              </a:buClr>
              <a:buSzPct val="65625"/>
              <a:buFont typeface="Wingdings"/>
              <a:buChar char=""/>
              <a:tabLst>
                <a:tab pos="812800" algn="l"/>
                <a:tab pos="813435" algn="l"/>
              </a:tabLst>
            </a:pPr>
            <a:r>
              <a:rPr sz="1600" b="1" spc="-5" dirty="0">
                <a:latin typeface="Courier New"/>
                <a:cs typeface="Courier New"/>
              </a:rPr>
              <a:t>absFloat(float</a:t>
            </a:r>
            <a:r>
              <a:rPr sz="1600" b="1" spc="-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a)</a:t>
            </a:r>
            <a:endParaRPr sz="1600">
              <a:latin typeface="Courier New"/>
              <a:cs typeface="Courier New"/>
            </a:endParaRPr>
          </a:p>
          <a:p>
            <a:pPr marL="812800" lvl="1" indent="-343535">
              <a:lnSpc>
                <a:spcPct val="100000"/>
              </a:lnSpc>
              <a:buClr>
                <a:srgbClr val="009999"/>
              </a:buClr>
              <a:buSzPct val="65625"/>
              <a:buFont typeface="Wingdings"/>
              <a:buChar char=""/>
              <a:tabLst>
                <a:tab pos="812800" algn="l"/>
                <a:tab pos="813435" algn="l"/>
              </a:tabLst>
            </a:pPr>
            <a:r>
              <a:rPr sz="1600" b="1" spc="-5" dirty="0">
                <a:latin typeface="Courier New"/>
                <a:cs typeface="Courier New"/>
              </a:rPr>
              <a:t>absInt(int</a:t>
            </a:r>
            <a:r>
              <a:rPr sz="1600" b="1" spc="-10" dirty="0">
                <a:latin typeface="Courier New"/>
                <a:cs typeface="Courier New"/>
              </a:rPr>
              <a:t> </a:t>
            </a:r>
            <a:r>
              <a:rPr sz="1600" b="1" spc="5" dirty="0">
                <a:latin typeface="Courier New"/>
                <a:cs typeface="Courier New"/>
              </a:rPr>
              <a:t>a)</a:t>
            </a:r>
            <a:endParaRPr sz="1600">
              <a:latin typeface="Courier New"/>
              <a:cs typeface="Courier New"/>
            </a:endParaRPr>
          </a:p>
          <a:p>
            <a:pPr marL="812800" lvl="1" indent="-343535">
              <a:lnSpc>
                <a:spcPct val="100000"/>
              </a:lnSpc>
              <a:buClr>
                <a:srgbClr val="009999"/>
              </a:buClr>
              <a:buSzPct val="65625"/>
              <a:buFont typeface="Wingdings"/>
              <a:buChar char=""/>
              <a:tabLst>
                <a:tab pos="812800" algn="l"/>
                <a:tab pos="813435" algn="l"/>
              </a:tabLst>
            </a:pPr>
            <a:r>
              <a:rPr sz="1600" b="1" spc="-5" dirty="0">
                <a:latin typeface="Courier New"/>
                <a:cs typeface="Courier New"/>
              </a:rPr>
              <a:t>absLong(long</a:t>
            </a:r>
            <a:r>
              <a:rPr sz="1600" b="1" spc="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a)</a:t>
            </a:r>
            <a:endParaRPr sz="1600">
              <a:latin typeface="Courier New"/>
              <a:cs typeface="Courier New"/>
            </a:endParaRPr>
          </a:p>
          <a:p>
            <a:pPr marL="355600" marR="5080" indent="-342900">
              <a:lnSpc>
                <a:spcPct val="98100"/>
              </a:lnSpc>
              <a:spcBef>
                <a:spcPts val="780"/>
              </a:spcBef>
              <a:buClr>
                <a:srgbClr val="009999"/>
              </a:buClr>
              <a:buSzPct val="6388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With </a:t>
            </a:r>
            <a:r>
              <a:rPr sz="1800" spc="-5" dirty="0">
                <a:latin typeface="Arial"/>
                <a:cs typeface="Arial"/>
              </a:rPr>
              <a:t>overloading, all these  related methods have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same  name.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</a:t>
            </a:r>
            <a:r>
              <a:rPr spc="5" dirty="0"/>
              <a:t>Lecture </a:t>
            </a:r>
            <a:r>
              <a:rPr dirty="0"/>
              <a:t>: OOP Part</a:t>
            </a:r>
            <a:r>
              <a:rPr spc="-190" dirty="0"/>
              <a:t> </a:t>
            </a:r>
            <a:r>
              <a:rPr dirty="0"/>
              <a:t>1]  </a:t>
            </a:r>
            <a:r>
              <a:rPr spc="-130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r>
              <a:rPr spc="-5" dirty="0"/>
              <a:t>32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3444" y="1540890"/>
            <a:ext cx="3957954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10" dirty="0">
                <a:solidFill>
                  <a:srgbClr val="C00000"/>
                </a:solidFill>
                <a:latin typeface="Trebuchet MS"/>
                <a:cs typeface="Trebuchet MS"/>
              </a:rPr>
              <a:t>4. </a:t>
            </a:r>
            <a:r>
              <a:rPr sz="4400" spc="20" dirty="0">
                <a:solidFill>
                  <a:srgbClr val="003399"/>
                </a:solidFill>
                <a:latin typeface="Trebuchet MS"/>
                <a:cs typeface="Trebuchet MS"/>
              </a:rPr>
              <a:t>More</a:t>
            </a:r>
            <a:r>
              <a:rPr sz="4400" spc="-70" dirty="0">
                <a:solidFill>
                  <a:srgbClr val="003399"/>
                </a:solidFill>
                <a:latin typeface="Trebuchet MS"/>
                <a:cs typeface="Trebuchet MS"/>
              </a:rPr>
              <a:t> </a:t>
            </a:r>
            <a:r>
              <a:rPr sz="4400" spc="90" dirty="0">
                <a:solidFill>
                  <a:srgbClr val="003399"/>
                </a:solidFill>
                <a:latin typeface="Trebuchet MS"/>
                <a:cs typeface="Trebuchet MS"/>
              </a:rPr>
              <a:t>Classes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60194" y="3970782"/>
            <a:ext cx="416687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rlito"/>
                <a:cs typeface="Carlito"/>
              </a:rPr>
              <a:t>Many classes in Java</a:t>
            </a:r>
            <a:r>
              <a:rPr sz="3200" spc="-55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API!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1166824"/>
            <a:ext cx="7507605" cy="879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Clr>
                <a:srgbClr val="009999"/>
              </a:buClr>
              <a:buSzPct val="64285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5" dirty="0">
                <a:latin typeface="Arial"/>
                <a:cs typeface="Arial"/>
              </a:rPr>
              <a:t>We </a:t>
            </a:r>
            <a:r>
              <a:rPr sz="2800" dirty="0">
                <a:latin typeface="Arial"/>
                <a:cs typeface="Arial"/>
              </a:rPr>
              <a:t>have </a:t>
            </a:r>
            <a:r>
              <a:rPr sz="2800" spc="-5" dirty="0">
                <a:latin typeface="Arial"/>
                <a:cs typeface="Arial"/>
              </a:rPr>
              <a:t>used the </a:t>
            </a:r>
            <a:r>
              <a:rPr sz="2800" dirty="0">
                <a:solidFill>
                  <a:srgbClr val="0000FF"/>
                </a:solidFill>
                <a:latin typeface="Arial"/>
                <a:cs typeface="Arial"/>
              </a:rPr>
              <a:t>System.out.printf() </a:t>
            </a:r>
            <a:r>
              <a:rPr sz="2800" dirty="0">
                <a:latin typeface="Arial"/>
                <a:cs typeface="Arial"/>
              </a:rPr>
              <a:t> statement </a:t>
            </a:r>
            <a:r>
              <a:rPr sz="2800" spc="-5" dirty="0">
                <a:latin typeface="Arial"/>
                <a:cs typeface="Arial"/>
              </a:rPr>
              <a:t>to format the </a:t>
            </a:r>
            <a:r>
              <a:rPr sz="2800" dirty="0">
                <a:latin typeface="Arial"/>
                <a:cs typeface="Arial"/>
              </a:rPr>
              <a:t>output </a:t>
            </a:r>
            <a:r>
              <a:rPr sz="2800" spc="-5" dirty="0">
                <a:latin typeface="Arial"/>
                <a:cs typeface="Arial"/>
              </a:rPr>
              <a:t>of </a:t>
            </a:r>
            <a:r>
              <a:rPr sz="2800" dirty="0">
                <a:latin typeface="Arial"/>
                <a:cs typeface="Arial"/>
              </a:rPr>
              <a:t>real </a:t>
            </a:r>
            <a:r>
              <a:rPr sz="2800" spc="-5" dirty="0">
                <a:latin typeface="Arial"/>
                <a:cs typeface="Arial"/>
              </a:rPr>
              <a:t>number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4139946"/>
            <a:ext cx="7626984" cy="1322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Clr>
                <a:srgbClr val="009999"/>
              </a:buClr>
              <a:buSzPct val="64285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5" dirty="0">
                <a:latin typeface="Arial"/>
                <a:cs typeface="Arial"/>
              </a:rPr>
              <a:t>Alternatively, you may use the </a:t>
            </a:r>
            <a:r>
              <a:rPr sz="2800" spc="-5" dirty="0">
                <a:solidFill>
                  <a:srgbClr val="0000FF"/>
                </a:solidFill>
                <a:latin typeface="Arial"/>
                <a:cs typeface="Arial"/>
              </a:rPr>
              <a:t>DecimalFormat </a:t>
            </a:r>
            <a:r>
              <a:rPr sz="2800" spc="-5" dirty="0">
                <a:latin typeface="Arial"/>
                <a:cs typeface="Arial"/>
              </a:rPr>
              <a:t> class</a:t>
            </a:r>
            <a:endParaRPr sz="2800">
              <a:latin typeface="Arial"/>
              <a:cs typeface="Arial"/>
            </a:endParaRPr>
          </a:p>
          <a:p>
            <a:pPr marL="683260" lvl="1" indent="-327025">
              <a:lnSpc>
                <a:spcPct val="100000"/>
              </a:lnSpc>
              <a:spcBef>
                <a:spcPts val="615"/>
              </a:spcBef>
              <a:buClr>
                <a:srgbClr val="4B6C4E"/>
              </a:buClr>
              <a:buSzPct val="60416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400" dirty="0">
                <a:latin typeface="Arial"/>
                <a:cs typeface="Arial"/>
              </a:rPr>
              <a:t>Import 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java.text</a:t>
            </a:r>
            <a:r>
              <a:rPr sz="24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package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400" y="2514600"/>
            <a:ext cx="7543800" cy="769620"/>
          </a:xfrm>
          <a:prstGeom prst="rect">
            <a:avLst/>
          </a:prstGeom>
          <a:solidFill>
            <a:srgbClr val="FFFFCC"/>
          </a:solidFill>
          <a:ln w="9144">
            <a:solidFill>
              <a:srgbClr val="009999"/>
            </a:solidFill>
          </a:ln>
        </p:spPr>
        <p:txBody>
          <a:bodyPr vert="horz" wrap="square" lIns="0" tIns="19939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1570"/>
              </a:spcBef>
            </a:pPr>
            <a:r>
              <a:rPr sz="2000" b="1" spc="-5" dirty="0">
                <a:latin typeface="Courier New"/>
                <a:cs typeface="Courier New"/>
              </a:rPr>
              <a:t>System.out.printf(</a:t>
            </a:r>
            <a:r>
              <a:rPr sz="2000" b="1" spc="-5" dirty="0">
                <a:solidFill>
                  <a:srgbClr val="006600"/>
                </a:solidFill>
                <a:latin typeface="Courier New"/>
                <a:cs typeface="Courier New"/>
              </a:rPr>
              <a:t>"Math.PI </a:t>
            </a:r>
            <a:r>
              <a:rPr sz="2000" b="1" dirty="0">
                <a:solidFill>
                  <a:srgbClr val="006600"/>
                </a:solidFill>
                <a:latin typeface="Courier New"/>
                <a:cs typeface="Courier New"/>
              </a:rPr>
              <a:t>= </a:t>
            </a:r>
            <a:r>
              <a:rPr sz="2000" b="1" spc="-5" dirty="0">
                <a:solidFill>
                  <a:srgbClr val="006600"/>
                </a:solidFill>
                <a:latin typeface="Courier New"/>
                <a:cs typeface="Courier New"/>
              </a:rPr>
              <a:t>%.3f</a:t>
            </a:r>
            <a:r>
              <a:rPr sz="2000" b="1" spc="-5" dirty="0">
                <a:solidFill>
                  <a:srgbClr val="FF0000"/>
                </a:solidFill>
                <a:latin typeface="Courier New"/>
                <a:cs typeface="Courier New"/>
              </a:rPr>
              <a:t>\n</a:t>
            </a:r>
            <a:r>
              <a:rPr sz="2000" b="1" spc="-5" dirty="0">
                <a:solidFill>
                  <a:srgbClr val="006600"/>
                </a:solidFill>
                <a:latin typeface="Courier New"/>
                <a:cs typeface="Courier New"/>
              </a:rPr>
              <a:t>",</a:t>
            </a:r>
            <a:r>
              <a:rPr sz="2000" b="1" spc="45" dirty="0">
                <a:solidFill>
                  <a:srgbClr val="00660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Math.PI);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43961" y="3353561"/>
            <a:ext cx="3505200" cy="457200"/>
          </a:xfrm>
          <a:prstGeom prst="rect">
            <a:avLst/>
          </a:prstGeom>
          <a:solidFill>
            <a:srgbClr val="CCFFCC"/>
          </a:solidFill>
          <a:ln w="25907">
            <a:solidFill>
              <a:srgbClr val="446146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70"/>
              </a:spcBef>
            </a:pPr>
            <a:r>
              <a:rPr sz="2400" b="1" spc="-5" dirty="0">
                <a:latin typeface="Courier New"/>
                <a:cs typeface="Courier New"/>
              </a:rPr>
              <a:t>Math.PI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5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3.142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93444" y="248158"/>
            <a:ext cx="55314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35" dirty="0">
                <a:uFill>
                  <a:solidFill>
                    <a:srgbClr val="003399"/>
                  </a:solidFill>
                </a:uFill>
              </a:rPr>
              <a:t>DecimalFormat</a:t>
            </a:r>
            <a:r>
              <a:rPr spc="-35" dirty="0"/>
              <a:t> </a:t>
            </a:r>
            <a:r>
              <a:rPr spc="85" dirty="0"/>
              <a:t>Class</a:t>
            </a:r>
            <a:r>
              <a:rPr spc="-5" dirty="0"/>
              <a:t> </a:t>
            </a:r>
            <a:r>
              <a:rPr spc="60" dirty="0"/>
              <a:t>(1/3)</a:t>
            </a:r>
          </a:p>
        </p:txBody>
      </p:sp>
      <p:sp>
        <p:nvSpPr>
          <p:cNvPr id="7" name="object 7"/>
          <p:cNvSpPr/>
          <p:nvPr/>
        </p:nvSpPr>
        <p:spPr>
          <a:xfrm>
            <a:off x="163068" y="187452"/>
            <a:ext cx="523240" cy="2708275"/>
          </a:xfrm>
          <a:custGeom>
            <a:avLst/>
            <a:gdLst/>
            <a:ahLst/>
            <a:cxnLst/>
            <a:rect l="l" t="t" r="r" b="b"/>
            <a:pathLst>
              <a:path w="523240" h="2708275">
                <a:moveTo>
                  <a:pt x="522731" y="0"/>
                </a:moveTo>
                <a:lnTo>
                  <a:pt x="0" y="0"/>
                </a:lnTo>
                <a:lnTo>
                  <a:pt x="0" y="2708148"/>
                </a:lnTo>
                <a:lnTo>
                  <a:pt x="522731" y="2708148"/>
                </a:lnTo>
                <a:lnTo>
                  <a:pt x="522731" y="0"/>
                </a:lnTo>
                <a:close/>
              </a:path>
            </a:pathLst>
          </a:custGeom>
          <a:solidFill>
            <a:srgbClr val="FFCC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44239" y="293415"/>
            <a:ext cx="381000" cy="25241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990"/>
              </a:lnSpc>
            </a:pPr>
            <a:r>
              <a:rPr sz="2800" dirty="0">
                <a:solidFill>
                  <a:srgbClr val="C00000"/>
                </a:solidFill>
                <a:latin typeface="Trebuchet MS"/>
                <a:cs typeface="Trebuchet MS"/>
              </a:rPr>
              <a:t>4. </a:t>
            </a:r>
            <a:r>
              <a:rPr sz="2800" spc="5" dirty="0">
                <a:solidFill>
                  <a:srgbClr val="000099"/>
                </a:solidFill>
                <a:latin typeface="Trebuchet MS"/>
                <a:cs typeface="Trebuchet MS"/>
              </a:rPr>
              <a:t>More</a:t>
            </a:r>
            <a:r>
              <a:rPr sz="2800" spc="-60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800" spc="55" dirty="0">
                <a:solidFill>
                  <a:srgbClr val="000099"/>
                </a:solidFill>
                <a:latin typeface="Trebuchet MS"/>
                <a:cs typeface="Trebuchet MS"/>
              </a:rPr>
              <a:t>Classes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</a:t>
            </a:r>
            <a:r>
              <a:rPr spc="5" dirty="0"/>
              <a:t>Lecture </a:t>
            </a:r>
            <a:r>
              <a:rPr dirty="0"/>
              <a:t>: OOP Part</a:t>
            </a:r>
            <a:r>
              <a:rPr spc="-190" dirty="0"/>
              <a:t> </a:t>
            </a:r>
            <a:r>
              <a:rPr dirty="0"/>
              <a:t>1]  </a:t>
            </a:r>
            <a:r>
              <a:rPr spc="-130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r>
              <a:rPr spc="-5" dirty="0"/>
              <a:t>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48158"/>
            <a:ext cx="55314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35" dirty="0">
                <a:uFill>
                  <a:solidFill>
                    <a:srgbClr val="003399"/>
                  </a:solidFill>
                </a:uFill>
              </a:rPr>
              <a:t>DecimalFormat</a:t>
            </a:r>
            <a:r>
              <a:rPr spc="-35" dirty="0"/>
              <a:t> </a:t>
            </a:r>
            <a:r>
              <a:rPr spc="85" dirty="0"/>
              <a:t>Class</a:t>
            </a:r>
            <a:r>
              <a:rPr dirty="0"/>
              <a:t> </a:t>
            </a:r>
            <a:r>
              <a:rPr spc="60" dirty="0"/>
              <a:t>(2/3)</a:t>
            </a:r>
          </a:p>
        </p:txBody>
      </p:sp>
      <p:sp>
        <p:nvSpPr>
          <p:cNvPr id="3" name="object 3"/>
          <p:cNvSpPr/>
          <p:nvPr/>
        </p:nvSpPr>
        <p:spPr>
          <a:xfrm>
            <a:off x="163068" y="187452"/>
            <a:ext cx="523240" cy="2708275"/>
          </a:xfrm>
          <a:custGeom>
            <a:avLst/>
            <a:gdLst/>
            <a:ahLst/>
            <a:cxnLst/>
            <a:rect l="l" t="t" r="r" b="b"/>
            <a:pathLst>
              <a:path w="523240" h="2708275">
                <a:moveTo>
                  <a:pt x="522731" y="0"/>
                </a:moveTo>
                <a:lnTo>
                  <a:pt x="0" y="0"/>
                </a:lnTo>
                <a:lnTo>
                  <a:pt x="0" y="2708148"/>
                </a:lnTo>
                <a:lnTo>
                  <a:pt x="522731" y="2708148"/>
                </a:lnTo>
                <a:lnTo>
                  <a:pt x="522731" y="0"/>
                </a:lnTo>
                <a:close/>
              </a:path>
            </a:pathLst>
          </a:custGeom>
          <a:solidFill>
            <a:srgbClr val="FFCC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44239" y="293415"/>
            <a:ext cx="381000" cy="25241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990"/>
              </a:lnSpc>
            </a:pPr>
            <a:r>
              <a:rPr sz="2800" dirty="0">
                <a:solidFill>
                  <a:srgbClr val="C00000"/>
                </a:solidFill>
                <a:latin typeface="Trebuchet MS"/>
                <a:cs typeface="Trebuchet MS"/>
              </a:rPr>
              <a:t>4. </a:t>
            </a:r>
            <a:r>
              <a:rPr sz="2800" spc="5" dirty="0">
                <a:solidFill>
                  <a:srgbClr val="000099"/>
                </a:solidFill>
                <a:latin typeface="Trebuchet MS"/>
                <a:cs typeface="Trebuchet MS"/>
              </a:rPr>
              <a:t>More</a:t>
            </a:r>
            <a:r>
              <a:rPr sz="2800" spc="-60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800" spc="55" dirty="0">
                <a:solidFill>
                  <a:srgbClr val="000099"/>
                </a:solidFill>
                <a:latin typeface="Trebuchet MS"/>
                <a:cs typeface="Trebuchet MS"/>
              </a:rPr>
              <a:t>Classes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16477" y="1095166"/>
            <a:ext cx="6015799" cy="47283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84276" y="3819144"/>
            <a:ext cx="7987665" cy="429895"/>
          </a:xfrm>
          <a:prstGeom prst="rect">
            <a:avLst/>
          </a:prstGeom>
          <a:solidFill>
            <a:srgbClr val="FFFF99"/>
          </a:solidFill>
        </p:spPr>
        <p:txBody>
          <a:bodyPr vert="horz" wrap="square" lIns="0" tIns="1333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05"/>
              </a:spcBef>
            </a:pPr>
            <a:r>
              <a:rPr sz="2200" b="1" dirty="0">
                <a:latin typeface="Courier New"/>
                <a:cs typeface="Courier New"/>
              </a:rPr>
              <a:t>DecimalFormat df </a:t>
            </a:r>
            <a:r>
              <a:rPr sz="2200" b="1" spc="-5" dirty="0">
                <a:latin typeface="Courier New"/>
                <a:cs typeface="Courier New"/>
              </a:rPr>
              <a:t>= </a:t>
            </a:r>
            <a:r>
              <a:rPr sz="2200" b="1" dirty="0">
                <a:latin typeface="Courier New"/>
                <a:cs typeface="Courier New"/>
              </a:rPr>
              <a:t>new</a:t>
            </a:r>
            <a:r>
              <a:rPr sz="2200" b="1" spc="1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DecimalFormat("0.000");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</a:t>
            </a:r>
            <a:r>
              <a:rPr spc="5" dirty="0"/>
              <a:t>Lecture </a:t>
            </a:r>
            <a:r>
              <a:rPr dirty="0"/>
              <a:t>: OOP Part</a:t>
            </a:r>
            <a:r>
              <a:rPr spc="-190" dirty="0"/>
              <a:t> </a:t>
            </a:r>
            <a:r>
              <a:rPr dirty="0"/>
              <a:t>1]  </a:t>
            </a:r>
            <a:r>
              <a:rPr spc="-130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r>
              <a:rPr spc="-5" dirty="0"/>
              <a:t>35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03021" y="3383407"/>
            <a:ext cx="12915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10" dirty="0">
                <a:latin typeface="Arial"/>
                <a:cs typeface="Arial"/>
              </a:rPr>
              <a:t>Example: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48158"/>
            <a:ext cx="74758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35" dirty="0">
                <a:uFill>
                  <a:solidFill>
                    <a:srgbClr val="003399"/>
                  </a:solidFill>
                </a:uFill>
              </a:rPr>
              <a:t>DecimalFormat</a:t>
            </a:r>
            <a:r>
              <a:rPr spc="-35" dirty="0"/>
              <a:t> </a:t>
            </a:r>
            <a:r>
              <a:rPr spc="85" dirty="0"/>
              <a:t>Class </a:t>
            </a:r>
            <a:r>
              <a:rPr dirty="0"/>
              <a:t>(3/3):</a:t>
            </a:r>
            <a:r>
              <a:rPr spc="-95" dirty="0"/>
              <a:t> </a:t>
            </a:r>
            <a:r>
              <a:rPr spc="-65" dirty="0"/>
              <a:t>Example</a:t>
            </a:r>
          </a:p>
        </p:txBody>
      </p:sp>
      <p:sp>
        <p:nvSpPr>
          <p:cNvPr id="3" name="object 3"/>
          <p:cNvSpPr/>
          <p:nvPr/>
        </p:nvSpPr>
        <p:spPr>
          <a:xfrm>
            <a:off x="163068" y="187451"/>
            <a:ext cx="523240" cy="2708275"/>
          </a:xfrm>
          <a:custGeom>
            <a:avLst/>
            <a:gdLst/>
            <a:ahLst/>
            <a:cxnLst/>
            <a:rect l="l" t="t" r="r" b="b"/>
            <a:pathLst>
              <a:path w="523240" h="2708275">
                <a:moveTo>
                  <a:pt x="522732" y="0"/>
                </a:moveTo>
                <a:lnTo>
                  <a:pt x="0" y="0"/>
                </a:lnTo>
                <a:lnTo>
                  <a:pt x="0" y="854202"/>
                </a:lnTo>
                <a:lnTo>
                  <a:pt x="0" y="2708148"/>
                </a:lnTo>
                <a:lnTo>
                  <a:pt x="522732" y="2708148"/>
                </a:lnTo>
                <a:lnTo>
                  <a:pt x="522732" y="854202"/>
                </a:lnTo>
                <a:lnTo>
                  <a:pt x="522732" y="0"/>
                </a:lnTo>
                <a:close/>
              </a:path>
            </a:pathLst>
          </a:custGeom>
          <a:solidFill>
            <a:srgbClr val="FFCC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44239" y="293415"/>
            <a:ext cx="381000" cy="25241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990"/>
              </a:lnSpc>
            </a:pPr>
            <a:r>
              <a:rPr sz="2800" dirty="0">
                <a:solidFill>
                  <a:srgbClr val="C00000"/>
                </a:solidFill>
                <a:latin typeface="Trebuchet MS"/>
                <a:cs typeface="Trebuchet MS"/>
              </a:rPr>
              <a:t>4. </a:t>
            </a:r>
            <a:r>
              <a:rPr sz="2800" spc="5" dirty="0">
                <a:solidFill>
                  <a:srgbClr val="000099"/>
                </a:solidFill>
                <a:latin typeface="Trebuchet MS"/>
                <a:cs typeface="Trebuchet MS"/>
              </a:rPr>
              <a:t>More</a:t>
            </a:r>
            <a:r>
              <a:rPr sz="2800" spc="-60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800" spc="55" dirty="0">
                <a:solidFill>
                  <a:srgbClr val="000099"/>
                </a:solidFill>
                <a:latin typeface="Trebuchet MS"/>
                <a:cs typeface="Trebuchet MS"/>
              </a:rPr>
              <a:t>Classes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97344" y="1028636"/>
            <a:ext cx="8408035" cy="4119879"/>
            <a:chOff x="597344" y="1028636"/>
            <a:chExt cx="8408035" cy="4119879"/>
          </a:xfrm>
        </p:grpSpPr>
        <p:sp>
          <p:nvSpPr>
            <p:cNvPr id="6" name="object 6"/>
            <p:cNvSpPr/>
            <p:nvPr/>
          </p:nvSpPr>
          <p:spPr>
            <a:xfrm>
              <a:off x="610362" y="1041653"/>
              <a:ext cx="8382000" cy="4093845"/>
            </a:xfrm>
            <a:custGeom>
              <a:avLst/>
              <a:gdLst/>
              <a:ahLst/>
              <a:cxnLst/>
              <a:rect l="l" t="t" r="r" b="b"/>
              <a:pathLst>
                <a:path w="8382000" h="4093845">
                  <a:moveTo>
                    <a:pt x="8382000" y="230898"/>
                  </a:moveTo>
                  <a:lnTo>
                    <a:pt x="0" y="230898"/>
                  </a:lnTo>
                  <a:lnTo>
                    <a:pt x="0" y="3492246"/>
                  </a:lnTo>
                  <a:lnTo>
                    <a:pt x="0" y="4093464"/>
                  </a:lnTo>
                  <a:lnTo>
                    <a:pt x="8382000" y="4093464"/>
                  </a:lnTo>
                  <a:lnTo>
                    <a:pt x="8382000" y="3492246"/>
                  </a:lnTo>
                  <a:lnTo>
                    <a:pt x="8382000" y="230898"/>
                  </a:lnTo>
                  <a:close/>
                </a:path>
                <a:path w="8382000" h="4093845">
                  <a:moveTo>
                    <a:pt x="8382000" y="0"/>
                  </a:moveTo>
                  <a:lnTo>
                    <a:pt x="0" y="0"/>
                  </a:lnTo>
                  <a:lnTo>
                    <a:pt x="0" y="230886"/>
                  </a:lnTo>
                  <a:lnTo>
                    <a:pt x="8382000" y="230886"/>
                  </a:lnTo>
                  <a:lnTo>
                    <a:pt x="83820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10361" y="1041654"/>
              <a:ext cx="8382000" cy="4093845"/>
            </a:xfrm>
            <a:custGeom>
              <a:avLst/>
              <a:gdLst/>
              <a:ahLst/>
              <a:cxnLst/>
              <a:rect l="l" t="t" r="r" b="b"/>
              <a:pathLst>
                <a:path w="8382000" h="4093845">
                  <a:moveTo>
                    <a:pt x="0" y="4093464"/>
                  </a:moveTo>
                  <a:lnTo>
                    <a:pt x="8382000" y="4093464"/>
                  </a:lnTo>
                  <a:lnTo>
                    <a:pt x="8382000" y="0"/>
                  </a:lnTo>
                  <a:lnTo>
                    <a:pt x="0" y="0"/>
                  </a:lnTo>
                  <a:lnTo>
                    <a:pt x="0" y="4093464"/>
                  </a:lnTo>
                  <a:close/>
                </a:path>
              </a:pathLst>
            </a:custGeom>
            <a:ln w="25908">
              <a:solidFill>
                <a:srgbClr val="AAC9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88340" y="1051052"/>
            <a:ext cx="381190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9900CC"/>
                </a:solidFill>
                <a:latin typeface="Courier New"/>
                <a:cs typeface="Courier New"/>
              </a:rPr>
              <a:t>import</a:t>
            </a:r>
            <a:r>
              <a:rPr sz="1600" b="1" dirty="0">
                <a:solidFill>
                  <a:srgbClr val="9900CC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java.text.DecimalFormat;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8340" y="1447292"/>
            <a:ext cx="51987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0000FF"/>
                </a:solidFill>
                <a:latin typeface="Courier New"/>
                <a:cs typeface="Courier New"/>
              </a:rPr>
              <a:t>public class </a:t>
            </a:r>
            <a:r>
              <a:rPr sz="1600" b="1" spc="-5" dirty="0">
                <a:latin typeface="Courier New"/>
                <a:cs typeface="Courier New"/>
              </a:rPr>
              <a:t>TestDecimalFormat</a:t>
            </a:r>
            <a:r>
              <a:rPr sz="1600" b="1" spc="6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02260">
              <a:lnSpc>
                <a:spcPct val="100000"/>
              </a:lnSpc>
            </a:pPr>
            <a:r>
              <a:rPr sz="1600" b="1" spc="-5" dirty="0">
                <a:solidFill>
                  <a:srgbClr val="0000FF"/>
                </a:solidFill>
                <a:latin typeface="Courier New"/>
                <a:cs typeface="Courier New"/>
              </a:rPr>
              <a:t>public static void </a:t>
            </a:r>
            <a:r>
              <a:rPr sz="1600" b="1" spc="-5" dirty="0">
                <a:latin typeface="Courier New"/>
                <a:cs typeface="Courier New"/>
              </a:rPr>
              <a:t>main(String[] args)</a:t>
            </a:r>
            <a:r>
              <a:rPr sz="1600" b="1" spc="2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248663" y="1949615"/>
          <a:ext cx="7515222" cy="11457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9575"/>
                <a:gridCol w="487044"/>
                <a:gridCol w="245744"/>
                <a:gridCol w="489585"/>
                <a:gridCol w="4153534"/>
                <a:gridCol w="459740"/>
              </a:tblGrid>
              <a:tr h="781299">
                <a:tc>
                  <a:txBody>
                    <a:bodyPr/>
                    <a:lstStyle/>
                    <a:p>
                      <a:pPr marL="31750">
                        <a:lnSpc>
                          <a:spcPts val="1900"/>
                        </a:lnSpc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DecimalFormat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31750" marR="53340">
                        <a:lnSpc>
                          <a:spcPct val="100000"/>
                        </a:lnSpc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1600" b="1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600" b="1" spc="-5" dirty="0">
                          <a:latin typeface="Courier New"/>
                          <a:cs typeface="Courier New"/>
                        </a:rPr>
                        <a:t>c</a:t>
                      </a:r>
                      <a:r>
                        <a:rPr sz="1600" b="1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600" b="1" spc="-5" dirty="0">
                          <a:latin typeface="Courier New"/>
                          <a:cs typeface="Courier New"/>
                        </a:rPr>
                        <a:t>m</a:t>
                      </a:r>
                      <a:r>
                        <a:rPr sz="1600" b="1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600" b="1" spc="10" dirty="0">
                          <a:latin typeface="Courier New"/>
                          <a:cs typeface="Courier New"/>
                        </a:rPr>
                        <a:t>l</a:t>
                      </a:r>
                      <a:r>
                        <a:rPr sz="1600" b="1" spc="-5" dirty="0">
                          <a:latin typeface="Courier New"/>
                          <a:cs typeface="Courier New"/>
                        </a:rPr>
                        <a:t>F</a:t>
                      </a:r>
                      <a:r>
                        <a:rPr sz="1600" b="1" dirty="0"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600" b="1" spc="-5" dirty="0"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600" b="1" dirty="0">
                          <a:latin typeface="Courier New"/>
                          <a:cs typeface="Courier New"/>
                        </a:rPr>
                        <a:t>m</a:t>
                      </a:r>
                      <a:r>
                        <a:rPr sz="1600" b="1" spc="10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600" b="1" dirty="0">
                          <a:latin typeface="Courier New"/>
                          <a:cs typeface="Courier New"/>
                        </a:rPr>
                        <a:t>t  </a:t>
                      </a:r>
                      <a:r>
                        <a:rPr sz="1600" b="1" spc="-5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1600" b="1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600" b="1" spc="-5" dirty="0">
                          <a:latin typeface="Courier New"/>
                          <a:cs typeface="Courier New"/>
                        </a:rPr>
                        <a:t>c</a:t>
                      </a:r>
                      <a:r>
                        <a:rPr sz="1600" b="1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600" b="1" spc="-5" dirty="0">
                          <a:latin typeface="Courier New"/>
                          <a:cs typeface="Courier New"/>
                        </a:rPr>
                        <a:t>m</a:t>
                      </a:r>
                      <a:r>
                        <a:rPr sz="1600" b="1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600" b="1" spc="10" dirty="0">
                          <a:latin typeface="Courier New"/>
                          <a:cs typeface="Courier New"/>
                        </a:rPr>
                        <a:t>l</a:t>
                      </a:r>
                      <a:r>
                        <a:rPr sz="1600" b="1" spc="-5" dirty="0">
                          <a:latin typeface="Courier New"/>
                          <a:cs typeface="Courier New"/>
                        </a:rPr>
                        <a:t>F</a:t>
                      </a:r>
                      <a:r>
                        <a:rPr sz="1600" b="1" dirty="0"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600" b="1" spc="-5" dirty="0"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600" b="1" dirty="0">
                          <a:latin typeface="Courier New"/>
                          <a:cs typeface="Courier New"/>
                        </a:rPr>
                        <a:t>m</a:t>
                      </a:r>
                      <a:r>
                        <a:rPr sz="1600" b="1" spc="10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600" b="1" dirty="0">
                          <a:latin typeface="Courier New"/>
                          <a:cs typeface="Courier New"/>
                        </a:rPr>
                        <a:t>t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0325" indent="635">
                        <a:lnSpc>
                          <a:spcPts val="1900"/>
                        </a:lnSpc>
                      </a:pPr>
                      <a:r>
                        <a:rPr sz="1600" b="1" spc="-10" dirty="0">
                          <a:latin typeface="Courier New"/>
                          <a:cs typeface="Courier New"/>
                        </a:rPr>
                        <a:t>df1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60325" marR="53340">
                        <a:lnSpc>
                          <a:spcPct val="100000"/>
                        </a:lnSpc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1600" b="1" dirty="0">
                          <a:latin typeface="Courier New"/>
                          <a:cs typeface="Courier New"/>
                        </a:rPr>
                        <a:t>f2  </a:t>
                      </a:r>
                      <a:r>
                        <a:rPr sz="1600" b="1" spc="-5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1600" b="1" dirty="0">
                          <a:latin typeface="Courier New"/>
                          <a:cs typeface="Courier New"/>
                        </a:rPr>
                        <a:t>f3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900"/>
                        </a:lnSpc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=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6032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=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6032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=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900"/>
                        </a:lnSpc>
                      </a:pPr>
                      <a:r>
                        <a:rPr sz="1600" b="1" spc="-5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new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62230" marR="53975">
                        <a:lnSpc>
                          <a:spcPct val="100000"/>
                        </a:lnSpc>
                      </a:pPr>
                      <a:r>
                        <a:rPr sz="1600" b="1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new  new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900"/>
                        </a:lnSpc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DecimalFormat(</a:t>
                      </a:r>
                      <a:r>
                        <a:rPr sz="1600" b="1" spc="-5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"0.000"</a:t>
                      </a:r>
                      <a:r>
                        <a:rPr sz="1600" b="1" spc="-5" dirty="0">
                          <a:latin typeface="Courier New"/>
                          <a:cs typeface="Courier New"/>
                        </a:rPr>
                        <a:t>); </a:t>
                      </a:r>
                      <a:r>
                        <a:rPr sz="1600" b="1" spc="-5" dirty="0">
                          <a:solidFill>
                            <a:srgbClr val="663300"/>
                          </a:solidFill>
                          <a:latin typeface="Courier New"/>
                          <a:cs typeface="Courier New"/>
                        </a:rPr>
                        <a:t>// 3 dec.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61594" marR="1274445">
                        <a:lnSpc>
                          <a:spcPct val="100000"/>
                        </a:lnSpc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DecimalFormat(</a:t>
                      </a:r>
                      <a:r>
                        <a:rPr sz="1600" b="1" spc="-5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"#.###"</a:t>
                      </a:r>
                      <a:r>
                        <a:rPr sz="1600" b="1" spc="-5" dirty="0">
                          <a:latin typeface="Courier New"/>
                          <a:cs typeface="Courier New"/>
                        </a:rPr>
                        <a:t>);  DecimalFormat(</a:t>
                      </a:r>
                      <a:r>
                        <a:rPr sz="1600" b="1" spc="-5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"0.00%"</a:t>
                      </a:r>
                      <a:r>
                        <a:rPr sz="1600" b="1" spc="-5" dirty="0">
                          <a:latin typeface="Courier New"/>
                          <a:cs typeface="Courier New"/>
                        </a:rPr>
                        <a:t>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900"/>
                        </a:lnSpc>
                      </a:pPr>
                      <a:r>
                        <a:rPr sz="1600" b="1" dirty="0">
                          <a:solidFill>
                            <a:srgbClr val="663300"/>
                          </a:solidFill>
                          <a:latin typeface="Courier New"/>
                          <a:cs typeface="Courier New"/>
                        </a:rPr>
                        <a:t>pl.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</a:tr>
              <a:tr h="364489">
                <a:tc gridSpan="6"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600" b="1" spc="-5" dirty="0">
                          <a:latin typeface="Courier New"/>
                          <a:cs typeface="Courier New"/>
                        </a:rPr>
                        <a:t>System.out.println(</a:t>
                      </a:r>
                      <a:r>
                        <a:rPr sz="1600" b="1" spc="-5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"PI = " </a:t>
                      </a:r>
                      <a:r>
                        <a:rPr sz="1600" b="1" spc="-5" dirty="0">
                          <a:latin typeface="Courier New"/>
                          <a:cs typeface="Courier New"/>
                        </a:rPr>
                        <a:t>+</a:t>
                      </a:r>
                      <a:r>
                        <a:rPr sz="1600" b="1" spc="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spc="-5" dirty="0">
                          <a:latin typeface="Courier New"/>
                          <a:cs typeface="Courier New"/>
                        </a:rPr>
                        <a:t>df1.format(Math.PI));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10033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182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000000"/>
                </a:solidFill>
              </a:rPr>
              <a:t>System.out.println(</a:t>
            </a:r>
            <a:r>
              <a:rPr spc="-5" dirty="0"/>
              <a:t>"12.3 formatted with </a:t>
            </a:r>
            <a:r>
              <a:rPr spc="-5" dirty="0">
                <a:solidFill>
                  <a:srgbClr val="FF0000"/>
                </a:solidFill>
              </a:rPr>
              <a:t>\"</a:t>
            </a:r>
            <a:r>
              <a:rPr spc="-5" dirty="0"/>
              <a:t>0.000</a:t>
            </a:r>
            <a:r>
              <a:rPr spc="-5" dirty="0">
                <a:solidFill>
                  <a:srgbClr val="FF0000"/>
                </a:solidFill>
              </a:rPr>
              <a:t>\" </a:t>
            </a:r>
            <a:r>
              <a:rPr spc="-5" dirty="0"/>
              <a:t>=</a:t>
            </a:r>
            <a:r>
              <a:rPr spc="90" dirty="0"/>
              <a:t> </a:t>
            </a:r>
            <a:r>
              <a:rPr spc="-5" dirty="0"/>
              <a:t>"</a:t>
            </a:r>
          </a:p>
          <a:p>
            <a:pPr marL="2913380">
              <a:lnSpc>
                <a:spcPct val="100000"/>
              </a:lnSpc>
            </a:pPr>
            <a:r>
              <a:rPr spc="-5" dirty="0">
                <a:solidFill>
                  <a:srgbClr val="000000"/>
                </a:solidFill>
              </a:rPr>
              <a:t>+</a:t>
            </a:r>
            <a:r>
              <a:rPr spc="-10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df1.format(</a:t>
            </a:r>
            <a:r>
              <a:rPr spc="-5" dirty="0"/>
              <a:t>12.3</a:t>
            </a:r>
            <a:r>
              <a:rPr spc="-5" dirty="0">
                <a:solidFill>
                  <a:srgbClr val="000000"/>
                </a:solidFill>
              </a:rPr>
              <a:t>));</a:t>
            </a:r>
          </a:p>
          <a:p>
            <a:pPr marL="591820">
              <a:lnSpc>
                <a:spcPct val="100000"/>
              </a:lnSpc>
            </a:pPr>
            <a:r>
              <a:rPr spc="-5" dirty="0">
                <a:solidFill>
                  <a:srgbClr val="000000"/>
                </a:solidFill>
              </a:rPr>
              <a:t>System.out.println(</a:t>
            </a:r>
            <a:r>
              <a:rPr spc="-5" dirty="0"/>
              <a:t>"12.3 formatted with </a:t>
            </a:r>
            <a:r>
              <a:rPr spc="-5" dirty="0">
                <a:solidFill>
                  <a:srgbClr val="FF0000"/>
                </a:solidFill>
              </a:rPr>
              <a:t>\"</a:t>
            </a:r>
            <a:r>
              <a:rPr spc="-5" dirty="0"/>
              <a:t>#.###</a:t>
            </a:r>
            <a:r>
              <a:rPr spc="-5" dirty="0">
                <a:solidFill>
                  <a:srgbClr val="FF0000"/>
                </a:solidFill>
              </a:rPr>
              <a:t>\" </a:t>
            </a:r>
            <a:r>
              <a:rPr spc="-5" dirty="0"/>
              <a:t>=</a:t>
            </a:r>
            <a:r>
              <a:rPr spc="90" dirty="0"/>
              <a:t> </a:t>
            </a:r>
            <a:r>
              <a:rPr spc="-5" dirty="0"/>
              <a:t>"</a:t>
            </a:r>
          </a:p>
          <a:p>
            <a:pPr marL="591820" marR="5080" indent="2320925">
              <a:lnSpc>
                <a:spcPct val="100000"/>
              </a:lnSpc>
            </a:pPr>
            <a:r>
              <a:rPr spc="-5" dirty="0">
                <a:solidFill>
                  <a:srgbClr val="000000"/>
                </a:solidFill>
              </a:rPr>
              <a:t>+ df2.format(</a:t>
            </a:r>
            <a:r>
              <a:rPr spc="-5" dirty="0"/>
              <a:t>12.3</a:t>
            </a:r>
            <a:r>
              <a:rPr spc="-5" dirty="0">
                <a:solidFill>
                  <a:srgbClr val="000000"/>
                </a:solidFill>
              </a:rPr>
              <a:t>));  System.out.println(</a:t>
            </a:r>
            <a:r>
              <a:rPr spc="-5" dirty="0"/>
              <a:t>"12.3 formatted with </a:t>
            </a:r>
            <a:r>
              <a:rPr spc="-5" dirty="0">
                <a:solidFill>
                  <a:srgbClr val="FF0000"/>
                </a:solidFill>
              </a:rPr>
              <a:t>\"</a:t>
            </a:r>
            <a:r>
              <a:rPr spc="-5" dirty="0"/>
              <a:t>0.00%</a:t>
            </a:r>
            <a:r>
              <a:rPr spc="-5" dirty="0">
                <a:solidFill>
                  <a:srgbClr val="FF0000"/>
                </a:solidFill>
              </a:rPr>
              <a:t>\" </a:t>
            </a:r>
            <a:r>
              <a:rPr spc="-5" dirty="0"/>
              <a:t>=</a:t>
            </a:r>
            <a:r>
              <a:rPr spc="90" dirty="0"/>
              <a:t> </a:t>
            </a:r>
            <a:r>
              <a:rPr spc="-5" dirty="0"/>
              <a:t>"</a:t>
            </a: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50"/>
          </a:p>
          <a:p>
            <a:pPr marL="302260">
              <a:lnSpc>
                <a:spcPct val="100000"/>
              </a:lnSpc>
              <a:spcBef>
                <a:spcPts val="5"/>
              </a:spcBef>
            </a:pPr>
            <a:r>
              <a:rPr spc="-5" dirty="0">
                <a:solidFill>
                  <a:srgbClr val="000000"/>
                </a:solidFill>
              </a:rPr>
              <a:t>}</a:t>
            </a:r>
          </a:p>
          <a:p>
            <a:pPr marL="12700">
              <a:lnSpc>
                <a:spcPct val="100000"/>
              </a:lnSpc>
            </a:pPr>
            <a:r>
              <a:rPr spc="-5" dirty="0">
                <a:solidFill>
                  <a:srgbClr val="000000"/>
                </a:solidFill>
              </a:rPr>
              <a:t>}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6165850" y="885189"/>
            <a:ext cx="2679700" cy="393700"/>
            <a:chOff x="6165850" y="885189"/>
            <a:chExt cx="2679700" cy="393700"/>
          </a:xfrm>
        </p:grpSpPr>
        <p:sp>
          <p:nvSpPr>
            <p:cNvPr id="13" name="object 13"/>
            <p:cNvSpPr/>
            <p:nvPr/>
          </p:nvSpPr>
          <p:spPr>
            <a:xfrm>
              <a:off x="6172200" y="891539"/>
              <a:ext cx="2667000" cy="381000"/>
            </a:xfrm>
            <a:custGeom>
              <a:avLst/>
              <a:gdLst/>
              <a:ahLst/>
              <a:cxnLst/>
              <a:rect l="l" t="t" r="r" b="b"/>
              <a:pathLst>
                <a:path w="2667000" h="381000">
                  <a:moveTo>
                    <a:pt x="26670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2667000" y="3810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B8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72200" y="891539"/>
              <a:ext cx="2667000" cy="381000"/>
            </a:xfrm>
            <a:custGeom>
              <a:avLst/>
              <a:gdLst/>
              <a:ahLst/>
              <a:cxnLst/>
              <a:rect l="l" t="t" r="r" b="b"/>
              <a:pathLst>
                <a:path w="2667000" h="381000">
                  <a:moveTo>
                    <a:pt x="0" y="381000"/>
                  </a:moveTo>
                  <a:lnTo>
                    <a:pt x="2667000" y="381000"/>
                  </a:lnTo>
                  <a:lnTo>
                    <a:pt x="26670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359144" y="917828"/>
            <a:ext cx="2294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Carlito"/>
                <a:cs typeface="Carlito"/>
              </a:rPr>
              <a:t>TestDecimalFormat.java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150107" y="4529328"/>
            <a:ext cx="5572125" cy="1209040"/>
            <a:chOff x="3150107" y="4529328"/>
            <a:chExt cx="5572125" cy="1209040"/>
          </a:xfrm>
        </p:grpSpPr>
        <p:sp>
          <p:nvSpPr>
            <p:cNvPr id="17" name="object 17"/>
            <p:cNvSpPr/>
            <p:nvPr/>
          </p:nvSpPr>
          <p:spPr>
            <a:xfrm>
              <a:off x="3154679" y="4533900"/>
              <a:ext cx="5562600" cy="1199515"/>
            </a:xfrm>
            <a:custGeom>
              <a:avLst/>
              <a:gdLst/>
              <a:ahLst/>
              <a:cxnLst/>
              <a:rect l="l" t="t" r="r" b="b"/>
              <a:pathLst>
                <a:path w="5562600" h="1199514">
                  <a:moveTo>
                    <a:pt x="5562600" y="0"/>
                  </a:moveTo>
                  <a:lnTo>
                    <a:pt x="0" y="0"/>
                  </a:lnTo>
                  <a:lnTo>
                    <a:pt x="0" y="1199388"/>
                  </a:lnTo>
                  <a:lnTo>
                    <a:pt x="5562600" y="1199388"/>
                  </a:lnTo>
                  <a:lnTo>
                    <a:pt x="5562600" y="0"/>
                  </a:lnTo>
                  <a:close/>
                </a:path>
              </a:pathLst>
            </a:custGeom>
            <a:solidFill>
              <a:srgbClr val="ED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154679" y="4533900"/>
              <a:ext cx="5562600" cy="1199515"/>
            </a:xfrm>
            <a:custGeom>
              <a:avLst/>
              <a:gdLst/>
              <a:ahLst/>
              <a:cxnLst/>
              <a:rect l="l" t="t" r="r" b="b"/>
              <a:pathLst>
                <a:path w="5562600" h="1199514">
                  <a:moveTo>
                    <a:pt x="0" y="1199388"/>
                  </a:moveTo>
                  <a:lnTo>
                    <a:pt x="5562600" y="1199388"/>
                  </a:lnTo>
                  <a:lnTo>
                    <a:pt x="5562600" y="0"/>
                  </a:lnTo>
                  <a:lnTo>
                    <a:pt x="0" y="0"/>
                  </a:lnTo>
                  <a:lnTo>
                    <a:pt x="0" y="1199388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3150107" y="4533900"/>
          <a:ext cx="5310503" cy="11993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6755"/>
                <a:gridCol w="1365250"/>
                <a:gridCol w="682625"/>
                <a:gridCol w="1091565"/>
                <a:gridCol w="272414"/>
                <a:gridCol w="1191894"/>
              </a:tblGrid>
              <a:tr h="601218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PI</a:t>
                      </a:r>
                      <a:r>
                        <a:rPr sz="1800" b="1" spc="-1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dirty="0">
                          <a:latin typeface="Courier New"/>
                          <a:cs typeface="Courier New"/>
                        </a:rPr>
                        <a:t>=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12.3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lnL w="9525">
                      <a:solidFill>
                        <a:srgbClr val="000000"/>
                      </a:solidFill>
                      <a:prstDash val="solid"/>
                    </a:lnL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3.142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67310">
                        <a:lnSpc>
                          <a:spcPct val="100000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formatted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with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270" marB="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"0.000"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270" marB="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=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270" marB="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67310">
                        <a:lnSpc>
                          <a:spcPct val="100000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12.300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270" marB="0">
                    <a:solidFill>
                      <a:srgbClr val="EDF4F4"/>
                    </a:solidFill>
                  </a:tcPr>
                </a:tc>
              </a:tr>
              <a:tr h="271881">
                <a:tc>
                  <a:txBody>
                    <a:bodyPr/>
                    <a:lstStyle/>
                    <a:p>
                      <a:pPr marR="59690" algn="r">
                        <a:lnSpc>
                          <a:spcPts val="1900"/>
                        </a:lnSpc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12</a:t>
                      </a:r>
                      <a:r>
                        <a:rPr sz="1800" b="1" spc="-15" dirty="0"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1800" b="1" dirty="0">
                          <a:latin typeface="Courier New"/>
                          <a:cs typeface="Courier New"/>
                        </a:rPr>
                        <a:t>3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formatted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with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"#.###"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=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900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12.3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F4F4"/>
                    </a:solidFill>
                  </a:tcPr>
                </a:tc>
              </a:tr>
              <a:tr h="326288">
                <a:tc>
                  <a:txBody>
                    <a:bodyPr/>
                    <a:lstStyle/>
                    <a:p>
                      <a:pPr marR="59690" algn="r">
                        <a:lnSpc>
                          <a:spcPts val="1920"/>
                        </a:lnSpc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12</a:t>
                      </a:r>
                      <a:r>
                        <a:rPr sz="1800" b="1" spc="-15" dirty="0"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1800" b="1" dirty="0">
                          <a:latin typeface="Courier New"/>
                          <a:cs typeface="Courier New"/>
                        </a:rPr>
                        <a:t>3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formatted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with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"0.00%"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=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920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1230.00%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F4F4"/>
                    </a:solidFill>
                  </a:tcPr>
                </a:tc>
              </a:tr>
            </a:tbl>
          </a:graphicData>
        </a:graphic>
      </p:graphicFrame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</a:t>
            </a:r>
            <a:r>
              <a:rPr spc="5" dirty="0"/>
              <a:t>Lecture </a:t>
            </a:r>
            <a:r>
              <a:rPr dirty="0"/>
              <a:t>: OOP Part</a:t>
            </a:r>
            <a:r>
              <a:rPr spc="-190" dirty="0"/>
              <a:t> </a:t>
            </a:r>
            <a:r>
              <a:rPr dirty="0"/>
              <a:t>1]  </a:t>
            </a:r>
            <a:r>
              <a:rPr spc="-130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r>
              <a:rPr spc="-5" dirty="0"/>
              <a:t>36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72541" y="5799835"/>
            <a:ext cx="751840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009999"/>
              </a:buClr>
              <a:buSzPct val="6363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200" spc="-5" dirty="0">
                <a:latin typeface="Arial"/>
                <a:cs typeface="Arial"/>
              </a:rPr>
              <a:t>Note that </a:t>
            </a:r>
            <a:r>
              <a:rPr sz="2200" b="1" spc="-5" dirty="0">
                <a:solidFill>
                  <a:srgbClr val="0000FF"/>
                </a:solidFill>
                <a:latin typeface="Courier New"/>
                <a:cs typeface="Courier New"/>
              </a:rPr>
              <a:t>df.format(x)</a:t>
            </a:r>
            <a:r>
              <a:rPr sz="2200" b="1" spc="-50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200" spc="-5" dirty="0">
                <a:latin typeface="Arial"/>
                <a:cs typeface="Arial"/>
              </a:rPr>
              <a:t>does </a:t>
            </a:r>
            <a:r>
              <a:rPr sz="22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not</a:t>
            </a:r>
            <a:r>
              <a:rPr sz="2200" spc="-5" dirty="0">
                <a:latin typeface="Arial"/>
                <a:cs typeface="Arial"/>
              </a:rPr>
              <a:t> change the value </a:t>
            </a:r>
            <a:r>
              <a:rPr sz="2200" b="1" spc="-5" dirty="0">
                <a:solidFill>
                  <a:srgbClr val="0000FF"/>
                </a:solidFill>
                <a:latin typeface="Courier New"/>
                <a:cs typeface="Courier New"/>
              </a:rPr>
              <a:t>x</a:t>
            </a:r>
            <a:r>
              <a:rPr sz="2200" spc="-5" dirty="0">
                <a:latin typeface="Arial"/>
                <a:cs typeface="Arial"/>
              </a:rPr>
              <a:t>. It  merely displays the value </a:t>
            </a:r>
            <a:r>
              <a:rPr sz="2200" b="1" spc="-5" dirty="0">
                <a:solidFill>
                  <a:srgbClr val="0000FF"/>
                </a:solidFill>
                <a:latin typeface="Courier New"/>
                <a:cs typeface="Courier New"/>
              </a:rPr>
              <a:t>x</a:t>
            </a:r>
            <a:r>
              <a:rPr sz="2200" b="1" spc="-58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200" spc="-5" dirty="0">
                <a:latin typeface="Arial"/>
                <a:cs typeface="Arial"/>
              </a:rPr>
              <a:t>in the specified format.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1166824"/>
            <a:ext cx="7793990" cy="18091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Clr>
                <a:srgbClr val="009999"/>
              </a:buClr>
              <a:buSzPct val="64285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5" dirty="0">
                <a:latin typeface="Arial"/>
                <a:cs typeface="Arial"/>
              </a:rPr>
              <a:t>Sometimes we may need to </a:t>
            </a:r>
            <a:r>
              <a:rPr sz="2800" dirty="0">
                <a:latin typeface="Arial"/>
                <a:cs typeface="Arial"/>
              </a:rPr>
              <a:t>generate random  </a:t>
            </a:r>
            <a:r>
              <a:rPr sz="2800" spc="-5" dirty="0">
                <a:latin typeface="Arial"/>
                <a:cs typeface="Arial"/>
              </a:rPr>
              <a:t>numbers for some </a:t>
            </a:r>
            <a:r>
              <a:rPr sz="2800" dirty="0">
                <a:latin typeface="Arial"/>
                <a:cs typeface="Arial"/>
              </a:rPr>
              <a:t>applications, such </a:t>
            </a:r>
            <a:r>
              <a:rPr sz="2800" spc="-5" dirty="0">
                <a:latin typeface="Arial"/>
                <a:cs typeface="Arial"/>
              </a:rPr>
              <a:t>as  </a:t>
            </a:r>
            <a:r>
              <a:rPr sz="2800" dirty="0">
                <a:latin typeface="Arial"/>
                <a:cs typeface="Arial"/>
              </a:rPr>
              <a:t>simulation </a:t>
            </a:r>
            <a:r>
              <a:rPr sz="2800" spc="-5" dirty="0">
                <a:latin typeface="Arial"/>
                <a:cs typeface="Arial"/>
              </a:rPr>
              <a:t>or to </a:t>
            </a:r>
            <a:r>
              <a:rPr sz="2800" dirty="0">
                <a:latin typeface="Arial"/>
                <a:cs typeface="Arial"/>
              </a:rPr>
              <a:t>fill </a:t>
            </a:r>
            <a:r>
              <a:rPr sz="2800" spc="-5" dirty="0">
                <a:latin typeface="Arial"/>
                <a:cs typeface="Arial"/>
              </a:rPr>
              <a:t>an </a:t>
            </a:r>
            <a:r>
              <a:rPr sz="2800" dirty="0">
                <a:latin typeface="Arial"/>
                <a:cs typeface="Arial"/>
              </a:rPr>
              <a:t>array </a:t>
            </a:r>
            <a:r>
              <a:rPr sz="2800" spc="-5" dirty="0">
                <a:latin typeface="Arial"/>
                <a:cs typeface="Arial"/>
              </a:rPr>
              <a:t>with random</a:t>
            </a:r>
            <a:r>
              <a:rPr sz="2800" spc="9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values</a:t>
            </a:r>
            <a:endParaRPr sz="28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605"/>
              </a:spcBef>
              <a:buClr>
                <a:srgbClr val="009999"/>
              </a:buClr>
              <a:buSzPct val="64285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5" dirty="0">
                <a:latin typeface="Arial"/>
                <a:cs typeface="Arial"/>
              </a:rPr>
              <a:t>The </a:t>
            </a:r>
            <a:r>
              <a:rPr sz="2800" spc="-5" dirty="0">
                <a:solidFill>
                  <a:srgbClr val="0000FF"/>
                </a:solidFill>
                <a:latin typeface="Arial"/>
                <a:cs typeface="Arial"/>
              </a:rPr>
              <a:t>Math </a:t>
            </a:r>
            <a:r>
              <a:rPr sz="2800" dirty="0">
                <a:latin typeface="Arial"/>
                <a:cs typeface="Arial"/>
              </a:rPr>
              <a:t>class provides </a:t>
            </a:r>
            <a:r>
              <a:rPr sz="2800" spc="-5" dirty="0">
                <a:latin typeface="Arial"/>
                <a:cs typeface="Arial"/>
              </a:rPr>
              <a:t>a </a:t>
            </a:r>
            <a:r>
              <a:rPr sz="2800" dirty="0">
                <a:solidFill>
                  <a:srgbClr val="C00000"/>
                </a:solidFill>
                <a:latin typeface="Arial"/>
                <a:cs typeface="Arial"/>
              </a:rPr>
              <a:t>random()</a:t>
            </a:r>
            <a:r>
              <a:rPr sz="2800" spc="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method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4430133"/>
            <a:ext cx="7474584" cy="98679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10"/>
              </a:spcBef>
              <a:buClr>
                <a:srgbClr val="009999"/>
              </a:buClr>
              <a:buSzPct val="64285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5" dirty="0">
                <a:latin typeface="Arial"/>
                <a:cs typeface="Arial"/>
              </a:rPr>
              <a:t>Alternatively, you may use the </a:t>
            </a:r>
            <a:r>
              <a:rPr sz="2800" spc="-5" dirty="0">
                <a:solidFill>
                  <a:srgbClr val="0000FF"/>
                </a:solidFill>
                <a:latin typeface="Arial"/>
                <a:cs typeface="Arial"/>
              </a:rPr>
              <a:t>Random</a:t>
            </a:r>
            <a:r>
              <a:rPr sz="2800" spc="1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class</a:t>
            </a:r>
            <a:endParaRPr sz="2800">
              <a:latin typeface="Arial"/>
              <a:cs typeface="Arial"/>
            </a:endParaRPr>
          </a:p>
          <a:p>
            <a:pPr marL="683260" lvl="1" indent="-327025">
              <a:lnSpc>
                <a:spcPct val="100000"/>
              </a:lnSpc>
              <a:spcBef>
                <a:spcPts val="615"/>
              </a:spcBef>
              <a:buClr>
                <a:srgbClr val="4B6C4E"/>
              </a:buClr>
              <a:buSzPct val="60416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400" dirty="0">
                <a:latin typeface="Arial"/>
                <a:cs typeface="Arial"/>
              </a:rPr>
              <a:t>Import 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java.util</a:t>
            </a:r>
            <a:r>
              <a:rPr sz="24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package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93444" y="248158"/>
            <a:ext cx="41306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30" dirty="0">
                <a:uFill>
                  <a:solidFill>
                    <a:srgbClr val="003399"/>
                  </a:solidFill>
                </a:uFill>
              </a:rPr>
              <a:t>Random</a:t>
            </a:r>
            <a:r>
              <a:rPr spc="30" dirty="0"/>
              <a:t> </a:t>
            </a:r>
            <a:r>
              <a:rPr spc="90" dirty="0"/>
              <a:t>Class</a:t>
            </a:r>
            <a:r>
              <a:rPr spc="-140" dirty="0"/>
              <a:t> </a:t>
            </a:r>
            <a:r>
              <a:rPr spc="60" dirty="0"/>
              <a:t>(1/4)</a:t>
            </a:r>
          </a:p>
        </p:txBody>
      </p:sp>
      <p:sp>
        <p:nvSpPr>
          <p:cNvPr id="5" name="object 5"/>
          <p:cNvSpPr/>
          <p:nvPr/>
        </p:nvSpPr>
        <p:spPr>
          <a:xfrm>
            <a:off x="163068" y="187452"/>
            <a:ext cx="523240" cy="2708275"/>
          </a:xfrm>
          <a:custGeom>
            <a:avLst/>
            <a:gdLst/>
            <a:ahLst/>
            <a:cxnLst/>
            <a:rect l="l" t="t" r="r" b="b"/>
            <a:pathLst>
              <a:path w="523240" h="2708275">
                <a:moveTo>
                  <a:pt x="522731" y="0"/>
                </a:moveTo>
                <a:lnTo>
                  <a:pt x="0" y="0"/>
                </a:lnTo>
                <a:lnTo>
                  <a:pt x="0" y="2708148"/>
                </a:lnTo>
                <a:lnTo>
                  <a:pt x="522731" y="2708148"/>
                </a:lnTo>
                <a:lnTo>
                  <a:pt x="522731" y="0"/>
                </a:lnTo>
                <a:close/>
              </a:path>
            </a:pathLst>
          </a:custGeom>
          <a:solidFill>
            <a:srgbClr val="FFCC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44239" y="293415"/>
            <a:ext cx="381000" cy="25241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990"/>
              </a:lnSpc>
            </a:pPr>
            <a:r>
              <a:rPr sz="2800" dirty="0">
                <a:solidFill>
                  <a:srgbClr val="C00000"/>
                </a:solidFill>
                <a:latin typeface="Trebuchet MS"/>
                <a:cs typeface="Trebuchet MS"/>
              </a:rPr>
              <a:t>4. </a:t>
            </a:r>
            <a:r>
              <a:rPr sz="2800" spc="5" dirty="0">
                <a:solidFill>
                  <a:srgbClr val="000099"/>
                </a:solidFill>
                <a:latin typeface="Trebuchet MS"/>
                <a:cs typeface="Trebuchet MS"/>
              </a:rPr>
              <a:t>More</a:t>
            </a:r>
            <a:r>
              <a:rPr sz="2800" spc="-60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800" spc="55" dirty="0">
                <a:solidFill>
                  <a:srgbClr val="000099"/>
                </a:solidFill>
                <a:latin typeface="Trebuchet MS"/>
                <a:cs typeface="Trebuchet MS"/>
              </a:rPr>
              <a:t>Classes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</a:t>
            </a:r>
            <a:r>
              <a:rPr spc="5" dirty="0"/>
              <a:t>Lecture </a:t>
            </a:r>
            <a:r>
              <a:rPr dirty="0"/>
              <a:t>: OOP Part</a:t>
            </a:r>
            <a:r>
              <a:rPr spc="-190" dirty="0"/>
              <a:t> </a:t>
            </a:r>
            <a:r>
              <a:rPr dirty="0"/>
              <a:t>1]  </a:t>
            </a:r>
            <a:r>
              <a:rPr spc="-130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r>
              <a:rPr spc="-5" dirty="0"/>
              <a:t>37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08050" y="3194050"/>
          <a:ext cx="7543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0"/>
                <a:gridCol w="5257800"/>
              </a:tblGrid>
              <a:tr h="9144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static</a:t>
                      </a:r>
                      <a:r>
                        <a:rPr sz="1800" b="1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10" dirty="0">
                          <a:latin typeface="Courier New"/>
                          <a:cs typeface="Courier New"/>
                        </a:rPr>
                        <a:t>double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random()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92075" marR="535940">
                        <a:lnSpc>
                          <a:spcPts val="2280"/>
                        </a:lnSpc>
                        <a:spcBef>
                          <a:spcPts val="2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Returns a </a:t>
                      </a:r>
                      <a:r>
                        <a:rPr sz="1800" b="1" spc="-5" dirty="0">
                          <a:latin typeface="Courier New"/>
                          <a:cs typeface="Courier New"/>
                        </a:rPr>
                        <a:t>double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value 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with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a positive sign,  greater than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or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equal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to 0.0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and less than</a:t>
                      </a:r>
                      <a:r>
                        <a:rPr sz="1800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1.0.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48158"/>
            <a:ext cx="41313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30" dirty="0">
                <a:uFill>
                  <a:solidFill>
                    <a:srgbClr val="003399"/>
                  </a:solidFill>
                </a:uFill>
              </a:rPr>
              <a:t>Random</a:t>
            </a:r>
            <a:r>
              <a:rPr spc="30" dirty="0"/>
              <a:t> </a:t>
            </a:r>
            <a:r>
              <a:rPr spc="90" dirty="0"/>
              <a:t>Class</a:t>
            </a:r>
            <a:r>
              <a:rPr spc="-140" dirty="0"/>
              <a:t> </a:t>
            </a:r>
            <a:r>
              <a:rPr spc="60" dirty="0"/>
              <a:t>(2/4)</a:t>
            </a:r>
          </a:p>
        </p:txBody>
      </p:sp>
      <p:sp>
        <p:nvSpPr>
          <p:cNvPr id="3" name="object 3"/>
          <p:cNvSpPr/>
          <p:nvPr/>
        </p:nvSpPr>
        <p:spPr>
          <a:xfrm>
            <a:off x="163068" y="187452"/>
            <a:ext cx="523240" cy="2708275"/>
          </a:xfrm>
          <a:custGeom>
            <a:avLst/>
            <a:gdLst/>
            <a:ahLst/>
            <a:cxnLst/>
            <a:rect l="l" t="t" r="r" b="b"/>
            <a:pathLst>
              <a:path w="523240" h="2708275">
                <a:moveTo>
                  <a:pt x="522731" y="0"/>
                </a:moveTo>
                <a:lnTo>
                  <a:pt x="0" y="0"/>
                </a:lnTo>
                <a:lnTo>
                  <a:pt x="0" y="2708148"/>
                </a:lnTo>
                <a:lnTo>
                  <a:pt x="522731" y="2708148"/>
                </a:lnTo>
                <a:lnTo>
                  <a:pt x="522731" y="0"/>
                </a:lnTo>
                <a:close/>
              </a:path>
            </a:pathLst>
          </a:custGeom>
          <a:solidFill>
            <a:srgbClr val="FFCC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44239" y="293415"/>
            <a:ext cx="381000" cy="25241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990"/>
              </a:lnSpc>
            </a:pPr>
            <a:r>
              <a:rPr sz="2800" dirty="0">
                <a:solidFill>
                  <a:srgbClr val="C00000"/>
                </a:solidFill>
                <a:latin typeface="Trebuchet MS"/>
                <a:cs typeface="Trebuchet MS"/>
              </a:rPr>
              <a:t>4. </a:t>
            </a:r>
            <a:r>
              <a:rPr sz="2800" spc="5" dirty="0">
                <a:solidFill>
                  <a:srgbClr val="000099"/>
                </a:solidFill>
                <a:latin typeface="Trebuchet MS"/>
                <a:cs typeface="Trebuchet MS"/>
              </a:rPr>
              <a:t>More</a:t>
            </a:r>
            <a:r>
              <a:rPr sz="2800" spc="-60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800" spc="55" dirty="0">
                <a:solidFill>
                  <a:srgbClr val="000099"/>
                </a:solidFill>
                <a:latin typeface="Trebuchet MS"/>
                <a:cs typeface="Trebuchet MS"/>
              </a:rPr>
              <a:t>Classes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1126647"/>
            <a:ext cx="7835900" cy="264858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14"/>
              </a:spcBef>
              <a:buClr>
                <a:srgbClr val="009999"/>
              </a:buClr>
              <a:buSzPct val="64285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dirty="0">
                <a:latin typeface="Arial"/>
                <a:cs typeface="Arial"/>
              </a:rPr>
              <a:t>Constructors</a:t>
            </a:r>
            <a:endParaRPr sz="2800">
              <a:latin typeface="Arial"/>
              <a:cs typeface="Arial"/>
            </a:endParaRPr>
          </a:p>
          <a:p>
            <a:pPr marL="683260" lvl="1" indent="-327025">
              <a:lnSpc>
                <a:spcPct val="100000"/>
              </a:lnSpc>
              <a:spcBef>
                <a:spcPts val="270"/>
              </a:spcBef>
              <a:buClr>
                <a:srgbClr val="4B6C4E"/>
              </a:buClr>
              <a:buSzPct val="60416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Random()</a:t>
            </a:r>
            <a:r>
              <a:rPr sz="2400" spc="-5" dirty="0">
                <a:latin typeface="Arial"/>
                <a:cs typeface="Arial"/>
              </a:rPr>
              <a:t>: random numbers generated are</a:t>
            </a:r>
            <a:r>
              <a:rPr sz="2400" spc="1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different</a:t>
            </a:r>
            <a:endParaRPr sz="2400">
              <a:latin typeface="Arial"/>
              <a:cs typeface="Arial"/>
            </a:endParaRPr>
          </a:p>
          <a:p>
            <a:pPr marL="683260">
              <a:lnSpc>
                <a:spcPct val="100000"/>
              </a:lnSpc>
              <a:spcBef>
                <a:spcPts val="575"/>
              </a:spcBef>
            </a:pPr>
            <a:r>
              <a:rPr sz="2400" spc="-5" dirty="0">
                <a:latin typeface="Arial"/>
                <a:cs typeface="Arial"/>
              </a:rPr>
              <a:t>each </a:t>
            </a:r>
            <a:r>
              <a:rPr sz="2400" dirty="0">
                <a:latin typeface="Arial"/>
                <a:cs typeface="Arial"/>
              </a:rPr>
              <a:t>time </a:t>
            </a:r>
            <a:r>
              <a:rPr sz="2400" spc="-5" dirty="0">
                <a:latin typeface="Arial"/>
                <a:cs typeface="Arial"/>
              </a:rPr>
              <a:t>program is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run</a:t>
            </a:r>
            <a:endParaRPr sz="2400">
              <a:latin typeface="Arial"/>
              <a:cs typeface="Arial"/>
            </a:endParaRPr>
          </a:p>
          <a:p>
            <a:pPr marL="683260" marR="5080" lvl="1" indent="-326390">
              <a:lnSpc>
                <a:spcPct val="120000"/>
              </a:lnSpc>
              <a:buClr>
                <a:srgbClr val="4B6C4E"/>
              </a:buClr>
              <a:buSzPct val="60416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Random(long 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seed)</a:t>
            </a:r>
            <a:r>
              <a:rPr sz="2400" dirty="0">
                <a:latin typeface="Arial"/>
                <a:cs typeface="Arial"/>
              </a:rPr>
              <a:t>: </a:t>
            </a:r>
            <a:r>
              <a:rPr sz="2400" spc="-5" dirty="0">
                <a:latin typeface="Arial"/>
                <a:cs typeface="Arial"/>
              </a:rPr>
              <a:t>random </a:t>
            </a:r>
            <a:r>
              <a:rPr sz="2400" dirty="0">
                <a:latin typeface="Arial"/>
                <a:cs typeface="Arial"/>
              </a:rPr>
              <a:t>numbers </a:t>
            </a:r>
            <a:r>
              <a:rPr sz="2400" spc="-5" dirty="0">
                <a:latin typeface="Arial"/>
                <a:cs typeface="Arial"/>
              </a:rPr>
              <a:t>generated </a:t>
            </a:r>
            <a:r>
              <a:rPr sz="2400" dirty="0">
                <a:latin typeface="Arial"/>
                <a:cs typeface="Arial"/>
              </a:rPr>
              <a:t>are  </a:t>
            </a:r>
            <a:r>
              <a:rPr sz="2400" spc="-5" dirty="0">
                <a:latin typeface="Arial"/>
                <a:cs typeface="Arial"/>
              </a:rPr>
              <a:t>taken </a:t>
            </a:r>
            <a:r>
              <a:rPr sz="2400" dirty="0">
                <a:latin typeface="Arial"/>
                <a:cs typeface="Arial"/>
              </a:rPr>
              <a:t>from </a:t>
            </a:r>
            <a:r>
              <a:rPr sz="2400" spc="-5" dirty="0">
                <a:latin typeface="Arial"/>
                <a:cs typeface="Arial"/>
              </a:rPr>
              <a:t>a pre-determined fixed sequence based  on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seed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71600" y="3886200"/>
            <a:ext cx="5943600" cy="20360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</a:t>
            </a:r>
            <a:r>
              <a:rPr spc="5" dirty="0"/>
              <a:t>Lecture </a:t>
            </a:r>
            <a:r>
              <a:rPr dirty="0"/>
              <a:t>: OOP Part</a:t>
            </a:r>
            <a:r>
              <a:rPr spc="-190" dirty="0"/>
              <a:t> </a:t>
            </a:r>
            <a:r>
              <a:rPr dirty="0"/>
              <a:t>1]  </a:t>
            </a:r>
            <a:r>
              <a:rPr spc="-130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r>
              <a:rPr spc="-5" dirty="0"/>
              <a:t>38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48158"/>
            <a:ext cx="41319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30" dirty="0">
                <a:uFill>
                  <a:solidFill>
                    <a:srgbClr val="003399"/>
                  </a:solidFill>
                </a:uFill>
              </a:rPr>
              <a:t>Random</a:t>
            </a:r>
            <a:r>
              <a:rPr spc="30" dirty="0"/>
              <a:t> </a:t>
            </a:r>
            <a:r>
              <a:rPr spc="90" dirty="0"/>
              <a:t>Class</a:t>
            </a:r>
            <a:r>
              <a:rPr spc="-135" dirty="0"/>
              <a:t> </a:t>
            </a:r>
            <a:r>
              <a:rPr spc="60" dirty="0"/>
              <a:t>(3/4)</a:t>
            </a:r>
          </a:p>
        </p:txBody>
      </p:sp>
      <p:sp>
        <p:nvSpPr>
          <p:cNvPr id="3" name="object 3"/>
          <p:cNvSpPr/>
          <p:nvPr/>
        </p:nvSpPr>
        <p:spPr>
          <a:xfrm>
            <a:off x="163068" y="187452"/>
            <a:ext cx="523240" cy="2708275"/>
          </a:xfrm>
          <a:custGeom>
            <a:avLst/>
            <a:gdLst/>
            <a:ahLst/>
            <a:cxnLst/>
            <a:rect l="l" t="t" r="r" b="b"/>
            <a:pathLst>
              <a:path w="523240" h="2708275">
                <a:moveTo>
                  <a:pt x="522731" y="0"/>
                </a:moveTo>
                <a:lnTo>
                  <a:pt x="0" y="0"/>
                </a:lnTo>
                <a:lnTo>
                  <a:pt x="0" y="2708148"/>
                </a:lnTo>
                <a:lnTo>
                  <a:pt x="522731" y="2708148"/>
                </a:lnTo>
                <a:lnTo>
                  <a:pt x="522731" y="0"/>
                </a:lnTo>
                <a:close/>
              </a:path>
            </a:pathLst>
          </a:custGeom>
          <a:solidFill>
            <a:srgbClr val="FFCC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44239" y="293415"/>
            <a:ext cx="381000" cy="25241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990"/>
              </a:lnSpc>
            </a:pPr>
            <a:r>
              <a:rPr sz="2800" dirty="0">
                <a:solidFill>
                  <a:srgbClr val="C00000"/>
                </a:solidFill>
                <a:latin typeface="Trebuchet MS"/>
                <a:cs typeface="Trebuchet MS"/>
              </a:rPr>
              <a:t>4. </a:t>
            </a:r>
            <a:r>
              <a:rPr sz="2800" spc="5" dirty="0">
                <a:solidFill>
                  <a:srgbClr val="000099"/>
                </a:solidFill>
                <a:latin typeface="Trebuchet MS"/>
                <a:cs typeface="Trebuchet MS"/>
              </a:rPr>
              <a:t>More</a:t>
            </a:r>
            <a:r>
              <a:rPr sz="2800" spc="-60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800" spc="55" dirty="0">
                <a:solidFill>
                  <a:srgbClr val="000099"/>
                </a:solidFill>
                <a:latin typeface="Trebuchet MS"/>
                <a:cs typeface="Trebuchet MS"/>
              </a:rPr>
              <a:t>Classes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05255" y="1691639"/>
            <a:ext cx="7562088" cy="4038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4540" y="1166824"/>
            <a:ext cx="54959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5"/>
              </a:spcBef>
              <a:buClr>
                <a:srgbClr val="009999"/>
              </a:buClr>
              <a:buSzPct val="64285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5" dirty="0">
                <a:latin typeface="Arial"/>
                <a:cs typeface="Arial"/>
              </a:rPr>
              <a:t>Some methods in </a:t>
            </a:r>
            <a:r>
              <a:rPr sz="2800" spc="-5" dirty="0">
                <a:solidFill>
                  <a:srgbClr val="0000FF"/>
                </a:solidFill>
                <a:latin typeface="Arial"/>
                <a:cs typeface="Arial"/>
              </a:rPr>
              <a:t>Random</a:t>
            </a:r>
            <a:r>
              <a:rPr sz="2800" spc="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class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</a:t>
            </a:r>
            <a:r>
              <a:rPr spc="5" dirty="0"/>
              <a:t>Lecture </a:t>
            </a:r>
            <a:r>
              <a:rPr dirty="0"/>
              <a:t>: OOP Part</a:t>
            </a:r>
            <a:r>
              <a:rPr spc="-190" dirty="0"/>
              <a:t> </a:t>
            </a:r>
            <a:r>
              <a:rPr dirty="0"/>
              <a:t>1]  </a:t>
            </a:r>
            <a:r>
              <a:rPr spc="-130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r>
              <a:rPr spc="-5" dirty="0"/>
              <a:t>39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48158"/>
            <a:ext cx="60801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30" dirty="0">
                <a:uFill>
                  <a:solidFill>
                    <a:srgbClr val="003399"/>
                  </a:solidFill>
                </a:uFill>
              </a:rPr>
              <a:t>Random</a:t>
            </a:r>
            <a:r>
              <a:rPr spc="30" dirty="0"/>
              <a:t> </a:t>
            </a:r>
            <a:r>
              <a:rPr spc="90" dirty="0"/>
              <a:t>Class </a:t>
            </a:r>
            <a:r>
              <a:rPr dirty="0"/>
              <a:t>(4/4):</a:t>
            </a:r>
            <a:r>
              <a:rPr spc="-190" dirty="0"/>
              <a:t> </a:t>
            </a:r>
            <a:r>
              <a:rPr spc="-65" dirty="0"/>
              <a:t>Example</a:t>
            </a:r>
          </a:p>
        </p:txBody>
      </p:sp>
      <p:sp>
        <p:nvSpPr>
          <p:cNvPr id="3" name="object 3"/>
          <p:cNvSpPr/>
          <p:nvPr/>
        </p:nvSpPr>
        <p:spPr>
          <a:xfrm>
            <a:off x="163068" y="187452"/>
            <a:ext cx="523240" cy="2708275"/>
          </a:xfrm>
          <a:custGeom>
            <a:avLst/>
            <a:gdLst/>
            <a:ahLst/>
            <a:cxnLst/>
            <a:rect l="l" t="t" r="r" b="b"/>
            <a:pathLst>
              <a:path w="523240" h="2708275">
                <a:moveTo>
                  <a:pt x="522731" y="0"/>
                </a:moveTo>
                <a:lnTo>
                  <a:pt x="0" y="0"/>
                </a:lnTo>
                <a:lnTo>
                  <a:pt x="0" y="2708148"/>
                </a:lnTo>
                <a:lnTo>
                  <a:pt x="522731" y="2708148"/>
                </a:lnTo>
                <a:lnTo>
                  <a:pt x="522731" y="0"/>
                </a:lnTo>
                <a:close/>
              </a:path>
            </a:pathLst>
          </a:custGeom>
          <a:solidFill>
            <a:srgbClr val="FFCC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44239" y="293415"/>
            <a:ext cx="381000" cy="25241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990"/>
              </a:lnSpc>
            </a:pPr>
            <a:r>
              <a:rPr sz="2800" dirty="0">
                <a:solidFill>
                  <a:srgbClr val="C00000"/>
                </a:solidFill>
                <a:latin typeface="Trebuchet MS"/>
                <a:cs typeface="Trebuchet MS"/>
              </a:rPr>
              <a:t>4. </a:t>
            </a:r>
            <a:r>
              <a:rPr sz="2800" spc="5" dirty="0">
                <a:solidFill>
                  <a:srgbClr val="000099"/>
                </a:solidFill>
                <a:latin typeface="Trebuchet MS"/>
                <a:cs typeface="Trebuchet MS"/>
              </a:rPr>
              <a:t>More</a:t>
            </a:r>
            <a:r>
              <a:rPr sz="2800" spc="-60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800" spc="55" dirty="0">
                <a:solidFill>
                  <a:srgbClr val="000099"/>
                </a:solidFill>
                <a:latin typeface="Trebuchet MS"/>
                <a:cs typeface="Trebuchet MS"/>
              </a:rPr>
              <a:t>Classes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25944" y="1028636"/>
            <a:ext cx="7722234" cy="4427855"/>
            <a:chOff x="825944" y="1028636"/>
            <a:chExt cx="7722234" cy="4427855"/>
          </a:xfrm>
        </p:grpSpPr>
        <p:sp>
          <p:nvSpPr>
            <p:cNvPr id="6" name="object 6"/>
            <p:cNvSpPr/>
            <p:nvPr/>
          </p:nvSpPr>
          <p:spPr>
            <a:xfrm>
              <a:off x="838962" y="1041653"/>
              <a:ext cx="7696200" cy="4401820"/>
            </a:xfrm>
            <a:custGeom>
              <a:avLst/>
              <a:gdLst/>
              <a:ahLst/>
              <a:cxnLst/>
              <a:rect l="l" t="t" r="r" b="b"/>
              <a:pathLst>
                <a:path w="7696200" h="4401820">
                  <a:moveTo>
                    <a:pt x="7696200" y="0"/>
                  </a:moveTo>
                  <a:lnTo>
                    <a:pt x="0" y="0"/>
                  </a:lnTo>
                  <a:lnTo>
                    <a:pt x="0" y="255270"/>
                  </a:lnTo>
                  <a:lnTo>
                    <a:pt x="0" y="4063746"/>
                  </a:lnTo>
                  <a:lnTo>
                    <a:pt x="0" y="4401312"/>
                  </a:lnTo>
                  <a:lnTo>
                    <a:pt x="1447038" y="4401312"/>
                  </a:lnTo>
                  <a:lnTo>
                    <a:pt x="1447038" y="4063746"/>
                  </a:lnTo>
                  <a:lnTo>
                    <a:pt x="7696200" y="4063746"/>
                  </a:lnTo>
                  <a:lnTo>
                    <a:pt x="7696200" y="255270"/>
                  </a:lnTo>
                  <a:lnTo>
                    <a:pt x="76962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38962" y="1041654"/>
              <a:ext cx="7696200" cy="4401820"/>
            </a:xfrm>
            <a:custGeom>
              <a:avLst/>
              <a:gdLst/>
              <a:ahLst/>
              <a:cxnLst/>
              <a:rect l="l" t="t" r="r" b="b"/>
              <a:pathLst>
                <a:path w="7696200" h="4401820">
                  <a:moveTo>
                    <a:pt x="0" y="4401312"/>
                  </a:moveTo>
                  <a:lnTo>
                    <a:pt x="7696200" y="4401312"/>
                  </a:lnTo>
                  <a:lnTo>
                    <a:pt x="7696200" y="0"/>
                  </a:lnTo>
                  <a:lnTo>
                    <a:pt x="0" y="0"/>
                  </a:lnTo>
                  <a:lnTo>
                    <a:pt x="0" y="4401312"/>
                  </a:lnTo>
                  <a:close/>
                </a:path>
              </a:pathLst>
            </a:custGeom>
            <a:ln w="25908">
              <a:solidFill>
                <a:srgbClr val="AAC9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17244" y="1043432"/>
            <a:ext cx="36842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9900CC"/>
                </a:solidFill>
                <a:latin typeface="Courier New"/>
                <a:cs typeface="Courier New"/>
              </a:rPr>
              <a:t>import</a:t>
            </a:r>
            <a:r>
              <a:rPr sz="2000" b="1" spc="-35" dirty="0">
                <a:solidFill>
                  <a:srgbClr val="9900CC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java.util.Random;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7244" y="1500632"/>
            <a:ext cx="7463790" cy="2007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0000FF"/>
                </a:solidFill>
                <a:latin typeface="Courier New"/>
                <a:cs typeface="Courier New"/>
              </a:rPr>
              <a:t>public class </a:t>
            </a:r>
            <a:r>
              <a:rPr sz="2000" b="1" spc="-5" dirty="0">
                <a:latin typeface="Courier New"/>
                <a:cs typeface="Courier New"/>
              </a:rPr>
              <a:t>TestRandom </a:t>
            </a:r>
            <a:r>
              <a:rPr sz="2000" b="1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301625">
              <a:lnSpc>
                <a:spcPct val="100000"/>
              </a:lnSpc>
            </a:pPr>
            <a:r>
              <a:rPr sz="2000" b="1" spc="-5" dirty="0">
                <a:solidFill>
                  <a:srgbClr val="0000FF"/>
                </a:solidFill>
                <a:latin typeface="Courier New"/>
                <a:cs typeface="Courier New"/>
              </a:rPr>
              <a:t>public static void </a:t>
            </a:r>
            <a:r>
              <a:rPr sz="2000" b="1" spc="-5" dirty="0">
                <a:latin typeface="Courier New"/>
                <a:cs typeface="Courier New"/>
              </a:rPr>
              <a:t>main(String[] args)</a:t>
            </a:r>
            <a:r>
              <a:rPr sz="2000" b="1" spc="1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591185">
              <a:lnSpc>
                <a:spcPct val="100000"/>
              </a:lnSpc>
            </a:pPr>
            <a:r>
              <a:rPr sz="2000" b="1" dirty="0">
                <a:solidFill>
                  <a:srgbClr val="663300"/>
                </a:solidFill>
                <a:latin typeface="Courier New"/>
                <a:cs typeface="Courier New"/>
              </a:rPr>
              <a:t>// To </a:t>
            </a:r>
            <a:r>
              <a:rPr sz="2000" b="1" spc="-5" dirty="0">
                <a:solidFill>
                  <a:srgbClr val="663300"/>
                </a:solidFill>
                <a:latin typeface="Courier New"/>
                <a:cs typeface="Courier New"/>
              </a:rPr>
              <a:t>generate </a:t>
            </a:r>
            <a:r>
              <a:rPr sz="2000" b="1" dirty="0">
                <a:solidFill>
                  <a:srgbClr val="663300"/>
                </a:solidFill>
                <a:latin typeface="Courier New"/>
                <a:cs typeface="Courier New"/>
              </a:rPr>
              <a:t>a </a:t>
            </a:r>
            <a:r>
              <a:rPr sz="2000" b="1" spc="-5" dirty="0">
                <a:solidFill>
                  <a:srgbClr val="663300"/>
                </a:solidFill>
                <a:latin typeface="Courier New"/>
                <a:cs typeface="Courier New"/>
              </a:rPr>
              <a:t>random integer </a:t>
            </a:r>
            <a:r>
              <a:rPr sz="2000" b="1" dirty="0">
                <a:solidFill>
                  <a:srgbClr val="663300"/>
                </a:solidFill>
                <a:latin typeface="Courier New"/>
                <a:cs typeface="Courier New"/>
              </a:rPr>
              <a:t>in </a:t>
            </a:r>
            <a:r>
              <a:rPr sz="2000" b="1" spc="-5" dirty="0">
                <a:solidFill>
                  <a:srgbClr val="663300"/>
                </a:solidFill>
                <a:latin typeface="Courier New"/>
                <a:cs typeface="Courier New"/>
              </a:rPr>
              <a:t>[51,70]</a:t>
            </a:r>
            <a:endParaRPr sz="2000">
              <a:latin typeface="Courier New"/>
              <a:cs typeface="Courier New"/>
            </a:endParaRPr>
          </a:p>
          <a:p>
            <a:pPr marL="591185" marR="5080">
              <a:lnSpc>
                <a:spcPct val="100000"/>
              </a:lnSpc>
              <a:tabLst>
                <a:tab pos="4706620" algn="l"/>
              </a:tabLst>
            </a:pPr>
            <a:r>
              <a:rPr sz="2000" b="1" spc="-5" dirty="0">
                <a:solidFill>
                  <a:srgbClr val="663300"/>
                </a:solidFill>
                <a:latin typeface="Courier New"/>
                <a:cs typeface="Courier New"/>
              </a:rPr>
              <a:t>// using</a:t>
            </a:r>
            <a:r>
              <a:rPr sz="2000" b="1" spc="35" dirty="0">
                <a:solidFill>
                  <a:srgbClr val="66330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663300"/>
                </a:solidFill>
                <a:latin typeface="Courier New"/>
                <a:cs typeface="Courier New"/>
              </a:rPr>
              <a:t>Math.random()</a:t>
            </a:r>
            <a:r>
              <a:rPr sz="2000" b="1" spc="15" dirty="0">
                <a:solidFill>
                  <a:srgbClr val="66330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663300"/>
                </a:solidFill>
                <a:latin typeface="Courier New"/>
                <a:cs typeface="Courier New"/>
              </a:rPr>
              <a:t>and	Random's</a:t>
            </a:r>
            <a:r>
              <a:rPr sz="2000" b="1" spc="-50" dirty="0">
                <a:solidFill>
                  <a:srgbClr val="66330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663300"/>
                </a:solidFill>
                <a:latin typeface="Courier New"/>
                <a:cs typeface="Courier New"/>
              </a:rPr>
              <a:t>nextInt()  </a:t>
            </a:r>
            <a:r>
              <a:rPr sz="2000" b="1" spc="-5" dirty="0">
                <a:solidFill>
                  <a:srgbClr val="0000FF"/>
                </a:solidFill>
                <a:latin typeface="Courier New"/>
                <a:cs typeface="Courier New"/>
              </a:rPr>
              <a:t>int </a:t>
            </a:r>
            <a:r>
              <a:rPr sz="2000" b="1" spc="-5" dirty="0">
                <a:latin typeface="Courier New"/>
                <a:cs typeface="Courier New"/>
              </a:rPr>
              <a:t>num1 </a:t>
            </a:r>
            <a:r>
              <a:rPr sz="2000" b="1" dirty="0">
                <a:latin typeface="Courier New"/>
                <a:cs typeface="Courier New"/>
              </a:rPr>
              <a:t>= </a:t>
            </a:r>
            <a:r>
              <a:rPr sz="2000" b="1" spc="-5" dirty="0">
                <a:latin typeface="Courier New"/>
                <a:cs typeface="Courier New"/>
              </a:rPr>
              <a:t>(</a:t>
            </a:r>
            <a:r>
              <a:rPr sz="2000" b="1" spc="-5" dirty="0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sz="2000" b="1" spc="-5" dirty="0">
                <a:latin typeface="Courier New"/>
                <a:cs typeface="Courier New"/>
              </a:rPr>
              <a:t>) (Math.</a:t>
            </a:r>
            <a:r>
              <a:rPr sz="2000" b="1" spc="-5" dirty="0">
                <a:solidFill>
                  <a:srgbClr val="C00000"/>
                </a:solidFill>
                <a:latin typeface="Courier New"/>
                <a:cs typeface="Courier New"/>
              </a:rPr>
              <a:t>random</a:t>
            </a:r>
            <a:r>
              <a:rPr sz="2000" b="1" spc="-5" dirty="0">
                <a:latin typeface="Courier New"/>
                <a:cs typeface="Courier New"/>
              </a:rPr>
              <a:t>() </a:t>
            </a:r>
            <a:r>
              <a:rPr sz="2000" b="1" dirty="0">
                <a:latin typeface="Courier New"/>
                <a:cs typeface="Courier New"/>
              </a:rPr>
              <a:t>* </a:t>
            </a:r>
            <a:r>
              <a:rPr sz="2000" b="1" spc="-5" dirty="0">
                <a:solidFill>
                  <a:srgbClr val="008000"/>
                </a:solidFill>
                <a:latin typeface="Courier New"/>
                <a:cs typeface="Courier New"/>
              </a:rPr>
              <a:t>20</a:t>
            </a:r>
            <a:r>
              <a:rPr sz="2000" b="1" spc="-5" dirty="0">
                <a:latin typeface="Courier New"/>
                <a:cs typeface="Courier New"/>
              </a:rPr>
              <a:t>) </a:t>
            </a:r>
            <a:r>
              <a:rPr sz="2000" b="1" dirty="0">
                <a:latin typeface="Courier New"/>
                <a:cs typeface="Courier New"/>
              </a:rPr>
              <a:t>+ </a:t>
            </a:r>
            <a:r>
              <a:rPr sz="2000" b="1" spc="-5" dirty="0">
                <a:solidFill>
                  <a:srgbClr val="008000"/>
                </a:solidFill>
                <a:latin typeface="Courier New"/>
                <a:cs typeface="Courier New"/>
              </a:rPr>
              <a:t>51</a:t>
            </a:r>
            <a:r>
              <a:rPr sz="2000" b="1" spc="-5" dirty="0">
                <a:latin typeface="Courier New"/>
                <a:cs typeface="Courier New"/>
              </a:rPr>
              <a:t>;</a:t>
            </a:r>
            <a:endParaRPr sz="2000">
              <a:latin typeface="Courier New"/>
              <a:cs typeface="Courier New"/>
            </a:endParaRPr>
          </a:p>
          <a:p>
            <a:pPr marL="591185">
              <a:lnSpc>
                <a:spcPct val="100000"/>
              </a:lnSpc>
              <a:spcBef>
                <a:spcPts val="1200"/>
              </a:spcBef>
            </a:pPr>
            <a:r>
              <a:rPr sz="2000" b="1" spc="-5" dirty="0">
                <a:latin typeface="Courier New"/>
                <a:cs typeface="Courier New"/>
              </a:rPr>
              <a:t>System.out.println(</a:t>
            </a:r>
            <a:r>
              <a:rPr sz="2000" b="1" spc="-5" dirty="0">
                <a:solidFill>
                  <a:srgbClr val="008000"/>
                </a:solidFill>
                <a:latin typeface="Courier New"/>
                <a:cs typeface="Courier New"/>
              </a:rPr>
              <a:t>"num1 </a:t>
            </a:r>
            <a:r>
              <a:rPr sz="2000" b="1" dirty="0">
                <a:solidFill>
                  <a:srgbClr val="008000"/>
                </a:solidFill>
                <a:latin typeface="Courier New"/>
                <a:cs typeface="Courier New"/>
              </a:rPr>
              <a:t>= " </a:t>
            </a:r>
            <a:r>
              <a:rPr sz="2000" b="1" dirty="0">
                <a:latin typeface="Courier New"/>
                <a:cs typeface="Courier New"/>
              </a:rPr>
              <a:t>+</a:t>
            </a:r>
            <a:r>
              <a:rPr sz="2000" b="1" spc="-5" dirty="0">
                <a:latin typeface="Courier New"/>
                <a:cs typeface="Courier New"/>
              </a:rPr>
              <a:t> num1);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96313" y="3634866"/>
            <a:ext cx="490347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latin typeface="Courier New"/>
                <a:cs typeface="Courier New"/>
              </a:rPr>
              <a:t>Random rnd </a:t>
            </a:r>
            <a:r>
              <a:rPr sz="2000" b="1" dirty="0">
                <a:latin typeface="Courier New"/>
                <a:cs typeface="Courier New"/>
              </a:rPr>
              <a:t>= </a:t>
            </a:r>
            <a:r>
              <a:rPr sz="2000" b="1" spc="-5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sz="2000" b="1" spc="-2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Random();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0000FF"/>
                </a:solidFill>
                <a:latin typeface="Courier New"/>
                <a:cs typeface="Courier New"/>
              </a:rPr>
              <a:t>int </a:t>
            </a:r>
            <a:r>
              <a:rPr sz="2000" b="1" spc="-5" dirty="0">
                <a:latin typeface="Courier New"/>
                <a:cs typeface="Courier New"/>
              </a:rPr>
              <a:t>num2 </a:t>
            </a:r>
            <a:r>
              <a:rPr sz="2000" b="1" dirty="0">
                <a:latin typeface="Courier New"/>
                <a:cs typeface="Courier New"/>
              </a:rPr>
              <a:t>= </a:t>
            </a:r>
            <a:r>
              <a:rPr sz="2000" b="1" spc="-5" dirty="0">
                <a:latin typeface="Courier New"/>
                <a:cs typeface="Courier New"/>
              </a:rPr>
              <a:t>rnd.</a:t>
            </a:r>
            <a:r>
              <a:rPr sz="2000" b="1" spc="-5" dirty="0">
                <a:solidFill>
                  <a:srgbClr val="C00000"/>
                </a:solidFill>
                <a:latin typeface="Courier New"/>
                <a:cs typeface="Courier New"/>
              </a:rPr>
              <a:t>nextInt</a:t>
            </a:r>
            <a:r>
              <a:rPr sz="2000" b="1" spc="-5" dirty="0">
                <a:latin typeface="Courier New"/>
                <a:cs typeface="Courier New"/>
              </a:rPr>
              <a:t>(</a:t>
            </a:r>
            <a:r>
              <a:rPr sz="2000" b="1" spc="-5" dirty="0">
                <a:solidFill>
                  <a:srgbClr val="008000"/>
                </a:solidFill>
                <a:latin typeface="Courier New"/>
                <a:cs typeface="Courier New"/>
              </a:rPr>
              <a:t>20</a:t>
            </a:r>
            <a:r>
              <a:rPr sz="2000" b="1" spc="-5" dirty="0">
                <a:latin typeface="Courier New"/>
                <a:cs typeface="Courier New"/>
              </a:rPr>
              <a:t>) </a:t>
            </a:r>
            <a:r>
              <a:rPr sz="2000" b="1" dirty="0">
                <a:latin typeface="Courier New"/>
                <a:cs typeface="Courier New"/>
              </a:rPr>
              <a:t>+</a:t>
            </a:r>
            <a:r>
              <a:rPr sz="2000" b="1" spc="-20" dirty="0"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008000"/>
                </a:solidFill>
                <a:latin typeface="Courier New"/>
                <a:cs typeface="Courier New"/>
              </a:rPr>
              <a:t>51</a:t>
            </a:r>
            <a:r>
              <a:rPr sz="2000" b="1" spc="-5" dirty="0">
                <a:latin typeface="Courier New"/>
                <a:cs typeface="Courier New"/>
              </a:rPr>
              <a:t>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06804" y="4396562"/>
            <a:ext cx="595439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1625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latin typeface="Courier New"/>
                <a:cs typeface="Courier New"/>
              </a:rPr>
              <a:t>System.out.println(</a:t>
            </a:r>
            <a:r>
              <a:rPr sz="2000" b="1" spc="-5" dirty="0">
                <a:solidFill>
                  <a:srgbClr val="008000"/>
                </a:solidFill>
                <a:latin typeface="Courier New"/>
                <a:cs typeface="Courier New"/>
              </a:rPr>
              <a:t>"num2 </a:t>
            </a:r>
            <a:r>
              <a:rPr sz="2000" b="1" dirty="0">
                <a:solidFill>
                  <a:srgbClr val="008000"/>
                </a:solidFill>
                <a:latin typeface="Courier New"/>
                <a:cs typeface="Courier New"/>
              </a:rPr>
              <a:t>= " </a:t>
            </a:r>
            <a:r>
              <a:rPr sz="2000" b="1" dirty="0">
                <a:latin typeface="Courier New"/>
                <a:cs typeface="Courier New"/>
              </a:rPr>
              <a:t>+</a:t>
            </a:r>
            <a:r>
              <a:rPr sz="2000" b="1" spc="1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num2);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7244" y="5006721"/>
            <a:ext cx="1784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318250" y="909574"/>
            <a:ext cx="2070100" cy="393700"/>
            <a:chOff x="6318250" y="909574"/>
            <a:chExt cx="2070100" cy="393700"/>
          </a:xfrm>
        </p:grpSpPr>
        <p:sp>
          <p:nvSpPr>
            <p:cNvPr id="14" name="object 14"/>
            <p:cNvSpPr/>
            <p:nvPr/>
          </p:nvSpPr>
          <p:spPr>
            <a:xfrm>
              <a:off x="6324600" y="915924"/>
              <a:ext cx="2057400" cy="381000"/>
            </a:xfrm>
            <a:custGeom>
              <a:avLst/>
              <a:gdLst/>
              <a:ahLst/>
              <a:cxnLst/>
              <a:rect l="l" t="t" r="r" b="b"/>
              <a:pathLst>
                <a:path w="2057400" h="381000">
                  <a:moveTo>
                    <a:pt x="20574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2057400" y="381000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B8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324600" y="915924"/>
              <a:ext cx="2057400" cy="381000"/>
            </a:xfrm>
            <a:custGeom>
              <a:avLst/>
              <a:gdLst/>
              <a:ahLst/>
              <a:cxnLst/>
              <a:rect l="l" t="t" r="r" b="b"/>
              <a:pathLst>
                <a:path w="2057400" h="381000">
                  <a:moveTo>
                    <a:pt x="0" y="381000"/>
                  </a:moveTo>
                  <a:lnTo>
                    <a:pt x="2057400" y="381000"/>
                  </a:lnTo>
                  <a:lnTo>
                    <a:pt x="20574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531356" y="941323"/>
            <a:ext cx="16465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Carlito"/>
                <a:cs typeface="Carlito"/>
              </a:rPr>
              <a:t>TestRandom.java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473200" y="5092700"/>
            <a:ext cx="7226300" cy="1214120"/>
            <a:chOff x="1473200" y="5092700"/>
            <a:chExt cx="7226300" cy="1214120"/>
          </a:xfrm>
        </p:grpSpPr>
        <p:sp>
          <p:nvSpPr>
            <p:cNvPr id="18" name="object 18"/>
            <p:cNvSpPr/>
            <p:nvPr/>
          </p:nvSpPr>
          <p:spPr>
            <a:xfrm>
              <a:off x="1485900" y="5105399"/>
              <a:ext cx="7200900" cy="1188720"/>
            </a:xfrm>
            <a:custGeom>
              <a:avLst/>
              <a:gdLst/>
              <a:ahLst/>
              <a:cxnLst/>
              <a:rect l="l" t="t" r="r" b="b"/>
              <a:pathLst>
                <a:path w="7200900" h="1188720">
                  <a:moveTo>
                    <a:pt x="7200900" y="0"/>
                  </a:moveTo>
                  <a:lnTo>
                    <a:pt x="800100" y="0"/>
                  </a:lnTo>
                  <a:lnTo>
                    <a:pt x="0" y="0"/>
                  </a:lnTo>
                  <a:lnTo>
                    <a:pt x="0" y="1188720"/>
                  </a:lnTo>
                  <a:lnTo>
                    <a:pt x="800100" y="1188720"/>
                  </a:lnTo>
                  <a:lnTo>
                    <a:pt x="7200900" y="1188720"/>
                  </a:lnTo>
                  <a:lnTo>
                    <a:pt x="720090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479550" y="5099050"/>
              <a:ext cx="7213600" cy="1201420"/>
            </a:xfrm>
            <a:custGeom>
              <a:avLst/>
              <a:gdLst/>
              <a:ahLst/>
              <a:cxnLst/>
              <a:rect l="l" t="t" r="r" b="b"/>
              <a:pathLst>
                <a:path w="7213600" h="1201420">
                  <a:moveTo>
                    <a:pt x="806450" y="0"/>
                  </a:moveTo>
                  <a:lnTo>
                    <a:pt x="806450" y="1201420"/>
                  </a:lnTo>
                </a:path>
                <a:path w="7213600" h="1201420">
                  <a:moveTo>
                    <a:pt x="6350" y="0"/>
                  </a:moveTo>
                  <a:lnTo>
                    <a:pt x="6350" y="1201420"/>
                  </a:lnTo>
                </a:path>
                <a:path w="7213600" h="1201420">
                  <a:moveTo>
                    <a:pt x="7207250" y="0"/>
                  </a:moveTo>
                  <a:lnTo>
                    <a:pt x="7207250" y="1201420"/>
                  </a:lnTo>
                </a:path>
                <a:path w="7213600" h="1201420">
                  <a:moveTo>
                    <a:pt x="0" y="6350"/>
                  </a:moveTo>
                  <a:lnTo>
                    <a:pt x="7213600" y="6350"/>
                  </a:lnTo>
                </a:path>
                <a:path w="7213600" h="1201420">
                  <a:moveTo>
                    <a:pt x="0" y="1195070"/>
                  </a:moveTo>
                  <a:lnTo>
                    <a:pt x="7213600" y="119507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564894" y="5111953"/>
            <a:ext cx="6658609" cy="581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2165" algn="l"/>
              </a:tabLst>
            </a:pPr>
            <a:r>
              <a:rPr sz="1800" b="1" spc="-5" dirty="0">
                <a:latin typeface="Courier New"/>
                <a:cs typeface="Courier New"/>
              </a:rPr>
              <a:t>int	</a:t>
            </a:r>
            <a:r>
              <a:rPr sz="1800" b="1" spc="-10" dirty="0">
                <a:latin typeface="Courier New"/>
                <a:cs typeface="Courier New"/>
              </a:rPr>
              <a:t>nextInt(int</a:t>
            </a:r>
            <a:r>
              <a:rPr sz="1800" b="1" spc="-20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n)</a:t>
            </a:r>
            <a:endParaRPr sz="1800">
              <a:latin typeface="Courier New"/>
              <a:cs typeface="Courier New"/>
            </a:endParaRPr>
          </a:p>
          <a:p>
            <a:pPr marL="812800">
              <a:lnSpc>
                <a:spcPct val="100000"/>
              </a:lnSpc>
              <a:spcBef>
                <a:spcPts val="50"/>
              </a:spcBef>
            </a:pPr>
            <a:r>
              <a:rPr sz="1800" spc="-5" dirty="0">
                <a:latin typeface="Arial"/>
                <a:cs typeface="Arial"/>
              </a:rPr>
              <a:t>Returns a pseudorandom, uniformly distributed </a:t>
            </a:r>
            <a:r>
              <a:rPr sz="1800" b="1" spc="-5" dirty="0">
                <a:latin typeface="Courier New"/>
                <a:cs typeface="Courier New"/>
              </a:rPr>
              <a:t>int</a:t>
            </a:r>
            <a:r>
              <a:rPr sz="1800" b="1" spc="-49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Arial"/>
                <a:cs typeface="Arial"/>
              </a:rPr>
              <a:t>value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364994" y="5682488"/>
            <a:ext cx="57861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between </a:t>
            </a:r>
            <a:r>
              <a:rPr sz="1800" spc="-5" dirty="0">
                <a:latin typeface="Arial"/>
                <a:cs typeface="Arial"/>
              </a:rPr>
              <a:t>0 (inclusive) and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specified value (exclusive),  </a:t>
            </a:r>
            <a:r>
              <a:rPr sz="1800" spc="-15" dirty="0">
                <a:latin typeface="Arial"/>
                <a:cs typeface="Arial"/>
              </a:rPr>
              <a:t>drawn </a:t>
            </a:r>
            <a:r>
              <a:rPr sz="1800" dirty="0">
                <a:latin typeface="Arial"/>
                <a:cs typeface="Arial"/>
              </a:rPr>
              <a:t>from </a:t>
            </a:r>
            <a:r>
              <a:rPr sz="1800" spc="-5" dirty="0">
                <a:latin typeface="Arial"/>
                <a:cs typeface="Arial"/>
              </a:rPr>
              <a:t>this random number generator’s</a:t>
            </a:r>
            <a:r>
              <a:rPr sz="1800" spc="8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sequence.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082028" y="3544823"/>
            <a:ext cx="1762125" cy="716280"/>
            <a:chOff x="7082028" y="3544823"/>
            <a:chExt cx="1762125" cy="716280"/>
          </a:xfrm>
        </p:grpSpPr>
        <p:sp>
          <p:nvSpPr>
            <p:cNvPr id="23" name="object 23"/>
            <p:cNvSpPr/>
            <p:nvPr/>
          </p:nvSpPr>
          <p:spPr>
            <a:xfrm>
              <a:off x="7086600" y="3549395"/>
              <a:ext cx="1752600" cy="707390"/>
            </a:xfrm>
            <a:custGeom>
              <a:avLst/>
              <a:gdLst/>
              <a:ahLst/>
              <a:cxnLst/>
              <a:rect l="l" t="t" r="r" b="b"/>
              <a:pathLst>
                <a:path w="1752600" h="707389">
                  <a:moveTo>
                    <a:pt x="1752600" y="0"/>
                  </a:moveTo>
                  <a:lnTo>
                    <a:pt x="0" y="0"/>
                  </a:lnTo>
                  <a:lnTo>
                    <a:pt x="0" y="707135"/>
                  </a:lnTo>
                  <a:lnTo>
                    <a:pt x="1752600" y="707135"/>
                  </a:lnTo>
                  <a:lnTo>
                    <a:pt x="1752600" y="0"/>
                  </a:lnTo>
                  <a:close/>
                </a:path>
              </a:pathLst>
            </a:custGeom>
            <a:solidFill>
              <a:srgbClr val="ED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086600" y="3549395"/>
              <a:ext cx="1752600" cy="707390"/>
            </a:xfrm>
            <a:custGeom>
              <a:avLst/>
              <a:gdLst/>
              <a:ahLst/>
              <a:cxnLst/>
              <a:rect l="l" t="t" r="r" b="b"/>
              <a:pathLst>
                <a:path w="1752600" h="707389">
                  <a:moveTo>
                    <a:pt x="0" y="707135"/>
                  </a:moveTo>
                  <a:lnTo>
                    <a:pt x="1752600" y="707135"/>
                  </a:lnTo>
                  <a:lnTo>
                    <a:pt x="1752600" y="0"/>
                  </a:lnTo>
                  <a:lnTo>
                    <a:pt x="0" y="0"/>
                  </a:lnTo>
                  <a:lnTo>
                    <a:pt x="0" y="707135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166609" y="3552825"/>
            <a:ext cx="139700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latin typeface="Courier New"/>
                <a:cs typeface="Courier New"/>
              </a:rPr>
              <a:t>num1 </a:t>
            </a:r>
            <a:r>
              <a:rPr sz="2000" b="1" dirty="0">
                <a:latin typeface="Courier New"/>
                <a:cs typeface="Courier New"/>
              </a:rPr>
              <a:t>=</a:t>
            </a:r>
            <a:r>
              <a:rPr sz="2000" b="1" spc="-8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51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num2 </a:t>
            </a:r>
            <a:r>
              <a:rPr sz="2000" b="1" dirty="0">
                <a:latin typeface="Courier New"/>
                <a:cs typeface="Courier New"/>
              </a:rPr>
              <a:t>=</a:t>
            </a:r>
            <a:r>
              <a:rPr sz="2000" b="1" spc="-8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68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</a:t>
            </a:r>
            <a:r>
              <a:rPr spc="5" dirty="0"/>
              <a:t>Lecture </a:t>
            </a:r>
            <a:r>
              <a:rPr dirty="0"/>
              <a:t>: OOP Part</a:t>
            </a:r>
            <a:r>
              <a:rPr spc="-190" dirty="0"/>
              <a:t> </a:t>
            </a:r>
            <a:r>
              <a:rPr dirty="0"/>
              <a:t>1]  </a:t>
            </a:r>
            <a:r>
              <a:rPr spc="-130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r>
              <a:rPr spc="-5" dirty="0"/>
              <a:t>40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62200" y="6630161"/>
            <a:ext cx="2438400" cy="0"/>
          </a:xfrm>
          <a:custGeom>
            <a:avLst/>
            <a:gdLst/>
            <a:ahLst/>
            <a:cxnLst/>
            <a:rect l="l" t="t" r="r" b="b"/>
            <a:pathLst>
              <a:path w="2438400">
                <a:moveTo>
                  <a:pt x="0" y="0"/>
                </a:moveTo>
                <a:lnTo>
                  <a:pt x="2438400" y="0"/>
                </a:lnTo>
              </a:path>
            </a:pathLst>
          </a:custGeom>
          <a:ln w="19812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794250" y="3469894"/>
            <a:ext cx="3893820" cy="3236595"/>
            <a:chOff x="4794250" y="3469894"/>
            <a:chExt cx="3893820" cy="3236595"/>
          </a:xfrm>
        </p:grpSpPr>
        <p:sp>
          <p:nvSpPr>
            <p:cNvPr id="4" name="object 4"/>
            <p:cNvSpPr/>
            <p:nvPr/>
          </p:nvSpPr>
          <p:spPr>
            <a:xfrm>
              <a:off x="7924800" y="6630161"/>
              <a:ext cx="763270" cy="0"/>
            </a:xfrm>
            <a:custGeom>
              <a:avLst/>
              <a:gdLst/>
              <a:ahLst/>
              <a:cxnLst/>
              <a:rect l="l" t="t" r="r" b="b"/>
              <a:pathLst>
                <a:path w="763270">
                  <a:moveTo>
                    <a:pt x="0" y="0"/>
                  </a:moveTo>
                  <a:lnTo>
                    <a:pt x="762761" y="0"/>
                  </a:lnTo>
                </a:path>
              </a:pathLst>
            </a:custGeom>
            <a:ln w="19812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800600" y="3476243"/>
              <a:ext cx="3124200" cy="640080"/>
            </a:xfrm>
            <a:custGeom>
              <a:avLst/>
              <a:gdLst/>
              <a:ahLst/>
              <a:cxnLst/>
              <a:rect l="l" t="t" r="r" b="b"/>
              <a:pathLst>
                <a:path w="3124200" h="640079">
                  <a:moveTo>
                    <a:pt x="3124200" y="0"/>
                  </a:moveTo>
                  <a:lnTo>
                    <a:pt x="1447800" y="0"/>
                  </a:lnTo>
                  <a:lnTo>
                    <a:pt x="0" y="0"/>
                  </a:lnTo>
                  <a:lnTo>
                    <a:pt x="0" y="640080"/>
                  </a:lnTo>
                  <a:lnTo>
                    <a:pt x="1447800" y="640080"/>
                  </a:lnTo>
                  <a:lnTo>
                    <a:pt x="3124200" y="640080"/>
                  </a:lnTo>
                  <a:lnTo>
                    <a:pt x="3124200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800600" y="4116323"/>
              <a:ext cx="3124200" cy="365760"/>
            </a:xfrm>
            <a:custGeom>
              <a:avLst/>
              <a:gdLst/>
              <a:ahLst/>
              <a:cxnLst/>
              <a:rect l="l" t="t" r="r" b="b"/>
              <a:pathLst>
                <a:path w="3124200" h="365760">
                  <a:moveTo>
                    <a:pt x="3124200" y="0"/>
                  </a:moveTo>
                  <a:lnTo>
                    <a:pt x="1447800" y="0"/>
                  </a:lnTo>
                  <a:lnTo>
                    <a:pt x="0" y="0"/>
                  </a:lnTo>
                  <a:lnTo>
                    <a:pt x="0" y="365760"/>
                  </a:lnTo>
                  <a:lnTo>
                    <a:pt x="1447800" y="365760"/>
                  </a:lnTo>
                  <a:lnTo>
                    <a:pt x="3124200" y="365760"/>
                  </a:lnTo>
                  <a:lnTo>
                    <a:pt x="3124200" y="0"/>
                  </a:lnTo>
                  <a:close/>
                </a:path>
              </a:pathLst>
            </a:custGeom>
            <a:solidFill>
              <a:srgbClr val="CA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800600" y="4482083"/>
              <a:ext cx="3124200" cy="365760"/>
            </a:xfrm>
            <a:custGeom>
              <a:avLst/>
              <a:gdLst/>
              <a:ahLst/>
              <a:cxnLst/>
              <a:rect l="l" t="t" r="r" b="b"/>
              <a:pathLst>
                <a:path w="3124200" h="365760">
                  <a:moveTo>
                    <a:pt x="3124200" y="0"/>
                  </a:moveTo>
                  <a:lnTo>
                    <a:pt x="1447800" y="0"/>
                  </a:lnTo>
                  <a:lnTo>
                    <a:pt x="0" y="0"/>
                  </a:lnTo>
                  <a:lnTo>
                    <a:pt x="0" y="365760"/>
                  </a:lnTo>
                  <a:lnTo>
                    <a:pt x="1447800" y="365760"/>
                  </a:lnTo>
                  <a:lnTo>
                    <a:pt x="3124200" y="365760"/>
                  </a:lnTo>
                  <a:lnTo>
                    <a:pt x="3124200" y="0"/>
                  </a:lnTo>
                  <a:close/>
                </a:path>
              </a:pathLst>
            </a:custGeom>
            <a:solidFill>
              <a:srgbClr val="E7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800600" y="4847843"/>
              <a:ext cx="3124200" cy="366395"/>
            </a:xfrm>
            <a:custGeom>
              <a:avLst/>
              <a:gdLst/>
              <a:ahLst/>
              <a:cxnLst/>
              <a:rect l="l" t="t" r="r" b="b"/>
              <a:pathLst>
                <a:path w="3124200" h="366395">
                  <a:moveTo>
                    <a:pt x="3124200" y="0"/>
                  </a:moveTo>
                  <a:lnTo>
                    <a:pt x="1447800" y="0"/>
                  </a:lnTo>
                  <a:lnTo>
                    <a:pt x="0" y="0"/>
                  </a:lnTo>
                  <a:lnTo>
                    <a:pt x="0" y="365772"/>
                  </a:lnTo>
                  <a:lnTo>
                    <a:pt x="1447800" y="365772"/>
                  </a:lnTo>
                  <a:lnTo>
                    <a:pt x="3124200" y="365772"/>
                  </a:lnTo>
                  <a:lnTo>
                    <a:pt x="3124200" y="0"/>
                  </a:lnTo>
                  <a:close/>
                </a:path>
              </a:pathLst>
            </a:custGeom>
            <a:solidFill>
              <a:srgbClr val="CA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800600" y="5213603"/>
              <a:ext cx="3124200" cy="365760"/>
            </a:xfrm>
            <a:custGeom>
              <a:avLst/>
              <a:gdLst/>
              <a:ahLst/>
              <a:cxnLst/>
              <a:rect l="l" t="t" r="r" b="b"/>
              <a:pathLst>
                <a:path w="3124200" h="365760">
                  <a:moveTo>
                    <a:pt x="3124200" y="0"/>
                  </a:moveTo>
                  <a:lnTo>
                    <a:pt x="1447800" y="0"/>
                  </a:lnTo>
                  <a:lnTo>
                    <a:pt x="0" y="0"/>
                  </a:lnTo>
                  <a:lnTo>
                    <a:pt x="0" y="365760"/>
                  </a:lnTo>
                  <a:lnTo>
                    <a:pt x="1447800" y="365760"/>
                  </a:lnTo>
                  <a:lnTo>
                    <a:pt x="3124200" y="365760"/>
                  </a:lnTo>
                  <a:lnTo>
                    <a:pt x="3124200" y="0"/>
                  </a:lnTo>
                  <a:close/>
                </a:path>
              </a:pathLst>
            </a:custGeom>
            <a:solidFill>
              <a:srgbClr val="E7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00600" y="5579338"/>
              <a:ext cx="3124200" cy="365760"/>
            </a:xfrm>
            <a:custGeom>
              <a:avLst/>
              <a:gdLst/>
              <a:ahLst/>
              <a:cxnLst/>
              <a:rect l="l" t="t" r="r" b="b"/>
              <a:pathLst>
                <a:path w="3124200" h="365760">
                  <a:moveTo>
                    <a:pt x="3124200" y="0"/>
                  </a:moveTo>
                  <a:lnTo>
                    <a:pt x="1447800" y="0"/>
                  </a:lnTo>
                  <a:lnTo>
                    <a:pt x="0" y="0"/>
                  </a:lnTo>
                  <a:lnTo>
                    <a:pt x="0" y="365760"/>
                  </a:lnTo>
                  <a:lnTo>
                    <a:pt x="1447800" y="365760"/>
                  </a:lnTo>
                  <a:lnTo>
                    <a:pt x="3124200" y="365760"/>
                  </a:lnTo>
                  <a:lnTo>
                    <a:pt x="3124200" y="0"/>
                  </a:lnTo>
                  <a:close/>
                </a:path>
              </a:pathLst>
            </a:custGeom>
            <a:solidFill>
              <a:srgbClr val="CA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800600" y="5945098"/>
              <a:ext cx="3124200" cy="365760"/>
            </a:xfrm>
            <a:custGeom>
              <a:avLst/>
              <a:gdLst/>
              <a:ahLst/>
              <a:cxnLst/>
              <a:rect l="l" t="t" r="r" b="b"/>
              <a:pathLst>
                <a:path w="3124200" h="365760">
                  <a:moveTo>
                    <a:pt x="3124200" y="0"/>
                  </a:moveTo>
                  <a:lnTo>
                    <a:pt x="1447800" y="0"/>
                  </a:lnTo>
                  <a:lnTo>
                    <a:pt x="0" y="0"/>
                  </a:lnTo>
                  <a:lnTo>
                    <a:pt x="0" y="365760"/>
                  </a:lnTo>
                  <a:lnTo>
                    <a:pt x="1447800" y="365760"/>
                  </a:lnTo>
                  <a:lnTo>
                    <a:pt x="3124200" y="365760"/>
                  </a:lnTo>
                  <a:lnTo>
                    <a:pt x="3124200" y="0"/>
                  </a:lnTo>
                  <a:close/>
                </a:path>
              </a:pathLst>
            </a:custGeom>
            <a:solidFill>
              <a:srgbClr val="E7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800600" y="6310871"/>
              <a:ext cx="3124200" cy="389255"/>
            </a:xfrm>
            <a:custGeom>
              <a:avLst/>
              <a:gdLst/>
              <a:ahLst/>
              <a:cxnLst/>
              <a:rect l="l" t="t" r="r" b="b"/>
              <a:pathLst>
                <a:path w="3124200" h="389254">
                  <a:moveTo>
                    <a:pt x="3124200" y="0"/>
                  </a:moveTo>
                  <a:lnTo>
                    <a:pt x="0" y="0"/>
                  </a:lnTo>
                  <a:lnTo>
                    <a:pt x="0" y="388835"/>
                  </a:lnTo>
                  <a:lnTo>
                    <a:pt x="3124200" y="388835"/>
                  </a:lnTo>
                  <a:lnTo>
                    <a:pt x="3124200" y="0"/>
                  </a:lnTo>
                  <a:close/>
                </a:path>
              </a:pathLst>
            </a:custGeom>
            <a:solidFill>
              <a:srgbClr val="CA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248400" y="3469894"/>
              <a:ext cx="0" cy="2847340"/>
            </a:xfrm>
            <a:custGeom>
              <a:avLst/>
              <a:gdLst/>
              <a:ahLst/>
              <a:cxnLst/>
              <a:rect l="l" t="t" r="r" b="b"/>
              <a:pathLst>
                <a:path h="2847340">
                  <a:moveTo>
                    <a:pt x="0" y="0"/>
                  </a:moveTo>
                  <a:lnTo>
                    <a:pt x="0" y="2847314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794250" y="4116324"/>
              <a:ext cx="3136900" cy="0"/>
            </a:xfrm>
            <a:custGeom>
              <a:avLst/>
              <a:gdLst/>
              <a:ahLst/>
              <a:cxnLst/>
              <a:rect l="l" t="t" r="r" b="b"/>
              <a:pathLst>
                <a:path w="3136900">
                  <a:moveTo>
                    <a:pt x="0" y="0"/>
                  </a:moveTo>
                  <a:lnTo>
                    <a:pt x="3136900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794250" y="3469894"/>
              <a:ext cx="3136900" cy="3236595"/>
            </a:xfrm>
            <a:custGeom>
              <a:avLst/>
              <a:gdLst/>
              <a:ahLst/>
              <a:cxnLst/>
              <a:rect l="l" t="t" r="r" b="b"/>
              <a:pathLst>
                <a:path w="3136900" h="3236595">
                  <a:moveTo>
                    <a:pt x="0" y="1012189"/>
                  </a:moveTo>
                  <a:lnTo>
                    <a:pt x="3136900" y="1012189"/>
                  </a:lnTo>
                </a:path>
                <a:path w="3136900" h="3236595">
                  <a:moveTo>
                    <a:pt x="0" y="1377949"/>
                  </a:moveTo>
                  <a:lnTo>
                    <a:pt x="3136900" y="1377949"/>
                  </a:lnTo>
                </a:path>
                <a:path w="3136900" h="3236595">
                  <a:moveTo>
                    <a:pt x="0" y="1743709"/>
                  </a:moveTo>
                  <a:lnTo>
                    <a:pt x="3136900" y="1743709"/>
                  </a:lnTo>
                </a:path>
                <a:path w="3136900" h="3236595">
                  <a:moveTo>
                    <a:pt x="0" y="2109469"/>
                  </a:moveTo>
                  <a:lnTo>
                    <a:pt x="3136900" y="2109469"/>
                  </a:lnTo>
                </a:path>
                <a:path w="3136900" h="3236595">
                  <a:moveTo>
                    <a:pt x="0" y="2475204"/>
                  </a:moveTo>
                  <a:lnTo>
                    <a:pt x="3136900" y="2475204"/>
                  </a:lnTo>
                </a:path>
                <a:path w="3136900" h="3236595">
                  <a:moveTo>
                    <a:pt x="0" y="2840964"/>
                  </a:moveTo>
                  <a:lnTo>
                    <a:pt x="3136900" y="2840964"/>
                  </a:lnTo>
                </a:path>
                <a:path w="3136900" h="3236595">
                  <a:moveTo>
                    <a:pt x="6350" y="0"/>
                  </a:moveTo>
                  <a:lnTo>
                    <a:pt x="6350" y="3236163"/>
                  </a:lnTo>
                </a:path>
                <a:path w="3136900" h="3236595">
                  <a:moveTo>
                    <a:pt x="3130550" y="0"/>
                  </a:moveTo>
                  <a:lnTo>
                    <a:pt x="3130550" y="3236163"/>
                  </a:lnTo>
                </a:path>
                <a:path w="3136900" h="3236595">
                  <a:moveTo>
                    <a:pt x="0" y="6350"/>
                  </a:moveTo>
                  <a:lnTo>
                    <a:pt x="3136900" y="6350"/>
                  </a:lnTo>
                </a:path>
                <a:path w="3136900" h="3236595">
                  <a:moveTo>
                    <a:pt x="0" y="3229813"/>
                  </a:moveTo>
                  <a:lnTo>
                    <a:pt x="3136900" y="3229813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64540" y="967232"/>
            <a:ext cx="7773034" cy="24644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70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Object-oriented </a:t>
            </a:r>
            <a:r>
              <a:rPr sz="2400" dirty="0">
                <a:latin typeface="Arial"/>
                <a:cs typeface="Arial"/>
              </a:rPr>
              <a:t>counterparts of </a:t>
            </a:r>
            <a:r>
              <a:rPr sz="2400" spc="-5" dirty="0">
                <a:latin typeface="Arial"/>
                <a:cs typeface="Arial"/>
              </a:rPr>
              <a:t>primitive data</a:t>
            </a:r>
            <a:r>
              <a:rPr sz="2400" spc="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types</a:t>
            </a:r>
            <a:endParaRPr sz="2400">
              <a:latin typeface="Arial"/>
              <a:cs typeface="Arial"/>
            </a:endParaRPr>
          </a:p>
          <a:p>
            <a:pPr marL="355600" marR="5080" indent="-343535">
              <a:lnSpc>
                <a:spcPct val="100000"/>
              </a:lnSpc>
              <a:spcBef>
                <a:spcPts val="60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Types such as </a:t>
            </a:r>
            <a:r>
              <a:rPr sz="2400" spc="-5" dirty="0">
                <a:solidFill>
                  <a:srgbClr val="800000"/>
                </a:solidFill>
                <a:latin typeface="Arial"/>
                <a:cs typeface="Arial"/>
              </a:rPr>
              <a:t>int</a:t>
            </a:r>
            <a:r>
              <a:rPr sz="2400" spc="-5" dirty="0">
                <a:latin typeface="Arial"/>
                <a:cs typeface="Arial"/>
              </a:rPr>
              <a:t>, </a:t>
            </a:r>
            <a:r>
              <a:rPr sz="2400" dirty="0">
                <a:solidFill>
                  <a:srgbClr val="800000"/>
                </a:solidFill>
                <a:latin typeface="Arial"/>
                <a:cs typeface="Arial"/>
              </a:rPr>
              <a:t>float</a:t>
            </a:r>
            <a:r>
              <a:rPr sz="2400" dirty="0">
                <a:latin typeface="Arial"/>
                <a:cs typeface="Arial"/>
              </a:rPr>
              <a:t>, </a:t>
            </a:r>
            <a:r>
              <a:rPr sz="2400" spc="-5" dirty="0">
                <a:solidFill>
                  <a:srgbClr val="800000"/>
                </a:solidFill>
                <a:latin typeface="Arial"/>
                <a:cs typeface="Arial"/>
              </a:rPr>
              <a:t>double</a:t>
            </a:r>
            <a:r>
              <a:rPr sz="2400" spc="-5" dirty="0">
                <a:latin typeface="Arial"/>
                <a:cs typeface="Arial"/>
              </a:rPr>
              <a:t>, </a:t>
            </a:r>
            <a:r>
              <a:rPr sz="2400" spc="-5" dirty="0">
                <a:solidFill>
                  <a:srgbClr val="800000"/>
                </a:solidFill>
                <a:latin typeface="Arial"/>
                <a:cs typeface="Arial"/>
              </a:rPr>
              <a:t>char</a:t>
            </a:r>
            <a:r>
              <a:rPr sz="2400" spc="-5" dirty="0">
                <a:latin typeface="Arial"/>
                <a:cs typeface="Arial"/>
              </a:rPr>
              <a:t>, </a:t>
            </a:r>
            <a:r>
              <a:rPr sz="2400" spc="-5" dirty="0">
                <a:solidFill>
                  <a:srgbClr val="800000"/>
                </a:solidFill>
                <a:latin typeface="Arial"/>
                <a:cs typeface="Arial"/>
              </a:rPr>
              <a:t>boolean</a:t>
            </a:r>
            <a:r>
              <a:rPr sz="2400" spc="-5" dirty="0">
                <a:latin typeface="Arial"/>
                <a:cs typeface="Arial"/>
              </a:rPr>
              <a:t>, </a:t>
            </a:r>
            <a:r>
              <a:rPr sz="2400" dirty="0">
                <a:latin typeface="Arial"/>
                <a:cs typeface="Arial"/>
              </a:rPr>
              <a:t>etc. </a:t>
            </a:r>
            <a:r>
              <a:rPr sz="2400" spc="-5" dirty="0">
                <a:latin typeface="Arial"/>
                <a:cs typeface="Arial"/>
              </a:rPr>
              <a:t>are 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 primitive data</a:t>
            </a:r>
            <a:r>
              <a:rPr sz="2400" spc="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types</a:t>
            </a:r>
            <a:r>
              <a:rPr sz="2400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683260" lvl="1" indent="-327025">
              <a:lnSpc>
                <a:spcPct val="100000"/>
              </a:lnSpc>
              <a:spcBef>
                <a:spcPts val="605"/>
              </a:spcBef>
              <a:buClr>
                <a:srgbClr val="4B6C4E"/>
              </a:buClr>
              <a:buSzPct val="60000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000" dirty="0">
                <a:latin typeface="Arial"/>
                <a:cs typeface="Arial"/>
              </a:rPr>
              <a:t>They are 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not</a:t>
            </a:r>
            <a:r>
              <a:rPr sz="2000" dirty="0">
                <a:latin typeface="Arial"/>
                <a:cs typeface="Arial"/>
              </a:rPr>
              <a:t> objects. They are legacies of older</a:t>
            </a:r>
            <a:r>
              <a:rPr sz="2000" spc="-1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languages.</a:t>
            </a:r>
            <a:endParaRPr sz="2000">
              <a:latin typeface="Arial"/>
              <a:cs typeface="Arial"/>
            </a:endParaRPr>
          </a:p>
          <a:p>
            <a:pPr marL="355600" marR="466090" indent="-343535">
              <a:lnSpc>
                <a:spcPct val="100000"/>
              </a:lnSpc>
              <a:spcBef>
                <a:spcPts val="595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Sometimes we need object equivalent </a:t>
            </a:r>
            <a:r>
              <a:rPr sz="2400" dirty="0">
                <a:latin typeface="Arial"/>
                <a:cs typeface="Arial"/>
              </a:rPr>
              <a:t>of </a:t>
            </a:r>
            <a:r>
              <a:rPr sz="2400" spc="-5" dirty="0">
                <a:latin typeface="Arial"/>
                <a:cs typeface="Arial"/>
              </a:rPr>
              <a:t>these  primitive data </a:t>
            </a:r>
            <a:r>
              <a:rPr sz="2400" dirty="0">
                <a:latin typeface="Arial"/>
                <a:cs typeface="Arial"/>
              </a:rPr>
              <a:t>types </a:t>
            </a:r>
            <a:r>
              <a:rPr sz="2000" dirty="0">
                <a:latin typeface="Arial"/>
                <a:cs typeface="Arial"/>
              </a:rPr>
              <a:t>(when we cover more advanced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OOP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07744" y="3406266"/>
            <a:ext cx="16903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"/>
                <a:cs typeface="Arial"/>
              </a:rPr>
              <a:t>concepts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later)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814307" y="6523126"/>
            <a:ext cx="2514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41</a:t>
            </a:r>
            <a:endParaRPr sz="16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993444" y="248158"/>
            <a:ext cx="46259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Wrapper </a:t>
            </a:r>
            <a:r>
              <a:rPr spc="75" dirty="0"/>
              <a:t>Classes</a:t>
            </a:r>
            <a:r>
              <a:rPr spc="-85" dirty="0"/>
              <a:t> </a:t>
            </a:r>
            <a:r>
              <a:rPr spc="60" dirty="0"/>
              <a:t>(1/2)</a:t>
            </a:r>
          </a:p>
        </p:txBody>
      </p:sp>
      <p:sp>
        <p:nvSpPr>
          <p:cNvPr id="20" name="object 20"/>
          <p:cNvSpPr/>
          <p:nvPr/>
        </p:nvSpPr>
        <p:spPr>
          <a:xfrm>
            <a:off x="163068" y="187452"/>
            <a:ext cx="523240" cy="2708275"/>
          </a:xfrm>
          <a:custGeom>
            <a:avLst/>
            <a:gdLst/>
            <a:ahLst/>
            <a:cxnLst/>
            <a:rect l="l" t="t" r="r" b="b"/>
            <a:pathLst>
              <a:path w="523240" h="2708275">
                <a:moveTo>
                  <a:pt x="522731" y="0"/>
                </a:moveTo>
                <a:lnTo>
                  <a:pt x="0" y="0"/>
                </a:lnTo>
                <a:lnTo>
                  <a:pt x="0" y="2708148"/>
                </a:lnTo>
                <a:lnTo>
                  <a:pt x="522731" y="2708148"/>
                </a:lnTo>
                <a:lnTo>
                  <a:pt x="522731" y="0"/>
                </a:lnTo>
                <a:close/>
              </a:path>
            </a:pathLst>
          </a:custGeom>
          <a:solidFill>
            <a:srgbClr val="FFCC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44239" y="293415"/>
            <a:ext cx="381000" cy="25241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990"/>
              </a:lnSpc>
            </a:pPr>
            <a:r>
              <a:rPr sz="2800" dirty="0">
                <a:solidFill>
                  <a:srgbClr val="C00000"/>
                </a:solidFill>
                <a:latin typeface="Trebuchet MS"/>
                <a:cs typeface="Trebuchet MS"/>
              </a:rPr>
              <a:t>4. </a:t>
            </a:r>
            <a:r>
              <a:rPr sz="2800" spc="5" dirty="0">
                <a:solidFill>
                  <a:srgbClr val="000099"/>
                </a:solidFill>
                <a:latin typeface="Trebuchet MS"/>
                <a:cs typeface="Trebuchet MS"/>
              </a:rPr>
              <a:t>More</a:t>
            </a:r>
            <a:r>
              <a:rPr sz="2800" spc="-60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800" spc="55" dirty="0">
                <a:solidFill>
                  <a:srgbClr val="000099"/>
                </a:solidFill>
                <a:latin typeface="Trebuchet MS"/>
                <a:cs typeface="Trebuchet MS"/>
              </a:rPr>
              <a:t>Classes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80228" y="3504057"/>
            <a:ext cx="102679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Primitive 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8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type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328028" y="3504057"/>
            <a:ext cx="9486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800" b="1" spc="-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800" b="1" spc="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er  class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880228" y="4138421"/>
            <a:ext cx="439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00000"/>
                </a:solidFill>
                <a:latin typeface="BPG Courier S GPL&amp;GNU"/>
                <a:cs typeface="BPG Courier S GPL&amp;GNU"/>
              </a:rPr>
              <a:t>int</a:t>
            </a:r>
            <a:endParaRPr sz="1800">
              <a:latin typeface="BPG Courier S GPL&amp;GNU"/>
              <a:cs typeface="BPG Courier S GPL&amp;GNU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328028" y="4138421"/>
            <a:ext cx="991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600CC"/>
                </a:solidFill>
                <a:latin typeface="BPG Courier S GPL&amp;GNU"/>
                <a:cs typeface="BPG Courier S GPL&amp;GNU"/>
              </a:rPr>
              <a:t>Inte</a:t>
            </a:r>
            <a:r>
              <a:rPr sz="1800" spc="5" dirty="0">
                <a:solidFill>
                  <a:srgbClr val="6600CC"/>
                </a:solidFill>
                <a:latin typeface="BPG Courier S GPL&amp;GNU"/>
                <a:cs typeface="BPG Courier S GPL&amp;GNU"/>
              </a:rPr>
              <a:t>g</a:t>
            </a:r>
            <a:r>
              <a:rPr sz="1800" dirty="0">
                <a:solidFill>
                  <a:srgbClr val="6600CC"/>
                </a:solidFill>
                <a:latin typeface="BPG Courier S GPL&amp;GNU"/>
                <a:cs typeface="BPG Courier S GPL&amp;GNU"/>
              </a:rPr>
              <a:t>er</a:t>
            </a:r>
            <a:endParaRPr sz="1800">
              <a:latin typeface="BPG Courier S GPL&amp;GNU"/>
              <a:cs typeface="BPG Courier S GPL&amp;GNU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880228" y="4504182"/>
            <a:ext cx="577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00000"/>
                </a:solidFill>
                <a:latin typeface="BPG Courier S GPL&amp;GNU"/>
                <a:cs typeface="BPG Courier S GPL&amp;GNU"/>
              </a:rPr>
              <a:t>long</a:t>
            </a:r>
            <a:endParaRPr sz="1800">
              <a:latin typeface="BPG Courier S GPL&amp;GNU"/>
              <a:cs typeface="BPG Courier S GPL&amp;GNU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328028" y="4504182"/>
            <a:ext cx="577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600CC"/>
                </a:solidFill>
                <a:latin typeface="BPG Courier S GPL&amp;GNU"/>
                <a:cs typeface="BPG Courier S GPL&amp;GNU"/>
              </a:rPr>
              <a:t>Long</a:t>
            </a:r>
            <a:endParaRPr sz="1800">
              <a:latin typeface="BPG Courier S GPL&amp;GNU"/>
              <a:cs typeface="BPG Courier S GPL&amp;GNU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880228" y="4869942"/>
            <a:ext cx="7150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00000"/>
                </a:solidFill>
                <a:latin typeface="BPG Courier S GPL&amp;GNU"/>
                <a:cs typeface="BPG Courier S GPL&amp;GNU"/>
              </a:rPr>
              <a:t>float</a:t>
            </a:r>
            <a:endParaRPr sz="1800">
              <a:latin typeface="BPG Courier S GPL&amp;GNU"/>
              <a:cs typeface="BPG Courier S GPL&amp;GNU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328028" y="4869942"/>
            <a:ext cx="7150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600CC"/>
                </a:solidFill>
                <a:latin typeface="BPG Courier S GPL&amp;GNU"/>
                <a:cs typeface="BPG Courier S GPL&amp;GNU"/>
              </a:rPr>
              <a:t>Float</a:t>
            </a:r>
            <a:endParaRPr sz="1800">
              <a:latin typeface="BPG Courier S GPL&amp;GNU"/>
              <a:cs typeface="BPG Courier S GPL&amp;GNU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880228" y="5235397"/>
            <a:ext cx="8540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800000"/>
                </a:solidFill>
                <a:latin typeface="BPG Courier S GPL&amp;GNU"/>
                <a:cs typeface="BPG Courier S GPL&amp;GNU"/>
              </a:rPr>
              <a:t>d</a:t>
            </a:r>
            <a:r>
              <a:rPr sz="1800" dirty="0">
                <a:solidFill>
                  <a:srgbClr val="800000"/>
                </a:solidFill>
                <a:latin typeface="BPG Courier S GPL&amp;GNU"/>
                <a:cs typeface="BPG Courier S GPL&amp;GNU"/>
              </a:rPr>
              <a:t>oub</a:t>
            </a:r>
            <a:r>
              <a:rPr sz="1800" spc="5" dirty="0">
                <a:solidFill>
                  <a:srgbClr val="800000"/>
                </a:solidFill>
                <a:latin typeface="BPG Courier S GPL&amp;GNU"/>
                <a:cs typeface="BPG Courier S GPL&amp;GNU"/>
              </a:rPr>
              <a:t>l</a:t>
            </a:r>
            <a:r>
              <a:rPr sz="1800" dirty="0">
                <a:solidFill>
                  <a:srgbClr val="800000"/>
                </a:solidFill>
                <a:latin typeface="BPG Courier S GPL&amp;GNU"/>
                <a:cs typeface="BPG Courier S GPL&amp;GNU"/>
              </a:rPr>
              <a:t>e</a:t>
            </a:r>
            <a:endParaRPr sz="1800">
              <a:latin typeface="BPG Courier S GPL&amp;GNU"/>
              <a:cs typeface="BPG Courier S GPL&amp;GNU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328028" y="5235397"/>
            <a:ext cx="8540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6600CC"/>
                </a:solidFill>
                <a:latin typeface="BPG Courier S GPL&amp;GNU"/>
                <a:cs typeface="BPG Courier S GPL&amp;GNU"/>
              </a:rPr>
              <a:t>D</a:t>
            </a:r>
            <a:r>
              <a:rPr sz="1800" dirty="0">
                <a:solidFill>
                  <a:srgbClr val="6600CC"/>
                </a:solidFill>
                <a:latin typeface="BPG Courier S GPL&amp;GNU"/>
                <a:cs typeface="BPG Courier S GPL&amp;GNU"/>
              </a:rPr>
              <a:t>oub</a:t>
            </a:r>
            <a:r>
              <a:rPr sz="1800" spc="5" dirty="0">
                <a:solidFill>
                  <a:srgbClr val="6600CC"/>
                </a:solidFill>
                <a:latin typeface="BPG Courier S GPL&amp;GNU"/>
                <a:cs typeface="BPG Courier S GPL&amp;GNU"/>
              </a:rPr>
              <a:t>l</a:t>
            </a:r>
            <a:r>
              <a:rPr sz="1800" dirty="0">
                <a:solidFill>
                  <a:srgbClr val="6600CC"/>
                </a:solidFill>
                <a:latin typeface="BPG Courier S GPL&amp;GNU"/>
                <a:cs typeface="BPG Courier S GPL&amp;GNU"/>
              </a:rPr>
              <a:t>e</a:t>
            </a:r>
            <a:endParaRPr sz="1800">
              <a:latin typeface="BPG Courier S GPL&amp;GNU"/>
              <a:cs typeface="BPG Courier S GPL&amp;GNU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880228" y="5601716"/>
            <a:ext cx="577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00000"/>
                </a:solidFill>
                <a:latin typeface="BPG Courier S GPL&amp;GNU"/>
                <a:cs typeface="BPG Courier S GPL&amp;GNU"/>
              </a:rPr>
              <a:t>char</a:t>
            </a:r>
            <a:endParaRPr sz="1800">
              <a:latin typeface="BPG Courier S GPL&amp;GNU"/>
              <a:cs typeface="BPG Courier S GPL&amp;GNU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328028" y="5601716"/>
            <a:ext cx="12680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600CC"/>
                </a:solidFill>
                <a:latin typeface="BPG Courier S GPL&amp;GNU"/>
                <a:cs typeface="BPG Courier S GPL&amp;GNU"/>
              </a:rPr>
              <a:t>Char</a:t>
            </a:r>
            <a:r>
              <a:rPr sz="1800" spc="5" dirty="0">
                <a:solidFill>
                  <a:srgbClr val="6600CC"/>
                </a:solidFill>
                <a:latin typeface="BPG Courier S GPL&amp;GNU"/>
                <a:cs typeface="BPG Courier S GPL&amp;GNU"/>
              </a:rPr>
              <a:t>a</a:t>
            </a:r>
            <a:r>
              <a:rPr sz="1800" dirty="0">
                <a:solidFill>
                  <a:srgbClr val="6600CC"/>
                </a:solidFill>
                <a:latin typeface="BPG Courier S GPL&amp;GNU"/>
                <a:cs typeface="BPG Courier S GPL&amp;GNU"/>
              </a:rPr>
              <a:t>ct</a:t>
            </a:r>
            <a:r>
              <a:rPr sz="1800" spc="5" dirty="0">
                <a:solidFill>
                  <a:srgbClr val="6600CC"/>
                </a:solidFill>
                <a:latin typeface="BPG Courier S GPL&amp;GNU"/>
                <a:cs typeface="BPG Courier S GPL&amp;GNU"/>
              </a:rPr>
              <a:t>e</a:t>
            </a:r>
            <a:r>
              <a:rPr sz="1800" dirty="0">
                <a:solidFill>
                  <a:srgbClr val="6600CC"/>
                </a:solidFill>
                <a:latin typeface="BPG Courier S GPL&amp;GNU"/>
                <a:cs typeface="BPG Courier S GPL&amp;GNU"/>
              </a:rPr>
              <a:t>r</a:t>
            </a:r>
            <a:endParaRPr sz="1800">
              <a:latin typeface="BPG Courier S GPL&amp;GNU"/>
              <a:cs typeface="BPG Courier S GPL&amp;GNU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880228" y="5967476"/>
            <a:ext cx="991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00000"/>
                </a:solidFill>
                <a:latin typeface="BPG Courier S GPL&amp;GNU"/>
                <a:cs typeface="BPG Courier S GPL&amp;GNU"/>
              </a:rPr>
              <a:t>bool</a:t>
            </a:r>
            <a:r>
              <a:rPr sz="1800" spc="5" dirty="0">
                <a:solidFill>
                  <a:srgbClr val="800000"/>
                </a:solidFill>
                <a:latin typeface="BPG Courier S GPL&amp;GNU"/>
                <a:cs typeface="BPG Courier S GPL&amp;GNU"/>
              </a:rPr>
              <a:t>e</a:t>
            </a:r>
            <a:r>
              <a:rPr sz="1800" dirty="0">
                <a:solidFill>
                  <a:srgbClr val="800000"/>
                </a:solidFill>
                <a:latin typeface="BPG Courier S GPL&amp;GNU"/>
                <a:cs typeface="BPG Courier S GPL&amp;GNU"/>
              </a:rPr>
              <a:t>an</a:t>
            </a:r>
            <a:endParaRPr sz="1800">
              <a:latin typeface="BPG Courier S GPL&amp;GNU"/>
              <a:cs typeface="BPG Courier S GPL&amp;GNU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328028" y="5967476"/>
            <a:ext cx="991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600CC"/>
                </a:solidFill>
                <a:latin typeface="BPG Courier S GPL&amp;GNU"/>
                <a:cs typeface="BPG Courier S GPL&amp;GNU"/>
              </a:rPr>
              <a:t>Bool</a:t>
            </a:r>
            <a:r>
              <a:rPr sz="1800" spc="5" dirty="0">
                <a:solidFill>
                  <a:srgbClr val="6600CC"/>
                </a:solidFill>
                <a:latin typeface="BPG Courier S GPL&amp;GNU"/>
                <a:cs typeface="BPG Courier S GPL&amp;GNU"/>
              </a:rPr>
              <a:t>e</a:t>
            </a:r>
            <a:r>
              <a:rPr sz="1800" dirty="0">
                <a:solidFill>
                  <a:srgbClr val="6600CC"/>
                </a:solidFill>
                <a:latin typeface="BPG Courier S GPL&amp;GNU"/>
                <a:cs typeface="BPG Courier S GPL&amp;GNU"/>
              </a:rPr>
              <a:t>an</a:t>
            </a:r>
            <a:endParaRPr sz="1800">
              <a:latin typeface="BPG Courier S GPL&amp;GNU"/>
              <a:cs typeface="BPG Courier S GPL&amp;GNU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880228" y="6340855"/>
            <a:ext cx="11868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5" dirty="0">
                <a:latin typeface="Arial"/>
                <a:cs typeface="Arial"/>
              </a:rPr>
              <a:t>and</a:t>
            </a:r>
            <a:r>
              <a:rPr sz="1600" i="1" spc="-65" dirty="0">
                <a:latin typeface="Arial"/>
                <a:cs typeface="Arial"/>
              </a:rPr>
              <a:t> </a:t>
            </a:r>
            <a:r>
              <a:rPr sz="1600" i="1" spc="-5" dirty="0">
                <a:latin typeface="Arial"/>
                <a:cs typeface="Arial"/>
              </a:rPr>
              <a:t>others…</a:t>
            </a:r>
            <a:endParaRPr sz="16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64540" y="3989070"/>
            <a:ext cx="3420110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These are called 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 wrapper classes </a:t>
            </a:r>
            <a:r>
              <a:rPr sz="2400" spc="-5" dirty="0">
                <a:latin typeface="Arial"/>
                <a:cs typeface="Arial"/>
              </a:rPr>
              <a:t>– </a:t>
            </a:r>
            <a:r>
              <a:rPr sz="2400" spc="-10" dirty="0">
                <a:latin typeface="Arial"/>
                <a:cs typeface="Arial"/>
              </a:rPr>
              <a:t>one  </a:t>
            </a:r>
            <a:r>
              <a:rPr sz="2400" spc="-5" dirty="0">
                <a:latin typeface="Arial"/>
                <a:cs typeface="Arial"/>
              </a:rPr>
              <a:t>wrapper class  corresponding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each  primitive data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type</a:t>
            </a:r>
            <a:endParaRPr sz="24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04519" y="6534404"/>
            <a:ext cx="1685289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003399"/>
                </a:solidFill>
                <a:latin typeface="Arial Black"/>
                <a:cs typeface="Arial Black"/>
              </a:rPr>
              <a:t>[501043 </a:t>
            </a:r>
            <a:r>
              <a:rPr sz="800" spc="5" dirty="0">
                <a:solidFill>
                  <a:srgbClr val="003399"/>
                </a:solidFill>
                <a:latin typeface="Arial Black"/>
                <a:cs typeface="Arial Black"/>
              </a:rPr>
              <a:t>Lecture </a:t>
            </a:r>
            <a:r>
              <a:rPr sz="800" dirty="0">
                <a:solidFill>
                  <a:srgbClr val="003399"/>
                </a:solidFill>
                <a:latin typeface="Arial Black"/>
                <a:cs typeface="Arial Black"/>
              </a:rPr>
              <a:t>: OOP Part</a:t>
            </a:r>
            <a:r>
              <a:rPr sz="800" spc="-185" dirty="0">
                <a:solidFill>
                  <a:srgbClr val="003399"/>
                </a:solidFill>
                <a:latin typeface="Arial Black"/>
                <a:cs typeface="Arial Black"/>
              </a:rPr>
              <a:t> </a:t>
            </a:r>
            <a:r>
              <a:rPr sz="800" dirty="0">
                <a:solidFill>
                  <a:srgbClr val="003399"/>
                </a:solidFill>
                <a:latin typeface="Arial Black"/>
                <a:cs typeface="Arial Black"/>
              </a:rPr>
              <a:t>1]</a:t>
            </a:r>
            <a:endParaRPr sz="8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140" y="1043432"/>
            <a:ext cx="8263255" cy="539115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355600" marR="5080" indent="-343535">
              <a:lnSpc>
                <a:spcPts val="2710"/>
              </a:lnSpc>
              <a:spcBef>
                <a:spcPts val="33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dirty="0">
                <a:latin typeface="Arial"/>
                <a:cs typeface="Arial"/>
              </a:rPr>
              <a:t>We may convert </a:t>
            </a:r>
            <a:r>
              <a:rPr sz="2400" spc="-5" dirty="0">
                <a:latin typeface="Arial"/>
                <a:cs typeface="Arial"/>
              </a:rPr>
              <a:t>a primitive </a:t>
            </a:r>
            <a:r>
              <a:rPr sz="2400" dirty="0">
                <a:latin typeface="Arial"/>
                <a:cs typeface="Arial"/>
              </a:rPr>
              <a:t>type </a:t>
            </a:r>
            <a:r>
              <a:rPr sz="2400" spc="-5" dirty="0">
                <a:latin typeface="Arial"/>
                <a:cs typeface="Arial"/>
              </a:rPr>
              <a:t>value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its corresponding  object. Example: between </a:t>
            </a:r>
            <a:r>
              <a:rPr sz="2400" b="1" spc="-5" dirty="0">
                <a:latin typeface="Courier New"/>
                <a:cs typeface="Courier New"/>
              </a:rPr>
              <a:t>int</a:t>
            </a:r>
            <a:r>
              <a:rPr sz="2400" b="1" spc="-735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Arial"/>
                <a:cs typeface="Arial"/>
              </a:rPr>
              <a:t>and </a:t>
            </a:r>
            <a:r>
              <a:rPr sz="2400" b="1" spc="-5" dirty="0">
                <a:latin typeface="Courier New"/>
                <a:cs typeface="Courier New"/>
              </a:rPr>
              <a:t>Integer</a:t>
            </a:r>
            <a:r>
              <a:rPr sz="2400" spc="-5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 marL="683260" lvl="1" indent="-327025">
              <a:lnSpc>
                <a:spcPct val="100000"/>
              </a:lnSpc>
              <a:spcBef>
                <a:spcPts val="555"/>
              </a:spcBef>
              <a:buClr>
                <a:srgbClr val="4B6C4E"/>
              </a:buClr>
              <a:buSzPct val="58333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1800" b="1" spc="-5" dirty="0">
                <a:latin typeface="Courier New"/>
                <a:cs typeface="Courier New"/>
              </a:rPr>
              <a:t>int </a:t>
            </a:r>
            <a:r>
              <a:rPr sz="1800" b="1" dirty="0">
                <a:latin typeface="Courier New"/>
                <a:cs typeface="Courier New"/>
              </a:rPr>
              <a:t>x =</a:t>
            </a:r>
            <a:r>
              <a:rPr sz="1800" b="1" spc="-50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9;</a:t>
            </a:r>
            <a:endParaRPr sz="1800">
              <a:latin typeface="Courier New"/>
              <a:cs typeface="Courier New"/>
            </a:endParaRPr>
          </a:p>
          <a:p>
            <a:pPr marL="683260">
              <a:lnSpc>
                <a:spcPct val="100000"/>
              </a:lnSpc>
            </a:pPr>
            <a:r>
              <a:rPr sz="1800" b="1" spc="-10" dirty="0">
                <a:solidFill>
                  <a:srgbClr val="C00000"/>
                </a:solidFill>
                <a:latin typeface="Courier New"/>
                <a:cs typeface="Courier New"/>
              </a:rPr>
              <a:t>Integer </a:t>
            </a:r>
            <a:r>
              <a:rPr sz="1800" b="1" dirty="0">
                <a:latin typeface="Courier New"/>
                <a:cs typeface="Courier New"/>
              </a:rPr>
              <a:t>y = </a:t>
            </a:r>
            <a:r>
              <a:rPr sz="1800" b="1" spc="-10" dirty="0">
                <a:latin typeface="Courier New"/>
                <a:cs typeface="Courier New"/>
              </a:rPr>
              <a:t>new</a:t>
            </a:r>
            <a:r>
              <a:rPr sz="1800" b="1" spc="-60" dirty="0"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ourier New"/>
                <a:cs typeface="Courier New"/>
              </a:rPr>
              <a:t>Integer</a:t>
            </a:r>
            <a:r>
              <a:rPr sz="1800" b="1" spc="-10" dirty="0">
                <a:latin typeface="Courier New"/>
                <a:cs typeface="Courier New"/>
              </a:rPr>
              <a:t>(x);</a:t>
            </a:r>
            <a:endParaRPr sz="1800">
              <a:latin typeface="Courier New"/>
              <a:cs typeface="Courier New"/>
            </a:endParaRPr>
          </a:p>
          <a:p>
            <a:pPr marL="683260">
              <a:lnSpc>
                <a:spcPct val="100000"/>
              </a:lnSpc>
            </a:pPr>
            <a:r>
              <a:rPr sz="1800" b="1" spc="-10" dirty="0">
                <a:latin typeface="Courier New"/>
                <a:cs typeface="Courier New"/>
              </a:rPr>
              <a:t>System.out.println("Value in </a:t>
            </a:r>
            <a:r>
              <a:rPr sz="1800" b="1" dirty="0">
                <a:latin typeface="Courier New"/>
                <a:cs typeface="Courier New"/>
              </a:rPr>
              <a:t>y = " +</a:t>
            </a:r>
            <a:r>
              <a:rPr sz="1800" b="1" spc="-8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y.</a:t>
            </a:r>
            <a:r>
              <a:rPr sz="1800" b="1" spc="-10" dirty="0">
                <a:solidFill>
                  <a:srgbClr val="800000"/>
                </a:solidFill>
                <a:latin typeface="Courier New"/>
                <a:cs typeface="Courier New"/>
              </a:rPr>
              <a:t>intValue()</a:t>
            </a:r>
            <a:r>
              <a:rPr sz="1800" b="1" spc="-10" dirty="0">
                <a:latin typeface="Courier New"/>
                <a:cs typeface="Courier New"/>
              </a:rPr>
              <a:t>);</a:t>
            </a:r>
            <a:endParaRPr sz="1800">
              <a:latin typeface="Courier New"/>
              <a:cs typeface="Courier New"/>
            </a:endParaRPr>
          </a:p>
          <a:p>
            <a:pPr marL="355600" marR="647700" indent="-343535">
              <a:lnSpc>
                <a:spcPct val="100000"/>
              </a:lnSpc>
              <a:spcBef>
                <a:spcPts val="1355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Wrapper classes </a:t>
            </a:r>
            <a:r>
              <a:rPr sz="2400" dirty="0">
                <a:latin typeface="Arial"/>
                <a:cs typeface="Arial"/>
              </a:rPr>
              <a:t>offer </a:t>
            </a:r>
            <a:r>
              <a:rPr sz="2400" spc="-5" dirty="0">
                <a:latin typeface="Arial"/>
                <a:cs typeface="Arial"/>
              </a:rPr>
              <a:t>methods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perform conversion  between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types</a:t>
            </a:r>
            <a:endParaRPr sz="24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1205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Example: conversion between string and</a:t>
            </a:r>
            <a:r>
              <a:rPr sz="2400" spc="8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integer:</a:t>
            </a:r>
            <a:endParaRPr sz="2400">
              <a:latin typeface="Arial"/>
              <a:cs typeface="Arial"/>
            </a:endParaRPr>
          </a:p>
          <a:p>
            <a:pPr marL="683260" lvl="1" indent="-327025">
              <a:lnSpc>
                <a:spcPct val="100000"/>
              </a:lnSpc>
              <a:spcBef>
                <a:spcPts val="420"/>
              </a:spcBef>
              <a:buClr>
                <a:srgbClr val="4B6C4E"/>
              </a:buClr>
              <a:buSzPct val="60000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000" b="1" spc="-5" dirty="0">
                <a:latin typeface="Courier New"/>
                <a:cs typeface="Courier New"/>
              </a:rPr>
              <a:t>int num </a:t>
            </a:r>
            <a:r>
              <a:rPr sz="2000" b="1" dirty="0">
                <a:latin typeface="Courier New"/>
                <a:cs typeface="Courier New"/>
              </a:rPr>
              <a:t>=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ourier New"/>
                <a:cs typeface="Courier New"/>
              </a:rPr>
              <a:t>Integer</a:t>
            </a:r>
            <a:r>
              <a:rPr sz="2000" b="1" spc="-5" dirty="0">
                <a:latin typeface="Courier New"/>
                <a:cs typeface="Courier New"/>
              </a:rPr>
              <a:t>.</a:t>
            </a:r>
            <a:r>
              <a:rPr sz="2000" b="1" spc="-5" dirty="0">
                <a:solidFill>
                  <a:srgbClr val="C00000"/>
                </a:solidFill>
                <a:latin typeface="Courier New"/>
                <a:cs typeface="Courier New"/>
              </a:rPr>
              <a:t>valueOf</a:t>
            </a:r>
            <a:r>
              <a:rPr sz="2000" b="1" spc="-5" dirty="0">
                <a:latin typeface="Courier New"/>
                <a:cs typeface="Courier New"/>
              </a:rPr>
              <a:t>("28");</a:t>
            </a:r>
            <a:endParaRPr sz="2000">
              <a:latin typeface="Courier New"/>
              <a:cs typeface="Courier New"/>
            </a:endParaRPr>
          </a:p>
          <a:p>
            <a:pPr marL="1035050" lvl="2" indent="-352425">
              <a:lnSpc>
                <a:spcPct val="100000"/>
              </a:lnSpc>
              <a:spcBef>
                <a:spcPts val="50"/>
              </a:spcBef>
              <a:buClr>
                <a:srgbClr val="009999"/>
              </a:buClr>
              <a:buSzPct val="65000"/>
              <a:buFont typeface="Wingdings"/>
              <a:buChar char=""/>
              <a:tabLst>
                <a:tab pos="1035050" algn="l"/>
                <a:tab pos="1035685" algn="l"/>
              </a:tabLst>
            </a:pPr>
            <a:r>
              <a:rPr sz="2000" b="1" dirty="0">
                <a:latin typeface="Courier New"/>
                <a:cs typeface="Courier New"/>
              </a:rPr>
              <a:t>num</a:t>
            </a:r>
            <a:r>
              <a:rPr sz="2000" b="1" spc="-775" dirty="0">
                <a:latin typeface="Courier New"/>
                <a:cs typeface="Courier New"/>
              </a:rPr>
              <a:t> </a:t>
            </a:r>
            <a:r>
              <a:rPr sz="2000" dirty="0">
                <a:latin typeface="Arial"/>
                <a:cs typeface="Arial"/>
              </a:rPr>
              <a:t>contains 28 after the above statement</a:t>
            </a:r>
            <a:endParaRPr sz="2000">
              <a:latin typeface="Arial"/>
              <a:cs typeface="Arial"/>
            </a:endParaRPr>
          </a:p>
          <a:p>
            <a:pPr marL="683260" lvl="1" indent="-327025">
              <a:lnSpc>
                <a:spcPct val="100000"/>
              </a:lnSpc>
              <a:spcBef>
                <a:spcPts val="1155"/>
              </a:spcBef>
              <a:buClr>
                <a:srgbClr val="4B6C4E"/>
              </a:buClr>
              <a:buSzPct val="60000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000" b="1" spc="-5" dirty="0">
                <a:latin typeface="Courier New"/>
                <a:cs typeface="Courier New"/>
              </a:rPr>
              <a:t>String str </a:t>
            </a:r>
            <a:r>
              <a:rPr sz="2000" b="1" dirty="0">
                <a:latin typeface="Courier New"/>
                <a:cs typeface="Courier New"/>
              </a:rPr>
              <a:t>=</a:t>
            </a:r>
            <a:r>
              <a:rPr sz="2000" b="1" spc="-5" dirty="0"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ourier New"/>
                <a:cs typeface="Courier New"/>
              </a:rPr>
              <a:t>Integer</a:t>
            </a:r>
            <a:r>
              <a:rPr sz="2000" b="1" spc="-5" dirty="0">
                <a:latin typeface="Courier New"/>
                <a:cs typeface="Courier New"/>
              </a:rPr>
              <a:t>.</a:t>
            </a:r>
            <a:r>
              <a:rPr sz="2000" b="1" spc="-5" dirty="0">
                <a:solidFill>
                  <a:srgbClr val="C00000"/>
                </a:solidFill>
                <a:latin typeface="Courier New"/>
                <a:cs typeface="Courier New"/>
              </a:rPr>
              <a:t>toString</a:t>
            </a:r>
            <a:r>
              <a:rPr sz="2000" b="1" spc="-5" dirty="0">
                <a:latin typeface="Courier New"/>
                <a:cs typeface="Courier New"/>
              </a:rPr>
              <a:t>(567);</a:t>
            </a:r>
            <a:endParaRPr sz="2000">
              <a:latin typeface="Courier New"/>
              <a:cs typeface="Courier New"/>
            </a:endParaRPr>
          </a:p>
          <a:p>
            <a:pPr marL="1035050" lvl="2" indent="-352425">
              <a:lnSpc>
                <a:spcPct val="100000"/>
              </a:lnSpc>
              <a:spcBef>
                <a:spcPts val="45"/>
              </a:spcBef>
              <a:buClr>
                <a:srgbClr val="009999"/>
              </a:buClr>
              <a:buSzPct val="65000"/>
              <a:buFont typeface="Wingdings"/>
              <a:buChar char=""/>
              <a:tabLst>
                <a:tab pos="1035050" algn="l"/>
                <a:tab pos="1035685" algn="l"/>
              </a:tabLst>
            </a:pPr>
            <a:r>
              <a:rPr sz="2000" b="1" spc="-5" dirty="0">
                <a:latin typeface="Courier New"/>
                <a:cs typeface="Courier New"/>
              </a:rPr>
              <a:t>str</a:t>
            </a:r>
            <a:r>
              <a:rPr sz="2000" b="1" spc="-76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Arial"/>
                <a:cs typeface="Arial"/>
              </a:rPr>
              <a:t>contains “567” after </a:t>
            </a:r>
            <a:r>
              <a:rPr sz="2000" dirty="0">
                <a:latin typeface="Arial"/>
                <a:cs typeface="Arial"/>
              </a:rPr>
              <a:t>the </a:t>
            </a:r>
            <a:r>
              <a:rPr sz="2000" spc="-5" dirty="0">
                <a:latin typeface="Arial"/>
                <a:cs typeface="Arial"/>
              </a:rPr>
              <a:t>above </a:t>
            </a:r>
            <a:r>
              <a:rPr sz="2000" dirty="0">
                <a:latin typeface="Arial"/>
                <a:cs typeface="Arial"/>
              </a:rPr>
              <a:t>statement</a:t>
            </a:r>
            <a:endParaRPr sz="20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133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Look </a:t>
            </a:r>
            <a:r>
              <a:rPr sz="2400" dirty="0">
                <a:latin typeface="Arial"/>
                <a:cs typeface="Arial"/>
              </a:rPr>
              <a:t>up the </a:t>
            </a:r>
            <a:r>
              <a:rPr sz="2400" spc="-5" dirty="0">
                <a:latin typeface="Arial"/>
                <a:cs typeface="Arial"/>
              </a:rPr>
              <a:t>API documentation and explore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5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wrapper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Arial"/>
                <a:cs typeface="Arial"/>
              </a:rPr>
              <a:t>classes on your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own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93444" y="248158"/>
            <a:ext cx="46266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Wrapper </a:t>
            </a:r>
            <a:r>
              <a:rPr spc="75" dirty="0"/>
              <a:t>Classes</a:t>
            </a:r>
            <a:r>
              <a:rPr spc="-85" dirty="0"/>
              <a:t> </a:t>
            </a:r>
            <a:r>
              <a:rPr spc="60" dirty="0"/>
              <a:t>(2/2)</a:t>
            </a:r>
          </a:p>
        </p:txBody>
      </p:sp>
      <p:sp>
        <p:nvSpPr>
          <p:cNvPr id="4" name="object 4"/>
          <p:cNvSpPr/>
          <p:nvPr/>
        </p:nvSpPr>
        <p:spPr>
          <a:xfrm>
            <a:off x="163068" y="187452"/>
            <a:ext cx="523240" cy="2708275"/>
          </a:xfrm>
          <a:custGeom>
            <a:avLst/>
            <a:gdLst/>
            <a:ahLst/>
            <a:cxnLst/>
            <a:rect l="l" t="t" r="r" b="b"/>
            <a:pathLst>
              <a:path w="523240" h="2708275">
                <a:moveTo>
                  <a:pt x="522731" y="0"/>
                </a:moveTo>
                <a:lnTo>
                  <a:pt x="0" y="0"/>
                </a:lnTo>
                <a:lnTo>
                  <a:pt x="0" y="2708148"/>
                </a:lnTo>
                <a:lnTo>
                  <a:pt x="522731" y="2708148"/>
                </a:lnTo>
                <a:lnTo>
                  <a:pt x="522731" y="0"/>
                </a:lnTo>
                <a:close/>
              </a:path>
            </a:pathLst>
          </a:custGeom>
          <a:solidFill>
            <a:srgbClr val="FFCC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44239" y="293415"/>
            <a:ext cx="381000" cy="25241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990"/>
              </a:lnSpc>
            </a:pPr>
            <a:r>
              <a:rPr sz="2800" dirty="0">
                <a:solidFill>
                  <a:srgbClr val="C00000"/>
                </a:solidFill>
                <a:latin typeface="Trebuchet MS"/>
                <a:cs typeface="Trebuchet MS"/>
              </a:rPr>
              <a:t>4. </a:t>
            </a:r>
            <a:r>
              <a:rPr sz="2800" spc="5" dirty="0">
                <a:solidFill>
                  <a:srgbClr val="000099"/>
                </a:solidFill>
                <a:latin typeface="Trebuchet MS"/>
                <a:cs typeface="Trebuchet MS"/>
              </a:rPr>
              <a:t>More</a:t>
            </a:r>
            <a:r>
              <a:rPr sz="2800" spc="-60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800" spc="55" dirty="0">
                <a:solidFill>
                  <a:srgbClr val="000099"/>
                </a:solidFill>
                <a:latin typeface="Trebuchet MS"/>
                <a:cs typeface="Trebuchet MS"/>
              </a:rPr>
              <a:t>Classes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</a:t>
            </a:r>
            <a:r>
              <a:rPr spc="5" dirty="0"/>
              <a:t>Lecture </a:t>
            </a:r>
            <a:r>
              <a:rPr dirty="0"/>
              <a:t>: OOP Part</a:t>
            </a:r>
            <a:r>
              <a:rPr spc="-190" dirty="0"/>
              <a:t> </a:t>
            </a:r>
            <a:r>
              <a:rPr dirty="0"/>
              <a:t>1]  </a:t>
            </a:r>
            <a:r>
              <a:rPr spc="-130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r>
              <a:rPr spc="-5" dirty="0"/>
              <a:t>42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48158"/>
            <a:ext cx="35267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15" dirty="0">
                <a:uFill>
                  <a:solidFill>
                    <a:srgbClr val="003399"/>
                  </a:solidFill>
                </a:uFill>
              </a:rPr>
              <a:t>Point</a:t>
            </a:r>
            <a:r>
              <a:rPr spc="-15" dirty="0"/>
              <a:t> </a:t>
            </a:r>
            <a:r>
              <a:rPr spc="85" dirty="0"/>
              <a:t>Class</a:t>
            </a:r>
            <a:r>
              <a:rPr spc="-70" dirty="0"/>
              <a:t> </a:t>
            </a:r>
            <a:r>
              <a:rPr spc="60" dirty="0"/>
              <a:t>(1/5)</a:t>
            </a:r>
          </a:p>
        </p:txBody>
      </p:sp>
      <p:sp>
        <p:nvSpPr>
          <p:cNvPr id="3" name="object 3"/>
          <p:cNvSpPr/>
          <p:nvPr/>
        </p:nvSpPr>
        <p:spPr>
          <a:xfrm>
            <a:off x="163068" y="187452"/>
            <a:ext cx="523240" cy="2708275"/>
          </a:xfrm>
          <a:custGeom>
            <a:avLst/>
            <a:gdLst/>
            <a:ahLst/>
            <a:cxnLst/>
            <a:rect l="l" t="t" r="r" b="b"/>
            <a:pathLst>
              <a:path w="523240" h="2708275">
                <a:moveTo>
                  <a:pt x="522731" y="0"/>
                </a:moveTo>
                <a:lnTo>
                  <a:pt x="0" y="0"/>
                </a:lnTo>
                <a:lnTo>
                  <a:pt x="0" y="2708148"/>
                </a:lnTo>
                <a:lnTo>
                  <a:pt x="522731" y="2708148"/>
                </a:lnTo>
                <a:lnTo>
                  <a:pt x="522731" y="0"/>
                </a:lnTo>
                <a:close/>
              </a:path>
            </a:pathLst>
          </a:custGeom>
          <a:solidFill>
            <a:srgbClr val="FFCC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44239" y="293415"/>
            <a:ext cx="381000" cy="25241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990"/>
              </a:lnSpc>
            </a:pPr>
            <a:r>
              <a:rPr sz="2800" dirty="0">
                <a:solidFill>
                  <a:srgbClr val="C00000"/>
                </a:solidFill>
                <a:latin typeface="Trebuchet MS"/>
                <a:cs typeface="Trebuchet MS"/>
              </a:rPr>
              <a:t>4. </a:t>
            </a:r>
            <a:r>
              <a:rPr sz="2800" spc="5" dirty="0">
                <a:solidFill>
                  <a:srgbClr val="000099"/>
                </a:solidFill>
                <a:latin typeface="Trebuchet MS"/>
                <a:cs typeface="Trebuchet MS"/>
              </a:rPr>
              <a:t>More</a:t>
            </a:r>
            <a:r>
              <a:rPr sz="2800" spc="-60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800" spc="55" dirty="0">
                <a:solidFill>
                  <a:srgbClr val="000099"/>
                </a:solidFill>
                <a:latin typeface="Trebuchet MS"/>
                <a:cs typeface="Trebuchet MS"/>
              </a:rPr>
              <a:t>Classes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419600" y="2743200"/>
            <a:ext cx="4572000" cy="31699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4540" y="1016253"/>
            <a:ext cx="7790815" cy="4355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An </a:t>
            </a:r>
            <a:r>
              <a:rPr sz="2400" dirty="0">
                <a:latin typeface="Arial"/>
                <a:cs typeface="Arial"/>
              </a:rPr>
              <a:t>OOP </a:t>
            </a:r>
            <a:r>
              <a:rPr sz="2400" spc="-5" dirty="0">
                <a:latin typeface="Arial"/>
                <a:cs typeface="Arial"/>
              </a:rPr>
              <a:t>program allows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creation </a:t>
            </a:r>
            <a:r>
              <a:rPr sz="2400" dirty="0">
                <a:latin typeface="Arial"/>
                <a:cs typeface="Arial"/>
              </a:rPr>
              <a:t>of </a:t>
            </a:r>
            <a:r>
              <a:rPr sz="2400" spc="-5" dirty="0">
                <a:solidFill>
                  <a:srgbClr val="C00000"/>
                </a:solidFill>
                <a:latin typeface="Arial"/>
                <a:cs typeface="Arial"/>
              </a:rPr>
              <a:t>instances </a:t>
            </a:r>
            <a:r>
              <a:rPr sz="2400" spc="-5" dirty="0">
                <a:latin typeface="Arial"/>
                <a:cs typeface="Arial"/>
              </a:rPr>
              <a:t>(also  called </a:t>
            </a: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objects</a:t>
            </a:r>
            <a:r>
              <a:rPr sz="2400" dirty="0">
                <a:latin typeface="Arial"/>
                <a:cs typeface="Arial"/>
              </a:rPr>
              <a:t>) </a:t>
            </a:r>
            <a:r>
              <a:rPr sz="2400" spc="-5" dirty="0">
                <a:latin typeface="Arial"/>
                <a:cs typeface="Arial"/>
              </a:rPr>
              <a:t>of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spc="-5" dirty="0">
                <a:solidFill>
                  <a:srgbClr val="C00000"/>
                </a:solidFill>
                <a:latin typeface="Arial"/>
                <a:cs typeface="Arial"/>
              </a:rPr>
              <a:t>class </a:t>
            </a:r>
            <a:r>
              <a:rPr sz="2400" spc="-5" dirty="0">
                <a:latin typeface="Arial"/>
                <a:cs typeface="Arial"/>
              </a:rPr>
              <a:t>and passing </a:t>
            </a:r>
            <a:r>
              <a:rPr sz="2400" spc="-5" dirty="0">
                <a:solidFill>
                  <a:srgbClr val="C00000"/>
                </a:solidFill>
                <a:latin typeface="Arial"/>
                <a:cs typeface="Arial"/>
              </a:rPr>
              <a:t>messages </a:t>
            </a:r>
            <a:r>
              <a:rPr sz="2400" dirty="0">
                <a:latin typeface="Arial"/>
                <a:cs typeface="Arial"/>
              </a:rPr>
              <a:t>to  </a:t>
            </a:r>
            <a:r>
              <a:rPr sz="2400" spc="-5" dirty="0">
                <a:latin typeface="Arial"/>
                <a:cs typeface="Arial"/>
              </a:rPr>
              <a:t>these objects (calling methods on </a:t>
            </a:r>
            <a:r>
              <a:rPr sz="2400" dirty="0">
                <a:latin typeface="Arial"/>
                <a:cs typeface="Arial"/>
              </a:rPr>
              <a:t>these</a:t>
            </a:r>
            <a:r>
              <a:rPr sz="2400" spc="5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objects)</a:t>
            </a:r>
            <a:endParaRPr sz="24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60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dirty="0">
                <a:latin typeface="Arial"/>
                <a:cs typeface="Arial"/>
              </a:rPr>
              <a:t>We </a:t>
            </a:r>
            <a:r>
              <a:rPr sz="2400" spc="-5" dirty="0">
                <a:latin typeface="Arial"/>
                <a:cs typeface="Arial"/>
              </a:rPr>
              <a:t>have used 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Scanner </a:t>
            </a:r>
            <a:r>
              <a:rPr sz="2400" spc="-5" dirty="0">
                <a:latin typeface="Arial"/>
                <a:cs typeface="Arial"/>
              </a:rPr>
              <a:t>and 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String</a:t>
            </a:r>
            <a:r>
              <a:rPr sz="2400" spc="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classes</a:t>
            </a:r>
            <a:endParaRPr sz="2400">
              <a:latin typeface="Arial"/>
              <a:cs typeface="Arial"/>
            </a:endParaRPr>
          </a:p>
          <a:p>
            <a:pPr marL="355600" marR="4464685" indent="-343535">
              <a:lnSpc>
                <a:spcPct val="100000"/>
              </a:lnSpc>
              <a:spcBef>
                <a:spcPts val="1685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dirty="0">
                <a:latin typeface="Arial"/>
                <a:cs typeface="Arial"/>
              </a:rPr>
              <a:t>We </a:t>
            </a:r>
            <a:r>
              <a:rPr sz="2400" spc="-5" dirty="0">
                <a:latin typeface="Arial"/>
                <a:cs typeface="Arial"/>
              </a:rPr>
              <a:t>introduce another  class, 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Point</a:t>
            </a:r>
            <a:r>
              <a:rPr sz="2400" spc="-5" dirty="0">
                <a:latin typeface="Arial"/>
                <a:cs typeface="Arial"/>
              </a:rPr>
              <a:t>, which  contains a number </a:t>
            </a:r>
            <a:r>
              <a:rPr sz="2400" dirty="0">
                <a:latin typeface="Arial"/>
                <a:cs typeface="Arial"/>
              </a:rPr>
              <a:t>of  OOP </a:t>
            </a:r>
            <a:r>
              <a:rPr sz="2400" spc="-5" dirty="0">
                <a:latin typeface="Arial"/>
                <a:cs typeface="Arial"/>
              </a:rPr>
              <a:t>concepts </a:t>
            </a:r>
            <a:r>
              <a:rPr sz="2400" dirty="0">
                <a:latin typeface="Arial"/>
                <a:cs typeface="Arial"/>
              </a:rPr>
              <a:t>we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will  explore in more depth  in next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lecture</a:t>
            </a:r>
            <a:endParaRPr sz="2400">
              <a:latin typeface="Arial"/>
              <a:cs typeface="Arial"/>
            </a:endParaRPr>
          </a:p>
          <a:p>
            <a:pPr marL="812800" lvl="1" indent="-343535">
              <a:lnSpc>
                <a:spcPct val="100000"/>
              </a:lnSpc>
              <a:spcBef>
                <a:spcPts val="605"/>
              </a:spcBef>
              <a:buClr>
                <a:srgbClr val="009999"/>
              </a:buClr>
              <a:buSzPct val="65000"/>
              <a:buFont typeface="Wingdings"/>
              <a:buChar char=""/>
              <a:tabLst>
                <a:tab pos="812800" algn="l"/>
                <a:tab pos="813435" algn="l"/>
              </a:tabLst>
            </a:pPr>
            <a:r>
              <a:rPr sz="2000" dirty="0">
                <a:latin typeface="Arial"/>
                <a:cs typeface="Arial"/>
              </a:rPr>
              <a:t>Import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java.awt</a:t>
            </a:r>
            <a:r>
              <a:rPr sz="2000" spc="-6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package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470653" y="4808982"/>
            <a:ext cx="376555" cy="180340"/>
          </a:xfrm>
          <a:custGeom>
            <a:avLst/>
            <a:gdLst/>
            <a:ahLst/>
            <a:cxnLst/>
            <a:rect l="l" t="t" r="r" b="b"/>
            <a:pathLst>
              <a:path w="376554" h="180339">
                <a:moveTo>
                  <a:pt x="0" y="29972"/>
                </a:moveTo>
                <a:lnTo>
                  <a:pt x="2361" y="18323"/>
                </a:lnTo>
                <a:lnTo>
                  <a:pt x="8794" y="8794"/>
                </a:lnTo>
                <a:lnTo>
                  <a:pt x="18323" y="2361"/>
                </a:lnTo>
                <a:lnTo>
                  <a:pt x="29972" y="0"/>
                </a:lnTo>
                <a:lnTo>
                  <a:pt x="346456" y="0"/>
                </a:lnTo>
                <a:lnTo>
                  <a:pt x="358104" y="2361"/>
                </a:lnTo>
                <a:lnTo>
                  <a:pt x="367633" y="8794"/>
                </a:lnTo>
                <a:lnTo>
                  <a:pt x="374066" y="18323"/>
                </a:lnTo>
                <a:lnTo>
                  <a:pt x="376428" y="29972"/>
                </a:lnTo>
                <a:lnTo>
                  <a:pt x="376428" y="149860"/>
                </a:lnTo>
                <a:lnTo>
                  <a:pt x="374066" y="161508"/>
                </a:lnTo>
                <a:lnTo>
                  <a:pt x="367633" y="171037"/>
                </a:lnTo>
                <a:lnTo>
                  <a:pt x="358104" y="177470"/>
                </a:lnTo>
                <a:lnTo>
                  <a:pt x="346456" y="179832"/>
                </a:lnTo>
                <a:lnTo>
                  <a:pt x="29972" y="179832"/>
                </a:lnTo>
                <a:lnTo>
                  <a:pt x="18323" y="177470"/>
                </a:lnTo>
                <a:lnTo>
                  <a:pt x="8794" y="171037"/>
                </a:lnTo>
                <a:lnTo>
                  <a:pt x="2361" y="161508"/>
                </a:lnTo>
                <a:lnTo>
                  <a:pt x="0" y="149860"/>
                </a:lnTo>
                <a:lnTo>
                  <a:pt x="0" y="29972"/>
                </a:lnTo>
                <a:close/>
              </a:path>
            </a:pathLst>
          </a:custGeom>
          <a:ln w="1981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</a:t>
            </a:r>
            <a:r>
              <a:rPr spc="5" dirty="0"/>
              <a:t>Lecture </a:t>
            </a:r>
            <a:r>
              <a:rPr dirty="0"/>
              <a:t>: OOP Part</a:t>
            </a:r>
            <a:r>
              <a:rPr spc="-190" dirty="0"/>
              <a:t> </a:t>
            </a:r>
            <a:r>
              <a:rPr dirty="0"/>
              <a:t>1]  </a:t>
            </a:r>
            <a:r>
              <a:rPr spc="-130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r>
              <a:rPr spc="-5" dirty="0"/>
              <a:t>43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925470"/>
            <a:ext cx="7538084" cy="324167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15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Point </a:t>
            </a:r>
            <a:r>
              <a:rPr sz="2400" spc="-5" dirty="0">
                <a:latin typeface="Arial"/>
                <a:cs typeface="Arial"/>
              </a:rPr>
              <a:t>class contains 2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attributes</a:t>
            </a:r>
            <a:endParaRPr sz="2400">
              <a:latin typeface="Arial"/>
              <a:cs typeface="Arial"/>
            </a:endParaRPr>
          </a:p>
          <a:p>
            <a:pPr marL="683260" lvl="1" indent="-327025">
              <a:lnSpc>
                <a:spcPct val="100000"/>
              </a:lnSpc>
              <a:spcBef>
                <a:spcPts val="600"/>
              </a:spcBef>
              <a:buClr>
                <a:srgbClr val="4B6C4E"/>
              </a:buClr>
              <a:buSzPct val="60000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000" dirty="0">
                <a:latin typeface="Arial"/>
                <a:cs typeface="Arial"/>
              </a:rPr>
              <a:t>Sometimes also called </a:t>
            </a: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data</a:t>
            </a:r>
            <a:r>
              <a:rPr sz="2000" spc="-11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members</a:t>
            </a:r>
            <a:endParaRPr sz="2000">
              <a:latin typeface="Arial"/>
              <a:cs typeface="Arial"/>
            </a:endParaRPr>
          </a:p>
          <a:p>
            <a:pPr marL="683260" lvl="1" indent="-327025">
              <a:lnSpc>
                <a:spcPct val="100000"/>
              </a:lnSpc>
              <a:spcBef>
                <a:spcPts val="605"/>
              </a:spcBef>
              <a:buClr>
                <a:srgbClr val="4B6C4E"/>
              </a:buClr>
              <a:buSzPct val="60000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000" dirty="0">
                <a:latin typeface="Arial"/>
                <a:cs typeface="Arial"/>
              </a:rPr>
              <a:t>In the </a:t>
            </a:r>
            <a:r>
              <a:rPr sz="2000" spc="-5" dirty="0">
                <a:latin typeface="Arial"/>
                <a:cs typeface="Arial"/>
              </a:rPr>
              <a:t>API </a:t>
            </a:r>
            <a:r>
              <a:rPr sz="2000" dirty="0">
                <a:latin typeface="Arial"/>
                <a:cs typeface="Arial"/>
              </a:rPr>
              <a:t>documention, they are labelled as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fields</a:t>
            </a:r>
            <a:endParaRPr sz="2000">
              <a:latin typeface="Arial"/>
              <a:cs typeface="Arial"/>
            </a:endParaRPr>
          </a:p>
          <a:p>
            <a:pPr marL="355600" marR="86995" indent="-343535">
              <a:lnSpc>
                <a:spcPct val="100000"/>
              </a:lnSpc>
              <a:spcBef>
                <a:spcPts val="595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Attributes can be </a:t>
            </a:r>
            <a:r>
              <a:rPr sz="2400" spc="-5" dirty="0">
                <a:solidFill>
                  <a:srgbClr val="C00000"/>
                </a:solidFill>
                <a:latin typeface="Arial"/>
                <a:cs typeface="Arial"/>
              </a:rPr>
              <a:t>class attributes </a:t>
            </a:r>
            <a:r>
              <a:rPr sz="2000" dirty="0">
                <a:latin typeface="Arial"/>
                <a:cs typeface="Arial"/>
              </a:rPr>
              <a:t>(with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static </a:t>
            </a:r>
            <a:r>
              <a:rPr sz="2000" dirty="0">
                <a:latin typeface="Arial"/>
                <a:cs typeface="Arial"/>
              </a:rPr>
              <a:t>modifier) </a:t>
            </a:r>
            <a:r>
              <a:rPr sz="2400" spc="-5" dirty="0">
                <a:latin typeface="Arial"/>
                <a:cs typeface="Arial"/>
              </a:rPr>
              <a:t>or </a:t>
            </a:r>
            <a:r>
              <a:rPr sz="2400" spc="-5" dirty="0">
                <a:solidFill>
                  <a:srgbClr val="C00000"/>
                </a:solidFill>
                <a:latin typeface="Arial"/>
                <a:cs typeface="Arial"/>
              </a:rPr>
              <a:t> instance </a:t>
            </a: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attributes </a:t>
            </a:r>
            <a:r>
              <a:rPr sz="2400" spc="-5" dirty="0">
                <a:latin typeface="Arial"/>
                <a:cs typeface="Arial"/>
              </a:rPr>
              <a:t>(without 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static</a:t>
            </a:r>
            <a:r>
              <a:rPr sz="2400" spc="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modifier)</a:t>
            </a:r>
            <a:endParaRPr sz="2400">
              <a:latin typeface="Arial"/>
              <a:cs typeface="Arial"/>
            </a:endParaRPr>
          </a:p>
          <a:p>
            <a:pPr marL="683260" lvl="1" indent="-327025">
              <a:lnSpc>
                <a:spcPct val="100000"/>
              </a:lnSpc>
              <a:spcBef>
                <a:spcPts val="605"/>
              </a:spcBef>
              <a:buClr>
                <a:srgbClr val="4B6C4E"/>
              </a:buClr>
              <a:buSzPct val="60000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000" dirty="0">
                <a:latin typeface="Arial"/>
                <a:cs typeface="Arial"/>
              </a:rPr>
              <a:t>Details to be covered in </a:t>
            </a:r>
            <a:r>
              <a:rPr sz="2000" spc="-5" dirty="0">
                <a:latin typeface="Arial"/>
                <a:cs typeface="Arial"/>
              </a:rPr>
              <a:t>next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lecture</a:t>
            </a:r>
            <a:endParaRPr sz="2000">
              <a:latin typeface="Arial"/>
              <a:cs typeface="Arial"/>
            </a:endParaRPr>
          </a:p>
          <a:p>
            <a:pPr marL="355600" marR="5080" indent="-343535">
              <a:lnSpc>
                <a:spcPct val="100000"/>
              </a:lnSpc>
              <a:spcBef>
                <a:spcPts val="60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2 attributes in 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Point </a:t>
            </a:r>
            <a:r>
              <a:rPr sz="2400" spc="-5" dirty="0">
                <a:latin typeface="Arial"/>
                <a:cs typeface="Arial"/>
              </a:rPr>
              <a:t>class are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instance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attributes</a:t>
            </a:r>
            <a:r>
              <a:rPr sz="2400" dirty="0">
                <a:latin typeface="Arial"/>
                <a:cs typeface="Arial"/>
              </a:rPr>
              <a:t>: </a:t>
            </a:r>
            <a:r>
              <a:rPr sz="2400" dirty="0">
                <a:solidFill>
                  <a:srgbClr val="6F2F9F"/>
                </a:solidFill>
                <a:latin typeface="Arial"/>
                <a:cs typeface="Arial"/>
              </a:rPr>
              <a:t> x </a:t>
            </a:r>
            <a:r>
              <a:rPr sz="2400" spc="-5" dirty="0">
                <a:latin typeface="Arial"/>
                <a:cs typeface="Arial"/>
              </a:rPr>
              <a:t>and </a:t>
            </a:r>
            <a:r>
              <a:rPr sz="2400" spc="-5" dirty="0">
                <a:solidFill>
                  <a:srgbClr val="6F2F9F"/>
                </a:solidFill>
                <a:latin typeface="Arial"/>
                <a:cs typeface="Arial"/>
              </a:rPr>
              <a:t>y</a:t>
            </a:r>
            <a:r>
              <a:rPr sz="2400" spc="-5" dirty="0">
                <a:latin typeface="Arial"/>
                <a:cs typeface="Arial"/>
              </a:rPr>
              <a:t>, representing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x- and</a:t>
            </a:r>
            <a:r>
              <a:rPr sz="2400" spc="3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y-coordinates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93444" y="248158"/>
            <a:ext cx="57594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15" dirty="0">
                <a:uFill>
                  <a:solidFill>
                    <a:srgbClr val="003399"/>
                  </a:solidFill>
                </a:uFill>
              </a:rPr>
              <a:t>Point</a:t>
            </a:r>
            <a:r>
              <a:rPr spc="-15" dirty="0"/>
              <a:t> </a:t>
            </a:r>
            <a:r>
              <a:rPr spc="85" dirty="0"/>
              <a:t>Class </a:t>
            </a:r>
            <a:r>
              <a:rPr dirty="0"/>
              <a:t>(2/5):</a:t>
            </a:r>
            <a:r>
              <a:rPr spc="-135" dirty="0"/>
              <a:t> </a:t>
            </a:r>
            <a:r>
              <a:rPr spc="-80" dirty="0"/>
              <a:t>Attributes</a:t>
            </a:r>
          </a:p>
        </p:txBody>
      </p:sp>
      <p:sp>
        <p:nvSpPr>
          <p:cNvPr id="4" name="object 4"/>
          <p:cNvSpPr/>
          <p:nvPr/>
        </p:nvSpPr>
        <p:spPr>
          <a:xfrm>
            <a:off x="163068" y="187452"/>
            <a:ext cx="523240" cy="2708275"/>
          </a:xfrm>
          <a:custGeom>
            <a:avLst/>
            <a:gdLst/>
            <a:ahLst/>
            <a:cxnLst/>
            <a:rect l="l" t="t" r="r" b="b"/>
            <a:pathLst>
              <a:path w="523240" h="2708275">
                <a:moveTo>
                  <a:pt x="522731" y="0"/>
                </a:moveTo>
                <a:lnTo>
                  <a:pt x="0" y="0"/>
                </a:lnTo>
                <a:lnTo>
                  <a:pt x="0" y="2708148"/>
                </a:lnTo>
                <a:lnTo>
                  <a:pt x="522731" y="2708148"/>
                </a:lnTo>
                <a:lnTo>
                  <a:pt x="522731" y="0"/>
                </a:lnTo>
                <a:close/>
              </a:path>
            </a:pathLst>
          </a:custGeom>
          <a:solidFill>
            <a:srgbClr val="FFCC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44239" y="293415"/>
            <a:ext cx="381000" cy="25241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990"/>
              </a:lnSpc>
            </a:pPr>
            <a:r>
              <a:rPr sz="2800" dirty="0">
                <a:solidFill>
                  <a:srgbClr val="C00000"/>
                </a:solidFill>
                <a:latin typeface="Trebuchet MS"/>
                <a:cs typeface="Trebuchet MS"/>
              </a:rPr>
              <a:t>4. </a:t>
            </a:r>
            <a:r>
              <a:rPr sz="2800" spc="5" dirty="0">
                <a:solidFill>
                  <a:srgbClr val="000099"/>
                </a:solidFill>
                <a:latin typeface="Trebuchet MS"/>
                <a:cs typeface="Trebuchet MS"/>
              </a:rPr>
              <a:t>More</a:t>
            </a:r>
            <a:r>
              <a:rPr sz="2800" spc="-60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800" spc="55" dirty="0">
                <a:solidFill>
                  <a:srgbClr val="000099"/>
                </a:solidFill>
                <a:latin typeface="Trebuchet MS"/>
                <a:cs typeface="Trebuchet MS"/>
              </a:rPr>
              <a:t>Classes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43379" y="4419600"/>
            <a:ext cx="5026152" cy="18449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</a:t>
            </a:r>
            <a:r>
              <a:rPr spc="5" dirty="0"/>
              <a:t>Lecture </a:t>
            </a:r>
            <a:r>
              <a:rPr dirty="0"/>
              <a:t>: OOP Part</a:t>
            </a:r>
            <a:r>
              <a:rPr spc="-190" dirty="0"/>
              <a:t> </a:t>
            </a:r>
            <a:r>
              <a:rPr dirty="0"/>
              <a:t>1]  </a:t>
            </a:r>
            <a:r>
              <a:rPr spc="-130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r>
              <a:rPr spc="-5" dirty="0"/>
              <a:t>44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1016253"/>
            <a:ext cx="7470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These are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overloaded </a:t>
            </a:r>
            <a:r>
              <a:rPr sz="2400" dirty="0">
                <a:latin typeface="Arial"/>
                <a:cs typeface="Arial"/>
              </a:rPr>
              <a:t>constructors </a:t>
            </a:r>
            <a:r>
              <a:rPr sz="2400" spc="-10" dirty="0">
                <a:latin typeface="Arial"/>
                <a:cs typeface="Arial"/>
              </a:rPr>
              <a:t>in 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Point</a:t>
            </a:r>
            <a:r>
              <a:rPr sz="2400" spc="8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class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93444" y="248158"/>
            <a:ext cx="64230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15" dirty="0">
                <a:uFill>
                  <a:solidFill>
                    <a:srgbClr val="003399"/>
                  </a:solidFill>
                </a:uFill>
              </a:rPr>
              <a:t>Point</a:t>
            </a:r>
            <a:r>
              <a:rPr spc="-15" dirty="0"/>
              <a:t> </a:t>
            </a:r>
            <a:r>
              <a:rPr spc="85" dirty="0"/>
              <a:t>Class </a:t>
            </a:r>
            <a:r>
              <a:rPr dirty="0"/>
              <a:t>(3/5):</a:t>
            </a:r>
            <a:r>
              <a:rPr spc="-175" dirty="0"/>
              <a:t> </a:t>
            </a:r>
            <a:r>
              <a:rPr spc="30" dirty="0"/>
              <a:t>Constructors</a:t>
            </a:r>
          </a:p>
        </p:txBody>
      </p:sp>
      <p:sp>
        <p:nvSpPr>
          <p:cNvPr id="4" name="object 4"/>
          <p:cNvSpPr/>
          <p:nvPr/>
        </p:nvSpPr>
        <p:spPr>
          <a:xfrm>
            <a:off x="163068" y="187452"/>
            <a:ext cx="523240" cy="2708275"/>
          </a:xfrm>
          <a:custGeom>
            <a:avLst/>
            <a:gdLst/>
            <a:ahLst/>
            <a:cxnLst/>
            <a:rect l="l" t="t" r="r" b="b"/>
            <a:pathLst>
              <a:path w="523240" h="2708275">
                <a:moveTo>
                  <a:pt x="522731" y="0"/>
                </a:moveTo>
                <a:lnTo>
                  <a:pt x="0" y="0"/>
                </a:lnTo>
                <a:lnTo>
                  <a:pt x="0" y="2708148"/>
                </a:lnTo>
                <a:lnTo>
                  <a:pt x="522731" y="2708148"/>
                </a:lnTo>
                <a:lnTo>
                  <a:pt x="522731" y="0"/>
                </a:lnTo>
                <a:close/>
              </a:path>
            </a:pathLst>
          </a:custGeom>
          <a:solidFill>
            <a:srgbClr val="FFCC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44239" y="293415"/>
            <a:ext cx="381000" cy="25241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990"/>
              </a:lnSpc>
            </a:pPr>
            <a:r>
              <a:rPr sz="2800" dirty="0">
                <a:solidFill>
                  <a:srgbClr val="C00000"/>
                </a:solidFill>
                <a:latin typeface="Trebuchet MS"/>
                <a:cs typeface="Trebuchet MS"/>
              </a:rPr>
              <a:t>4. </a:t>
            </a:r>
            <a:r>
              <a:rPr sz="2800" spc="5" dirty="0">
                <a:solidFill>
                  <a:srgbClr val="000099"/>
                </a:solidFill>
                <a:latin typeface="Trebuchet MS"/>
                <a:cs typeface="Trebuchet MS"/>
              </a:rPr>
              <a:t>More</a:t>
            </a:r>
            <a:r>
              <a:rPr sz="2800" spc="-60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800" spc="55" dirty="0">
                <a:solidFill>
                  <a:srgbClr val="000099"/>
                </a:solidFill>
                <a:latin typeface="Trebuchet MS"/>
                <a:cs typeface="Trebuchet MS"/>
              </a:rPr>
              <a:t>Classes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2046" y="1581645"/>
            <a:ext cx="4275482" cy="23730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64540" y="4065270"/>
            <a:ext cx="17894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dirty="0">
                <a:latin typeface="Arial"/>
                <a:cs typeface="Arial"/>
              </a:rPr>
              <a:t>E</a:t>
            </a:r>
            <a:r>
              <a:rPr sz="2400" spc="-20" dirty="0">
                <a:latin typeface="Arial"/>
                <a:cs typeface="Arial"/>
              </a:rPr>
              <a:t>x</a:t>
            </a:r>
            <a:r>
              <a:rPr sz="2400" spc="-5" dirty="0">
                <a:latin typeface="Arial"/>
                <a:cs typeface="Arial"/>
              </a:rPr>
              <a:t>amples: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3761" y="4572761"/>
            <a:ext cx="6858000" cy="646430"/>
          </a:xfrm>
          <a:prstGeom prst="rect">
            <a:avLst/>
          </a:prstGeom>
          <a:solidFill>
            <a:srgbClr val="FFFFCC"/>
          </a:solidFill>
          <a:ln w="25907">
            <a:solidFill>
              <a:srgbClr val="AAC9C9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90805" marR="575945">
              <a:lnSpc>
                <a:spcPct val="100000"/>
              </a:lnSpc>
              <a:spcBef>
                <a:spcPts val="145"/>
              </a:spcBef>
              <a:tabLst>
                <a:tab pos="4088765" algn="l"/>
              </a:tabLst>
            </a:pPr>
            <a:r>
              <a:rPr sz="1800" b="1" spc="-10" dirty="0">
                <a:latin typeface="Courier New"/>
                <a:cs typeface="Courier New"/>
              </a:rPr>
              <a:t>Point pt1 </a:t>
            </a:r>
            <a:r>
              <a:rPr sz="1800" b="1" dirty="0">
                <a:latin typeface="Courier New"/>
                <a:cs typeface="Courier New"/>
              </a:rPr>
              <a:t>= </a:t>
            </a:r>
            <a:r>
              <a:rPr sz="1800" b="1" spc="-5" dirty="0">
                <a:solidFill>
                  <a:srgbClr val="C00000"/>
                </a:solidFill>
                <a:latin typeface="Courier New"/>
                <a:cs typeface="Courier New"/>
              </a:rPr>
              <a:t>new </a:t>
            </a:r>
            <a:r>
              <a:rPr sz="1800" b="1" spc="-10" dirty="0">
                <a:latin typeface="Courier New"/>
                <a:cs typeface="Courier New"/>
              </a:rPr>
              <a:t>Point();	</a:t>
            </a:r>
            <a:r>
              <a:rPr sz="1800" b="1" spc="-5" dirty="0">
                <a:solidFill>
                  <a:srgbClr val="663300"/>
                </a:solidFill>
                <a:latin typeface="Courier New"/>
                <a:cs typeface="Courier New"/>
              </a:rPr>
              <a:t>// </a:t>
            </a:r>
            <a:r>
              <a:rPr sz="1800" b="1" spc="-10" dirty="0">
                <a:solidFill>
                  <a:srgbClr val="663300"/>
                </a:solidFill>
                <a:latin typeface="Courier New"/>
                <a:cs typeface="Courier New"/>
              </a:rPr>
              <a:t>pt1 is (0,</a:t>
            </a:r>
            <a:r>
              <a:rPr sz="1800" b="1" spc="-95" dirty="0">
                <a:solidFill>
                  <a:srgbClr val="663300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solidFill>
                  <a:srgbClr val="663300"/>
                </a:solidFill>
                <a:latin typeface="Courier New"/>
                <a:cs typeface="Courier New"/>
              </a:rPr>
              <a:t>0)  </a:t>
            </a:r>
            <a:r>
              <a:rPr sz="1800" b="1" spc="-10" dirty="0">
                <a:latin typeface="Courier New"/>
                <a:cs typeface="Courier New"/>
              </a:rPr>
              <a:t>Point pt2 </a:t>
            </a:r>
            <a:r>
              <a:rPr sz="1800" b="1" dirty="0">
                <a:latin typeface="Courier New"/>
                <a:cs typeface="Courier New"/>
              </a:rPr>
              <a:t>= </a:t>
            </a:r>
            <a:r>
              <a:rPr sz="1800" b="1" spc="-5" dirty="0">
                <a:solidFill>
                  <a:srgbClr val="C00000"/>
                </a:solidFill>
                <a:latin typeface="Courier New"/>
                <a:cs typeface="Courier New"/>
              </a:rPr>
              <a:t>new </a:t>
            </a:r>
            <a:r>
              <a:rPr sz="1800" b="1" spc="-10" dirty="0">
                <a:latin typeface="Courier New"/>
                <a:cs typeface="Courier New"/>
              </a:rPr>
              <a:t>Point(9, 6); </a:t>
            </a:r>
            <a:r>
              <a:rPr sz="1800" b="1" spc="-5" dirty="0">
                <a:solidFill>
                  <a:srgbClr val="663300"/>
                </a:solidFill>
                <a:latin typeface="Courier New"/>
                <a:cs typeface="Courier New"/>
              </a:rPr>
              <a:t>// </a:t>
            </a:r>
            <a:r>
              <a:rPr sz="1800" b="1" spc="-10" dirty="0">
                <a:solidFill>
                  <a:srgbClr val="663300"/>
                </a:solidFill>
                <a:latin typeface="Courier New"/>
                <a:cs typeface="Courier New"/>
              </a:rPr>
              <a:t>pt2 is (9,</a:t>
            </a:r>
            <a:r>
              <a:rPr sz="1800" b="1" spc="235" dirty="0">
                <a:solidFill>
                  <a:srgbClr val="663300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solidFill>
                  <a:srgbClr val="663300"/>
                </a:solidFill>
                <a:latin typeface="Courier New"/>
                <a:cs typeface="Courier New"/>
              </a:rPr>
              <a:t>6)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160008" y="3112007"/>
            <a:ext cx="927735" cy="330835"/>
            <a:chOff x="6160008" y="3112007"/>
            <a:chExt cx="927735" cy="330835"/>
          </a:xfrm>
        </p:grpSpPr>
        <p:sp>
          <p:nvSpPr>
            <p:cNvPr id="10" name="object 10"/>
            <p:cNvSpPr/>
            <p:nvPr/>
          </p:nvSpPr>
          <p:spPr>
            <a:xfrm>
              <a:off x="6172962" y="3124961"/>
              <a:ext cx="457200" cy="304800"/>
            </a:xfrm>
            <a:custGeom>
              <a:avLst/>
              <a:gdLst/>
              <a:ahLst/>
              <a:cxnLst/>
              <a:rect l="l" t="t" r="r" b="b"/>
              <a:pathLst>
                <a:path w="457200" h="304800">
                  <a:moveTo>
                    <a:pt x="457199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57199" y="304800"/>
                  </a:lnTo>
                  <a:lnTo>
                    <a:pt x="457199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172962" y="3124961"/>
              <a:ext cx="457200" cy="304800"/>
            </a:xfrm>
            <a:custGeom>
              <a:avLst/>
              <a:gdLst/>
              <a:ahLst/>
              <a:cxnLst/>
              <a:rect l="l" t="t" r="r" b="b"/>
              <a:pathLst>
                <a:path w="457200" h="304800">
                  <a:moveTo>
                    <a:pt x="0" y="304800"/>
                  </a:moveTo>
                  <a:lnTo>
                    <a:pt x="457199" y="304800"/>
                  </a:lnTo>
                  <a:lnTo>
                    <a:pt x="457199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25908">
              <a:solidFill>
                <a:srgbClr val="006E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477762" y="3210178"/>
              <a:ext cx="610235" cy="134620"/>
            </a:xfrm>
            <a:custGeom>
              <a:avLst/>
              <a:gdLst/>
              <a:ahLst/>
              <a:cxnLst/>
              <a:rect l="l" t="t" r="r" b="b"/>
              <a:pathLst>
                <a:path w="610234" h="134620">
                  <a:moveTo>
                    <a:pt x="552322" y="67183"/>
                  </a:moveTo>
                  <a:lnTo>
                    <a:pt x="486790" y="105410"/>
                  </a:lnTo>
                  <a:lnTo>
                    <a:pt x="479806" y="109347"/>
                  </a:lnTo>
                  <a:lnTo>
                    <a:pt x="477519" y="118237"/>
                  </a:lnTo>
                  <a:lnTo>
                    <a:pt x="481584" y="125095"/>
                  </a:lnTo>
                  <a:lnTo>
                    <a:pt x="485647" y="132080"/>
                  </a:lnTo>
                  <a:lnTo>
                    <a:pt x="494411" y="134366"/>
                  </a:lnTo>
                  <a:lnTo>
                    <a:pt x="584876" y="81661"/>
                  </a:lnTo>
                  <a:lnTo>
                    <a:pt x="580897" y="81661"/>
                  </a:lnTo>
                  <a:lnTo>
                    <a:pt x="580897" y="79629"/>
                  </a:lnTo>
                  <a:lnTo>
                    <a:pt x="573659" y="79629"/>
                  </a:lnTo>
                  <a:lnTo>
                    <a:pt x="552322" y="67183"/>
                  </a:lnTo>
                  <a:close/>
                </a:path>
                <a:path w="610234" h="134620">
                  <a:moveTo>
                    <a:pt x="527503" y="52705"/>
                  </a:moveTo>
                  <a:lnTo>
                    <a:pt x="0" y="52705"/>
                  </a:lnTo>
                  <a:lnTo>
                    <a:pt x="0" y="81661"/>
                  </a:lnTo>
                  <a:lnTo>
                    <a:pt x="527503" y="81661"/>
                  </a:lnTo>
                  <a:lnTo>
                    <a:pt x="552322" y="67183"/>
                  </a:lnTo>
                  <a:lnTo>
                    <a:pt x="527503" y="52705"/>
                  </a:lnTo>
                  <a:close/>
                </a:path>
                <a:path w="610234" h="134620">
                  <a:moveTo>
                    <a:pt x="584878" y="52705"/>
                  </a:moveTo>
                  <a:lnTo>
                    <a:pt x="580897" y="52705"/>
                  </a:lnTo>
                  <a:lnTo>
                    <a:pt x="580897" y="81661"/>
                  </a:lnTo>
                  <a:lnTo>
                    <a:pt x="584876" y="81661"/>
                  </a:lnTo>
                  <a:lnTo>
                    <a:pt x="609727" y="67183"/>
                  </a:lnTo>
                  <a:lnTo>
                    <a:pt x="584878" y="52705"/>
                  </a:lnTo>
                  <a:close/>
                </a:path>
                <a:path w="610234" h="134620">
                  <a:moveTo>
                    <a:pt x="573659" y="54737"/>
                  </a:moveTo>
                  <a:lnTo>
                    <a:pt x="552322" y="67183"/>
                  </a:lnTo>
                  <a:lnTo>
                    <a:pt x="573659" y="79629"/>
                  </a:lnTo>
                  <a:lnTo>
                    <a:pt x="573659" y="54737"/>
                  </a:lnTo>
                  <a:close/>
                </a:path>
                <a:path w="610234" h="134620">
                  <a:moveTo>
                    <a:pt x="580897" y="54737"/>
                  </a:moveTo>
                  <a:lnTo>
                    <a:pt x="573659" y="54737"/>
                  </a:lnTo>
                  <a:lnTo>
                    <a:pt x="573659" y="79629"/>
                  </a:lnTo>
                  <a:lnTo>
                    <a:pt x="580897" y="79629"/>
                  </a:lnTo>
                  <a:lnTo>
                    <a:pt x="580897" y="54737"/>
                  </a:lnTo>
                  <a:close/>
                </a:path>
                <a:path w="610234" h="134620">
                  <a:moveTo>
                    <a:pt x="494411" y="0"/>
                  </a:moveTo>
                  <a:lnTo>
                    <a:pt x="485647" y="2286"/>
                  </a:lnTo>
                  <a:lnTo>
                    <a:pt x="481584" y="9271"/>
                  </a:lnTo>
                  <a:lnTo>
                    <a:pt x="477519" y="16129"/>
                  </a:lnTo>
                  <a:lnTo>
                    <a:pt x="479806" y="25019"/>
                  </a:lnTo>
                  <a:lnTo>
                    <a:pt x="486790" y="28956"/>
                  </a:lnTo>
                  <a:lnTo>
                    <a:pt x="552322" y="67183"/>
                  </a:lnTo>
                  <a:lnTo>
                    <a:pt x="573659" y="54737"/>
                  </a:lnTo>
                  <a:lnTo>
                    <a:pt x="580897" y="54737"/>
                  </a:lnTo>
                  <a:lnTo>
                    <a:pt x="580897" y="52705"/>
                  </a:lnTo>
                  <a:lnTo>
                    <a:pt x="584878" y="52705"/>
                  </a:lnTo>
                  <a:lnTo>
                    <a:pt x="4944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163561" y="3124961"/>
            <a:ext cx="457200" cy="338455"/>
          </a:xfrm>
          <a:prstGeom prst="rect">
            <a:avLst/>
          </a:prstGeom>
          <a:ln w="28955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sz="1600" spc="-5" dirty="0">
                <a:latin typeface="Arial"/>
                <a:cs typeface="Arial"/>
              </a:rPr>
              <a:t>0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620761" y="3124961"/>
            <a:ext cx="457200" cy="338455"/>
          </a:xfrm>
          <a:custGeom>
            <a:avLst/>
            <a:gdLst/>
            <a:ahLst/>
            <a:cxnLst/>
            <a:rect l="l" t="t" r="r" b="b"/>
            <a:pathLst>
              <a:path w="457200" h="338454">
                <a:moveTo>
                  <a:pt x="457200" y="0"/>
                </a:moveTo>
                <a:lnTo>
                  <a:pt x="0" y="0"/>
                </a:lnTo>
                <a:lnTo>
                  <a:pt x="0" y="338327"/>
                </a:lnTo>
                <a:lnTo>
                  <a:pt x="457200" y="338327"/>
                </a:lnTo>
                <a:lnTo>
                  <a:pt x="4572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620761" y="3124961"/>
            <a:ext cx="457200" cy="338455"/>
          </a:xfrm>
          <a:prstGeom prst="rect">
            <a:avLst/>
          </a:prstGeom>
          <a:ln w="28955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sz="1600" spc="-5" dirty="0">
                <a:latin typeface="Arial"/>
                <a:cs typeface="Arial"/>
              </a:rPr>
              <a:t>0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23228" y="2847213"/>
            <a:ext cx="34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pt1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160008" y="3874008"/>
            <a:ext cx="927735" cy="330835"/>
            <a:chOff x="6160008" y="3874008"/>
            <a:chExt cx="927735" cy="330835"/>
          </a:xfrm>
        </p:grpSpPr>
        <p:sp>
          <p:nvSpPr>
            <p:cNvPr id="18" name="object 18"/>
            <p:cNvSpPr/>
            <p:nvPr/>
          </p:nvSpPr>
          <p:spPr>
            <a:xfrm>
              <a:off x="6172962" y="3886962"/>
              <a:ext cx="457200" cy="304800"/>
            </a:xfrm>
            <a:custGeom>
              <a:avLst/>
              <a:gdLst/>
              <a:ahLst/>
              <a:cxnLst/>
              <a:rect l="l" t="t" r="r" b="b"/>
              <a:pathLst>
                <a:path w="457200" h="304800">
                  <a:moveTo>
                    <a:pt x="457199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57199" y="304800"/>
                  </a:lnTo>
                  <a:lnTo>
                    <a:pt x="457199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72962" y="3886962"/>
              <a:ext cx="457200" cy="304800"/>
            </a:xfrm>
            <a:custGeom>
              <a:avLst/>
              <a:gdLst/>
              <a:ahLst/>
              <a:cxnLst/>
              <a:rect l="l" t="t" r="r" b="b"/>
              <a:pathLst>
                <a:path w="457200" h="304800">
                  <a:moveTo>
                    <a:pt x="0" y="304800"/>
                  </a:moveTo>
                  <a:lnTo>
                    <a:pt x="457199" y="304800"/>
                  </a:lnTo>
                  <a:lnTo>
                    <a:pt x="457199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25908">
              <a:solidFill>
                <a:srgbClr val="006E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553962" y="3972179"/>
              <a:ext cx="534035" cy="134620"/>
            </a:xfrm>
            <a:custGeom>
              <a:avLst/>
              <a:gdLst/>
              <a:ahLst/>
              <a:cxnLst/>
              <a:rect l="l" t="t" r="r" b="b"/>
              <a:pathLst>
                <a:path w="534034" h="134620">
                  <a:moveTo>
                    <a:pt x="476123" y="67183"/>
                  </a:moveTo>
                  <a:lnTo>
                    <a:pt x="410591" y="105410"/>
                  </a:lnTo>
                  <a:lnTo>
                    <a:pt x="403606" y="109347"/>
                  </a:lnTo>
                  <a:lnTo>
                    <a:pt x="401320" y="118237"/>
                  </a:lnTo>
                  <a:lnTo>
                    <a:pt x="405384" y="125095"/>
                  </a:lnTo>
                  <a:lnTo>
                    <a:pt x="409448" y="132080"/>
                  </a:lnTo>
                  <a:lnTo>
                    <a:pt x="418211" y="134366"/>
                  </a:lnTo>
                  <a:lnTo>
                    <a:pt x="508676" y="81661"/>
                  </a:lnTo>
                  <a:lnTo>
                    <a:pt x="504698" y="81661"/>
                  </a:lnTo>
                  <a:lnTo>
                    <a:pt x="504698" y="79629"/>
                  </a:lnTo>
                  <a:lnTo>
                    <a:pt x="497459" y="79629"/>
                  </a:lnTo>
                  <a:lnTo>
                    <a:pt x="476123" y="67183"/>
                  </a:lnTo>
                  <a:close/>
                </a:path>
                <a:path w="534034" h="134620">
                  <a:moveTo>
                    <a:pt x="451303" y="52705"/>
                  </a:moveTo>
                  <a:lnTo>
                    <a:pt x="0" y="52705"/>
                  </a:lnTo>
                  <a:lnTo>
                    <a:pt x="0" y="81661"/>
                  </a:lnTo>
                  <a:lnTo>
                    <a:pt x="451303" y="81661"/>
                  </a:lnTo>
                  <a:lnTo>
                    <a:pt x="476123" y="67183"/>
                  </a:lnTo>
                  <a:lnTo>
                    <a:pt x="451303" y="52705"/>
                  </a:lnTo>
                  <a:close/>
                </a:path>
                <a:path w="534034" h="134620">
                  <a:moveTo>
                    <a:pt x="508678" y="52705"/>
                  </a:moveTo>
                  <a:lnTo>
                    <a:pt x="504698" y="52705"/>
                  </a:lnTo>
                  <a:lnTo>
                    <a:pt x="504698" y="81661"/>
                  </a:lnTo>
                  <a:lnTo>
                    <a:pt x="508676" y="81661"/>
                  </a:lnTo>
                  <a:lnTo>
                    <a:pt x="533527" y="67183"/>
                  </a:lnTo>
                  <a:lnTo>
                    <a:pt x="508678" y="52705"/>
                  </a:lnTo>
                  <a:close/>
                </a:path>
                <a:path w="534034" h="134620">
                  <a:moveTo>
                    <a:pt x="497459" y="54737"/>
                  </a:moveTo>
                  <a:lnTo>
                    <a:pt x="476123" y="67183"/>
                  </a:lnTo>
                  <a:lnTo>
                    <a:pt x="497459" y="79629"/>
                  </a:lnTo>
                  <a:lnTo>
                    <a:pt x="497459" y="54737"/>
                  </a:lnTo>
                  <a:close/>
                </a:path>
                <a:path w="534034" h="134620">
                  <a:moveTo>
                    <a:pt x="504698" y="54737"/>
                  </a:moveTo>
                  <a:lnTo>
                    <a:pt x="497459" y="54737"/>
                  </a:lnTo>
                  <a:lnTo>
                    <a:pt x="497459" y="79629"/>
                  </a:lnTo>
                  <a:lnTo>
                    <a:pt x="504698" y="79629"/>
                  </a:lnTo>
                  <a:lnTo>
                    <a:pt x="504698" y="54737"/>
                  </a:lnTo>
                  <a:close/>
                </a:path>
                <a:path w="534034" h="134620">
                  <a:moveTo>
                    <a:pt x="418211" y="0"/>
                  </a:moveTo>
                  <a:lnTo>
                    <a:pt x="409448" y="2286"/>
                  </a:lnTo>
                  <a:lnTo>
                    <a:pt x="405384" y="9271"/>
                  </a:lnTo>
                  <a:lnTo>
                    <a:pt x="401320" y="16129"/>
                  </a:lnTo>
                  <a:lnTo>
                    <a:pt x="403606" y="25019"/>
                  </a:lnTo>
                  <a:lnTo>
                    <a:pt x="410591" y="28956"/>
                  </a:lnTo>
                  <a:lnTo>
                    <a:pt x="476123" y="67183"/>
                  </a:lnTo>
                  <a:lnTo>
                    <a:pt x="497459" y="54737"/>
                  </a:lnTo>
                  <a:lnTo>
                    <a:pt x="504698" y="54737"/>
                  </a:lnTo>
                  <a:lnTo>
                    <a:pt x="504698" y="52705"/>
                  </a:lnTo>
                  <a:lnTo>
                    <a:pt x="508678" y="52705"/>
                  </a:lnTo>
                  <a:lnTo>
                    <a:pt x="4182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163561" y="3886961"/>
            <a:ext cx="457200" cy="338455"/>
          </a:xfrm>
          <a:prstGeom prst="rect">
            <a:avLst/>
          </a:prstGeom>
          <a:ln w="28955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sz="1600" spc="-5" dirty="0">
                <a:latin typeface="Arial"/>
                <a:cs typeface="Arial"/>
              </a:rPr>
              <a:t>9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620761" y="3886961"/>
            <a:ext cx="457200" cy="338455"/>
          </a:xfrm>
          <a:custGeom>
            <a:avLst/>
            <a:gdLst/>
            <a:ahLst/>
            <a:cxnLst/>
            <a:rect l="l" t="t" r="r" b="b"/>
            <a:pathLst>
              <a:path w="457200" h="338454">
                <a:moveTo>
                  <a:pt x="457200" y="0"/>
                </a:moveTo>
                <a:lnTo>
                  <a:pt x="0" y="0"/>
                </a:lnTo>
                <a:lnTo>
                  <a:pt x="0" y="338327"/>
                </a:lnTo>
                <a:lnTo>
                  <a:pt x="457200" y="338327"/>
                </a:lnTo>
                <a:lnTo>
                  <a:pt x="4572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620761" y="3886961"/>
            <a:ext cx="457200" cy="338455"/>
          </a:xfrm>
          <a:prstGeom prst="rect">
            <a:avLst/>
          </a:prstGeom>
          <a:ln w="28955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sz="1600" spc="-5" dirty="0">
                <a:latin typeface="Arial"/>
                <a:cs typeface="Arial"/>
              </a:rPr>
              <a:t>6</a:t>
            </a:r>
            <a:endParaRPr sz="1600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</a:t>
            </a:r>
            <a:r>
              <a:rPr spc="5" dirty="0"/>
              <a:t>Lecture </a:t>
            </a:r>
            <a:r>
              <a:rPr dirty="0"/>
              <a:t>: OOP Part</a:t>
            </a:r>
            <a:r>
              <a:rPr spc="-190" dirty="0"/>
              <a:t> </a:t>
            </a:r>
            <a:r>
              <a:rPr dirty="0"/>
              <a:t>1]  </a:t>
            </a:r>
            <a:r>
              <a:rPr spc="-130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r>
              <a:rPr spc="-5" dirty="0"/>
              <a:t>45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023228" y="3609213"/>
            <a:ext cx="34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pt2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1016253"/>
            <a:ext cx="34188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Methods in 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Point</a:t>
            </a:r>
            <a:r>
              <a:rPr sz="2400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class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93444" y="248158"/>
            <a:ext cx="54737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15" dirty="0">
                <a:uFill>
                  <a:solidFill>
                    <a:srgbClr val="003399"/>
                  </a:solidFill>
                </a:uFill>
              </a:rPr>
              <a:t>Point</a:t>
            </a:r>
            <a:r>
              <a:rPr spc="-15" dirty="0"/>
              <a:t> </a:t>
            </a:r>
            <a:r>
              <a:rPr spc="85" dirty="0"/>
              <a:t>Class </a:t>
            </a:r>
            <a:r>
              <a:rPr dirty="0"/>
              <a:t>(4/5):</a:t>
            </a:r>
            <a:r>
              <a:rPr spc="-170" dirty="0"/>
              <a:t> </a:t>
            </a:r>
            <a:r>
              <a:rPr spc="-15" dirty="0"/>
              <a:t>Methods</a:t>
            </a:r>
          </a:p>
        </p:txBody>
      </p:sp>
      <p:sp>
        <p:nvSpPr>
          <p:cNvPr id="4" name="object 4"/>
          <p:cNvSpPr/>
          <p:nvPr/>
        </p:nvSpPr>
        <p:spPr>
          <a:xfrm>
            <a:off x="163068" y="187452"/>
            <a:ext cx="523240" cy="2708275"/>
          </a:xfrm>
          <a:custGeom>
            <a:avLst/>
            <a:gdLst/>
            <a:ahLst/>
            <a:cxnLst/>
            <a:rect l="l" t="t" r="r" b="b"/>
            <a:pathLst>
              <a:path w="523240" h="2708275">
                <a:moveTo>
                  <a:pt x="522731" y="0"/>
                </a:moveTo>
                <a:lnTo>
                  <a:pt x="0" y="0"/>
                </a:lnTo>
                <a:lnTo>
                  <a:pt x="0" y="2708148"/>
                </a:lnTo>
                <a:lnTo>
                  <a:pt x="522731" y="2708148"/>
                </a:lnTo>
                <a:lnTo>
                  <a:pt x="522731" y="0"/>
                </a:lnTo>
                <a:close/>
              </a:path>
            </a:pathLst>
          </a:custGeom>
          <a:solidFill>
            <a:srgbClr val="FFCC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44239" y="293415"/>
            <a:ext cx="381000" cy="25241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990"/>
              </a:lnSpc>
            </a:pPr>
            <a:r>
              <a:rPr sz="2800" dirty="0">
                <a:solidFill>
                  <a:srgbClr val="C00000"/>
                </a:solidFill>
                <a:latin typeface="Trebuchet MS"/>
                <a:cs typeface="Trebuchet MS"/>
              </a:rPr>
              <a:t>4. </a:t>
            </a:r>
            <a:r>
              <a:rPr sz="2800" spc="5" dirty="0">
                <a:solidFill>
                  <a:srgbClr val="000099"/>
                </a:solidFill>
                <a:latin typeface="Trebuchet MS"/>
                <a:cs typeface="Trebuchet MS"/>
              </a:rPr>
              <a:t>More</a:t>
            </a:r>
            <a:r>
              <a:rPr sz="2800" spc="-60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800" spc="55" dirty="0">
                <a:solidFill>
                  <a:srgbClr val="000099"/>
                </a:solidFill>
                <a:latin typeface="Trebuchet MS"/>
                <a:cs typeface="Trebuchet MS"/>
              </a:rPr>
              <a:t>Classes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20988" y="1465862"/>
            <a:ext cx="7487014" cy="48135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</a:t>
            </a:r>
            <a:r>
              <a:rPr spc="5" dirty="0"/>
              <a:t>Lecture </a:t>
            </a:r>
            <a:r>
              <a:rPr dirty="0"/>
              <a:t>: OOP Part</a:t>
            </a:r>
            <a:r>
              <a:rPr spc="-190" dirty="0"/>
              <a:t> </a:t>
            </a:r>
            <a:r>
              <a:rPr dirty="0"/>
              <a:t>1]  </a:t>
            </a:r>
            <a:r>
              <a:rPr spc="-130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r>
              <a:rPr spc="-5" dirty="0"/>
              <a:t>46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48158"/>
            <a:ext cx="49441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15" dirty="0">
                <a:uFill>
                  <a:solidFill>
                    <a:srgbClr val="003399"/>
                  </a:solidFill>
                </a:uFill>
              </a:rPr>
              <a:t>Point</a:t>
            </a:r>
            <a:r>
              <a:rPr spc="-15" dirty="0"/>
              <a:t> </a:t>
            </a:r>
            <a:r>
              <a:rPr spc="85" dirty="0"/>
              <a:t>Class </a:t>
            </a:r>
            <a:r>
              <a:rPr dirty="0"/>
              <a:t>(5/5):</a:t>
            </a:r>
            <a:r>
              <a:rPr spc="-165" dirty="0"/>
              <a:t> </a:t>
            </a:r>
            <a:r>
              <a:rPr spc="-15" dirty="0"/>
              <a:t>Demo</a:t>
            </a:r>
          </a:p>
        </p:txBody>
      </p:sp>
      <p:sp>
        <p:nvSpPr>
          <p:cNvPr id="3" name="object 3"/>
          <p:cNvSpPr/>
          <p:nvPr/>
        </p:nvSpPr>
        <p:spPr>
          <a:xfrm>
            <a:off x="163068" y="187452"/>
            <a:ext cx="523240" cy="2708275"/>
          </a:xfrm>
          <a:custGeom>
            <a:avLst/>
            <a:gdLst/>
            <a:ahLst/>
            <a:cxnLst/>
            <a:rect l="l" t="t" r="r" b="b"/>
            <a:pathLst>
              <a:path w="523240" h="2708275">
                <a:moveTo>
                  <a:pt x="522731" y="0"/>
                </a:moveTo>
                <a:lnTo>
                  <a:pt x="0" y="0"/>
                </a:lnTo>
                <a:lnTo>
                  <a:pt x="0" y="2708148"/>
                </a:lnTo>
                <a:lnTo>
                  <a:pt x="522731" y="2708148"/>
                </a:lnTo>
                <a:lnTo>
                  <a:pt x="522731" y="0"/>
                </a:lnTo>
                <a:close/>
              </a:path>
            </a:pathLst>
          </a:custGeom>
          <a:solidFill>
            <a:srgbClr val="FFCC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44239" y="293415"/>
            <a:ext cx="381000" cy="25241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990"/>
              </a:lnSpc>
            </a:pPr>
            <a:r>
              <a:rPr sz="2800" dirty="0">
                <a:solidFill>
                  <a:srgbClr val="C00000"/>
                </a:solidFill>
                <a:latin typeface="Trebuchet MS"/>
                <a:cs typeface="Trebuchet MS"/>
              </a:rPr>
              <a:t>4. </a:t>
            </a:r>
            <a:r>
              <a:rPr sz="2800" spc="5" dirty="0">
                <a:solidFill>
                  <a:srgbClr val="000099"/>
                </a:solidFill>
                <a:latin typeface="Trebuchet MS"/>
                <a:cs typeface="Trebuchet MS"/>
              </a:rPr>
              <a:t>More</a:t>
            </a:r>
            <a:r>
              <a:rPr sz="2800" spc="-60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800" spc="55" dirty="0">
                <a:solidFill>
                  <a:srgbClr val="000099"/>
                </a:solidFill>
                <a:latin typeface="Trebuchet MS"/>
                <a:cs typeface="Trebuchet MS"/>
              </a:rPr>
              <a:t>Classes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25944" y="1028636"/>
            <a:ext cx="8027034" cy="4826635"/>
            <a:chOff x="825944" y="1028636"/>
            <a:chExt cx="8027034" cy="4826635"/>
          </a:xfrm>
        </p:grpSpPr>
        <p:sp>
          <p:nvSpPr>
            <p:cNvPr id="6" name="object 6"/>
            <p:cNvSpPr/>
            <p:nvPr/>
          </p:nvSpPr>
          <p:spPr>
            <a:xfrm>
              <a:off x="838962" y="1041653"/>
              <a:ext cx="8001000" cy="4800600"/>
            </a:xfrm>
            <a:custGeom>
              <a:avLst/>
              <a:gdLst/>
              <a:ahLst/>
              <a:cxnLst/>
              <a:rect l="l" t="t" r="r" b="b"/>
              <a:pathLst>
                <a:path w="8001000" h="4800600">
                  <a:moveTo>
                    <a:pt x="8001000" y="0"/>
                  </a:moveTo>
                  <a:lnTo>
                    <a:pt x="0" y="0"/>
                  </a:lnTo>
                  <a:lnTo>
                    <a:pt x="0" y="255270"/>
                  </a:lnTo>
                  <a:lnTo>
                    <a:pt x="0" y="4445508"/>
                  </a:lnTo>
                  <a:lnTo>
                    <a:pt x="0" y="4800600"/>
                  </a:lnTo>
                  <a:lnTo>
                    <a:pt x="8001000" y="4800600"/>
                  </a:lnTo>
                  <a:lnTo>
                    <a:pt x="8001000" y="4445508"/>
                  </a:lnTo>
                  <a:lnTo>
                    <a:pt x="8001000" y="255270"/>
                  </a:lnTo>
                  <a:lnTo>
                    <a:pt x="80010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38962" y="1041654"/>
              <a:ext cx="8001000" cy="4800600"/>
            </a:xfrm>
            <a:custGeom>
              <a:avLst/>
              <a:gdLst/>
              <a:ahLst/>
              <a:cxnLst/>
              <a:rect l="l" t="t" r="r" b="b"/>
              <a:pathLst>
                <a:path w="8001000" h="4800600">
                  <a:moveTo>
                    <a:pt x="0" y="4800600"/>
                  </a:moveTo>
                  <a:lnTo>
                    <a:pt x="8001000" y="4800600"/>
                  </a:lnTo>
                  <a:lnTo>
                    <a:pt x="8001000" y="0"/>
                  </a:lnTo>
                  <a:lnTo>
                    <a:pt x="0" y="0"/>
                  </a:lnTo>
                  <a:lnTo>
                    <a:pt x="0" y="4800600"/>
                  </a:lnTo>
                  <a:close/>
                </a:path>
              </a:pathLst>
            </a:custGeom>
            <a:ln w="25908">
              <a:solidFill>
                <a:srgbClr val="AAC9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17244" y="1051052"/>
            <a:ext cx="31984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800000"/>
                </a:solidFill>
                <a:latin typeface="Courier New"/>
                <a:cs typeface="Courier New"/>
              </a:rPr>
              <a:t>// To test out Point</a:t>
            </a:r>
            <a:r>
              <a:rPr sz="1600" b="1" spc="-20" dirty="0">
                <a:solidFill>
                  <a:srgbClr val="800000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800000"/>
                </a:solidFill>
                <a:latin typeface="Courier New"/>
                <a:cs typeface="Courier New"/>
              </a:rPr>
              <a:t>class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07566" y="2422905"/>
            <a:ext cx="14884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Courier New"/>
                <a:cs typeface="Courier New"/>
              </a:rPr>
              <a:t>Scanner sc</a:t>
            </a:r>
            <a:r>
              <a:rPr sz="1600" b="1" spc="-7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=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99680" y="1981365"/>
            <a:ext cx="3056890" cy="718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305">
              <a:lnSpc>
                <a:spcPts val="1650"/>
              </a:lnSpc>
            </a:pPr>
            <a:r>
              <a:rPr sz="1600" b="1" spc="-5" dirty="0">
                <a:latin typeface="Courier New"/>
                <a:cs typeface="Courier New"/>
              </a:rPr>
              <a:t>oint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106680" indent="-107314">
              <a:lnSpc>
                <a:spcPct val="100000"/>
              </a:lnSpc>
            </a:pPr>
            <a:r>
              <a:rPr sz="1600" b="1" spc="-5" dirty="0">
                <a:solidFill>
                  <a:srgbClr val="0000FF"/>
                </a:solidFill>
                <a:latin typeface="Courier New"/>
                <a:cs typeface="Courier New"/>
              </a:rPr>
              <a:t>oid </a:t>
            </a:r>
            <a:r>
              <a:rPr sz="1600" b="1" spc="-5" dirty="0">
                <a:latin typeface="Courier New"/>
                <a:cs typeface="Courier New"/>
              </a:rPr>
              <a:t>main(String[] args) {  new</a:t>
            </a:r>
            <a:r>
              <a:rPr sz="1600" b="1" spc="-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Scanner(System.in);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57096" y="2819145"/>
            <a:ext cx="7339330" cy="2677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2585" marR="2571115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Courier New"/>
                <a:cs typeface="Courier New"/>
              </a:rPr>
              <a:t>System.out.print(</a:t>
            </a:r>
            <a:r>
              <a:rPr sz="1600" b="1" spc="-5" dirty="0">
                <a:solidFill>
                  <a:srgbClr val="008000"/>
                </a:solidFill>
                <a:latin typeface="Courier New"/>
                <a:cs typeface="Courier New"/>
              </a:rPr>
              <a:t>"Enter x and </a:t>
            </a:r>
            <a:r>
              <a:rPr sz="1600" b="1" dirty="0">
                <a:solidFill>
                  <a:srgbClr val="008000"/>
                </a:solidFill>
                <a:latin typeface="Courier New"/>
                <a:cs typeface="Courier New"/>
              </a:rPr>
              <a:t>y: "</a:t>
            </a:r>
            <a:r>
              <a:rPr sz="1600" b="1" dirty="0">
                <a:latin typeface="Courier New"/>
                <a:cs typeface="Courier New"/>
              </a:rPr>
              <a:t>);  </a:t>
            </a:r>
            <a:r>
              <a:rPr sz="1600" b="1" spc="-5" dirty="0">
                <a:solidFill>
                  <a:srgbClr val="0000FF"/>
                </a:solidFill>
                <a:latin typeface="Courier New"/>
                <a:cs typeface="Courier New"/>
              </a:rPr>
              <a:t>int </a:t>
            </a:r>
            <a:r>
              <a:rPr sz="1600" b="1" spc="-5" dirty="0">
                <a:latin typeface="Courier New"/>
                <a:cs typeface="Courier New"/>
              </a:rPr>
              <a:t>xCoord =</a:t>
            </a:r>
            <a:r>
              <a:rPr sz="1600" b="1" spc="1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sc.nextInt();</a:t>
            </a:r>
            <a:endParaRPr sz="1600">
              <a:latin typeface="Courier New"/>
              <a:cs typeface="Courier New"/>
            </a:endParaRPr>
          </a:p>
          <a:p>
            <a:pPr marL="362585">
              <a:lnSpc>
                <a:spcPct val="100000"/>
              </a:lnSpc>
            </a:pPr>
            <a:r>
              <a:rPr sz="1600" b="1" spc="-5" dirty="0">
                <a:solidFill>
                  <a:srgbClr val="0000FF"/>
                </a:solidFill>
                <a:latin typeface="Courier New"/>
                <a:cs typeface="Courier New"/>
              </a:rPr>
              <a:t>int </a:t>
            </a:r>
            <a:r>
              <a:rPr sz="1600" b="1" spc="-5" dirty="0">
                <a:latin typeface="Courier New"/>
                <a:cs typeface="Courier New"/>
              </a:rPr>
              <a:t>yCoord =</a:t>
            </a:r>
            <a:r>
              <a:rPr sz="1600" b="1" spc="-1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sc.nextInt();</a:t>
            </a:r>
            <a:endParaRPr sz="1600">
              <a:latin typeface="Courier New"/>
              <a:cs typeface="Courier New"/>
            </a:endParaRPr>
          </a:p>
          <a:p>
            <a:pPr marL="362585">
              <a:lnSpc>
                <a:spcPct val="100000"/>
              </a:lnSpc>
              <a:spcBef>
                <a:spcPts val="1205"/>
              </a:spcBef>
            </a:pPr>
            <a:r>
              <a:rPr sz="1600" b="1" spc="-5" dirty="0">
                <a:latin typeface="Courier New"/>
                <a:cs typeface="Courier New"/>
              </a:rPr>
              <a:t>Point </a:t>
            </a:r>
            <a:r>
              <a:rPr sz="1600" b="1" dirty="0">
                <a:latin typeface="Courier New"/>
                <a:cs typeface="Courier New"/>
              </a:rPr>
              <a:t>pt </a:t>
            </a:r>
            <a:r>
              <a:rPr sz="1600" b="1" spc="-5" dirty="0">
                <a:latin typeface="Courier New"/>
                <a:cs typeface="Courier New"/>
              </a:rPr>
              <a:t>= </a:t>
            </a:r>
            <a:r>
              <a:rPr sz="1600" b="1" spc="-5" dirty="0">
                <a:solidFill>
                  <a:srgbClr val="0000FF"/>
                </a:solidFill>
                <a:latin typeface="Courier New"/>
                <a:cs typeface="Courier New"/>
              </a:rPr>
              <a:t>new </a:t>
            </a:r>
            <a:r>
              <a:rPr sz="1600" b="1" spc="-5" dirty="0">
                <a:latin typeface="Courier New"/>
                <a:cs typeface="Courier New"/>
              </a:rPr>
              <a:t>Point(xCoord,</a:t>
            </a:r>
            <a:r>
              <a:rPr sz="1600" b="1" spc="2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yCoord);</a:t>
            </a:r>
            <a:endParaRPr sz="1600">
              <a:latin typeface="Courier New"/>
              <a:cs typeface="Courier New"/>
            </a:endParaRPr>
          </a:p>
          <a:p>
            <a:pPr marL="362585" marR="737870">
              <a:lnSpc>
                <a:spcPct val="100000"/>
              </a:lnSpc>
              <a:spcBef>
                <a:spcPts val="1200"/>
              </a:spcBef>
            </a:pPr>
            <a:r>
              <a:rPr sz="1600" b="1" spc="-5" dirty="0">
                <a:latin typeface="Courier New"/>
                <a:cs typeface="Courier New"/>
              </a:rPr>
              <a:t>System.out.println(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"x-coordinate is " </a:t>
            </a:r>
            <a:r>
              <a:rPr sz="1600" b="1" spc="-5" dirty="0">
                <a:latin typeface="Courier New"/>
                <a:cs typeface="Courier New"/>
              </a:rPr>
              <a:t>+ pt.getX());  System.out.println(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"y-coordinate is " </a:t>
            </a:r>
            <a:r>
              <a:rPr sz="1600" b="1" spc="-5" dirty="0">
                <a:latin typeface="Courier New"/>
                <a:cs typeface="Courier New"/>
              </a:rPr>
              <a:t>+</a:t>
            </a:r>
            <a:r>
              <a:rPr sz="1600" b="1" spc="5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pt.y);</a:t>
            </a:r>
            <a:endParaRPr sz="1600">
              <a:latin typeface="Courier New"/>
              <a:cs typeface="Courier New"/>
            </a:endParaRPr>
          </a:p>
          <a:p>
            <a:pPr marL="362585">
              <a:lnSpc>
                <a:spcPct val="100000"/>
              </a:lnSpc>
              <a:spcBef>
                <a:spcPts val="1200"/>
              </a:spcBef>
            </a:pPr>
            <a:r>
              <a:rPr sz="1600" b="1" spc="-5" dirty="0">
                <a:latin typeface="Courier New"/>
                <a:cs typeface="Courier New"/>
              </a:rPr>
              <a:t>System.out.println(</a:t>
            </a:r>
            <a:r>
              <a:rPr sz="1600" b="1" spc="-5" dirty="0">
                <a:solidFill>
                  <a:srgbClr val="006600"/>
                </a:solidFill>
                <a:latin typeface="Courier New"/>
                <a:cs typeface="Courier New"/>
              </a:rPr>
              <a:t>"The point created is " </a:t>
            </a:r>
            <a:r>
              <a:rPr sz="1600" b="1" spc="-5" dirty="0">
                <a:latin typeface="Courier New"/>
                <a:cs typeface="Courier New"/>
              </a:rPr>
              <a:t>+</a:t>
            </a:r>
            <a:r>
              <a:rPr sz="1600" b="1" spc="8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pt);</a:t>
            </a:r>
            <a:endParaRPr sz="1600">
              <a:latin typeface="Courier New"/>
              <a:cs typeface="Courier New"/>
            </a:endParaRPr>
          </a:p>
          <a:p>
            <a:pPr marL="362585">
              <a:lnSpc>
                <a:spcPct val="100000"/>
              </a:lnSpc>
            </a:pPr>
            <a:r>
              <a:rPr sz="1600" b="1" spc="-5" dirty="0">
                <a:solidFill>
                  <a:srgbClr val="800000"/>
                </a:solidFill>
                <a:latin typeface="Courier New"/>
                <a:cs typeface="Courier New"/>
              </a:rPr>
              <a:t>// or: System.out.println("The ... </a:t>
            </a:r>
            <a:r>
              <a:rPr sz="1600" b="1" dirty="0">
                <a:solidFill>
                  <a:srgbClr val="800000"/>
                </a:solidFill>
                <a:latin typeface="Courier New"/>
                <a:cs typeface="Courier New"/>
              </a:rPr>
              <a:t>is </a:t>
            </a:r>
            <a:r>
              <a:rPr sz="1600" b="1" spc="-5" dirty="0">
                <a:solidFill>
                  <a:srgbClr val="800000"/>
                </a:solidFill>
                <a:latin typeface="Courier New"/>
                <a:cs typeface="Courier New"/>
              </a:rPr>
              <a:t>" +</a:t>
            </a:r>
            <a:r>
              <a:rPr sz="1600" b="1" spc="110" dirty="0">
                <a:solidFill>
                  <a:srgbClr val="800000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800000"/>
                </a:solidFill>
                <a:latin typeface="Courier New"/>
                <a:cs typeface="Courier New"/>
              </a:rPr>
              <a:t>pt.toString());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7244" y="5471566"/>
            <a:ext cx="147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623050" y="909574"/>
            <a:ext cx="1765300" cy="393700"/>
            <a:chOff x="6623050" y="909574"/>
            <a:chExt cx="1765300" cy="393700"/>
          </a:xfrm>
        </p:grpSpPr>
        <p:sp>
          <p:nvSpPr>
            <p:cNvPr id="14" name="object 14"/>
            <p:cNvSpPr/>
            <p:nvPr/>
          </p:nvSpPr>
          <p:spPr>
            <a:xfrm>
              <a:off x="6629400" y="915924"/>
              <a:ext cx="1752600" cy="381000"/>
            </a:xfrm>
            <a:custGeom>
              <a:avLst/>
              <a:gdLst/>
              <a:ahLst/>
              <a:cxnLst/>
              <a:rect l="l" t="t" r="r" b="b"/>
              <a:pathLst>
                <a:path w="1752600" h="381000">
                  <a:moveTo>
                    <a:pt x="17526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1752600" y="381000"/>
                  </a:lnTo>
                  <a:lnTo>
                    <a:pt x="1752600" y="0"/>
                  </a:lnTo>
                  <a:close/>
                </a:path>
              </a:pathLst>
            </a:custGeom>
            <a:solidFill>
              <a:srgbClr val="B8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629400" y="915924"/>
              <a:ext cx="1752600" cy="381000"/>
            </a:xfrm>
            <a:custGeom>
              <a:avLst/>
              <a:gdLst/>
              <a:ahLst/>
              <a:cxnLst/>
              <a:rect l="l" t="t" r="r" b="b"/>
              <a:pathLst>
                <a:path w="1752600" h="381000">
                  <a:moveTo>
                    <a:pt x="0" y="381000"/>
                  </a:moveTo>
                  <a:lnTo>
                    <a:pt x="1752600" y="381000"/>
                  </a:lnTo>
                  <a:lnTo>
                    <a:pt x="17526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833361" y="941323"/>
            <a:ext cx="13474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60" dirty="0">
                <a:latin typeface="Carlito"/>
                <a:cs typeface="Carlito"/>
              </a:rPr>
              <a:t>T</a:t>
            </a:r>
            <a:r>
              <a:rPr sz="1800" b="1" dirty="0">
                <a:latin typeface="Carlito"/>
                <a:cs typeface="Carlito"/>
              </a:rPr>
              <a:t>e</a:t>
            </a:r>
            <a:r>
              <a:rPr sz="1800" b="1" spc="-25" dirty="0">
                <a:latin typeface="Carlito"/>
                <a:cs typeface="Carlito"/>
              </a:rPr>
              <a:t>s</a:t>
            </a:r>
            <a:r>
              <a:rPr sz="1800" b="1" dirty="0">
                <a:latin typeface="Carlito"/>
                <a:cs typeface="Carlito"/>
              </a:rPr>
              <a:t>t</a:t>
            </a:r>
            <a:r>
              <a:rPr sz="1800" b="1" spc="-25" dirty="0">
                <a:latin typeface="Carlito"/>
                <a:cs typeface="Carlito"/>
              </a:rPr>
              <a:t>P</a:t>
            </a:r>
            <a:r>
              <a:rPr sz="1800" b="1" dirty="0">
                <a:latin typeface="Carlito"/>
                <a:cs typeface="Carlito"/>
              </a:rPr>
              <a:t>oi</a:t>
            </a:r>
            <a:r>
              <a:rPr sz="1800" b="1" spc="-15" dirty="0">
                <a:latin typeface="Carlito"/>
                <a:cs typeface="Carlito"/>
              </a:rPr>
              <a:t>n</a:t>
            </a:r>
            <a:r>
              <a:rPr sz="1800" b="1" dirty="0">
                <a:latin typeface="Carlito"/>
                <a:cs typeface="Carlito"/>
              </a:rPr>
              <a:t>t.j</a:t>
            </a:r>
            <a:r>
              <a:rPr sz="1800" b="1" spc="-30" dirty="0">
                <a:latin typeface="Carlito"/>
                <a:cs typeface="Carlito"/>
              </a:rPr>
              <a:t>a</a:t>
            </a:r>
            <a:r>
              <a:rPr sz="1800" b="1" spc="-25" dirty="0">
                <a:latin typeface="Carlito"/>
                <a:cs typeface="Carlito"/>
              </a:rPr>
              <a:t>v</a:t>
            </a:r>
            <a:r>
              <a:rPr sz="1800" b="1" dirty="0">
                <a:latin typeface="Carlito"/>
                <a:cs typeface="Carlito"/>
              </a:rPr>
              <a:t>a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248402" y="5232653"/>
            <a:ext cx="2323465" cy="798195"/>
            <a:chOff x="5248402" y="5232653"/>
            <a:chExt cx="2323465" cy="798195"/>
          </a:xfrm>
        </p:grpSpPr>
        <p:sp>
          <p:nvSpPr>
            <p:cNvPr id="18" name="object 18"/>
            <p:cNvSpPr/>
            <p:nvPr/>
          </p:nvSpPr>
          <p:spPr>
            <a:xfrm>
              <a:off x="5258562" y="5487161"/>
              <a:ext cx="1752600" cy="533400"/>
            </a:xfrm>
            <a:custGeom>
              <a:avLst/>
              <a:gdLst/>
              <a:ahLst/>
              <a:cxnLst/>
              <a:rect l="l" t="t" r="r" b="b"/>
              <a:pathLst>
                <a:path w="1752600" h="533400">
                  <a:moveTo>
                    <a:pt x="1752599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1752599" y="533400"/>
                  </a:lnTo>
                  <a:lnTo>
                    <a:pt x="17525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258562" y="5242813"/>
              <a:ext cx="2303145" cy="777875"/>
            </a:xfrm>
            <a:custGeom>
              <a:avLst/>
              <a:gdLst/>
              <a:ahLst/>
              <a:cxnLst/>
              <a:rect l="l" t="t" r="r" b="b"/>
              <a:pathLst>
                <a:path w="2303145" h="777875">
                  <a:moveTo>
                    <a:pt x="0" y="777748"/>
                  </a:moveTo>
                  <a:lnTo>
                    <a:pt x="1752599" y="777748"/>
                  </a:lnTo>
                  <a:lnTo>
                    <a:pt x="1752599" y="244348"/>
                  </a:lnTo>
                  <a:lnTo>
                    <a:pt x="0" y="244348"/>
                  </a:lnTo>
                  <a:lnTo>
                    <a:pt x="0" y="777748"/>
                  </a:lnTo>
                  <a:close/>
                </a:path>
                <a:path w="2303145" h="777875">
                  <a:moveTo>
                    <a:pt x="1747901" y="344297"/>
                  </a:moveTo>
                  <a:lnTo>
                    <a:pt x="2044699" y="344297"/>
                  </a:lnTo>
                  <a:lnTo>
                    <a:pt x="2303017" y="0"/>
                  </a:lnTo>
                </a:path>
              </a:pathLst>
            </a:custGeom>
            <a:ln w="19812">
              <a:solidFill>
                <a:srgbClr val="0073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337428" y="5522467"/>
            <a:ext cx="148336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85" dirty="0">
                <a:latin typeface="Arial"/>
                <a:cs typeface="Arial"/>
              </a:rPr>
              <a:t>To </a:t>
            </a:r>
            <a:r>
              <a:rPr sz="1400" dirty="0">
                <a:latin typeface="Arial"/>
                <a:cs typeface="Arial"/>
              </a:rPr>
              <a:t>be discussed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  </a:t>
            </a:r>
            <a:r>
              <a:rPr sz="1400" spc="-5" dirty="0">
                <a:latin typeface="Arial"/>
                <a:cs typeface="Arial"/>
              </a:rPr>
              <a:t>next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lecture.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119437" y="1519237"/>
            <a:ext cx="5876925" cy="1087120"/>
            <a:chOff x="3119437" y="1519237"/>
            <a:chExt cx="5876925" cy="1087120"/>
          </a:xfrm>
        </p:grpSpPr>
        <p:sp>
          <p:nvSpPr>
            <p:cNvPr id="22" name="object 22"/>
            <p:cNvSpPr/>
            <p:nvPr/>
          </p:nvSpPr>
          <p:spPr>
            <a:xfrm>
              <a:off x="3124200" y="1524000"/>
              <a:ext cx="5867400" cy="1077595"/>
            </a:xfrm>
            <a:custGeom>
              <a:avLst/>
              <a:gdLst/>
              <a:ahLst/>
              <a:cxnLst/>
              <a:rect l="l" t="t" r="r" b="b"/>
              <a:pathLst>
                <a:path w="5867400" h="1077595">
                  <a:moveTo>
                    <a:pt x="5867400" y="0"/>
                  </a:moveTo>
                  <a:lnTo>
                    <a:pt x="0" y="0"/>
                  </a:lnTo>
                  <a:lnTo>
                    <a:pt x="0" y="1077467"/>
                  </a:lnTo>
                  <a:lnTo>
                    <a:pt x="5867400" y="1077467"/>
                  </a:lnTo>
                  <a:lnTo>
                    <a:pt x="5867400" y="0"/>
                  </a:lnTo>
                  <a:close/>
                </a:path>
              </a:pathLst>
            </a:custGeom>
            <a:solidFill>
              <a:srgbClr val="ED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124200" y="1524000"/>
              <a:ext cx="5867400" cy="1077595"/>
            </a:xfrm>
            <a:custGeom>
              <a:avLst/>
              <a:gdLst/>
              <a:ahLst/>
              <a:cxnLst/>
              <a:rect l="l" t="t" r="r" b="b"/>
              <a:pathLst>
                <a:path w="5867400" h="1077595">
                  <a:moveTo>
                    <a:pt x="0" y="1077467"/>
                  </a:moveTo>
                  <a:lnTo>
                    <a:pt x="5867400" y="1077467"/>
                  </a:lnTo>
                  <a:lnTo>
                    <a:pt x="5867400" y="0"/>
                  </a:lnTo>
                  <a:lnTo>
                    <a:pt x="0" y="0"/>
                  </a:lnTo>
                  <a:lnTo>
                    <a:pt x="0" y="107746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917244" y="1294892"/>
            <a:ext cx="47548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6F2F9F"/>
                </a:solidFill>
                <a:latin typeface="Courier New"/>
                <a:cs typeface="Courier New"/>
              </a:rPr>
              <a:t>import</a:t>
            </a:r>
            <a:r>
              <a:rPr sz="1600" b="1" spc="5" dirty="0">
                <a:solidFill>
                  <a:srgbClr val="6F2F9F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java.util.*;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solidFill>
                  <a:srgbClr val="6F2F9F"/>
                </a:solidFill>
                <a:latin typeface="Courier New"/>
                <a:cs typeface="Courier New"/>
              </a:rPr>
              <a:t>import </a:t>
            </a:r>
            <a:r>
              <a:rPr sz="1600" b="1" spc="-5" dirty="0">
                <a:latin typeface="Courier New"/>
                <a:cs typeface="Courier New"/>
              </a:rPr>
              <a:t>java.awt.*; </a:t>
            </a:r>
            <a:r>
              <a:rPr sz="2400" b="1" spc="-7" baseline="1736" dirty="0">
                <a:latin typeface="Courier New"/>
                <a:cs typeface="Courier New"/>
              </a:rPr>
              <a:t>Enter x and y: </a:t>
            </a:r>
            <a:r>
              <a:rPr sz="2400" b="1" spc="-7" baseline="1736" dirty="0">
                <a:solidFill>
                  <a:srgbClr val="0000FF"/>
                </a:solidFill>
                <a:latin typeface="Courier New"/>
                <a:cs typeface="Courier New"/>
              </a:rPr>
              <a:t>12</a:t>
            </a:r>
            <a:r>
              <a:rPr sz="2400" b="1" spc="-345" baseline="1736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400" b="1" baseline="1736" dirty="0">
                <a:solidFill>
                  <a:srgbClr val="0000FF"/>
                </a:solidFill>
                <a:latin typeface="Courier New"/>
                <a:cs typeface="Courier New"/>
              </a:rPr>
              <a:t>-7</a:t>
            </a:r>
            <a:endParaRPr sz="2400" baseline="1736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203575" y="1778635"/>
            <a:ext cx="24663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Courier New"/>
                <a:cs typeface="Courier New"/>
              </a:rPr>
              <a:t>x-coordinate is</a:t>
            </a:r>
            <a:r>
              <a:rPr sz="1600" b="1" spc="-4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12.0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91844" y="1934667"/>
            <a:ext cx="45605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0000FF"/>
                </a:solidFill>
                <a:latin typeface="Courier New"/>
                <a:cs typeface="Courier New"/>
              </a:rPr>
              <a:t>public class </a:t>
            </a:r>
            <a:r>
              <a:rPr sz="1600" b="1" spc="-5" dirty="0">
                <a:latin typeface="Courier New"/>
                <a:cs typeface="Courier New"/>
              </a:rPr>
              <a:t>TestP </a:t>
            </a:r>
            <a:r>
              <a:rPr sz="2400" b="1" spc="-7" baseline="-24305" dirty="0">
                <a:latin typeface="Courier New"/>
                <a:cs typeface="Courier New"/>
              </a:rPr>
              <a:t>y-coordinate is</a:t>
            </a:r>
            <a:r>
              <a:rPr sz="2400" b="1" spc="-375" baseline="-24305" dirty="0">
                <a:latin typeface="Courier New"/>
                <a:cs typeface="Courier New"/>
              </a:rPr>
              <a:t> </a:t>
            </a:r>
            <a:r>
              <a:rPr sz="2400" b="1" spc="-7" baseline="-24305" dirty="0">
                <a:latin typeface="Courier New"/>
                <a:cs typeface="Courier New"/>
              </a:rPr>
              <a:t>-7</a:t>
            </a:r>
            <a:endParaRPr sz="2400" baseline="-24305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31696" y="2266314"/>
            <a:ext cx="764285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00" b="1" spc="-7" baseline="24305" dirty="0">
                <a:solidFill>
                  <a:srgbClr val="0000FF"/>
                </a:solidFill>
                <a:latin typeface="Courier New"/>
                <a:cs typeface="Courier New"/>
              </a:rPr>
              <a:t>public static v </a:t>
            </a:r>
            <a:r>
              <a:rPr sz="1600" b="1" spc="-5" dirty="0">
                <a:latin typeface="Courier New"/>
                <a:cs typeface="Courier New"/>
              </a:rPr>
              <a:t>The point created </a:t>
            </a:r>
            <a:r>
              <a:rPr sz="1600" b="1" dirty="0">
                <a:latin typeface="Courier New"/>
                <a:cs typeface="Courier New"/>
              </a:rPr>
              <a:t>is</a:t>
            </a:r>
            <a:r>
              <a:rPr sz="1600" b="1" spc="5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java.awt.Point[x=12,y=-7]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791961" y="1850008"/>
            <a:ext cx="381000" cy="111760"/>
          </a:xfrm>
          <a:custGeom>
            <a:avLst/>
            <a:gdLst/>
            <a:ahLst/>
            <a:cxnLst/>
            <a:rect l="l" t="t" r="r" b="b"/>
            <a:pathLst>
              <a:path w="381000" h="111760">
                <a:moveTo>
                  <a:pt x="95503" y="0"/>
                </a:moveTo>
                <a:lnTo>
                  <a:pt x="90804" y="2793"/>
                </a:lnTo>
                <a:lnTo>
                  <a:pt x="0" y="55752"/>
                </a:lnTo>
                <a:lnTo>
                  <a:pt x="90804" y="108712"/>
                </a:lnTo>
                <a:lnTo>
                  <a:pt x="95503" y="111505"/>
                </a:lnTo>
                <a:lnTo>
                  <a:pt x="101600" y="109981"/>
                </a:lnTo>
                <a:lnTo>
                  <a:pt x="104393" y="105155"/>
                </a:lnTo>
                <a:lnTo>
                  <a:pt x="107187" y="100456"/>
                </a:lnTo>
                <a:lnTo>
                  <a:pt x="105537" y="94361"/>
                </a:lnTo>
                <a:lnTo>
                  <a:pt x="100837" y="91693"/>
                </a:lnTo>
                <a:lnTo>
                  <a:pt x="56206" y="65658"/>
                </a:lnTo>
                <a:lnTo>
                  <a:pt x="19558" y="65658"/>
                </a:lnTo>
                <a:lnTo>
                  <a:pt x="19558" y="45846"/>
                </a:lnTo>
                <a:lnTo>
                  <a:pt x="56206" y="45846"/>
                </a:lnTo>
                <a:lnTo>
                  <a:pt x="100837" y="19812"/>
                </a:lnTo>
                <a:lnTo>
                  <a:pt x="105537" y="17144"/>
                </a:lnTo>
                <a:lnTo>
                  <a:pt x="107187" y="11049"/>
                </a:lnTo>
                <a:lnTo>
                  <a:pt x="104393" y="6350"/>
                </a:lnTo>
                <a:lnTo>
                  <a:pt x="101600" y="1524"/>
                </a:lnTo>
                <a:lnTo>
                  <a:pt x="95503" y="0"/>
                </a:lnTo>
                <a:close/>
              </a:path>
              <a:path w="381000" h="111760">
                <a:moveTo>
                  <a:pt x="56206" y="45846"/>
                </a:moveTo>
                <a:lnTo>
                  <a:pt x="19558" y="45846"/>
                </a:lnTo>
                <a:lnTo>
                  <a:pt x="19558" y="65658"/>
                </a:lnTo>
                <a:lnTo>
                  <a:pt x="56206" y="65658"/>
                </a:lnTo>
                <a:lnTo>
                  <a:pt x="53811" y="64262"/>
                </a:lnTo>
                <a:lnTo>
                  <a:pt x="24637" y="64262"/>
                </a:lnTo>
                <a:lnTo>
                  <a:pt x="24637" y="47243"/>
                </a:lnTo>
                <a:lnTo>
                  <a:pt x="53811" y="47243"/>
                </a:lnTo>
                <a:lnTo>
                  <a:pt x="56206" y="45846"/>
                </a:lnTo>
                <a:close/>
              </a:path>
              <a:path w="381000" h="111760">
                <a:moveTo>
                  <a:pt x="381000" y="45846"/>
                </a:moveTo>
                <a:lnTo>
                  <a:pt x="56206" y="45846"/>
                </a:lnTo>
                <a:lnTo>
                  <a:pt x="39224" y="55752"/>
                </a:lnTo>
                <a:lnTo>
                  <a:pt x="56206" y="65658"/>
                </a:lnTo>
                <a:lnTo>
                  <a:pt x="381000" y="65658"/>
                </a:lnTo>
                <a:lnTo>
                  <a:pt x="381000" y="45846"/>
                </a:lnTo>
                <a:close/>
              </a:path>
              <a:path w="381000" h="111760">
                <a:moveTo>
                  <a:pt x="24637" y="47243"/>
                </a:moveTo>
                <a:lnTo>
                  <a:pt x="24637" y="64262"/>
                </a:lnTo>
                <a:lnTo>
                  <a:pt x="39224" y="55752"/>
                </a:lnTo>
                <a:lnTo>
                  <a:pt x="24637" y="47243"/>
                </a:lnTo>
                <a:close/>
              </a:path>
              <a:path w="381000" h="111760">
                <a:moveTo>
                  <a:pt x="39224" y="55752"/>
                </a:moveTo>
                <a:lnTo>
                  <a:pt x="24637" y="64262"/>
                </a:lnTo>
                <a:lnTo>
                  <a:pt x="53811" y="64262"/>
                </a:lnTo>
                <a:lnTo>
                  <a:pt x="39224" y="55752"/>
                </a:lnTo>
                <a:close/>
              </a:path>
              <a:path w="381000" h="111760">
                <a:moveTo>
                  <a:pt x="53811" y="47243"/>
                </a:moveTo>
                <a:lnTo>
                  <a:pt x="24637" y="47243"/>
                </a:lnTo>
                <a:lnTo>
                  <a:pt x="39224" y="55752"/>
                </a:lnTo>
                <a:lnTo>
                  <a:pt x="53811" y="47243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6224396" y="1760042"/>
            <a:ext cx="24790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5" dirty="0">
                <a:solidFill>
                  <a:srgbClr val="6F2F9F"/>
                </a:solidFill>
                <a:latin typeface="Arial"/>
                <a:cs typeface="Arial"/>
              </a:rPr>
              <a:t>Note: </a:t>
            </a:r>
            <a:r>
              <a:rPr sz="1600" spc="-5" dirty="0">
                <a:solidFill>
                  <a:srgbClr val="C00000"/>
                </a:solidFill>
                <a:latin typeface="Arial"/>
                <a:cs typeface="Arial"/>
              </a:rPr>
              <a:t>getX() </a:t>
            </a:r>
            <a:r>
              <a:rPr sz="1600" spc="-5" dirty="0">
                <a:solidFill>
                  <a:srgbClr val="6F2F9F"/>
                </a:solidFill>
                <a:latin typeface="Arial"/>
                <a:cs typeface="Arial"/>
              </a:rPr>
              <a:t>returns</a:t>
            </a:r>
            <a:r>
              <a:rPr sz="1600" spc="2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6F2F9F"/>
                </a:solidFill>
                <a:latin typeface="Arial"/>
                <a:cs typeface="Arial"/>
              </a:rPr>
              <a:t>double</a:t>
            </a:r>
            <a:endParaRPr sz="1600">
              <a:latin typeface="Arial"/>
              <a:cs typeface="Arial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</a:t>
            </a:r>
            <a:r>
              <a:rPr spc="5" dirty="0"/>
              <a:t>Lecture </a:t>
            </a:r>
            <a:r>
              <a:rPr dirty="0"/>
              <a:t>: OOP Part</a:t>
            </a:r>
            <a:r>
              <a:rPr spc="-190" dirty="0"/>
              <a:t> </a:t>
            </a:r>
            <a:r>
              <a:rPr dirty="0"/>
              <a:t>1]  </a:t>
            </a:r>
            <a:r>
              <a:rPr spc="-130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r>
              <a:rPr spc="-5" dirty="0"/>
              <a:t>47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48158"/>
            <a:ext cx="348170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Common</a:t>
            </a:r>
            <a:r>
              <a:rPr spc="-45" dirty="0"/>
              <a:t> </a:t>
            </a:r>
            <a:r>
              <a:rPr spc="-10" dirty="0"/>
              <a:t>Mistake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90624"/>
            <a:ext cx="65595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5"/>
              </a:spcBef>
              <a:buClr>
                <a:srgbClr val="009999"/>
              </a:buClr>
              <a:buSzPct val="64285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dirty="0">
                <a:latin typeface="Arial"/>
                <a:cs typeface="Arial"/>
              </a:rPr>
              <a:t>Accessing </a:t>
            </a:r>
            <a:r>
              <a:rPr sz="2800" spc="-5" dirty="0">
                <a:latin typeface="Arial"/>
                <a:cs typeface="Arial"/>
              </a:rPr>
              <a:t>an </a:t>
            </a:r>
            <a:r>
              <a:rPr sz="2800" dirty="0">
                <a:latin typeface="Arial"/>
                <a:cs typeface="Arial"/>
              </a:rPr>
              <a:t>object </a:t>
            </a:r>
            <a:r>
              <a:rPr sz="2800" spc="-5" dirty="0">
                <a:latin typeface="Arial"/>
                <a:cs typeface="Arial"/>
              </a:rPr>
              <a:t>before it is</a:t>
            </a:r>
            <a:r>
              <a:rPr sz="2800" spc="1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created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3068" y="187452"/>
            <a:ext cx="523240" cy="2708275"/>
          </a:xfrm>
          <a:custGeom>
            <a:avLst/>
            <a:gdLst/>
            <a:ahLst/>
            <a:cxnLst/>
            <a:rect l="l" t="t" r="r" b="b"/>
            <a:pathLst>
              <a:path w="523240" h="2708275">
                <a:moveTo>
                  <a:pt x="522731" y="0"/>
                </a:moveTo>
                <a:lnTo>
                  <a:pt x="0" y="0"/>
                </a:lnTo>
                <a:lnTo>
                  <a:pt x="0" y="2708148"/>
                </a:lnTo>
                <a:lnTo>
                  <a:pt x="522731" y="2708148"/>
                </a:lnTo>
                <a:lnTo>
                  <a:pt x="522731" y="0"/>
                </a:lnTo>
                <a:close/>
              </a:path>
            </a:pathLst>
          </a:custGeom>
          <a:solidFill>
            <a:srgbClr val="FFCC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44239" y="293415"/>
            <a:ext cx="381000" cy="25241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990"/>
              </a:lnSpc>
            </a:pPr>
            <a:r>
              <a:rPr sz="2800" dirty="0">
                <a:solidFill>
                  <a:srgbClr val="C00000"/>
                </a:solidFill>
                <a:latin typeface="Trebuchet MS"/>
                <a:cs typeface="Trebuchet MS"/>
              </a:rPr>
              <a:t>4. </a:t>
            </a:r>
            <a:r>
              <a:rPr sz="2800" spc="5" dirty="0">
                <a:solidFill>
                  <a:srgbClr val="000099"/>
                </a:solidFill>
                <a:latin typeface="Trebuchet MS"/>
                <a:cs typeface="Trebuchet MS"/>
              </a:rPr>
              <a:t>More</a:t>
            </a:r>
            <a:r>
              <a:rPr sz="2800" spc="-60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800" spc="55" dirty="0">
                <a:solidFill>
                  <a:srgbClr val="000099"/>
                </a:solidFill>
                <a:latin typeface="Trebuchet MS"/>
                <a:cs typeface="Trebuchet MS"/>
              </a:rPr>
              <a:t>Classes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359344" y="1740344"/>
            <a:ext cx="7265034" cy="672465"/>
            <a:chOff x="1359344" y="1740344"/>
            <a:chExt cx="7265034" cy="672465"/>
          </a:xfrm>
        </p:grpSpPr>
        <p:sp>
          <p:nvSpPr>
            <p:cNvPr id="7" name="object 7"/>
            <p:cNvSpPr/>
            <p:nvPr/>
          </p:nvSpPr>
          <p:spPr>
            <a:xfrm>
              <a:off x="1372362" y="1753362"/>
              <a:ext cx="7239000" cy="646430"/>
            </a:xfrm>
            <a:custGeom>
              <a:avLst/>
              <a:gdLst/>
              <a:ahLst/>
              <a:cxnLst/>
              <a:rect l="l" t="t" r="r" b="b"/>
              <a:pathLst>
                <a:path w="7239000" h="646430">
                  <a:moveTo>
                    <a:pt x="7239000" y="0"/>
                  </a:moveTo>
                  <a:lnTo>
                    <a:pt x="0" y="0"/>
                  </a:lnTo>
                  <a:lnTo>
                    <a:pt x="0" y="646176"/>
                  </a:lnTo>
                  <a:lnTo>
                    <a:pt x="7239000" y="646176"/>
                  </a:lnTo>
                  <a:lnTo>
                    <a:pt x="72390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72362" y="1753362"/>
              <a:ext cx="7239000" cy="646430"/>
            </a:xfrm>
            <a:custGeom>
              <a:avLst/>
              <a:gdLst/>
              <a:ahLst/>
              <a:cxnLst/>
              <a:rect l="l" t="t" r="r" b="b"/>
              <a:pathLst>
                <a:path w="7239000" h="646430">
                  <a:moveTo>
                    <a:pt x="0" y="646176"/>
                  </a:moveTo>
                  <a:lnTo>
                    <a:pt x="7239000" y="646176"/>
                  </a:lnTo>
                  <a:lnTo>
                    <a:pt x="7239000" y="0"/>
                  </a:lnTo>
                  <a:lnTo>
                    <a:pt x="0" y="0"/>
                  </a:lnTo>
                  <a:lnTo>
                    <a:pt x="0" y="646176"/>
                  </a:lnTo>
                  <a:close/>
                </a:path>
              </a:pathLst>
            </a:custGeom>
            <a:ln w="25908">
              <a:solidFill>
                <a:srgbClr val="AAC9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463294" y="1758822"/>
            <a:ext cx="30168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ourier New"/>
                <a:cs typeface="Courier New"/>
              </a:rPr>
              <a:t>Point pt;  </a:t>
            </a:r>
            <a:r>
              <a:rPr sz="1800" b="1" spc="-5" dirty="0">
                <a:latin typeface="Courier New"/>
                <a:cs typeface="Courier New"/>
              </a:rPr>
              <a:t>pt</a:t>
            </a:r>
            <a:r>
              <a:rPr sz="1800" b="1" spc="-15" dirty="0">
                <a:latin typeface="Courier New"/>
                <a:cs typeface="Courier New"/>
              </a:rPr>
              <a:t>.</a:t>
            </a:r>
            <a:r>
              <a:rPr sz="1800" b="1" spc="-5" dirty="0">
                <a:latin typeface="Courier New"/>
                <a:cs typeface="Courier New"/>
              </a:rPr>
              <a:t>s</a:t>
            </a:r>
            <a:r>
              <a:rPr sz="1800" b="1" spc="-15" dirty="0">
                <a:latin typeface="Courier New"/>
                <a:cs typeface="Courier New"/>
              </a:rPr>
              <a:t>e</a:t>
            </a:r>
            <a:r>
              <a:rPr sz="1800" b="1" spc="-5" dirty="0">
                <a:latin typeface="Courier New"/>
                <a:cs typeface="Courier New"/>
              </a:rPr>
              <a:t>tL</a:t>
            </a:r>
            <a:r>
              <a:rPr sz="1800" b="1" spc="-15" dirty="0">
                <a:latin typeface="Courier New"/>
                <a:cs typeface="Courier New"/>
              </a:rPr>
              <a:t>o</a:t>
            </a:r>
            <a:r>
              <a:rPr sz="1800" b="1" spc="-5" dirty="0">
                <a:latin typeface="Courier New"/>
                <a:cs typeface="Courier New"/>
              </a:rPr>
              <a:t>c</a:t>
            </a:r>
            <a:r>
              <a:rPr sz="1800" b="1" spc="-15" dirty="0">
                <a:latin typeface="Courier New"/>
                <a:cs typeface="Courier New"/>
              </a:rPr>
              <a:t>at</a:t>
            </a:r>
            <a:r>
              <a:rPr sz="1800" b="1" spc="-5" dirty="0">
                <a:latin typeface="Courier New"/>
                <a:cs typeface="Courier New"/>
              </a:rPr>
              <a:t>io</a:t>
            </a:r>
            <a:r>
              <a:rPr sz="1800" b="1" spc="-10" dirty="0">
                <a:latin typeface="Courier New"/>
                <a:cs typeface="Courier New"/>
              </a:rPr>
              <a:t>n</a:t>
            </a:r>
            <a:r>
              <a:rPr sz="1800" b="1" spc="-5" dirty="0">
                <a:latin typeface="Courier New"/>
                <a:cs typeface="Courier New"/>
              </a:rPr>
              <a:t>(</a:t>
            </a:r>
            <a:r>
              <a:rPr sz="1800" b="1" spc="-15" dirty="0">
                <a:latin typeface="Courier New"/>
                <a:cs typeface="Courier New"/>
              </a:rPr>
              <a:t>1</a:t>
            </a:r>
            <a:r>
              <a:rPr sz="1800" b="1" spc="-5" dirty="0">
                <a:latin typeface="Courier New"/>
                <a:cs typeface="Courier New"/>
              </a:rPr>
              <a:t>2,</a:t>
            </a:r>
            <a:r>
              <a:rPr sz="1800" b="1" spc="-15" dirty="0">
                <a:latin typeface="Courier New"/>
                <a:cs typeface="Courier New"/>
              </a:rPr>
              <a:t>1</a:t>
            </a:r>
            <a:r>
              <a:rPr sz="1800" b="1" spc="-5" dirty="0">
                <a:latin typeface="Courier New"/>
                <a:cs typeface="Courier New"/>
              </a:rPr>
              <a:t>0</a:t>
            </a:r>
            <a:r>
              <a:rPr sz="1800" b="1" spc="-15" dirty="0">
                <a:latin typeface="Courier New"/>
                <a:cs typeface="Courier New"/>
              </a:rPr>
              <a:t>)</a:t>
            </a:r>
            <a:r>
              <a:rPr sz="1800" b="1" dirty="0">
                <a:latin typeface="Courier New"/>
                <a:cs typeface="Courier New"/>
              </a:rPr>
              <a:t>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40275" y="2033142"/>
            <a:ext cx="3705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660033"/>
                </a:solidFill>
                <a:latin typeface="Courier New"/>
                <a:cs typeface="Courier New"/>
              </a:rPr>
              <a:t>// </a:t>
            </a:r>
            <a:r>
              <a:rPr sz="1800" b="1" spc="-10" dirty="0">
                <a:solidFill>
                  <a:srgbClr val="660033"/>
                </a:solidFill>
                <a:latin typeface="Courier New"/>
                <a:cs typeface="Courier New"/>
              </a:rPr>
              <a:t>change coordinates </a:t>
            </a:r>
            <a:r>
              <a:rPr sz="1800" b="1" spc="-5" dirty="0">
                <a:solidFill>
                  <a:srgbClr val="660033"/>
                </a:solidFill>
                <a:latin typeface="Courier New"/>
                <a:cs typeface="Courier New"/>
              </a:rPr>
              <a:t>of</a:t>
            </a:r>
            <a:r>
              <a:rPr sz="1800" b="1" spc="-50" dirty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solidFill>
                  <a:srgbClr val="660033"/>
                </a:solidFill>
                <a:latin typeface="Courier New"/>
                <a:cs typeface="Courier New"/>
              </a:rPr>
              <a:t>pt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645408" y="2731007"/>
            <a:ext cx="483234" cy="330835"/>
            <a:chOff x="3645408" y="2731007"/>
            <a:chExt cx="483234" cy="330835"/>
          </a:xfrm>
        </p:grpSpPr>
        <p:sp>
          <p:nvSpPr>
            <p:cNvPr id="12" name="object 12"/>
            <p:cNvSpPr/>
            <p:nvPr/>
          </p:nvSpPr>
          <p:spPr>
            <a:xfrm>
              <a:off x="3658362" y="2743961"/>
              <a:ext cx="457200" cy="304800"/>
            </a:xfrm>
            <a:custGeom>
              <a:avLst/>
              <a:gdLst/>
              <a:ahLst/>
              <a:cxnLst/>
              <a:rect l="l" t="t" r="r" b="b"/>
              <a:pathLst>
                <a:path w="457200" h="304800">
                  <a:moveTo>
                    <a:pt x="4572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57200" y="3048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658362" y="2743961"/>
              <a:ext cx="457200" cy="304800"/>
            </a:xfrm>
            <a:custGeom>
              <a:avLst/>
              <a:gdLst/>
              <a:ahLst/>
              <a:cxnLst/>
              <a:rect l="l" t="t" r="r" b="b"/>
              <a:pathLst>
                <a:path w="457200" h="304800">
                  <a:moveTo>
                    <a:pt x="0" y="304800"/>
                  </a:moveTo>
                  <a:lnTo>
                    <a:pt x="457200" y="304800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25908">
              <a:solidFill>
                <a:srgbClr val="006E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508375" y="2465959"/>
            <a:ext cx="215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pt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27575" y="2616530"/>
            <a:ext cx="274066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The Point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object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Arial"/>
                <a:cs typeface="Arial"/>
              </a:rPr>
              <a:t>does </a:t>
            </a:r>
            <a:r>
              <a:rPr sz="2400" dirty="0">
                <a:latin typeface="Arial"/>
                <a:cs typeface="Arial"/>
              </a:rPr>
              <a:t>not </a:t>
            </a:r>
            <a:r>
              <a:rPr sz="2400" spc="-5" dirty="0">
                <a:latin typeface="Arial"/>
                <a:cs typeface="Arial"/>
              </a:rPr>
              <a:t>even exist!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315200" y="1524000"/>
            <a:ext cx="1143000" cy="457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1359344" y="4102544"/>
            <a:ext cx="7265034" cy="672465"/>
            <a:chOff x="1359344" y="4102544"/>
            <a:chExt cx="7265034" cy="672465"/>
          </a:xfrm>
        </p:grpSpPr>
        <p:sp>
          <p:nvSpPr>
            <p:cNvPr id="18" name="object 18"/>
            <p:cNvSpPr/>
            <p:nvPr/>
          </p:nvSpPr>
          <p:spPr>
            <a:xfrm>
              <a:off x="1372362" y="4115562"/>
              <a:ext cx="7239000" cy="646430"/>
            </a:xfrm>
            <a:custGeom>
              <a:avLst/>
              <a:gdLst/>
              <a:ahLst/>
              <a:cxnLst/>
              <a:rect l="l" t="t" r="r" b="b"/>
              <a:pathLst>
                <a:path w="7239000" h="646429">
                  <a:moveTo>
                    <a:pt x="7239000" y="0"/>
                  </a:moveTo>
                  <a:lnTo>
                    <a:pt x="0" y="0"/>
                  </a:lnTo>
                  <a:lnTo>
                    <a:pt x="0" y="646176"/>
                  </a:lnTo>
                  <a:lnTo>
                    <a:pt x="7239000" y="646176"/>
                  </a:lnTo>
                  <a:lnTo>
                    <a:pt x="72390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72362" y="4115562"/>
              <a:ext cx="7239000" cy="646430"/>
            </a:xfrm>
            <a:custGeom>
              <a:avLst/>
              <a:gdLst/>
              <a:ahLst/>
              <a:cxnLst/>
              <a:rect l="l" t="t" r="r" b="b"/>
              <a:pathLst>
                <a:path w="7239000" h="646429">
                  <a:moveTo>
                    <a:pt x="0" y="646176"/>
                  </a:moveTo>
                  <a:lnTo>
                    <a:pt x="7239000" y="646176"/>
                  </a:lnTo>
                  <a:lnTo>
                    <a:pt x="7239000" y="0"/>
                  </a:lnTo>
                  <a:lnTo>
                    <a:pt x="0" y="0"/>
                  </a:lnTo>
                  <a:lnTo>
                    <a:pt x="0" y="646176"/>
                  </a:lnTo>
                  <a:close/>
                </a:path>
              </a:pathLst>
            </a:custGeom>
            <a:ln w="25908">
              <a:solidFill>
                <a:srgbClr val="AAC9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3645408" y="5093208"/>
            <a:ext cx="927735" cy="330835"/>
            <a:chOff x="3645408" y="5093208"/>
            <a:chExt cx="927735" cy="330835"/>
          </a:xfrm>
        </p:grpSpPr>
        <p:sp>
          <p:nvSpPr>
            <p:cNvPr id="21" name="object 21"/>
            <p:cNvSpPr/>
            <p:nvPr/>
          </p:nvSpPr>
          <p:spPr>
            <a:xfrm>
              <a:off x="3658362" y="5106162"/>
              <a:ext cx="457200" cy="304800"/>
            </a:xfrm>
            <a:custGeom>
              <a:avLst/>
              <a:gdLst/>
              <a:ahLst/>
              <a:cxnLst/>
              <a:rect l="l" t="t" r="r" b="b"/>
              <a:pathLst>
                <a:path w="457200" h="304800">
                  <a:moveTo>
                    <a:pt x="4572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57200" y="3048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58362" y="5106162"/>
              <a:ext cx="457200" cy="304800"/>
            </a:xfrm>
            <a:custGeom>
              <a:avLst/>
              <a:gdLst/>
              <a:ahLst/>
              <a:cxnLst/>
              <a:rect l="l" t="t" r="r" b="b"/>
              <a:pathLst>
                <a:path w="457200" h="304800">
                  <a:moveTo>
                    <a:pt x="0" y="304800"/>
                  </a:moveTo>
                  <a:lnTo>
                    <a:pt x="457200" y="304800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25908">
              <a:solidFill>
                <a:srgbClr val="006E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963162" y="5191379"/>
              <a:ext cx="610235" cy="134620"/>
            </a:xfrm>
            <a:custGeom>
              <a:avLst/>
              <a:gdLst/>
              <a:ahLst/>
              <a:cxnLst/>
              <a:rect l="l" t="t" r="r" b="b"/>
              <a:pathLst>
                <a:path w="610235" h="134620">
                  <a:moveTo>
                    <a:pt x="552323" y="67183"/>
                  </a:moveTo>
                  <a:lnTo>
                    <a:pt x="486790" y="105410"/>
                  </a:lnTo>
                  <a:lnTo>
                    <a:pt x="479805" y="109347"/>
                  </a:lnTo>
                  <a:lnTo>
                    <a:pt x="477520" y="118237"/>
                  </a:lnTo>
                  <a:lnTo>
                    <a:pt x="481584" y="125095"/>
                  </a:lnTo>
                  <a:lnTo>
                    <a:pt x="485648" y="132080"/>
                  </a:lnTo>
                  <a:lnTo>
                    <a:pt x="494411" y="134366"/>
                  </a:lnTo>
                  <a:lnTo>
                    <a:pt x="584876" y="81661"/>
                  </a:lnTo>
                  <a:lnTo>
                    <a:pt x="580898" y="81661"/>
                  </a:lnTo>
                  <a:lnTo>
                    <a:pt x="580898" y="79629"/>
                  </a:lnTo>
                  <a:lnTo>
                    <a:pt x="573659" y="79629"/>
                  </a:lnTo>
                  <a:lnTo>
                    <a:pt x="552323" y="67183"/>
                  </a:lnTo>
                  <a:close/>
                </a:path>
                <a:path w="610235" h="134620">
                  <a:moveTo>
                    <a:pt x="527503" y="52705"/>
                  </a:moveTo>
                  <a:lnTo>
                    <a:pt x="0" y="52705"/>
                  </a:lnTo>
                  <a:lnTo>
                    <a:pt x="0" y="81661"/>
                  </a:lnTo>
                  <a:lnTo>
                    <a:pt x="527503" y="81661"/>
                  </a:lnTo>
                  <a:lnTo>
                    <a:pt x="552323" y="67183"/>
                  </a:lnTo>
                  <a:lnTo>
                    <a:pt x="527503" y="52705"/>
                  </a:lnTo>
                  <a:close/>
                </a:path>
                <a:path w="610235" h="134620">
                  <a:moveTo>
                    <a:pt x="584878" y="52705"/>
                  </a:moveTo>
                  <a:lnTo>
                    <a:pt x="580898" y="52705"/>
                  </a:lnTo>
                  <a:lnTo>
                    <a:pt x="580898" y="81661"/>
                  </a:lnTo>
                  <a:lnTo>
                    <a:pt x="584876" y="81661"/>
                  </a:lnTo>
                  <a:lnTo>
                    <a:pt x="609726" y="67183"/>
                  </a:lnTo>
                  <a:lnTo>
                    <a:pt x="584878" y="52705"/>
                  </a:lnTo>
                  <a:close/>
                </a:path>
                <a:path w="610235" h="134620">
                  <a:moveTo>
                    <a:pt x="573659" y="54737"/>
                  </a:moveTo>
                  <a:lnTo>
                    <a:pt x="552323" y="67183"/>
                  </a:lnTo>
                  <a:lnTo>
                    <a:pt x="573659" y="79629"/>
                  </a:lnTo>
                  <a:lnTo>
                    <a:pt x="573659" y="54737"/>
                  </a:lnTo>
                  <a:close/>
                </a:path>
                <a:path w="610235" h="134620">
                  <a:moveTo>
                    <a:pt x="580898" y="54737"/>
                  </a:moveTo>
                  <a:lnTo>
                    <a:pt x="573659" y="54737"/>
                  </a:lnTo>
                  <a:lnTo>
                    <a:pt x="573659" y="79629"/>
                  </a:lnTo>
                  <a:lnTo>
                    <a:pt x="580898" y="79629"/>
                  </a:lnTo>
                  <a:lnTo>
                    <a:pt x="580898" y="54737"/>
                  </a:lnTo>
                  <a:close/>
                </a:path>
                <a:path w="610235" h="134620">
                  <a:moveTo>
                    <a:pt x="494411" y="0"/>
                  </a:moveTo>
                  <a:lnTo>
                    <a:pt x="485648" y="2286"/>
                  </a:lnTo>
                  <a:lnTo>
                    <a:pt x="481584" y="9271"/>
                  </a:lnTo>
                  <a:lnTo>
                    <a:pt x="477520" y="16129"/>
                  </a:lnTo>
                  <a:lnTo>
                    <a:pt x="479805" y="25019"/>
                  </a:lnTo>
                  <a:lnTo>
                    <a:pt x="486790" y="28956"/>
                  </a:lnTo>
                  <a:lnTo>
                    <a:pt x="552323" y="67183"/>
                  </a:lnTo>
                  <a:lnTo>
                    <a:pt x="573659" y="54737"/>
                  </a:lnTo>
                  <a:lnTo>
                    <a:pt x="580898" y="54737"/>
                  </a:lnTo>
                  <a:lnTo>
                    <a:pt x="580898" y="52705"/>
                  </a:lnTo>
                  <a:lnTo>
                    <a:pt x="584878" y="52705"/>
                  </a:lnTo>
                  <a:lnTo>
                    <a:pt x="4944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648961" y="5106161"/>
            <a:ext cx="457200" cy="338455"/>
          </a:xfrm>
          <a:prstGeom prst="rect">
            <a:avLst/>
          </a:prstGeom>
          <a:ln w="28955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5"/>
              </a:spcBef>
            </a:pPr>
            <a:r>
              <a:rPr sz="1600" spc="-5" dirty="0">
                <a:latin typeface="Arial"/>
                <a:cs typeface="Arial"/>
              </a:rPr>
              <a:t>0</a:t>
            </a:r>
            <a:endParaRPr sz="16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106161" y="5106161"/>
            <a:ext cx="457200" cy="338455"/>
          </a:xfrm>
          <a:custGeom>
            <a:avLst/>
            <a:gdLst/>
            <a:ahLst/>
            <a:cxnLst/>
            <a:rect l="l" t="t" r="r" b="b"/>
            <a:pathLst>
              <a:path w="457200" h="338454">
                <a:moveTo>
                  <a:pt x="457200" y="0"/>
                </a:moveTo>
                <a:lnTo>
                  <a:pt x="0" y="0"/>
                </a:lnTo>
                <a:lnTo>
                  <a:pt x="0" y="338328"/>
                </a:lnTo>
                <a:lnTo>
                  <a:pt x="457200" y="338328"/>
                </a:lnTo>
                <a:lnTo>
                  <a:pt x="4572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106161" y="5106161"/>
            <a:ext cx="457200" cy="338455"/>
          </a:xfrm>
          <a:prstGeom prst="rect">
            <a:avLst/>
          </a:prstGeom>
          <a:ln w="28955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5"/>
              </a:spcBef>
            </a:pPr>
            <a:r>
              <a:rPr sz="1600" spc="-5" dirty="0">
                <a:latin typeface="Arial"/>
                <a:cs typeface="Arial"/>
              </a:rPr>
              <a:t>0</a:t>
            </a:r>
            <a:endParaRPr sz="16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450594" y="4121657"/>
            <a:ext cx="6995159" cy="1007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3289300" algn="l"/>
              </a:tabLst>
            </a:pPr>
            <a:r>
              <a:rPr sz="1800" b="1" spc="-10" dirty="0">
                <a:latin typeface="Courier New"/>
                <a:cs typeface="Courier New"/>
              </a:rPr>
              <a:t>Point </a:t>
            </a:r>
            <a:r>
              <a:rPr sz="1800" b="1" spc="-5" dirty="0">
                <a:latin typeface="Courier New"/>
                <a:cs typeface="Courier New"/>
              </a:rPr>
              <a:t>pt </a:t>
            </a:r>
            <a:r>
              <a:rPr sz="1800" b="1" dirty="0">
                <a:latin typeface="Courier New"/>
                <a:cs typeface="Courier New"/>
              </a:rPr>
              <a:t>= </a:t>
            </a:r>
            <a:r>
              <a:rPr sz="1800" b="1" spc="-5" dirty="0">
                <a:solidFill>
                  <a:srgbClr val="0000FF"/>
                </a:solidFill>
                <a:latin typeface="Courier New"/>
                <a:cs typeface="Courier New"/>
              </a:rPr>
              <a:t>new </a:t>
            </a:r>
            <a:r>
              <a:rPr sz="1800" b="1" spc="-10" dirty="0">
                <a:latin typeface="Courier New"/>
                <a:cs typeface="Courier New"/>
              </a:rPr>
              <a:t>Point(); </a:t>
            </a:r>
            <a:r>
              <a:rPr sz="1800" b="1" spc="-5" dirty="0">
                <a:solidFill>
                  <a:srgbClr val="660033"/>
                </a:solidFill>
                <a:latin typeface="Courier New"/>
                <a:cs typeface="Courier New"/>
              </a:rPr>
              <a:t>// </a:t>
            </a:r>
            <a:r>
              <a:rPr sz="1800" b="1" spc="-10" dirty="0">
                <a:solidFill>
                  <a:srgbClr val="660033"/>
                </a:solidFill>
                <a:latin typeface="Courier New"/>
                <a:cs typeface="Courier New"/>
              </a:rPr>
              <a:t>create Point object </a:t>
            </a:r>
            <a:r>
              <a:rPr sz="1800" b="1" spc="-5" dirty="0">
                <a:solidFill>
                  <a:srgbClr val="660033"/>
                </a:solidFill>
                <a:latin typeface="Courier New"/>
                <a:cs typeface="Courier New"/>
              </a:rPr>
              <a:t>pt  </a:t>
            </a:r>
            <a:r>
              <a:rPr sz="1800" b="1" spc="-10" dirty="0">
                <a:latin typeface="Courier New"/>
                <a:cs typeface="Courier New"/>
              </a:rPr>
              <a:t>pt.setLocation(12,10);	</a:t>
            </a:r>
            <a:r>
              <a:rPr sz="1800" b="1" spc="-5" dirty="0">
                <a:solidFill>
                  <a:srgbClr val="660033"/>
                </a:solidFill>
                <a:latin typeface="Courier New"/>
                <a:cs typeface="Courier New"/>
              </a:rPr>
              <a:t>// </a:t>
            </a:r>
            <a:r>
              <a:rPr sz="1800" b="1" spc="-10" dirty="0">
                <a:solidFill>
                  <a:srgbClr val="660033"/>
                </a:solidFill>
                <a:latin typeface="Courier New"/>
                <a:cs typeface="Courier New"/>
              </a:rPr>
              <a:t>change coordinates </a:t>
            </a:r>
            <a:r>
              <a:rPr sz="1800" b="1" spc="-5" dirty="0">
                <a:solidFill>
                  <a:srgbClr val="660033"/>
                </a:solidFill>
                <a:latin typeface="Courier New"/>
                <a:cs typeface="Courier New"/>
              </a:rPr>
              <a:t>of</a:t>
            </a:r>
            <a:r>
              <a:rPr sz="1800" b="1" spc="-50" dirty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solidFill>
                  <a:srgbClr val="660033"/>
                </a:solidFill>
                <a:latin typeface="Courier New"/>
                <a:cs typeface="Courier New"/>
              </a:rPr>
              <a:t>pt</a:t>
            </a:r>
            <a:endParaRPr sz="1800">
              <a:latin typeface="Courier New"/>
              <a:cs typeface="Courier New"/>
            </a:endParaRPr>
          </a:p>
          <a:p>
            <a:pPr marL="2070100">
              <a:lnSpc>
                <a:spcPct val="100000"/>
              </a:lnSpc>
              <a:spcBef>
                <a:spcPts val="1245"/>
              </a:spcBef>
            </a:pPr>
            <a:r>
              <a:rPr sz="1800" spc="-5" dirty="0">
                <a:latin typeface="Arial"/>
                <a:cs typeface="Arial"/>
              </a:rPr>
              <a:t>pt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33400" y="3505200"/>
            <a:ext cx="8305800" cy="0"/>
          </a:xfrm>
          <a:custGeom>
            <a:avLst/>
            <a:gdLst/>
            <a:ahLst/>
            <a:cxnLst/>
            <a:rect l="l" t="t" r="r" b="b"/>
            <a:pathLst>
              <a:path w="8305800">
                <a:moveTo>
                  <a:pt x="0" y="0"/>
                </a:moveTo>
                <a:lnTo>
                  <a:pt x="8305800" y="0"/>
                </a:lnTo>
              </a:path>
            </a:pathLst>
          </a:custGeom>
          <a:ln w="9144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543800" y="3581400"/>
            <a:ext cx="1143000" cy="609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725161" y="510616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0"/>
                </a:moveTo>
                <a:lnTo>
                  <a:pt x="0" y="304800"/>
                </a:lnTo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182361" y="510616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0"/>
                </a:moveTo>
                <a:lnTo>
                  <a:pt x="0" y="304800"/>
                </a:lnTo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4713223" y="5440171"/>
            <a:ext cx="7848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45465" algn="l"/>
              </a:tabLst>
            </a:pPr>
            <a:r>
              <a:rPr sz="1600" spc="-5" dirty="0">
                <a:latin typeface="Arial"/>
                <a:cs typeface="Arial"/>
              </a:rPr>
              <a:t>12	10</a:t>
            </a:r>
            <a:endParaRPr sz="1600">
              <a:latin typeface="Arial"/>
              <a:cs typeface="Arial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</a:t>
            </a:r>
            <a:r>
              <a:rPr spc="5" dirty="0"/>
              <a:t>Lecture </a:t>
            </a:r>
            <a:r>
              <a:rPr dirty="0"/>
              <a:t>: OOP Part</a:t>
            </a:r>
            <a:r>
              <a:rPr spc="-190" dirty="0"/>
              <a:t> </a:t>
            </a:r>
            <a:r>
              <a:rPr dirty="0"/>
              <a:t>1]  </a:t>
            </a:r>
            <a:r>
              <a:rPr spc="-130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r>
              <a:rPr spc="-5" dirty="0"/>
              <a:t>48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FAQ</a:t>
            </a:r>
          </a:p>
        </p:txBody>
      </p:sp>
      <p:sp>
        <p:nvSpPr>
          <p:cNvPr id="3" name="object 3"/>
          <p:cNvSpPr/>
          <p:nvPr/>
        </p:nvSpPr>
        <p:spPr>
          <a:xfrm>
            <a:off x="163068" y="187452"/>
            <a:ext cx="523240" cy="2708275"/>
          </a:xfrm>
          <a:custGeom>
            <a:avLst/>
            <a:gdLst/>
            <a:ahLst/>
            <a:cxnLst/>
            <a:rect l="l" t="t" r="r" b="b"/>
            <a:pathLst>
              <a:path w="523240" h="2708275">
                <a:moveTo>
                  <a:pt x="522731" y="0"/>
                </a:moveTo>
                <a:lnTo>
                  <a:pt x="0" y="0"/>
                </a:lnTo>
                <a:lnTo>
                  <a:pt x="0" y="2708148"/>
                </a:lnTo>
                <a:lnTo>
                  <a:pt x="522731" y="2708148"/>
                </a:lnTo>
                <a:lnTo>
                  <a:pt x="522731" y="0"/>
                </a:lnTo>
                <a:close/>
              </a:path>
            </a:pathLst>
          </a:custGeom>
          <a:solidFill>
            <a:srgbClr val="FFCC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44239" y="293415"/>
            <a:ext cx="381000" cy="25241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990"/>
              </a:lnSpc>
            </a:pPr>
            <a:r>
              <a:rPr sz="2800" dirty="0">
                <a:solidFill>
                  <a:srgbClr val="C00000"/>
                </a:solidFill>
                <a:latin typeface="Trebuchet MS"/>
                <a:cs typeface="Trebuchet MS"/>
              </a:rPr>
              <a:t>4. </a:t>
            </a:r>
            <a:r>
              <a:rPr sz="2800" spc="5" dirty="0">
                <a:solidFill>
                  <a:srgbClr val="000099"/>
                </a:solidFill>
                <a:latin typeface="Trebuchet MS"/>
                <a:cs typeface="Trebuchet MS"/>
              </a:rPr>
              <a:t>More</a:t>
            </a:r>
            <a:r>
              <a:rPr sz="2800" spc="-60" dirty="0">
                <a:solidFill>
                  <a:srgbClr val="000099"/>
                </a:solidFill>
                <a:latin typeface="Trebuchet MS"/>
                <a:cs typeface="Trebuchet MS"/>
              </a:rPr>
              <a:t> </a:t>
            </a:r>
            <a:r>
              <a:rPr sz="2800" spc="55" dirty="0">
                <a:solidFill>
                  <a:srgbClr val="000099"/>
                </a:solidFill>
                <a:latin typeface="Trebuchet MS"/>
                <a:cs typeface="Trebuchet MS"/>
              </a:rPr>
              <a:t>Classes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400" y="187452"/>
            <a:ext cx="858011" cy="8564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4540" y="741101"/>
            <a:ext cx="7776845" cy="5497830"/>
          </a:xfrm>
          <a:prstGeom prst="rect">
            <a:avLst/>
          </a:prstGeom>
        </p:spPr>
        <p:txBody>
          <a:bodyPr vert="horz" wrap="square" lIns="0" tIns="20955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650"/>
              </a:spcBef>
              <a:buClr>
                <a:srgbClr val="009999"/>
              </a:buClr>
              <a:buSzPct val="64285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0000FF"/>
                </a:solidFill>
                <a:latin typeface="Arial"/>
                <a:cs typeface="Arial"/>
              </a:rPr>
              <a:t>Q: Must we know all the </a:t>
            </a:r>
            <a:r>
              <a:rPr sz="2800" dirty="0">
                <a:solidFill>
                  <a:srgbClr val="0000FF"/>
                </a:solidFill>
                <a:latin typeface="Arial"/>
                <a:cs typeface="Arial"/>
              </a:rPr>
              <a:t>classes </a:t>
            </a:r>
            <a:r>
              <a:rPr sz="2800" spc="-5" dirty="0">
                <a:solidFill>
                  <a:srgbClr val="0000FF"/>
                </a:solidFill>
                <a:latin typeface="Arial"/>
                <a:cs typeface="Arial"/>
              </a:rPr>
              <a:t>on the</a:t>
            </a:r>
            <a:r>
              <a:rPr sz="2800" spc="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Arial"/>
                <a:cs typeface="Arial"/>
              </a:rPr>
              <a:t>API?</a:t>
            </a:r>
            <a:endParaRPr sz="2800">
              <a:latin typeface="Arial"/>
              <a:cs typeface="Arial"/>
            </a:endParaRPr>
          </a:p>
          <a:p>
            <a:pPr marL="355600" marR="97790" indent="-343535">
              <a:lnSpc>
                <a:spcPct val="100000"/>
              </a:lnSpc>
              <a:spcBef>
                <a:spcPts val="1450"/>
              </a:spcBef>
              <a:buClr>
                <a:srgbClr val="009999"/>
              </a:buClr>
              <a:buSzPct val="65384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600" dirty="0">
                <a:latin typeface="Arial"/>
                <a:cs typeface="Arial"/>
              </a:rPr>
              <a:t>A: There are hundreds of them, so you cannot  possibly know all of them. </a:t>
            </a:r>
            <a:r>
              <a:rPr sz="2600" spc="3410" dirty="0">
                <a:latin typeface="Wingdings"/>
                <a:cs typeface="Wingdings"/>
              </a:rPr>
              <a:t>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Arial"/>
                <a:cs typeface="Arial"/>
              </a:rPr>
              <a:t>You are expected  </a:t>
            </a:r>
            <a:r>
              <a:rPr sz="2600" spc="-840" dirty="0">
                <a:latin typeface="Arial"/>
                <a:cs typeface="Arial"/>
              </a:rPr>
              <a:t>to</a:t>
            </a:r>
            <a:r>
              <a:rPr sz="2600" dirty="0">
                <a:latin typeface="Arial"/>
                <a:cs typeface="Arial"/>
              </a:rPr>
              <a:t> know those covered in lectures, labs, tutorials  and any additional materials given out, which  include discussion on the IVLE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forums.</a:t>
            </a:r>
            <a:endParaRPr sz="2600">
              <a:latin typeface="Arial"/>
              <a:cs typeface="Arial"/>
            </a:endParaRPr>
          </a:p>
          <a:p>
            <a:pPr marL="355600" marR="5080" indent="-343535">
              <a:lnSpc>
                <a:spcPct val="100000"/>
              </a:lnSpc>
              <a:spcBef>
                <a:spcPts val="1200"/>
              </a:spcBef>
              <a:buClr>
                <a:srgbClr val="009999"/>
              </a:buClr>
              <a:buSzPct val="65384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Familiarity </a:t>
            </a:r>
            <a:r>
              <a:rPr sz="2600" dirty="0">
                <a:latin typeface="Arial"/>
                <a:cs typeface="Arial"/>
              </a:rPr>
              <a:t>is the key, so you need </a:t>
            </a:r>
            <a:r>
              <a:rPr sz="2600" spc="-5" dirty="0">
                <a:latin typeface="Arial"/>
                <a:cs typeface="Arial"/>
              </a:rPr>
              <a:t>to 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practise a </a:t>
            </a:r>
            <a:r>
              <a:rPr sz="2600" spc="-5" dirty="0">
                <a:solidFill>
                  <a:srgbClr val="C00000"/>
                </a:solidFill>
                <a:latin typeface="Arial"/>
                <a:cs typeface="Arial"/>
              </a:rPr>
              <a:t>lot</a:t>
            </a:r>
            <a:r>
              <a:rPr sz="2600" spc="-5" dirty="0">
                <a:latin typeface="Arial"/>
                <a:cs typeface="Arial"/>
              </a:rPr>
              <a:t>,  </a:t>
            </a:r>
            <a:r>
              <a:rPr sz="2600" dirty="0">
                <a:latin typeface="Arial"/>
                <a:cs typeface="Arial"/>
              </a:rPr>
              <a:t>and 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refer </a:t>
            </a:r>
            <a:r>
              <a:rPr sz="2600" spc="-10" dirty="0">
                <a:solidFill>
                  <a:srgbClr val="C00000"/>
                </a:solidFill>
                <a:latin typeface="Arial"/>
                <a:cs typeface="Arial"/>
              </a:rPr>
              <a:t>to 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the API document as often as  possible</a:t>
            </a:r>
            <a:r>
              <a:rPr sz="2600" dirty="0">
                <a:latin typeface="Arial"/>
                <a:cs typeface="Arial"/>
              </a:rPr>
              <a:t>. There are many things not covered in  class but you can explore on your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own.</a:t>
            </a:r>
            <a:endParaRPr sz="2600">
              <a:latin typeface="Arial"/>
              <a:cs typeface="Arial"/>
            </a:endParaRPr>
          </a:p>
          <a:p>
            <a:pPr marL="355600" marR="5080" indent="-343535">
              <a:lnSpc>
                <a:spcPct val="100000"/>
              </a:lnSpc>
              <a:spcBef>
                <a:spcPts val="1205"/>
              </a:spcBef>
              <a:buClr>
                <a:srgbClr val="009999"/>
              </a:buClr>
              <a:buSzPct val="65384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600" dirty="0">
                <a:latin typeface="Arial"/>
                <a:cs typeface="Arial"/>
              </a:rPr>
              <a:t>Like 501042 (or equivalent), you must be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prepared  to invest time in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501043.</a:t>
            </a:r>
            <a:endParaRPr sz="26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</a:t>
            </a:r>
            <a:r>
              <a:rPr spc="5" dirty="0"/>
              <a:t>Lecture </a:t>
            </a:r>
            <a:r>
              <a:rPr dirty="0"/>
              <a:t>: OOP Part</a:t>
            </a:r>
            <a:r>
              <a:rPr spc="-190" dirty="0"/>
              <a:t> </a:t>
            </a:r>
            <a:r>
              <a:rPr dirty="0"/>
              <a:t>1]  </a:t>
            </a:r>
            <a:r>
              <a:rPr spc="-130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814307" y="6542327"/>
            <a:ext cx="251460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64"/>
              </a:lnSpc>
            </a:pPr>
            <a:r>
              <a:rPr sz="1600" b="1" i="1" spc="-5" dirty="0">
                <a:solidFill>
                  <a:srgbClr val="C00000"/>
                </a:solidFill>
                <a:latin typeface="Arial"/>
                <a:cs typeface="Arial"/>
              </a:rPr>
              <a:t>50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58825" marR="5080" indent="-746760">
              <a:lnSpc>
                <a:spcPct val="100000"/>
              </a:lnSpc>
              <a:spcBef>
                <a:spcPts val="105"/>
              </a:spcBef>
            </a:pPr>
            <a:r>
              <a:rPr spc="15" dirty="0">
                <a:solidFill>
                  <a:srgbClr val="C00000"/>
                </a:solidFill>
              </a:rPr>
              <a:t>5. </a:t>
            </a:r>
            <a:r>
              <a:rPr spc="-40" dirty="0"/>
              <a:t>Abstraction </a:t>
            </a:r>
            <a:r>
              <a:rPr dirty="0"/>
              <a:t>and  </a:t>
            </a:r>
            <a:r>
              <a:rPr spc="-5" dirty="0"/>
              <a:t>Information</a:t>
            </a:r>
            <a:r>
              <a:rPr spc="-105" dirty="0"/>
              <a:t> </a:t>
            </a:r>
            <a:r>
              <a:rPr spc="20" dirty="0"/>
              <a:t>Hiding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4900" marR="5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Principles of </a:t>
            </a:r>
            <a:r>
              <a:rPr dirty="0"/>
              <a:t>Programming and  </a:t>
            </a:r>
            <a:r>
              <a:rPr spc="-5" dirty="0"/>
              <a:t>Software</a:t>
            </a:r>
            <a:r>
              <a:rPr spc="-10" dirty="0"/>
              <a:t> </a:t>
            </a:r>
            <a:r>
              <a:rPr spc="-5" dirty="0"/>
              <a:t>Engineering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48158"/>
            <a:ext cx="41668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What </a:t>
            </a:r>
            <a:r>
              <a:rPr spc="120" dirty="0"/>
              <a:t>is</a:t>
            </a:r>
            <a:r>
              <a:rPr spc="50" dirty="0"/>
              <a:t> </a:t>
            </a:r>
            <a:r>
              <a:rPr dirty="0"/>
              <a:t>Abstraction?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938529"/>
            <a:ext cx="7865745" cy="5345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21920" indent="-343535">
              <a:lnSpc>
                <a:spcPct val="100000"/>
              </a:lnSpc>
              <a:spcBef>
                <a:spcPts val="95"/>
              </a:spcBef>
              <a:buClr>
                <a:srgbClr val="009999"/>
              </a:buClr>
              <a:buSzPct val="64285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5" dirty="0">
                <a:latin typeface="Arial"/>
                <a:cs typeface="Arial"/>
              </a:rPr>
              <a:t>In subsequent weeks, we will learn more </a:t>
            </a:r>
            <a:r>
              <a:rPr sz="2800" dirty="0">
                <a:latin typeface="Arial"/>
                <a:cs typeface="Arial"/>
              </a:rPr>
              <a:t>about  </a:t>
            </a:r>
            <a:r>
              <a:rPr sz="2800" spc="-10" dirty="0">
                <a:latin typeface="Arial"/>
                <a:cs typeface="Arial"/>
              </a:rPr>
              <a:t>OOP </a:t>
            </a:r>
            <a:r>
              <a:rPr sz="2800" spc="-5" dirty="0">
                <a:latin typeface="Arial"/>
                <a:cs typeface="Arial"/>
              </a:rPr>
              <a:t>design</a:t>
            </a:r>
            <a:r>
              <a:rPr sz="2800" spc="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issues</a:t>
            </a:r>
            <a:endParaRPr sz="28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605"/>
              </a:spcBef>
              <a:buClr>
                <a:srgbClr val="009999"/>
              </a:buClr>
              <a:buSzPct val="64285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5" dirty="0">
                <a:latin typeface="Arial"/>
                <a:cs typeface="Arial"/>
              </a:rPr>
              <a:t>One issue </a:t>
            </a:r>
            <a:r>
              <a:rPr sz="2800" dirty="0">
                <a:latin typeface="Arial"/>
                <a:cs typeface="Arial"/>
              </a:rPr>
              <a:t>is</a:t>
            </a:r>
            <a:r>
              <a:rPr sz="2800" spc="15" dirty="0"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C00000"/>
                </a:solidFill>
                <a:latin typeface="Arial"/>
                <a:cs typeface="Arial"/>
              </a:rPr>
              <a:t>abstraction</a:t>
            </a:r>
            <a:endParaRPr sz="2800">
              <a:latin typeface="Arial"/>
              <a:cs typeface="Arial"/>
            </a:endParaRPr>
          </a:p>
          <a:p>
            <a:pPr marL="355600" marR="139700" indent="-343535">
              <a:lnSpc>
                <a:spcPct val="100299"/>
              </a:lnSpc>
              <a:spcBef>
                <a:spcPts val="585"/>
              </a:spcBef>
              <a:buClr>
                <a:srgbClr val="009999"/>
              </a:buClr>
              <a:buSzPct val="64285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dirty="0">
                <a:solidFill>
                  <a:srgbClr val="C00000"/>
                </a:solidFill>
                <a:latin typeface="Arial"/>
                <a:cs typeface="Arial"/>
              </a:rPr>
              <a:t>Procedural abstraction: </a:t>
            </a:r>
            <a:r>
              <a:rPr sz="2800" spc="-5" dirty="0">
                <a:latin typeface="Arial"/>
                <a:cs typeface="Arial"/>
              </a:rPr>
              <a:t>Specify what to </a:t>
            </a:r>
            <a:r>
              <a:rPr sz="2800" dirty="0">
                <a:latin typeface="Arial"/>
                <a:cs typeface="Arial"/>
              </a:rPr>
              <a:t>do, </a:t>
            </a:r>
            <a:r>
              <a:rPr sz="2800" spc="-5" dirty="0">
                <a:latin typeface="Arial"/>
                <a:cs typeface="Arial"/>
              </a:rPr>
              <a:t>not  how to do it 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Arial"/>
                <a:cs typeface="Arial"/>
              </a:rPr>
              <a:t>separates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purpose </a:t>
            </a:r>
            <a:r>
              <a:rPr sz="2400" dirty="0">
                <a:latin typeface="Arial"/>
                <a:cs typeface="Arial"/>
              </a:rPr>
              <a:t>of </a:t>
            </a:r>
            <a:r>
              <a:rPr sz="2400" spc="-5" dirty="0">
                <a:latin typeface="Arial"/>
                <a:cs typeface="Arial"/>
              </a:rPr>
              <a:t>a </a:t>
            </a:r>
            <a:r>
              <a:rPr sz="2400" dirty="0">
                <a:latin typeface="Arial"/>
                <a:cs typeface="Arial"/>
              </a:rPr>
              <a:t>method  from its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implementation</a:t>
            </a:r>
            <a:endParaRPr sz="2400">
              <a:latin typeface="Arial"/>
              <a:cs typeface="Arial"/>
            </a:endParaRPr>
          </a:p>
          <a:p>
            <a:pPr marL="355600" marR="5080" indent="-343535">
              <a:lnSpc>
                <a:spcPct val="100200"/>
              </a:lnSpc>
              <a:spcBef>
                <a:spcPts val="580"/>
              </a:spcBef>
              <a:buClr>
                <a:srgbClr val="009999"/>
              </a:buClr>
              <a:buSzPct val="64285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C00000"/>
                </a:solidFill>
                <a:latin typeface="Arial"/>
                <a:cs typeface="Arial"/>
              </a:rPr>
              <a:t>Data </a:t>
            </a:r>
            <a:r>
              <a:rPr sz="2800" dirty="0">
                <a:solidFill>
                  <a:srgbClr val="C00000"/>
                </a:solidFill>
                <a:latin typeface="Arial"/>
                <a:cs typeface="Arial"/>
              </a:rPr>
              <a:t>abstraction: </a:t>
            </a:r>
            <a:r>
              <a:rPr sz="2800" spc="-5" dirty="0">
                <a:latin typeface="Arial"/>
                <a:cs typeface="Arial"/>
              </a:rPr>
              <a:t>Specify what </a:t>
            </a:r>
            <a:r>
              <a:rPr sz="2800" dirty="0">
                <a:latin typeface="Arial"/>
                <a:cs typeface="Arial"/>
              </a:rPr>
              <a:t>you </a:t>
            </a:r>
            <a:r>
              <a:rPr sz="2800" spc="-5" dirty="0">
                <a:latin typeface="Arial"/>
                <a:cs typeface="Arial"/>
              </a:rPr>
              <a:t>will do to  data, not how to do it 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focuses </a:t>
            </a:r>
            <a:r>
              <a:rPr sz="2400" spc="-5" dirty="0">
                <a:latin typeface="Arial"/>
                <a:cs typeface="Arial"/>
              </a:rPr>
              <a:t>on what operations  on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data are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10" dirty="0">
                <a:latin typeface="Arial"/>
                <a:cs typeface="Arial"/>
              </a:rPr>
              <a:t>be </a:t>
            </a:r>
            <a:r>
              <a:rPr sz="2400" spc="-5" dirty="0">
                <a:latin typeface="Arial"/>
                <a:cs typeface="Arial"/>
              </a:rPr>
              <a:t>provided instead </a:t>
            </a:r>
            <a:r>
              <a:rPr sz="2400" dirty="0">
                <a:latin typeface="Arial"/>
                <a:cs typeface="Arial"/>
              </a:rPr>
              <a:t>of </a:t>
            </a:r>
            <a:r>
              <a:rPr sz="2400" spc="-5" dirty="0">
                <a:latin typeface="Arial"/>
                <a:cs typeface="Arial"/>
              </a:rPr>
              <a:t>their  implementation. More on </a:t>
            </a:r>
            <a:r>
              <a:rPr sz="2400" dirty="0">
                <a:latin typeface="Arial"/>
                <a:cs typeface="Arial"/>
              </a:rPr>
              <a:t>this </a:t>
            </a:r>
            <a:r>
              <a:rPr sz="2400" spc="-5" dirty="0">
                <a:latin typeface="Arial"/>
                <a:cs typeface="Arial"/>
              </a:rPr>
              <a:t>when we cover</a:t>
            </a:r>
            <a:r>
              <a:rPr sz="2400" spc="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ADT.</a:t>
            </a:r>
            <a:endParaRPr sz="24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585"/>
              </a:spcBef>
              <a:buClr>
                <a:srgbClr val="009999"/>
              </a:buClr>
              <a:buSzPct val="64285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5" dirty="0">
                <a:latin typeface="Arial"/>
                <a:cs typeface="Arial"/>
              </a:rPr>
              <a:t>In both cases, we apply </a:t>
            </a:r>
            <a:r>
              <a:rPr sz="2800" spc="-5" dirty="0">
                <a:solidFill>
                  <a:srgbClr val="C00000"/>
                </a:solidFill>
                <a:latin typeface="Arial"/>
                <a:cs typeface="Arial"/>
              </a:rPr>
              <a:t>information</a:t>
            </a:r>
            <a:r>
              <a:rPr sz="2800" spc="8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C00000"/>
                </a:solidFill>
                <a:latin typeface="Arial"/>
                <a:cs typeface="Arial"/>
              </a:rPr>
              <a:t>hiding</a:t>
            </a:r>
            <a:endParaRPr sz="28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600"/>
              </a:spcBef>
              <a:buClr>
                <a:srgbClr val="009999"/>
              </a:buClr>
              <a:buSzPct val="64285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5" dirty="0">
                <a:latin typeface="Arial"/>
                <a:cs typeface="Arial"/>
              </a:rPr>
              <a:t>Ref: Textbook pg </a:t>
            </a:r>
            <a:r>
              <a:rPr sz="2800" dirty="0">
                <a:latin typeface="Arial"/>
                <a:cs typeface="Arial"/>
              </a:rPr>
              <a:t>120 </a:t>
            </a:r>
            <a:r>
              <a:rPr sz="2800" spc="-5" dirty="0">
                <a:latin typeface="Arial"/>
                <a:cs typeface="Arial"/>
              </a:rPr>
              <a:t>–</a:t>
            </a:r>
            <a:r>
              <a:rPr sz="2800" spc="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122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3068" y="187452"/>
            <a:ext cx="523240" cy="2479675"/>
          </a:xfrm>
          <a:custGeom>
            <a:avLst/>
            <a:gdLst/>
            <a:ahLst/>
            <a:cxnLst/>
            <a:rect l="l" t="t" r="r" b="b"/>
            <a:pathLst>
              <a:path w="523240" h="2479675">
                <a:moveTo>
                  <a:pt x="522731" y="0"/>
                </a:moveTo>
                <a:lnTo>
                  <a:pt x="0" y="0"/>
                </a:lnTo>
                <a:lnTo>
                  <a:pt x="0" y="2479548"/>
                </a:lnTo>
                <a:lnTo>
                  <a:pt x="522731" y="2479548"/>
                </a:lnTo>
                <a:lnTo>
                  <a:pt x="522731" y="0"/>
                </a:lnTo>
                <a:close/>
              </a:path>
            </a:pathLst>
          </a:custGeom>
          <a:solidFill>
            <a:srgbClr val="FFCC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44239" y="350782"/>
            <a:ext cx="381000" cy="22383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990"/>
              </a:lnSpc>
            </a:pPr>
            <a:r>
              <a:rPr sz="2800" spc="5" dirty="0">
                <a:solidFill>
                  <a:srgbClr val="C00000"/>
                </a:solidFill>
                <a:latin typeface="Trebuchet MS"/>
                <a:cs typeface="Trebuchet MS"/>
              </a:rPr>
              <a:t>5.</a:t>
            </a:r>
            <a:r>
              <a:rPr sz="2800" spc="-5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800" spc="-30" dirty="0">
                <a:solidFill>
                  <a:srgbClr val="000099"/>
                </a:solidFill>
                <a:latin typeface="Trebuchet MS"/>
                <a:cs typeface="Trebuchet MS"/>
              </a:rPr>
              <a:t>Abstraction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</a:t>
            </a:r>
            <a:r>
              <a:rPr spc="5" dirty="0"/>
              <a:t>Lecture </a:t>
            </a:r>
            <a:r>
              <a:rPr dirty="0"/>
              <a:t>: OOP Part</a:t>
            </a:r>
            <a:r>
              <a:rPr spc="-190" dirty="0"/>
              <a:t> </a:t>
            </a:r>
            <a:r>
              <a:rPr dirty="0"/>
              <a:t>1]  </a:t>
            </a:r>
            <a:r>
              <a:rPr spc="-130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r>
              <a:rPr spc="-5" dirty="0"/>
              <a:t>52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48158"/>
            <a:ext cx="46977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" dirty="0"/>
              <a:t>Procedural</a:t>
            </a:r>
            <a:r>
              <a:rPr spc="-75" dirty="0"/>
              <a:t> </a:t>
            </a:r>
            <a:r>
              <a:rPr spc="-35" dirty="0"/>
              <a:t>Abstraction</a:t>
            </a:r>
          </a:p>
        </p:txBody>
      </p:sp>
      <p:sp>
        <p:nvSpPr>
          <p:cNvPr id="3" name="object 3"/>
          <p:cNvSpPr/>
          <p:nvPr/>
        </p:nvSpPr>
        <p:spPr>
          <a:xfrm>
            <a:off x="163068" y="187452"/>
            <a:ext cx="523240" cy="2479675"/>
          </a:xfrm>
          <a:custGeom>
            <a:avLst/>
            <a:gdLst/>
            <a:ahLst/>
            <a:cxnLst/>
            <a:rect l="l" t="t" r="r" b="b"/>
            <a:pathLst>
              <a:path w="523240" h="2479675">
                <a:moveTo>
                  <a:pt x="522731" y="0"/>
                </a:moveTo>
                <a:lnTo>
                  <a:pt x="0" y="0"/>
                </a:lnTo>
                <a:lnTo>
                  <a:pt x="0" y="2479548"/>
                </a:lnTo>
                <a:lnTo>
                  <a:pt x="522731" y="2479548"/>
                </a:lnTo>
                <a:lnTo>
                  <a:pt x="522731" y="0"/>
                </a:lnTo>
                <a:close/>
              </a:path>
            </a:pathLst>
          </a:custGeom>
          <a:solidFill>
            <a:srgbClr val="FFCC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44239" y="350782"/>
            <a:ext cx="381000" cy="22383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990"/>
              </a:lnSpc>
            </a:pPr>
            <a:r>
              <a:rPr sz="2800" spc="5" dirty="0">
                <a:solidFill>
                  <a:srgbClr val="C00000"/>
                </a:solidFill>
                <a:latin typeface="Trebuchet MS"/>
                <a:cs typeface="Trebuchet MS"/>
              </a:rPr>
              <a:t>5.</a:t>
            </a:r>
            <a:r>
              <a:rPr sz="2800" spc="-5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800" spc="-30" dirty="0">
                <a:solidFill>
                  <a:srgbClr val="000099"/>
                </a:solidFill>
                <a:latin typeface="Trebuchet MS"/>
                <a:cs typeface="Trebuchet MS"/>
              </a:rPr>
              <a:t>Abstraction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667000" y="1001267"/>
            <a:ext cx="6300470" cy="4335780"/>
            <a:chOff x="2667000" y="1001267"/>
            <a:chExt cx="6300470" cy="4335780"/>
          </a:xfrm>
        </p:grpSpPr>
        <p:sp>
          <p:nvSpPr>
            <p:cNvPr id="6" name="object 6"/>
            <p:cNvSpPr/>
            <p:nvPr/>
          </p:nvSpPr>
          <p:spPr>
            <a:xfrm>
              <a:off x="2667000" y="1001267"/>
              <a:ext cx="6284976" cy="85039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56760" y="1981200"/>
              <a:ext cx="4410455" cy="335584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968490" y="582879"/>
            <a:ext cx="14814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Math</a:t>
            </a:r>
            <a:r>
              <a:rPr sz="2400" spc="-7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class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dirty="0"/>
              <a:t>The API</a:t>
            </a:r>
            <a:r>
              <a:rPr spc="-60" dirty="0"/>
              <a:t> </a:t>
            </a:r>
            <a:r>
              <a:rPr spc="-5" dirty="0"/>
              <a:t>documentation  describes </a:t>
            </a:r>
            <a:r>
              <a:rPr spc="-10" dirty="0">
                <a:solidFill>
                  <a:srgbClr val="C00000"/>
                </a:solidFill>
              </a:rPr>
              <a:t>what </a:t>
            </a:r>
            <a:r>
              <a:rPr spc="-10" dirty="0">
                <a:solidFill>
                  <a:srgbClr val="0000FF"/>
                </a:solidFill>
              </a:rPr>
              <a:t> </a:t>
            </a:r>
            <a:r>
              <a:rPr spc="-5" dirty="0">
                <a:solidFill>
                  <a:srgbClr val="0000FF"/>
                </a:solidFill>
              </a:rPr>
              <a:t>random()</a:t>
            </a:r>
            <a:r>
              <a:rPr spc="5" dirty="0">
                <a:solidFill>
                  <a:srgbClr val="0000FF"/>
                </a:solidFill>
              </a:rPr>
              <a:t> </a:t>
            </a:r>
            <a:r>
              <a:rPr spc="-10" dirty="0"/>
              <a:t>does</a:t>
            </a:r>
          </a:p>
          <a:p>
            <a:pPr marL="683260" lvl="1" indent="-327025">
              <a:lnSpc>
                <a:spcPct val="100000"/>
              </a:lnSpc>
              <a:spcBef>
                <a:spcPts val="5"/>
              </a:spcBef>
              <a:buClr>
                <a:srgbClr val="4B6C4E"/>
              </a:buClr>
              <a:buSzPct val="60000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000" dirty="0">
                <a:latin typeface="Arial"/>
                <a:cs typeface="Arial"/>
              </a:rPr>
              <a:t>What parameters (if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any)</a:t>
            </a:r>
            <a:endParaRPr sz="2000">
              <a:latin typeface="Arial"/>
              <a:cs typeface="Arial"/>
            </a:endParaRPr>
          </a:p>
          <a:p>
            <a:pPr marL="683260">
              <a:lnSpc>
                <a:spcPct val="100000"/>
              </a:lnSpc>
            </a:pPr>
            <a:r>
              <a:rPr sz="2000" dirty="0"/>
              <a:t>it</a:t>
            </a:r>
            <a:r>
              <a:rPr sz="2000" spc="-20" dirty="0"/>
              <a:t> </a:t>
            </a:r>
            <a:r>
              <a:rPr sz="2000" dirty="0"/>
              <a:t>takes</a:t>
            </a:r>
            <a:endParaRPr sz="2000"/>
          </a:p>
          <a:p>
            <a:pPr marL="683260" marR="241300" lvl="1" indent="-326390">
              <a:lnSpc>
                <a:spcPct val="100000"/>
              </a:lnSpc>
              <a:buClr>
                <a:srgbClr val="4B6C4E"/>
              </a:buClr>
              <a:buSzPct val="60000"/>
              <a:buFont typeface="Wingdings"/>
              <a:buChar char=""/>
              <a:tabLst>
                <a:tab pos="683260" algn="l"/>
                <a:tab pos="683895" algn="l"/>
              </a:tabLst>
            </a:pPr>
            <a:r>
              <a:rPr sz="2000" dirty="0">
                <a:latin typeface="Arial"/>
                <a:cs typeface="Arial"/>
              </a:rPr>
              <a:t>What result it returns</a:t>
            </a:r>
            <a:r>
              <a:rPr sz="2000" spc="-1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(if  any)</a:t>
            </a:r>
            <a:endParaRPr sz="20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595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pc="-5" dirty="0"/>
              <a:t>This provides</a:t>
            </a:r>
            <a:r>
              <a:rPr spc="20" dirty="0"/>
              <a:t> </a:t>
            </a:r>
            <a:r>
              <a:rPr dirty="0"/>
              <a:t>an</a:t>
            </a: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interface with the</a:t>
            </a:r>
            <a:r>
              <a:rPr spc="-15" dirty="0"/>
              <a:t> </a:t>
            </a:r>
            <a:r>
              <a:rPr dirty="0"/>
              <a:t>user.</a:t>
            </a:r>
          </a:p>
          <a:p>
            <a:pPr marL="355600" indent="-343535">
              <a:lnSpc>
                <a:spcPct val="100000"/>
              </a:lnSpc>
              <a:spcBef>
                <a:spcPts val="60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pc="-5" dirty="0">
                <a:solidFill>
                  <a:srgbClr val="C00000"/>
                </a:solidFill>
              </a:rPr>
              <a:t>How </a:t>
            </a:r>
            <a:r>
              <a:rPr dirty="0"/>
              <a:t>the method</a:t>
            </a:r>
            <a:r>
              <a:rPr spc="-10" dirty="0"/>
              <a:t> </a:t>
            </a:r>
            <a:r>
              <a:rPr spc="-5" dirty="0"/>
              <a:t>is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244904" y="5116525"/>
            <a:ext cx="307657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implemented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hidden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from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sz="2400" u="heavy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user</a:t>
            </a:r>
            <a:r>
              <a:rPr sz="2400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83785" y="5398770"/>
            <a:ext cx="4191000" cy="1016635"/>
          </a:xfrm>
          <a:prstGeom prst="rect">
            <a:avLst/>
          </a:prstGeom>
          <a:solidFill>
            <a:srgbClr val="B8FFFF"/>
          </a:solidFill>
          <a:ln w="25907">
            <a:solidFill>
              <a:srgbClr val="6F9FFF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90805" marR="124460" algn="just">
              <a:lnSpc>
                <a:spcPct val="100000"/>
              </a:lnSpc>
              <a:spcBef>
                <a:spcPts val="310"/>
              </a:spcBef>
            </a:pPr>
            <a:r>
              <a:rPr sz="2000" dirty="0">
                <a:latin typeface="Arial"/>
                <a:cs typeface="Arial"/>
              </a:rPr>
              <a:t>When </a:t>
            </a:r>
            <a:r>
              <a:rPr sz="2000" spc="-5" dirty="0">
                <a:latin typeface="Arial"/>
                <a:cs typeface="Arial"/>
              </a:rPr>
              <a:t>you </a:t>
            </a:r>
            <a:r>
              <a:rPr sz="2000" dirty="0">
                <a:latin typeface="Arial"/>
                <a:cs typeface="Arial"/>
              </a:rPr>
              <a:t>write your own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methods,  you should provide a description of  each method like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this.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180835" y="1852295"/>
            <a:ext cx="579120" cy="3549015"/>
          </a:xfrm>
          <a:custGeom>
            <a:avLst/>
            <a:gdLst/>
            <a:ahLst/>
            <a:cxnLst/>
            <a:rect l="l" t="t" r="r" b="b"/>
            <a:pathLst>
              <a:path w="579120" h="3549015">
                <a:moveTo>
                  <a:pt x="58258" y="56906"/>
                </a:moveTo>
                <a:lnTo>
                  <a:pt x="47552" y="83364"/>
                </a:lnTo>
                <a:lnTo>
                  <a:pt x="550417" y="3548506"/>
                </a:lnTo>
                <a:lnTo>
                  <a:pt x="578992" y="3544442"/>
                </a:lnTo>
                <a:lnTo>
                  <a:pt x="76141" y="79396"/>
                </a:lnTo>
                <a:lnTo>
                  <a:pt x="58258" y="56906"/>
                </a:lnTo>
                <a:close/>
              </a:path>
              <a:path w="579120" h="3549015">
                <a:moveTo>
                  <a:pt x="50037" y="0"/>
                </a:moveTo>
                <a:lnTo>
                  <a:pt x="3048" y="116331"/>
                </a:lnTo>
                <a:lnTo>
                  <a:pt x="0" y="123697"/>
                </a:lnTo>
                <a:lnTo>
                  <a:pt x="3683" y="132206"/>
                </a:lnTo>
                <a:lnTo>
                  <a:pt x="11049" y="135127"/>
                </a:lnTo>
                <a:lnTo>
                  <a:pt x="18414" y="138175"/>
                </a:lnTo>
                <a:lnTo>
                  <a:pt x="26924" y="134619"/>
                </a:lnTo>
                <a:lnTo>
                  <a:pt x="29844" y="127126"/>
                </a:lnTo>
                <a:lnTo>
                  <a:pt x="47552" y="83364"/>
                </a:lnTo>
                <a:lnTo>
                  <a:pt x="39877" y="30479"/>
                </a:lnTo>
                <a:lnTo>
                  <a:pt x="68452" y="26415"/>
                </a:lnTo>
                <a:lnTo>
                  <a:pt x="71055" y="26415"/>
                </a:lnTo>
                <a:lnTo>
                  <a:pt x="50037" y="0"/>
                </a:lnTo>
                <a:close/>
              </a:path>
              <a:path w="579120" h="3549015">
                <a:moveTo>
                  <a:pt x="71055" y="26415"/>
                </a:moveTo>
                <a:lnTo>
                  <a:pt x="68452" y="26415"/>
                </a:lnTo>
                <a:lnTo>
                  <a:pt x="76141" y="79396"/>
                </a:lnTo>
                <a:lnTo>
                  <a:pt x="105513" y="116331"/>
                </a:lnTo>
                <a:lnTo>
                  <a:pt x="110489" y="122427"/>
                </a:lnTo>
                <a:lnTo>
                  <a:pt x="119506" y="123443"/>
                </a:lnTo>
                <a:lnTo>
                  <a:pt x="125729" y="118490"/>
                </a:lnTo>
                <a:lnTo>
                  <a:pt x="132079" y="113537"/>
                </a:lnTo>
                <a:lnTo>
                  <a:pt x="133096" y="104393"/>
                </a:lnTo>
                <a:lnTo>
                  <a:pt x="71055" y="26415"/>
                </a:lnTo>
                <a:close/>
              </a:path>
              <a:path w="579120" h="3549015">
                <a:moveTo>
                  <a:pt x="68452" y="26415"/>
                </a:moveTo>
                <a:lnTo>
                  <a:pt x="39877" y="30479"/>
                </a:lnTo>
                <a:lnTo>
                  <a:pt x="47552" y="83364"/>
                </a:lnTo>
                <a:lnTo>
                  <a:pt x="58258" y="56906"/>
                </a:lnTo>
                <a:lnTo>
                  <a:pt x="42799" y="37464"/>
                </a:lnTo>
                <a:lnTo>
                  <a:pt x="67563" y="33908"/>
                </a:lnTo>
                <a:lnTo>
                  <a:pt x="69540" y="33908"/>
                </a:lnTo>
                <a:lnTo>
                  <a:pt x="68452" y="26415"/>
                </a:lnTo>
                <a:close/>
              </a:path>
              <a:path w="579120" h="3549015">
                <a:moveTo>
                  <a:pt x="69540" y="33908"/>
                </a:moveTo>
                <a:lnTo>
                  <a:pt x="67563" y="33908"/>
                </a:lnTo>
                <a:lnTo>
                  <a:pt x="58258" y="56906"/>
                </a:lnTo>
                <a:lnTo>
                  <a:pt x="76141" y="79396"/>
                </a:lnTo>
                <a:lnTo>
                  <a:pt x="69540" y="33908"/>
                </a:lnTo>
                <a:close/>
              </a:path>
              <a:path w="579120" h="3549015">
                <a:moveTo>
                  <a:pt x="67563" y="33908"/>
                </a:moveTo>
                <a:lnTo>
                  <a:pt x="42799" y="37464"/>
                </a:lnTo>
                <a:lnTo>
                  <a:pt x="58258" y="56906"/>
                </a:lnTo>
                <a:lnTo>
                  <a:pt x="67563" y="33908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</a:t>
            </a:r>
            <a:r>
              <a:rPr spc="5" dirty="0"/>
              <a:t>Lecture </a:t>
            </a:r>
            <a:r>
              <a:rPr dirty="0"/>
              <a:t>: OOP Part</a:t>
            </a:r>
            <a:r>
              <a:rPr spc="-190" dirty="0"/>
              <a:t> </a:t>
            </a:r>
            <a:r>
              <a:rPr dirty="0"/>
              <a:t>1]  </a:t>
            </a:r>
            <a:r>
              <a:rPr spc="-130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r>
              <a:rPr spc="-5" dirty="0"/>
              <a:t>53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789940"/>
          </a:xfrm>
          <a:prstGeom prst="rect">
            <a:avLst/>
          </a:prstGeom>
          <a:solidFill>
            <a:srgbClr val="FFFFCC"/>
          </a:solidFill>
        </p:spPr>
        <p:txBody>
          <a:bodyPr vert="horz" wrap="square" lIns="0" tIns="3175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50"/>
              </a:spcBef>
            </a:pPr>
            <a:r>
              <a:rPr sz="4000" spc="35" dirty="0"/>
              <a:t>Summary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</a:t>
            </a:r>
            <a:r>
              <a:rPr spc="5" dirty="0"/>
              <a:t>Lecture </a:t>
            </a:r>
            <a:r>
              <a:rPr dirty="0"/>
              <a:t>: OOP Part</a:t>
            </a:r>
            <a:r>
              <a:rPr spc="-190" dirty="0"/>
              <a:t> </a:t>
            </a:r>
            <a:r>
              <a:rPr dirty="0"/>
              <a:t>1]  </a:t>
            </a:r>
            <a:r>
              <a:rPr spc="-130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r>
              <a:rPr spc="-5" dirty="0"/>
              <a:t>54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90624"/>
            <a:ext cx="7945120" cy="4751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Clr>
                <a:srgbClr val="009999"/>
              </a:buClr>
              <a:buSzPct val="64285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5" dirty="0">
                <a:latin typeface="Arial"/>
                <a:cs typeface="Arial"/>
              </a:rPr>
              <a:t>We </a:t>
            </a:r>
            <a:r>
              <a:rPr sz="2800" dirty="0">
                <a:latin typeface="Arial"/>
                <a:cs typeface="Arial"/>
              </a:rPr>
              <a:t>revisit </a:t>
            </a:r>
            <a:r>
              <a:rPr sz="2800" spc="-5" dirty="0">
                <a:latin typeface="Arial"/>
                <a:cs typeface="Arial"/>
              </a:rPr>
              <a:t>a few </a:t>
            </a:r>
            <a:r>
              <a:rPr sz="2800" dirty="0">
                <a:latin typeface="Arial"/>
                <a:cs typeface="Arial"/>
              </a:rPr>
              <a:t>classes (</a:t>
            </a:r>
            <a:r>
              <a:rPr sz="2800" dirty="0">
                <a:solidFill>
                  <a:srgbClr val="0000FF"/>
                </a:solidFill>
                <a:latin typeface="Arial"/>
                <a:cs typeface="Arial"/>
              </a:rPr>
              <a:t>Scanner</a:t>
            </a:r>
            <a:r>
              <a:rPr sz="2800" dirty="0">
                <a:latin typeface="Arial"/>
                <a:cs typeface="Arial"/>
              </a:rPr>
              <a:t>, </a:t>
            </a:r>
            <a:r>
              <a:rPr sz="2800" dirty="0">
                <a:solidFill>
                  <a:srgbClr val="0000FF"/>
                </a:solidFill>
                <a:latin typeface="Arial"/>
                <a:cs typeface="Arial"/>
              </a:rPr>
              <a:t>String</a:t>
            </a:r>
            <a:r>
              <a:rPr sz="2800" dirty="0">
                <a:latin typeface="Arial"/>
                <a:cs typeface="Arial"/>
              </a:rPr>
              <a:t>, </a:t>
            </a:r>
            <a:r>
              <a:rPr sz="2800" dirty="0">
                <a:solidFill>
                  <a:srgbClr val="0000FF"/>
                </a:solidFill>
                <a:latin typeface="Arial"/>
                <a:cs typeface="Arial"/>
              </a:rPr>
              <a:t>Math</a:t>
            </a:r>
            <a:r>
              <a:rPr sz="2800" dirty="0">
                <a:latin typeface="Arial"/>
                <a:cs typeface="Arial"/>
              </a:rPr>
              <a:t>)  </a:t>
            </a:r>
            <a:r>
              <a:rPr sz="2800" spc="-5" dirty="0">
                <a:latin typeface="Arial"/>
                <a:cs typeface="Arial"/>
              </a:rPr>
              <a:t>and learn a few new ones </a:t>
            </a:r>
            <a:r>
              <a:rPr sz="2800" dirty="0">
                <a:latin typeface="Arial"/>
                <a:cs typeface="Arial"/>
              </a:rPr>
              <a:t>(</a:t>
            </a:r>
            <a:r>
              <a:rPr sz="2800" dirty="0">
                <a:solidFill>
                  <a:srgbClr val="0000FF"/>
                </a:solidFill>
                <a:latin typeface="Arial"/>
                <a:cs typeface="Arial"/>
              </a:rPr>
              <a:t>DecimalFormat</a:t>
            </a:r>
            <a:r>
              <a:rPr sz="2800" dirty="0">
                <a:latin typeface="Arial"/>
                <a:cs typeface="Arial"/>
              </a:rPr>
              <a:t>, </a:t>
            </a:r>
            <a:r>
              <a:rPr sz="28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Arial"/>
                <a:cs typeface="Arial"/>
              </a:rPr>
              <a:t>Random</a:t>
            </a:r>
            <a:r>
              <a:rPr sz="2800" spc="-5" dirty="0">
                <a:latin typeface="Arial"/>
                <a:cs typeface="Arial"/>
              </a:rPr>
              <a:t>, wrapper classes,</a:t>
            </a:r>
            <a:r>
              <a:rPr sz="2800" spc="60" dirty="0"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Arial"/>
                <a:cs typeface="Arial"/>
              </a:rPr>
              <a:t>Point</a:t>
            </a:r>
            <a:r>
              <a:rPr sz="2800" spc="-5" dirty="0">
                <a:latin typeface="Arial"/>
                <a:cs typeface="Arial"/>
              </a:rPr>
              <a:t>)</a:t>
            </a:r>
            <a:endParaRPr sz="2800">
              <a:latin typeface="Arial"/>
              <a:cs typeface="Arial"/>
            </a:endParaRPr>
          </a:p>
          <a:p>
            <a:pPr marL="355600" marR="66675" indent="-343535" algn="just">
              <a:lnSpc>
                <a:spcPct val="100000"/>
              </a:lnSpc>
              <a:spcBef>
                <a:spcPts val="1205"/>
              </a:spcBef>
              <a:buClr>
                <a:srgbClr val="009999"/>
              </a:buClr>
              <a:buSzPct val="64285"/>
              <a:buFont typeface="Wingdings"/>
              <a:buChar char=""/>
              <a:tabLst>
                <a:tab pos="356235" algn="l"/>
              </a:tabLst>
            </a:pPr>
            <a:r>
              <a:rPr sz="2800" spc="-5" dirty="0">
                <a:latin typeface="Arial"/>
                <a:cs typeface="Arial"/>
              </a:rPr>
              <a:t>We </a:t>
            </a:r>
            <a:r>
              <a:rPr sz="2800" dirty="0">
                <a:latin typeface="Arial"/>
                <a:cs typeface="Arial"/>
              </a:rPr>
              <a:t>discuss some basic </a:t>
            </a:r>
            <a:r>
              <a:rPr sz="2800" spc="-10" dirty="0">
                <a:latin typeface="Arial"/>
                <a:cs typeface="Arial"/>
              </a:rPr>
              <a:t>OOP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features/concepts  </a:t>
            </a:r>
            <a:r>
              <a:rPr sz="2800" spc="-5" dirty="0">
                <a:latin typeface="Arial"/>
                <a:cs typeface="Arial"/>
              </a:rPr>
              <a:t>such as </a:t>
            </a:r>
            <a:r>
              <a:rPr sz="2800" dirty="0">
                <a:solidFill>
                  <a:srgbClr val="C00000"/>
                </a:solidFill>
                <a:latin typeface="Arial"/>
                <a:cs typeface="Arial"/>
              </a:rPr>
              <a:t>modifiers</a:t>
            </a:r>
            <a:r>
              <a:rPr sz="2800" dirty="0">
                <a:latin typeface="Arial"/>
                <a:cs typeface="Arial"/>
              </a:rPr>
              <a:t>, </a:t>
            </a:r>
            <a:r>
              <a:rPr sz="2800" spc="-5" dirty="0">
                <a:solidFill>
                  <a:srgbClr val="C00000"/>
                </a:solidFill>
                <a:latin typeface="Arial"/>
                <a:cs typeface="Arial"/>
              </a:rPr>
              <a:t>class and instance </a:t>
            </a:r>
            <a:r>
              <a:rPr sz="2800" dirty="0">
                <a:solidFill>
                  <a:srgbClr val="C00000"/>
                </a:solidFill>
                <a:latin typeface="Arial"/>
                <a:cs typeface="Arial"/>
              </a:rPr>
              <a:t>methods</a:t>
            </a:r>
            <a:r>
              <a:rPr sz="2800" dirty="0">
                <a:latin typeface="Arial"/>
                <a:cs typeface="Arial"/>
              </a:rPr>
              <a:t>, </a:t>
            </a:r>
            <a:r>
              <a:rPr sz="2800" dirty="0">
                <a:solidFill>
                  <a:srgbClr val="C00000"/>
                </a:solidFill>
                <a:latin typeface="Arial"/>
                <a:cs typeface="Arial"/>
              </a:rPr>
              <a:t> constructors </a:t>
            </a:r>
            <a:r>
              <a:rPr sz="2800" dirty="0">
                <a:latin typeface="Arial"/>
                <a:cs typeface="Arial"/>
              </a:rPr>
              <a:t>and</a:t>
            </a:r>
            <a:r>
              <a:rPr sz="2800" spc="10" dirty="0"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C00000"/>
                </a:solidFill>
                <a:latin typeface="Arial"/>
                <a:cs typeface="Arial"/>
              </a:rPr>
              <a:t>overloading</a:t>
            </a:r>
            <a:r>
              <a:rPr sz="2800" dirty="0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  <a:p>
            <a:pPr marL="355600" marR="322580" indent="-343535">
              <a:lnSpc>
                <a:spcPct val="100000"/>
              </a:lnSpc>
              <a:spcBef>
                <a:spcPts val="1205"/>
              </a:spcBef>
              <a:buClr>
                <a:srgbClr val="009999"/>
              </a:buClr>
              <a:buSzPct val="64285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5" dirty="0">
                <a:latin typeface="Arial"/>
                <a:cs typeface="Arial"/>
              </a:rPr>
              <a:t>Today, we </a:t>
            </a:r>
            <a:r>
              <a:rPr sz="2800" dirty="0">
                <a:latin typeface="Arial"/>
                <a:cs typeface="Arial"/>
              </a:rPr>
              <a:t>focus </a:t>
            </a:r>
            <a:r>
              <a:rPr sz="2800" spc="-5" dirty="0">
                <a:latin typeface="Arial"/>
                <a:cs typeface="Arial"/>
              </a:rPr>
              <a:t>on </a:t>
            </a:r>
            <a:r>
              <a:rPr sz="2800" dirty="0">
                <a:latin typeface="Arial"/>
                <a:cs typeface="Arial"/>
              </a:rPr>
              <a:t>using classes </a:t>
            </a:r>
            <a:r>
              <a:rPr sz="2800" spc="-5" dirty="0">
                <a:latin typeface="Arial"/>
                <a:cs typeface="Arial"/>
              </a:rPr>
              <a:t>provided by  </a:t>
            </a:r>
            <a:r>
              <a:rPr sz="2800" spc="-10" dirty="0">
                <a:latin typeface="Arial"/>
                <a:cs typeface="Arial"/>
              </a:rPr>
              <a:t>API</a:t>
            </a:r>
            <a:r>
              <a:rPr sz="2800" spc="-1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800" u="heavy" spc="-5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Arial"/>
                <a:cs typeface="Arial"/>
              </a:rPr>
              <a:t>as a</a:t>
            </a:r>
            <a:r>
              <a:rPr sz="2800" u="heavy" spc="5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Arial"/>
                <a:cs typeface="Arial"/>
              </a:rPr>
              <a:t> </a:t>
            </a:r>
            <a:r>
              <a:rPr sz="2800" u="heavy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Arial"/>
                <a:cs typeface="Arial"/>
              </a:rPr>
              <a:t>user</a:t>
            </a:r>
            <a:r>
              <a:rPr sz="2800" dirty="0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1200"/>
              </a:spcBef>
              <a:buClr>
                <a:srgbClr val="009999"/>
              </a:buClr>
              <a:buSzPct val="64285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5" dirty="0">
                <a:latin typeface="Arial"/>
                <a:cs typeface="Arial"/>
              </a:rPr>
              <a:t>Next </a:t>
            </a:r>
            <a:r>
              <a:rPr sz="2800" dirty="0">
                <a:latin typeface="Arial"/>
                <a:cs typeface="Arial"/>
              </a:rPr>
              <a:t>week, you </a:t>
            </a:r>
            <a:r>
              <a:rPr sz="2800" spc="-5" dirty="0">
                <a:latin typeface="Arial"/>
                <a:cs typeface="Arial"/>
              </a:rPr>
              <a:t>will </a:t>
            </a:r>
            <a:r>
              <a:rPr sz="2800" dirty="0">
                <a:latin typeface="Arial"/>
                <a:cs typeface="Arial"/>
              </a:rPr>
              <a:t>become</a:t>
            </a:r>
            <a:r>
              <a:rPr sz="280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800" u="heavy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Arial"/>
                <a:cs typeface="Arial"/>
              </a:rPr>
              <a:t>designers</a:t>
            </a:r>
            <a:r>
              <a:rPr sz="280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to</a:t>
            </a:r>
            <a:r>
              <a:rPr sz="2800" spc="30" dirty="0"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660033"/>
                </a:solidFill>
                <a:latin typeface="Arial"/>
                <a:cs typeface="Arial"/>
              </a:rPr>
              <a:t>create</a:t>
            </a:r>
            <a:endParaRPr sz="28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2800" spc="-5" dirty="0">
                <a:latin typeface="Arial"/>
                <a:cs typeface="Arial"/>
              </a:rPr>
              <a:t>your own</a:t>
            </a:r>
            <a:r>
              <a:rPr sz="2800" spc="2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classes!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789940"/>
          </a:xfrm>
          <a:prstGeom prst="rect">
            <a:avLst/>
          </a:prstGeom>
          <a:solidFill>
            <a:srgbClr val="FFFFCC"/>
          </a:solidFill>
        </p:spPr>
        <p:txBody>
          <a:bodyPr vert="horz" wrap="square" lIns="0" tIns="3175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50"/>
              </a:spcBef>
            </a:pPr>
            <a:r>
              <a:rPr sz="4000" spc="-125" dirty="0"/>
              <a:t>Advice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</a:t>
            </a:r>
            <a:r>
              <a:rPr spc="5" dirty="0"/>
              <a:t>Lecture </a:t>
            </a:r>
            <a:r>
              <a:rPr dirty="0"/>
              <a:t>: OOP Part</a:t>
            </a:r>
            <a:r>
              <a:rPr spc="-190" dirty="0"/>
              <a:t> </a:t>
            </a:r>
            <a:r>
              <a:rPr dirty="0"/>
              <a:t>1]  </a:t>
            </a:r>
            <a:r>
              <a:rPr spc="-130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r>
              <a:rPr spc="-5" dirty="0"/>
              <a:t>55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92072"/>
            <a:ext cx="7960359" cy="519366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3535" algn="just">
              <a:lnSpc>
                <a:spcPct val="100000"/>
              </a:lnSpc>
              <a:spcBef>
                <a:spcPts val="70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6235" algn="l"/>
              </a:tabLst>
            </a:pPr>
            <a:r>
              <a:rPr sz="2400" dirty="0">
                <a:solidFill>
                  <a:srgbClr val="800000"/>
                </a:solidFill>
                <a:latin typeface="Arial"/>
                <a:cs typeface="Arial"/>
              </a:rPr>
              <a:t>Important that </a:t>
            </a:r>
            <a:r>
              <a:rPr sz="2400" spc="-5" dirty="0">
                <a:solidFill>
                  <a:srgbClr val="800000"/>
                </a:solidFill>
                <a:latin typeface="Arial"/>
                <a:cs typeface="Arial"/>
              </a:rPr>
              <a:t>you explore on your own </a:t>
            </a:r>
            <a:r>
              <a:rPr sz="2400" dirty="0">
                <a:solidFill>
                  <a:srgbClr val="800000"/>
                </a:solidFill>
                <a:latin typeface="Arial"/>
                <a:cs typeface="Arial"/>
              </a:rPr>
              <a:t>after</a:t>
            </a:r>
            <a:r>
              <a:rPr sz="2400" spc="2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800000"/>
                </a:solidFill>
                <a:latin typeface="Arial"/>
                <a:cs typeface="Arial"/>
              </a:rPr>
              <a:t>lecture!</a:t>
            </a:r>
            <a:endParaRPr sz="2400">
              <a:latin typeface="Arial"/>
              <a:cs typeface="Arial"/>
            </a:endParaRPr>
          </a:p>
          <a:p>
            <a:pPr marL="355600" marR="243840" indent="-343535" algn="just">
              <a:lnSpc>
                <a:spcPct val="100000"/>
              </a:lnSpc>
              <a:spcBef>
                <a:spcPts val="605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6235" algn="l"/>
              </a:tabLst>
            </a:pPr>
            <a:r>
              <a:rPr sz="2400" dirty="0">
                <a:latin typeface="Arial"/>
                <a:cs typeface="Arial"/>
              </a:rPr>
              <a:t>OOP </a:t>
            </a:r>
            <a:r>
              <a:rPr sz="2400" spc="-5" dirty="0">
                <a:latin typeface="Arial"/>
                <a:cs typeface="Arial"/>
              </a:rPr>
              <a:t>involves many </a:t>
            </a:r>
            <a:r>
              <a:rPr sz="2400" dirty="0">
                <a:latin typeface="Arial"/>
                <a:cs typeface="Arial"/>
              </a:rPr>
              <a:t>concepts,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too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many to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be covered  in one or two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lectures</a:t>
            </a:r>
            <a:r>
              <a:rPr sz="2400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60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6235" algn="l"/>
              </a:tabLst>
            </a:pPr>
            <a:r>
              <a:rPr sz="2400" spc="-5" dirty="0">
                <a:solidFill>
                  <a:srgbClr val="008000"/>
                </a:solidFill>
                <a:latin typeface="Arial"/>
                <a:cs typeface="Arial"/>
              </a:rPr>
              <a:t>Hence, you cannot expect </a:t>
            </a:r>
            <a:r>
              <a:rPr sz="2400" dirty="0">
                <a:solidFill>
                  <a:srgbClr val="008000"/>
                </a:solidFill>
                <a:latin typeface="Arial"/>
                <a:cs typeface="Arial"/>
              </a:rPr>
              <a:t>to </a:t>
            </a:r>
            <a:r>
              <a:rPr sz="2400" spc="-5" dirty="0">
                <a:solidFill>
                  <a:srgbClr val="008000"/>
                </a:solidFill>
                <a:latin typeface="Arial"/>
                <a:cs typeface="Arial"/>
              </a:rPr>
              <a:t>learn everything in </a:t>
            </a:r>
            <a:r>
              <a:rPr sz="2400" dirty="0">
                <a:solidFill>
                  <a:srgbClr val="008000"/>
                </a:solidFill>
                <a:latin typeface="Arial"/>
                <a:cs typeface="Arial"/>
              </a:rPr>
              <a:t>just </a:t>
            </a:r>
            <a:r>
              <a:rPr sz="2400" spc="-5" dirty="0">
                <a:solidFill>
                  <a:srgbClr val="008000"/>
                </a:solidFill>
                <a:latin typeface="Arial"/>
                <a:cs typeface="Arial"/>
              </a:rPr>
              <a:t>one  </a:t>
            </a:r>
            <a:r>
              <a:rPr sz="2400" dirty="0">
                <a:solidFill>
                  <a:srgbClr val="008000"/>
                </a:solidFill>
                <a:latin typeface="Arial"/>
                <a:cs typeface="Arial"/>
              </a:rPr>
              <a:t>sitting. </a:t>
            </a:r>
            <a:r>
              <a:rPr sz="2400" spc="-10" dirty="0">
                <a:solidFill>
                  <a:srgbClr val="008000"/>
                </a:solidFill>
                <a:latin typeface="Arial"/>
                <a:cs typeface="Arial"/>
              </a:rPr>
              <a:t>You </a:t>
            </a:r>
            <a:r>
              <a:rPr sz="2400" spc="-5" dirty="0">
                <a:solidFill>
                  <a:srgbClr val="008000"/>
                </a:solidFill>
                <a:latin typeface="Arial"/>
                <a:cs typeface="Arial"/>
              </a:rPr>
              <a:t>probably need </a:t>
            </a:r>
            <a:r>
              <a:rPr sz="2400" dirty="0">
                <a:solidFill>
                  <a:srgbClr val="008000"/>
                </a:solidFill>
                <a:latin typeface="Arial"/>
                <a:cs typeface="Arial"/>
              </a:rPr>
              <a:t>to </a:t>
            </a:r>
            <a:r>
              <a:rPr sz="2400" spc="-5" dirty="0">
                <a:solidFill>
                  <a:srgbClr val="008000"/>
                </a:solidFill>
                <a:latin typeface="Arial"/>
                <a:cs typeface="Arial"/>
              </a:rPr>
              <a:t>re-visit </a:t>
            </a:r>
            <a:r>
              <a:rPr sz="2400" dirty="0">
                <a:solidFill>
                  <a:srgbClr val="008000"/>
                </a:solidFill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008000"/>
                </a:solidFill>
                <a:latin typeface="Arial"/>
                <a:cs typeface="Arial"/>
              </a:rPr>
              <a:t>topics/concepts  over and over</a:t>
            </a:r>
            <a:r>
              <a:rPr sz="2400" spc="1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08000"/>
                </a:solidFill>
                <a:latin typeface="Arial"/>
                <a:cs typeface="Arial"/>
              </a:rPr>
              <a:t>again.</a:t>
            </a:r>
            <a:endParaRPr sz="2400">
              <a:latin typeface="Arial"/>
              <a:cs typeface="Arial"/>
            </a:endParaRPr>
          </a:p>
          <a:p>
            <a:pPr marL="355600" indent="-343535" algn="just">
              <a:lnSpc>
                <a:spcPct val="100000"/>
              </a:lnSpc>
              <a:spcBef>
                <a:spcPts val="600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Additional materials </a:t>
            </a:r>
            <a:r>
              <a:rPr sz="2400" dirty="0">
                <a:latin typeface="Arial"/>
                <a:cs typeface="Arial"/>
              </a:rPr>
              <a:t>may </a:t>
            </a:r>
            <a:r>
              <a:rPr sz="2400" spc="-5" dirty="0">
                <a:latin typeface="Arial"/>
                <a:cs typeface="Arial"/>
              </a:rPr>
              <a:t>be introduced in</a:t>
            </a:r>
            <a:r>
              <a:rPr sz="2400" spc="13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tutorials/labs.</a:t>
            </a:r>
            <a:endParaRPr sz="2400">
              <a:latin typeface="Arial"/>
              <a:cs typeface="Arial"/>
            </a:endParaRPr>
          </a:p>
          <a:p>
            <a:pPr marL="355600" marR="1005840" indent="-343535" algn="just">
              <a:lnSpc>
                <a:spcPct val="100000"/>
              </a:lnSpc>
              <a:spcBef>
                <a:spcPts val="605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6235" algn="l"/>
              </a:tabLst>
            </a:pPr>
            <a:r>
              <a:rPr sz="2400" dirty="0">
                <a:latin typeface="Arial"/>
                <a:cs typeface="Arial"/>
              </a:rPr>
              <a:t>Attempt the </a:t>
            </a:r>
            <a:r>
              <a:rPr sz="2400" spc="-5" dirty="0">
                <a:latin typeface="Arial"/>
                <a:cs typeface="Arial"/>
              </a:rPr>
              <a:t>practice exercises and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IVLE </a:t>
            </a:r>
            <a:r>
              <a:rPr sz="2400" dirty="0">
                <a:latin typeface="Arial"/>
                <a:cs typeface="Arial"/>
              </a:rPr>
              <a:t>self-  assessments. </a:t>
            </a:r>
            <a:r>
              <a:rPr sz="2400" spc="-5" dirty="0">
                <a:latin typeface="Arial"/>
                <a:cs typeface="Arial"/>
              </a:rPr>
              <a:t>They are </a:t>
            </a:r>
            <a:r>
              <a:rPr sz="2400" dirty="0">
                <a:latin typeface="Arial"/>
                <a:cs typeface="Arial"/>
              </a:rPr>
              <a:t>not</a:t>
            </a:r>
            <a:r>
              <a:rPr sz="2400" spc="-5" dirty="0">
                <a:latin typeface="Arial"/>
                <a:cs typeface="Arial"/>
              </a:rPr>
              <a:t> graded.</a:t>
            </a:r>
            <a:endParaRPr sz="2400">
              <a:latin typeface="Arial"/>
              <a:cs typeface="Arial"/>
            </a:endParaRPr>
          </a:p>
          <a:p>
            <a:pPr marL="683260" lvl="1" indent="-327025" algn="just">
              <a:lnSpc>
                <a:spcPct val="100000"/>
              </a:lnSpc>
              <a:spcBef>
                <a:spcPts val="605"/>
              </a:spcBef>
              <a:buClr>
                <a:srgbClr val="4B6C4E"/>
              </a:buClr>
              <a:buSzPct val="60000"/>
              <a:buFont typeface="Wingdings"/>
              <a:buChar char=""/>
              <a:tabLst>
                <a:tab pos="683895" algn="l"/>
              </a:tabLst>
            </a:pPr>
            <a:r>
              <a:rPr sz="2000" dirty="0">
                <a:latin typeface="Arial"/>
                <a:cs typeface="Arial"/>
              </a:rPr>
              <a:t>Many of the practice exercises are simple exercises to test</a:t>
            </a:r>
            <a:r>
              <a:rPr sz="2000" spc="-2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your</a:t>
            </a:r>
            <a:endParaRPr sz="2000">
              <a:latin typeface="Arial"/>
              <a:cs typeface="Arial"/>
            </a:endParaRPr>
          </a:p>
          <a:p>
            <a:pPr marL="683260" algn="just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understanding of the very basic – </a:t>
            </a: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must do</a:t>
            </a:r>
            <a:r>
              <a:rPr sz="2000" spc="-17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them!</a:t>
            </a:r>
            <a:endParaRPr sz="2000">
              <a:latin typeface="Arial"/>
              <a:cs typeface="Arial"/>
            </a:endParaRPr>
          </a:p>
          <a:p>
            <a:pPr marL="355600" marR="243204" indent="-343535" algn="just">
              <a:lnSpc>
                <a:spcPct val="100000"/>
              </a:lnSpc>
              <a:spcBef>
                <a:spcPts val="595"/>
              </a:spcBef>
              <a:buClr>
                <a:srgbClr val="009999"/>
              </a:buClr>
              <a:buSzPct val="64583"/>
              <a:buFont typeface="Wingdings"/>
              <a:buChar char=""/>
              <a:tabLst>
                <a:tab pos="356235" algn="l"/>
              </a:tabLst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Please 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post 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your queries on the 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IVLE </a:t>
            </a:r>
            <a:r>
              <a:rPr sz="2400" spc="-10" dirty="0">
                <a:solidFill>
                  <a:srgbClr val="0000FF"/>
                </a:solidFill>
                <a:latin typeface="Arial"/>
                <a:cs typeface="Arial"/>
              </a:rPr>
              <a:t>forum. 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Try 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not 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to  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email 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us, 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unless your queries are 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of 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private</a:t>
            </a:r>
            <a:r>
              <a:rPr sz="2400" spc="1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nature.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789940"/>
          </a:xfrm>
          <a:prstGeom prst="rect">
            <a:avLst/>
          </a:prstGeom>
          <a:solidFill>
            <a:srgbClr val="FFFFCC"/>
          </a:solidFill>
        </p:spPr>
        <p:txBody>
          <a:bodyPr vert="horz" wrap="square" lIns="0" tIns="3175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50"/>
              </a:spcBef>
            </a:pPr>
            <a:r>
              <a:rPr sz="4000" spc="-60" dirty="0"/>
              <a:t>Misc.: </a:t>
            </a:r>
            <a:r>
              <a:rPr sz="4000" spc="155" dirty="0"/>
              <a:t>Dr </a:t>
            </a:r>
            <a:r>
              <a:rPr sz="4000" spc="-114" dirty="0"/>
              <a:t>Java</a:t>
            </a:r>
            <a:r>
              <a:rPr sz="4000" spc="-125" dirty="0"/>
              <a:t> </a:t>
            </a:r>
            <a:r>
              <a:rPr sz="4000" spc="65" dirty="0"/>
              <a:t>(1/3)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</a:t>
            </a:r>
            <a:r>
              <a:rPr spc="5" dirty="0"/>
              <a:t>Lecture </a:t>
            </a:r>
            <a:r>
              <a:rPr dirty="0"/>
              <a:t>: OOP Part</a:t>
            </a:r>
            <a:r>
              <a:rPr spc="-190" dirty="0"/>
              <a:t> </a:t>
            </a:r>
            <a:r>
              <a:rPr dirty="0"/>
              <a:t>1]  </a:t>
            </a:r>
            <a:r>
              <a:rPr spc="-130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r>
              <a:rPr spc="-5" dirty="0"/>
              <a:t>56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089563"/>
            <a:ext cx="7987665" cy="389826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305"/>
              </a:spcBef>
              <a:buClr>
                <a:srgbClr val="009999"/>
              </a:buClr>
              <a:buSzPct val="64285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u="heavy" dirty="0">
                <a:solidFill>
                  <a:srgbClr val="002571"/>
                </a:solidFill>
                <a:uFill>
                  <a:solidFill>
                    <a:srgbClr val="002571"/>
                  </a:solidFill>
                </a:uFill>
                <a:latin typeface="Arial"/>
                <a:cs typeface="Arial"/>
                <a:hlinkClick r:id="rId2"/>
              </a:rPr>
              <a:t>http://drjava.sourceforge.net/</a:t>
            </a:r>
            <a:endParaRPr sz="2800">
              <a:latin typeface="Arial"/>
              <a:cs typeface="Arial"/>
            </a:endParaRPr>
          </a:p>
          <a:p>
            <a:pPr marL="355600" marR="50165" indent="-343535">
              <a:lnSpc>
                <a:spcPct val="100000"/>
              </a:lnSpc>
              <a:spcBef>
                <a:spcPts val="1205"/>
              </a:spcBef>
              <a:buClr>
                <a:srgbClr val="009999"/>
              </a:buClr>
              <a:buSzPct val="64285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5" dirty="0">
                <a:latin typeface="Arial"/>
                <a:cs typeface="Arial"/>
              </a:rPr>
              <a:t>DrJava is a simple IDE you may use </a:t>
            </a:r>
            <a:r>
              <a:rPr sz="2800" dirty="0">
                <a:latin typeface="Arial"/>
                <a:cs typeface="Arial"/>
              </a:rPr>
              <a:t>for </a:t>
            </a:r>
            <a:r>
              <a:rPr sz="2800" spc="-5" dirty="0">
                <a:latin typeface="Arial"/>
                <a:cs typeface="Arial"/>
              </a:rPr>
              <a:t>practice  on </a:t>
            </a:r>
            <a:r>
              <a:rPr sz="2800" dirty="0">
                <a:latin typeface="Arial"/>
                <a:cs typeface="Arial"/>
              </a:rPr>
              <a:t>Java </a:t>
            </a:r>
            <a:r>
              <a:rPr sz="2800" spc="-5" dirty="0">
                <a:latin typeface="Arial"/>
                <a:cs typeface="Arial"/>
              </a:rPr>
              <a:t>programming.</a:t>
            </a:r>
            <a:endParaRPr sz="2800">
              <a:latin typeface="Arial"/>
              <a:cs typeface="Arial"/>
            </a:endParaRPr>
          </a:p>
          <a:p>
            <a:pPr marL="355600" marR="5080" indent="-343535">
              <a:lnSpc>
                <a:spcPct val="100000"/>
              </a:lnSpc>
              <a:spcBef>
                <a:spcPts val="1200"/>
              </a:spcBef>
              <a:buClr>
                <a:srgbClr val="009999"/>
              </a:buClr>
              <a:buSzPct val="64285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5" dirty="0">
                <a:latin typeface="Arial"/>
                <a:cs typeface="Arial"/>
              </a:rPr>
              <a:t>This is </a:t>
            </a:r>
            <a:r>
              <a:rPr sz="2800" dirty="0">
                <a:latin typeface="Arial"/>
                <a:cs typeface="Arial"/>
              </a:rPr>
              <a:t>only </a:t>
            </a:r>
            <a:r>
              <a:rPr sz="2800" spc="-5" dirty="0">
                <a:latin typeface="Arial"/>
                <a:cs typeface="Arial"/>
              </a:rPr>
              <a:t>for </a:t>
            </a:r>
            <a:r>
              <a:rPr sz="2800" dirty="0">
                <a:latin typeface="Arial"/>
                <a:cs typeface="Arial"/>
              </a:rPr>
              <a:t>your own use. </a:t>
            </a:r>
            <a:r>
              <a:rPr sz="2800" spc="-5" dirty="0">
                <a:latin typeface="Arial"/>
                <a:cs typeface="Arial"/>
              </a:rPr>
              <a:t>For </a:t>
            </a:r>
            <a:r>
              <a:rPr sz="2800" spc="5" dirty="0">
                <a:latin typeface="Arial"/>
                <a:cs typeface="Arial"/>
              </a:rPr>
              <a:t>sit-in </a:t>
            </a:r>
            <a:r>
              <a:rPr sz="2800" dirty="0">
                <a:latin typeface="Arial"/>
                <a:cs typeface="Arial"/>
              </a:rPr>
              <a:t>labs, </a:t>
            </a:r>
            <a:r>
              <a:rPr sz="2800" spc="-5" dirty="0">
                <a:latin typeface="Arial"/>
                <a:cs typeface="Arial"/>
              </a:rPr>
              <a:t>you  will be given a </a:t>
            </a:r>
            <a:r>
              <a:rPr sz="2800" dirty="0">
                <a:latin typeface="Arial"/>
                <a:cs typeface="Arial"/>
              </a:rPr>
              <a:t>special </a:t>
            </a:r>
            <a:r>
              <a:rPr sz="2800" spc="-5" dirty="0">
                <a:latin typeface="Arial"/>
                <a:cs typeface="Arial"/>
              </a:rPr>
              <a:t>UNIX </a:t>
            </a:r>
            <a:r>
              <a:rPr sz="2800" dirty="0">
                <a:latin typeface="Arial"/>
                <a:cs typeface="Arial"/>
              </a:rPr>
              <a:t>account </a:t>
            </a:r>
            <a:r>
              <a:rPr sz="2800" spc="-5" dirty="0">
                <a:latin typeface="Arial"/>
                <a:cs typeface="Arial"/>
              </a:rPr>
              <a:t>and </a:t>
            </a:r>
            <a:r>
              <a:rPr sz="2800" dirty="0">
                <a:solidFill>
                  <a:srgbClr val="C00000"/>
                </a:solidFill>
                <a:latin typeface="Arial"/>
                <a:cs typeface="Arial"/>
              </a:rPr>
              <a:t>you  </a:t>
            </a:r>
            <a:r>
              <a:rPr sz="2800" spc="-5" dirty="0">
                <a:solidFill>
                  <a:srgbClr val="C00000"/>
                </a:solidFill>
                <a:latin typeface="Arial"/>
                <a:cs typeface="Arial"/>
              </a:rPr>
              <a:t>must work in the UNIX </a:t>
            </a:r>
            <a:r>
              <a:rPr sz="2800" dirty="0">
                <a:solidFill>
                  <a:srgbClr val="C00000"/>
                </a:solidFill>
                <a:latin typeface="Arial"/>
                <a:cs typeface="Arial"/>
              </a:rPr>
              <a:t>environment, using the  </a:t>
            </a:r>
            <a:r>
              <a:rPr sz="2800" spc="-5" dirty="0">
                <a:solidFill>
                  <a:srgbClr val="C00000"/>
                </a:solidFill>
                <a:latin typeface="Arial"/>
                <a:cs typeface="Arial"/>
              </a:rPr>
              <a:t>vim </a:t>
            </a:r>
            <a:r>
              <a:rPr sz="2800" dirty="0">
                <a:solidFill>
                  <a:srgbClr val="C00000"/>
                </a:solidFill>
                <a:latin typeface="Arial"/>
                <a:cs typeface="Arial"/>
              </a:rPr>
              <a:t>editor</a:t>
            </a:r>
            <a:r>
              <a:rPr sz="2800" dirty="0">
                <a:latin typeface="Arial"/>
                <a:cs typeface="Arial"/>
              </a:rPr>
              <a:t>. </a:t>
            </a:r>
            <a:r>
              <a:rPr sz="2800" spc="-5" dirty="0">
                <a:latin typeface="Arial"/>
                <a:cs typeface="Arial"/>
              </a:rPr>
              <a:t>(Non-501042 students please take  note.)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789940"/>
          </a:xfrm>
          <a:prstGeom prst="rect">
            <a:avLst/>
          </a:prstGeom>
          <a:solidFill>
            <a:srgbClr val="FFFFCC"/>
          </a:solidFill>
        </p:spPr>
        <p:txBody>
          <a:bodyPr vert="horz" wrap="square" lIns="0" tIns="3175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50"/>
              </a:spcBef>
            </a:pPr>
            <a:r>
              <a:rPr sz="4000" spc="-60" dirty="0"/>
              <a:t>Misc.: </a:t>
            </a:r>
            <a:r>
              <a:rPr sz="4000" spc="155" dirty="0"/>
              <a:t>Dr </a:t>
            </a:r>
            <a:r>
              <a:rPr sz="4000" spc="-114" dirty="0"/>
              <a:t>Java</a:t>
            </a:r>
            <a:r>
              <a:rPr sz="4000" spc="-125" dirty="0"/>
              <a:t> </a:t>
            </a:r>
            <a:r>
              <a:rPr sz="4000" spc="65" dirty="0"/>
              <a:t>(2/3)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64540" y="1090624"/>
            <a:ext cx="77895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5"/>
              </a:spcBef>
              <a:buClr>
                <a:srgbClr val="009999"/>
              </a:buClr>
              <a:buSzPct val="64285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5" dirty="0">
                <a:latin typeface="Arial"/>
                <a:cs typeface="Arial"/>
              </a:rPr>
              <a:t>Running Week 1’s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00FF"/>
                </a:solidFill>
                <a:latin typeface="Arial"/>
                <a:cs typeface="Arial"/>
              </a:rPr>
              <a:t>TemperatureInteractive.java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3400" y="1676399"/>
            <a:ext cx="8153400" cy="47975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</a:t>
            </a:r>
            <a:r>
              <a:rPr spc="5" dirty="0"/>
              <a:t>Lecture </a:t>
            </a:r>
            <a:r>
              <a:rPr dirty="0"/>
              <a:t>: OOP Part</a:t>
            </a:r>
            <a:r>
              <a:rPr spc="-190" dirty="0"/>
              <a:t> </a:t>
            </a:r>
            <a:r>
              <a:rPr dirty="0"/>
              <a:t>1]  </a:t>
            </a:r>
            <a:r>
              <a:rPr spc="-130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r>
              <a:rPr spc="-5" dirty="0"/>
              <a:t>57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789940"/>
          </a:xfrm>
          <a:prstGeom prst="rect">
            <a:avLst/>
          </a:prstGeom>
          <a:solidFill>
            <a:srgbClr val="FFFFCC"/>
          </a:solidFill>
        </p:spPr>
        <p:txBody>
          <a:bodyPr vert="horz" wrap="square" lIns="0" tIns="3175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50"/>
              </a:spcBef>
            </a:pPr>
            <a:r>
              <a:rPr sz="4000" spc="-60" dirty="0"/>
              <a:t>Misc.: </a:t>
            </a:r>
            <a:r>
              <a:rPr sz="4000" spc="155" dirty="0"/>
              <a:t>Dr </a:t>
            </a:r>
            <a:r>
              <a:rPr sz="4000" spc="-114" dirty="0"/>
              <a:t>Java</a:t>
            </a:r>
            <a:r>
              <a:rPr sz="4000" spc="-120" dirty="0"/>
              <a:t> </a:t>
            </a:r>
            <a:r>
              <a:rPr sz="4000" spc="65" dirty="0"/>
              <a:t>(3/3)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64540" y="1243024"/>
            <a:ext cx="7329170" cy="1458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Clr>
                <a:srgbClr val="009999"/>
              </a:buClr>
              <a:buSzPct val="64285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5" dirty="0">
                <a:latin typeface="Arial"/>
                <a:cs typeface="Arial"/>
              </a:rPr>
              <a:t>You may </a:t>
            </a:r>
            <a:r>
              <a:rPr sz="2800" dirty="0">
                <a:latin typeface="Arial"/>
                <a:cs typeface="Arial"/>
              </a:rPr>
              <a:t>also type statements directly </a:t>
            </a:r>
            <a:r>
              <a:rPr sz="2800" spc="-5" dirty="0">
                <a:latin typeface="Arial"/>
                <a:cs typeface="Arial"/>
              </a:rPr>
              <a:t>in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the  </a:t>
            </a:r>
            <a:r>
              <a:rPr sz="2800" dirty="0">
                <a:latin typeface="Arial"/>
                <a:cs typeface="Arial"/>
              </a:rPr>
              <a:t>“Interactions”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pane</a:t>
            </a:r>
            <a:endParaRPr sz="28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1205"/>
              </a:spcBef>
              <a:buClr>
                <a:srgbClr val="009999"/>
              </a:buClr>
              <a:buSzPct val="64285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800" spc="-5" dirty="0">
                <a:latin typeface="Arial"/>
                <a:cs typeface="Arial"/>
              </a:rPr>
              <a:t>Good </a:t>
            </a:r>
            <a:r>
              <a:rPr sz="2800" dirty="0">
                <a:latin typeface="Arial"/>
                <a:cs typeface="Arial"/>
              </a:rPr>
              <a:t>for quick </a:t>
            </a:r>
            <a:r>
              <a:rPr sz="2800" spc="-5" dirty="0">
                <a:latin typeface="Arial"/>
                <a:cs typeface="Arial"/>
              </a:rPr>
              <a:t>checks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3172" y="2779776"/>
            <a:ext cx="8763000" cy="27904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8112759" algn="l"/>
              </a:tabLst>
            </a:pPr>
            <a:r>
              <a:rPr dirty="0"/>
              <a:t>[501043 </a:t>
            </a:r>
            <a:r>
              <a:rPr spc="5" dirty="0"/>
              <a:t>Lecture </a:t>
            </a:r>
            <a:r>
              <a:rPr dirty="0"/>
              <a:t>: OOP Part</a:t>
            </a:r>
            <a:r>
              <a:rPr spc="-190" dirty="0"/>
              <a:t> </a:t>
            </a:r>
            <a:r>
              <a:rPr dirty="0"/>
              <a:t>1]  </a:t>
            </a:r>
            <a:r>
              <a:rPr spc="-130" dirty="0"/>
              <a:t> </a:t>
            </a:r>
            <a:r>
              <a:rPr u="heavy" dirty="0">
                <a:uFill>
                  <a:solidFill>
                    <a:srgbClr val="009999"/>
                  </a:solidFill>
                </a:uFill>
              </a:rPr>
              <a:t> 	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r>
              <a:rPr spc="-5" dirty="0"/>
              <a:t>58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13938" y="2304110"/>
            <a:ext cx="25152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0000"/>
                </a:solidFill>
                <a:latin typeface="Arial"/>
                <a:cs typeface="Arial"/>
              </a:rPr>
              <a:t>End of</a:t>
            </a:r>
            <a:r>
              <a:rPr sz="4400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4400" dirty="0">
                <a:solidFill>
                  <a:srgbClr val="000000"/>
                </a:solidFill>
                <a:latin typeface="Arial"/>
                <a:cs typeface="Arial"/>
              </a:rPr>
              <a:t>file</a:t>
            </a:r>
            <a:endParaRPr sz="4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3803</Words>
  <Application>Microsoft Office PowerPoint</Application>
  <PresentationFormat>On-screen Show (4:3)</PresentationFormat>
  <Paragraphs>694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3" baseType="lpstr">
      <vt:lpstr>Arial</vt:lpstr>
      <vt:lpstr>Arial Black</vt:lpstr>
      <vt:lpstr>BPG Courier S GPL&amp;GNU</vt:lpstr>
      <vt:lpstr>Calibri</vt:lpstr>
      <vt:lpstr>Carlito</vt:lpstr>
      <vt:lpstr>Courier New</vt:lpstr>
      <vt:lpstr>Times New Roman</vt:lpstr>
      <vt:lpstr>Trebuchet MS</vt:lpstr>
      <vt:lpstr>Wingdings</vt:lpstr>
      <vt:lpstr>Office Theme</vt:lpstr>
      <vt:lpstr>PowerPoint Presentation</vt:lpstr>
      <vt:lpstr>Objectives</vt:lpstr>
      <vt:lpstr>Outline (1/2)</vt:lpstr>
      <vt:lpstr>Outline (2/2)</vt:lpstr>
      <vt:lpstr>1. Recapitulation</vt:lpstr>
      <vt:lpstr>PowerPoint Presentation</vt:lpstr>
      <vt:lpstr>Java Programmer</vt:lpstr>
      <vt:lpstr>Scanner Class: Reading Inputs</vt:lpstr>
      <vt:lpstr>Scanner Class: Demo (1/2)</vt:lpstr>
      <vt:lpstr>Scanner Class: Demo (2/2)</vt:lpstr>
      <vt:lpstr>Scanner Class: For CodeCrunch</vt:lpstr>
      <vt:lpstr>String Class: Representation in Text</vt:lpstr>
      <vt:lpstr>String Class: Demo (1/2)</vt:lpstr>
      <vt:lpstr>String Class: Demo (2/2)</vt:lpstr>
      <vt:lpstr>String Class: Comparing strings</vt:lpstr>
      <vt:lpstr>Math Class: Performing Computation</vt:lpstr>
      <vt:lpstr>Math Class: Demo</vt:lpstr>
      <vt:lpstr>PowerPoint Presentation</vt:lpstr>
      <vt:lpstr>Modifiers</vt:lpstr>
      <vt:lpstr>Class vs Instance methods (1/4)</vt:lpstr>
      <vt:lpstr>Class vs Instance methods (2/4)</vt:lpstr>
      <vt:lpstr>Class vs Instance methods (3/4)</vt:lpstr>
      <vt:lpstr>Class vs Instance methods (4/4)</vt:lpstr>
      <vt:lpstr>Class methods in String class</vt:lpstr>
      <vt:lpstr>Constructors (1/2)</vt:lpstr>
      <vt:lpstr>Constructors (2/2)</vt:lpstr>
      <vt:lpstr>Overloading</vt:lpstr>
      <vt:lpstr>PowerPoint Presentation</vt:lpstr>
      <vt:lpstr>DecimalFormat Class (1/3)</vt:lpstr>
      <vt:lpstr>DecimalFormat Class (2/3)</vt:lpstr>
      <vt:lpstr>DecimalFormat Class (3/3): Example</vt:lpstr>
      <vt:lpstr>Random Class (1/4)</vt:lpstr>
      <vt:lpstr>Random Class (2/4)</vt:lpstr>
      <vt:lpstr>Random Class (3/4)</vt:lpstr>
      <vt:lpstr>Random Class (4/4): Example</vt:lpstr>
      <vt:lpstr>Wrapper Classes (1/2)</vt:lpstr>
      <vt:lpstr>Wrapper Classes (2/2)</vt:lpstr>
      <vt:lpstr>Point Class (1/5)</vt:lpstr>
      <vt:lpstr>Point Class (2/5): Attributes</vt:lpstr>
      <vt:lpstr>Point Class (3/5): Constructors</vt:lpstr>
      <vt:lpstr>Point Class (4/5): Methods</vt:lpstr>
      <vt:lpstr>Point Class (5/5): Demo</vt:lpstr>
      <vt:lpstr>Common Mistake</vt:lpstr>
      <vt:lpstr>FAQ</vt:lpstr>
      <vt:lpstr>5. Abstraction and  Information Hiding</vt:lpstr>
      <vt:lpstr>What is Abstraction?</vt:lpstr>
      <vt:lpstr>Procedural Abstraction</vt:lpstr>
      <vt:lpstr>Summary</vt:lpstr>
      <vt:lpstr>Advice</vt:lpstr>
      <vt:lpstr>Misc.: Dr Java (1/3)</vt:lpstr>
      <vt:lpstr>Misc.: Dr Java (2/3)</vt:lpstr>
      <vt:lpstr>Misc.: Dr Java (3/3)</vt:lpstr>
      <vt:lpstr>End of file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CS1020</dc:title>
  <dc:creator>Aaron Tan</dc:creator>
  <cp:lastModifiedBy>HaiTran</cp:lastModifiedBy>
  <cp:revision>2</cp:revision>
  <dcterms:created xsi:type="dcterms:W3CDTF">2023-02-06T05:21:28Z</dcterms:created>
  <dcterms:modified xsi:type="dcterms:W3CDTF">2023-02-09T08:23:03Z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2016-01-11T00:00:00Z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2023-02-06T00:00:00Z</vt:filetime>
  </property>
</Properties>
</file>