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720" r:id="rId1"/>
  </p:sldMasterIdLst>
  <p:notesMasterIdLst>
    <p:notesMasterId r:id="rId37"/>
  </p:notesMasterIdLst>
  <p:handoutMasterIdLst>
    <p:handoutMasterId r:id="rId38"/>
  </p:handoutMasterIdLst>
  <p:sldIdLst>
    <p:sldId id="258" r:id="rId2"/>
    <p:sldId id="336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81" r:id="rId11"/>
    <p:sldId id="382" r:id="rId12"/>
    <p:sldId id="383" r:id="rId13"/>
    <p:sldId id="389" r:id="rId14"/>
    <p:sldId id="380" r:id="rId15"/>
    <p:sldId id="384" r:id="rId16"/>
    <p:sldId id="385" r:id="rId17"/>
    <p:sldId id="386" r:id="rId18"/>
    <p:sldId id="387" r:id="rId19"/>
    <p:sldId id="388" r:id="rId20"/>
    <p:sldId id="390" r:id="rId21"/>
    <p:sldId id="406" r:id="rId22"/>
    <p:sldId id="405" r:id="rId23"/>
    <p:sldId id="391" r:id="rId24"/>
    <p:sldId id="392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2" r:id="rId33"/>
    <p:sldId id="401" r:id="rId34"/>
    <p:sldId id="403" r:id="rId35"/>
    <p:sldId id="353" r:id="rId3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u-Nguyen Le" initials="Nguyen" lastIdx="1" clrIdx="0">
    <p:extLst>
      <p:ext uri="{19B8F6BF-5375-455C-9EA6-DF929625EA0E}">
        <p15:presenceInfo xmlns:p15="http://schemas.microsoft.com/office/powerpoint/2012/main" userId="Phu-Nguyen Le" providerId="None"/>
      </p:ext>
    </p:extLst>
  </p:cmAuthor>
  <p:cmAuthor id="2" name="Le Phu Nguyen 9 (FE FPTU HCM)" initials="LPN9(FH" lastIdx="1" clrIdx="1">
    <p:extLst>
      <p:ext uri="{19B8F6BF-5375-455C-9EA6-DF929625EA0E}">
        <p15:presenceInfo xmlns:p15="http://schemas.microsoft.com/office/powerpoint/2012/main" userId="S::NguyenLP9@fe.edu.vn::bbb81211-4ff1-43ef-ac74-d6c9e8530c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0110" autoAdjust="0"/>
  </p:normalViewPr>
  <p:slideViewPr>
    <p:cSldViewPr>
      <p:cViewPr varScale="1">
        <p:scale>
          <a:sx n="54" d="100"/>
          <a:sy n="54" d="100"/>
        </p:scale>
        <p:origin x="1664" y="24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174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7F59-6753-4196-822E-EC8E52288DF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A5F6A-FB32-4B7D-8C78-661A7CCB1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0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B20E61B-F2E8-4F3A-8F1B-F054E0560D27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D95EC57-C814-4592-A4AB-B8F918BE7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20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76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13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3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6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94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6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57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39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05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63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tuyến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tính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(Linear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Mỗi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thực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chỉ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một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nhị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phân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(Binary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Mỗi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thực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có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thể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2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lồng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(Nested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Tham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số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trong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lời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là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một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lời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lồng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chiếm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bộ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nhớ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rất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nhanh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Đệ quy hỗ tương (Mutual Recursion)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Các hàm gọi đệ quy lẫn nhau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Ví dụ xét tính chẵn lẻ của một số nguyên dương bằng đệ quy.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42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a0  0, a1 ,…, an là các hệ số thực; {fn } là một dãy số thực cho trước và {xn } là dãy ẩn nhận các giá trị thực</a:t>
            </a:r>
            <a:endParaRPr lang="en-US" dirty="0"/>
          </a:p>
          <a:p>
            <a:r>
              <a:rPr lang="en-US" dirty="0"/>
              <a:t> 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thuần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k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hằng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7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94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Mỗi dãy {xn } thỏa (1) được gọi là một nghiệm của (1). Nhận xét rằng mỗi nghiệm {xn } của (1) được hoàn toàn xác định bởi k giá trị ban đầu x0 , x1 ,…, xk-1 . Họ dãy số { xn = xn (C1 , C2 ,…,Ck )} phụ thuộc vào k họ tham số C1 , C2 ,…,Ck được gọi là nghiệm tổng quát của (1) nếu mọi dãy của họ này đều là nghiệm của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00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Với k giá trị ban đầu y0 , y1 ,…, yk-1 , tồn tại duy nhất các giá trị của k tham số C1 , C2 ,…,Ck sao cho nghiệm {xn } tương ứng thỏa x0 = y0 , x1 = y1 ,…, xk-1 = yk-1 (* ) Khi đó, nghiệm {xn } tương ứng được gọi nghiệm riêng ứng với điều kiện ban đầu (* ). Giải một hệ thức đệ qui là đi tìm nghiệm tổng quát của nó; nhưng nếu hệ thức đệ qui có kèm theo điều kiện ban đầu, ta phải tìm nghiệm riêng thỏa điều kiện ban đầu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74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9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68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Cho c1, c2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là hai số thực. Giả phương trình đặc trưng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có hai nghiệm phân biệt r 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1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, r 2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. Khi đó, dãy {a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n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} là nghiệm của hệ thức truy hồi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64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66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Cho c1, c2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là hai số thực. Giả phương trình đặc trưng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có hai nghiệm phân biệt r 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1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, r 2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. Khi đó, dãy {a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n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} là nghiệm của hệ thức truy hồi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373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36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58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137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74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763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4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576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21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815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23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94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028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1E6B-3A2F-473C-89AA-FC2BCE91445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FBB59F0-8E3C-4F5A-961F-C6A90C66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00188"/>
            <a:ext cx="8359775" cy="2071687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chemeClr val="accent2"/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DISCRETE MATHEMATICS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Chapter 4:</a:t>
            </a:r>
            <a:endParaRPr lang="en-US" altLang="ko-KR" sz="2200" b="1" dirty="0">
              <a:solidFill>
                <a:schemeClr val="bg1"/>
              </a:solidFill>
              <a:latin typeface="Times New Roman" panose="02020603050405020304" pitchFamily="18" charset="0"/>
              <a:ea typeface="HY견고딕" pitchFamily="18" charset="-127"/>
              <a:cs typeface="Times New Roman" pitchFamily="18" charset="0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REGRESSION COEFFICENT</a:t>
            </a:r>
            <a:endParaRPr lang="en-US" altLang="ko-K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D5832E7-EF07-450C-B1CF-432F816027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Presenter: Ph.D. </a:t>
            </a:r>
            <a:r>
              <a:rPr lang="en-US" altLang="ko-KR" sz="2000" b="1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Phu-Nguyen Le</a:t>
            </a: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June 7th,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 DEFINITION.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4.1.1. Define the retrieval coefficient.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4.2. SOLVE THE PROBLEM WITH THE MODEL OF REGRESSION.</a:t>
            </a:r>
          </a:p>
        </p:txBody>
      </p:sp>
    </p:spTree>
    <p:extLst>
      <p:ext uri="{BB962C8B-B14F-4D97-AF65-F5344CB8AC3E}">
        <p14:creationId xmlns:p14="http://schemas.microsoft.com/office/powerpoint/2010/main" val="31819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Suppose you are waiting in line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839C0-71CB-FE3A-A301-4921A6DC3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645" y="2007061"/>
            <a:ext cx="70389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1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 a very long line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5FEDF-8345-2CC8-FEE0-88FCF7E6A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080" y="2215339"/>
            <a:ext cx="49815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4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51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You want to determine how many people are in front of you, but: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You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cannot see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You’re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not allowed to move</a:t>
            </a: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You are only allowed to speak to the person in front of you and behind you.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How do you do 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21A17-1E3A-B376-1FEF-B3667FA3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176" y="4340761"/>
            <a:ext cx="1047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7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68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Recursion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 programming technique that breaks down a complex problem into smaller, manageable pieces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Recursive solutions solve a problem by applying the same algorithm to each piece and then combining the results.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Define the problem by itself</a:t>
            </a:r>
          </a:p>
          <a:p>
            <a:pPr algn="just">
              <a:lnSpc>
                <a:spcPct val="200000"/>
              </a:lnSpc>
              <a:defRPr/>
            </a:pPr>
            <a:endParaRPr 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56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General formula: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people in front of person in front of you + person in front of you = people in front of you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 Solution 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Tap the shoulder of the person in front of you and ask how many people are in front of him/her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Wait for his/her response and add 1 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If someone asked, tell them how many people are in front of you</a:t>
            </a:r>
          </a:p>
        </p:txBody>
      </p:sp>
    </p:spTree>
    <p:extLst>
      <p:ext uri="{BB962C8B-B14F-4D97-AF65-F5344CB8AC3E}">
        <p14:creationId xmlns:p14="http://schemas.microsoft.com/office/powerpoint/2010/main" val="41399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 Diagram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Ask and wait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Ask and wait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Ask and wait….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…. Reached first in line. Tell person behind it is 0.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 Tell person behind it is 0+1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Tell person behind it is 1+1…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Tell Person behind it is x +1</a:t>
            </a:r>
          </a:p>
        </p:txBody>
      </p:sp>
    </p:spTree>
    <p:extLst>
      <p:ext uri="{BB962C8B-B14F-4D97-AF65-F5344CB8AC3E}">
        <p14:creationId xmlns:p14="http://schemas.microsoft.com/office/powerpoint/2010/main" val="382173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076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Recursive Algorithms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There are two main components to recursive algorithms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1) Base Case: The point where you stop applying the recursive case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2) The Recursive Case : The set of instructions that will be used over and over</a:t>
            </a:r>
          </a:p>
        </p:txBody>
      </p:sp>
    </p:spTree>
    <p:extLst>
      <p:ext uri="{BB962C8B-B14F-4D97-AF65-F5344CB8AC3E}">
        <p14:creationId xmlns:p14="http://schemas.microsoft.com/office/powerpoint/2010/main" val="66243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691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Base Case: 1 is an odd positive integer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Recursion: if k is an odd positive integer, than k+2 is an odd positive integer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Explain the definition base?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K=1? K=3?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What is the main idea of it?</a:t>
            </a:r>
          </a:p>
        </p:txBody>
      </p:sp>
    </p:spTree>
    <p:extLst>
      <p:ext uri="{BB962C8B-B14F-4D97-AF65-F5344CB8AC3E}">
        <p14:creationId xmlns:p14="http://schemas.microsoft.com/office/powerpoint/2010/main" val="271147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06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676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Example :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f(0)=3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f(n+1)= 2f(n)+3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Find f(1), f(2), f(3), and, f(4),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factorial of n: n!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The Fibonacci numbers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factorial of n: n!</a:t>
            </a: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 function is said to be recursively defined if the function refer to itself such that: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  There are certain arguments, called base values, for which the function does not refer to itself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2. Each time the function does refer to itself, the argument of the function must be closer to the base value</a:t>
            </a: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3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46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56638C2-CDF4-4003-80DB-23EC001989AD}"/>
              </a:ext>
            </a:extLst>
          </p:cNvPr>
          <p:cNvSpPr>
            <a:spLocks/>
          </p:cNvSpPr>
          <p:nvPr/>
        </p:nvSpPr>
        <p:spPr bwMode="gray">
          <a:xfrm>
            <a:off x="371475" y="1295400"/>
            <a:ext cx="4283075" cy="4114800"/>
          </a:xfrm>
          <a:custGeom>
            <a:avLst/>
            <a:gdLst/>
            <a:ahLst/>
            <a:cxnLst>
              <a:cxn ang="0">
                <a:pos x="744" y="1107"/>
              </a:cxn>
              <a:cxn ang="0">
                <a:pos x="0" y="2479"/>
              </a:cxn>
              <a:cxn ang="0">
                <a:pos x="977" y="2854"/>
              </a:cxn>
              <a:cxn ang="0">
                <a:pos x="2200" y="2440"/>
              </a:cxn>
              <a:cxn ang="0">
                <a:pos x="2666" y="1469"/>
              </a:cxn>
              <a:cxn ang="0">
                <a:pos x="2466" y="583"/>
              </a:cxn>
              <a:cxn ang="0">
                <a:pos x="2077" y="0"/>
              </a:cxn>
              <a:cxn ang="0">
                <a:pos x="744" y="1107"/>
              </a:cxn>
            </a:cxnLst>
            <a:rect l="0" t="0" r="r" b="b"/>
            <a:pathLst>
              <a:path w="2698" h="2870">
                <a:moveTo>
                  <a:pt x="744" y="1107"/>
                </a:moveTo>
                <a:lnTo>
                  <a:pt x="0" y="2479"/>
                </a:lnTo>
                <a:cubicBezTo>
                  <a:pt x="323" y="2693"/>
                  <a:pt x="608" y="2838"/>
                  <a:pt x="977" y="2854"/>
                </a:cubicBezTo>
                <a:cubicBezTo>
                  <a:pt x="1346" y="2870"/>
                  <a:pt x="1870" y="2745"/>
                  <a:pt x="2200" y="2440"/>
                </a:cubicBezTo>
                <a:cubicBezTo>
                  <a:pt x="2530" y="2135"/>
                  <a:pt x="2634" y="1715"/>
                  <a:pt x="2666" y="1469"/>
                </a:cubicBezTo>
                <a:cubicBezTo>
                  <a:pt x="2698" y="1223"/>
                  <a:pt x="2575" y="827"/>
                  <a:pt x="2466" y="583"/>
                </a:cubicBezTo>
                <a:cubicBezTo>
                  <a:pt x="2357" y="339"/>
                  <a:pt x="2258" y="175"/>
                  <a:pt x="2077" y="0"/>
                </a:cubicBezTo>
                <a:cubicBezTo>
                  <a:pt x="1410" y="553"/>
                  <a:pt x="744" y="1107"/>
                  <a:pt x="744" y="1107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B2B2B2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F8815BC-BF4F-4FD7-A97B-3AF06E0D4657}"/>
              </a:ext>
            </a:extLst>
          </p:cNvPr>
          <p:cNvSpPr>
            <a:spLocks noChangeArrowheads="1"/>
          </p:cNvSpPr>
          <p:nvPr/>
        </p:nvSpPr>
        <p:spPr bwMode="gray">
          <a:xfrm rot="2428271" flipH="1">
            <a:off x="1684338" y="1776413"/>
            <a:ext cx="1506537" cy="2765425"/>
          </a:xfrm>
          <a:prstGeom prst="moon">
            <a:avLst>
              <a:gd name="adj" fmla="val 13625"/>
            </a:avLst>
          </a:prstGeom>
          <a:solidFill>
            <a:srgbClr val="C9C9C9">
              <a:alpha val="3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7E6B7E31-FB44-41E6-8641-C1F7ED0BB68E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493838" y="2312988"/>
            <a:ext cx="300990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DA2650E8-0C56-4546-A0D0-CE3BBC565589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746250" y="2306638"/>
            <a:ext cx="2859088" cy="1585912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3B2960FF-E1FE-4F95-8DD8-EC6891B9560B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930400" y="2495550"/>
            <a:ext cx="1425575" cy="2722563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F98BD510-DC10-41F0-AFCF-98EBD95684BE}"/>
              </a:ext>
            </a:extLst>
          </p:cNvPr>
          <p:cNvSpPr>
            <a:spLocks noChangeShapeType="1"/>
          </p:cNvSpPr>
          <p:nvPr/>
        </p:nvSpPr>
        <p:spPr bwMode="gray">
          <a:xfrm rot="20560554" flipH="1">
            <a:off x="1260475" y="2824163"/>
            <a:ext cx="744538" cy="2803525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2B70F1-C4CE-443E-99AA-F64581542EF9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2081213"/>
            <a:ext cx="1527175" cy="1208087"/>
            <a:chOff x="1293" y="1283"/>
            <a:chExt cx="962" cy="761"/>
          </a:xfrm>
        </p:grpSpPr>
        <p:sp>
          <p:nvSpPr>
            <p:cNvPr id="102" name="AutoShape 10">
              <a:extLst>
                <a:ext uri="{FF2B5EF4-FFF2-40B4-BE49-F238E27FC236}">
                  <a16:creationId xmlns:a16="http://schemas.microsoft.com/office/drawing/2014/main" id="{D856A1CE-A652-4966-869D-748E9832F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5" y="1283"/>
              <a:ext cx="958" cy="761"/>
            </a:xfrm>
            <a:custGeom>
              <a:avLst/>
              <a:gdLst>
                <a:gd name="G0" fmla="+- 634 0 0"/>
                <a:gd name="G1" fmla="+- 0 0 0"/>
                <a:gd name="G2" fmla="+- 0 0 0"/>
                <a:gd name="T0" fmla="*/ 0 256 1"/>
                <a:gd name="T1" fmla="*/ 180 256 1"/>
                <a:gd name="G3" fmla="+- 0 T0 T1"/>
                <a:gd name="T2" fmla="*/ 0 256 1"/>
                <a:gd name="T3" fmla="*/ 90 256 1"/>
                <a:gd name="G4" fmla="+- 0 T2 T3"/>
                <a:gd name="G5" fmla="*/ G4 2 1"/>
                <a:gd name="T4" fmla="*/ 90 256 1"/>
                <a:gd name="T5" fmla="*/ 0 256 1"/>
                <a:gd name="G6" fmla="+- 0 T4 T5"/>
                <a:gd name="G7" fmla="*/ G6 2 1"/>
                <a:gd name="G8" fmla="abs 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634"/>
                <a:gd name="G18" fmla="*/ 634 1 2"/>
                <a:gd name="G19" fmla="+- G18 5400 0"/>
                <a:gd name="G20" fmla="cos G19 0"/>
                <a:gd name="G21" fmla="sin G19 0"/>
                <a:gd name="G22" fmla="+- G20 10800 0"/>
                <a:gd name="G23" fmla="+- G21 10800 0"/>
                <a:gd name="G24" fmla="+- 10800 0 G20"/>
                <a:gd name="G25" fmla="+- 634 10800 0"/>
                <a:gd name="G26" fmla="?: G9 G17 G25"/>
                <a:gd name="G27" fmla="?: G9 0 21600"/>
                <a:gd name="G28" fmla="cos 10800 0"/>
                <a:gd name="G29" fmla="sin 10800 0"/>
                <a:gd name="G30" fmla="sin 634 0"/>
                <a:gd name="G31" fmla="+- G28 10800 0"/>
                <a:gd name="G32" fmla="+- G29 10800 0"/>
                <a:gd name="G33" fmla="+- G30 10800 0"/>
                <a:gd name="G34" fmla="?: G4 0 G31"/>
                <a:gd name="G35" fmla="?: 0 G34 0"/>
                <a:gd name="G36" fmla="?: G6 G35 G31"/>
                <a:gd name="G37" fmla="+- 21600 0 G36"/>
                <a:gd name="G38" fmla="?: G4 0 G33"/>
                <a:gd name="G39" fmla="?: 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21600 h 21600"/>
                <a:gd name="T14" fmla="*/ 16517 w 21600"/>
                <a:gd name="T15" fmla="*/ 10800 h 21600"/>
                <a:gd name="T16" fmla="*/ 10800 w 21600"/>
                <a:gd name="T17" fmla="*/ 11434 h 21600"/>
                <a:gd name="T18" fmla="*/ 5083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1434" y="10800"/>
                  </a:moveTo>
                  <a:cubicBezTo>
                    <a:pt x="11434" y="11150"/>
                    <a:pt x="11150" y="11434"/>
                    <a:pt x="10800" y="11434"/>
                  </a:cubicBezTo>
                  <a:cubicBezTo>
                    <a:pt x="10449" y="11434"/>
                    <a:pt x="10166" y="11150"/>
                    <a:pt x="10166" y="10800"/>
                  </a:cubicBezTo>
                  <a:lnTo>
                    <a:pt x="0" y="10800"/>
                  </a:ln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50000">
                  <a:srgbClr val="663300"/>
                </a:gs>
                <a:gs pos="100000">
                  <a:srgbClr val="FFCC00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cs typeface="Tahoma" pitchFamily="34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18995EF-4BA6-49CF-B7F0-36F536409D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3" y="1591"/>
              <a:ext cx="962" cy="16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00">
                    <a:gamma/>
                    <a:tint val="53725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cs typeface="Tahoma" pitchFamily="34" charset="0"/>
              </a:endParaRPr>
            </a:p>
          </p:txBody>
        </p:sp>
      </p:grpSp>
      <p:pic>
        <p:nvPicPr>
          <p:cNvPr id="17" name="Picture 16" descr="shadow_1_m">
            <a:extLst>
              <a:ext uri="{FF2B5EF4-FFF2-40B4-BE49-F238E27FC236}">
                <a16:creationId xmlns:a16="http://schemas.microsoft.com/office/drawing/2014/main" id="{C51B5901-78BD-4A17-8D09-76831939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290638" y="2646363"/>
            <a:ext cx="6413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B5692C6-9EA4-4C15-8618-7F5042250952}"/>
              </a:ext>
            </a:extLst>
          </p:cNvPr>
          <p:cNvGrpSpPr>
            <a:grpSpLocks/>
          </p:cNvGrpSpPr>
          <p:nvPr/>
        </p:nvGrpSpPr>
        <p:grpSpPr bwMode="auto">
          <a:xfrm>
            <a:off x="4030663" y="2789238"/>
            <a:ext cx="962025" cy="1009650"/>
            <a:chOff x="4068763" y="2560638"/>
            <a:chExt cx="962025" cy="10096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07EAA0A-DF3E-458F-98E3-BC7B079F2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8763" y="2560638"/>
              <a:ext cx="962025" cy="1009650"/>
              <a:chOff x="3247" y="1673"/>
              <a:chExt cx="606" cy="636"/>
            </a:xfrm>
          </p:grpSpPr>
          <p:pic>
            <p:nvPicPr>
              <p:cNvPr id="87" name="Picture 86" descr="light_shadow">
                <a:extLst>
                  <a:ext uri="{FF2B5EF4-FFF2-40B4-BE49-F238E27FC236}">
                    <a16:creationId xmlns:a16="http://schemas.microsoft.com/office/drawing/2014/main" id="{68F644A2-4626-4D63-AB51-EEEC5C0CAB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87" descr="circuler_1">
                <a:extLst>
                  <a:ext uri="{FF2B5EF4-FFF2-40B4-BE49-F238E27FC236}">
                    <a16:creationId xmlns:a16="http://schemas.microsoft.com/office/drawing/2014/main" id="{E8E12546-BD5A-460F-909B-C84186FCA1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B6C9ED5-5A6D-4ADD-BCC5-9972C9D509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F5BCABA-A538-4E86-A0CF-E08BF82240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9" y="2152"/>
                <a:ext cx="470" cy="107"/>
                <a:chOff x="2533" y="1071"/>
                <a:chExt cx="892" cy="236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AF5E1481-9A49-4D44-8721-BDF29028C7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3" y="1071"/>
                  <a:ext cx="740" cy="190"/>
                  <a:chOff x="1576" y="2595"/>
                  <a:chExt cx="1116" cy="286"/>
                </a:xfrm>
              </p:grpSpPr>
              <p:sp>
                <p:nvSpPr>
                  <p:cNvPr id="98" name="AutoShape 20">
                    <a:extLst>
                      <a:ext uri="{FF2B5EF4-FFF2-40B4-BE49-F238E27FC236}">
                        <a16:creationId xmlns:a16="http://schemas.microsoft.com/office/drawing/2014/main" id="{8003C391-8A9C-4461-A05E-24B18C7502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305"/>
                    <a:ext cx="228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9" name="AutoShape 21">
                    <a:extLst>
                      <a:ext uri="{FF2B5EF4-FFF2-40B4-BE49-F238E27FC236}">
                        <a16:creationId xmlns:a16="http://schemas.microsoft.com/office/drawing/2014/main" id="{417D2551-F18C-4FFF-B94C-9DDC2EC444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5" y="2303"/>
                    <a:ext cx="228" cy="812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100" name="AutoShape 22">
                    <a:extLst>
                      <a:ext uri="{FF2B5EF4-FFF2-40B4-BE49-F238E27FC236}">
                        <a16:creationId xmlns:a16="http://schemas.microsoft.com/office/drawing/2014/main" id="{7084D5EC-0667-4A6A-9798-6F225C809B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0" y="2320"/>
                    <a:ext cx="225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101" name="AutoShape 23">
                    <a:extLst>
                      <a:ext uri="{FF2B5EF4-FFF2-40B4-BE49-F238E27FC236}">
                        <a16:creationId xmlns:a16="http://schemas.microsoft.com/office/drawing/2014/main" id="{04F7DA8D-8F83-48B1-867D-E96B7AE88E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1" y="2359"/>
                    <a:ext cx="228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8FEBB7CB-EBBD-4DE7-A126-1D312785CA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4" y="1125"/>
                  <a:ext cx="741" cy="182"/>
                  <a:chOff x="1581" y="2588"/>
                  <a:chExt cx="1118" cy="273"/>
                </a:xfrm>
              </p:grpSpPr>
              <p:sp>
                <p:nvSpPr>
                  <p:cNvPr id="94" name="AutoShape 25">
                    <a:extLst>
                      <a:ext uri="{FF2B5EF4-FFF2-40B4-BE49-F238E27FC236}">
                        <a16:creationId xmlns:a16="http://schemas.microsoft.com/office/drawing/2014/main" id="{9395590E-2E23-4758-9DAA-68969BBA13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82" y="2298"/>
                    <a:ext cx="213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5" name="AutoShape 26">
                    <a:extLst>
                      <a:ext uri="{FF2B5EF4-FFF2-40B4-BE49-F238E27FC236}">
                        <a16:creationId xmlns:a16="http://schemas.microsoft.com/office/drawing/2014/main" id="{5B47717E-82D2-43F2-BE2D-B2E371842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18" y="2289"/>
                    <a:ext cx="220" cy="81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6" name="AutoShape 27">
                    <a:extLst>
                      <a:ext uri="{FF2B5EF4-FFF2-40B4-BE49-F238E27FC236}">
                        <a16:creationId xmlns:a16="http://schemas.microsoft.com/office/drawing/2014/main" id="{4F1AC27D-F2A0-47D8-B574-50969CEFC7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9" y="2324"/>
                    <a:ext cx="210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7" name="AutoShape 28">
                    <a:extLst>
                      <a:ext uri="{FF2B5EF4-FFF2-40B4-BE49-F238E27FC236}">
                        <a16:creationId xmlns:a16="http://schemas.microsoft.com/office/drawing/2014/main" id="{C47A35AC-3C6A-46C2-B384-FFC2DD7A63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82" y="2343"/>
                    <a:ext cx="220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91" name="Freeform 29">
                <a:extLst>
                  <a:ext uri="{FF2B5EF4-FFF2-40B4-BE49-F238E27FC236}">
                    <a16:creationId xmlns:a16="http://schemas.microsoft.com/office/drawing/2014/main" id="{69DF56D3-BCB1-4318-9A22-F51C16BA2A1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86" name="Text Box 30">
              <a:extLst>
                <a:ext uri="{FF2B5EF4-FFF2-40B4-BE49-F238E27FC236}">
                  <a16:creationId xmlns:a16="http://schemas.microsoft.com/office/drawing/2014/main" id="{1699DC3B-9945-477A-B790-05C220BB398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140200" y="2824163"/>
              <a:ext cx="819150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2</a:t>
              </a:r>
            </a:p>
          </p:txBody>
        </p:sp>
      </p:grpSp>
      <p:sp>
        <p:nvSpPr>
          <p:cNvPr id="19" name="Text Box 31">
            <a:extLst>
              <a:ext uri="{FF2B5EF4-FFF2-40B4-BE49-F238E27FC236}">
                <a16:creationId xmlns:a16="http://schemas.microsoft.com/office/drawing/2014/main" id="{8521C259-22B1-45F5-A148-F6056D3A319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76500" y="1687513"/>
            <a:ext cx="1639888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Linear</a:t>
            </a:r>
          </a:p>
        </p:txBody>
      </p:sp>
      <p:sp>
        <p:nvSpPr>
          <p:cNvPr id="20" name="Text Box 32">
            <a:extLst>
              <a:ext uri="{FF2B5EF4-FFF2-40B4-BE49-F238E27FC236}">
                <a16:creationId xmlns:a16="http://schemas.microsoft.com/office/drawing/2014/main" id="{55E747FD-8238-4EEE-84B4-BECB35F6D72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741613" y="3048000"/>
            <a:ext cx="12588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Binary</a:t>
            </a:r>
          </a:p>
        </p:txBody>
      </p:sp>
      <p:sp>
        <p:nvSpPr>
          <p:cNvPr id="21" name="Text Box 33">
            <a:extLst>
              <a:ext uri="{FF2B5EF4-FFF2-40B4-BE49-F238E27FC236}">
                <a16:creationId xmlns:a16="http://schemas.microsoft.com/office/drawing/2014/main" id="{29D41B32-05B6-4679-BBBF-480A120EF7D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03413" y="3962400"/>
            <a:ext cx="16398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Mutual</a:t>
            </a:r>
          </a:p>
        </p:txBody>
      </p:sp>
      <p:sp>
        <p:nvSpPr>
          <p:cNvPr id="22" name="Text Box 34">
            <a:extLst>
              <a:ext uri="{FF2B5EF4-FFF2-40B4-BE49-F238E27FC236}">
                <a16:creationId xmlns:a16="http://schemas.microsoft.com/office/drawing/2014/main" id="{92E6DCC8-6C7D-4652-B7DF-FB8AB837A70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4163" y="4614863"/>
            <a:ext cx="2752725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Non linear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5EAF5A-7072-4AF5-AC43-74C93CBE5BE4}"/>
              </a:ext>
            </a:extLst>
          </p:cNvPr>
          <p:cNvGrpSpPr>
            <a:grpSpLocks/>
          </p:cNvGrpSpPr>
          <p:nvPr/>
        </p:nvGrpSpPr>
        <p:grpSpPr bwMode="auto">
          <a:xfrm>
            <a:off x="3971925" y="1506541"/>
            <a:ext cx="755650" cy="758826"/>
            <a:chOff x="4010025" y="1277941"/>
            <a:chExt cx="755650" cy="7588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9CA92A5-6088-428B-A4A4-C316ECFF43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250" y="1277941"/>
              <a:ext cx="723900" cy="758826"/>
              <a:chOff x="3247" y="1673"/>
              <a:chExt cx="606" cy="636"/>
            </a:xfrm>
          </p:grpSpPr>
          <p:pic>
            <p:nvPicPr>
              <p:cNvPr id="70" name="Picture 69" descr="light_shadow">
                <a:extLst>
                  <a:ext uri="{FF2B5EF4-FFF2-40B4-BE49-F238E27FC236}">
                    <a16:creationId xmlns:a16="http://schemas.microsoft.com/office/drawing/2014/main" id="{03DC73E3-DC17-41B8-BFF5-A9922F9387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70" descr="circuler_1">
                <a:extLst>
                  <a:ext uri="{FF2B5EF4-FFF2-40B4-BE49-F238E27FC236}">
                    <a16:creationId xmlns:a16="http://schemas.microsoft.com/office/drawing/2014/main" id="{4B3EBAA5-002B-49C0-8C24-9A2FFA8148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3714F8FF-0EE4-4A27-9799-9E8F38D31A7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FFB1EEF-8830-40DF-9579-B1F1F29748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2" y="2132"/>
                <a:ext cx="473" cy="110"/>
                <a:chOff x="2534" y="1088"/>
                <a:chExt cx="898" cy="238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8A78371-9014-486A-A75E-27677FC970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4" y="1088"/>
                  <a:ext cx="735" cy="190"/>
                  <a:chOff x="1576" y="2608"/>
                  <a:chExt cx="1109" cy="285"/>
                </a:xfrm>
              </p:grpSpPr>
              <p:sp>
                <p:nvSpPr>
                  <p:cNvPr id="81" name="AutoShape 45">
                    <a:extLst>
                      <a:ext uri="{FF2B5EF4-FFF2-40B4-BE49-F238E27FC236}">
                        <a16:creationId xmlns:a16="http://schemas.microsoft.com/office/drawing/2014/main" id="{08F5D830-F2F3-4556-BB3C-2DE12551D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314"/>
                    <a:ext cx="223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2" name="AutoShape 46">
                    <a:extLst>
                      <a:ext uri="{FF2B5EF4-FFF2-40B4-BE49-F238E27FC236}">
                        <a16:creationId xmlns:a16="http://schemas.microsoft.com/office/drawing/2014/main" id="{E2C7D003-160F-413B-84C0-58AA13B079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3" y="2324"/>
                    <a:ext cx="218" cy="80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3" name="AutoShape 47">
                    <a:extLst>
                      <a:ext uri="{FF2B5EF4-FFF2-40B4-BE49-F238E27FC236}">
                        <a16:creationId xmlns:a16="http://schemas.microsoft.com/office/drawing/2014/main" id="{F6F8A29A-4EFF-41A4-9866-5B8BB871A2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6" y="2351"/>
                    <a:ext cx="218" cy="80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4" name="AutoShape 48">
                    <a:extLst>
                      <a:ext uri="{FF2B5EF4-FFF2-40B4-BE49-F238E27FC236}">
                        <a16:creationId xmlns:a16="http://schemas.microsoft.com/office/drawing/2014/main" id="{90BAECB1-0AEF-48B8-BD1C-7E1BEA29EF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6" y="2374"/>
                    <a:ext cx="22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F0C021BF-625F-42B0-AC55-E38BECAE8E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92" y="1134"/>
                  <a:ext cx="740" cy="192"/>
                  <a:chOff x="1600" y="2582"/>
                  <a:chExt cx="1117" cy="287"/>
                </a:xfrm>
              </p:grpSpPr>
              <p:sp>
                <p:nvSpPr>
                  <p:cNvPr id="77" name="AutoShape 50">
                    <a:extLst>
                      <a:ext uri="{FF2B5EF4-FFF2-40B4-BE49-F238E27FC236}">
                        <a16:creationId xmlns:a16="http://schemas.microsoft.com/office/drawing/2014/main" id="{1F3C54B0-7E13-4905-B23F-3A1CCE9E13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90" y="2292"/>
                    <a:ext cx="236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8" name="AutoShape 51">
                    <a:extLst>
                      <a:ext uri="{FF2B5EF4-FFF2-40B4-BE49-F238E27FC236}">
                        <a16:creationId xmlns:a16="http://schemas.microsoft.com/office/drawing/2014/main" id="{83A23630-5D75-4FCE-937E-9DAF82BE01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28" y="2295"/>
                    <a:ext cx="231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9" name="AutoShape 52">
                    <a:extLst>
                      <a:ext uri="{FF2B5EF4-FFF2-40B4-BE49-F238E27FC236}">
                        <a16:creationId xmlns:a16="http://schemas.microsoft.com/office/drawing/2014/main" id="{756BEB98-E8C6-4190-896E-F968539A27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112" y="2318"/>
                    <a:ext cx="231" cy="800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0" name="AutoShape 53">
                    <a:extLst>
                      <a:ext uri="{FF2B5EF4-FFF2-40B4-BE49-F238E27FC236}">
                        <a16:creationId xmlns:a16="http://schemas.microsoft.com/office/drawing/2014/main" id="{31C598C2-FF98-4A72-8B9A-1521614F4F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94" y="2345"/>
                    <a:ext cx="236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74" name="Freeform 54">
                <a:extLst>
                  <a:ext uri="{FF2B5EF4-FFF2-40B4-BE49-F238E27FC236}">
                    <a16:creationId xmlns:a16="http://schemas.microsoft.com/office/drawing/2014/main" id="{6FEDC698-D6EC-4A8C-837F-A81E9207885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69" name="Text Box 55">
              <a:extLst>
                <a:ext uri="{FF2B5EF4-FFF2-40B4-BE49-F238E27FC236}">
                  <a16:creationId xmlns:a16="http://schemas.microsoft.com/office/drawing/2014/main" id="{D8436409-8DA0-4576-922A-EF1B809D940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010025" y="1406525"/>
              <a:ext cx="755650" cy="4619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F665CC-7536-4DA7-9943-24EA1FDE32BE}"/>
              </a:ext>
            </a:extLst>
          </p:cNvPr>
          <p:cNvGrpSpPr>
            <a:grpSpLocks/>
          </p:cNvGrpSpPr>
          <p:nvPr/>
        </p:nvGrpSpPr>
        <p:grpSpPr bwMode="auto">
          <a:xfrm>
            <a:off x="3071818" y="4229094"/>
            <a:ext cx="1193801" cy="1254123"/>
            <a:chOff x="3109918" y="4000494"/>
            <a:chExt cx="1193801" cy="125412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34EF631-80AB-4147-A75F-A0ED2965A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9918" y="4000494"/>
              <a:ext cx="1193801" cy="1254123"/>
              <a:chOff x="3247" y="1673"/>
              <a:chExt cx="606" cy="636"/>
            </a:xfrm>
          </p:grpSpPr>
          <p:pic>
            <p:nvPicPr>
              <p:cNvPr id="53" name="Picture 52" descr="light_shadow">
                <a:extLst>
                  <a:ext uri="{FF2B5EF4-FFF2-40B4-BE49-F238E27FC236}">
                    <a16:creationId xmlns:a16="http://schemas.microsoft.com/office/drawing/2014/main" id="{5F6C9FD9-E8A7-45B5-B60D-556545FAC7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53" descr="circuler_1">
                <a:extLst>
                  <a:ext uri="{FF2B5EF4-FFF2-40B4-BE49-F238E27FC236}">
                    <a16:creationId xmlns:a16="http://schemas.microsoft.com/office/drawing/2014/main" id="{9FBA554B-003A-4447-AC77-65777826B7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E58EA0D-2FAC-48F2-9C74-97A619BBA0D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C7546D1-83A3-4352-A57B-E03C822382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5" y="2165"/>
                <a:ext cx="473" cy="101"/>
                <a:chOff x="2534" y="1072"/>
                <a:chExt cx="894" cy="226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9E423022-4986-4B58-9E5D-AA2A1A89FE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4" y="1072"/>
                  <a:ext cx="742" cy="192"/>
                  <a:chOff x="1576" y="2583"/>
                  <a:chExt cx="1119" cy="288"/>
                </a:xfrm>
              </p:grpSpPr>
              <p:sp>
                <p:nvSpPr>
                  <p:cNvPr id="64" name="AutoShape 62">
                    <a:extLst>
                      <a:ext uri="{FF2B5EF4-FFF2-40B4-BE49-F238E27FC236}">
                        <a16:creationId xmlns:a16="http://schemas.microsoft.com/office/drawing/2014/main" id="{A135B8A3-8DE0-4F73-AA07-8F52A53EC8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290"/>
                    <a:ext cx="230" cy="818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5" name="AutoShape 63">
                    <a:extLst>
                      <a:ext uri="{FF2B5EF4-FFF2-40B4-BE49-F238E27FC236}">
                        <a16:creationId xmlns:a16="http://schemas.microsoft.com/office/drawing/2014/main" id="{1C87078E-9304-4977-9537-A85104E7C2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5" y="2286"/>
                    <a:ext cx="230" cy="823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6" name="AutoShape 64">
                    <a:extLst>
                      <a:ext uri="{FF2B5EF4-FFF2-40B4-BE49-F238E27FC236}">
                        <a16:creationId xmlns:a16="http://schemas.microsoft.com/office/drawing/2014/main" id="{16B4CD98-E06B-41D2-9084-D185900F37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8" y="2312"/>
                    <a:ext cx="235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7" name="AutoShape 65">
                    <a:extLst>
                      <a:ext uri="{FF2B5EF4-FFF2-40B4-BE49-F238E27FC236}">
                        <a16:creationId xmlns:a16="http://schemas.microsoft.com/office/drawing/2014/main" id="{0915DA99-2529-4FE5-AE3B-8F01FF7E00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1" y="2347"/>
                    <a:ext cx="230" cy="818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51C90D5-E54B-4515-88EE-A71AE8943E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3" y="1118"/>
                  <a:ext cx="745" cy="180"/>
                  <a:chOff x="1570" y="2587"/>
                  <a:chExt cx="1121" cy="271"/>
                </a:xfrm>
              </p:grpSpPr>
              <p:sp>
                <p:nvSpPr>
                  <p:cNvPr id="60" name="AutoShape 67">
                    <a:extLst>
                      <a:ext uri="{FF2B5EF4-FFF2-40B4-BE49-F238E27FC236}">
                        <a16:creationId xmlns:a16="http://schemas.microsoft.com/office/drawing/2014/main" id="{517B277C-5E75-49F2-BA49-D641EEFC5E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69" y="2294"/>
                    <a:ext cx="224" cy="82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1" name="AutoShape 68">
                    <a:extLst>
                      <a:ext uri="{FF2B5EF4-FFF2-40B4-BE49-F238E27FC236}">
                        <a16:creationId xmlns:a16="http://schemas.microsoft.com/office/drawing/2014/main" id="{DEF908DC-E747-4A89-8FAD-9767732A85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3" y="2291"/>
                    <a:ext cx="227" cy="819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2" name="AutoShape 69">
                    <a:extLst>
                      <a:ext uri="{FF2B5EF4-FFF2-40B4-BE49-F238E27FC236}">
                        <a16:creationId xmlns:a16="http://schemas.microsoft.com/office/drawing/2014/main" id="{6CB9E8D5-6B94-4E66-8F3C-C0F8611D97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80" y="2312"/>
                    <a:ext cx="227" cy="814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3" name="AutoShape 70">
                    <a:extLst>
                      <a:ext uri="{FF2B5EF4-FFF2-40B4-BE49-F238E27FC236}">
                        <a16:creationId xmlns:a16="http://schemas.microsoft.com/office/drawing/2014/main" id="{3BFC4B54-DED3-4BAE-BF48-847B62259E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9" y="2337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57" name="Freeform 71">
                <a:extLst>
                  <a:ext uri="{FF2B5EF4-FFF2-40B4-BE49-F238E27FC236}">
                    <a16:creationId xmlns:a16="http://schemas.microsoft.com/office/drawing/2014/main" id="{F0B18C25-6588-4B40-B5BB-1DB34D21A1D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52" name="Text Box 72">
              <a:extLst>
                <a:ext uri="{FF2B5EF4-FFF2-40B4-BE49-F238E27FC236}">
                  <a16:creationId xmlns:a16="http://schemas.microsoft.com/office/drawing/2014/main" id="{63530304-E2F6-4620-B87D-3C150CB534C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243263" y="4383088"/>
              <a:ext cx="954087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FA2FC3-29D5-4F90-927A-6F1814ACED5B}"/>
              </a:ext>
            </a:extLst>
          </p:cNvPr>
          <p:cNvGrpSpPr>
            <a:grpSpLocks/>
          </p:cNvGrpSpPr>
          <p:nvPr/>
        </p:nvGrpSpPr>
        <p:grpSpPr bwMode="auto">
          <a:xfrm>
            <a:off x="1209680" y="4948238"/>
            <a:ext cx="892176" cy="936625"/>
            <a:chOff x="1247780" y="4719638"/>
            <a:chExt cx="892176" cy="93662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5F69F8-429E-492F-8EFF-2A14A4456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780" y="4719638"/>
              <a:ext cx="892176" cy="936625"/>
              <a:chOff x="3247" y="1673"/>
              <a:chExt cx="606" cy="636"/>
            </a:xfrm>
          </p:grpSpPr>
          <p:pic>
            <p:nvPicPr>
              <p:cNvPr id="36" name="Picture 35" descr="light_shadow">
                <a:extLst>
                  <a:ext uri="{FF2B5EF4-FFF2-40B4-BE49-F238E27FC236}">
                    <a16:creationId xmlns:a16="http://schemas.microsoft.com/office/drawing/2014/main" id="{0F856CFD-8178-44D0-8930-1FA47DC2CC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36" descr="circuler_1">
                <a:extLst>
                  <a:ext uri="{FF2B5EF4-FFF2-40B4-BE49-F238E27FC236}">
                    <a16:creationId xmlns:a16="http://schemas.microsoft.com/office/drawing/2014/main" id="{67206C79-FACC-42F9-9BD3-2D59CC02B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F20ABDD-AF8C-451A-A4D1-246ADE044F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154BA75-C7FD-49EF-B2E8-294046881B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2" y="2149"/>
                <a:ext cx="474" cy="99"/>
                <a:chOff x="2536" y="1091"/>
                <a:chExt cx="899" cy="218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BCE08351-3209-4841-907E-9615AF0A20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6" y="1091"/>
                  <a:ext cx="744" cy="177"/>
                  <a:chOff x="1574" y="2599"/>
                  <a:chExt cx="1121" cy="264"/>
                </a:xfrm>
              </p:grpSpPr>
              <p:sp>
                <p:nvSpPr>
                  <p:cNvPr id="47" name="AutoShape 79">
                    <a:extLst>
                      <a:ext uri="{FF2B5EF4-FFF2-40B4-BE49-F238E27FC236}">
                        <a16:creationId xmlns:a16="http://schemas.microsoft.com/office/drawing/2014/main" id="{A6F2654B-19C1-4465-A45B-1B057EE128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1" y="2308"/>
                    <a:ext cx="21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8" name="AutoShape 80">
                    <a:extLst>
                      <a:ext uri="{FF2B5EF4-FFF2-40B4-BE49-F238E27FC236}">
                        <a16:creationId xmlns:a16="http://schemas.microsoft.com/office/drawing/2014/main" id="{9A729DC2-FC14-4E26-9ABA-662DAD0C99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11" y="2297"/>
                    <a:ext cx="214" cy="81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9" name="AutoShape 81">
                    <a:extLst>
                      <a:ext uri="{FF2B5EF4-FFF2-40B4-BE49-F238E27FC236}">
                        <a16:creationId xmlns:a16="http://schemas.microsoft.com/office/drawing/2014/main" id="{93977FB9-CBF0-4286-B190-2571281FB1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0" y="2324"/>
                    <a:ext cx="21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50" name="AutoShape 82">
                    <a:extLst>
                      <a:ext uri="{FF2B5EF4-FFF2-40B4-BE49-F238E27FC236}">
                        <a16:creationId xmlns:a16="http://schemas.microsoft.com/office/drawing/2014/main" id="{58F10DF0-F704-419E-8ECE-19953277BF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9" y="2348"/>
                    <a:ext cx="217" cy="814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E9B0480-F7CD-495F-A84D-3610BAB3B4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9" y="1126"/>
                  <a:ext cx="746" cy="183"/>
                  <a:chOff x="1583" y="2590"/>
                  <a:chExt cx="1124" cy="275"/>
                </a:xfrm>
              </p:grpSpPr>
              <p:sp>
                <p:nvSpPr>
                  <p:cNvPr id="43" name="AutoShape 84">
                    <a:extLst>
                      <a:ext uri="{FF2B5EF4-FFF2-40B4-BE49-F238E27FC236}">
                        <a16:creationId xmlns:a16="http://schemas.microsoft.com/office/drawing/2014/main" id="{CF2A6BE7-D647-4242-995C-E27806AD12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82" y="2291"/>
                    <a:ext cx="218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4" name="AutoShape 85">
                    <a:extLst>
                      <a:ext uri="{FF2B5EF4-FFF2-40B4-BE49-F238E27FC236}">
                        <a16:creationId xmlns:a16="http://schemas.microsoft.com/office/drawing/2014/main" id="{8EDA99C3-58CD-4BCC-A11A-75289AA27A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22" y="2298"/>
                    <a:ext cx="214" cy="813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5" name="AutoShape 86">
                    <a:extLst>
                      <a:ext uri="{FF2B5EF4-FFF2-40B4-BE49-F238E27FC236}">
                        <a16:creationId xmlns:a16="http://schemas.microsoft.com/office/drawing/2014/main" id="{A06BD7BD-5D10-4CBF-937E-1C68E54B46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101" y="2318"/>
                    <a:ext cx="218" cy="810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6" name="AutoShape 87">
                    <a:extLst>
                      <a:ext uri="{FF2B5EF4-FFF2-40B4-BE49-F238E27FC236}">
                        <a16:creationId xmlns:a16="http://schemas.microsoft.com/office/drawing/2014/main" id="{DDD4A6BA-4609-475C-8B88-DECB9EEF00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88" y="2347"/>
                    <a:ext cx="221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40" name="Freeform 88">
                <a:extLst>
                  <a:ext uri="{FF2B5EF4-FFF2-40B4-BE49-F238E27FC236}">
                    <a16:creationId xmlns:a16="http://schemas.microsoft.com/office/drawing/2014/main" id="{DD3F049B-75A5-4B19-A689-292EF6A201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8" y="1685"/>
                <a:ext cx="469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35" name="Text Box 89">
              <a:extLst>
                <a:ext uri="{FF2B5EF4-FFF2-40B4-BE49-F238E27FC236}">
                  <a16:creationId xmlns:a16="http://schemas.microsoft.com/office/drawing/2014/main" id="{D4E708D0-2534-44A3-AEA6-7F0B0B07C8E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74763" y="4935538"/>
              <a:ext cx="819150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4</a:t>
              </a:r>
            </a:p>
          </p:txBody>
        </p:sp>
      </p:grpSp>
      <p:sp>
        <p:nvSpPr>
          <p:cNvPr id="26" name="Text Box 15">
            <a:extLst>
              <a:ext uri="{FF2B5EF4-FFF2-40B4-BE49-F238E27FC236}">
                <a16:creationId xmlns:a16="http://schemas.microsoft.com/office/drawing/2014/main" id="{9D83E66E-E85D-42D8-A3BB-64C665B56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1447800"/>
            <a:ext cx="3352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Within the function body there is only one function call that explicitly calls itself.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6A8159C3-AF4E-4614-B453-7F6351FB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895600"/>
            <a:ext cx="3124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the function body there are two function calls that explicitly call itself.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D384CC4B-2E18-4E54-B368-4C083EF85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151" y="4026864"/>
            <a:ext cx="3810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one function body there is a function call to another function and inside the other function body there is a function call to this function.</a:t>
            </a:r>
          </a:p>
        </p:txBody>
      </p:sp>
      <p:sp>
        <p:nvSpPr>
          <p:cNvPr id="29" name="Text Box 18">
            <a:extLst>
              <a:ext uri="{FF2B5EF4-FFF2-40B4-BE49-F238E27FC236}">
                <a16:creationId xmlns:a16="http://schemas.microsoft.com/office/drawing/2014/main" id="{44A9463B-0155-47E7-B1A8-CF0533DB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730" y="5880168"/>
            <a:ext cx="69050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the function body there is the function callback itself placed inside the loop body.</a:t>
            </a:r>
          </a:p>
        </p:txBody>
      </p:sp>
      <p:sp>
        <p:nvSpPr>
          <p:cNvPr id="30" name="AutoShape 35">
            <a:extLst>
              <a:ext uri="{FF2B5EF4-FFF2-40B4-BE49-F238E27FC236}">
                <a16:creationId xmlns:a16="http://schemas.microsoft.com/office/drawing/2014/main" id="{0E2079F7-2166-481F-9AA4-F693C6BBAF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5150" y="1919288"/>
            <a:ext cx="792163" cy="577850"/>
          </a:xfrm>
          <a:prstGeom prst="curvedRightArrow">
            <a:avLst>
              <a:gd name="adj1" fmla="val 16542"/>
              <a:gd name="adj2" fmla="val 38977"/>
              <a:gd name="adj3" fmla="val 39419"/>
            </a:avLst>
          </a:prstGeom>
          <a:gradFill rotWithShape="1">
            <a:gsLst>
              <a:gs pos="0">
                <a:srgbClr val="FF6600">
                  <a:gamma/>
                  <a:tint val="42353"/>
                  <a:invGamma/>
                </a:srgbClr>
              </a:gs>
              <a:gs pos="100000">
                <a:srgbClr val="FF66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+mn-cs"/>
            </a:endParaRPr>
          </a:p>
        </p:txBody>
      </p:sp>
      <p:pic>
        <p:nvPicPr>
          <p:cNvPr id="31" name="Picture 30" descr="212">
            <a:extLst>
              <a:ext uri="{FF2B5EF4-FFF2-40B4-BE49-F238E27FC236}">
                <a16:creationId xmlns:a16="http://schemas.microsoft.com/office/drawing/2014/main" id="{D4507370-CFFA-4E86-869E-CD971A7F8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1676400"/>
            <a:ext cx="12303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AutoShape 21">
            <a:extLst>
              <a:ext uri="{FF2B5EF4-FFF2-40B4-BE49-F238E27FC236}">
                <a16:creationId xmlns:a16="http://schemas.microsoft.com/office/drawing/2014/main" id="{30C7F9CB-8E1B-42CC-9F7D-B3BC49077B12}"/>
              </a:ext>
            </a:extLst>
          </p:cNvPr>
          <p:cNvSpPr>
            <a:spLocks noChangeArrowheads="1"/>
          </p:cNvSpPr>
          <p:nvPr/>
        </p:nvSpPr>
        <p:spPr bwMode="gray">
          <a:xfrm flipH="1" flipV="1">
            <a:off x="1943100" y="1828800"/>
            <a:ext cx="792163" cy="577850"/>
          </a:xfrm>
          <a:prstGeom prst="curvedRightArrow">
            <a:avLst>
              <a:gd name="adj1" fmla="val 19583"/>
              <a:gd name="adj2" fmla="val 44676"/>
              <a:gd name="adj3" fmla="val 39194"/>
            </a:avLst>
          </a:prstGeom>
          <a:gradFill rotWithShape="1">
            <a:gsLst>
              <a:gs pos="0">
                <a:srgbClr val="FF6600">
                  <a:gamma/>
                  <a:tint val="42353"/>
                  <a:invGamma/>
                </a:srgbClr>
              </a:gs>
              <a:gs pos="100000">
                <a:srgbClr val="FF66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+mn-cs"/>
            </a:endParaRPr>
          </a:p>
        </p:txBody>
      </p:sp>
      <p:sp>
        <p:nvSpPr>
          <p:cNvPr id="33" name="Slide Number Placeholder 99">
            <a:extLst>
              <a:ext uri="{FF2B5EF4-FFF2-40B4-BE49-F238E27FC236}">
                <a16:creationId xmlns:a16="http://schemas.microsoft.com/office/drawing/2014/main" id="{8D3E1C9D-31F6-86A5-D6DB-56912DAB0668}"/>
              </a:ext>
            </a:extLst>
          </p:cNvPr>
          <p:cNvSpPr>
            <a:spLocks noGrp="1"/>
          </p:cNvSpPr>
          <p:nvPr/>
        </p:nvSpPr>
        <p:spPr>
          <a:xfrm>
            <a:off x="6515100" y="62801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18D557D5-F51C-4717-8E58-4F544614364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89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59125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4.1.2. Solution of the regression coefficient 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 linear recursive relation of order k is a system: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0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+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1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−1 +…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𝑘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en-US" sz="1900" b="0" i="0" baseline="-2500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lang="pt-BR" sz="1900" baseline="-2500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𝑘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=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𝑓𝑛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(1) </m:t>
                      </m:r>
                    </m:oMath>
                  </m:oMathPara>
                </a14:m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br>
                  <a:rPr lang="en-US" sz="2000" dirty="0"/>
                </a:b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, a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, ..., an are the real coefficients; {f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} is a given sequence of real numbers and {x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} is a hidden sequence of real values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In case the sequence 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=0 for all n then (1) becomes a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 a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n-1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+… 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-k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= 0 (2) We say (2) is a homogeneous linear recursive relation of order k.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pt-BR" sz="1900" dirty="0">
                    <a:solidFill>
                      <a:schemeClr val="tx2"/>
                    </a:solidFill>
                    <a:cs typeface="Times New Roman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pt-BR" sz="19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+ 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 +… 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9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pt-BR" sz="190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=</m:t>
                    </m:r>
                    <m:r>
                      <a:rPr lang="en-US" sz="19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(</m:t>
                    </m:r>
                    <m:r>
                      <a:rPr lang="en-US" sz="19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5912581"/>
              </a:xfrm>
              <a:prstGeom prst="rect">
                <a:avLst/>
              </a:prstGeom>
              <a:blipFill>
                <a:blip r:embed="rId4"/>
                <a:stretch>
                  <a:fillRect l="-600" r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56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181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0C391-4DF2-DEBF-ECB0-135D748B4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382" y="1905000"/>
            <a:ext cx="6129337" cy="390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80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738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Each sequence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} consequent (1) is called the partial solution of (1).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Remark that each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} of (1) has been completely determined by k initial value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Sequences number {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)} depends on k sequence number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is called the sum of the general solutions of (1) if all the sequence are solution of (1) 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05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2400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799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With k initial values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there exist only k parameter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such that the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} satisfied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(*)Then, the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} is called the corresponding partial solution with initial conditions (*).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To solve a recursive relation is to find its general solution ; but if the recursive relation includes an initial condition, we must find a solution that satisfies that initial condition.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51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4870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pt-BR" sz="2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−2+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…+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(3)</m:t>
                    </m:r>
                  </m:oMath>
                </a14:m>
                <a:endParaRPr lang="en-US" sz="2000" b="0" dirty="0">
                  <a:solidFill>
                    <a:schemeClr val="tx2"/>
                  </a:solidFill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solve (3) we have to find a solution in the form of 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≠0)</m:t>
                    </m:r>
                  </m:oMath>
                </a14:m>
                <a:endParaRPr lang="en-US" sz="2000" baseline="300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Cr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solution of (3)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+…+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(4)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(4)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+…-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solution of (3)</a:t>
                </a:r>
                <a:r>
                  <a:rPr lang="en-US" sz="200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 is the solution of (5)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4870821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29A892F4-ECA8-8746-7A87-C9EE27549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3024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(5) is the reduced (characteristic) equation of(3)</a:t>
            </a: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solutions of (5) is the characteristic solutions of(3)</a:t>
            </a: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these characteristic solutions, a general solution of (3) could be found.</a:t>
            </a:r>
          </a:p>
          <a:p>
            <a:pPr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  <a:defRPr/>
            </a:pPr>
            <a:endParaRPr lang="en-US" sz="1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ECC342-6D88-0D8F-9777-C2057F4D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192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610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equation(6) has solution r</a:t>
                </a:r>
                <a:endParaRPr lang="en-US" sz="2000" baseline="-25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b="0" dirty="0">
                    <a:solidFill>
                      <a:schemeClr val="tx2"/>
                    </a:solidFill>
                    <a:cs typeface="Times New Roman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(8)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constant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6101927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1CC696CD-07F0-7B6F-3367-BCE9C89AD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3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−1        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4;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9300F0C3-2519-57EF-6500-EA38AB8E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937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equation(6) has two difference solutions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000" baseline="-25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(11)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1CC696CD-07F0-7B6F-3367-BCE9C89AD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33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240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Solve: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 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=2; 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</a:p>
          <a:p>
            <a:pPr algn="ctr">
              <a:lnSpc>
                <a:spcPct val="200000"/>
              </a:lnSpc>
              <a:defRPr/>
            </a:pPr>
            <a:endParaRPr lang="en-US" sz="1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5E54D9-7242-3207-76E7-E48D78C58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702" y="2419360"/>
            <a:ext cx="5305425" cy="3146142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DFFA25F8-65F4-B9C2-D977-4B296006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99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67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−1+6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=6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=7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−1−10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=13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−1−22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=35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=−13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−1−22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=−14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671040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5">
            <a:extLst>
              <a:ext uri="{FF2B5EF4-FFF2-40B4-BE49-F238E27FC236}">
                <a16:creationId xmlns:a16="http://schemas.microsoft.com/office/drawing/2014/main" id="{3F48B5FE-6CD9-3CE4-BCE8-28D3A7432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76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equation(9) has a double root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(12)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(13)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(14)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0FE1FE82-58BE-6A8D-F5DD-757EBAF4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248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−1−9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E85395A-30CE-B882-8351-CDD732233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050" y="2979250"/>
            <a:ext cx="5429250" cy="234315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9D22FFFB-EEE0-7DBF-FFB2-6FE86C97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169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27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400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8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4009046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35A3CA37-8779-BAB0-8006-08D7743A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83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28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4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3: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equation(12)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(15)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two imaginary solution: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(16)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(14)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44467"/>
              </a:xfrm>
              <a:prstGeom prst="rect">
                <a:avLst/>
              </a:prstGeom>
              <a:blipFill>
                <a:blip r:embed="rId4"/>
                <a:stretch>
                  <a:fillRect l="-667" b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20DFCE-FD93-FB9F-81B8-4DF4A3E0C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025" y="3403600"/>
            <a:ext cx="3257550" cy="962025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64759D63-5F3C-A36E-5172-B059815A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17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29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n&gt;1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AC755B8C-8D0D-F8AD-1707-18765B603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526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601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4: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..c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real numbers. Assume that the characteristic equation(15)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000" b="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sSub>
                      <m:sSubPr>
                        <m:ctrlPr>
                          <a:rPr lang="en-US" sz="2000" b="0" i="1" baseline="3000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baseline="3000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b="0" i="1" baseline="3000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_1</m:t>
                        </m:r>
                      </m:e>
                      <m:sub/>
                    </m:sSub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−…−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(17)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k difference solutions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 </a:t>
                </a:r>
                <a:r>
                  <a:rPr lang="en-US" sz="2000" b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="1" baseline="-25000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−2+…+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(18)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(19)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601020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5A6C4D71-F98D-FA06-12E8-1EB230208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08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−1−11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+6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−2+6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−1+5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09A9584C-16A0-C128-111A-25EE89989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525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−1−10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−1−8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−1−9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−1−5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9300F0C3-2519-57EF-6500-EA38AB8E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93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150448"/>
            <a:ext cx="814056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4.2. SOLVE THE PROBLEM WITH THE MODEL OF REGRESSION.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35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1: Hanoi tower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2: Fibonacci sequence (group working)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3: Factorial (group working)</a:t>
            </a: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aseline="-2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11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150448"/>
            <a:ext cx="814056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4.2. SOLVE THE PROBLEM WITH THE MODEL OF REGRESSION.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1671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1: Hanoi tower</a:t>
            </a: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aseline="-2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AB52A3-5F28-2CD7-1E53-EA96EEE30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43429"/>
            <a:ext cx="5184034" cy="3514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76BADD-422D-3E5A-07A3-C865E8E10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480" y="2472782"/>
            <a:ext cx="30003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68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528851" y="2450665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tx2"/>
                </a:solidFill>
                <a:latin typeface="Times New Roman" panose="02020603050405020304" pitchFamily="18" charset="0"/>
                <a:ea typeface="굴림" pitchFamily="34" charset="-127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BE994F5-821C-499E-8BCE-89F9FB45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0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53580</TotalTime>
  <Words>3014</Words>
  <Application>Microsoft Office PowerPoint</Application>
  <PresentationFormat>On-screen Show (4:3)</PresentationFormat>
  <Paragraphs>369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-apple-system</vt:lpstr>
      <vt:lpstr>Arial</vt:lpstr>
      <vt:lpstr>Calibri</vt:lpstr>
      <vt:lpstr>Cambria Math</vt:lpstr>
      <vt:lpstr>ff14</vt:lpstr>
      <vt:lpstr>ff7</vt:lpstr>
      <vt:lpstr>Roboto</vt:lpstr>
      <vt:lpstr>Times New Roman</vt:lpstr>
      <vt:lpstr>Office Theme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HNBach</dc:creator>
  <cp:lastModifiedBy>Nguyen Le Phu</cp:lastModifiedBy>
  <cp:revision>833</cp:revision>
  <cp:lastPrinted>2019-07-29T14:20:40Z</cp:lastPrinted>
  <dcterms:created xsi:type="dcterms:W3CDTF">2010-12-10T06:50:09Z</dcterms:created>
  <dcterms:modified xsi:type="dcterms:W3CDTF">2023-08-02T06:36:09Z</dcterms:modified>
</cp:coreProperties>
</file>