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xml" ContentType="application/vnd.openxmlformats-officedocument.presentationml.tags+xml"/>
  <Override PartName="/ppt/notesSlides/notesSlide31.xml" ContentType="application/vnd.openxmlformats-officedocument.presentationml.notesSlide+xml"/>
  <Override PartName="/ppt/tags/tag2.xml" ContentType="application/vnd.openxmlformats-officedocument.presentationml.tags+xml"/>
  <Override PartName="/ppt/notesSlides/notesSlide32.xml" ContentType="application/vnd.openxmlformats-officedocument.presentationml.notesSlide+xml"/>
  <Override PartName="/ppt/tags/tag3.xml" ContentType="application/vnd.openxmlformats-officedocument.presentationml.tags+xml"/>
  <Override PartName="/ppt/notesSlides/notesSlide33.xml" ContentType="application/vnd.openxmlformats-officedocument.presentationml.notesSlide+xml"/>
  <Override PartName="/ppt/tags/tag4.xml" ContentType="application/vnd.openxmlformats-officedocument.presentationml.tags+xml"/>
  <Override PartName="/ppt/notesSlides/notesSlide34.xml" ContentType="application/vnd.openxmlformats-officedocument.presentationml.notesSlide+xml"/>
  <Override PartName="/ppt/tags/tag5.xml" ContentType="application/vnd.openxmlformats-officedocument.presentationml.tags+xml"/>
  <Override PartName="/ppt/notesSlides/notesSlide35.xml" ContentType="application/vnd.openxmlformats-officedocument.presentationml.notesSlide+xml"/>
  <Override PartName="/ppt/tags/tag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41"/>
  </p:notesMasterIdLst>
  <p:handoutMasterIdLst>
    <p:handoutMasterId r:id="rId42"/>
  </p:handoutMasterIdLst>
  <p:sldIdLst>
    <p:sldId id="258" r:id="rId2"/>
    <p:sldId id="336" r:id="rId3"/>
    <p:sldId id="372" r:id="rId4"/>
    <p:sldId id="373" r:id="rId5"/>
    <p:sldId id="374" r:id="rId6"/>
    <p:sldId id="375" r:id="rId7"/>
    <p:sldId id="377" r:id="rId8"/>
    <p:sldId id="376" r:id="rId9"/>
    <p:sldId id="379" r:id="rId10"/>
    <p:sldId id="386" r:id="rId11"/>
    <p:sldId id="378" r:id="rId12"/>
    <p:sldId id="380" r:id="rId13"/>
    <p:sldId id="381" r:id="rId14"/>
    <p:sldId id="382" r:id="rId15"/>
    <p:sldId id="383" r:id="rId16"/>
    <p:sldId id="384" r:id="rId17"/>
    <p:sldId id="387" r:id="rId18"/>
    <p:sldId id="388" r:id="rId19"/>
    <p:sldId id="389" r:id="rId20"/>
    <p:sldId id="390" r:id="rId21"/>
    <p:sldId id="391" r:id="rId22"/>
    <p:sldId id="392" r:id="rId23"/>
    <p:sldId id="393" r:id="rId24"/>
    <p:sldId id="394" r:id="rId25"/>
    <p:sldId id="395" r:id="rId26"/>
    <p:sldId id="396" r:id="rId27"/>
    <p:sldId id="397" r:id="rId28"/>
    <p:sldId id="398" r:id="rId29"/>
    <p:sldId id="399" r:id="rId30"/>
    <p:sldId id="402" r:id="rId31"/>
    <p:sldId id="291" r:id="rId32"/>
    <p:sldId id="293" r:id="rId33"/>
    <p:sldId id="297" r:id="rId34"/>
    <p:sldId id="294" r:id="rId35"/>
    <p:sldId id="295" r:id="rId36"/>
    <p:sldId id="299" r:id="rId37"/>
    <p:sldId id="403" r:id="rId38"/>
    <p:sldId id="405" r:id="rId39"/>
    <p:sldId id="353" r:id="rId40"/>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3842" autoAdjust="0"/>
  </p:normalViewPr>
  <p:slideViewPr>
    <p:cSldViewPr>
      <p:cViewPr varScale="1">
        <p:scale>
          <a:sx n="111" d="100"/>
          <a:sy n="111" d="100"/>
        </p:scale>
        <p:origin x="906" y="78"/>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8/14/2023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8/14/2023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219887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254796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898452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151118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1483084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3023299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1850005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3911602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2127222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723930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10835391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1812613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2028030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2186167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4280862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3296562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3627380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33419823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1085727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14749355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23</a:t>
            </a:fld>
            <a:endParaRPr lang="en-US"/>
          </a:p>
        </p:txBody>
      </p:sp>
    </p:spTree>
    <p:extLst>
      <p:ext uri="{BB962C8B-B14F-4D97-AF65-F5344CB8AC3E}">
        <p14:creationId xmlns:p14="http://schemas.microsoft.com/office/powerpoint/2010/main" val="9447794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24</a:t>
            </a:fld>
            <a:endParaRPr lang="en-US"/>
          </a:p>
        </p:txBody>
      </p:sp>
    </p:spTree>
    <p:extLst>
      <p:ext uri="{BB962C8B-B14F-4D97-AF65-F5344CB8AC3E}">
        <p14:creationId xmlns:p14="http://schemas.microsoft.com/office/powerpoint/2010/main" val="20563902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25</a:t>
            </a:fld>
            <a:endParaRPr lang="en-US"/>
          </a:p>
        </p:txBody>
      </p:sp>
    </p:spTree>
    <p:extLst>
      <p:ext uri="{BB962C8B-B14F-4D97-AF65-F5344CB8AC3E}">
        <p14:creationId xmlns:p14="http://schemas.microsoft.com/office/powerpoint/2010/main" val="3715678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26</a:t>
            </a:fld>
            <a:endParaRPr lang="en-US"/>
          </a:p>
        </p:txBody>
      </p:sp>
    </p:spTree>
    <p:extLst>
      <p:ext uri="{BB962C8B-B14F-4D97-AF65-F5344CB8AC3E}">
        <p14:creationId xmlns:p14="http://schemas.microsoft.com/office/powerpoint/2010/main" val="187530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27</a:t>
            </a:fld>
            <a:endParaRPr lang="en-US"/>
          </a:p>
        </p:txBody>
      </p:sp>
    </p:spTree>
    <p:extLst>
      <p:ext uri="{BB962C8B-B14F-4D97-AF65-F5344CB8AC3E}">
        <p14:creationId xmlns:p14="http://schemas.microsoft.com/office/powerpoint/2010/main" val="2801354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28</a:t>
            </a:fld>
            <a:endParaRPr lang="en-US"/>
          </a:p>
        </p:txBody>
      </p:sp>
    </p:spTree>
    <p:extLst>
      <p:ext uri="{BB962C8B-B14F-4D97-AF65-F5344CB8AC3E}">
        <p14:creationId xmlns:p14="http://schemas.microsoft.com/office/powerpoint/2010/main" val="7994143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29</a:t>
            </a:fld>
            <a:endParaRPr lang="en-US"/>
          </a:p>
        </p:txBody>
      </p:sp>
    </p:spTree>
    <p:extLst>
      <p:ext uri="{BB962C8B-B14F-4D97-AF65-F5344CB8AC3E}">
        <p14:creationId xmlns:p14="http://schemas.microsoft.com/office/powerpoint/2010/main" val="1731217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30</a:t>
            </a:fld>
            <a:endParaRPr lang="en-US"/>
          </a:p>
        </p:txBody>
      </p:sp>
    </p:spTree>
    <p:extLst>
      <p:ext uri="{BB962C8B-B14F-4D97-AF65-F5344CB8AC3E}">
        <p14:creationId xmlns:p14="http://schemas.microsoft.com/office/powerpoint/2010/main" val="9163655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D196FA7-6E42-09E3-5689-3F077D16FD3E}"/>
              </a:ext>
            </a:extLst>
          </p:cNvPr>
          <p:cNvSpPr>
            <a:spLocks noGrp="1" noChangeArrowheads="1"/>
          </p:cNvSpPr>
          <p:nvPr>
            <p:ph type="sldNum" sz="quarter" idx="5"/>
          </p:nvPr>
        </p:nvSpPr>
        <p:spPr>
          <a:ln/>
        </p:spPr>
        <p:txBody>
          <a:bodyPr/>
          <a:lstStyle/>
          <a:p>
            <a:fld id="{714562B5-F01B-4CD1-B124-58AEF8FBF9CE}" type="slidenum">
              <a:rPr lang="en-US" altLang="en-US"/>
              <a:pPr/>
              <a:t>31</a:t>
            </a:fld>
            <a:endParaRPr lang="en-US" altLang="en-US"/>
          </a:p>
        </p:txBody>
      </p:sp>
      <p:sp>
        <p:nvSpPr>
          <p:cNvPr id="160770" name="Rectangle 2">
            <a:extLst>
              <a:ext uri="{FF2B5EF4-FFF2-40B4-BE49-F238E27FC236}">
                <a16:creationId xmlns:a16="http://schemas.microsoft.com/office/drawing/2014/main" id="{97B85FF6-1B37-EE50-FE7C-D4DE788BCBF3}"/>
              </a:ext>
            </a:extLst>
          </p:cNvPr>
          <p:cNvSpPr>
            <a:spLocks noRot="1" noChangeArrowheads="1" noTextEdit="1"/>
          </p:cNvSpPr>
          <p:nvPr>
            <p:ph type="sldImg"/>
          </p:nvPr>
        </p:nvSpPr>
        <p:spPr>
          <a:ln/>
        </p:spPr>
      </p:sp>
      <p:sp>
        <p:nvSpPr>
          <p:cNvPr id="160771" name="Rectangle 3">
            <a:extLst>
              <a:ext uri="{FF2B5EF4-FFF2-40B4-BE49-F238E27FC236}">
                <a16:creationId xmlns:a16="http://schemas.microsoft.com/office/drawing/2014/main" id="{B2ABEC59-33D3-A748-87E6-24AFCDB9212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299D365-59C8-A41A-AB41-87A9861DFBD7}"/>
              </a:ext>
            </a:extLst>
          </p:cNvPr>
          <p:cNvSpPr>
            <a:spLocks noGrp="1" noChangeArrowheads="1"/>
          </p:cNvSpPr>
          <p:nvPr>
            <p:ph type="sldNum" sz="quarter" idx="5"/>
          </p:nvPr>
        </p:nvSpPr>
        <p:spPr>
          <a:ln/>
        </p:spPr>
        <p:txBody>
          <a:bodyPr/>
          <a:lstStyle/>
          <a:p>
            <a:fld id="{F3FD0480-C3C4-478F-AA40-F07E1641F718}" type="slidenum">
              <a:rPr lang="en-US" altLang="en-US"/>
              <a:pPr/>
              <a:t>32</a:t>
            </a:fld>
            <a:endParaRPr lang="en-US" altLang="en-US"/>
          </a:p>
        </p:txBody>
      </p:sp>
      <p:sp>
        <p:nvSpPr>
          <p:cNvPr id="164866" name="Rectangle 2">
            <a:extLst>
              <a:ext uri="{FF2B5EF4-FFF2-40B4-BE49-F238E27FC236}">
                <a16:creationId xmlns:a16="http://schemas.microsoft.com/office/drawing/2014/main" id="{45CB2138-9B99-8F36-A859-4EFB105FE34B}"/>
              </a:ext>
            </a:extLst>
          </p:cNvPr>
          <p:cNvSpPr>
            <a:spLocks noRot="1" noChangeArrowheads="1" noTextEdit="1"/>
          </p:cNvSpPr>
          <p:nvPr>
            <p:ph type="sldImg"/>
          </p:nvPr>
        </p:nvSpPr>
        <p:spPr>
          <a:ln/>
        </p:spPr>
      </p:sp>
      <p:sp>
        <p:nvSpPr>
          <p:cNvPr id="164867" name="Rectangle 3">
            <a:extLst>
              <a:ext uri="{FF2B5EF4-FFF2-40B4-BE49-F238E27FC236}">
                <a16:creationId xmlns:a16="http://schemas.microsoft.com/office/drawing/2014/main" id="{F4B9881A-35D6-C99D-DC94-F5DC57710E0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532E403-7142-BAAD-3ED4-3C576F820DE5}"/>
              </a:ext>
            </a:extLst>
          </p:cNvPr>
          <p:cNvSpPr>
            <a:spLocks noGrp="1" noChangeArrowheads="1"/>
          </p:cNvSpPr>
          <p:nvPr>
            <p:ph type="sldNum" sz="quarter" idx="5"/>
          </p:nvPr>
        </p:nvSpPr>
        <p:spPr>
          <a:ln/>
        </p:spPr>
        <p:txBody>
          <a:bodyPr/>
          <a:lstStyle/>
          <a:p>
            <a:fld id="{80C6AE11-039A-470E-8FF2-A1DC5A01F2D3}" type="slidenum">
              <a:rPr lang="en-US" altLang="en-US"/>
              <a:pPr/>
              <a:t>33</a:t>
            </a:fld>
            <a:endParaRPr lang="en-US" altLang="en-US"/>
          </a:p>
        </p:txBody>
      </p:sp>
      <p:sp>
        <p:nvSpPr>
          <p:cNvPr id="175106" name="Rectangle 2">
            <a:extLst>
              <a:ext uri="{FF2B5EF4-FFF2-40B4-BE49-F238E27FC236}">
                <a16:creationId xmlns:a16="http://schemas.microsoft.com/office/drawing/2014/main" id="{E2C6D764-27EF-8362-4E5E-AF35837FCEA0}"/>
              </a:ext>
            </a:extLst>
          </p:cNvPr>
          <p:cNvSpPr>
            <a:spLocks noRot="1" noChangeArrowheads="1" noTextEdit="1"/>
          </p:cNvSpPr>
          <p:nvPr>
            <p:ph type="sldImg"/>
          </p:nvPr>
        </p:nvSpPr>
        <p:spPr>
          <a:ln/>
        </p:spPr>
      </p:sp>
      <p:sp>
        <p:nvSpPr>
          <p:cNvPr id="175107" name="Rectangle 3">
            <a:extLst>
              <a:ext uri="{FF2B5EF4-FFF2-40B4-BE49-F238E27FC236}">
                <a16:creationId xmlns:a16="http://schemas.microsoft.com/office/drawing/2014/main" id="{5EC5F4C3-7B73-5EE0-09A0-F8F2DD6A0D7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FF04297-D81F-9BEC-BA7A-932C2ACB0632}"/>
              </a:ext>
            </a:extLst>
          </p:cNvPr>
          <p:cNvSpPr>
            <a:spLocks noGrp="1" noChangeArrowheads="1"/>
          </p:cNvSpPr>
          <p:nvPr>
            <p:ph type="sldNum" sz="quarter" idx="5"/>
          </p:nvPr>
        </p:nvSpPr>
        <p:spPr>
          <a:ln/>
        </p:spPr>
        <p:txBody>
          <a:bodyPr/>
          <a:lstStyle/>
          <a:p>
            <a:fld id="{2C97F39F-0DC2-408E-B0AB-E082D2BE29DC}" type="slidenum">
              <a:rPr lang="en-US" altLang="en-US"/>
              <a:pPr/>
              <a:t>34</a:t>
            </a:fld>
            <a:endParaRPr lang="en-US" altLang="en-US"/>
          </a:p>
        </p:txBody>
      </p:sp>
      <p:sp>
        <p:nvSpPr>
          <p:cNvPr id="166914" name="Rectangle 2">
            <a:extLst>
              <a:ext uri="{FF2B5EF4-FFF2-40B4-BE49-F238E27FC236}">
                <a16:creationId xmlns:a16="http://schemas.microsoft.com/office/drawing/2014/main" id="{BA45D090-EE00-D3CA-8331-209236EE4198}"/>
              </a:ext>
            </a:extLst>
          </p:cNvPr>
          <p:cNvSpPr>
            <a:spLocks noRot="1" noChangeArrowheads="1" noTextEdit="1"/>
          </p:cNvSpPr>
          <p:nvPr>
            <p:ph type="sldImg"/>
          </p:nvPr>
        </p:nvSpPr>
        <p:spPr>
          <a:ln/>
        </p:spPr>
      </p:sp>
      <p:sp>
        <p:nvSpPr>
          <p:cNvPr id="166915" name="Rectangle 3">
            <a:extLst>
              <a:ext uri="{FF2B5EF4-FFF2-40B4-BE49-F238E27FC236}">
                <a16:creationId xmlns:a16="http://schemas.microsoft.com/office/drawing/2014/main" id="{A9ED98F3-F7F7-6BAC-F084-D295BBBE85D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D7D918-1D89-0CA2-005D-1C53632279A5}"/>
              </a:ext>
            </a:extLst>
          </p:cNvPr>
          <p:cNvSpPr>
            <a:spLocks noGrp="1" noChangeArrowheads="1"/>
          </p:cNvSpPr>
          <p:nvPr>
            <p:ph type="sldNum" sz="quarter" idx="5"/>
          </p:nvPr>
        </p:nvSpPr>
        <p:spPr>
          <a:ln/>
        </p:spPr>
        <p:txBody>
          <a:bodyPr/>
          <a:lstStyle/>
          <a:p>
            <a:fld id="{8D6AFC30-93D2-4232-AFA8-939689479BF0}" type="slidenum">
              <a:rPr lang="en-US" altLang="en-US"/>
              <a:pPr/>
              <a:t>35</a:t>
            </a:fld>
            <a:endParaRPr lang="en-US" altLang="en-US"/>
          </a:p>
        </p:txBody>
      </p:sp>
      <p:sp>
        <p:nvSpPr>
          <p:cNvPr id="168962" name="Rectangle 2">
            <a:extLst>
              <a:ext uri="{FF2B5EF4-FFF2-40B4-BE49-F238E27FC236}">
                <a16:creationId xmlns:a16="http://schemas.microsoft.com/office/drawing/2014/main" id="{ABF73D02-83D2-C630-D737-57EF8C539D07}"/>
              </a:ext>
            </a:extLst>
          </p:cNvPr>
          <p:cNvSpPr>
            <a:spLocks noRot="1" noChangeArrowheads="1" noTextEdit="1"/>
          </p:cNvSpPr>
          <p:nvPr>
            <p:ph type="sldImg"/>
          </p:nvPr>
        </p:nvSpPr>
        <p:spPr>
          <a:ln/>
        </p:spPr>
      </p:sp>
      <p:sp>
        <p:nvSpPr>
          <p:cNvPr id="168963" name="Rectangle 3">
            <a:extLst>
              <a:ext uri="{FF2B5EF4-FFF2-40B4-BE49-F238E27FC236}">
                <a16:creationId xmlns:a16="http://schemas.microsoft.com/office/drawing/2014/main" id="{00AFB81A-C0CA-3948-89C8-18073F549E4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5D8ADD-73DC-BE16-FCBA-0633FCF2882B}"/>
              </a:ext>
            </a:extLst>
          </p:cNvPr>
          <p:cNvSpPr>
            <a:spLocks noGrp="1" noChangeArrowheads="1"/>
          </p:cNvSpPr>
          <p:nvPr>
            <p:ph type="sldNum" sz="quarter" idx="5"/>
          </p:nvPr>
        </p:nvSpPr>
        <p:spPr>
          <a:ln/>
        </p:spPr>
        <p:txBody>
          <a:bodyPr/>
          <a:lstStyle/>
          <a:p>
            <a:fld id="{6A875D4D-81C4-4FDF-A06D-5B766AB7A193}" type="slidenum">
              <a:rPr lang="en-US" altLang="en-US"/>
              <a:pPr/>
              <a:t>36</a:t>
            </a:fld>
            <a:endParaRPr lang="en-US" altLang="en-US"/>
          </a:p>
        </p:txBody>
      </p:sp>
      <p:sp>
        <p:nvSpPr>
          <p:cNvPr id="179202" name="Rectangle 2">
            <a:extLst>
              <a:ext uri="{FF2B5EF4-FFF2-40B4-BE49-F238E27FC236}">
                <a16:creationId xmlns:a16="http://schemas.microsoft.com/office/drawing/2014/main" id="{F65B86B9-FD42-9841-4FD9-B6DBD8CD2442}"/>
              </a:ext>
            </a:extLst>
          </p:cNvPr>
          <p:cNvSpPr>
            <a:spLocks noRot="1" noChangeArrowheads="1" noTextEdit="1"/>
          </p:cNvSpPr>
          <p:nvPr>
            <p:ph type="sldImg"/>
          </p:nvPr>
        </p:nvSpPr>
        <p:spPr>
          <a:ln/>
        </p:spPr>
      </p:sp>
      <p:sp>
        <p:nvSpPr>
          <p:cNvPr id="179203" name="Rectangle 3">
            <a:extLst>
              <a:ext uri="{FF2B5EF4-FFF2-40B4-BE49-F238E27FC236}">
                <a16:creationId xmlns:a16="http://schemas.microsoft.com/office/drawing/2014/main" id="{14751ABD-C43F-E0A5-D030-B8564A7A7FC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37</a:t>
            </a:fld>
            <a:endParaRPr lang="en-US"/>
          </a:p>
        </p:txBody>
      </p:sp>
    </p:spTree>
    <p:extLst>
      <p:ext uri="{BB962C8B-B14F-4D97-AF65-F5344CB8AC3E}">
        <p14:creationId xmlns:p14="http://schemas.microsoft.com/office/powerpoint/2010/main" val="35395068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38</a:t>
            </a:fld>
            <a:endParaRPr lang="en-US"/>
          </a:p>
        </p:txBody>
      </p:sp>
    </p:spTree>
    <p:extLst>
      <p:ext uri="{BB962C8B-B14F-4D97-AF65-F5344CB8AC3E}">
        <p14:creationId xmlns:p14="http://schemas.microsoft.com/office/powerpoint/2010/main" val="3469165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39</a:t>
            </a:fld>
            <a:endParaRPr lang="en-US"/>
          </a:p>
        </p:txBody>
      </p:sp>
    </p:spTree>
    <p:extLst>
      <p:ext uri="{BB962C8B-B14F-4D97-AF65-F5344CB8AC3E}">
        <p14:creationId xmlns:p14="http://schemas.microsoft.com/office/powerpoint/2010/main" val="25158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8/14/2023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8/14/2023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8/14/2023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8/14/2023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8/14/2023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8/14/2023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7898" name="Rectangle 10">
            <a:extLst>
              <a:ext uri="{FF2B5EF4-FFF2-40B4-BE49-F238E27FC236}">
                <a16:creationId xmlns:a16="http://schemas.microsoft.com/office/drawing/2014/main" id="{2ED57D17-3332-4DB1-93FC-A156A35CF269}"/>
              </a:ext>
            </a:extLst>
          </p:cNvPr>
          <p:cNvSpPr>
            <a:spLocks noChangeArrowheads="1"/>
          </p:cNvSpPr>
          <p:nvPr userDrawn="1"/>
        </p:nvSpPr>
        <p:spPr bwMode="auto">
          <a:xfrm>
            <a:off x="0" y="2330450"/>
            <a:ext cx="8991600" cy="2241550"/>
          </a:xfrm>
          <a:prstGeom prst="rect">
            <a:avLst/>
          </a:prstGeom>
          <a:gradFill rotWithShape="1">
            <a:gsLst>
              <a:gs pos="0">
                <a:srgbClr val="3399FF"/>
              </a:gs>
              <a:gs pos="50000">
                <a:schemeClr val="hlink"/>
              </a:gs>
              <a:gs pos="100000">
                <a:srgbClr val="3399FF"/>
              </a:gs>
            </a:gsLst>
            <a:lin ang="2700000" scaled="1"/>
          </a:gra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02" name="Rectangle 14">
            <a:extLst>
              <a:ext uri="{FF2B5EF4-FFF2-40B4-BE49-F238E27FC236}">
                <a16:creationId xmlns:a16="http://schemas.microsoft.com/office/drawing/2014/main" id="{B4558974-4AAD-D035-5175-69C8EDC90ABC}"/>
              </a:ext>
            </a:extLst>
          </p:cNvPr>
          <p:cNvSpPr>
            <a:spLocks noChangeArrowheads="1"/>
          </p:cNvSpPr>
          <p:nvPr userDrawn="1"/>
        </p:nvSpPr>
        <p:spPr bwMode="auto">
          <a:xfrm>
            <a:off x="457200" y="457200"/>
            <a:ext cx="8153400" cy="5791200"/>
          </a:xfrm>
          <a:prstGeom prst="rect">
            <a:avLst/>
          </a:prstGeom>
          <a:solidFill>
            <a:srgbClr val="FFFFFF"/>
          </a:solidFill>
          <a:ln w="28575">
            <a:solidFill>
              <a:srgbClr val="9966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03" name="Text Box 15">
            <a:extLst>
              <a:ext uri="{FF2B5EF4-FFF2-40B4-BE49-F238E27FC236}">
                <a16:creationId xmlns:a16="http://schemas.microsoft.com/office/drawing/2014/main" id="{F504D078-FF97-8C86-3DE9-03E2FB96195C}"/>
              </a:ext>
            </a:extLst>
          </p:cNvPr>
          <p:cNvSpPr txBox="1">
            <a:spLocks noChangeArrowheads="1"/>
          </p:cNvSpPr>
          <p:nvPr userDrawn="1"/>
        </p:nvSpPr>
        <p:spPr bwMode="auto">
          <a:xfrm>
            <a:off x="3886200" y="6400800"/>
            <a:ext cx="5105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200">
                <a:solidFill>
                  <a:srgbClr val="996633"/>
                </a:solidFill>
              </a:rPr>
              <a:t>© 2009 Pearson Education, Upper Saddle River, NJ 07458. All Rights Reserved</a:t>
            </a:r>
          </a:p>
        </p:txBody>
      </p:sp>
      <p:sp>
        <p:nvSpPr>
          <p:cNvPr id="37904" name="Text Box 16">
            <a:extLst>
              <a:ext uri="{FF2B5EF4-FFF2-40B4-BE49-F238E27FC236}">
                <a16:creationId xmlns:a16="http://schemas.microsoft.com/office/drawing/2014/main" id="{1F7349B3-2FCF-1564-BB53-51132F7D4792}"/>
              </a:ext>
            </a:extLst>
          </p:cNvPr>
          <p:cNvSpPr txBox="1">
            <a:spLocks noChangeArrowheads="1"/>
          </p:cNvSpPr>
          <p:nvPr userDrawn="1"/>
        </p:nvSpPr>
        <p:spPr bwMode="auto">
          <a:xfrm>
            <a:off x="152400" y="6400800"/>
            <a:ext cx="281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a:solidFill>
                  <a:srgbClr val="FFFFFF"/>
                </a:solidFill>
              </a:rPr>
              <a:t>Floyd, Digital Fundamentals, 10</a:t>
            </a:r>
            <a:r>
              <a:rPr lang="en-US" altLang="en-US" sz="1200" b="1" baseline="30000">
                <a:solidFill>
                  <a:srgbClr val="FFFFFF"/>
                </a:solidFill>
              </a:rPr>
              <a:t>th</a:t>
            </a:r>
            <a:r>
              <a:rPr lang="en-US" altLang="en-US" sz="1200" b="1">
                <a:solidFill>
                  <a:srgbClr val="FFFFFF"/>
                </a:solidFill>
              </a:rPr>
              <a:t> ed</a:t>
            </a:r>
          </a:p>
        </p:txBody>
      </p:sp>
    </p:spTree>
    <p:extLst>
      <p:ext uri="{BB962C8B-B14F-4D97-AF65-F5344CB8AC3E}">
        <p14:creationId xmlns:p14="http://schemas.microsoft.com/office/powerpoint/2010/main" val="3498789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8/14/2023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15.emf"/><Relationship Id="rId5" Type="http://schemas.openxmlformats.org/officeDocument/2006/relationships/oleObject" Target="../embeddings/oleObject1.bin"/><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16.emf"/><Relationship Id="rId5" Type="http://schemas.openxmlformats.org/officeDocument/2006/relationships/oleObject" Target="../embeddings/oleObject2.bin"/><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notesSlide" Target="../notesSlides/notesSlide33.xml"/><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15.emf"/><Relationship Id="rId5" Type="http://schemas.openxmlformats.org/officeDocument/2006/relationships/oleObject" Target="../embeddings/oleObject3.bin"/><Relationship Id="rId10" Type="http://schemas.openxmlformats.org/officeDocument/2006/relationships/image" Target="../media/image18.emf"/><Relationship Id="rId4" Type="http://schemas.openxmlformats.org/officeDocument/2006/relationships/image" Target="../media/image2.png"/><Relationship Id="rId9"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notesSlide" Target="../notesSlides/notesSlide34.xml"/><Relationship Id="rId7"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21.emf"/><Relationship Id="rId5" Type="http://schemas.openxmlformats.org/officeDocument/2006/relationships/oleObject" Target="../embeddings/oleObject8.bin"/><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notesSlide" Target="../notesSlides/notesSlide36.xml"/><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22.emf"/><Relationship Id="rId5" Type="http://schemas.openxmlformats.org/officeDocument/2006/relationships/oleObject" Target="../embeddings/oleObject9.bin"/><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sz="2200" b="1" dirty="0">
                <a:solidFill>
                  <a:schemeClr val="bg1"/>
                </a:solidFill>
                <a:latin typeface="Times New Roman" panose="02020603050405020304" pitchFamily="18" charset="0"/>
              </a:rPr>
              <a:t>Chapter 5: </a:t>
            </a:r>
          </a:p>
          <a:p>
            <a:pPr algn="ctr" eaLnBrk="0" hangingPunct="0">
              <a:lnSpc>
                <a:spcPct val="150000"/>
              </a:lnSpc>
              <a:defRPr/>
            </a:pPr>
            <a:r>
              <a:rPr lang="en-US" sz="2200" b="1" dirty="0">
                <a:solidFill>
                  <a:schemeClr val="bg1"/>
                </a:solidFill>
                <a:latin typeface="Times New Roman" panose="02020603050405020304" pitchFamily="18" charset="0"/>
              </a:rPr>
              <a:t>BOOLEAN ALGEBRA</a:t>
            </a:r>
            <a:endParaRPr lang="en-US" altLang="ko-KR" sz="2200" b="1" dirty="0">
              <a:solidFill>
                <a:schemeClr val="bg1"/>
              </a:solidFill>
              <a:latin typeface="Times New Roman" panose="02020603050405020304"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Introduction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959691"/>
          </a:xfrm>
          <a:prstGeom prst="rect">
            <a:avLst/>
          </a:prstGeom>
          <a:noFill/>
          <a:ln w="9525">
            <a:noFill/>
            <a:miter lim="800000"/>
            <a:headEnd/>
            <a:tailEnd/>
          </a:ln>
        </p:spPr>
        <p:txBody>
          <a:bodyPr wrap="square">
            <a:spAutoFit/>
          </a:bodyPr>
          <a:lstStyle/>
          <a:p>
            <a:pPr algn="just">
              <a:lnSpc>
                <a:spcPct val="150000"/>
              </a:lnSpc>
              <a:defRPr/>
            </a:pPr>
            <a:r>
              <a:rPr lang="en-US" sz="1900" b="1" dirty="0">
                <a:solidFill>
                  <a:schemeClr val="tx2"/>
                </a:solidFill>
                <a:latin typeface="Times New Roman" pitchFamily="18" charset="0"/>
                <a:cs typeface="Times New Roman" pitchFamily="18" charset="0"/>
              </a:rPr>
              <a:t>5.1. DEFINITION. </a:t>
            </a:r>
          </a:p>
          <a:p>
            <a:pPr algn="just">
              <a:lnSpc>
                <a:spcPct val="150000"/>
              </a:lnSpc>
              <a:defRPr/>
            </a:pPr>
            <a:r>
              <a:rPr lang="en-US" sz="1900" b="1" dirty="0">
                <a:solidFill>
                  <a:schemeClr val="tx2"/>
                </a:solidFill>
                <a:latin typeface="Times New Roman" pitchFamily="18" charset="0"/>
                <a:cs typeface="Times New Roman" pitchFamily="18" charset="0"/>
              </a:rPr>
              <a:t>	5.1.1 Definition of Boolean algebra. </a:t>
            </a:r>
          </a:p>
          <a:p>
            <a:pPr algn="just">
              <a:lnSpc>
                <a:spcPct val="150000"/>
              </a:lnSpc>
              <a:defRPr/>
            </a:pPr>
            <a:r>
              <a:rPr lang="en-US" sz="1900" b="1" dirty="0">
                <a:solidFill>
                  <a:schemeClr val="tx2"/>
                </a:solidFill>
                <a:latin typeface="Times New Roman" pitchFamily="18" charset="0"/>
                <a:cs typeface="Times New Roman" pitchFamily="18" charset="0"/>
              </a:rPr>
              <a:t>	5.1.2. Properties. </a:t>
            </a:r>
          </a:p>
          <a:p>
            <a:pPr algn="just">
              <a:lnSpc>
                <a:spcPct val="150000"/>
              </a:lnSpc>
              <a:defRPr/>
            </a:pPr>
            <a:r>
              <a:rPr lang="en-US" sz="1900" b="1" dirty="0">
                <a:solidFill>
                  <a:schemeClr val="tx2"/>
                </a:solidFill>
                <a:latin typeface="Times New Roman" pitchFamily="18" charset="0"/>
                <a:cs typeface="Times New Roman" pitchFamily="18" charset="0"/>
              </a:rPr>
              <a:t>5.2. BOOLEAN FUNCTION.</a:t>
            </a:r>
          </a:p>
          <a:p>
            <a:pPr algn="just">
              <a:lnSpc>
                <a:spcPct val="150000"/>
              </a:lnSpc>
              <a:defRPr/>
            </a:pPr>
            <a:r>
              <a:rPr lang="en-US" sz="1900" b="1" dirty="0">
                <a:solidFill>
                  <a:schemeClr val="tx2"/>
                </a:solidFill>
                <a:latin typeface="Times New Roman" pitchFamily="18" charset="0"/>
                <a:cs typeface="Times New Roman" pitchFamily="18" charset="0"/>
              </a:rPr>
              <a:t>	 5.2.1. Definition </a:t>
            </a:r>
          </a:p>
          <a:p>
            <a:pPr algn="just">
              <a:lnSpc>
                <a:spcPct val="150000"/>
              </a:lnSpc>
              <a:defRPr/>
            </a:pPr>
            <a:r>
              <a:rPr lang="en-US" sz="1900" b="1" dirty="0">
                <a:solidFill>
                  <a:schemeClr val="tx2"/>
                </a:solidFill>
                <a:latin typeface="Times New Roman" pitchFamily="18" charset="0"/>
                <a:cs typeface="Times New Roman" pitchFamily="18" charset="0"/>
              </a:rPr>
              <a:t>	5.2.2. Performance. </a:t>
            </a:r>
          </a:p>
          <a:p>
            <a:pPr algn="just">
              <a:lnSpc>
                <a:spcPct val="150000"/>
              </a:lnSpc>
              <a:defRPr/>
            </a:pPr>
            <a:r>
              <a:rPr lang="en-US" sz="1900" b="1" dirty="0">
                <a:solidFill>
                  <a:schemeClr val="tx2"/>
                </a:solidFill>
                <a:latin typeface="Times New Roman" pitchFamily="18" charset="0"/>
                <a:cs typeface="Times New Roman" pitchFamily="18" charset="0"/>
              </a:rPr>
              <a:t>	5.2.3. Logic gates </a:t>
            </a:r>
          </a:p>
          <a:p>
            <a:pPr algn="just">
              <a:lnSpc>
                <a:spcPct val="150000"/>
              </a:lnSpc>
              <a:defRPr/>
            </a:pPr>
            <a:r>
              <a:rPr lang="en-US" sz="1900" b="1" dirty="0">
                <a:solidFill>
                  <a:schemeClr val="tx2"/>
                </a:solidFill>
                <a:latin typeface="Times New Roman" pitchFamily="18" charset="0"/>
                <a:cs typeface="Times New Roman" pitchFamily="18" charset="0"/>
              </a:rPr>
              <a:t>5.3. MINIMIZATION OF BOOLEAN FUNCTIONS.</a:t>
            </a:r>
          </a:p>
          <a:p>
            <a:pPr lvl="2" algn="just">
              <a:lnSpc>
                <a:spcPct val="150000"/>
              </a:lnSpc>
              <a:defRPr/>
            </a:pPr>
            <a:r>
              <a:rPr lang="en-US" sz="1900" b="1" dirty="0">
                <a:solidFill>
                  <a:schemeClr val="tx2"/>
                </a:solidFill>
                <a:latin typeface="Times New Roman" pitchFamily="18" charset="0"/>
                <a:cs typeface="Times New Roman" pitchFamily="18" charset="0"/>
              </a:rPr>
              <a:t> 5.3.1. Definition. </a:t>
            </a:r>
          </a:p>
          <a:p>
            <a:pPr lvl="2" algn="just">
              <a:lnSpc>
                <a:spcPct val="150000"/>
              </a:lnSpc>
              <a:defRPr/>
            </a:pPr>
            <a:r>
              <a:rPr lang="en-US" sz="1900" b="1" dirty="0">
                <a:solidFill>
                  <a:schemeClr val="tx2"/>
                </a:solidFill>
                <a:latin typeface="Times New Roman" pitchFamily="18" charset="0"/>
                <a:cs typeface="Times New Roman" pitchFamily="18" charset="0"/>
              </a:rPr>
              <a:t>5.3.2. Variable method. </a:t>
            </a:r>
          </a:p>
          <a:p>
            <a:pPr lvl="2" algn="just">
              <a:lnSpc>
                <a:spcPct val="150000"/>
              </a:lnSpc>
              <a:defRPr/>
            </a:pPr>
            <a:r>
              <a:rPr lang="en-US" sz="1900" b="1" dirty="0">
                <a:solidFill>
                  <a:schemeClr val="tx2"/>
                </a:solidFill>
                <a:latin typeface="Times New Roman" pitchFamily="18" charset="0"/>
                <a:cs typeface="Times New Roman" pitchFamily="18" charset="0"/>
              </a:rPr>
              <a:t>5.3.3. Karnaugh map </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DEFINITION</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63819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5.1.1 Definition of Boolean algebra</a:t>
                </a:r>
              </a:p>
              <a:p>
                <a:pPr algn="just">
                  <a:lnSpc>
                    <a:spcPct val="200000"/>
                  </a:lnSpc>
                  <a:defRPr/>
                </a:pPr>
                <a:r>
                  <a:rPr lang="en-US" altLang="en-US" sz="2200" dirty="0">
                    <a:solidFill>
                      <a:schemeClr val="tx2"/>
                    </a:solidFill>
                    <a:latin typeface="Times New Roman" pitchFamily="18" charset="0"/>
                    <a:cs typeface="Times New Roman" pitchFamily="18" charset="0"/>
                  </a:rPr>
                  <a:t>In Boolean algebra, a variable is a symbol used to represent an action, a condition, or data. A single variable can only have a value of 1 or 0.  </a:t>
                </a:r>
              </a:p>
              <a:p>
                <a:pPr algn="just">
                  <a:lnSpc>
                    <a:spcPct val="200000"/>
                  </a:lnSpc>
                  <a:defRPr/>
                </a:pPr>
                <a:r>
                  <a:rPr lang="en-US" altLang="en-US" sz="2200" dirty="0">
                    <a:solidFill>
                      <a:schemeClr val="tx2"/>
                    </a:solidFill>
                    <a:latin typeface="Times New Roman" pitchFamily="18" charset="0"/>
                    <a:cs typeface="Times New Roman" pitchFamily="18" charset="0"/>
                  </a:rPr>
                  <a:t>The complement represents the inverse of a variable and is indicated with an overbar. Thus, the complement of A is </a:t>
                </a:r>
                <a14:m>
                  <m:oMath xmlns:m="http://schemas.openxmlformats.org/officeDocument/2006/math">
                    <m:acc>
                      <m:accPr>
                        <m:chr m:val="̅"/>
                        <m:ctrlPr>
                          <a:rPr lang="en-US" altLang="en-US" sz="2200" i="1" dirty="0" smtClean="0">
                            <a:solidFill>
                              <a:schemeClr val="tx2"/>
                            </a:solidFill>
                            <a:latin typeface="Cambria Math" panose="02040503050406030204" pitchFamily="18" charset="0"/>
                            <a:cs typeface="Times New Roman" pitchFamily="18" charset="0"/>
                          </a:rPr>
                        </m:ctrlPr>
                      </m:accPr>
                      <m:e>
                        <m:r>
                          <a:rPr lang="en-US" altLang="en-US" sz="2200" b="0" i="1" dirty="0" smtClean="0">
                            <a:solidFill>
                              <a:schemeClr val="tx2"/>
                            </a:solidFill>
                            <a:latin typeface="Cambria Math" panose="02040503050406030204" pitchFamily="18" charset="0"/>
                            <a:cs typeface="Times New Roman" pitchFamily="18" charset="0"/>
                          </a:rPr>
                          <m:t>𝐴</m:t>
                        </m:r>
                      </m:e>
                    </m:acc>
                  </m:oMath>
                </a14:m>
                <a:r>
                  <a:rPr lang="en-US" altLang="en-US" sz="2200" dirty="0">
                    <a:solidFill>
                      <a:schemeClr val="tx2"/>
                    </a:solidFill>
                    <a:latin typeface="Times New Roman" pitchFamily="18" charset="0"/>
                    <a:cs typeface="Times New Roman" pitchFamily="18" charset="0"/>
                  </a:rPr>
                  <a:t>.</a:t>
                </a:r>
              </a:p>
              <a:p>
                <a:pPr algn="just">
                  <a:lnSpc>
                    <a:spcPct val="200000"/>
                  </a:lnSpc>
                  <a:defRPr/>
                </a:pPr>
                <a:r>
                  <a:rPr lang="en-US" altLang="en-US" sz="2200" dirty="0">
                    <a:solidFill>
                      <a:schemeClr val="tx2"/>
                    </a:solidFill>
                    <a:latin typeface="Times New Roman" pitchFamily="18" charset="0"/>
                    <a:cs typeface="Times New Roman" pitchFamily="18" charset="0"/>
                  </a:rPr>
                  <a:t>The complement represents the inverse of a variable and is indicated with an overbar. Thus, the complement of A is A.</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4638193"/>
              </a:xfrm>
              <a:prstGeom prst="rect">
                <a:avLst/>
              </a:prstGeom>
              <a:blipFill>
                <a:blip r:embed="rId4"/>
                <a:stretch>
                  <a:fillRect l="-867" r="-867" b="-1708"/>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50821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DEFINITION</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2829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5.1.1 Definition of Boolean algebra</a:t>
                </a:r>
              </a:p>
              <a:p>
                <a:pPr algn="just">
                  <a:lnSpc>
                    <a:spcPct val="200000"/>
                  </a:lnSpc>
                  <a:defRPr/>
                </a:pPr>
                <a:r>
                  <a:rPr lang="en-US" altLang="en-US" sz="2200" dirty="0">
                    <a:solidFill>
                      <a:schemeClr val="tx2"/>
                    </a:solidFill>
                    <a:latin typeface="Times New Roman" pitchFamily="18" charset="0"/>
                    <a:cs typeface="Times New Roman" pitchFamily="18" charset="0"/>
                  </a:rPr>
                  <a:t>Addition is equivalent to the OR operation. The sum term is 1 if one or more if the literals are 1. The sum term is zero only if each literal is 0</a:t>
                </a:r>
              </a:p>
              <a:p>
                <a:pPr algn="just">
                  <a:lnSpc>
                    <a:spcPct val="200000"/>
                  </a:lnSpc>
                  <a:defRPr/>
                </a:pPr>
                <a:r>
                  <a:rPr lang="en-US" altLang="en-US" sz="2200" dirty="0">
                    <a:solidFill>
                      <a:schemeClr val="tx2"/>
                    </a:solidFill>
                    <a:latin typeface="Times New Roman" pitchFamily="18" charset="0"/>
                    <a:cs typeface="Times New Roman" pitchFamily="18" charset="0"/>
                  </a:rPr>
                  <a:t>Determine the values of A, B, and C that make the sum term of the expression </a:t>
                </a:r>
                <a14:m>
                  <m:oMath xmlns:m="http://schemas.openxmlformats.org/officeDocument/2006/math">
                    <m:acc>
                      <m:accPr>
                        <m:chr m:val="̅"/>
                        <m:ctrlPr>
                          <a:rPr lang="en-US" altLang="en-US" sz="2200" i="1" dirty="0">
                            <a:solidFill>
                              <a:schemeClr val="tx2"/>
                            </a:solidFill>
                            <a:latin typeface="Cambria Math" panose="02040503050406030204" pitchFamily="18" charset="0"/>
                          </a:rPr>
                        </m:ctrlPr>
                      </m:accPr>
                      <m:e>
                        <m:r>
                          <a:rPr lang="en-US" altLang="en-US" sz="2200" dirty="0">
                            <a:solidFill>
                              <a:schemeClr val="tx2"/>
                            </a:solidFill>
                            <a:latin typeface="Cambria Math" panose="02040503050406030204" pitchFamily="18" charset="0"/>
                          </a:rPr>
                          <m:t>𝐴</m:t>
                        </m:r>
                      </m:e>
                    </m:acc>
                  </m:oMath>
                </a14:m>
                <a:r>
                  <a:rPr lang="en-US" altLang="en-US" sz="2200" dirty="0">
                    <a:solidFill>
                      <a:schemeClr val="tx2"/>
                    </a:solidFill>
                    <a:latin typeface="Times New Roman" pitchFamily="18" charset="0"/>
                    <a:cs typeface="Times New Roman" pitchFamily="18" charset="0"/>
                  </a:rPr>
                  <a:t> + B + C = 0?</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3282950"/>
              </a:xfrm>
              <a:prstGeom prst="rect">
                <a:avLst/>
              </a:prstGeom>
              <a:blipFill>
                <a:blip r:embed="rId4"/>
                <a:stretch>
                  <a:fillRect l="-867" r="-867" b="-2974"/>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2616859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DEFINITION</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97895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5.1.1 Definition of Boolean algebra</a:t>
                </a:r>
              </a:p>
              <a:p>
                <a:pPr algn="just">
                  <a:lnSpc>
                    <a:spcPct val="200000"/>
                  </a:lnSpc>
                  <a:defRPr/>
                </a:pPr>
                <a:r>
                  <a:rPr lang="en-US" altLang="en-US" sz="1900" dirty="0">
                    <a:solidFill>
                      <a:schemeClr val="tx2"/>
                    </a:solidFill>
                    <a:latin typeface="Times New Roman" pitchFamily="18" charset="0"/>
                    <a:cs typeface="Times New Roman" pitchFamily="18" charset="0"/>
                  </a:rPr>
                  <a:t>In Boolean algebra, multiplication is equivalent to the AND operation. The product of literals forms a product term. The product term will be 1 only if all of the literals are 1.</a:t>
                </a:r>
              </a:p>
              <a:p>
                <a:pPr algn="just">
                  <a:lnSpc>
                    <a:spcPct val="200000"/>
                  </a:lnSpc>
                  <a:defRPr/>
                </a:pPr>
                <a:r>
                  <a:rPr lang="en-US" altLang="en-US" sz="1900" dirty="0">
                    <a:solidFill>
                      <a:schemeClr val="tx2"/>
                    </a:solidFill>
                    <a:latin typeface="Times New Roman" pitchFamily="18" charset="0"/>
                    <a:cs typeface="Times New Roman" pitchFamily="18" charset="0"/>
                  </a:rPr>
                  <a:t>What are the values of the A, B and C if the product term of A.</a:t>
                </a:r>
                <a14:m>
                  <m:oMath xmlns:m="http://schemas.openxmlformats.org/officeDocument/2006/math">
                    <m:acc>
                      <m:accPr>
                        <m:chr m:val="̅"/>
                        <m:ctrlPr>
                          <a:rPr lang="en-US" altLang="en-US" sz="1900" i="1" dirty="0" smtClean="0">
                            <a:solidFill>
                              <a:schemeClr val="tx2"/>
                            </a:solidFill>
                            <a:latin typeface="Cambria Math" panose="02040503050406030204" pitchFamily="18" charset="0"/>
                            <a:cs typeface="Times New Roman" pitchFamily="18" charset="0"/>
                          </a:rPr>
                        </m:ctrlPr>
                      </m:accPr>
                      <m:e>
                        <m:r>
                          <a:rPr lang="en-US" altLang="en-US" sz="1900" b="0" i="1" dirty="0" smtClean="0">
                            <a:solidFill>
                              <a:schemeClr val="tx2"/>
                            </a:solidFill>
                            <a:latin typeface="Cambria Math" panose="02040503050406030204" pitchFamily="18" charset="0"/>
                            <a:cs typeface="Times New Roman" pitchFamily="18" charset="0"/>
                          </a:rPr>
                          <m:t>𝐵</m:t>
                        </m:r>
                      </m:e>
                    </m:acc>
                  </m:oMath>
                </a14:m>
                <a:r>
                  <a:rPr lang="en-US" altLang="en-US" sz="1900" dirty="0">
                    <a:solidFill>
                      <a:schemeClr val="tx2"/>
                    </a:solidFill>
                    <a:latin typeface="Times New Roman" pitchFamily="18" charset="0"/>
                    <a:cs typeface="Times New Roman" pitchFamily="18" charset="0"/>
                  </a:rPr>
                  <a:t>.C = 1?</a:t>
                </a: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2978957"/>
              </a:xfrm>
              <a:prstGeom prst="rect">
                <a:avLst/>
              </a:prstGeom>
              <a:blipFill>
                <a:blip r:embed="rId4"/>
                <a:stretch>
                  <a:fillRect l="-600" r="-600"/>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305347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5.1.2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PROPERTIES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51025"/>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Commutative Laws</a:t>
            </a:r>
          </a:p>
          <a:p>
            <a:pPr algn="just">
              <a:lnSpc>
                <a:spcPct val="200000"/>
              </a:lnSpc>
              <a:defRPr/>
            </a:pPr>
            <a:r>
              <a:rPr lang="en-US" altLang="en-US" sz="1900" dirty="0">
                <a:solidFill>
                  <a:schemeClr val="tx2"/>
                </a:solidFill>
                <a:latin typeface="Times New Roman" pitchFamily="18" charset="0"/>
                <a:cs typeface="Times New Roman" pitchFamily="18" charset="0"/>
              </a:rPr>
              <a:t>The commutative laws are applied to addition and multiplication. </a:t>
            </a:r>
          </a:p>
          <a:p>
            <a:pPr algn="just">
              <a:lnSpc>
                <a:spcPct val="200000"/>
              </a:lnSpc>
              <a:defRPr/>
            </a:pPr>
            <a:r>
              <a:rPr lang="en-US" altLang="en-US" sz="1900" dirty="0">
                <a:solidFill>
                  <a:schemeClr val="tx2"/>
                </a:solidFill>
                <a:latin typeface="Times New Roman" pitchFamily="18" charset="0"/>
                <a:cs typeface="Times New Roman" pitchFamily="18" charset="0"/>
              </a:rPr>
              <a:t>For addition, the commutative law states</a:t>
            </a:r>
          </a:p>
          <a:p>
            <a:pPr algn="just">
              <a:lnSpc>
                <a:spcPct val="200000"/>
              </a:lnSpc>
              <a:defRPr/>
            </a:pPr>
            <a:r>
              <a:rPr lang="en-US" altLang="en-US" sz="1900" dirty="0">
                <a:solidFill>
                  <a:schemeClr val="tx2"/>
                </a:solidFill>
                <a:latin typeface="Times New Roman" pitchFamily="18" charset="0"/>
                <a:cs typeface="Times New Roman" pitchFamily="18" charset="0"/>
              </a:rPr>
              <a:t>In terms of the result, the order in which variables are </a:t>
            </a:r>
            <a:r>
              <a:rPr lang="en-US" altLang="en-US" sz="1900" dirty="0" err="1">
                <a:solidFill>
                  <a:schemeClr val="tx2"/>
                </a:solidFill>
                <a:latin typeface="Times New Roman" pitchFamily="18" charset="0"/>
                <a:cs typeface="Times New Roman" pitchFamily="18" charset="0"/>
              </a:rPr>
              <a:t>ORed</a:t>
            </a:r>
            <a:r>
              <a:rPr lang="en-US" altLang="en-US" sz="1900" dirty="0">
                <a:solidFill>
                  <a:schemeClr val="tx2"/>
                </a:solidFill>
                <a:latin typeface="Times New Roman" pitchFamily="18" charset="0"/>
                <a:cs typeface="Times New Roman" pitchFamily="18" charset="0"/>
              </a:rPr>
              <a:t> makes no difference.</a:t>
            </a:r>
          </a:p>
          <a:p>
            <a:pPr algn="ctr">
              <a:lnSpc>
                <a:spcPct val="200000"/>
              </a:lnSpc>
              <a:defRPr/>
            </a:pPr>
            <a:r>
              <a:rPr lang="en-US" altLang="en-US" sz="1900" dirty="0">
                <a:solidFill>
                  <a:schemeClr val="tx2"/>
                </a:solidFill>
                <a:latin typeface="Times New Roman" pitchFamily="18" charset="0"/>
                <a:cs typeface="Times New Roman" pitchFamily="18" charset="0"/>
              </a:rPr>
              <a:t>A+B=B+A</a:t>
            </a:r>
          </a:p>
          <a:p>
            <a:pPr algn="just">
              <a:lnSpc>
                <a:spcPct val="200000"/>
              </a:lnSpc>
              <a:defRPr/>
            </a:pPr>
            <a:r>
              <a:rPr lang="en-US" altLang="en-US" sz="1900" dirty="0">
                <a:solidFill>
                  <a:schemeClr val="tx2"/>
                </a:solidFill>
                <a:latin typeface="Times New Roman" pitchFamily="18" charset="0"/>
                <a:cs typeface="Times New Roman" pitchFamily="18" charset="0"/>
              </a:rPr>
              <a:t>For multiplication, the commutative law states</a:t>
            </a:r>
            <a:endParaRPr lang="en-US" sz="1900" b="1" dirty="0">
              <a:solidFill>
                <a:schemeClr val="tx2"/>
              </a:solidFill>
              <a:latin typeface="Times New Roman" pitchFamily="18" charset="0"/>
              <a:cs typeface="Times New Roman" pitchFamily="18" charset="0"/>
            </a:endParaRPr>
          </a:p>
          <a:p>
            <a:pPr algn="just">
              <a:lnSpc>
                <a:spcPct val="200000"/>
              </a:lnSpc>
              <a:defRPr/>
            </a:pPr>
            <a:r>
              <a:rPr lang="en-US" altLang="en-US" sz="1900" dirty="0">
                <a:solidFill>
                  <a:schemeClr val="tx2"/>
                </a:solidFill>
                <a:latin typeface="Times New Roman" pitchFamily="18" charset="0"/>
                <a:cs typeface="Times New Roman" pitchFamily="18" charset="0"/>
              </a:rPr>
              <a:t>In terms of the result, the order in which variables are ANDed makes no difference.</a:t>
            </a:r>
          </a:p>
          <a:p>
            <a:pPr algn="ctr">
              <a:lnSpc>
                <a:spcPct val="200000"/>
              </a:lnSpc>
              <a:defRPr/>
            </a:pPr>
            <a:r>
              <a:rPr lang="en-US" altLang="en-US" sz="1900" dirty="0">
                <a:solidFill>
                  <a:schemeClr val="tx2"/>
                </a:solidFill>
                <a:latin typeface="Times New Roman" pitchFamily="18" charset="0"/>
                <a:cs typeface="Times New Roman" pitchFamily="18" charset="0"/>
              </a:rPr>
              <a:t>A+B=B+A</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3433343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5.1.2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PROPERTIES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6143413"/>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Associate Laws</a:t>
            </a:r>
          </a:p>
          <a:p>
            <a:pPr algn="just">
              <a:lnSpc>
                <a:spcPct val="200000"/>
              </a:lnSpc>
              <a:defRPr/>
            </a:pPr>
            <a:r>
              <a:rPr lang="en-US" altLang="en-US" sz="1900" dirty="0">
                <a:solidFill>
                  <a:schemeClr val="tx2"/>
                </a:solidFill>
                <a:latin typeface="Times New Roman" pitchFamily="18" charset="0"/>
                <a:cs typeface="Times New Roman" pitchFamily="18" charset="0"/>
              </a:rPr>
              <a:t>The associative laws are also applied to addition and multiplication. </a:t>
            </a:r>
          </a:p>
          <a:p>
            <a:pPr algn="just">
              <a:lnSpc>
                <a:spcPct val="200000"/>
              </a:lnSpc>
              <a:defRPr/>
            </a:pPr>
            <a:r>
              <a:rPr lang="en-US" altLang="en-US" sz="1900" dirty="0">
                <a:solidFill>
                  <a:schemeClr val="tx2"/>
                </a:solidFill>
                <a:latin typeface="Times New Roman" pitchFamily="18" charset="0"/>
                <a:cs typeface="Times New Roman" pitchFamily="18" charset="0"/>
              </a:rPr>
              <a:t>For addition, the associative law states. </a:t>
            </a:r>
          </a:p>
          <a:p>
            <a:pPr eaLnBrk="1" hangingPunct="1">
              <a:spcBef>
                <a:spcPct val="50000"/>
              </a:spcBef>
            </a:pPr>
            <a:r>
              <a:rPr lang="en-US" altLang="en-US" sz="1900" dirty="0">
                <a:solidFill>
                  <a:schemeClr val="tx2"/>
                </a:solidFill>
                <a:latin typeface="Times New Roman" pitchFamily="18" charset="0"/>
                <a:cs typeface="Times New Roman" pitchFamily="18" charset="0"/>
              </a:rPr>
              <a:t>When </a:t>
            </a:r>
            <a:r>
              <a:rPr lang="en-US" altLang="en-US" sz="1900" dirty="0" err="1">
                <a:solidFill>
                  <a:schemeClr val="tx2"/>
                </a:solidFill>
                <a:latin typeface="Times New Roman" pitchFamily="18" charset="0"/>
                <a:cs typeface="Times New Roman" pitchFamily="18" charset="0"/>
              </a:rPr>
              <a:t>ORing</a:t>
            </a:r>
            <a:r>
              <a:rPr lang="en-US" altLang="en-US" sz="1900" dirty="0">
                <a:solidFill>
                  <a:schemeClr val="tx2"/>
                </a:solidFill>
                <a:latin typeface="Times New Roman" pitchFamily="18" charset="0"/>
                <a:cs typeface="Times New Roman" pitchFamily="18" charset="0"/>
              </a:rPr>
              <a:t> more than two variables, the result is the same regardless of the grouping of the variables.</a:t>
            </a:r>
          </a:p>
          <a:p>
            <a:pPr algn="ctr">
              <a:lnSpc>
                <a:spcPct val="200000"/>
              </a:lnSpc>
              <a:defRPr/>
            </a:pPr>
            <a:r>
              <a:rPr lang="en-US" altLang="en-US" sz="1900" dirty="0">
                <a:solidFill>
                  <a:schemeClr val="tx2"/>
                </a:solidFill>
                <a:latin typeface="Times New Roman" pitchFamily="18" charset="0"/>
                <a:cs typeface="Times New Roman" pitchFamily="18" charset="0"/>
              </a:rPr>
              <a:t>(A+B)+C=A+(B+C)</a:t>
            </a:r>
          </a:p>
          <a:p>
            <a:pPr algn="just">
              <a:lnSpc>
                <a:spcPct val="200000"/>
              </a:lnSpc>
              <a:defRPr/>
            </a:pPr>
            <a:r>
              <a:rPr lang="en-US" altLang="en-US" sz="1900" dirty="0">
                <a:solidFill>
                  <a:schemeClr val="tx2"/>
                </a:solidFill>
                <a:latin typeface="Times New Roman" pitchFamily="18" charset="0"/>
                <a:cs typeface="Times New Roman" pitchFamily="18" charset="0"/>
              </a:rPr>
              <a:t>For multiplication, the associative law states</a:t>
            </a:r>
            <a:endParaRPr lang="en-US" sz="1900" b="1" dirty="0">
              <a:solidFill>
                <a:schemeClr val="tx2"/>
              </a:solidFill>
              <a:latin typeface="Times New Roman" pitchFamily="18" charset="0"/>
              <a:cs typeface="Times New Roman" pitchFamily="18" charset="0"/>
            </a:endParaRPr>
          </a:p>
          <a:p>
            <a:pPr>
              <a:spcBef>
                <a:spcPct val="50000"/>
              </a:spcBef>
            </a:pPr>
            <a:r>
              <a:rPr lang="en-US" altLang="en-US" sz="1900" dirty="0">
                <a:solidFill>
                  <a:schemeClr val="tx2"/>
                </a:solidFill>
                <a:latin typeface="Times New Roman" pitchFamily="18" charset="0"/>
                <a:cs typeface="Times New Roman" pitchFamily="18" charset="0"/>
              </a:rPr>
              <a:t>When ANDing more than two variables, the result is the same regardless of the grouping of the variables.</a:t>
            </a:r>
          </a:p>
          <a:p>
            <a:pPr algn="ctr">
              <a:lnSpc>
                <a:spcPct val="200000"/>
              </a:lnSpc>
              <a:defRPr/>
            </a:pPr>
            <a:r>
              <a:rPr lang="en-US" altLang="en-US" sz="1900" dirty="0">
                <a:solidFill>
                  <a:schemeClr val="tx2"/>
                </a:solidFill>
                <a:latin typeface="Times New Roman" pitchFamily="18" charset="0"/>
                <a:cs typeface="Times New Roman" pitchFamily="18" charset="0"/>
              </a:rPr>
              <a:t>A+B=B+A</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396201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5.1.2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PROPERTIES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Distributive Law</a:t>
            </a:r>
          </a:p>
          <a:p>
            <a:pPr algn="just">
              <a:lnSpc>
                <a:spcPct val="200000"/>
              </a:lnSpc>
              <a:defRPr/>
            </a:pPr>
            <a:r>
              <a:rPr lang="en-US" altLang="en-US" sz="1900" dirty="0">
                <a:solidFill>
                  <a:schemeClr val="tx2"/>
                </a:solidFill>
                <a:latin typeface="Times New Roman" pitchFamily="18" charset="0"/>
                <a:cs typeface="Times New Roman" pitchFamily="18" charset="0"/>
              </a:rPr>
              <a:t>The distributive law is the factoring law. A common variable can be factored from an expression just as in ordinary algebra. That is</a:t>
            </a:r>
          </a:p>
          <a:p>
            <a:pPr algn="ctr">
              <a:lnSpc>
                <a:spcPct val="200000"/>
              </a:lnSpc>
              <a:defRPr/>
            </a:pPr>
            <a:r>
              <a:rPr lang="en-US" altLang="en-US" sz="1900" dirty="0">
                <a:solidFill>
                  <a:schemeClr val="tx2"/>
                </a:solidFill>
                <a:latin typeface="Times New Roman" pitchFamily="18" charset="0"/>
                <a:cs typeface="Times New Roman" pitchFamily="18" charset="0"/>
              </a:rPr>
              <a:t>(A+B)C=AC+BC</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3087202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577116"/>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5.2.1 Definition</a:t>
            </a:r>
          </a:p>
          <a:p>
            <a:pPr algn="just">
              <a:lnSpc>
                <a:spcPct val="200000"/>
              </a:lnSpc>
              <a:defRPr/>
            </a:pPr>
            <a:r>
              <a:rPr lang="en-US" altLang="en-US" sz="1900" b="1" dirty="0">
                <a:solidFill>
                  <a:schemeClr val="tx2"/>
                </a:solidFill>
                <a:latin typeface="Times New Roman" pitchFamily="18" charset="0"/>
                <a:cs typeface="Times New Roman" pitchFamily="18" charset="0"/>
              </a:rPr>
              <a:t>Given a set B={0,1}, and a function f=f(x</a:t>
            </a:r>
            <a:r>
              <a:rPr lang="en-US" altLang="en-US" sz="1900" b="1" baseline="-25000" dirty="0">
                <a:solidFill>
                  <a:schemeClr val="tx2"/>
                </a:solidFill>
                <a:latin typeface="Times New Roman" pitchFamily="18" charset="0"/>
                <a:cs typeface="Times New Roman" pitchFamily="18" charset="0"/>
              </a:rPr>
              <a:t>1</a:t>
            </a:r>
            <a:r>
              <a:rPr lang="en-US" altLang="en-US" sz="1900" b="1" dirty="0">
                <a:solidFill>
                  <a:schemeClr val="tx2"/>
                </a:solidFill>
                <a:latin typeface="Times New Roman" pitchFamily="18" charset="0"/>
                <a:cs typeface="Times New Roman" pitchFamily="18" charset="0"/>
              </a:rPr>
              <a:t>,x</a:t>
            </a:r>
            <a:r>
              <a:rPr lang="en-US" altLang="en-US" sz="1900" b="1" baseline="-25000" dirty="0">
                <a:solidFill>
                  <a:schemeClr val="tx2"/>
                </a:solidFill>
                <a:latin typeface="Times New Roman" pitchFamily="18" charset="0"/>
                <a:cs typeface="Times New Roman" pitchFamily="18" charset="0"/>
              </a:rPr>
              <a:t>2</a:t>
            </a:r>
            <a:r>
              <a:rPr lang="en-US" altLang="en-US" sz="1900" b="1" dirty="0">
                <a:solidFill>
                  <a:schemeClr val="tx2"/>
                </a:solidFill>
                <a:latin typeface="Times New Roman" pitchFamily="18" charset="0"/>
                <a:cs typeface="Times New Roman" pitchFamily="18" charset="0"/>
              </a:rPr>
              <a:t>,…,</a:t>
            </a:r>
            <a:r>
              <a:rPr lang="en-US" altLang="en-US" sz="1900" b="1" dirty="0" err="1">
                <a:solidFill>
                  <a:schemeClr val="tx2"/>
                </a:solidFill>
                <a:latin typeface="Times New Roman" pitchFamily="18" charset="0"/>
                <a:cs typeface="Times New Roman" pitchFamily="18" charset="0"/>
              </a:rPr>
              <a:t>x</a:t>
            </a:r>
            <a:r>
              <a:rPr lang="en-US" altLang="en-US" sz="1900" b="1" baseline="-25000" dirty="0" err="1">
                <a:solidFill>
                  <a:schemeClr val="tx2"/>
                </a:solidFill>
                <a:latin typeface="Times New Roman" pitchFamily="18" charset="0"/>
                <a:cs typeface="Times New Roman" pitchFamily="18" charset="0"/>
              </a:rPr>
              <a:t>n</a:t>
            </a:r>
            <a:r>
              <a:rPr lang="en-US" altLang="en-US" sz="1900" b="1" dirty="0">
                <a:solidFill>
                  <a:schemeClr val="tx2"/>
                </a:solidFill>
                <a:latin typeface="Times New Roman" pitchFamily="18" charset="0"/>
                <a:cs typeface="Times New Roman" pitchFamily="18" charset="0"/>
              </a:rPr>
              <a:t>) that has value of B. Boolean function of n variable is defined:</a:t>
            </a:r>
          </a:p>
          <a:p>
            <a:pPr algn="ctr">
              <a:lnSpc>
                <a:spcPct val="200000"/>
              </a:lnSpc>
              <a:defRPr/>
            </a:pPr>
            <a:r>
              <a:rPr lang="en-US" altLang="en-US" sz="2800" b="1" dirty="0">
                <a:solidFill>
                  <a:schemeClr val="tx2"/>
                </a:solidFill>
                <a:latin typeface="Times New Roman" pitchFamily="18" charset="0"/>
                <a:cs typeface="Times New Roman" pitchFamily="18" charset="0"/>
              </a:rPr>
              <a:t>f= B</a:t>
            </a:r>
            <a:r>
              <a:rPr lang="en-US" altLang="en-US" sz="2800" b="1" baseline="30000" dirty="0">
                <a:solidFill>
                  <a:schemeClr val="tx2"/>
                </a:solidFill>
                <a:latin typeface="Times New Roman" pitchFamily="18" charset="0"/>
                <a:cs typeface="Times New Roman" pitchFamily="18" charset="0"/>
              </a:rPr>
              <a:t>n</a:t>
            </a:r>
            <a:r>
              <a:rPr lang="en-US" altLang="en-US" sz="2800" b="1" dirty="0">
                <a:solidFill>
                  <a:schemeClr val="tx2"/>
                </a:solidFill>
                <a:latin typeface="Times New Roman" pitchFamily="18" charset="0"/>
                <a:cs typeface="Times New Roman" pitchFamily="18" charset="0"/>
              </a:rPr>
              <a:t> -&gt;B, for B={0,1}</a:t>
            </a:r>
          </a:p>
        </p:txBody>
      </p:sp>
    </p:spTree>
    <p:extLst>
      <p:ext uri="{BB962C8B-B14F-4D97-AF65-F5344CB8AC3E}">
        <p14:creationId xmlns:p14="http://schemas.microsoft.com/office/powerpoint/2010/main" val="251090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439438"/>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5.2.2 Performance</a:t>
                </a:r>
              </a:p>
              <a:p>
                <a:pPr algn="just">
                  <a:lnSpc>
                    <a:spcPct val="200000"/>
                  </a:lnSpc>
                  <a:defRPr/>
                </a:pPr>
                <a:r>
                  <a:rPr lang="en-US" altLang="en-US" sz="1900" b="1" dirty="0">
                    <a:solidFill>
                      <a:schemeClr val="tx2"/>
                    </a:solidFill>
                    <a:latin typeface="Times New Roman" pitchFamily="18" charset="0"/>
                    <a:cs typeface="Times New Roman" pitchFamily="18" charset="0"/>
                  </a:rPr>
                  <a:t>Rules of Boolean Algebra</a:t>
                </a:r>
              </a:p>
              <a:p>
                <a:pPr lvl="2" algn="just">
                  <a:lnSpc>
                    <a:spcPct val="200000"/>
                  </a:lnSpc>
                  <a:defRPr/>
                </a:pPr>
                <a:r>
                  <a:rPr lang="en-US" sz="2800" b="1" dirty="0">
                    <a:solidFill>
                      <a:schemeClr val="tx2"/>
                    </a:solidFill>
                    <a:latin typeface="Times New Roman" pitchFamily="18" charset="0"/>
                    <a:cs typeface="Times New Roman" pitchFamily="18" charset="0"/>
                  </a:rPr>
                  <a:t>1.	 A+0=A                            6. 	A+</a:t>
                </a:r>
                <a14:m>
                  <m:oMath xmlns:m="http://schemas.openxmlformats.org/officeDocument/2006/math">
                    <m:acc>
                      <m:accPr>
                        <m:chr m:val="̅"/>
                        <m:ctrlPr>
                          <a:rPr lang="en-US" sz="2800" b="1" i="1" dirty="0" smtClean="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𝑨</m:t>
                        </m:r>
                      </m:e>
                    </m:acc>
                  </m:oMath>
                </a14:m>
                <a:r>
                  <a:rPr lang="en-US" sz="2800" b="1" dirty="0">
                    <a:solidFill>
                      <a:schemeClr val="tx2"/>
                    </a:solidFill>
                    <a:latin typeface="Times New Roman" pitchFamily="18" charset="0"/>
                    <a:cs typeface="Times New Roman" pitchFamily="18" charset="0"/>
                  </a:rPr>
                  <a:t>=1</a:t>
                </a:r>
              </a:p>
              <a:p>
                <a:pPr lvl="2" algn="just">
                  <a:lnSpc>
                    <a:spcPct val="200000"/>
                  </a:lnSpc>
                  <a:defRPr/>
                </a:pPr>
                <a:r>
                  <a:rPr lang="en-US" sz="2800" b="1" dirty="0">
                    <a:solidFill>
                      <a:schemeClr val="tx2"/>
                    </a:solidFill>
                    <a:latin typeface="Times New Roman" pitchFamily="18" charset="0"/>
                    <a:cs typeface="Times New Roman" pitchFamily="18" charset="0"/>
                  </a:rPr>
                  <a:t>2. 	A+1=1</a:t>
                </a:r>
              </a:p>
              <a:p>
                <a:pPr lvl="2" algn="just">
                  <a:lnSpc>
                    <a:spcPct val="200000"/>
                  </a:lnSpc>
                  <a:defRPr/>
                </a:pPr>
                <a:r>
                  <a:rPr lang="en-US" sz="2800" b="1" dirty="0">
                    <a:solidFill>
                      <a:schemeClr val="tx2"/>
                    </a:solidFill>
                    <a:latin typeface="Times New Roman" pitchFamily="18" charset="0"/>
                    <a:cs typeface="Times New Roman" pitchFamily="18" charset="0"/>
                  </a:rPr>
                  <a:t>3. 	A.0=0</a:t>
                </a:r>
              </a:p>
              <a:p>
                <a:pPr lvl="2" algn="just">
                  <a:lnSpc>
                    <a:spcPct val="200000"/>
                  </a:lnSpc>
                  <a:defRPr/>
                </a:pPr>
                <a:r>
                  <a:rPr lang="en-US" sz="2800" b="1" dirty="0">
                    <a:solidFill>
                      <a:schemeClr val="tx2"/>
                    </a:solidFill>
                    <a:latin typeface="Times New Roman" pitchFamily="18" charset="0"/>
                    <a:cs typeface="Times New Roman" pitchFamily="18" charset="0"/>
                  </a:rPr>
                  <a:t>4. 	A.1=A</a:t>
                </a:r>
              </a:p>
              <a:p>
                <a:pPr lvl="2" algn="just">
                  <a:lnSpc>
                    <a:spcPct val="200000"/>
                  </a:lnSpc>
                  <a:defRPr/>
                </a:pPr>
                <a:r>
                  <a:rPr lang="en-US" sz="2800" b="1" dirty="0">
                    <a:solidFill>
                      <a:schemeClr val="tx2"/>
                    </a:solidFill>
                    <a:latin typeface="Times New Roman" pitchFamily="18" charset="0"/>
                    <a:cs typeface="Times New Roman" pitchFamily="18" charset="0"/>
                  </a:rPr>
                  <a:t>5. 	A+A=A</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5439438"/>
              </a:xfrm>
              <a:prstGeom prst="rect">
                <a:avLst/>
              </a:prstGeom>
              <a:blipFill>
                <a:blip r:embed="rId4"/>
                <a:stretch>
                  <a:fillRect l="-600" b="-2242"/>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399814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975610"/>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Rules of Boolean Algebra</a:t>
                </a:r>
              </a:p>
              <a:p>
                <a:pPr marL="1428750" lvl="2" indent="-514350" algn="just">
                  <a:lnSpc>
                    <a:spcPct val="200000"/>
                  </a:lnSpc>
                  <a:buAutoNum type="arabicPeriod" startAt="7"/>
                  <a:defRPr/>
                </a:pPr>
                <a:r>
                  <a:rPr lang="en-US" sz="2800" b="1" dirty="0">
                    <a:solidFill>
                      <a:schemeClr val="tx2"/>
                    </a:solidFill>
                    <a:latin typeface="Times New Roman" pitchFamily="18" charset="0"/>
                    <a:cs typeface="Times New Roman" pitchFamily="18" charset="0"/>
                  </a:rPr>
                  <a:t>     A.A=A</a:t>
                </a:r>
              </a:p>
              <a:p>
                <a:pPr marL="1428750" lvl="2" indent="-514350" algn="just">
                  <a:lnSpc>
                    <a:spcPct val="200000"/>
                  </a:lnSpc>
                  <a:buAutoNum type="arabicPeriod" startAt="7"/>
                  <a:defRPr/>
                </a:pPr>
                <a:r>
                  <a:rPr lang="en-US" sz="2800" b="1" dirty="0">
                    <a:solidFill>
                      <a:schemeClr val="tx2"/>
                    </a:solidFill>
                    <a:latin typeface="Times New Roman" pitchFamily="18" charset="0"/>
                    <a:cs typeface="Times New Roman" pitchFamily="18" charset="0"/>
                  </a:rPr>
                  <a:t> 	A.</a:t>
                </a:r>
                <a:r>
                  <a:rPr lang="en-US" sz="2800" b="1" dirty="0">
                    <a:solidFill>
                      <a:schemeClr val="tx2"/>
                    </a:solidFill>
                    <a:cs typeface="Times New Roman" pitchFamily="18" charset="0"/>
                  </a:rPr>
                  <a:t> </a:t>
                </a:r>
                <a14:m>
                  <m:oMath xmlns:m="http://schemas.openxmlformats.org/officeDocument/2006/math">
                    <m:acc>
                      <m:accPr>
                        <m:chr m:val="̅"/>
                        <m:ctrlPr>
                          <a:rPr lang="en-US" sz="2800" b="1" i="1" dirty="0" smtClean="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𝑨</m:t>
                        </m:r>
                      </m:e>
                    </m:acc>
                  </m:oMath>
                </a14:m>
                <a:r>
                  <a:rPr lang="en-US" sz="2800" b="1" dirty="0">
                    <a:solidFill>
                      <a:schemeClr val="tx2"/>
                    </a:solidFill>
                    <a:latin typeface="Times New Roman" pitchFamily="18" charset="0"/>
                    <a:cs typeface="Times New Roman" pitchFamily="18" charset="0"/>
                  </a:rPr>
                  <a:t>=0</a:t>
                </a:r>
              </a:p>
              <a:p>
                <a:pPr marL="1428750" lvl="2" indent="-514350" algn="just">
                  <a:lnSpc>
                    <a:spcPct val="200000"/>
                  </a:lnSpc>
                  <a:buAutoNum type="arabicPeriod" startAt="7"/>
                  <a:defRPr/>
                </a:pPr>
                <a:r>
                  <a:rPr lang="en-US" sz="2800" b="1" dirty="0">
                    <a:solidFill>
                      <a:schemeClr val="tx2"/>
                    </a:solidFill>
                    <a:latin typeface="Times New Roman" pitchFamily="18" charset="0"/>
                    <a:cs typeface="Times New Roman" pitchFamily="18" charset="0"/>
                  </a:rPr>
                  <a:t>	A=</a:t>
                </a:r>
                <a14:m>
                  <m:oMath xmlns:m="http://schemas.openxmlformats.org/officeDocument/2006/math">
                    <m:acc>
                      <m:accPr>
                        <m:chr m:val="̿"/>
                        <m:ctrlPr>
                          <a:rPr lang="en-US" sz="2800" b="1" i="1" smtClean="0">
                            <a:solidFill>
                              <a:schemeClr val="tx2"/>
                            </a:solidFill>
                            <a:latin typeface="Cambria Math" panose="02040503050406030204" pitchFamily="18" charset="0"/>
                            <a:cs typeface="Times New Roman" pitchFamily="18" charset="0"/>
                          </a:rPr>
                        </m:ctrlPr>
                      </m:accPr>
                      <m:e>
                        <m:r>
                          <a:rPr lang="en-US" sz="2800" b="1" i="1" smtClean="0">
                            <a:solidFill>
                              <a:schemeClr val="tx2"/>
                            </a:solidFill>
                            <a:latin typeface="Cambria Math" panose="02040503050406030204" pitchFamily="18" charset="0"/>
                            <a:cs typeface="Times New Roman" pitchFamily="18" charset="0"/>
                          </a:rPr>
                          <m:t>𝑨</m:t>
                        </m:r>
                      </m:e>
                    </m:acc>
                  </m:oMath>
                </a14:m>
                <a:endParaRPr lang="en-US" altLang="en-US" sz="2800" b="1" dirty="0">
                  <a:solidFill>
                    <a:schemeClr val="tx2"/>
                  </a:solidFill>
                  <a:latin typeface="Times New Roman" pitchFamily="18" charset="0"/>
                  <a:cs typeface="Times New Roman" pitchFamily="18" charset="0"/>
                </a:endParaRPr>
              </a:p>
              <a:p>
                <a:pPr marL="1428750" lvl="2" indent="-514350" algn="just">
                  <a:lnSpc>
                    <a:spcPct val="200000"/>
                  </a:lnSpc>
                  <a:buAutoNum type="arabicPeriod" startAt="7"/>
                  <a:defRPr/>
                </a:pPr>
                <a:r>
                  <a:rPr lang="en-US" altLang="en-US" sz="2800" b="1" dirty="0">
                    <a:solidFill>
                      <a:schemeClr val="tx2"/>
                    </a:solidFill>
                    <a:latin typeface="Times New Roman" pitchFamily="18" charset="0"/>
                    <a:cs typeface="Times New Roman" pitchFamily="18" charset="0"/>
                  </a:rPr>
                  <a:t> 	A + AB = A</a:t>
                </a:r>
              </a:p>
              <a:p>
                <a:pPr marL="1428750" lvl="2" indent="-514350" algn="just">
                  <a:lnSpc>
                    <a:spcPct val="200000"/>
                  </a:lnSpc>
                  <a:buAutoNum type="arabicPeriod" startAt="7"/>
                  <a:defRPr/>
                </a:pPr>
                <a:r>
                  <a:rPr lang="en-US" altLang="en-US" sz="2800" b="1" dirty="0">
                    <a:solidFill>
                      <a:schemeClr val="tx2"/>
                    </a:solidFill>
                    <a:latin typeface="Times New Roman" pitchFamily="18" charset="0"/>
                    <a:cs typeface="Times New Roman" pitchFamily="18" charset="0"/>
                  </a:rPr>
                  <a:t> 	A + </a:t>
                </a:r>
                <a14:m>
                  <m:oMath xmlns:m="http://schemas.openxmlformats.org/officeDocument/2006/math">
                    <m:acc>
                      <m:accPr>
                        <m:chr m:val="̅"/>
                        <m:ctrlPr>
                          <a:rPr lang="en-US" sz="2800" b="1" i="1" dirty="0" smtClean="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𝑨</m:t>
                        </m:r>
                      </m:e>
                    </m:acc>
                    <m:r>
                      <a:rPr lang="en-US" sz="2800" b="1" i="1" dirty="0" smtClean="0">
                        <a:solidFill>
                          <a:schemeClr val="tx2"/>
                        </a:solidFill>
                        <a:latin typeface="Cambria Math" panose="02040503050406030204" pitchFamily="18" charset="0"/>
                        <a:cs typeface="Times New Roman" pitchFamily="18" charset="0"/>
                      </a:rPr>
                      <m:t> </m:t>
                    </m:r>
                  </m:oMath>
                </a14:m>
                <a:r>
                  <a:rPr lang="en-US" altLang="en-US" sz="2800" b="1" dirty="0">
                    <a:solidFill>
                      <a:schemeClr val="tx2"/>
                    </a:solidFill>
                    <a:latin typeface="Times New Roman" pitchFamily="18" charset="0"/>
                    <a:cs typeface="Times New Roman" pitchFamily="18" charset="0"/>
                  </a:rPr>
                  <a:t>B = A + B</a:t>
                </a:r>
              </a:p>
              <a:p>
                <a:pPr marL="1428750" lvl="2" indent="-514350" algn="just">
                  <a:lnSpc>
                    <a:spcPct val="200000"/>
                  </a:lnSpc>
                  <a:buAutoNum type="arabicPeriod" startAt="7"/>
                  <a:defRPr/>
                </a:pPr>
                <a:r>
                  <a:rPr lang="en-US" altLang="en-US" sz="2800" b="1" dirty="0">
                    <a:solidFill>
                      <a:schemeClr val="tx2"/>
                    </a:solidFill>
                    <a:latin typeface="Times New Roman" pitchFamily="18" charset="0"/>
                    <a:cs typeface="Times New Roman" pitchFamily="18" charset="0"/>
                  </a:rPr>
                  <a:t> 	(A + B)(A + C) = A + BC</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5975610"/>
              </a:xfrm>
              <a:prstGeom prst="rect">
                <a:avLst/>
              </a:prstGeom>
              <a:blipFill>
                <a:blip r:embed="rId4"/>
                <a:stretch>
                  <a:fillRect l="-600"/>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3474030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992340"/>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Illustrate the rules</a:t>
            </a:r>
          </a:p>
          <a:p>
            <a:pPr algn="just">
              <a:lnSpc>
                <a:spcPct val="200000"/>
              </a:lnSpc>
              <a:defRPr/>
            </a:pP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2800" b="1"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36493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438890"/>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De Morgan’s 1st Theorem</a:t>
                </a:r>
              </a:p>
              <a:p>
                <a:pPr algn="just">
                  <a:lnSpc>
                    <a:spcPct val="200000"/>
                  </a:lnSpc>
                  <a:defRPr/>
                </a:pPr>
                <a:r>
                  <a:rPr lang="en-US" altLang="en-US" sz="1900" b="1" dirty="0">
                    <a:solidFill>
                      <a:schemeClr val="tx2"/>
                    </a:solidFill>
                    <a:latin typeface="Times New Roman" pitchFamily="18" charset="0"/>
                    <a:cs typeface="Times New Roman" pitchFamily="18" charset="0"/>
                  </a:rPr>
                  <a:t> </a:t>
                </a:r>
                <a:r>
                  <a:rPr lang="en-US" altLang="en-US" sz="1900" dirty="0">
                    <a:solidFill>
                      <a:schemeClr val="tx2"/>
                    </a:solidFill>
                    <a:latin typeface="Times New Roman" pitchFamily="18" charset="0"/>
                    <a:cs typeface="Times New Roman" pitchFamily="18" charset="0"/>
                  </a:rPr>
                  <a:t>The complement of a product of variables is equal to the sum of the complemented variables</a:t>
                </a:r>
              </a:p>
              <a:p>
                <a:pPr algn="ctr">
                  <a:lnSpc>
                    <a:spcPct val="200000"/>
                  </a:lnSpc>
                  <a:defRPr/>
                </a:pPr>
                <a14:m>
                  <m:oMath xmlns:m="http://schemas.openxmlformats.org/officeDocument/2006/math">
                    <m:acc>
                      <m:accPr>
                        <m:chr m:val="̅"/>
                        <m:ctrlPr>
                          <a:rPr lang="en-US" sz="2800" b="1" i="1" dirty="0" smtClean="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𝑨</m:t>
                        </m:r>
                      </m:e>
                    </m:acc>
                  </m:oMath>
                </a14:m>
                <a:r>
                  <a:rPr lang="en-US" sz="2800" b="1" dirty="0">
                    <a:solidFill>
                      <a:schemeClr val="tx2"/>
                    </a:solidFill>
                    <a:cs typeface="Times New Roman" pitchFamily="18" charset="0"/>
                  </a:rPr>
                  <a:t> </a:t>
                </a:r>
                <a14:m>
                  <m:oMath xmlns:m="http://schemas.openxmlformats.org/officeDocument/2006/math">
                    <m:r>
                      <a:rPr lang="en-US" sz="2800" b="1" dirty="0">
                        <a:solidFill>
                          <a:schemeClr val="tx2"/>
                        </a:solidFill>
                        <a:latin typeface="Cambria Math" panose="02040503050406030204" pitchFamily="18" charset="0"/>
                        <a:cs typeface="Times New Roman" pitchFamily="18" charset="0"/>
                      </a:rPr>
                      <m:t>+</m:t>
                    </m:r>
                    <m:acc>
                      <m:accPr>
                        <m:chr m:val="̅"/>
                        <m:ctrlPr>
                          <a:rPr lang="en-US" sz="2800" b="1" i="1" dirty="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𝑩</m:t>
                        </m:r>
                      </m:e>
                    </m:acc>
                    <m:r>
                      <a:rPr lang="en-US" sz="2800" b="0" i="0" dirty="0" smtClean="0">
                        <a:solidFill>
                          <a:schemeClr val="tx2"/>
                        </a:solidFill>
                        <a:latin typeface="Cambria Math" panose="02040503050406030204" pitchFamily="18" charset="0"/>
                        <a:cs typeface="Times New Roman" pitchFamily="18" charset="0"/>
                      </a:rPr>
                      <m:t>=</m:t>
                    </m:r>
                    <m:acc>
                      <m:accPr>
                        <m:chr m:val="̅"/>
                        <m:ctrlPr>
                          <a:rPr lang="en-US" sz="2800" b="1" i="1" dirty="0">
                            <a:solidFill>
                              <a:schemeClr val="tx2"/>
                            </a:solidFill>
                            <a:latin typeface="Cambria Math" panose="02040503050406030204" pitchFamily="18" charset="0"/>
                            <a:cs typeface="Times New Roman" pitchFamily="18" charset="0"/>
                          </a:rPr>
                        </m:ctrlPr>
                      </m:accPr>
                      <m:e>
                        <m:r>
                          <a:rPr lang="en-US" sz="2800" b="1" i="1" dirty="0">
                            <a:solidFill>
                              <a:schemeClr val="tx2"/>
                            </a:solidFill>
                            <a:latin typeface="Cambria Math" panose="02040503050406030204" pitchFamily="18" charset="0"/>
                            <a:cs typeface="Times New Roman" pitchFamily="18" charset="0"/>
                          </a:rPr>
                          <m:t>𝑨</m:t>
                        </m:r>
                        <m:r>
                          <a:rPr lang="en-US" sz="2800" b="1" i="1" dirty="0" smtClean="0">
                            <a:solidFill>
                              <a:schemeClr val="tx2"/>
                            </a:solidFill>
                            <a:latin typeface="Cambria Math" panose="02040503050406030204" pitchFamily="18" charset="0"/>
                            <a:cs typeface="Times New Roman" pitchFamily="18" charset="0"/>
                          </a:rPr>
                          <m:t>𝑩</m:t>
                        </m:r>
                      </m:e>
                    </m:acc>
                  </m:oMath>
                </a14:m>
                <a:endParaRPr lang="en-US" altLang="en-US" sz="2800" dirty="0">
                  <a:solidFill>
                    <a:schemeClr val="tx2"/>
                  </a:solidFill>
                  <a:latin typeface="Times New Roman" pitchFamily="18" charset="0"/>
                  <a:cs typeface="Times New Roman" pitchFamily="18" charset="0"/>
                </a:endParaRPr>
              </a:p>
              <a:p>
                <a:pPr algn="just">
                  <a:lnSpc>
                    <a:spcPct val="200000"/>
                  </a:lnSpc>
                  <a:defRPr/>
                </a:pPr>
                <a:endParaRPr lang="en-US" altLang="en-US" sz="2800" b="1" dirty="0">
                  <a:solidFill>
                    <a:schemeClr val="tx2"/>
                  </a:solidFill>
                  <a:latin typeface="Times New Roman" pitchFamily="18" charset="0"/>
                  <a:cs typeface="Times New Roman" pitchFamily="18" charset="0"/>
                </a:endParaRP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3438890"/>
              </a:xfrm>
              <a:prstGeom prst="rect">
                <a:avLst/>
              </a:prstGeom>
              <a:blipFill>
                <a:blip r:embed="rId4"/>
                <a:stretch>
                  <a:fillRect l="-600" r="-600"/>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1381076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438890"/>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De Morgan’s 2nd Theorem</a:t>
                </a:r>
              </a:p>
              <a:p>
                <a:pPr algn="just">
                  <a:lnSpc>
                    <a:spcPct val="200000"/>
                  </a:lnSpc>
                  <a:defRPr/>
                </a:pPr>
                <a:r>
                  <a:rPr lang="en-US" altLang="en-US" sz="1900" b="1" dirty="0">
                    <a:solidFill>
                      <a:schemeClr val="tx2"/>
                    </a:solidFill>
                    <a:latin typeface="Times New Roman" pitchFamily="18" charset="0"/>
                    <a:cs typeface="Times New Roman" pitchFamily="18" charset="0"/>
                  </a:rPr>
                  <a:t> </a:t>
                </a:r>
                <a:r>
                  <a:rPr lang="en-US" altLang="en-US" sz="1900" dirty="0">
                    <a:solidFill>
                      <a:schemeClr val="tx2"/>
                    </a:solidFill>
                    <a:latin typeface="Times New Roman" pitchFamily="18" charset="0"/>
                    <a:cs typeface="Times New Roman" pitchFamily="18" charset="0"/>
                  </a:rPr>
                  <a:t>The complement of a sum of variables is equal to the product of the complemented variables.</a:t>
                </a:r>
              </a:p>
              <a:p>
                <a:pPr algn="ctr">
                  <a:lnSpc>
                    <a:spcPct val="200000"/>
                  </a:lnSpc>
                  <a:defRPr/>
                </a:pPr>
                <a14:m>
                  <m:oMath xmlns:m="http://schemas.openxmlformats.org/officeDocument/2006/math">
                    <m:acc>
                      <m:accPr>
                        <m:chr m:val="̅"/>
                        <m:ctrlPr>
                          <a:rPr lang="en-US" sz="2800" b="1" i="1" dirty="0" smtClean="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𝑨</m:t>
                        </m:r>
                      </m:e>
                    </m:acc>
                  </m:oMath>
                </a14:m>
                <a:r>
                  <a:rPr lang="en-US" sz="2800" b="1" dirty="0">
                    <a:solidFill>
                      <a:schemeClr val="tx2"/>
                    </a:solidFill>
                    <a:cs typeface="Times New Roman" pitchFamily="18" charset="0"/>
                  </a:rPr>
                  <a:t> </a:t>
                </a:r>
                <a14:m>
                  <m:oMath xmlns:m="http://schemas.openxmlformats.org/officeDocument/2006/math">
                    <m:r>
                      <a:rPr lang="en-US" sz="2800" b="1" dirty="0" smtClean="0">
                        <a:solidFill>
                          <a:schemeClr val="tx2"/>
                        </a:solidFill>
                        <a:latin typeface="Cambria Math" panose="02040503050406030204" pitchFamily="18" charset="0"/>
                        <a:cs typeface="Times New Roman" pitchFamily="18" charset="0"/>
                      </a:rPr>
                      <m:t>.</m:t>
                    </m:r>
                    <m:acc>
                      <m:accPr>
                        <m:chr m:val="̅"/>
                        <m:ctrlPr>
                          <a:rPr lang="en-US" sz="2800" b="1" i="1" dirty="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𝑩</m:t>
                        </m:r>
                      </m:e>
                    </m:acc>
                    <m:r>
                      <a:rPr lang="en-US" sz="2800" b="0" i="0" dirty="0" smtClean="0">
                        <a:solidFill>
                          <a:schemeClr val="tx2"/>
                        </a:solidFill>
                        <a:latin typeface="Cambria Math" panose="02040503050406030204" pitchFamily="18" charset="0"/>
                        <a:cs typeface="Times New Roman" pitchFamily="18" charset="0"/>
                      </a:rPr>
                      <m:t>=</m:t>
                    </m:r>
                    <m:acc>
                      <m:accPr>
                        <m:chr m:val="̅"/>
                        <m:ctrlPr>
                          <a:rPr lang="en-US" sz="2800" b="1" i="1" dirty="0">
                            <a:solidFill>
                              <a:schemeClr val="tx2"/>
                            </a:solidFill>
                            <a:latin typeface="Cambria Math" panose="02040503050406030204" pitchFamily="18" charset="0"/>
                            <a:cs typeface="Times New Roman" pitchFamily="18" charset="0"/>
                          </a:rPr>
                        </m:ctrlPr>
                      </m:accPr>
                      <m:e>
                        <m:r>
                          <a:rPr lang="en-US" sz="2800" b="1" i="1" dirty="0">
                            <a:solidFill>
                              <a:schemeClr val="tx2"/>
                            </a:solidFill>
                            <a:latin typeface="Cambria Math" panose="02040503050406030204" pitchFamily="18" charset="0"/>
                            <a:cs typeface="Times New Roman" pitchFamily="18" charset="0"/>
                          </a:rPr>
                          <m:t>𝑨</m:t>
                        </m:r>
                        <m:r>
                          <a:rPr lang="en-US" sz="2800" b="1" i="1" dirty="0" smtClean="0">
                            <a:solidFill>
                              <a:schemeClr val="tx2"/>
                            </a:solidFill>
                            <a:latin typeface="Cambria Math" panose="02040503050406030204" pitchFamily="18" charset="0"/>
                            <a:cs typeface="Times New Roman" pitchFamily="18" charset="0"/>
                          </a:rPr>
                          <m:t>+</m:t>
                        </m:r>
                        <m:r>
                          <a:rPr lang="en-US" sz="2800" b="1" i="1" dirty="0" smtClean="0">
                            <a:solidFill>
                              <a:schemeClr val="tx2"/>
                            </a:solidFill>
                            <a:latin typeface="Cambria Math" panose="02040503050406030204" pitchFamily="18" charset="0"/>
                            <a:cs typeface="Times New Roman" pitchFamily="18" charset="0"/>
                          </a:rPr>
                          <m:t>𝑩</m:t>
                        </m:r>
                      </m:e>
                    </m:acc>
                  </m:oMath>
                </a14:m>
                <a:endParaRPr lang="en-US" altLang="en-US" sz="2800" dirty="0">
                  <a:solidFill>
                    <a:schemeClr val="tx2"/>
                  </a:solidFill>
                  <a:latin typeface="Times New Roman" pitchFamily="18" charset="0"/>
                  <a:cs typeface="Times New Roman" pitchFamily="18" charset="0"/>
                </a:endParaRPr>
              </a:p>
              <a:p>
                <a:pPr algn="just">
                  <a:lnSpc>
                    <a:spcPct val="200000"/>
                  </a:lnSpc>
                  <a:defRPr/>
                </a:pPr>
                <a:endParaRPr lang="en-US" altLang="en-US" sz="2800" b="1" dirty="0">
                  <a:solidFill>
                    <a:schemeClr val="tx2"/>
                  </a:solidFill>
                  <a:latin typeface="Times New Roman" pitchFamily="18" charset="0"/>
                  <a:cs typeface="Times New Roman" pitchFamily="18" charset="0"/>
                </a:endParaRP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3438890"/>
              </a:xfrm>
              <a:prstGeom prst="rect">
                <a:avLst/>
              </a:prstGeom>
              <a:blipFill>
                <a:blip r:embed="rId4"/>
                <a:stretch>
                  <a:fillRect l="-600" r="-600"/>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71804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438890"/>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De Morgan’s 2nd Theorem</a:t>
                </a:r>
              </a:p>
              <a:p>
                <a:pPr algn="just">
                  <a:lnSpc>
                    <a:spcPct val="200000"/>
                  </a:lnSpc>
                  <a:defRPr/>
                </a:pPr>
                <a:r>
                  <a:rPr lang="en-US" altLang="en-US" sz="1900" b="1" dirty="0">
                    <a:solidFill>
                      <a:schemeClr val="tx2"/>
                    </a:solidFill>
                    <a:latin typeface="Times New Roman" pitchFamily="18" charset="0"/>
                    <a:cs typeface="Times New Roman" pitchFamily="18" charset="0"/>
                  </a:rPr>
                  <a:t> </a:t>
                </a:r>
                <a:r>
                  <a:rPr lang="en-US" altLang="en-US" sz="1900" dirty="0">
                    <a:solidFill>
                      <a:schemeClr val="tx2"/>
                    </a:solidFill>
                    <a:latin typeface="Times New Roman" pitchFamily="18" charset="0"/>
                    <a:cs typeface="Times New Roman" pitchFamily="18" charset="0"/>
                  </a:rPr>
                  <a:t>The complement of a sum of variables is equal to the product of the complemented variables.</a:t>
                </a:r>
              </a:p>
              <a:p>
                <a:pPr algn="ctr">
                  <a:lnSpc>
                    <a:spcPct val="200000"/>
                  </a:lnSpc>
                  <a:defRPr/>
                </a:pPr>
                <a14:m>
                  <m:oMath xmlns:m="http://schemas.openxmlformats.org/officeDocument/2006/math">
                    <m:acc>
                      <m:accPr>
                        <m:chr m:val="̅"/>
                        <m:ctrlPr>
                          <a:rPr lang="en-US" sz="2800" b="1" i="1" dirty="0" smtClean="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𝑨</m:t>
                        </m:r>
                      </m:e>
                    </m:acc>
                  </m:oMath>
                </a14:m>
                <a:r>
                  <a:rPr lang="en-US" sz="2800" b="1" dirty="0">
                    <a:solidFill>
                      <a:schemeClr val="tx2"/>
                    </a:solidFill>
                    <a:cs typeface="Times New Roman" pitchFamily="18" charset="0"/>
                  </a:rPr>
                  <a:t> </a:t>
                </a:r>
                <a14:m>
                  <m:oMath xmlns:m="http://schemas.openxmlformats.org/officeDocument/2006/math">
                    <m:r>
                      <a:rPr lang="en-US" sz="2800" b="1" dirty="0" smtClean="0">
                        <a:solidFill>
                          <a:schemeClr val="tx2"/>
                        </a:solidFill>
                        <a:latin typeface="Cambria Math" panose="02040503050406030204" pitchFamily="18" charset="0"/>
                        <a:cs typeface="Times New Roman" pitchFamily="18" charset="0"/>
                      </a:rPr>
                      <m:t>.</m:t>
                    </m:r>
                    <m:acc>
                      <m:accPr>
                        <m:chr m:val="̅"/>
                        <m:ctrlPr>
                          <a:rPr lang="en-US" sz="2800" b="1" i="1" dirty="0">
                            <a:solidFill>
                              <a:schemeClr val="tx2"/>
                            </a:solidFill>
                            <a:latin typeface="Cambria Math" panose="02040503050406030204" pitchFamily="18" charset="0"/>
                            <a:cs typeface="Times New Roman" pitchFamily="18" charset="0"/>
                          </a:rPr>
                        </m:ctrlPr>
                      </m:accPr>
                      <m:e>
                        <m:r>
                          <a:rPr lang="en-US" sz="2800" b="1" i="1" dirty="0" smtClean="0">
                            <a:solidFill>
                              <a:schemeClr val="tx2"/>
                            </a:solidFill>
                            <a:latin typeface="Cambria Math" panose="02040503050406030204" pitchFamily="18" charset="0"/>
                            <a:cs typeface="Times New Roman" pitchFamily="18" charset="0"/>
                          </a:rPr>
                          <m:t>𝑩</m:t>
                        </m:r>
                      </m:e>
                    </m:acc>
                    <m:r>
                      <a:rPr lang="en-US" sz="2800" b="0" i="0" dirty="0" smtClean="0">
                        <a:solidFill>
                          <a:schemeClr val="tx2"/>
                        </a:solidFill>
                        <a:latin typeface="Cambria Math" panose="02040503050406030204" pitchFamily="18" charset="0"/>
                        <a:cs typeface="Times New Roman" pitchFamily="18" charset="0"/>
                      </a:rPr>
                      <m:t>=</m:t>
                    </m:r>
                    <m:acc>
                      <m:accPr>
                        <m:chr m:val="̅"/>
                        <m:ctrlPr>
                          <a:rPr lang="en-US" sz="2800" b="1" i="1" dirty="0">
                            <a:solidFill>
                              <a:schemeClr val="tx2"/>
                            </a:solidFill>
                            <a:latin typeface="Cambria Math" panose="02040503050406030204" pitchFamily="18" charset="0"/>
                            <a:cs typeface="Times New Roman" pitchFamily="18" charset="0"/>
                          </a:rPr>
                        </m:ctrlPr>
                      </m:accPr>
                      <m:e>
                        <m:r>
                          <a:rPr lang="en-US" sz="2800" b="1" i="1" dirty="0">
                            <a:solidFill>
                              <a:schemeClr val="tx2"/>
                            </a:solidFill>
                            <a:latin typeface="Cambria Math" panose="02040503050406030204" pitchFamily="18" charset="0"/>
                            <a:cs typeface="Times New Roman" pitchFamily="18" charset="0"/>
                          </a:rPr>
                          <m:t>𝑨</m:t>
                        </m:r>
                        <m:r>
                          <a:rPr lang="en-US" sz="2800" b="1" i="1" dirty="0" smtClean="0">
                            <a:solidFill>
                              <a:schemeClr val="tx2"/>
                            </a:solidFill>
                            <a:latin typeface="Cambria Math" panose="02040503050406030204" pitchFamily="18" charset="0"/>
                            <a:cs typeface="Times New Roman" pitchFamily="18" charset="0"/>
                          </a:rPr>
                          <m:t>+</m:t>
                        </m:r>
                        <m:r>
                          <a:rPr lang="en-US" sz="2800" b="1" i="1" dirty="0" smtClean="0">
                            <a:solidFill>
                              <a:schemeClr val="tx2"/>
                            </a:solidFill>
                            <a:latin typeface="Cambria Math" panose="02040503050406030204" pitchFamily="18" charset="0"/>
                            <a:cs typeface="Times New Roman" pitchFamily="18" charset="0"/>
                          </a:rPr>
                          <m:t>𝑩</m:t>
                        </m:r>
                      </m:e>
                    </m:acc>
                  </m:oMath>
                </a14:m>
                <a:endParaRPr lang="en-US" altLang="en-US" sz="2800" dirty="0">
                  <a:solidFill>
                    <a:schemeClr val="tx2"/>
                  </a:solidFill>
                  <a:latin typeface="Times New Roman" pitchFamily="18" charset="0"/>
                  <a:cs typeface="Times New Roman" pitchFamily="18" charset="0"/>
                </a:endParaRPr>
              </a:p>
              <a:p>
                <a:pPr algn="just">
                  <a:lnSpc>
                    <a:spcPct val="200000"/>
                  </a:lnSpc>
                  <a:defRPr/>
                </a:pPr>
                <a:endParaRPr lang="en-US" altLang="en-US" sz="2800" b="1" dirty="0">
                  <a:solidFill>
                    <a:schemeClr val="tx2"/>
                  </a:solidFill>
                  <a:latin typeface="Times New Roman" pitchFamily="18" charset="0"/>
                  <a:cs typeface="Times New Roman" pitchFamily="18" charset="0"/>
                </a:endParaRP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3438890"/>
              </a:xfrm>
              <a:prstGeom prst="rect">
                <a:avLst/>
              </a:prstGeom>
              <a:blipFill>
                <a:blip r:embed="rId4"/>
                <a:stretch>
                  <a:fillRect l="-600" r="-600"/>
                </a:stretch>
              </a:blipFill>
              <a:ln w="9525">
                <a:noFill/>
                <a:miter lim="800000"/>
                <a:headEnd/>
                <a:tailEnd/>
              </a:ln>
            </p:spPr>
            <p:txBody>
              <a:bodyPr/>
              <a:lstStyle/>
              <a:p>
                <a:r>
                  <a:rPr lang="en-US">
                    <a:noFill/>
                  </a:rPr>
                  <a:t> </a:t>
                </a:r>
              </a:p>
            </p:txBody>
          </p:sp>
        </mc:Fallback>
      </mc:AlternateContent>
    </p:spTree>
    <p:extLst>
      <p:ext uri="{BB962C8B-B14F-4D97-AF65-F5344CB8AC3E}">
        <p14:creationId xmlns:p14="http://schemas.microsoft.com/office/powerpoint/2010/main" val="2909748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SOP and POS</a:t>
            </a:r>
          </a:p>
          <a:p>
            <a:pPr algn="just">
              <a:lnSpc>
                <a:spcPct val="200000"/>
              </a:lnSpc>
              <a:defRPr/>
            </a:pPr>
            <a:r>
              <a:rPr lang="en-US" altLang="en-US" sz="1900" dirty="0">
                <a:solidFill>
                  <a:schemeClr val="tx2"/>
                </a:solidFill>
                <a:latin typeface="Times New Roman" pitchFamily="18" charset="0"/>
                <a:cs typeface="Times New Roman" pitchFamily="18" charset="0"/>
              </a:rPr>
              <a:t>Boolean expressions can be written in the sum-of-products form (SOP) or in the product-of-sums form (POS). These forms can simplify the implementation of combinational logic, particularly with PLDs. In both forms, an overbar cannot extend over more than one variable.</a:t>
            </a:r>
          </a:p>
          <a:p>
            <a:pPr algn="just">
              <a:lnSpc>
                <a:spcPct val="200000"/>
              </a:lnSpc>
              <a:defRPr/>
            </a:pPr>
            <a:r>
              <a:rPr lang="en-US" altLang="en-US" sz="1900" dirty="0">
                <a:solidFill>
                  <a:schemeClr val="tx2"/>
                </a:solidFill>
                <a:latin typeface="Times New Roman" pitchFamily="18" charset="0"/>
                <a:cs typeface="Times New Roman" pitchFamily="18" charset="0"/>
              </a:rPr>
              <a:t>An expression is in SOP form when two or more product terms are summed as in the following examples:</a:t>
            </a:r>
          </a:p>
          <a:p>
            <a:pPr algn="just">
              <a:lnSpc>
                <a:spcPct val="200000"/>
              </a:lnSpc>
              <a:defRPr/>
            </a:pP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grpSp>
        <p:nvGrpSpPr>
          <p:cNvPr id="5" name="Group 28">
            <a:extLst>
              <a:ext uri="{FF2B5EF4-FFF2-40B4-BE49-F238E27FC236}">
                <a16:creationId xmlns:a16="http://schemas.microsoft.com/office/drawing/2014/main" id="{F8F778AD-8AFE-41B2-9C06-4E2D65A680F8}"/>
              </a:ext>
            </a:extLst>
          </p:cNvPr>
          <p:cNvGrpSpPr>
            <a:grpSpLocks/>
          </p:cNvGrpSpPr>
          <p:nvPr/>
        </p:nvGrpSpPr>
        <p:grpSpPr bwMode="auto">
          <a:xfrm>
            <a:off x="304800" y="5249862"/>
            <a:ext cx="7696200" cy="396875"/>
            <a:chOff x="672" y="2736"/>
            <a:chExt cx="4848" cy="250"/>
          </a:xfrm>
        </p:grpSpPr>
        <p:sp>
          <p:nvSpPr>
            <p:cNvPr id="7" name="Text Box 13">
              <a:extLst>
                <a:ext uri="{FF2B5EF4-FFF2-40B4-BE49-F238E27FC236}">
                  <a16:creationId xmlns:a16="http://schemas.microsoft.com/office/drawing/2014/main" id="{27FB68FE-C6EA-EA8C-DE09-6D7EE0EEEBED}"/>
                </a:ext>
              </a:extLst>
            </p:cNvPr>
            <p:cNvSpPr txBox="1">
              <a:spLocks noChangeArrowheads="1"/>
            </p:cNvSpPr>
            <p:nvPr/>
          </p:nvSpPr>
          <p:spPr bwMode="auto">
            <a:xfrm>
              <a:off x="672" y="2736"/>
              <a:ext cx="48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900" dirty="0">
                  <a:solidFill>
                    <a:schemeClr val="tx2"/>
                  </a:solidFill>
                  <a:latin typeface="Times New Roman" pitchFamily="18" charset="0"/>
                  <a:cs typeface="Times New Roman" pitchFamily="18" charset="0"/>
                </a:rPr>
                <a:t>A B C + A B                            A B C + C D		  C D + E</a:t>
              </a:r>
            </a:p>
          </p:txBody>
        </p:sp>
        <p:sp>
          <p:nvSpPr>
            <p:cNvPr id="8" name="Line 18">
              <a:extLst>
                <a:ext uri="{FF2B5EF4-FFF2-40B4-BE49-F238E27FC236}">
                  <a16:creationId xmlns:a16="http://schemas.microsoft.com/office/drawing/2014/main" id="{E2299C77-A21A-6554-8930-FAED39EEE1DE}"/>
                </a:ext>
              </a:extLst>
            </p:cNvPr>
            <p:cNvSpPr>
              <a:spLocks noChangeShapeType="1"/>
            </p:cNvSpPr>
            <p:nvPr/>
          </p:nvSpPr>
          <p:spPr bwMode="auto">
            <a:xfrm>
              <a:off x="743"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9">
              <a:extLst>
                <a:ext uri="{FF2B5EF4-FFF2-40B4-BE49-F238E27FC236}">
                  <a16:creationId xmlns:a16="http://schemas.microsoft.com/office/drawing/2014/main" id="{907456CA-8498-7866-623C-9C893A0F180C}"/>
                </a:ext>
              </a:extLst>
            </p:cNvPr>
            <p:cNvSpPr>
              <a:spLocks noChangeShapeType="1"/>
            </p:cNvSpPr>
            <p:nvPr/>
          </p:nvSpPr>
          <p:spPr bwMode="auto">
            <a:xfrm>
              <a:off x="880"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20">
              <a:extLst>
                <a:ext uri="{FF2B5EF4-FFF2-40B4-BE49-F238E27FC236}">
                  <a16:creationId xmlns:a16="http://schemas.microsoft.com/office/drawing/2014/main" id="{B2E10BC4-8FD1-A7C7-9757-997FAEA858BD}"/>
                </a:ext>
              </a:extLst>
            </p:cNvPr>
            <p:cNvSpPr>
              <a:spLocks noChangeShapeType="1"/>
            </p:cNvSpPr>
            <p:nvPr/>
          </p:nvSpPr>
          <p:spPr bwMode="auto">
            <a:xfrm>
              <a:off x="1017"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21">
              <a:extLst>
                <a:ext uri="{FF2B5EF4-FFF2-40B4-BE49-F238E27FC236}">
                  <a16:creationId xmlns:a16="http://schemas.microsoft.com/office/drawing/2014/main" id="{7CD2C736-5824-B84F-7CFD-E820EFECF8AA}"/>
                </a:ext>
              </a:extLst>
            </p:cNvPr>
            <p:cNvSpPr>
              <a:spLocks noChangeShapeType="1"/>
            </p:cNvSpPr>
            <p:nvPr/>
          </p:nvSpPr>
          <p:spPr bwMode="auto">
            <a:xfrm>
              <a:off x="3096"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22">
              <a:extLst>
                <a:ext uri="{FF2B5EF4-FFF2-40B4-BE49-F238E27FC236}">
                  <a16:creationId xmlns:a16="http://schemas.microsoft.com/office/drawing/2014/main" id="{65F087AC-C3E7-0FA0-22DE-ADB2AA66321B}"/>
                </a:ext>
              </a:extLst>
            </p:cNvPr>
            <p:cNvSpPr>
              <a:spLocks noChangeShapeType="1"/>
            </p:cNvSpPr>
            <p:nvPr/>
          </p:nvSpPr>
          <p:spPr bwMode="auto">
            <a:xfrm>
              <a:off x="3261" y="2769"/>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3">
              <a:extLst>
                <a:ext uri="{FF2B5EF4-FFF2-40B4-BE49-F238E27FC236}">
                  <a16:creationId xmlns:a16="http://schemas.microsoft.com/office/drawing/2014/main" id="{695D0B65-2C81-51C6-4314-F6EBFB77E1FC}"/>
                </a:ext>
              </a:extLst>
            </p:cNvPr>
            <p:cNvSpPr>
              <a:spLocks noChangeShapeType="1"/>
            </p:cNvSpPr>
            <p:nvPr/>
          </p:nvSpPr>
          <p:spPr bwMode="auto">
            <a:xfrm>
              <a:off x="2832" y="2769"/>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4">
              <a:extLst>
                <a:ext uri="{FF2B5EF4-FFF2-40B4-BE49-F238E27FC236}">
                  <a16:creationId xmlns:a16="http://schemas.microsoft.com/office/drawing/2014/main" id="{9867349F-D4FB-C088-D6EE-06D469496E6C}"/>
                </a:ext>
              </a:extLst>
            </p:cNvPr>
            <p:cNvSpPr>
              <a:spLocks noChangeShapeType="1"/>
            </p:cNvSpPr>
            <p:nvPr/>
          </p:nvSpPr>
          <p:spPr bwMode="auto">
            <a:xfrm>
              <a:off x="4656"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20182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dissolv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SOP and POS</a:t>
            </a:r>
          </a:p>
          <a:p>
            <a:pPr algn="just">
              <a:lnSpc>
                <a:spcPct val="200000"/>
              </a:lnSpc>
              <a:defRPr/>
            </a:pPr>
            <a:r>
              <a:rPr lang="en-US" altLang="en-US" sz="1900" dirty="0">
                <a:solidFill>
                  <a:schemeClr val="tx2"/>
                </a:solidFill>
                <a:latin typeface="Times New Roman" pitchFamily="18" charset="0"/>
                <a:cs typeface="Times New Roman" pitchFamily="18" charset="0"/>
              </a:rPr>
              <a:t>An expression is in POS form when two or more sum terms are multiplied as in the following examples:</a:t>
            </a:r>
          </a:p>
          <a:p>
            <a:pPr algn="just">
              <a:lnSpc>
                <a:spcPct val="200000"/>
              </a:lnSpc>
              <a:defRPr/>
            </a:pP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grpSp>
        <p:nvGrpSpPr>
          <p:cNvPr id="5" name="Group 28">
            <a:extLst>
              <a:ext uri="{FF2B5EF4-FFF2-40B4-BE49-F238E27FC236}">
                <a16:creationId xmlns:a16="http://schemas.microsoft.com/office/drawing/2014/main" id="{F8F778AD-8AFE-41B2-9C06-4E2D65A680F8}"/>
              </a:ext>
            </a:extLst>
          </p:cNvPr>
          <p:cNvGrpSpPr>
            <a:grpSpLocks/>
          </p:cNvGrpSpPr>
          <p:nvPr/>
        </p:nvGrpSpPr>
        <p:grpSpPr bwMode="auto">
          <a:xfrm>
            <a:off x="1179513" y="2768"/>
            <a:ext cx="6364288" cy="0"/>
            <a:chOff x="743" y="2768"/>
            <a:chExt cx="4009" cy="0"/>
          </a:xfrm>
        </p:grpSpPr>
        <p:sp>
          <p:nvSpPr>
            <p:cNvPr id="8" name="Line 18">
              <a:extLst>
                <a:ext uri="{FF2B5EF4-FFF2-40B4-BE49-F238E27FC236}">
                  <a16:creationId xmlns:a16="http://schemas.microsoft.com/office/drawing/2014/main" id="{E2299C77-A21A-6554-8930-FAED39EEE1DE}"/>
                </a:ext>
              </a:extLst>
            </p:cNvPr>
            <p:cNvSpPr>
              <a:spLocks noChangeShapeType="1"/>
            </p:cNvSpPr>
            <p:nvPr/>
          </p:nvSpPr>
          <p:spPr bwMode="auto">
            <a:xfrm>
              <a:off x="743"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9">
              <a:extLst>
                <a:ext uri="{FF2B5EF4-FFF2-40B4-BE49-F238E27FC236}">
                  <a16:creationId xmlns:a16="http://schemas.microsoft.com/office/drawing/2014/main" id="{907456CA-8498-7866-623C-9C893A0F180C}"/>
                </a:ext>
              </a:extLst>
            </p:cNvPr>
            <p:cNvSpPr>
              <a:spLocks noChangeShapeType="1"/>
            </p:cNvSpPr>
            <p:nvPr/>
          </p:nvSpPr>
          <p:spPr bwMode="auto">
            <a:xfrm>
              <a:off x="880"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20">
              <a:extLst>
                <a:ext uri="{FF2B5EF4-FFF2-40B4-BE49-F238E27FC236}">
                  <a16:creationId xmlns:a16="http://schemas.microsoft.com/office/drawing/2014/main" id="{B2E10BC4-8FD1-A7C7-9757-997FAEA858BD}"/>
                </a:ext>
              </a:extLst>
            </p:cNvPr>
            <p:cNvSpPr>
              <a:spLocks noChangeShapeType="1"/>
            </p:cNvSpPr>
            <p:nvPr/>
          </p:nvSpPr>
          <p:spPr bwMode="auto">
            <a:xfrm>
              <a:off x="1017"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21">
              <a:extLst>
                <a:ext uri="{FF2B5EF4-FFF2-40B4-BE49-F238E27FC236}">
                  <a16:creationId xmlns:a16="http://schemas.microsoft.com/office/drawing/2014/main" id="{7CD2C736-5824-B84F-7CFD-E820EFECF8AA}"/>
                </a:ext>
              </a:extLst>
            </p:cNvPr>
            <p:cNvSpPr>
              <a:spLocks noChangeShapeType="1"/>
            </p:cNvSpPr>
            <p:nvPr/>
          </p:nvSpPr>
          <p:spPr bwMode="auto">
            <a:xfrm>
              <a:off x="3079"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22">
              <a:extLst>
                <a:ext uri="{FF2B5EF4-FFF2-40B4-BE49-F238E27FC236}">
                  <a16:creationId xmlns:a16="http://schemas.microsoft.com/office/drawing/2014/main" id="{65F087AC-C3E7-0FA0-22DE-ADB2AA66321B}"/>
                </a:ext>
              </a:extLst>
            </p:cNvPr>
            <p:cNvSpPr>
              <a:spLocks noChangeShapeType="1"/>
            </p:cNvSpPr>
            <p:nvPr/>
          </p:nvSpPr>
          <p:spPr bwMode="auto">
            <a:xfrm>
              <a:off x="3216"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3">
              <a:extLst>
                <a:ext uri="{FF2B5EF4-FFF2-40B4-BE49-F238E27FC236}">
                  <a16:creationId xmlns:a16="http://schemas.microsoft.com/office/drawing/2014/main" id="{695D0B65-2C81-51C6-4314-F6EBFB77E1FC}"/>
                </a:ext>
              </a:extLst>
            </p:cNvPr>
            <p:cNvSpPr>
              <a:spLocks noChangeShapeType="1"/>
            </p:cNvSpPr>
            <p:nvPr/>
          </p:nvSpPr>
          <p:spPr bwMode="auto">
            <a:xfrm>
              <a:off x="2771"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4">
              <a:extLst>
                <a:ext uri="{FF2B5EF4-FFF2-40B4-BE49-F238E27FC236}">
                  <a16:creationId xmlns:a16="http://schemas.microsoft.com/office/drawing/2014/main" id="{9867349F-D4FB-C088-D6EE-06D469496E6C}"/>
                </a:ext>
              </a:extLst>
            </p:cNvPr>
            <p:cNvSpPr>
              <a:spLocks noChangeShapeType="1"/>
            </p:cNvSpPr>
            <p:nvPr/>
          </p:nvSpPr>
          <p:spPr bwMode="auto">
            <a:xfrm>
              <a:off x="4656"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982449" y="2897733"/>
            <a:ext cx="7696200" cy="396875"/>
            <a:chOff x="624" y="3456"/>
            <a:chExt cx="4848" cy="250"/>
          </a:xfrm>
        </p:grpSpPr>
        <p:sp>
          <p:nvSpPr>
            <p:cNvPr id="18" name="Text Box 16">
              <a:extLst>
                <a:ext uri="{FF2B5EF4-FFF2-40B4-BE49-F238E27FC236}">
                  <a16:creationId xmlns:a16="http://schemas.microsoft.com/office/drawing/2014/main" id="{FA97CD44-1442-8B16-83C0-F7A79E0F5653}"/>
                </a:ext>
              </a:extLst>
            </p:cNvPr>
            <p:cNvSpPr txBox="1">
              <a:spLocks noChangeArrowheads="1"/>
            </p:cNvSpPr>
            <p:nvPr/>
          </p:nvSpPr>
          <p:spPr bwMode="auto">
            <a:xfrm>
              <a:off x="624" y="3456"/>
              <a:ext cx="48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900" dirty="0">
                  <a:solidFill>
                    <a:schemeClr val="tx2"/>
                  </a:solidFill>
                  <a:latin typeface="Times New Roman" pitchFamily="18" charset="0"/>
                  <a:cs typeface="Times New Roman" pitchFamily="18" charset="0"/>
                </a:rPr>
                <a:t> (A + B)(A + C)          	  (A + B + C)(B + D) 	  (A + B)C</a:t>
              </a:r>
            </a:p>
          </p:txBody>
        </p:sp>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37241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dissolv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SOP and POS</a:t>
            </a:r>
          </a:p>
          <a:p>
            <a:pPr algn="just">
              <a:lnSpc>
                <a:spcPct val="200000"/>
              </a:lnSpc>
              <a:defRPr/>
            </a:pPr>
            <a:r>
              <a:rPr lang="en-US" altLang="en-US" sz="1900" dirty="0">
                <a:solidFill>
                  <a:schemeClr val="tx2"/>
                </a:solidFill>
                <a:latin typeface="Times New Roman" pitchFamily="18" charset="0"/>
                <a:cs typeface="Times New Roman" pitchFamily="18" charset="0"/>
              </a:rPr>
              <a:t>An expression is in POS form when two or more sum terms are multiplied as in the following examples:</a:t>
            </a:r>
          </a:p>
          <a:p>
            <a:pPr algn="just">
              <a:lnSpc>
                <a:spcPct val="200000"/>
              </a:lnSpc>
              <a:defRPr/>
            </a:pP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grpSp>
        <p:nvGrpSpPr>
          <p:cNvPr id="5" name="Group 28">
            <a:extLst>
              <a:ext uri="{FF2B5EF4-FFF2-40B4-BE49-F238E27FC236}">
                <a16:creationId xmlns:a16="http://schemas.microsoft.com/office/drawing/2014/main" id="{F8F778AD-8AFE-41B2-9C06-4E2D65A680F8}"/>
              </a:ext>
            </a:extLst>
          </p:cNvPr>
          <p:cNvGrpSpPr>
            <a:grpSpLocks/>
          </p:cNvGrpSpPr>
          <p:nvPr/>
        </p:nvGrpSpPr>
        <p:grpSpPr bwMode="auto">
          <a:xfrm>
            <a:off x="1179513" y="2768"/>
            <a:ext cx="6364288" cy="0"/>
            <a:chOff x="743" y="2768"/>
            <a:chExt cx="4009" cy="0"/>
          </a:xfrm>
        </p:grpSpPr>
        <p:sp>
          <p:nvSpPr>
            <p:cNvPr id="8" name="Line 18">
              <a:extLst>
                <a:ext uri="{FF2B5EF4-FFF2-40B4-BE49-F238E27FC236}">
                  <a16:creationId xmlns:a16="http://schemas.microsoft.com/office/drawing/2014/main" id="{E2299C77-A21A-6554-8930-FAED39EEE1DE}"/>
                </a:ext>
              </a:extLst>
            </p:cNvPr>
            <p:cNvSpPr>
              <a:spLocks noChangeShapeType="1"/>
            </p:cNvSpPr>
            <p:nvPr/>
          </p:nvSpPr>
          <p:spPr bwMode="auto">
            <a:xfrm>
              <a:off x="743"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9">
              <a:extLst>
                <a:ext uri="{FF2B5EF4-FFF2-40B4-BE49-F238E27FC236}">
                  <a16:creationId xmlns:a16="http://schemas.microsoft.com/office/drawing/2014/main" id="{907456CA-8498-7866-623C-9C893A0F180C}"/>
                </a:ext>
              </a:extLst>
            </p:cNvPr>
            <p:cNvSpPr>
              <a:spLocks noChangeShapeType="1"/>
            </p:cNvSpPr>
            <p:nvPr/>
          </p:nvSpPr>
          <p:spPr bwMode="auto">
            <a:xfrm>
              <a:off x="880"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20">
              <a:extLst>
                <a:ext uri="{FF2B5EF4-FFF2-40B4-BE49-F238E27FC236}">
                  <a16:creationId xmlns:a16="http://schemas.microsoft.com/office/drawing/2014/main" id="{B2E10BC4-8FD1-A7C7-9757-997FAEA858BD}"/>
                </a:ext>
              </a:extLst>
            </p:cNvPr>
            <p:cNvSpPr>
              <a:spLocks noChangeShapeType="1"/>
            </p:cNvSpPr>
            <p:nvPr/>
          </p:nvSpPr>
          <p:spPr bwMode="auto">
            <a:xfrm>
              <a:off x="1017"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21">
              <a:extLst>
                <a:ext uri="{FF2B5EF4-FFF2-40B4-BE49-F238E27FC236}">
                  <a16:creationId xmlns:a16="http://schemas.microsoft.com/office/drawing/2014/main" id="{7CD2C736-5824-B84F-7CFD-E820EFECF8AA}"/>
                </a:ext>
              </a:extLst>
            </p:cNvPr>
            <p:cNvSpPr>
              <a:spLocks noChangeShapeType="1"/>
            </p:cNvSpPr>
            <p:nvPr/>
          </p:nvSpPr>
          <p:spPr bwMode="auto">
            <a:xfrm>
              <a:off x="3079"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22">
              <a:extLst>
                <a:ext uri="{FF2B5EF4-FFF2-40B4-BE49-F238E27FC236}">
                  <a16:creationId xmlns:a16="http://schemas.microsoft.com/office/drawing/2014/main" id="{65F087AC-C3E7-0FA0-22DE-ADB2AA66321B}"/>
                </a:ext>
              </a:extLst>
            </p:cNvPr>
            <p:cNvSpPr>
              <a:spLocks noChangeShapeType="1"/>
            </p:cNvSpPr>
            <p:nvPr/>
          </p:nvSpPr>
          <p:spPr bwMode="auto">
            <a:xfrm>
              <a:off x="3216"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23">
              <a:extLst>
                <a:ext uri="{FF2B5EF4-FFF2-40B4-BE49-F238E27FC236}">
                  <a16:creationId xmlns:a16="http://schemas.microsoft.com/office/drawing/2014/main" id="{695D0B65-2C81-51C6-4314-F6EBFB77E1FC}"/>
                </a:ext>
              </a:extLst>
            </p:cNvPr>
            <p:cNvSpPr>
              <a:spLocks noChangeShapeType="1"/>
            </p:cNvSpPr>
            <p:nvPr/>
          </p:nvSpPr>
          <p:spPr bwMode="auto">
            <a:xfrm>
              <a:off x="2771"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24">
              <a:extLst>
                <a:ext uri="{FF2B5EF4-FFF2-40B4-BE49-F238E27FC236}">
                  <a16:creationId xmlns:a16="http://schemas.microsoft.com/office/drawing/2014/main" id="{9867349F-D4FB-C088-D6EE-06D469496E6C}"/>
                </a:ext>
              </a:extLst>
            </p:cNvPr>
            <p:cNvSpPr>
              <a:spLocks noChangeShapeType="1"/>
            </p:cNvSpPr>
            <p:nvPr/>
          </p:nvSpPr>
          <p:spPr bwMode="auto">
            <a:xfrm>
              <a:off x="4656" y="276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982449" y="2897733"/>
            <a:ext cx="7696200" cy="396875"/>
            <a:chOff x="624" y="3456"/>
            <a:chExt cx="4848" cy="250"/>
          </a:xfrm>
        </p:grpSpPr>
        <p:sp>
          <p:nvSpPr>
            <p:cNvPr id="18" name="Text Box 16">
              <a:extLst>
                <a:ext uri="{FF2B5EF4-FFF2-40B4-BE49-F238E27FC236}">
                  <a16:creationId xmlns:a16="http://schemas.microsoft.com/office/drawing/2014/main" id="{FA97CD44-1442-8B16-83C0-F7A79E0F5653}"/>
                </a:ext>
              </a:extLst>
            </p:cNvPr>
            <p:cNvSpPr txBox="1">
              <a:spLocks noChangeArrowheads="1"/>
            </p:cNvSpPr>
            <p:nvPr/>
          </p:nvSpPr>
          <p:spPr bwMode="auto">
            <a:xfrm>
              <a:off x="624" y="3456"/>
              <a:ext cx="48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900" dirty="0">
                  <a:solidFill>
                    <a:schemeClr val="tx2"/>
                  </a:solidFill>
                  <a:latin typeface="Times New Roman" pitchFamily="18" charset="0"/>
                  <a:cs typeface="Times New Roman" pitchFamily="18" charset="0"/>
                </a:rPr>
                <a:t> (A + B)(A + C)          	  (A + B + C)(B + D) 	  (A + B)C</a:t>
              </a:r>
            </a:p>
          </p:txBody>
        </p:sp>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8165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dissolve">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6435801"/>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SOP and POS standard form</a:t>
            </a:r>
          </a:p>
          <a:p>
            <a:pPr algn="just">
              <a:lnSpc>
                <a:spcPct val="200000"/>
              </a:lnSpc>
              <a:defRPr/>
            </a:pPr>
            <a:r>
              <a:rPr lang="en-US" altLang="en-US" sz="1900" dirty="0">
                <a:solidFill>
                  <a:schemeClr val="tx2"/>
                </a:solidFill>
                <a:latin typeface="Times New Roman" pitchFamily="18" charset="0"/>
                <a:cs typeface="Times New Roman" pitchFamily="18" charset="0"/>
              </a:rPr>
              <a:t>In SOP standard form, every variable in the domain must appear in each term. You can expand a nonstandard term to standard form by multiplying the term by a term consisting of the sum of the missing variable and its complement</a:t>
            </a:r>
          </a:p>
          <a:p>
            <a:pPr algn="just">
              <a:lnSpc>
                <a:spcPct val="200000"/>
              </a:lnSpc>
              <a:defRPr/>
            </a:pPr>
            <a:r>
              <a:rPr lang="en-US" altLang="en-US" sz="1900" dirty="0">
                <a:solidFill>
                  <a:schemeClr val="tx2"/>
                </a:solidFill>
                <a:latin typeface="Times New Roman" pitchFamily="18" charset="0"/>
                <a:cs typeface="Times New Roman" pitchFamily="18" charset="0"/>
              </a:rPr>
              <a:t>In POS standard form, every variable in the domain must appear in each sum term of the expression. You can expand a nonstandard POS expression to standard form by adding the product of the missing variable and its complement and applying rule 12, </a:t>
            </a:r>
          </a:p>
          <a:p>
            <a:pPr algn="just">
              <a:lnSpc>
                <a:spcPct val="200000"/>
              </a:lnSpc>
              <a:defRPr/>
            </a:pPr>
            <a:endParaRPr lang="en-US" altLang="en-US" sz="1900"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a:p>
            <a:pPr algn="just">
              <a:lnSpc>
                <a:spcPct val="200000"/>
              </a:lnSpc>
              <a:defRPr/>
            </a:pP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660952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5.2 BOOLEAN FUNCTION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5.2.3 </a:t>
            </a:r>
            <a:r>
              <a:rPr lang="en-US" sz="1900" b="1" dirty="0">
                <a:solidFill>
                  <a:schemeClr val="tx2"/>
                </a:solidFill>
                <a:latin typeface="Times New Roman" pitchFamily="18" charset="0"/>
                <a:cs typeface="Times New Roman" pitchFamily="18" charset="0"/>
              </a:rPr>
              <a:t>Logic gates</a:t>
            </a:r>
            <a:endParaRPr lang="en-US" altLang="en-US" sz="1900" b="1"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5" name="Picture 4">
            <a:extLst>
              <a:ext uri="{FF2B5EF4-FFF2-40B4-BE49-F238E27FC236}">
                <a16:creationId xmlns:a16="http://schemas.microsoft.com/office/drawing/2014/main" id="{FAC1617C-2B55-2B4C-FE06-736D9E9BCEE9}"/>
              </a:ext>
            </a:extLst>
          </p:cNvPr>
          <p:cNvPicPr>
            <a:picLocks noChangeAspect="1"/>
          </p:cNvPicPr>
          <p:nvPr/>
        </p:nvPicPr>
        <p:blipFill>
          <a:blip r:embed="rId4"/>
          <a:stretch>
            <a:fillRect/>
          </a:stretch>
        </p:blipFill>
        <p:spPr>
          <a:xfrm>
            <a:off x="1914525" y="1371600"/>
            <a:ext cx="5924550" cy="4414207"/>
          </a:xfrm>
          <a:prstGeom prst="rect">
            <a:avLst/>
          </a:prstGeom>
        </p:spPr>
      </p:pic>
    </p:spTree>
    <p:extLst>
      <p:ext uri="{BB962C8B-B14F-4D97-AF65-F5344CB8AC3E}">
        <p14:creationId xmlns:p14="http://schemas.microsoft.com/office/powerpoint/2010/main" val="3817874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681474"/>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5.3.1 Definition</a:t>
            </a:r>
          </a:p>
          <a:p>
            <a:pPr algn="just">
              <a:lnSpc>
                <a:spcPct val="200000"/>
              </a:lnSpc>
              <a:defRPr/>
            </a:pPr>
            <a:r>
              <a:rPr lang="en-US" sz="1900" dirty="0">
                <a:solidFill>
                  <a:schemeClr val="tx2"/>
                </a:solidFill>
                <a:latin typeface="Times New Roman" pitchFamily="18" charset="0"/>
                <a:cs typeface="Times New Roman" pitchFamily="18" charset="0"/>
              </a:rPr>
              <a:t>Minimization of Boolean functions is a crucial concept in digital logic design and optimization. </a:t>
            </a:r>
          </a:p>
          <a:p>
            <a:pPr algn="just">
              <a:lnSpc>
                <a:spcPct val="200000"/>
              </a:lnSpc>
              <a:defRPr/>
            </a:pPr>
            <a:r>
              <a:rPr lang="en-US" sz="1900" dirty="0">
                <a:solidFill>
                  <a:schemeClr val="tx2"/>
                </a:solidFill>
                <a:latin typeface="Times New Roman" pitchFamily="18" charset="0"/>
                <a:cs typeface="Times New Roman" pitchFamily="18" charset="0"/>
              </a:rPr>
              <a:t>Boolean functions are mathematical expressions that describe the relationships between input variables and their corresponding output values using logical operators such as AND, OR, and NOT. The goal of minimization is to simplify these functions while retaining their logical behavior, leading to more efficient and compact digital circuits.</a:t>
            </a:r>
            <a:endParaRPr lang="en-US" altLang="en-US" sz="1900"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6088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51025"/>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5.3.1 Definition</a:t>
            </a:r>
          </a:p>
          <a:p>
            <a:pPr algn="just">
              <a:lnSpc>
                <a:spcPct val="200000"/>
              </a:lnSpc>
              <a:defRPr/>
            </a:pPr>
            <a:r>
              <a:rPr lang="en-US" sz="1900" dirty="0">
                <a:solidFill>
                  <a:schemeClr val="tx2"/>
                </a:solidFill>
                <a:latin typeface="Times New Roman" pitchFamily="18" charset="0"/>
                <a:cs typeface="Times New Roman" pitchFamily="18" charset="0"/>
              </a:rPr>
              <a:t>Importance of Minimization:</a:t>
            </a:r>
          </a:p>
          <a:p>
            <a:pPr algn="just">
              <a:lnSpc>
                <a:spcPct val="200000"/>
              </a:lnSpc>
              <a:defRPr/>
            </a:pPr>
            <a:r>
              <a:rPr lang="en-US" sz="1900" dirty="0">
                <a:solidFill>
                  <a:schemeClr val="tx2"/>
                </a:solidFill>
                <a:latin typeface="Times New Roman" pitchFamily="18" charset="0"/>
                <a:cs typeface="Times New Roman" pitchFamily="18" charset="0"/>
              </a:rPr>
              <a:t>Reduced Complexity: Minimizing Boolean functions reduces the number of logic gates and connections required to implement a circuit, leading to simpler and more cost-effective designs.</a:t>
            </a:r>
          </a:p>
          <a:p>
            <a:pPr algn="just">
              <a:lnSpc>
                <a:spcPct val="200000"/>
              </a:lnSpc>
              <a:defRPr/>
            </a:pPr>
            <a:r>
              <a:rPr lang="en-US" sz="1900" dirty="0">
                <a:solidFill>
                  <a:schemeClr val="tx2"/>
                </a:solidFill>
                <a:latin typeface="Times New Roman" pitchFamily="18" charset="0"/>
                <a:cs typeface="Times New Roman" pitchFamily="18" charset="0"/>
              </a:rPr>
              <a:t>Faster Circuits: Smaller circuits result in shorter propagation delays, leading to faster operation and better overall performance.</a:t>
            </a:r>
          </a:p>
          <a:p>
            <a:pPr algn="just">
              <a:lnSpc>
                <a:spcPct val="200000"/>
              </a:lnSpc>
              <a:defRPr/>
            </a:pPr>
            <a:r>
              <a:rPr lang="en-US" sz="1900" dirty="0">
                <a:solidFill>
                  <a:schemeClr val="tx2"/>
                </a:solidFill>
                <a:latin typeface="Times New Roman" pitchFamily="18" charset="0"/>
                <a:cs typeface="Times New Roman" pitchFamily="18" charset="0"/>
              </a:rPr>
              <a:t>Lower Power Consumption: Simplified circuits typically consume less power, making them energy-efficient and environmentally friendly.</a:t>
            </a:r>
            <a:endParaRPr lang="en-US" altLang="en-US" sz="1900" dirty="0">
              <a:solidFill>
                <a:schemeClr val="tx2"/>
              </a:solidFill>
              <a:latin typeface="Times New Roman" pitchFamily="18" charset="0"/>
              <a:cs typeface="Times New Roman" pitchFamily="18" charset="0"/>
            </a:endParaRPr>
          </a:p>
          <a:p>
            <a:pPr algn="just">
              <a:lnSpc>
                <a:spcPct val="200000"/>
              </a:lnSpc>
              <a:defRPr/>
            </a:pPr>
            <a:endParaRPr lang="en-US" alt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631926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927148"/>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5.3.1 Definition</a:t>
            </a:r>
          </a:p>
          <a:p>
            <a:pPr algn="just">
              <a:lnSpc>
                <a:spcPct val="200000"/>
              </a:lnSpc>
              <a:defRPr/>
            </a:pPr>
            <a:r>
              <a:rPr lang="en-US" altLang="en-US" sz="1900" dirty="0">
                <a:solidFill>
                  <a:schemeClr val="tx2"/>
                </a:solidFill>
                <a:latin typeface="Times New Roman" pitchFamily="18" charset="0"/>
                <a:cs typeface="Times New Roman" pitchFamily="18" charset="0"/>
              </a:rPr>
              <a:t>Methods of Minimization:</a:t>
            </a:r>
          </a:p>
          <a:p>
            <a:pPr algn="just">
              <a:lnSpc>
                <a:spcPct val="200000"/>
              </a:lnSpc>
              <a:defRPr/>
            </a:pPr>
            <a:r>
              <a:rPr lang="en-US" altLang="en-US" sz="1900" dirty="0">
                <a:solidFill>
                  <a:schemeClr val="tx2"/>
                </a:solidFill>
                <a:latin typeface="Times New Roman" pitchFamily="18" charset="0"/>
                <a:cs typeface="Times New Roman" pitchFamily="18" charset="0"/>
              </a:rPr>
              <a:t>There are two primary methods for minimizing Boolean functions:</a:t>
            </a:r>
          </a:p>
          <a:p>
            <a:pPr marL="342900" indent="-342900" algn="just">
              <a:lnSpc>
                <a:spcPct val="200000"/>
              </a:lnSpc>
              <a:buFont typeface="Arial" panose="020B0604020202020204" pitchFamily="34" charset="0"/>
              <a:buChar char="•"/>
              <a:defRPr/>
            </a:pPr>
            <a:r>
              <a:rPr lang="en-US" altLang="en-US" sz="1900" dirty="0">
                <a:solidFill>
                  <a:schemeClr val="tx2"/>
                </a:solidFill>
                <a:latin typeface="Times New Roman" pitchFamily="18" charset="0"/>
                <a:cs typeface="Times New Roman" pitchFamily="18" charset="0"/>
              </a:rPr>
              <a:t>Algebraic Minimization (</a:t>
            </a:r>
            <a:r>
              <a:rPr lang="en-US" sz="1900" b="1" dirty="0">
                <a:solidFill>
                  <a:schemeClr val="tx2"/>
                </a:solidFill>
                <a:latin typeface="Times New Roman" pitchFamily="18" charset="0"/>
                <a:cs typeface="Times New Roman" pitchFamily="18" charset="0"/>
              </a:rPr>
              <a:t>Variable method</a:t>
            </a:r>
            <a:r>
              <a:rPr lang="en-US" altLang="en-US" sz="1900" dirty="0">
                <a:solidFill>
                  <a:schemeClr val="tx2"/>
                </a:solidFill>
                <a:latin typeface="Times New Roman" pitchFamily="18" charset="0"/>
                <a:cs typeface="Times New Roman" pitchFamily="18" charset="0"/>
              </a:rPr>
              <a:t>).</a:t>
            </a:r>
          </a:p>
          <a:p>
            <a:pPr marL="342900" indent="-342900" algn="just">
              <a:lnSpc>
                <a:spcPct val="200000"/>
              </a:lnSpc>
              <a:buFont typeface="Arial" panose="020B0604020202020204" pitchFamily="34" charset="0"/>
              <a:buChar char="•"/>
              <a:defRPr/>
            </a:pPr>
            <a:r>
              <a:rPr lang="en-US" altLang="en-US" sz="1900" dirty="0">
                <a:solidFill>
                  <a:schemeClr val="tx2"/>
                </a:solidFill>
                <a:latin typeface="Times New Roman" pitchFamily="18" charset="0"/>
                <a:cs typeface="Times New Roman" pitchFamily="18" charset="0"/>
              </a:rPr>
              <a:t>Karnaugh Map (K-map) Minimization.</a:t>
            </a: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16694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24</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5.3.2 </a:t>
            </a:r>
            <a:r>
              <a:rPr lang="en-US" sz="1900" b="1" dirty="0">
                <a:solidFill>
                  <a:schemeClr val="tx2"/>
                </a:solidFill>
                <a:latin typeface="Times New Roman" pitchFamily="18" charset="0"/>
                <a:cs typeface="Times New Roman" pitchFamily="18" charset="0"/>
              </a:rPr>
              <a:t>Variable method</a:t>
            </a:r>
            <a:r>
              <a:rPr lang="en-US" altLang="en-US" sz="1900" dirty="0">
                <a:solidFill>
                  <a:schemeClr val="tx2"/>
                </a:solidFill>
                <a:latin typeface="Times New Roman" pitchFamily="18" charset="0"/>
                <a:cs typeface="Times New Roman" pitchFamily="18" charset="0"/>
              </a:rPr>
              <a:t>: </a:t>
            </a:r>
          </a:p>
          <a:p>
            <a:pPr algn="just">
              <a:lnSpc>
                <a:spcPct val="200000"/>
              </a:lnSpc>
              <a:defRPr/>
            </a:pPr>
            <a:r>
              <a:rPr lang="en-US" altLang="en-US" sz="1900"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A logic expression can be reduced to its simplest form or changed to a more convenient form to implement the expression most efficiently using Boolean algebra. The approach taken in this section is to use the basic laws, rules, and theorems of Boolean algebra to manipulate and simplify an expression. This method depends on a thorough knowledge of Boolean algebra and considerable practice in its application, not to mention a little ingenuity and cleverness. After completing this section, you should be able to </a:t>
            </a:r>
          </a:p>
          <a:p>
            <a:pPr algn="just">
              <a:lnSpc>
                <a:spcPct val="200000"/>
              </a:lnSpc>
              <a:defRPr/>
            </a:pPr>
            <a:r>
              <a:rPr lang="en-US" sz="1900" dirty="0">
                <a:solidFill>
                  <a:schemeClr val="tx2"/>
                </a:solidFill>
                <a:latin typeface="Times New Roman" pitchFamily="18" charset="0"/>
                <a:cs typeface="Times New Roman" pitchFamily="18" charset="0"/>
              </a:rPr>
              <a:t>	◆ Apply the laws, rules, and theorems of Boolean algebra to simplify general expression</a:t>
            </a:r>
            <a:endParaRPr lang="en-US" alt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14238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25</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51025"/>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5.3.2 </a:t>
            </a:r>
            <a:r>
              <a:rPr lang="en-US" sz="1900" b="1" dirty="0">
                <a:solidFill>
                  <a:schemeClr val="tx2"/>
                </a:solidFill>
                <a:latin typeface="Times New Roman" pitchFamily="18" charset="0"/>
                <a:cs typeface="Times New Roman" pitchFamily="18" charset="0"/>
              </a:rPr>
              <a:t>Variable method</a:t>
            </a:r>
            <a:r>
              <a:rPr lang="en-US" altLang="en-US" sz="1900" dirty="0">
                <a:solidFill>
                  <a:schemeClr val="tx2"/>
                </a:solidFill>
                <a:latin typeface="Times New Roman" pitchFamily="18" charset="0"/>
                <a:cs typeface="Times New Roman" pitchFamily="18" charset="0"/>
              </a:rPr>
              <a:t>: </a:t>
            </a:r>
          </a:p>
          <a:p>
            <a:pPr algn="just">
              <a:lnSpc>
                <a:spcPct val="200000"/>
              </a:lnSpc>
              <a:defRPr/>
            </a:pPr>
            <a:r>
              <a:rPr lang="en-US" altLang="en-US" sz="1900"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Using Boolean algebra techniques, simplify this expression: AB + A(B + C) + B(B + C) Step 1: Apply the distributive law to the second and third terms in the expression, as follows: AB + AB + AC + BB + BC </a:t>
            </a:r>
          </a:p>
          <a:p>
            <a:pPr algn="just">
              <a:lnSpc>
                <a:spcPct val="200000"/>
              </a:lnSpc>
              <a:defRPr/>
            </a:pPr>
            <a:r>
              <a:rPr lang="en-US" sz="1900" dirty="0">
                <a:solidFill>
                  <a:schemeClr val="tx2"/>
                </a:solidFill>
                <a:latin typeface="Times New Roman" pitchFamily="18" charset="0"/>
                <a:cs typeface="Times New Roman" pitchFamily="18" charset="0"/>
              </a:rPr>
              <a:t>Step 2: Apply rule 7 (BB = B) to the fourth term. AB + AB + AC + B + BC </a:t>
            </a:r>
          </a:p>
          <a:p>
            <a:pPr algn="just">
              <a:lnSpc>
                <a:spcPct val="200000"/>
              </a:lnSpc>
              <a:defRPr/>
            </a:pPr>
            <a:r>
              <a:rPr lang="en-US" sz="1900" dirty="0">
                <a:solidFill>
                  <a:schemeClr val="tx2"/>
                </a:solidFill>
                <a:latin typeface="Times New Roman" pitchFamily="18" charset="0"/>
                <a:cs typeface="Times New Roman" pitchFamily="18" charset="0"/>
              </a:rPr>
              <a:t>Step 3: Apply rule 5 (AB + AB = AB) to the first two terms. AB + AC + B + BC </a:t>
            </a:r>
          </a:p>
          <a:p>
            <a:pPr algn="just">
              <a:lnSpc>
                <a:spcPct val="200000"/>
              </a:lnSpc>
              <a:defRPr/>
            </a:pPr>
            <a:r>
              <a:rPr lang="en-US" sz="1900" dirty="0">
                <a:solidFill>
                  <a:schemeClr val="tx2"/>
                </a:solidFill>
                <a:latin typeface="Times New Roman" pitchFamily="18" charset="0"/>
                <a:cs typeface="Times New Roman" pitchFamily="18" charset="0"/>
              </a:rPr>
              <a:t>Step 4: Apply rule 10 (B + BC = B) to the last two terms. AB + AC + B </a:t>
            </a:r>
          </a:p>
          <a:p>
            <a:pPr algn="just">
              <a:lnSpc>
                <a:spcPct val="200000"/>
              </a:lnSpc>
              <a:defRPr/>
            </a:pPr>
            <a:r>
              <a:rPr lang="en-US" sz="1900" dirty="0">
                <a:solidFill>
                  <a:schemeClr val="tx2"/>
                </a:solidFill>
                <a:latin typeface="Times New Roman" pitchFamily="18" charset="0"/>
                <a:cs typeface="Times New Roman" pitchFamily="18" charset="0"/>
              </a:rPr>
              <a:t>Step 5: Apply rule 10 (AB + B = B) to the first and third terms. B + AC </a:t>
            </a:r>
          </a:p>
          <a:p>
            <a:pPr algn="just">
              <a:lnSpc>
                <a:spcPct val="200000"/>
              </a:lnSpc>
              <a:defRPr/>
            </a:pPr>
            <a:r>
              <a:rPr lang="en-US" sz="1900" dirty="0">
                <a:solidFill>
                  <a:schemeClr val="tx2"/>
                </a:solidFill>
                <a:latin typeface="Times New Roman" pitchFamily="18" charset="0"/>
                <a:cs typeface="Times New Roman" pitchFamily="18" charset="0"/>
              </a:rPr>
              <a:t>At this point the expression is simplified as much as possible. Once you gain experience in applying Boolean algebra, you can often combine many individual steps. </a:t>
            </a:r>
            <a:endParaRPr lang="en-US" alt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67443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26</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mc:AlternateContent xmlns:mc="http://schemas.openxmlformats.org/markup-compatibility/2006">
        <mc:Choice xmlns:a14="http://schemas.microsoft.com/office/drawing/2010/main"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74201"/>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5.3.2 </a:t>
                </a:r>
                <a:r>
                  <a:rPr lang="en-US" sz="1900" b="1" dirty="0">
                    <a:solidFill>
                      <a:schemeClr val="tx2"/>
                    </a:solidFill>
                    <a:latin typeface="Times New Roman" pitchFamily="18" charset="0"/>
                    <a:cs typeface="Times New Roman" pitchFamily="18" charset="0"/>
                  </a:rPr>
                  <a:t>Variable method</a:t>
                </a:r>
                <a:r>
                  <a:rPr lang="en-US" altLang="en-US" sz="1900" dirty="0">
                    <a:solidFill>
                      <a:schemeClr val="tx2"/>
                    </a:solidFill>
                    <a:latin typeface="Times New Roman" pitchFamily="18" charset="0"/>
                    <a:cs typeface="Times New Roman" pitchFamily="18" charset="0"/>
                  </a:rPr>
                  <a:t>: </a:t>
                </a:r>
              </a:p>
              <a:p>
                <a:pPr algn="just">
                  <a:lnSpc>
                    <a:spcPct val="200000"/>
                  </a:lnSpc>
                  <a:defRPr/>
                </a:pPr>
                <a:r>
                  <a:rPr lang="en-US" altLang="en-US" sz="1900"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Using Boolean algebra techniques, simplify this expression: </a:t>
                </a:r>
              </a:p>
              <a:p>
                <a:pPr marL="457200" indent="-457200" algn="just">
                  <a:lnSpc>
                    <a:spcPct val="200000"/>
                  </a:lnSpc>
                  <a:buAutoNum type="arabicPeriod"/>
                  <a:defRPr/>
                </a:pPr>
                <a14:m>
                  <m:oMath xmlns:m="http://schemas.openxmlformats.org/officeDocument/2006/math">
                    <m:r>
                      <a:rPr lang="en-US" sz="1900" i="1" dirty="0" smtClean="0">
                        <a:solidFill>
                          <a:schemeClr val="tx2"/>
                        </a:solidFill>
                        <a:latin typeface="Cambria Math" panose="02040503050406030204" pitchFamily="18" charset="0"/>
                        <a:cs typeface="Times New Roman" pitchFamily="18" charset="0"/>
                      </a:rPr>
                      <m:t>𝐴</m:t>
                    </m:r>
                    <m:acc>
                      <m:accPr>
                        <m:chr m:val="̅"/>
                        <m:ctrlPr>
                          <a:rPr lang="en-US" sz="1900" i="1" dirty="0" smtClean="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𝐵</m:t>
                        </m:r>
                      </m:e>
                    </m:acc>
                    <m:r>
                      <a:rPr lang="en-US" sz="1900" i="1" dirty="0" smtClean="0">
                        <a:solidFill>
                          <a:schemeClr val="tx2"/>
                        </a:solidFill>
                        <a:latin typeface="Cambria Math" panose="02040503050406030204" pitchFamily="18" charset="0"/>
                        <a:cs typeface="Times New Roman" pitchFamily="18" charset="0"/>
                      </a:rPr>
                      <m:t> </m:t>
                    </m:r>
                    <m:r>
                      <a:rPr lang="en-US" sz="1900" i="1" dirty="0">
                        <a:solidFill>
                          <a:schemeClr val="tx2"/>
                        </a:solidFill>
                        <a:latin typeface="Cambria Math" panose="02040503050406030204" pitchFamily="18" charset="0"/>
                        <a:cs typeface="Times New Roman" pitchFamily="18" charset="0"/>
                      </a:rPr>
                      <m:t>+ </m:t>
                    </m:r>
                    <m:r>
                      <a:rPr lang="en-US" sz="1900" i="1" dirty="0">
                        <a:solidFill>
                          <a:schemeClr val="tx2"/>
                        </a:solidFill>
                        <a:latin typeface="Cambria Math" panose="02040503050406030204" pitchFamily="18" charset="0"/>
                        <a:cs typeface="Times New Roman" pitchFamily="18" charset="0"/>
                      </a:rPr>
                      <m:t>𝐴</m:t>
                    </m:r>
                    <m:d>
                      <m:dPr>
                        <m:ctrlPr>
                          <a:rPr lang="en-US" sz="1900" i="1" dirty="0">
                            <a:solidFill>
                              <a:schemeClr val="tx2"/>
                            </a:solidFill>
                            <a:latin typeface="Cambria Math" panose="02040503050406030204" pitchFamily="18" charset="0"/>
                            <a:cs typeface="Times New Roman" pitchFamily="18" charset="0"/>
                          </a:rPr>
                        </m:ctrlPr>
                      </m:dPr>
                      <m:e>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𝐶</m:t>
                            </m:r>
                          </m:e>
                        </m:acc>
                      </m:e>
                    </m:d>
                    <m:r>
                      <a:rPr lang="en-US" sz="1900" i="1" dirty="0">
                        <a:solidFill>
                          <a:schemeClr val="tx2"/>
                        </a:solidFill>
                        <a:latin typeface="Cambria Math" panose="02040503050406030204" pitchFamily="18" charset="0"/>
                        <a:cs typeface="Times New Roman" pitchFamily="18" charset="0"/>
                      </a:rPr>
                      <m:t>+ </m:t>
                    </m:r>
                    <m:r>
                      <a:rPr lang="en-US" sz="1900" i="1" dirty="0">
                        <a:solidFill>
                          <a:schemeClr val="tx2"/>
                        </a:solidFill>
                        <a:latin typeface="Cambria Math" panose="02040503050406030204" pitchFamily="18" charset="0"/>
                        <a:cs typeface="Times New Roman" pitchFamily="18" charset="0"/>
                      </a:rPr>
                      <m:t>𝐵</m:t>
                    </m:r>
                    <m:d>
                      <m:dPr>
                        <m:ctrlPr>
                          <a:rPr lang="en-US" sz="1900" i="1" dirty="0">
                            <a:solidFill>
                              <a:schemeClr val="tx2"/>
                            </a:solidFill>
                            <a:latin typeface="Cambria Math" panose="02040503050406030204" pitchFamily="18" charset="0"/>
                            <a:cs typeface="Times New Roman" pitchFamily="18" charset="0"/>
                          </a:rPr>
                        </m:ctrlPr>
                      </m:dPr>
                      <m:e>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r>
                              <a:rPr lang="en-US" sz="1900" i="1" dirty="0">
                                <a:solidFill>
                                  <a:schemeClr val="tx2"/>
                                </a:solidFill>
                                <a:latin typeface="Cambria Math" panose="02040503050406030204" pitchFamily="18" charset="0"/>
                                <a:cs typeface="Times New Roman" pitchFamily="18" charset="0"/>
                              </a:rPr>
                              <m:t>+</m:t>
                            </m:r>
                            <m:r>
                              <a:rPr lang="en-US" sz="1900" i="1" dirty="0">
                                <a:solidFill>
                                  <a:schemeClr val="tx2"/>
                                </a:solidFill>
                                <a:latin typeface="Cambria Math" panose="02040503050406030204" pitchFamily="18" charset="0"/>
                                <a:cs typeface="Times New Roman" pitchFamily="18" charset="0"/>
                              </a:rPr>
                              <m:t>𝐶</m:t>
                            </m:r>
                          </m:e>
                        </m:acc>
                      </m:e>
                    </m:d>
                  </m:oMath>
                </a14:m>
                <a:endParaRPr lang="en-US" sz="1900" dirty="0">
                  <a:solidFill>
                    <a:schemeClr val="tx2"/>
                  </a:solidFill>
                  <a:latin typeface="Times New Roman" pitchFamily="18" charset="0"/>
                  <a:cs typeface="Times New Roman" pitchFamily="18" charset="0"/>
                </a:endParaRPr>
              </a:p>
              <a:p>
                <a:pPr marL="457200" indent="-457200" algn="just">
                  <a:lnSpc>
                    <a:spcPct val="200000"/>
                  </a:lnSpc>
                  <a:buAutoNum type="arabicPeriod"/>
                  <a:defRPr/>
                </a:pPr>
                <a14:m>
                  <m:oMath xmlns:m="http://schemas.openxmlformats.org/officeDocument/2006/math">
                    <m:r>
                      <a:rPr lang="en-US" sz="1900" i="1" dirty="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𝐴</m:t>
                    </m:r>
                    <m:acc>
                      <m:accPr>
                        <m:chr m:val="̅"/>
                        <m:ctrlPr>
                          <a:rPr lang="en-US" sz="1900" i="1" dirty="0" smtClean="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𝐵</m:t>
                        </m:r>
                      </m:e>
                    </m:acc>
                    <m:d>
                      <m:dPr>
                        <m:ctrlPr>
                          <a:rPr lang="en-US" sz="1900" b="0" i="1" dirty="0" smtClean="0">
                            <a:solidFill>
                              <a:schemeClr val="tx2"/>
                            </a:solidFill>
                            <a:latin typeface="Cambria Math" panose="02040503050406030204" pitchFamily="18" charset="0"/>
                            <a:cs typeface="Times New Roman" pitchFamily="18" charset="0"/>
                          </a:rPr>
                        </m:ctrlPr>
                      </m:dPr>
                      <m:e>
                        <m:r>
                          <a:rPr lang="en-US" sz="1900" b="0" i="1" dirty="0" smtClean="0">
                            <a:solidFill>
                              <a:schemeClr val="tx2"/>
                            </a:solidFill>
                            <a:latin typeface="Cambria Math" panose="02040503050406030204" pitchFamily="18" charset="0"/>
                            <a:cs typeface="Times New Roman" pitchFamily="18" charset="0"/>
                          </a:rPr>
                          <m:t>𝐶</m:t>
                        </m:r>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𝐵𝐷</m:t>
                        </m:r>
                      </m:e>
                    </m:d>
                    <m:r>
                      <a:rPr lang="en-US" sz="1900" b="0" i="1" dirty="0" smtClean="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𝐴</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𝐶</m:t>
                    </m:r>
                    <m:r>
                      <a:rPr lang="en-US" sz="1900" i="1" dirty="0">
                        <a:solidFill>
                          <a:schemeClr val="tx2"/>
                        </a:solidFill>
                        <a:latin typeface="Cambria Math" panose="02040503050406030204" pitchFamily="18" charset="0"/>
                        <a:cs typeface="Times New Roman" pitchFamily="18" charset="0"/>
                      </a:rPr>
                      <m:t> </m:t>
                    </m:r>
                  </m:oMath>
                </a14:m>
                <a:endParaRPr lang="en-US" altLang="en-US" sz="1900" dirty="0">
                  <a:solidFill>
                    <a:schemeClr val="tx2"/>
                  </a:solidFill>
                  <a:latin typeface="Times New Roman" pitchFamily="18" charset="0"/>
                  <a:cs typeface="Times New Roman" pitchFamily="18" charset="0"/>
                </a:endParaRPr>
              </a:p>
              <a:p>
                <a:pPr marL="457200" indent="-457200" algn="just">
                  <a:lnSpc>
                    <a:spcPct val="200000"/>
                  </a:lnSpc>
                  <a:buFontTx/>
                  <a:buAutoNum type="arabicPeriod"/>
                  <a:defRPr/>
                </a:pPr>
                <a14:m>
                  <m:oMath xmlns:m="http://schemas.openxmlformats.org/officeDocument/2006/math">
                    <m:r>
                      <a:rPr lang="en-US" sz="1900" i="1" dirty="0" smtClean="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𝐴</m:t>
                    </m:r>
                    <m:r>
                      <a:rPr lang="en-US" sz="1900" b="0" i="1" dirty="0" smtClean="0">
                        <a:solidFill>
                          <a:schemeClr val="tx2"/>
                        </a:solidFill>
                        <a:latin typeface="Cambria Math" panose="02040503050406030204" pitchFamily="18" charset="0"/>
                        <a:cs typeface="Times New Roman" pitchFamily="18" charset="0"/>
                      </a:rPr>
                      <m:t>𝐵</m:t>
                    </m:r>
                    <m:d>
                      <m:dPr>
                        <m:ctrlPr>
                          <a:rPr lang="en-US" sz="1900" b="0" i="1" dirty="0" smtClean="0">
                            <a:solidFill>
                              <a:schemeClr val="tx2"/>
                            </a:solidFill>
                            <a:latin typeface="Cambria Math" panose="02040503050406030204" pitchFamily="18" charset="0"/>
                            <a:cs typeface="Times New Roman" pitchFamily="18" charset="0"/>
                          </a:rPr>
                        </m:ctrlPr>
                      </m:dPr>
                      <m:e>
                        <m:r>
                          <a:rPr lang="en-US" sz="1900" b="0" i="1" dirty="0" smtClean="0">
                            <a:solidFill>
                              <a:schemeClr val="tx2"/>
                            </a:solidFill>
                            <a:latin typeface="Cambria Math" panose="02040503050406030204" pitchFamily="18" charset="0"/>
                            <a:cs typeface="Times New Roman" pitchFamily="18" charset="0"/>
                          </a:rPr>
                          <m:t>𝐶</m:t>
                        </m:r>
                        <m:r>
                          <a:rPr lang="en-US" sz="1900" b="0" i="1" dirty="0" smtClean="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r>
                              <a:rPr lang="en-US" sz="1900" b="0" i="1" dirty="0" smtClean="0">
                                <a:solidFill>
                                  <a:schemeClr val="tx2"/>
                                </a:solidFill>
                                <a:latin typeface="Cambria Math" panose="02040503050406030204" pitchFamily="18" charset="0"/>
                                <a:cs typeface="Times New Roman" pitchFamily="18" charset="0"/>
                              </a:rPr>
                              <m:t>𝐷</m:t>
                            </m:r>
                          </m:e>
                        </m:acc>
                      </m:e>
                    </m:d>
                    <m:r>
                      <a:rPr lang="en-US" sz="1900" b="0" i="1" dirty="0" smtClean="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𝐴𝐵</m:t>
                        </m:r>
                      </m:e>
                    </m:acc>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𝐶𝐷</m:t>
                    </m:r>
                    <m:r>
                      <a:rPr lang="en-US" sz="1900" i="1" dirty="0">
                        <a:solidFill>
                          <a:schemeClr val="tx2"/>
                        </a:solidFill>
                        <a:latin typeface="Cambria Math" panose="02040503050406030204" pitchFamily="18" charset="0"/>
                        <a:cs typeface="Times New Roman" pitchFamily="18" charset="0"/>
                      </a:rPr>
                      <m:t> </m:t>
                    </m:r>
                  </m:oMath>
                </a14:m>
                <a:endParaRPr lang="en-US" altLang="en-US" sz="1900" dirty="0">
                  <a:solidFill>
                    <a:schemeClr val="tx2"/>
                  </a:solidFill>
                  <a:latin typeface="Times New Roman" pitchFamily="18" charset="0"/>
                  <a:cs typeface="Times New Roman" pitchFamily="18" charset="0"/>
                </a:endParaRPr>
              </a:p>
              <a:p>
                <a:pPr marL="457200" indent="-457200" algn="just">
                  <a:lnSpc>
                    <a:spcPct val="200000"/>
                  </a:lnSpc>
                  <a:buFontTx/>
                  <a:buAutoNum type="arabicPeriod"/>
                  <a:defRPr/>
                </a:pPr>
                <a14:m>
                  <m:oMath xmlns:m="http://schemas.openxmlformats.org/officeDocument/2006/math">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r>
                      <a:rPr lang="pl-PL" sz="1900" i="1" dirty="0">
                        <a:solidFill>
                          <a:schemeClr val="tx2"/>
                        </a:solidFill>
                        <a:latin typeface="Cambria Math" panose="02040503050406030204" pitchFamily="18" charset="0"/>
                        <a:cs typeface="Times New Roman" pitchFamily="18" charset="0"/>
                      </a:rPr>
                      <m:t>𝐵𝐶</m:t>
                    </m:r>
                    <m:r>
                      <a:rPr lang="pl-PL" sz="1900" i="1" dirty="0">
                        <a:solidFill>
                          <a:schemeClr val="tx2"/>
                        </a:solidFill>
                        <a:latin typeface="Cambria Math" panose="02040503050406030204" pitchFamily="18" charset="0"/>
                        <a:cs typeface="Times New Roman" pitchFamily="18" charset="0"/>
                      </a:rPr>
                      <m:t> + </m:t>
                    </m:r>
                    <m:r>
                      <a:rPr lang="pl-PL" sz="1900" i="1" dirty="0">
                        <a:solidFill>
                          <a:schemeClr val="tx2"/>
                        </a:solidFill>
                        <a:latin typeface="Cambria Math" panose="02040503050406030204" pitchFamily="18" charset="0"/>
                        <a:cs typeface="Times New Roman" pitchFamily="18" charset="0"/>
                      </a:rPr>
                      <m:t>𝐴</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𝐵</m:t>
                        </m:r>
                      </m:e>
                    </m:acc>
                    <m:acc>
                      <m:accPr>
                        <m:chr m:val="̅"/>
                        <m:ctrlPr>
                          <a:rPr lang="en-US" sz="1900" i="1" dirty="0" smtClean="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𝐶</m:t>
                        </m:r>
                      </m:e>
                    </m:acc>
                    <m:r>
                      <a:rPr lang="pl-PL" sz="1900" i="1" dirty="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𝐶</m:t>
                        </m:r>
                      </m:e>
                    </m:acc>
                    <m:r>
                      <a:rPr lang="pl-PL" sz="1900" i="1" dirty="0">
                        <a:solidFill>
                          <a:schemeClr val="tx2"/>
                        </a:solidFill>
                        <a:latin typeface="Cambria Math" panose="02040503050406030204" pitchFamily="18" charset="0"/>
                        <a:cs typeface="Times New Roman" pitchFamily="18" charset="0"/>
                      </a:rPr>
                      <m:t>+</m:t>
                    </m:r>
                    <m:r>
                      <a:rPr lang="pl-PL" sz="1900" i="1" dirty="0">
                        <a:solidFill>
                          <a:schemeClr val="tx2"/>
                        </a:solidFill>
                        <a:latin typeface="Cambria Math" panose="02040503050406030204" pitchFamily="18" charset="0"/>
                        <a:cs typeface="Times New Roman" pitchFamily="18" charset="0"/>
                      </a:rPr>
                      <m:t>𝐴</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r>
                      <a:rPr lang="en-US" sz="1900" b="0" i="1" dirty="0" smtClean="0">
                        <a:solidFill>
                          <a:schemeClr val="tx2"/>
                        </a:solidFill>
                        <a:latin typeface="Cambria Math" panose="02040503050406030204" pitchFamily="18" charset="0"/>
                        <a:cs typeface="Times New Roman" pitchFamily="18" charset="0"/>
                      </a:rPr>
                      <m:t>𝐶</m:t>
                    </m:r>
                    <m:r>
                      <a:rPr lang="pl-PL" sz="1900" i="1" dirty="0">
                        <a:solidFill>
                          <a:schemeClr val="tx2"/>
                        </a:solidFill>
                        <a:latin typeface="Cambria Math" panose="02040503050406030204" pitchFamily="18" charset="0"/>
                        <a:cs typeface="Times New Roman" pitchFamily="18" charset="0"/>
                      </a:rPr>
                      <m:t>+ </m:t>
                    </m:r>
                    <m:r>
                      <a:rPr lang="pl-PL" sz="1900" i="1" dirty="0">
                        <a:solidFill>
                          <a:schemeClr val="tx2"/>
                        </a:solidFill>
                        <a:latin typeface="Cambria Math" panose="02040503050406030204" pitchFamily="18" charset="0"/>
                        <a:cs typeface="Times New Roman" pitchFamily="18" charset="0"/>
                      </a:rPr>
                      <m:t>𝐴𝐵𝐶</m:t>
                    </m:r>
                  </m:oMath>
                </a14:m>
                <a:endParaRPr lang="en-US" altLang="en-US" sz="1900" i="1" dirty="0">
                  <a:solidFill>
                    <a:schemeClr val="tx2"/>
                  </a:solidFill>
                  <a:latin typeface="Cambria Math" panose="02040503050406030204" pitchFamily="18" charset="0"/>
                  <a:cs typeface="Times New Roman" pitchFamily="18" charset="0"/>
                </a:endParaRPr>
              </a:p>
              <a:p>
                <a:pPr marL="457200" indent="-457200" algn="just">
                  <a:lnSpc>
                    <a:spcPct val="200000"/>
                  </a:lnSpc>
                  <a:buFontTx/>
                  <a:buAutoNum type="arabicPeriod"/>
                  <a:defRPr/>
                </a:pPr>
                <a14:m>
                  <m:oMath xmlns:m="http://schemas.openxmlformats.org/officeDocument/2006/math">
                    <m:r>
                      <a:rPr lang="en-US" sz="1900" b="0" i="1" dirty="0" smtClean="0">
                        <a:solidFill>
                          <a:schemeClr val="tx2"/>
                        </a:solidFill>
                        <a:latin typeface="Cambria Math" panose="02040503050406030204" pitchFamily="18" charset="0"/>
                        <a:cs typeface="Times New Roman" pitchFamily="18" charset="0"/>
                      </a:rPr>
                      <m:t>𝐴</m:t>
                    </m:r>
                    <m:r>
                      <a:rPr lang="pl-PL" sz="1900" i="1" dirty="0">
                        <a:solidFill>
                          <a:schemeClr val="tx2"/>
                        </a:solidFill>
                        <a:latin typeface="Cambria Math" panose="02040503050406030204" pitchFamily="18" charset="0"/>
                        <a:cs typeface="Times New Roman" pitchFamily="18" charset="0"/>
                      </a:rPr>
                      <m:t>𝐵</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𝐶</m:t>
                        </m:r>
                      </m:e>
                    </m:acc>
                    <m:r>
                      <a:rPr lang="pl-PL" sz="1900" i="1" dirty="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r>
                      <a:rPr lang="en-US" sz="1900" b="0" i="1" dirty="0" smtClean="0">
                        <a:solidFill>
                          <a:schemeClr val="tx2"/>
                        </a:solidFill>
                        <a:latin typeface="Cambria Math" panose="02040503050406030204" pitchFamily="18" charset="0"/>
                        <a:cs typeface="Times New Roman" pitchFamily="18" charset="0"/>
                      </a:rPr>
                      <m:t>𝐶</m:t>
                    </m:r>
                    <m:r>
                      <a:rPr lang="en-US" sz="1900" b="0" i="1" dirty="0" smtClean="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r>
                      <a:rPr lang="en-US" sz="1900" b="0" i="1" dirty="0" smtClean="0">
                        <a:solidFill>
                          <a:schemeClr val="tx2"/>
                        </a:solidFill>
                        <a:latin typeface="Cambria Math" panose="02040503050406030204" pitchFamily="18" charset="0"/>
                        <a:cs typeface="Times New Roman" pitchFamily="18" charset="0"/>
                      </a:rPr>
                      <m:t>𝐵𝐶</m:t>
                    </m:r>
                    <m:r>
                      <a:rPr lang="pl-PL" sz="1900" i="1" dirty="0">
                        <a:solidFill>
                          <a:schemeClr val="tx2"/>
                        </a:solidFill>
                        <a:latin typeface="Cambria Math" panose="02040503050406030204" pitchFamily="18" charset="0"/>
                        <a:cs typeface="Times New Roman" pitchFamily="18" charset="0"/>
                      </a:rPr>
                      <m:t>+</m:t>
                    </m:r>
                  </m:oMath>
                </a14:m>
                <a:r>
                  <a:rPr lang="en-US" sz="1900" dirty="0">
                    <a:solidFill>
                      <a:schemeClr val="tx2"/>
                    </a:solidFill>
                    <a:cs typeface="Times New Roman" pitchFamily="18" charset="0"/>
                  </a:rPr>
                  <a:t> </a:t>
                </a:r>
                <a14:m>
                  <m:oMath xmlns:m="http://schemas.openxmlformats.org/officeDocument/2006/math">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𝐶</m:t>
                        </m:r>
                      </m:e>
                    </m:acc>
                  </m:oMath>
                </a14:m>
                <a:endParaRPr lang="en-US" altLang="en-US" sz="1900" i="1" dirty="0">
                  <a:solidFill>
                    <a:schemeClr val="tx2"/>
                  </a:solidFill>
                  <a:latin typeface="Cambria Math" panose="02040503050406030204" pitchFamily="18" charset="0"/>
                  <a:cs typeface="Times New Roman" pitchFamily="18" charset="0"/>
                </a:endParaRPr>
              </a:p>
              <a:p>
                <a:pPr marL="457200" indent="-457200" algn="just">
                  <a:lnSpc>
                    <a:spcPct val="200000"/>
                  </a:lnSpc>
                  <a:buFontTx/>
                  <a:buAutoNum type="arabicPeriod"/>
                  <a:defRPr/>
                </a:pPr>
                <a14:m>
                  <m:oMath xmlns:m="http://schemas.openxmlformats.org/officeDocument/2006/math">
                    <m:acc>
                      <m:accPr>
                        <m:chr m:val="̅"/>
                        <m:ctrlPr>
                          <a:rPr lang="en-US" sz="1900" i="1" dirty="0" smtClean="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𝐴𝐵</m:t>
                        </m:r>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𝐴𝐶</m:t>
                        </m:r>
                      </m:e>
                    </m:acc>
                    <m:r>
                      <a:rPr lang="en-US" sz="1900" b="0" i="1" dirty="0" smtClean="0">
                        <a:solidFill>
                          <a:schemeClr val="tx2"/>
                        </a:solidFill>
                        <a:latin typeface="Cambria Math" panose="02040503050406030204" pitchFamily="18" charset="0"/>
                        <a:cs typeface="Times New Roman" pitchFamily="18" charset="0"/>
                      </a:rPr>
                      <m:t>+</m:t>
                    </m:r>
                  </m:oMath>
                </a14:m>
                <a:r>
                  <a:rPr lang="en-US" sz="1900" dirty="0">
                    <a:solidFill>
                      <a:schemeClr val="tx2"/>
                    </a:solidFill>
                    <a:cs typeface="Times New Roman" pitchFamily="18" charset="0"/>
                  </a:rPr>
                  <a:t> </a:t>
                </a:r>
                <a14:m>
                  <m:oMath xmlns:m="http://schemas.openxmlformats.org/officeDocument/2006/math">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r>
                      <a:rPr lang="en-US" sz="1900" i="1" dirty="0">
                        <a:solidFill>
                          <a:schemeClr val="tx2"/>
                        </a:solidFill>
                        <a:latin typeface="Cambria Math" panose="02040503050406030204" pitchFamily="18" charset="0"/>
                        <a:cs typeface="Times New Roman" pitchFamily="18" charset="0"/>
                      </a:rPr>
                      <m:t>𝐶</m:t>
                    </m:r>
                  </m:oMath>
                </a14:m>
                <a:endParaRPr lang="en-US" altLang="en-US" sz="1900" i="1" dirty="0">
                  <a:solidFill>
                    <a:schemeClr val="tx2"/>
                  </a:solidFill>
                  <a:latin typeface="Cambria Math" panose="02040503050406030204" pitchFamily="18" charset="0"/>
                  <a:cs typeface="Times New Roman" pitchFamily="18" charset="0"/>
                </a:endParaRPr>
              </a:p>
              <a:p>
                <a:pPr marL="457200" indent="-457200" algn="just">
                  <a:lnSpc>
                    <a:spcPct val="200000"/>
                  </a:lnSpc>
                  <a:buFontTx/>
                  <a:buAutoNum type="arabicPeriod"/>
                  <a:defRPr/>
                </a:pPr>
                <a14:m>
                  <m:oMath xmlns:m="http://schemas.openxmlformats.org/officeDocument/2006/math">
                    <m:acc>
                      <m:accPr>
                        <m:chr m:val="̅"/>
                        <m:ctrlPr>
                          <a:rPr lang="en-US" sz="1900" i="1" dirty="0" smtClean="0">
                            <a:solidFill>
                              <a:schemeClr val="tx2"/>
                            </a:solidFill>
                            <a:latin typeface="Cambria Math" panose="02040503050406030204" pitchFamily="18" charset="0"/>
                            <a:cs typeface="Times New Roman" pitchFamily="18" charset="0"/>
                          </a:rPr>
                        </m:ctrlPr>
                      </m:accPr>
                      <m:e>
                        <m:r>
                          <a:rPr lang="en-US" sz="1900" b="0" i="1" dirty="0" smtClean="0">
                            <a:solidFill>
                              <a:schemeClr val="tx2"/>
                            </a:solidFill>
                            <a:latin typeface="Cambria Math" panose="02040503050406030204" pitchFamily="18" charset="0"/>
                            <a:cs typeface="Times New Roman" pitchFamily="18" charset="0"/>
                          </a:rPr>
                          <m:t>𝐴</m:t>
                        </m:r>
                        <m:r>
                          <a:rPr lang="en-US" sz="1900" b="0" i="1" dirty="0" smtClean="0">
                            <a:solidFill>
                              <a:schemeClr val="tx2"/>
                            </a:solidFill>
                            <a:latin typeface="Cambria Math" panose="02040503050406030204" pitchFamily="18" charset="0"/>
                            <a:cs typeface="Times New Roman" pitchFamily="18" charset="0"/>
                          </a:rPr>
                          <m:t>𝐵</m:t>
                        </m:r>
                      </m:e>
                    </m:acc>
                    <m:r>
                      <a:rPr lang="en-US" sz="1900" b="0" i="1" dirty="0" smtClean="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𝐴𝐶</m:t>
                        </m:r>
                      </m:e>
                    </m:acc>
                    <m:r>
                      <a:rPr lang="en-US" sz="1900" b="0" i="1" dirty="0" smtClean="0">
                        <a:solidFill>
                          <a:schemeClr val="tx2"/>
                        </a:solidFill>
                        <a:latin typeface="Cambria Math" panose="02040503050406030204" pitchFamily="18" charset="0"/>
                        <a:cs typeface="Times New Roman" pitchFamily="18" charset="0"/>
                      </a:rPr>
                      <m:t>+</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𝐶</m:t>
                        </m:r>
                      </m:e>
                    </m:acc>
                  </m:oMath>
                </a14:m>
                <a:endParaRPr lang="en-US" altLang="en-US" sz="1900" i="1" dirty="0">
                  <a:solidFill>
                    <a:schemeClr val="tx2"/>
                  </a:solidFill>
                  <a:latin typeface="Cambria Math" panose="02040503050406030204" pitchFamily="18" charset="0"/>
                  <a:cs typeface="Times New Roman" pitchFamily="18" charset="0"/>
                </a:endParaRPr>
              </a:p>
            </p:txBody>
          </p:sp>
        </mc:Choice>
        <mc:Fallback>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5274201"/>
              </a:xfrm>
              <a:prstGeom prst="rect">
                <a:avLst/>
              </a:prstGeom>
              <a:blipFill>
                <a:blip r:embed="rId4"/>
                <a:stretch>
                  <a:fillRect l="-600" b="-925"/>
                </a:stretch>
              </a:blipFill>
              <a:ln w="9525">
                <a:noFill/>
                <a:miter lim="800000"/>
                <a:headEnd/>
                <a:tailEnd/>
              </a:ln>
            </p:spPr>
            <p:txBody>
              <a:bodyPr/>
              <a:lstStyle/>
              <a:p>
                <a:r>
                  <a:rPr lang="en-US">
                    <a:noFill/>
                  </a:rPr>
                  <a:t> </a:t>
                </a:r>
              </a:p>
            </p:txBody>
          </p:sp>
        </mc:Fallback>
      </mc:AlternateContent>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50218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27</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mc:AlternateContent xmlns:mc="http://schemas.openxmlformats.org/markup-compatibility/2006">
        <mc:Choice xmlns:a14="http://schemas.microsoft.com/office/drawing/2010/main"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2757"/>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5.3.2 </a:t>
                </a:r>
                <a:r>
                  <a:rPr lang="en-US" sz="1900" b="1" dirty="0">
                    <a:solidFill>
                      <a:schemeClr val="tx2"/>
                    </a:solidFill>
                    <a:latin typeface="Times New Roman" pitchFamily="18" charset="0"/>
                    <a:cs typeface="Times New Roman" pitchFamily="18" charset="0"/>
                  </a:rPr>
                  <a:t>Variable method</a:t>
                </a:r>
                <a:r>
                  <a:rPr lang="en-US" altLang="en-US" sz="1900" dirty="0">
                    <a:solidFill>
                      <a:schemeClr val="tx2"/>
                    </a:solidFill>
                    <a:latin typeface="Times New Roman" pitchFamily="18" charset="0"/>
                    <a:cs typeface="Times New Roman" pitchFamily="18" charset="0"/>
                  </a:rPr>
                  <a:t>: </a:t>
                </a:r>
              </a:p>
              <a:p>
                <a:pPr algn="just">
                  <a:lnSpc>
                    <a:spcPct val="200000"/>
                  </a:lnSpc>
                  <a:defRPr/>
                </a:pPr>
                <a:r>
                  <a:rPr lang="en-US" altLang="en-US" sz="1900"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Using Boolean algebra techniques, simplify this expression: </a:t>
                </a:r>
              </a:p>
              <a:p>
                <a:pPr marL="457200" indent="-457200" algn="just">
                  <a:lnSpc>
                    <a:spcPct val="200000"/>
                  </a:lnSpc>
                  <a:buAutoNum type="arabicPeriod"/>
                  <a:defRPr/>
                </a:pPr>
                <a14:m>
                  <m:oMath xmlns:m="http://schemas.openxmlformats.org/officeDocument/2006/math">
                    <m:r>
                      <a:rPr lang="en-US" sz="1900" i="1" dirty="0" smtClean="0">
                        <a:solidFill>
                          <a:schemeClr val="tx2"/>
                        </a:solidFill>
                        <a:latin typeface="Cambria Math" panose="02040503050406030204" pitchFamily="18" charset="0"/>
                        <a:cs typeface="Times New Roman" pitchFamily="18" charset="0"/>
                      </a:rPr>
                      <m:t>𝐴</m:t>
                    </m:r>
                    <m:r>
                      <a:rPr lang="en-US" sz="1900" i="1" dirty="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𝐴</m:t>
                    </m:r>
                    <m:r>
                      <a:rPr lang="en-US" sz="1900" i="1" dirty="0">
                        <a:solidFill>
                          <a:schemeClr val="tx2"/>
                        </a:solidFill>
                        <a:latin typeface="Cambria Math" panose="02040503050406030204" pitchFamily="18" charset="0"/>
                        <a:cs typeface="Times New Roman" pitchFamily="18" charset="0"/>
                      </a:rPr>
                      <m:t>𝐵</m:t>
                    </m:r>
                    <m:r>
                      <a:rPr lang="en-US" sz="1900" b="0" i="1" dirty="0" smtClean="0">
                        <a:solidFill>
                          <a:schemeClr val="tx2"/>
                        </a:solidFill>
                        <a:latin typeface="Cambria Math" panose="02040503050406030204" pitchFamily="18" charset="0"/>
                        <a:cs typeface="Times New Roman" pitchFamily="18" charset="0"/>
                      </a:rPr>
                      <m:t>+</m:t>
                    </m:r>
                    <m:r>
                      <a:rPr lang="pl-PL" sz="1900" i="1" dirty="0">
                        <a:solidFill>
                          <a:schemeClr val="tx2"/>
                        </a:solidFill>
                        <a:latin typeface="Cambria Math" panose="02040503050406030204" pitchFamily="18" charset="0"/>
                        <a:cs typeface="Times New Roman" pitchFamily="18" charset="0"/>
                      </a:rPr>
                      <m:t>𝐴</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r>
                      <a:rPr lang="en-US" sz="1900" i="1" dirty="0">
                        <a:solidFill>
                          <a:schemeClr val="tx2"/>
                        </a:solidFill>
                        <a:latin typeface="Cambria Math" panose="02040503050406030204" pitchFamily="18" charset="0"/>
                        <a:cs typeface="Times New Roman" pitchFamily="18" charset="0"/>
                      </a:rPr>
                      <m:t>𝐶</m:t>
                    </m:r>
                  </m:oMath>
                </a14:m>
                <a:endParaRPr lang="en-US" sz="1900" dirty="0">
                  <a:solidFill>
                    <a:schemeClr val="tx2"/>
                  </a:solidFill>
                  <a:latin typeface="Times New Roman" pitchFamily="18" charset="0"/>
                  <a:cs typeface="Times New Roman" pitchFamily="18" charset="0"/>
                </a:endParaRPr>
              </a:p>
              <a:p>
                <a:pPr marL="457200" indent="-457200" algn="just">
                  <a:lnSpc>
                    <a:spcPct val="200000"/>
                  </a:lnSpc>
                  <a:buAutoNum type="arabicPeriod"/>
                  <a:defRPr/>
                </a:pPr>
                <a14:m>
                  <m:oMath xmlns:m="http://schemas.openxmlformats.org/officeDocument/2006/math">
                    <m:d>
                      <m:dPr>
                        <m:ctrlPr>
                          <a:rPr lang="en-US" sz="1900" b="0" i="1" dirty="0" smtClean="0">
                            <a:solidFill>
                              <a:schemeClr val="tx2"/>
                            </a:solidFill>
                            <a:latin typeface="Cambria Math" panose="02040503050406030204" pitchFamily="18" charset="0"/>
                            <a:cs typeface="Times New Roman" pitchFamily="18" charset="0"/>
                          </a:rPr>
                        </m:ctrlPr>
                      </m:dPr>
                      <m:e>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𝐴</m:t>
                            </m:r>
                          </m:e>
                        </m:acc>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𝐵</m:t>
                        </m:r>
                      </m:e>
                    </m:d>
                    <m:r>
                      <a:rPr lang="en-US" sz="1900" b="0" i="1" dirty="0" smtClean="0">
                        <a:solidFill>
                          <a:schemeClr val="tx2"/>
                        </a:solidFill>
                        <a:latin typeface="Cambria Math" panose="02040503050406030204" pitchFamily="18" charset="0"/>
                        <a:cs typeface="Times New Roman" pitchFamily="18" charset="0"/>
                      </a:rPr>
                      <m:t>𝐶</m:t>
                    </m:r>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𝐴𝐵𝐶</m:t>
                    </m:r>
                  </m:oMath>
                </a14:m>
                <a:endParaRPr lang="en-US" sz="1900" b="0" dirty="0">
                  <a:solidFill>
                    <a:schemeClr val="tx2"/>
                  </a:solidFill>
                  <a:latin typeface="Times New Roman" pitchFamily="18" charset="0"/>
                  <a:cs typeface="Times New Roman" pitchFamily="18" charset="0"/>
                </a:endParaRPr>
              </a:p>
              <a:p>
                <a:pPr marL="457200" indent="-457200" algn="just">
                  <a:lnSpc>
                    <a:spcPct val="200000"/>
                  </a:lnSpc>
                  <a:buAutoNum type="arabicPeriod"/>
                  <a:defRPr/>
                </a:pPr>
                <a14:m>
                  <m:oMath xmlns:m="http://schemas.openxmlformats.org/officeDocument/2006/math">
                    <m:r>
                      <a:rPr lang="pl-PL" sz="1900" i="1" dirty="0" smtClean="0">
                        <a:solidFill>
                          <a:schemeClr val="tx2"/>
                        </a:solidFill>
                        <a:latin typeface="Cambria Math" panose="02040503050406030204" pitchFamily="18" charset="0"/>
                        <a:cs typeface="Times New Roman" pitchFamily="18" charset="0"/>
                      </a:rPr>
                      <m:t>𝐴</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𝐵</m:t>
                        </m:r>
                      </m:e>
                    </m:acc>
                    <m:r>
                      <a:rPr lang="en-US" sz="1900" b="0" i="1" dirty="0" smtClean="0">
                        <a:solidFill>
                          <a:schemeClr val="tx2"/>
                        </a:solidFill>
                        <a:latin typeface="Cambria Math" panose="02040503050406030204" pitchFamily="18" charset="0"/>
                        <a:cs typeface="Times New Roman" pitchFamily="18" charset="0"/>
                      </a:rPr>
                      <m:t>𝐶</m:t>
                    </m:r>
                  </m:oMath>
                </a14:m>
                <a:r>
                  <a:rPr lang="en-US" sz="1900" dirty="0">
                    <a:solidFill>
                      <a:schemeClr val="tx2"/>
                    </a:solidFill>
                    <a:latin typeface="Times New Roman" pitchFamily="18" charset="0"/>
                    <a:cs typeface="Times New Roman" pitchFamily="18" charset="0"/>
                  </a:rPr>
                  <a:t>(BD+CDE)+</a:t>
                </a:r>
                <a:r>
                  <a:rPr lang="en-US" sz="1900" dirty="0">
                    <a:solidFill>
                      <a:schemeClr val="tx2"/>
                    </a:solidFill>
                    <a:cs typeface="Times New Roman" pitchFamily="18" charset="0"/>
                  </a:rPr>
                  <a:t> </a:t>
                </a:r>
                <a14:m>
                  <m:oMath xmlns:m="http://schemas.openxmlformats.org/officeDocument/2006/math">
                    <m:r>
                      <m:rPr>
                        <m:sty m:val="p"/>
                      </m:rPr>
                      <a:rPr lang="en-US" sz="1900" b="0" i="0" dirty="0" smtClean="0">
                        <a:solidFill>
                          <a:schemeClr val="tx2"/>
                        </a:solidFill>
                        <a:latin typeface="Cambria Math" panose="02040503050406030204" pitchFamily="18" charset="0"/>
                        <a:cs typeface="Times New Roman" pitchFamily="18" charset="0"/>
                      </a:rPr>
                      <m:t>A</m:t>
                    </m:r>
                    <m:acc>
                      <m:accPr>
                        <m:chr m:val="̅"/>
                        <m:ctrlPr>
                          <a:rPr lang="en-US" sz="1900" i="1" dirty="0">
                            <a:solidFill>
                              <a:schemeClr val="tx2"/>
                            </a:solidFill>
                            <a:latin typeface="Cambria Math" panose="02040503050406030204" pitchFamily="18" charset="0"/>
                            <a:cs typeface="Times New Roman" pitchFamily="18" charset="0"/>
                          </a:rPr>
                        </m:ctrlPr>
                      </m:accPr>
                      <m:e>
                        <m:r>
                          <a:rPr lang="en-US" sz="1900" i="1" dirty="0">
                            <a:solidFill>
                              <a:schemeClr val="tx2"/>
                            </a:solidFill>
                            <a:latin typeface="Cambria Math" panose="02040503050406030204" pitchFamily="18" charset="0"/>
                            <a:cs typeface="Times New Roman" pitchFamily="18" charset="0"/>
                          </a:rPr>
                          <m:t>𝐶</m:t>
                        </m:r>
                      </m:e>
                    </m:acc>
                  </m:oMath>
                </a14:m>
                <a:endParaRPr lang="en-US" sz="1900" dirty="0">
                  <a:solidFill>
                    <a:schemeClr val="tx2"/>
                  </a:solidFill>
                  <a:latin typeface="Times New Roman" pitchFamily="18" charset="0"/>
                  <a:cs typeface="Times New Roman" pitchFamily="18" charset="0"/>
                </a:endParaRPr>
              </a:p>
              <a:p>
                <a:pPr algn="just">
                  <a:lnSpc>
                    <a:spcPct val="200000"/>
                  </a:lnSpc>
                  <a:defRPr/>
                </a:pPr>
                <a:endParaRPr lang="en-US" altLang="en-US" sz="1900" i="1" dirty="0">
                  <a:solidFill>
                    <a:schemeClr val="tx2"/>
                  </a:solidFill>
                  <a:latin typeface="Cambria Math" panose="02040503050406030204" pitchFamily="18" charset="0"/>
                  <a:cs typeface="Times New Roman" pitchFamily="18" charset="0"/>
                </a:endParaRPr>
              </a:p>
            </p:txBody>
          </p:sp>
        </mc:Choice>
        <mc:Fallback>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00089"/>
                <a:ext cx="9144000" cy="3512757"/>
              </a:xfrm>
              <a:prstGeom prst="rect">
                <a:avLst/>
              </a:prstGeom>
              <a:blipFill>
                <a:blip r:embed="rId4"/>
                <a:stretch>
                  <a:fillRect l="-600"/>
                </a:stretch>
              </a:blipFill>
              <a:ln w="9525">
                <a:noFill/>
                <a:miter lim="800000"/>
                <a:headEnd/>
                <a:tailEnd/>
              </a:ln>
            </p:spPr>
            <p:txBody>
              <a:bodyPr/>
              <a:lstStyle/>
              <a:p>
                <a:r>
                  <a:rPr lang="en-US">
                    <a:noFill/>
                  </a:rPr>
                  <a:t> </a:t>
                </a:r>
              </a:p>
            </p:txBody>
          </p:sp>
        </mc:Fallback>
      </mc:AlternateContent>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88147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5865"/>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5.3.2 </a:t>
            </a:r>
            <a:r>
              <a:rPr lang="en-US" sz="1900" b="1" dirty="0">
                <a:solidFill>
                  <a:schemeClr val="tx2"/>
                </a:solidFill>
                <a:latin typeface="Times New Roman" pitchFamily="18" charset="0"/>
                <a:cs typeface="Times New Roman" pitchFamily="18" charset="0"/>
              </a:rPr>
              <a:t>Variable method</a:t>
            </a:r>
            <a:r>
              <a:rPr lang="en-US" altLang="en-US" sz="1900" dirty="0">
                <a:solidFill>
                  <a:schemeClr val="tx2"/>
                </a:solidFill>
                <a:latin typeface="Times New Roman" pitchFamily="18" charset="0"/>
                <a:cs typeface="Times New Roman" pitchFamily="18" charset="0"/>
              </a:rPr>
              <a:t>: </a:t>
            </a:r>
          </a:p>
          <a:p>
            <a:pPr marL="457200" indent="-457200" algn="just">
              <a:lnSpc>
                <a:spcPct val="200000"/>
              </a:lnSpc>
              <a:buAutoNum type="arabicPeriod"/>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altLang="en-US" sz="1900" i="1" dirty="0">
              <a:solidFill>
                <a:schemeClr val="tx2"/>
              </a:solidFill>
              <a:latin typeface="Cambria Math" panose="02040503050406030204"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3" name="Picture 2">
            <a:extLst>
              <a:ext uri="{FF2B5EF4-FFF2-40B4-BE49-F238E27FC236}">
                <a16:creationId xmlns:a16="http://schemas.microsoft.com/office/drawing/2014/main" id="{1B1A456D-9D4F-0682-1276-CEF6611D8122}"/>
              </a:ext>
            </a:extLst>
          </p:cNvPr>
          <p:cNvPicPr>
            <a:picLocks noChangeAspect="1"/>
          </p:cNvPicPr>
          <p:nvPr/>
        </p:nvPicPr>
        <p:blipFill>
          <a:blip r:embed="rId4"/>
          <a:stretch>
            <a:fillRect/>
          </a:stretch>
        </p:blipFill>
        <p:spPr>
          <a:xfrm>
            <a:off x="0" y="1392262"/>
            <a:ext cx="9144000" cy="1213253"/>
          </a:xfrm>
          <a:prstGeom prst="rect">
            <a:avLst/>
          </a:prstGeom>
        </p:spPr>
      </p:pic>
      <p:pic>
        <p:nvPicPr>
          <p:cNvPr id="5" name="Picture 4">
            <a:extLst>
              <a:ext uri="{FF2B5EF4-FFF2-40B4-BE49-F238E27FC236}">
                <a16:creationId xmlns:a16="http://schemas.microsoft.com/office/drawing/2014/main" id="{DF8E4A3B-4A13-8431-901B-3EB2B1078A1E}"/>
              </a:ext>
            </a:extLst>
          </p:cNvPr>
          <p:cNvPicPr>
            <a:picLocks noChangeAspect="1"/>
          </p:cNvPicPr>
          <p:nvPr/>
        </p:nvPicPr>
        <p:blipFill>
          <a:blip r:embed="rId5"/>
          <a:stretch>
            <a:fillRect/>
          </a:stretch>
        </p:blipFill>
        <p:spPr>
          <a:xfrm>
            <a:off x="25879" y="2430904"/>
            <a:ext cx="8620125" cy="3000375"/>
          </a:xfrm>
          <a:prstGeom prst="rect">
            <a:avLst/>
          </a:prstGeom>
        </p:spPr>
      </p:pic>
    </p:spTree>
    <p:extLst>
      <p:ext uri="{BB962C8B-B14F-4D97-AF65-F5344CB8AC3E}">
        <p14:creationId xmlns:p14="http://schemas.microsoft.com/office/powerpoint/2010/main" val="3347291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29</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71418"/>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5.3.2 </a:t>
            </a:r>
            <a:r>
              <a:rPr lang="en-US" sz="1900" b="1" dirty="0">
                <a:solidFill>
                  <a:schemeClr val="tx2"/>
                </a:solidFill>
                <a:latin typeface="Times New Roman" pitchFamily="18" charset="0"/>
                <a:cs typeface="Times New Roman" pitchFamily="18" charset="0"/>
              </a:rPr>
              <a:t>Variable method</a:t>
            </a:r>
            <a:r>
              <a:rPr lang="en-US" altLang="en-US" sz="1900" dirty="0">
                <a:solidFill>
                  <a:schemeClr val="tx2"/>
                </a:solidFill>
                <a:latin typeface="Times New Roman" pitchFamily="18" charset="0"/>
                <a:cs typeface="Times New Roman" pitchFamily="18" charset="0"/>
              </a:rPr>
              <a:t>:</a:t>
            </a:r>
          </a:p>
          <a:p>
            <a:pPr algn="just">
              <a:lnSpc>
                <a:spcPct val="200000"/>
              </a:lnSpc>
              <a:defRPr/>
            </a:pPr>
            <a:r>
              <a:rPr lang="en-US" altLang="en-US" sz="1900"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Determine which of the logic circuits in Figure 4–59 are equivalent</a:t>
            </a:r>
            <a:endParaRPr lang="en-US" altLang="en-US" sz="1900" dirty="0">
              <a:solidFill>
                <a:schemeClr val="tx2"/>
              </a:solidFill>
              <a:latin typeface="Times New Roman" pitchFamily="18" charset="0"/>
              <a:cs typeface="Times New Roman" pitchFamily="18" charset="0"/>
            </a:endParaRPr>
          </a:p>
          <a:p>
            <a:pPr marL="457200" indent="-457200" algn="just">
              <a:lnSpc>
                <a:spcPct val="200000"/>
              </a:lnSpc>
              <a:buAutoNum type="arabicPeriod"/>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altLang="en-US" sz="1900" i="1" dirty="0">
              <a:solidFill>
                <a:schemeClr val="tx2"/>
              </a:solidFill>
              <a:latin typeface="Cambria Math" panose="02040503050406030204"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7" name="Picture 6">
            <a:extLst>
              <a:ext uri="{FF2B5EF4-FFF2-40B4-BE49-F238E27FC236}">
                <a16:creationId xmlns:a16="http://schemas.microsoft.com/office/drawing/2014/main" id="{C3EA1AFD-48FE-5D29-3A5A-697F203C3538}"/>
              </a:ext>
            </a:extLst>
          </p:cNvPr>
          <p:cNvPicPr>
            <a:picLocks noChangeAspect="1"/>
          </p:cNvPicPr>
          <p:nvPr/>
        </p:nvPicPr>
        <p:blipFill>
          <a:blip r:embed="rId4"/>
          <a:stretch>
            <a:fillRect/>
          </a:stretch>
        </p:blipFill>
        <p:spPr>
          <a:xfrm>
            <a:off x="676275" y="2209800"/>
            <a:ext cx="7924800" cy="4109155"/>
          </a:xfrm>
          <a:prstGeom prst="rect">
            <a:avLst/>
          </a:prstGeom>
        </p:spPr>
      </p:pic>
    </p:spTree>
    <p:extLst>
      <p:ext uri="{BB962C8B-B14F-4D97-AF65-F5344CB8AC3E}">
        <p14:creationId xmlns:p14="http://schemas.microsoft.com/office/powerpoint/2010/main" val="366963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30</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51025"/>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5.3.3 </a:t>
            </a:r>
            <a:r>
              <a:rPr lang="en-US" sz="1900" b="1" dirty="0">
                <a:solidFill>
                  <a:schemeClr val="tx2"/>
                </a:solidFill>
                <a:latin typeface="Times New Roman" pitchFamily="18" charset="0"/>
                <a:cs typeface="Times New Roman" pitchFamily="18" charset="0"/>
              </a:rPr>
              <a:t>K-map method</a:t>
            </a:r>
            <a:r>
              <a:rPr lang="en-US" altLang="en-US" sz="1900"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K-maps provide a graphical approach to simplifying Boolean functions with fewer variables. It involves grouping similar terms to eliminate redundant literals, resulting in a minimized expression.</a:t>
            </a:r>
            <a:endParaRPr lang="en-US" b="1" dirty="0">
              <a:solidFill>
                <a:srgbClr val="374151"/>
              </a:solidFill>
              <a:latin typeface="Söhne"/>
              <a:cs typeface="Times New Roman" pitchFamily="18" charset="0"/>
            </a:endParaRPr>
          </a:p>
          <a:p>
            <a:pPr algn="just">
              <a:lnSpc>
                <a:spcPct val="200000"/>
              </a:lnSpc>
              <a:defRPr/>
            </a:pPr>
            <a:r>
              <a:rPr lang="en-US" sz="1900" dirty="0">
                <a:solidFill>
                  <a:schemeClr val="tx2"/>
                </a:solidFill>
                <a:latin typeface="Times New Roman" pitchFamily="18" charset="0"/>
                <a:cs typeface="Times New Roman" pitchFamily="18" charset="0"/>
              </a:rPr>
              <a:t>Steps in K-map Minimization:</a:t>
            </a:r>
          </a:p>
          <a:p>
            <a:pPr algn="just">
              <a:lnSpc>
                <a:spcPct val="200000"/>
              </a:lnSpc>
              <a:defRPr/>
            </a:pPr>
            <a:r>
              <a:rPr lang="en-US" sz="1900" dirty="0">
                <a:solidFill>
                  <a:schemeClr val="tx2"/>
                </a:solidFill>
                <a:latin typeface="Times New Roman" pitchFamily="18" charset="0"/>
                <a:cs typeface="Times New Roman" pitchFamily="18" charset="0"/>
              </a:rPr>
              <a:t>1.Create a K-map grid with rows and columns representing all possible input combinations.</a:t>
            </a:r>
          </a:p>
          <a:p>
            <a:pPr algn="just">
              <a:lnSpc>
                <a:spcPct val="200000"/>
              </a:lnSpc>
              <a:defRPr/>
            </a:pPr>
            <a:r>
              <a:rPr lang="en-US" sz="1900" dirty="0">
                <a:solidFill>
                  <a:schemeClr val="tx2"/>
                </a:solidFill>
                <a:latin typeface="Times New Roman" pitchFamily="18" charset="0"/>
                <a:cs typeface="Times New Roman" pitchFamily="18" charset="0"/>
              </a:rPr>
              <a:t>2. Populate the K-map with the output values of the Boolean function.</a:t>
            </a:r>
          </a:p>
          <a:p>
            <a:pPr algn="just">
              <a:lnSpc>
                <a:spcPct val="200000"/>
              </a:lnSpc>
              <a:defRPr/>
            </a:pPr>
            <a:r>
              <a:rPr lang="en-US" sz="1900" dirty="0">
                <a:solidFill>
                  <a:schemeClr val="tx2"/>
                </a:solidFill>
                <a:latin typeface="Times New Roman" pitchFamily="18" charset="0"/>
                <a:cs typeface="Times New Roman" pitchFamily="18" charset="0"/>
              </a:rPr>
              <a:t>3. Identify adjacent cells with 1s to form groups of 1s (rectangles) that cover as many cells as possible while being powers of 2 in size (1, 2, 4, 8, ...).</a:t>
            </a:r>
          </a:p>
          <a:p>
            <a:pPr algn="just">
              <a:lnSpc>
                <a:spcPct val="200000"/>
              </a:lnSpc>
              <a:defRPr/>
            </a:pPr>
            <a:r>
              <a:rPr lang="en-US" sz="1900" dirty="0">
                <a:solidFill>
                  <a:schemeClr val="tx2"/>
                </a:solidFill>
                <a:latin typeface="Times New Roman" pitchFamily="18" charset="0"/>
                <a:cs typeface="Times New Roman" pitchFamily="18" charset="0"/>
              </a:rPr>
              <a:t>4. Write down the terms corresponding to the groups, combining literals as necessary.</a:t>
            </a:r>
          </a:p>
          <a:p>
            <a:pPr algn="just">
              <a:lnSpc>
                <a:spcPct val="200000"/>
              </a:lnSpc>
              <a:defRPr/>
            </a:pPr>
            <a:r>
              <a:rPr lang="en-US" sz="1900" dirty="0">
                <a:solidFill>
                  <a:schemeClr val="tx2"/>
                </a:solidFill>
                <a:latin typeface="Times New Roman" pitchFamily="18" charset="0"/>
                <a:cs typeface="Times New Roman" pitchFamily="18" charset="0"/>
              </a:rPr>
              <a:t>5. The final minimized expression is obtained by summing up the terms from step 4.</a:t>
            </a: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93620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46BD8AAE-ADB1-4FD6-3F9E-9D23176B71F1}"/>
              </a:ext>
            </a:extLst>
          </p:cNvPr>
          <p:cNvPicPr>
            <a:picLocks noChangeAspect="1"/>
          </p:cNvPicPr>
          <p:nvPr/>
        </p:nvPicPr>
        <p:blipFill>
          <a:blip r:embed="rId4"/>
          <a:stretch>
            <a:fillRect/>
          </a:stretch>
        </p:blipFill>
        <p:spPr>
          <a:xfrm>
            <a:off x="0" y="857"/>
            <a:ext cx="9144000" cy="6857143"/>
          </a:xfrm>
          <a:prstGeom prst="rect">
            <a:avLst/>
          </a:prstGeom>
        </p:spPr>
      </p:pic>
      <p:sp>
        <p:nvSpPr>
          <p:cNvPr id="159752" name="Text Box 8">
            <a:extLst>
              <a:ext uri="{FF2B5EF4-FFF2-40B4-BE49-F238E27FC236}">
                <a16:creationId xmlns:a16="http://schemas.microsoft.com/office/drawing/2014/main" id="{BA629D15-98F7-B1D8-49A7-646E9EE736FE}"/>
              </a:ext>
            </a:extLst>
          </p:cNvPr>
          <p:cNvSpPr txBox="1">
            <a:spLocks noChangeArrowheads="1"/>
          </p:cNvSpPr>
          <p:nvPr/>
        </p:nvSpPr>
        <p:spPr bwMode="auto">
          <a:xfrm>
            <a:off x="304800" y="939564"/>
            <a:ext cx="4724400" cy="552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200000"/>
              </a:lnSpc>
              <a:spcBef>
                <a:spcPct val="30000"/>
              </a:spcBef>
            </a:pPr>
            <a:r>
              <a:rPr lang="en-US" altLang="en-US" sz="1900" dirty="0">
                <a:solidFill>
                  <a:schemeClr val="tx2"/>
                </a:solidFill>
                <a:latin typeface="Times New Roman" pitchFamily="18" charset="0"/>
                <a:cs typeface="Times New Roman" pitchFamily="18" charset="0"/>
              </a:rPr>
              <a:t>The Karnaugh map (K-map)</a:t>
            </a:r>
          </a:p>
          <a:p>
            <a:pPr>
              <a:lnSpc>
                <a:spcPct val="200000"/>
              </a:lnSpc>
              <a:spcBef>
                <a:spcPct val="30000"/>
              </a:spcBef>
            </a:pPr>
            <a:r>
              <a:rPr lang="en-US" altLang="en-US" sz="1900" dirty="0">
                <a:solidFill>
                  <a:schemeClr val="tx2"/>
                </a:solidFill>
                <a:latin typeface="Times New Roman" pitchFamily="18" charset="0"/>
                <a:cs typeface="Times New Roman" pitchFamily="18" charset="0"/>
              </a:rPr>
              <a:t> is a tool for simplifying combinational logic with 3 or 4 variables. For 3 variables, 8 cells are required </a:t>
            </a:r>
          </a:p>
          <a:p>
            <a:pPr eaLnBrk="1" hangingPunct="1">
              <a:lnSpc>
                <a:spcPct val="200000"/>
              </a:lnSpc>
              <a:spcBef>
                <a:spcPct val="30000"/>
              </a:spcBef>
            </a:pPr>
            <a:r>
              <a:rPr lang="en-US" altLang="en-US" sz="1900" dirty="0">
                <a:solidFill>
                  <a:schemeClr val="tx2"/>
                </a:solidFill>
                <a:latin typeface="Times New Roman" pitchFamily="18" charset="0"/>
                <a:cs typeface="Times New Roman" pitchFamily="18" charset="0"/>
              </a:rPr>
              <a:t>The map shown is for three variables labeled A, B, and C. Each cell represents one possible product term.</a:t>
            </a:r>
          </a:p>
          <a:p>
            <a:pPr eaLnBrk="1" hangingPunct="1">
              <a:lnSpc>
                <a:spcPct val="200000"/>
              </a:lnSpc>
              <a:spcBef>
                <a:spcPct val="30000"/>
              </a:spcBef>
            </a:pPr>
            <a:r>
              <a:rPr lang="en-US" altLang="en-US" sz="1900" dirty="0">
                <a:solidFill>
                  <a:schemeClr val="tx2"/>
                </a:solidFill>
                <a:latin typeface="Times New Roman" pitchFamily="18" charset="0"/>
                <a:cs typeface="Times New Roman" pitchFamily="18" charset="0"/>
              </a:rPr>
              <a:t>Each cell differs from an adjacent cell by only one variable. </a:t>
            </a:r>
          </a:p>
        </p:txBody>
      </p:sp>
      <p:graphicFrame>
        <p:nvGraphicFramePr>
          <p:cNvPr id="159753" name="Object 9">
            <a:extLst>
              <a:ext uri="{FF2B5EF4-FFF2-40B4-BE49-F238E27FC236}">
                <a16:creationId xmlns:a16="http://schemas.microsoft.com/office/drawing/2014/main" id="{75200D55-0FB2-DED4-87CB-2D59E6D73FF7}"/>
              </a:ext>
            </a:extLst>
          </p:cNvPr>
          <p:cNvGraphicFramePr>
            <a:graphicFrameLocks noChangeAspect="1"/>
          </p:cNvGraphicFramePr>
          <p:nvPr>
            <p:extLst>
              <p:ext uri="{D42A27DB-BD31-4B8C-83A1-F6EECF244321}">
                <p14:modId xmlns:p14="http://schemas.microsoft.com/office/powerpoint/2010/main" val="4198848493"/>
              </p:ext>
            </p:extLst>
          </p:nvPr>
        </p:nvGraphicFramePr>
        <p:xfrm>
          <a:off x="5791200" y="1676400"/>
          <a:ext cx="2362200" cy="3276600"/>
        </p:xfrm>
        <a:graphic>
          <a:graphicData uri="http://schemas.openxmlformats.org/presentationml/2006/ole">
            <mc:AlternateContent xmlns:mc="http://schemas.openxmlformats.org/markup-compatibility/2006">
              <mc:Choice xmlns:v="urn:schemas-microsoft-com:vml" Requires="v">
                <p:oleObj name="CorelDRAW" r:id="rId5" imgW="1163117" imgH="1614373" progId="CorelDRAW.Graphic.12">
                  <p:embed/>
                </p:oleObj>
              </mc:Choice>
              <mc:Fallback>
                <p:oleObj name="CorelDRAW" r:id="rId5" imgW="1163117" imgH="1614373" progId="CorelDRAW.Graphic.12">
                  <p:embed/>
                  <p:pic>
                    <p:nvPicPr>
                      <p:cNvPr id="159753" name="Object 9">
                        <a:extLst>
                          <a:ext uri="{FF2B5EF4-FFF2-40B4-BE49-F238E27FC236}">
                            <a16:creationId xmlns:a16="http://schemas.microsoft.com/office/drawing/2014/main" id="{75200D55-0FB2-DED4-87CB-2D59E6D73F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1676400"/>
                        <a:ext cx="2362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5">
            <a:extLst>
              <a:ext uri="{FF2B5EF4-FFF2-40B4-BE49-F238E27FC236}">
                <a16:creationId xmlns:a16="http://schemas.microsoft.com/office/drawing/2014/main" id="{FFD04355-BA88-C887-12F4-D9F4AD865119}"/>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4" name="Rectangle 3">
            <a:extLst>
              <a:ext uri="{FF2B5EF4-FFF2-40B4-BE49-F238E27FC236}">
                <a16:creationId xmlns:a16="http://schemas.microsoft.com/office/drawing/2014/main" id="{AC1D4D7C-EB4A-5BD7-19AF-A13DC99715D7}"/>
              </a:ext>
            </a:extLst>
          </p:cNvPr>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31</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9752">
                                            <p:txEl>
                                              <p:pRg st="2" end="2"/>
                                            </p:txEl>
                                          </p:spTgt>
                                        </p:tgtEl>
                                        <p:attrNameLst>
                                          <p:attrName>style.visibility</p:attrName>
                                        </p:attrNameLst>
                                      </p:cBhvr>
                                      <p:to>
                                        <p:strVal val="visible"/>
                                      </p:to>
                                    </p:set>
                                    <p:animEffect transition="in" filter="wipe(left)">
                                      <p:cBhvr>
                                        <p:cTn id="7" dur="1000"/>
                                        <p:tgtEl>
                                          <p:spTgt spid="15975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9752">
                                            <p:txEl>
                                              <p:pRg st="0" end="0"/>
                                            </p:txEl>
                                          </p:spTgt>
                                        </p:tgtEl>
                                        <p:attrNameLst>
                                          <p:attrName>style.visibility</p:attrName>
                                        </p:attrNameLst>
                                      </p:cBhvr>
                                      <p:to>
                                        <p:strVal val="visible"/>
                                      </p:to>
                                    </p:set>
                                    <p:animEffect transition="in" filter="wipe(left)">
                                      <p:cBhvr>
                                        <p:cTn id="12" dur="1000"/>
                                        <p:tgtEl>
                                          <p:spTgt spid="15975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9752">
                                            <p:txEl>
                                              <p:pRg st="1" end="1"/>
                                            </p:txEl>
                                          </p:spTgt>
                                        </p:tgtEl>
                                        <p:attrNameLst>
                                          <p:attrName>style.visibility</p:attrName>
                                        </p:attrNameLst>
                                      </p:cBhvr>
                                      <p:to>
                                        <p:strVal val="visible"/>
                                      </p:to>
                                    </p:set>
                                    <p:animEffect transition="in" filter="wipe(left)">
                                      <p:cBhvr>
                                        <p:cTn id="17" dur="1000"/>
                                        <p:tgtEl>
                                          <p:spTgt spid="15975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59752">
                                            <p:txEl>
                                              <p:pRg st="3" end="3"/>
                                            </p:txEl>
                                          </p:spTgt>
                                        </p:tgtEl>
                                        <p:attrNameLst>
                                          <p:attrName>style.visibility</p:attrName>
                                        </p:attrNameLst>
                                      </p:cBhvr>
                                      <p:to>
                                        <p:strVal val="visible"/>
                                      </p:to>
                                    </p:set>
                                    <p:animEffect transition="in" filter="wipe(left)">
                                      <p:cBhvr>
                                        <p:cTn id="22" dur="1000"/>
                                        <p:tgtEl>
                                          <p:spTgt spid="1597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F26085B1-DB24-BEE8-6265-A71F8E031CB0}"/>
              </a:ext>
            </a:extLst>
          </p:cNvPr>
          <p:cNvPicPr>
            <a:picLocks noChangeAspect="1"/>
          </p:cNvPicPr>
          <p:nvPr/>
        </p:nvPicPr>
        <p:blipFill>
          <a:blip r:embed="rId4"/>
          <a:stretch>
            <a:fillRect/>
          </a:stretch>
        </p:blipFill>
        <p:spPr>
          <a:xfrm>
            <a:off x="0" y="857"/>
            <a:ext cx="9144000" cy="6857143"/>
          </a:xfrm>
          <a:prstGeom prst="rect">
            <a:avLst/>
          </a:prstGeom>
        </p:spPr>
      </p:pic>
      <p:graphicFrame>
        <p:nvGraphicFramePr>
          <p:cNvPr id="163863" name="Object 23">
            <a:extLst>
              <a:ext uri="{FF2B5EF4-FFF2-40B4-BE49-F238E27FC236}">
                <a16:creationId xmlns:a16="http://schemas.microsoft.com/office/drawing/2014/main" id="{FF25A4EA-813D-D6C6-A276-EC4F4712AE50}"/>
              </a:ext>
            </a:extLst>
          </p:cNvPr>
          <p:cNvGraphicFramePr>
            <a:graphicFrameLocks noChangeAspect="1"/>
          </p:cNvGraphicFramePr>
          <p:nvPr/>
        </p:nvGraphicFramePr>
        <p:xfrm>
          <a:off x="1219200" y="2667000"/>
          <a:ext cx="2386013" cy="3352800"/>
        </p:xfrm>
        <a:graphic>
          <a:graphicData uri="http://schemas.openxmlformats.org/presentationml/2006/ole">
            <mc:AlternateContent xmlns:mc="http://schemas.openxmlformats.org/markup-compatibility/2006">
              <mc:Choice xmlns:v="urn:schemas-microsoft-com:vml" Requires="v">
                <p:oleObj name="CorelDRAW" r:id="rId5" imgW="1088296" imgH="1530665" progId="CorelDRAW.Graphic.13">
                  <p:embed/>
                </p:oleObj>
              </mc:Choice>
              <mc:Fallback>
                <p:oleObj name="CorelDRAW" r:id="rId5" imgW="1088296" imgH="1530665" progId="CorelDRAW.Graphic.13">
                  <p:embed/>
                  <p:pic>
                    <p:nvPicPr>
                      <p:cNvPr id="163863" name="Object 23">
                        <a:extLst>
                          <a:ext uri="{FF2B5EF4-FFF2-40B4-BE49-F238E27FC236}">
                            <a16:creationId xmlns:a16="http://schemas.microsoft.com/office/drawing/2014/main" id="{FF25A4EA-813D-D6C6-A276-EC4F4712AE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2667000"/>
                        <a:ext cx="2386013"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47" name="Text Box 7">
            <a:extLst>
              <a:ext uri="{FF2B5EF4-FFF2-40B4-BE49-F238E27FC236}">
                <a16:creationId xmlns:a16="http://schemas.microsoft.com/office/drawing/2014/main" id="{27ABE8F3-DDE6-48A5-1AD2-90EBCB0A12CB}"/>
              </a:ext>
            </a:extLst>
          </p:cNvPr>
          <p:cNvSpPr txBox="1">
            <a:spLocks noChangeArrowheads="1"/>
          </p:cNvSpPr>
          <p:nvPr/>
        </p:nvSpPr>
        <p:spPr bwMode="auto">
          <a:xfrm>
            <a:off x="1213449" y="1102619"/>
            <a:ext cx="7315200" cy="1172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200000"/>
              </a:lnSpc>
              <a:spcBef>
                <a:spcPct val="50000"/>
              </a:spcBef>
            </a:pPr>
            <a:r>
              <a:rPr lang="en-US" altLang="en-US" sz="1900" dirty="0">
                <a:solidFill>
                  <a:schemeClr val="tx2"/>
                </a:solidFill>
                <a:latin typeface="Times New Roman" pitchFamily="18" charset="0"/>
                <a:cs typeface="Times New Roman" pitchFamily="18" charset="0"/>
              </a:rPr>
              <a:t>Cells are usually labeled using 0’s and 1’s to represent the variable and its complement.  </a:t>
            </a:r>
          </a:p>
        </p:txBody>
      </p:sp>
      <p:grpSp>
        <p:nvGrpSpPr>
          <p:cNvPr id="163850" name="Group 10">
            <a:extLst>
              <a:ext uri="{FF2B5EF4-FFF2-40B4-BE49-F238E27FC236}">
                <a16:creationId xmlns:a16="http://schemas.microsoft.com/office/drawing/2014/main" id="{E8074E9F-D591-DE07-20AE-B58B6CD634A7}"/>
              </a:ext>
            </a:extLst>
          </p:cNvPr>
          <p:cNvGrpSpPr>
            <a:grpSpLocks/>
          </p:cNvGrpSpPr>
          <p:nvPr/>
        </p:nvGrpSpPr>
        <p:grpSpPr bwMode="auto">
          <a:xfrm>
            <a:off x="533400" y="3200400"/>
            <a:ext cx="1447800" cy="2590800"/>
            <a:chOff x="336" y="2016"/>
            <a:chExt cx="912" cy="1632"/>
          </a:xfrm>
        </p:grpSpPr>
        <p:sp>
          <p:nvSpPr>
            <p:cNvPr id="163851" name="Oval 11">
              <a:extLst>
                <a:ext uri="{FF2B5EF4-FFF2-40B4-BE49-F238E27FC236}">
                  <a16:creationId xmlns:a16="http://schemas.microsoft.com/office/drawing/2014/main" id="{872BBC67-A9FB-9DEF-D836-24AC27228F1E}"/>
                </a:ext>
              </a:extLst>
            </p:cNvPr>
            <p:cNvSpPr>
              <a:spLocks noChangeArrowheads="1"/>
            </p:cNvSpPr>
            <p:nvPr/>
          </p:nvSpPr>
          <p:spPr bwMode="auto">
            <a:xfrm>
              <a:off x="912" y="2016"/>
              <a:ext cx="336" cy="1632"/>
            </a:xfrm>
            <a:prstGeom prst="ellipse">
              <a:avLst/>
            </a:prstGeom>
            <a:noFill/>
            <a:ln w="952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52" name="Text Box 12">
              <a:extLst>
                <a:ext uri="{FF2B5EF4-FFF2-40B4-BE49-F238E27FC236}">
                  <a16:creationId xmlns:a16="http://schemas.microsoft.com/office/drawing/2014/main" id="{BB669401-FF7A-1ECC-C469-D3F7F05C1950}"/>
                </a:ext>
              </a:extLst>
            </p:cNvPr>
            <p:cNvSpPr txBox="1">
              <a:spLocks noChangeArrowheads="1"/>
            </p:cNvSpPr>
            <p:nvPr/>
          </p:nvSpPr>
          <p:spPr bwMode="auto">
            <a:xfrm>
              <a:off x="336" y="2496"/>
              <a:ext cx="576" cy="518"/>
            </a:xfrm>
            <a:prstGeom prst="rect">
              <a:avLst/>
            </a:prstGeom>
            <a:gradFill rotWithShape="1">
              <a:gsLst>
                <a:gs pos="0">
                  <a:srgbClr val="777777"/>
                </a:gs>
                <a:gs pos="100000">
                  <a:srgbClr val="DDDDDD"/>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a:solidFill>
                    <a:schemeClr val="tx2"/>
                  </a:solidFill>
                </a:rPr>
                <a:t>Gray code</a:t>
              </a:r>
            </a:p>
          </p:txBody>
        </p:sp>
      </p:grpSp>
      <p:sp>
        <p:nvSpPr>
          <p:cNvPr id="163848" name="Text Box 8">
            <a:extLst>
              <a:ext uri="{FF2B5EF4-FFF2-40B4-BE49-F238E27FC236}">
                <a16:creationId xmlns:a16="http://schemas.microsoft.com/office/drawing/2014/main" id="{7A0E20CA-C9CD-2298-3181-B251D9C3F94A}"/>
              </a:ext>
            </a:extLst>
          </p:cNvPr>
          <p:cNvSpPr txBox="1">
            <a:spLocks noChangeArrowheads="1"/>
          </p:cNvSpPr>
          <p:nvPr/>
        </p:nvSpPr>
        <p:spPr bwMode="auto">
          <a:xfrm>
            <a:off x="3986842" y="4340525"/>
            <a:ext cx="4343400" cy="1757597"/>
          </a:xfrm>
          <a:prstGeom prst="rect">
            <a:avLst/>
          </a:prstGeom>
        </p:spPr>
        <p:txBody>
          <a:bodyPr>
            <a:spAutoFit/>
          </a:bodyPr>
          <a:lstStyle/>
          <a:p>
            <a:pPr eaLnBrk="1" hangingPunct="1">
              <a:lnSpc>
                <a:spcPct val="200000"/>
              </a:lnSpc>
              <a:spcBef>
                <a:spcPct val="20000"/>
              </a:spcBef>
            </a:pPr>
            <a:r>
              <a:rPr lang="en-US" altLang="en-US" sz="1900" dirty="0">
                <a:solidFill>
                  <a:schemeClr val="tx2"/>
                </a:solidFill>
                <a:latin typeface="Times New Roman" pitchFamily="18" charset="0"/>
                <a:cs typeface="Times New Roman" pitchFamily="18" charset="0"/>
              </a:rPr>
              <a:t>Ones are read as the true variable and zeros are read as the complemented variable. </a:t>
            </a:r>
          </a:p>
        </p:txBody>
      </p:sp>
      <p:sp>
        <p:nvSpPr>
          <p:cNvPr id="163862" name="Text Box 22">
            <a:extLst>
              <a:ext uri="{FF2B5EF4-FFF2-40B4-BE49-F238E27FC236}">
                <a16:creationId xmlns:a16="http://schemas.microsoft.com/office/drawing/2014/main" id="{F7F5568C-EB7E-D9DC-C4BB-F96B2842E517}"/>
              </a:ext>
            </a:extLst>
          </p:cNvPr>
          <p:cNvSpPr txBox="1">
            <a:spLocks noChangeArrowheads="1"/>
          </p:cNvSpPr>
          <p:nvPr/>
        </p:nvSpPr>
        <p:spPr bwMode="auto">
          <a:xfrm>
            <a:off x="3962400" y="2590800"/>
            <a:ext cx="4343400" cy="1757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200000"/>
              </a:lnSpc>
              <a:spcBef>
                <a:spcPct val="50000"/>
              </a:spcBef>
            </a:pPr>
            <a:r>
              <a:rPr lang="en-US" altLang="en-US" sz="1900" dirty="0">
                <a:solidFill>
                  <a:schemeClr val="tx2"/>
                </a:solidFill>
                <a:latin typeface="Times New Roman" pitchFamily="18" charset="0"/>
                <a:cs typeface="Times New Roman" pitchFamily="18" charset="0"/>
              </a:rPr>
              <a:t>The numbers are entered in gray code, to force adjacent cells to be different by only one variable.</a:t>
            </a:r>
          </a:p>
        </p:txBody>
      </p:sp>
      <p:sp>
        <p:nvSpPr>
          <p:cNvPr id="3" name="Rectangle 5">
            <a:extLst>
              <a:ext uri="{FF2B5EF4-FFF2-40B4-BE49-F238E27FC236}">
                <a16:creationId xmlns:a16="http://schemas.microsoft.com/office/drawing/2014/main" id="{08537CF8-679F-7309-C5AF-A6D3C17C8CCC}"/>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4" name="Rectangle 3">
            <a:extLst>
              <a:ext uri="{FF2B5EF4-FFF2-40B4-BE49-F238E27FC236}">
                <a16:creationId xmlns:a16="http://schemas.microsoft.com/office/drawing/2014/main" id="{8C080B17-F610-56F8-0C61-65A8558F5AD2}"/>
              </a:ext>
            </a:extLst>
          </p:cNvPr>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32</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63862"/>
                                        </p:tgtEl>
                                        <p:attrNameLst>
                                          <p:attrName>style.visibility</p:attrName>
                                        </p:attrNameLst>
                                      </p:cBhvr>
                                      <p:to>
                                        <p:strVal val="visible"/>
                                      </p:to>
                                    </p:set>
                                    <p:animEffect transition="in" filter="wipe(up)">
                                      <p:cBhvr>
                                        <p:cTn id="7" dur="500"/>
                                        <p:tgtEl>
                                          <p:spTgt spid="163862"/>
                                        </p:tgtEl>
                                      </p:cBhvr>
                                    </p:animEffect>
                                  </p:childTnLst>
                                </p:cTn>
                              </p:par>
                              <p:par>
                                <p:cTn id="8" presetID="53" presetClass="entr" presetSubtype="0" fill="hold" nodeType="withEffect">
                                  <p:stCondLst>
                                    <p:cond delay="0"/>
                                  </p:stCondLst>
                                  <p:childTnLst>
                                    <p:set>
                                      <p:cBhvr>
                                        <p:cTn id="9" dur="1" fill="hold">
                                          <p:stCondLst>
                                            <p:cond delay="0"/>
                                          </p:stCondLst>
                                        </p:cTn>
                                        <p:tgtEl>
                                          <p:spTgt spid="163850"/>
                                        </p:tgtEl>
                                        <p:attrNameLst>
                                          <p:attrName>style.visibility</p:attrName>
                                        </p:attrNameLst>
                                      </p:cBhvr>
                                      <p:to>
                                        <p:strVal val="visible"/>
                                      </p:to>
                                    </p:set>
                                    <p:anim calcmode="lin" valueType="num">
                                      <p:cBhvr>
                                        <p:cTn id="10" dur="2000" fill="hold"/>
                                        <p:tgtEl>
                                          <p:spTgt spid="163850"/>
                                        </p:tgtEl>
                                        <p:attrNameLst>
                                          <p:attrName>ppt_w</p:attrName>
                                        </p:attrNameLst>
                                      </p:cBhvr>
                                      <p:tavLst>
                                        <p:tav tm="0">
                                          <p:val>
                                            <p:fltVal val="0"/>
                                          </p:val>
                                        </p:tav>
                                        <p:tav tm="100000">
                                          <p:val>
                                            <p:strVal val="#ppt_w"/>
                                          </p:val>
                                        </p:tav>
                                      </p:tavLst>
                                    </p:anim>
                                    <p:anim calcmode="lin" valueType="num">
                                      <p:cBhvr>
                                        <p:cTn id="11" dur="2000" fill="hold"/>
                                        <p:tgtEl>
                                          <p:spTgt spid="163850"/>
                                        </p:tgtEl>
                                        <p:attrNameLst>
                                          <p:attrName>ppt_h</p:attrName>
                                        </p:attrNameLst>
                                      </p:cBhvr>
                                      <p:tavLst>
                                        <p:tav tm="0">
                                          <p:val>
                                            <p:fltVal val="0"/>
                                          </p:val>
                                        </p:tav>
                                        <p:tav tm="100000">
                                          <p:val>
                                            <p:strVal val="#ppt_h"/>
                                          </p:val>
                                        </p:tav>
                                      </p:tavLst>
                                    </p:anim>
                                    <p:animEffect transition="in" filter="fade">
                                      <p:cBhvr>
                                        <p:cTn id="12" dur="2000"/>
                                        <p:tgtEl>
                                          <p:spTgt spid="163850"/>
                                        </p:tgtEl>
                                      </p:cBhvr>
                                    </p:animEffect>
                                  </p:childTnLst>
                                  <p:subTnLst>
                                    <p:set>
                                      <p:cBhvr override="childStyle">
                                        <p:cTn dur="1" fill="hold" display="0" masterRel="nextClick" afterEffect="1"/>
                                        <p:tgtEl>
                                          <p:spTgt spid="163850"/>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163848"/>
                                        </p:tgtEl>
                                        <p:attrNameLst>
                                          <p:attrName>style.visibility</p:attrName>
                                        </p:attrNameLst>
                                      </p:cBhvr>
                                      <p:to>
                                        <p:strVal val="visible"/>
                                      </p:to>
                                    </p:set>
                                    <p:anim calcmode="lin" valueType="num">
                                      <p:cBhvr additive="base">
                                        <p:cTn id="17" dur="500" fill="hold"/>
                                        <p:tgtEl>
                                          <p:spTgt spid="163848"/>
                                        </p:tgtEl>
                                        <p:attrNameLst>
                                          <p:attrName>ppt_x</p:attrName>
                                        </p:attrNameLst>
                                      </p:cBhvr>
                                      <p:tavLst>
                                        <p:tav tm="0">
                                          <p:val>
                                            <p:strVal val="1+#ppt_w/2"/>
                                          </p:val>
                                        </p:tav>
                                        <p:tav tm="100000">
                                          <p:val>
                                            <p:strVal val="#ppt_x"/>
                                          </p:val>
                                        </p:tav>
                                      </p:tavLst>
                                    </p:anim>
                                    <p:anim calcmode="lin" valueType="num">
                                      <p:cBhvr additive="base">
                                        <p:cTn id="18" dur="500" fill="hold"/>
                                        <p:tgtEl>
                                          <p:spTgt spid="1638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8" grpId="0"/>
      <p:bldP spid="16386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5B4A0523-7508-01EA-D8AB-0415396CEA44}"/>
              </a:ext>
            </a:extLst>
          </p:cNvPr>
          <p:cNvPicPr>
            <a:picLocks noChangeAspect="1"/>
          </p:cNvPicPr>
          <p:nvPr/>
        </p:nvPicPr>
        <p:blipFill>
          <a:blip r:embed="rId4"/>
          <a:stretch>
            <a:fillRect/>
          </a:stretch>
        </p:blipFill>
        <p:spPr>
          <a:xfrm>
            <a:off x="0" y="857"/>
            <a:ext cx="9144000" cy="6857143"/>
          </a:xfrm>
          <a:prstGeom prst="rect">
            <a:avLst/>
          </a:prstGeom>
        </p:spPr>
      </p:pic>
      <p:graphicFrame>
        <p:nvGraphicFramePr>
          <p:cNvPr id="174087" name="Object 7">
            <a:extLst>
              <a:ext uri="{FF2B5EF4-FFF2-40B4-BE49-F238E27FC236}">
                <a16:creationId xmlns:a16="http://schemas.microsoft.com/office/drawing/2014/main" id="{97B7B7F3-8987-E8D4-8937-528684565898}"/>
              </a:ext>
            </a:extLst>
          </p:cNvPr>
          <p:cNvGraphicFramePr>
            <a:graphicFrameLocks noChangeAspect="1"/>
          </p:cNvGraphicFramePr>
          <p:nvPr/>
        </p:nvGraphicFramePr>
        <p:xfrm>
          <a:off x="5562600" y="2743200"/>
          <a:ext cx="2362200" cy="3276600"/>
        </p:xfrm>
        <a:graphic>
          <a:graphicData uri="http://schemas.openxmlformats.org/presentationml/2006/ole">
            <mc:AlternateContent xmlns:mc="http://schemas.openxmlformats.org/markup-compatibility/2006">
              <mc:Choice xmlns:v="urn:schemas-microsoft-com:vml" Requires="v">
                <p:oleObj name="CorelDRAW" r:id="rId5" imgW="1163117" imgH="1614373" progId="CorelDRAW.Graphic.12">
                  <p:embed/>
                </p:oleObj>
              </mc:Choice>
              <mc:Fallback>
                <p:oleObj name="CorelDRAW" r:id="rId5" imgW="1163117" imgH="1614373" progId="CorelDRAW.Graphic.12">
                  <p:embed/>
                  <p:pic>
                    <p:nvPicPr>
                      <p:cNvPr id="174087" name="Object 7">
                        <a:extLst>
                          <a:ext uri="{FF2B5EF4-FFF2-40B4-BE49-F238E27FC236}">
                            <a16:creationId xmlns:a16="http://schemas.microsoft.com/office/drawing/2014/main" id="{97B7B7F3-8987-E8D4-8937-5286845658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2743200"/>
                        <a:ext cx="2362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088" name="Text Box 8">
            <a:extLst>
              <a:ext uri="{FF2B5EF4-FFF2-40B4-BE49-F238E27FC236}">
                <a16:creationId xmlns:a16="http://schemas.microsoft.com/office/drawing/2014/main" id="{0004C6FC-A583-7744-D0CE-05142D8E35B9}"/>
              </a:ext>
            </a:extLst>
          </p:cNvPr>
          <p:cNvSpPr txBox="1">
            <a:spLocks noChangeArrowheads="1"/>
          </p:cNvSpPr>
          <p:nvPr/>
        </p:nvSpPr>
        <p:spPr bwMode="auto">
          <a:xfrm>
            <a:off x="5562600" y="3319463"/>
            <a:ext cx="685800" cy="212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i="1"/>
              <a:t>AB</a:t>
            </a:r>
          </a:p>
          <a:p>
            <a:pPr>
              <a:spcBef>
                <a:spcPct val="50000"/>
              </a:spcBef>
            </a:pPr>
            <a:endParaRPr lang="en-US" altLang="en-US" sz="1000" i="1"/>
          </a:p>
          <a:p>
            <a:pPr>
              <a:spcBef>
                <a:spcPct val="50000"/>
              </a:spcBef>
            </a:pPr>
            <a:r>
              <a:rPr lang="en-US" altLang="en-US" sz="1600" i="1"/>
              <a:t>AB</a:t>
            </a:r>
          </a:p>
          <a:p>
            <a:pPr>
              <a:spcBef>
                <a:spcPct val="50000"/>
              </a:spcBef>
            </a:pPr>
            <a:endParaRPr lang="en-US" altLang="en-US" sz="1000" i="1"/>
          </a:p>
          <a:p>
            <a:pPr>
              <a:spcBef>
                <a:spcPct val="50000"/>
              </a:spcBef>
            </a:pPr>
            <a:r>
              <a:rPr lang="en-US" altLang="en-US" sz="1600" i="1"/>
              <a:t>AB</a:t>
            </a:r>
          </a:p>
          <a:p>
            <a:pPr>
              <a:spcBef>
                <a:spcPct val="50000"/>
              </a:spcBef>
            </a:pPr>
            <a:endParaRPr lang="en-US" altLang="en-US" sz="1000" i="1"/>
          </a:p>
          <a:p>
            <a:pPr>
              <a:spcBef>
                <a:spcPct val="50000"/>
              </a:spcBef>
            </a:pPr>
            <a:r>
              <a:rPr lang="en-US" altLang="en-US" sz="1600" i="1"/>
              <a:t>AB</a:t>
            </a:r>
          </a:p>
        </p:txBody>
      </p:sp>
      <p:sp>
        <p:nvSpPr>
          <p:cNvPr id="174089" name="Line 9">
            <a:extLst>
              <a:ext uri="{FF2B5EF4-FFF2-40B4-BE49-F238E27FC236}">
                <a16:creationId xmlns:a16="http://schemas.microsoft.com/office/drawing/2014/main" id="{569469E2-E0FA-FCDE-D069-48E7EBE6E8FB}"/>
              </a:ext>
            </a:extLst>
          </p:cNvPr>
          <p:cNvSpPr>
            <a:spLocks noChangeShapeType="1"/>
          </p:cNvSpPr>
          <p:nvPr/>
        </p:nvSpPr>
        <p:spPr bwMode="auto">
          <a:xfrm>
            <a:off x="5681663" y="337185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090" name="Line 10">
            <a:extLst>
              <a:ext uri="{FF2B5EF4-FFF2-40B4-BE49-F238E27FC236}">
                <a16:creationId xmlns:a16="http://schemas.microsoft.com/office/drawing/2014/main" id="{54C1942C-CF6C-D9BD-886A-AE4C57B927A3}"/>
              </a:ext>
            </a:extLst>
          </p:cNvPr>
          <p:cNvSpPr>
            <a:spLocks noChangeShapeType="1"/>
          </p:cNvSpPr>
          <p:nvPr/>
        </p:nvSpPr>
        <p:spPr bwMode="auto">
          <a:xfrm>
            <a:off x="5815013" y="3371850"/>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091" name="Line 11">
            <a:extLst>
              <a:ext uri="{FF2B5EF4-FFF2-40B4-BE49-F238E27FC236}">
                <a16:creationId xmlns:a16="http://schemas.microsoft.com/office/drawing/2014/main" id="{86DC5E05-5EE5-A276-8557-77EA8FB0A68E}"/>
              </a:ext>
            </a:extLst>
          </p:cNvPr>
          <p:cNvSpPr>
            <a:spLocks noChangeShapeType="1"/>
          </p:cNvSpPr>
          <p:nvPr/>
        </p:nvSpPr>
        <p:spPr bwMode="auto">
          <a:xfrm>
            <a:off x="5686425" y="3976688"/>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092" name="Line 12">
            <a:extLst>
              <a:ext uri="{FF2B5EF4-FFF2-40B4-BE49-F238E27FC236}">
                <a16:creationId xmlns:a16="http://schemas.microsoft.com/office/drawing/2014/main" id="{4C6C23F8-6EA6-9B3C-BCA9-9DCA6FFECA75}"/>
              </a:ext>
            </a:extLst>
          </p:cNvPr>
          <p:cNvSpPr>
            <a:spLocks noChangeShapeType="1"/>
          </p:cNvSpPr>
          <p:nvPr/>
        </p:nvSpPr>
        <p:spPr bwMode="auto">
          <a:xfrm>
            <a:off x="5829300" y="5186363"/>
            <a:ext cx="76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093" name="Text Box 13">
            <a:extLst>
              <a:ext uri="{FF2B5EF4-FFF2-40B4-BE49-F238E27FC236}">
                <a16:creationId xmlns:a16="http://schemas.microsoft.com/office/drawing/2014/main" id="{018BAC31-C140-1008-3A49-8BEB14D7B1FB}"/>
              </a:ext>
            </a:extLst>
          </p:cNvPr>
          <p:cNvSpPr txBox="1">
            <a:spLocks noChangeArrowheads="1"/>
          </p:cNvSpPr>
          <p:nvPr/>
        </p:nvSpPr>
        <p:spPr bwMode="auto">
          <a:xfrm>
            <a:off x="6172200" y="2895600"/>
            <a:ext cx="1143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i="1"/>
              <a:t>C           C</a:t>
            </a:r>
          </a:p>
        </p:txBody>
      </p:sp>
      <p:sp>
        <p:nvSpPr>
          <p:cNvPr id="174094" name="Line 14">
            <a:extLst>
              <a:ext uri="{FF2B5EF4-FFF2-40B4-BE49-F238E27FC236}">
                <a16:creationId xmlns:a16="http://schemas.microsoft.com/office/drawing/2014/main" id="{911759C2-1BF4-BF82-2B29-F61E7E363DC6}"/>
              </a:ext>
            </a:extLst>
          </p:cNvPr>
          <p:cNvSpPr>
            <a:spLocks noChangeShapeType="1"/>
          </p:cNvSpPr>
          <p:nvPr/>
        </p:nvSpPr>
        <p:spPr bwMode="auto">
          <a:xfrm>
            <a:off x="6272213" y="2971800"/>
            <a:ext cx="1285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095" name="Text Box 15">
            <a:extLst>
              <a:ext uri="{FF2B5EF4-FFF2-40B4-BE49-F238E27FC236}">
                <a16:creationId xmlns:a16="http://schemas.microsoft.com/office/drawing/2014/main" id="{C0D51763-CD7D-0824-2FB0-6B1089410CD7}"/>
              </a:ext>
            </a:extLst>
          </p:cNvPr>
          <p:cNvSpPr txBox="1">
            <a:spLocks noChangeArrowheads="1"/>
          </p:cNvSpPr>
          <p:nvPr/>
        </p:nvSpPr>
        <p:spPr bwMode="auto">
          <a:xfrm>
            <a:off x="1143000" y="1752600"/>
            <a:ext cx="7315200" cy="1172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200000"/>
              </a:lnSpc>
              <a:spcBef>
                <a:spcPct val="50000"/>
              </a:spcBef>
            </a:pPr>
            <a:r>
              <a:rPr lang="en-US" altLang="en-US" sz="1900" dirty="0">
                <a:solidFill>
                  <a:schemeClr val="tx2"/>
                </a:solidFill>
                <a:latin typeface="Times New Roman" pitchFamily="18" charset="0"/>
                <a:cs typeface="Times New Roman" pitchFamily="18" charset="0"/>
              </a:rPr>
              <a:t>Alternatively, cells can be labeled with the variable letters.  This makes it simple to read, but it takes more time preparing the map.</a:t>
            </a:r>
          </a:p>
        </p:txBody>
      </p:sp>
      <p:graphicFrame>
        <p:nvGraphicFramePr>
          <p:cNvPr id="174099" name="Object 19">
            <a:extLst>
              <a:ext uri="{FF2B5EF4-FFF2-40B4-BE49-F238E27FC236}">
                <a16:creationId xmlns:a16="http://schemas.microsoft.com/office/drawing/2014/main" id="{D0C66825-9FC4-A68C-F67D-3B45BACF0C65}"/>
              </a:ext>
            </a:extLst>
          </p:cNvPr>
          <p:cNvGraphicFramePr>
            <a:graphicFrameLocks noChangeAspect="1"/>
          </p:cNvGraphicFramePr>
          <p:nvPr/>
        </p:nvGraphicFramePr>
        <p:xfrm>
          <a:off x="5562600" y="2743200"/>
          <a:ext cx="2360613" cy="3276600"/>
        </p:xfrm>
        <a:graphic>
          <a:graphicData uri="http://schemas.openxmlformats.org/presentationml/2006/ole">
            <mc:AlternateContent xmlns:mc="http://schemas.openxmlformats.org/markup-compatibility/2006">
              <mc:Choice xmlns:v="urn:schemas-microsoft-com:vml" Requires="v">
                <p:oleObj name="CorelDRAW" r:id="rId7" imgW="1163117" imgH="1614373" progId="CorelDRAW.Graphic.12">
                  <p:embed/>
                </p:oleObj>
              </mc:Choice>
              <mc:Fallback>
                <p:oleObj name="CorelDRAW" r:id="rId7" imgW="1163117" imgH="1614373" progId="CorelDRAW.Graphic.12">
                  <p:embed/>
                  <p:pic>
                    <p:nvPicPr>
                      <p:cNvPr id="174099" name="Object 19">
                        <a:extLst>
                          <a:ext uri="{FF2B5EF4-FFF2-40B4-BE49-F238E27FC236}">
                            <a16:creationId xmlns:a16="http://schemas.microsoft.com/office/drawing/2014/main" id="{D0C66825-9FC4-A68C-F67D-3B45BACF0C6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2600" y="2743200"/>
                        <a:ext cx="2360613"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00" name="Object 20">
            <a:extLst>
              <a:ext uri="{FF2B5EF4-FFF2-40B4-BE49-F238E27FC236}">
                <a16:creationId xmlns:a16="http://schemas.microsoft.com/office/drawing/2014/main" id="{B4A4A179-B945-9C76-284C-6DC0EDA8EA77}"/>
              </a:ext>
            </a:extLst>
          </p:cNvPr>
          <p:cNvGraphicFramePr>
            <a:graphicFrameLocks noChangeAspect="1"/>
          </p:cNvGraphicFramePr>
          <p:nvPr/>
        </p:nvGraphicFramePr>
        <p:xfrm>
          <a:off x="5564188" y="2743200"/>
          <a:ext cx="2360612" cy="3276600"/>
        </p:xfrm>
        <a:graphic>
          <a:graphicData uri="http://schemas.openxmlformats.org/presentationml/2006/ole">
            <mc:AlternateContent xmlns:mc="http://schemas.openxmlformats.org/markup-compatibility/2006">
              <mc:Choice xmlns:v="urn:schemas-microsoft-com:vml" Requires="v">
                <p:oleObj name="CorelDRAW" r:id="rId9" imgW="1163117" imgH="1614373" progId="CorelDRAW.Graphic.12">
                  <p:embed/>
                </p:oleObj>
              </mc:Choice>
              <mc:Fallback>
                <p:oleObj name="CorelDRAW" r:id="rId9" imgW="1163117" imgH="1614373" progId="CorelDRAW.Graphic.12">
                  <p:embed/>
                  <p:pic>
                    <p:nvPicPr>
                      <p:cNvPr id="174100" name="Object 20">
                        <a:extLst>
                          <a:ext uri="{FF2B5EF4-FFF2-40B4-BE49-F238E27FC236}">
                            <a16:creationId xmlns:a16="http://schemas.microsoft.com/office/drawing/2014/main" id="{B4A4A179-B945-9C76-284C-6DC0EDA8EA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64188" y="2743200"/>
                        <a:ext cx="2360612"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01" name="Rectangle 21">
            <a:extLst>
              <a:ext uri="{FF2B5EF4-FFF2-40B4-BE49-F238E27FC236}">
                <a16:creationId xmlns:a16="http://schemas.microsoft.com/office/drawing/2014/main" id="{BC5BF740-4A7C-6BE0-37C4-6307ADDBAF55}"/>
              </a:ext>
            </a:extLst>
          </p:cNvPr>
          <p:cNvSpPr>
            <a:spLocks noChangeArrowheads="1"/>
          </p:cNvSpPr>
          <p:nvPr/>
        </p:nvSpPr>
        <p:spPr bwMode="auto">
          <a:xfrm>
            <a:off x="2286000" y="3124200"/>
            <a:ext cx="3124200" cy="1172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200000"/>
              </a:lnSpc>
              <a:spcBef>
                <a:spcPct val="50000"/>
              </a:spcBef>
            </a:pPr>
            <a:r>
              <a:rPr lang="en-US" altLang="en-US" sz="1900" dirty="0">
                <a:solidFill>
                  <a:schemeClr val="tx2"/>
                </a:solidFill>
                <a:latin typeface="Times New Roman" pitchFamily="18" charset="0"/>
                <a:cs typeface="Times New Roman" pitchFamily="18" charset="0"/>
              </a:rPr>
              <a:t>Read the terms for the yellow cells.</a:t>
            </a:r>
          </a:p>
        </p:txBody>
      </p:sp>
      <p:sp>
        <p:nvSpPr>
          <p:cNvPr id="174102" name="WordArt 22">
            <a:extLst>
              <a:ext uri="{FF2B5EF4-FFF2-40B4-BE49-F238E27FC236}">
                <a16:creationId xmlns:a16="http://schemas.microsoft.com/office/drawing/2014/main" id="{E35D02E6-7B18-3929-900F-B9323610F394}"/>
              </a:ext>
            </a:extLst>
          </p:cNvPr>
          <p:cNvSpPr>
            <a:spLocks noChangeArrowheads="1" noChangeShapeType="1" noTextEdit="1"/>
          </p:cNvSpPr>
          <p:nvPr/>
        </p:nvSpPr>
        <p:spPr bwMode="auto">
          <a:xfrm>
            <a:off x="990600" y="3124200"/>
            <a:ext cx="1219200" cy="4492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800" kern="10">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panose="020B0806030902050204" pitchFamily="34" charset="0"/>
              </a:rPr>
              <a:t>Example</a:t>
            </a:r>
          </a:p>
        </p:txBody>
      </p:sp>
      <p:sp>
        <p:nvSpPr>
          <p:cNvPr id="174103" name="WordArt 23">
            <a:extLst>
              <a:ext uri="{FF2B5EF4-FFF2-40B4-BE49-F238E27FC236}">
                <a16:creationId xmlns:a16="http://schemas.microsoft.com/office/drawing/2014/main" id="{FEA8356C-F35C-154A-E61A-5CE347DCB606}"/>
              </a:ext>
            </a:extLst>
          </p:cNvPr>
          <p:cNvSpPr>
            <a:spLocks noChangeArrowheads="1" noChangeShapeType="1" noTextEdit="1"/>
          </p:cNvSpPr>
          <p:nvPr/>
        </p:nvSpPr>
        <p:spPr bwMode="auto">
          <a:xfrm>
            <a:off x="1066800" y="3962400"/>
            <a:ext cx="1219200" cy="4492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800" kern="10">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panose="020B0806030902050204" pitchFamily="34" charset="0"/>
              </a:rPr>
              <a:t>Solution</a:t>
            </a:r>
          </a:p>
        </p:txBody>
      </p:sp>
      <p:grpSp>
        <p:nvGrpSpPr>
          <p:cNvPr id="174104" name="Group 24">
            <a:extLst>
              <a:ext uri="{FF2B5EF4-FFF2-40B4-BE49-F238E27FC236}">
                <a16:creationId xmlns:a16="http://schemas.microsoft.com/office/drawing/2014/main" id="{E40A6609-A767-E810-96FE-7D94764419CA}"/>
              </a:ext>
            </a:extLst>
          </p:cNvPr>
          <p:cNvGrpSpPr>
            <a:grpSpLocks/>
          </p:cNvGrpSpPr>
          <p:nvPr/>
        </p:nvGrpSpPr>
        <p:grpSpPr bwMode="auto">
          <a:xfrm>
            <a:off x="1524000" y="4495800"/>
            <a:ext cx="3657600" cy="384175"/>
            <a:chOff x="2688" y="1728"/>
            <a:chExt cx="2304" cy="242"/>
          </a:xfrm>
        </p:grpSpPr>
        <p:sp>
          <p:nvSpPr>
            <p:cNvPr id="174105" name="Text Box 25">
              <a:extLst>
                <a:ext uri="{FF2B5EF4-FFF2-40B4-BE49-F238E27FC236}">
                  <a16:creationId xmlns:a16="http://schemas.microsoft.com/office/drawing/2014/main" id="{7D205097-30D4-CF35-DFF3-83FE6592DDF7}"/>
                </a:ext>
              </a:extLst>
            </p:cNvPr>
            <p:cNvSpPr txBox="1">
              <a:spLocks noChangeArrowheads="1"/>
            </p:cNvSpPr>
            <p:nvPr/>
          </p:nvSpPr>
          <p:spPr bwMode="auto">
            <a:xfrm>
              <a:off x="2688" y="1728"/>
              <a:ext cx="2304"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900" dirty="0">
                  <a:solidFill>
                    <a:schemeClr val="tx2"/>
                  </a:solidFill>
                  <a:latin typeface="Times New Roman" pitchFamily="18" charset="0"/>
                  <a:cs typeface="Times New Roman" pitchFamily="18" charset="0"/>
                </a:rPr>
                <a:t>The cells are ABC and ABC. </a:t>
              </a:r>
            </a:p>
          </p:txBody>
        </p:sp>
        <p:sp>
          <p:nvSpPr>
            <p:cNvPr id="174106" name="Line 26">
              <a:extLst>
                <a:ext uri="{FF2B5EF4-FFF2-40B4-BE49-F238E27FC236}">
                  <a16:creationId xmlns:a16="http://schemas.microsoft.com/office/drawing/2014/main" id="{94716392-535A-E741-9A3E-E292A78CBF05}"/>
                </a:ext>
              </a:extLst>
            </p:cNvPr>
            <p:cNvSpPr>
              <a:spLocks noChangeShapeType="1"/>
            </p:cNvSpPr>
            <p:nvPr/>
          </p:nvSpPr>
          <p:spPr bwMode="auto">
            <a:xfrm>
              <a:off x="3552" y="1776"/>
              <a:ext cx="96"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07" name="Line 27">
              <a:extLst>
                <a:ext uri="{FF2B5EF4-FFF2-40B4-BE49-F238E27FC236}">
                  <a16:creationId xmlns:a16="http://schemas.microsoft.com/office/drawing/2014/main" id="{5C104EBD-EC72-642B-EFB5-FABA9B37E1CC}"/>
                </a:ext>
              </a:extLst>
            </p:cNvPr>
            <p:cNvSpPr>
              <a:spLocks noChangeShapeType="1"/>
            </p:cNvSpPr>
            <p:nvPr/>
          </p:nvSpPr>
          <p:spPr bwMode="auto">
            <a:xfrm>
              <a:off x="4272" y="1776"/>
              <a:ext cx="96"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08" name="Line 28">
              <a:extLst>
                <a:ext uri="{FF2B5EF4-FFF2-40B4-BE49-F238E27FC236}">
                  <a16:creationId xmlns:a16="http://schemas.microsoft.com/office/drawing/2014/main" id="{A907B83F-48F4-6E81-8AD2-994A8CC20370}"/>
                </a:ext>
              </a:extLst>
            </p:cNvPr>
            <p:cNvSpPr>
              <a:spLocks noChangeShapeType="1"/>
            </p:cNvSpPr>
            <p:nvPr/>
          </p:nvSpPr>
          <p:spPr bwMode="auto">
            <a:xfrm>
              <a:off x="3792" y="1776"/>
              <a:ext cx="96"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Rectangle 5">
            <a:extLst>
              <a:ext uri="{FF2B5EF4-FFF2-40B4-BE49-F238E27FC236}">
                <a16:creationId xmlns:a16="http://schemas.microsoft.com/office/drawing/2014/main" id="{872EB762-7130-6D9C-39AB-3D4968AD9BBF}"/>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4" name="Rectangle 3">
            <a:extLst>
              <a:ext uri="{FF2B5EF4-FFF2-40B4-BE49-F238E27FC236}">
                <a16:creationId xmlns:a16="http://schemas.microsoft.com/office/drawing/2014/main" id="{9DB1DCFC-3F1B-113A-32C2-21D51327DC2A}"/>
              </a:ext>
            </a:extLst>
          </p:cNvPr>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33</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4102"/>
                                        </p:tgtEl>
                                        <p:attrNameLst>
                                          <p:attrName>style.visibility</p:attrName>
                                        </p:attrNameLst>
                                      </p:cBhvr>
                                      <p:to>
                                        <p:strVal val="visible"/>
                                      </p:to>
                                    </p:set>
                                    <p:anim calcmode="lin" valueType="num">
                                      <p:cBhvr additive="base">
                                        <p:cTn id="7" dur="500" fill="hold"/>
                                        <p:tgtEl>
                                          <p:spTgt spid="174102"/>
                                        </p:tgtEl>
                                        <p:attrNameLst>
                                          <p:attrName>ppt_x</p:attrName>
                                        </p:attrNameLst>
                                      </p:cBhvr>
                                      <p:tavLst>
                                        <p:tav tm="0">
                                          <p:val>
                                            <p:strVal val="0-#ppt_w/2"/>
                                          </p:val>
                                        </p:tav>
                                        <p:tav tm="100000">
                                          <p:val>
                                            <p:strVal val="#ppt_x"/>
                                          </p:val>
                                        </p:tav>
                                      </p:tavLst>
                                    </p:anim>
                                    <p:anim calcmode="lin" valueType="num">
                                      <p:cBhvr additive="base">
                                        <p:cTn id="8" dur="500" fill="hold"/>
                                        <p:tgtEl>
                                          <p:spTgt spid="174102"/>
                                        </p:tgtEl>
                                        <p:attrNameLst>
                                          <p:attrName>ppt_y</p:attrName>
                                        </p:attrNameLst>
                                      </p:cBhvr>
                                      <p:tavLst>
                                        <p:tav tm="0">
                                          <p:val>
                                            <p:strVal val="#ppt_y"/>
                                          </p:val>
                                        </p:tav>
                                        <p:tav tm="100000">
                                          <p:val>
                                            <p:strVal val="#ppt_y"/>
                                          </p:val>
                                        </p:tav>
                                      </p:tavLst>
                                    </p:anim>
                                  </p:childTnLst>
                                </p:cTn>
                              </p:par>
                              <p:par>
                                <p:cTn id="9" presetID="37" presetClass="entr" presetSubtype="0" fill="hold" nodeType="withEffect">
                                  <p:stCondLst>
                                    <p:cond delay="0"/>
                                  </p:stCondLst>
                                  <p:childTnLst>
                                    <p:set>
                                      <p:cBhvr>
                                        <p:cTn id="10" dur="1" fill="hold">
                                          <p:stCondLst>
                                            <p:cond delay="0"/>
                                          </p:stCondLst>
                                        </p:cTn>
                                        <p:tgtEl>
                                          <p:spTgt spid="174101"/>
                                        </p:tgtEl>
                                        <p:attrNameLst>
                                          <p:attrName>style.visibility</p:attrName>
                                        </p:attrNameLst>
                                      </p:cBhvr>
                                      <p:to>
                                        <p:strVal val="visible"/>
                                      </p:to>
                                    </p:set>
                                    <p:animEffect transition="in" filter="fade">
                                      <p:cBhvr>
                                        <p:cTn id="11" dur="1000"/>
                                        <p:tgtEl>
                                          <p:spTgt spid="174101"/>
                                        </p:tgtEl>
                                      </p:cBhvr>
                                    </p:animEffect>
                                    <p:anim calcmode="lin" valueType="num">
                                      <p:cBhvr>
                                        <p:cTn id="12" dur="1000" fill="hold"/>
                                        <p:tgtEl>
                                          <p:spTgt spid="174101"/>
                                        </p:tgtEl>
                                        <p:attrNameLst>
                                          <p:attrName>ppt_x</p:attrName>
                                        </p:attrNameLst>
                                      </p:cBhvr>
                                      <p:tavLst>
                                        <p:tav tm="0">
                                          <p:val>
                                            <p:strVal val="#ppt_x"/>
                                          </p:val>
                                        </p:tav>
                                        <p:tav tm="100000">
                                          <p:val>
                                            <p:strVal val="#ppt_x"/>
                                          </p:val>
                                        </p:tav>
                                      </p:tavLst>
                                    </p:anim>
                                    <p:anim calcmode="lin" valueType="num">
                                      <p:cBhvr>
                                        <p:cTn id="13" dur="900" decel="100000" fill="hold"/>
                                        <p:tgtEl>
                                          <p:spTgt spid="174101"/>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174101"/>
                                        </p:tgtEl>
                                        <p:attrNameLst>
                                          <p:attrName>ppt_y</p:attrName>
                                        </p:attrNameLst>
                                      </p:cBhvr>
                                      <p:tavLst>
                                        <p:tav tm="0">
                                          <p:val>
                                            <p:strVal val="#ppt_y-.03"/>
                                          </p:val>
                                        </p:tav>
                                        <p:tav tm="100000">
                                          <p:val>
                                            <p:strVal val="#ppt_y"/>
                                          </p:val>
                                        </p:tav>
                                      </p:tavLst>
                                    </p:anim>
                                  </p:childTnLst>
                                </p:cTn>
                              </p:par>
                              <p:par>
                                <p:cTn id="15" presetID="9" presetClass="entr" presetSubtype="0" fill="hold" nodeType="withEffect">
                                  <p:stCondLst>
                                    <p:cond delay="0"/>
                                  </p:stCondLst>
                                  <p:childTnLst>
                                    <p:set>
                                      <p:cBhvr>
                                        <p:cTn id="16" dur="1" fill="hold">
                                          <p:stCondLst>
                                            <p:cond delay="0"/>
                                          </p:stCondLst>
                                        </p:cTn>
                                        <p:tgtEl>
                                          <p:spTgt spid="174099"/>
                                        </p:tgtEl>
                                        <p:attrNameLst>
                                          <p:attrName>style.visibility</p:attrName>
                                        </p:attrNameLst>
                                      </p:cBhvr>
                                      <p:to>
                                        <p:strVal val="visible"/>
                                      </p:to>
                                    </p:set>
                                    <p:animEffect transition="in" filter="dissolve">
                                      <p:cBhvr>
                                        <p:cTn id="17" dur="500"/>
                                        <p:tgtEl>
                                          <p:spTgt spid="1740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74103"/>
                                        </p:tgtEl>
                                        <p:attrNameLst>
                                          <p:attrName>style.visibility</p:attrName>
                                        </p:attrNameLst>
                                      </p:cBhvr>
                                      <p:to>
                                        <p:strVal val="visible"/>
                                      </p:to>
                                    </p:set>
                                    <p:animEffect transition="in" filter="dissolve">
                                      <p:cBhvr>
                                        <p:cTn id="22" dur="500"/>
                                        <p:tgtEl>
                                          <p:spTgt spid="174103"/>
                                        </p:tgtEl>
                                      </p:cBhvr>
                                    </p:animEffect>
                                  </p:childTnLst>
                                </p:cTn>
                              </p:par>
                            </p:childTnLst>
                          </p:cTn>
                        </p:par>
                        <p:par>
                          <p:cTn id="23" fill="hold" nodeType="afterGroup">
                            <p:stCondLst>
                              <p:cond delay="500"/>
                            </p:stCondLst>
                            <p:childTnLst>
                              <p:par>
                                <p:cTn id="24" presetID="55" presetClass="entr" presetSubtype="0" fill="hold" nodeType="afterEffect">
                                  <p:stCondLst>
                                    <p:cond delay="0"/>
                                  </p:stCondLst>
                                  <p:childTnLst>
                                    <p:set>
                                      <p:cBhvr>
                                        <p:cTn id="25" dur="1" fill="hold">
                                          <p:stCondLst>
                                            <p:cond delay="0"/>
                                          </p:stCondLst>
                                        </p:cTn>
                                        <p:tgtEl>
                                          <p:spTgt spid="174100"/>
                                        </p:tgtEl>
                                        <p:attrNameLst>
                                          <p:attrName>style.visibility</p:attrName>
                                        </p:attrNameLst>
                                      </p:cBhvr>
                                      <p:to>
                                        <p:strVal val="visible"/>
                                      </p:to>
                                    </p:set>
                                    <p:anim calcmode="lin" valueType="num">
                                      <p:cBhvr>
                                        <p:cTn id="26" dur="1000" fill="hold"/>
                                        <p:tgtEl>
                                          <p:spTgt spid="174100"/>
                                        </p:tgtEl>
                                        <p:attrNameLst>
                                          <p:attrName>ppt_w</p:attrName>
                                        </p:attrNameLst>
                                      </p:cBhvr>
                                      <p:tavLst>
                                        <p:tav tm="0">
                                          <p:val>
                                            <p:strVal val="#ppt_w*0.70"/>
                                          </p:val>
                                        </p:tav>
                                        <p:tav tm="100000">
                                          <p:val>
                                            <p:strVal val="#ppt_w"/>
                                          </p:val>
                                        </p:tav>
                                      </p:tavLst>
                                    </p:anim>
                                    <p:anim calcmode="lin" valueType="num">
                                      <p:cBhvr>
                                        <p:cTn id="27" dur="1000" fill="hold"/>
                                        <p:tgtEl>
                                          <p:spTgt spid="174100"/>
                                        </p:tgtEl>
                                        <p:attrNameLst>
                                          <p:attrName>ppt_h</p:attrName>
                                        </p:attrNameLst>
                                      </p:cBhvr>
                                      <p:tavLst>
                                        <p:tav tm="0">
                                          <p:val>
                                            <p:strVal val="#ppt_h"/>
                                          </p:val>
                                        </p:tav>
                                        <p:tav tm="100000">
                                          <p:val>
                                            <p:strVal val="#ppt_h"/>
                                          </p:val>
                                        </p:tav>
                                      </p:tavLst>
                                    </p:anim>
                                    <p:animEffect transition="in" filter="fade">
                                      <p:cBhvr>
                                        <p:cTn id="28" dur="1000"/>
                                        <p:tgtEl>
                                          <p:spTgt spid="174100"/>
                                        </p:tgtEl>
                                      </p:cBhvr>
                                    </p:animEffect>
                                  </p:childTnLst>
                                </p:cTn>
                              </p:par>
                              <p:par>
                                <p:cTn id="29" presetID="22" presetClass="entr" presetSubtype="8" fill="hold" nodeType="withEffect">
                                  <p:stCondLst>
                                    <p:cond delay="0"/>
                                  </p:stCondLst>
                                  <p:childTnLst>
                                    <p:set>
                                      <p:cBhvr>
                                        <p:cTn id="30" dur="1" fill="hold">
                                          <p:stCondLst>
                                            <p:cond delay="0"/>
                                          </p:stCondLst>
                                        </p:cTn>
                                        <p:tgtEl>
                                          <p:spTgt spid="174104"/>
                                        </p:tgtEl>
                                        <p:attrNameLst>
                                          <p:attrName>style.visibility</p:attrName>
                                        </p:attrNameLst>
                                      </p:cBhvr>
                                      <p:to>
                                        <p:strVal val="visible"/>
                                      </p:to>
                                    </p:set>
                                    <p:animEffect transition="in" filter="wipe(left)">
                                      <p:cBhvr>
                                        <p:cTn id="31" dur="1000"/>
                                        <p:tgtEl>
                                          <p:spTgt spid="174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52515290-3943-A391-5D59-AB9F5A59AF04}"/>
              </a:ext>
            </a:extLst>
          </p:cNvPr>
          <p:cNvPicPr>
            <a:picLocks noChangeAspect="1"/>
          </p:cNvPicPr>
          <p:nvPr/>
        </p:nvPicPr>
        <p:blipFill>
          <a:blip r:embed="rId4"/>
          <a:stretch>
            <a:fillRect/>
          </a:stretch>
        </p:blipFill>
        <p:spPr>
          <a:xfrm>
            <a:off x="0" y="857"/>
            <a:ext cx="9144000" cy="6857143"/>
          </a:xfrm>
          <a:prstGeom prst="rect">
            <a:avLst/>
          </a:prstGeom>
        </p:spPr>
      </p:pic>
      <p:sp>
        <p:nvSpPr>
          <p:cNvPr id="165896" name="Text Box 8">
            <a:extLst>
              <a:ext uri="{FF2B5EF4-FFF2-40B4-BE49-F238E27FC236}">
                <a16:creationId xmlns:a16="http://schemas.microsoft.com/office/drawing/2014/main" id="{2EED1F4B-8B0F-762A-FCF6-C4C69A31B7C2}"/>
              </a:ext>
            </a:extLst>
          </p:cNvPr>
          <p:cNvSpPr txBox="1">
            <a:spLocks noChangeArrowheads="1"/>
          </p:cNvSpPr>
          <p:nvPr/>
        </p:nvSpPr>
        <p:spPr bwMode="auto">
          <a:xfrm>
            <a:off x="3886200" y="3276600"/>
            <a:ext cx="4572000" cy="133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en-US" sz="2000" dirty="0">
                <a:latin typeface="Times New Roman" panose="02020603050405020304" pitchFamily="18" charset="0"/>
              </a:rPr>
              <a:t>1.</a:t>
            </a:r>
            <a:r>
              <a:rPr lang="en-US" altLang="en-US" dirty="0">
                <a:latin typeface="Times New Roman" panose="02020603050405020304" pitchFamily="18" charset="0"/>
              </a:rPr>
              <a:t>  </a:t>
            </a:r>
            <a:r>
              <a:rPr lang="en-US" altLang="en-US" sz="1900" dirty="0">
                <a:solidFill>
                  <a:schemeClr val="tx2"/>
                </a:solidFill>
                <a:latin typeface="Times New Roman" pitchFamily="18" charset="0"/>
                <a:cs typeface="Times New Roman" pitchFamily="18" charset="0"/>
              </a:rPr>
              <a:t>Group the 1’s into two overlapping groups as indicated.</a:t>
            </a:r>
          </a:p>
          <a:p>
            <a:pPr eaLnBrk="1" hangingPunct="1">
              <a:spcBef>
                <a:spcPct val="20000"/>
              </a:spcBef>
              <a:buFontTx/>
              <a:buAutoNum type="arabicPeriod" startAt="2"/>
            </a:pPr>
            <a:r>
              <a:rPr lang="en-US" altLang="en-US" sz="1900" dirty="0">
                <a:solidFill>
                  <a:schemeClr val="tx2"/>
                </a:solidFill>
                <a:latin typeface="Times New Roman" pitchFamily="18" charset="0"/>
                <a:cs typeface="Times New Roman" pitchFamily="18" charset="0"/>
              </a:rPr>
              <a:t>Read each group by eliminating any variable that changes across a boundary. </a:t>
            </a:r>
          </a:p>
        </p:txBody>
      </p:sp>
      <p:grpSp>
        <p:nvGrpSpPr>
          <p:cNvPr id="165926" name="Group 38">
            <a:extLst>
              <a:ext uri="{FF2B5EF4-FFF2-40B4-BE49-F238E27FC236}">
                <a16:creationId xmlns:a16="http://schemas.microsoft.com/office/drawing/2014/main" id="{AC226BCD-E508-6662-CD68-FD5C069F2B50}"/>
              </a:ext>
            </a:extLst>
          </p:cNvPr>
          <p:cNvGrpSpPr>
            <a:grpSpLocks/>
          </p:cNvGrpSpPr>
          <p:nvPr/>
        </p:nvGrpSpPr>
        <p:grpSpPr bwMode="auto">
          <a:xfrm>
            <a:off x="3886200" y="4876800"/>
            <a:ext cx="4572000" cy="384175"/>
            <a:chOff x="2448" y="3216"/>
            <a:chExt cx="2880" cy="242"/>
          </a:xfrm>
        </p:grpSpPr>
        <p:sp>
          <p:nvSpPr>
            <p:cNvPr id="165904" name="Line 16">
              <a:extLst>
                <a:ext uri="{FF2B5EF4-FFF2-40B4-BE49-F238E27FC236}">
                  <a16:creationId xmlns:a16="http://schemas.microsoft.com/office/drawing/2014/main" id="{23324F4D-0B1D-B8C2-7816-482CCF50C892}"/>
                </a:ext>
              </a:extLst>
            </p:cNvPr>
            <p:cNvSpPr>
              <a:spLocks noChangeShapeType="1"/>
            </p:cNvSpPr>
            <p:nvPr/>
          </p:nvSpPr>
          <p:spPr bwMode="auto">
            <a:xfrm>
              <a:off x="4416" y="326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905" name="Line 17">
              <a:extLst>
                <a:ext uri="{FF2B5EF4-FFF2-40B4-BE49-F238E27FC236}">
                  <a16:creationId xmlns:a16="http://schemas.microsoft.com/office/drawing/2014/main" id="{A466B0CD-79B1-71DD-BB7F-CE22B574B78B}"/>
                </a:ext>
              </a:extLst>
            </p:cNvPr>
            <p:cNvSpPr>
              <a:spLocks noChangeShapeType="1"/>
            </p:cNvSpPr>
            <p:nvPr/>
          </p:nvSpPr>
          <p:spPr bwMode="auto">
            <a:xfrm>
              <a:off x="4560" y="326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906" name="Text Box 18">
              <a:extLst>
                <a:ext uri="{FF2B5EF4-FFF2-40B4-BE49-F238E27FC236}">
                  <a16:creationId xmlns:a16="http://schemas.microsoft.com/office/drawing/2014/main" id="{6FD9C219-1E77-5F5A-3C47-F8F3A14B342F}"/>
                </a:ext>
              </a:extLst>
            </p:cNvPr>
            <p:cNvSpPr txBox="1">
              <a:spLocks noChangeArrowheads="1"/>
            </p:cNvSpPr>
            <p:nvPr/>
          </p:nvSpPr>
          <p:spPr bwMode="auto">
            <a:xfrm>
              <a:off x="2448" y="3216"/>
              <a:ext cx="2880"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AutoNum type="arabicPeriod" startAt="3"/>
              </a:pPr>
              <a:r>
                <a:rPr lang="en-US" altLang="en-US" sz="1900" dirty="0">
                  <a:solidFill>
                    <a:schemeClr val="tx2"/>
                  </a:solidFill>
                  <a:latin typeface="Times New Roman" pitchFamily="18" charset="0"/>
                  <a:cs typeface="Times New Roman" pitchFamily="18" charset="0"/>
                </a:rPr>
                <a:t>The vertical group is read     AC. </a:t>
              </a:r>
            </a:p>
          </p:txBody>
        </p:sp>
      </p:grpSp>
      <p:sp>
        <p:nvSpPr>
          <p:cNvPr id="165918" name="Text Box 30">
            <a:extLst>
              <a:ext uri="{FF2B5EF4-FFF2-40B4-BE49-F238E27FC236}">
                <a16:creationId xmlns:a16="http://schemas.microsoft.com/office/drawing/2014/main" id="{60C56F12-8853-03BC-1AD9-53420343FA4C}"/>
              </a:ext>
            </a:extLst>
          </p:cNvPr>
          <p:cNvSpPr txBox="1">
            <a:spLocks noChangeArrowheads="1"/>
          </p:cNvSpPr>
          <p:nvPr/>
        </p:nvSpPr>
        <p:spPr bwMode="auto">
          <a:xfrm>
            <a:off x="1143000" y="1600200"/>
            <a:ext cx="73914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900" dirty="0">
                <a:solidFill>
                  <a:schemeClr val="tx2"/>
                </a:solidFill>
                <a:latin typeface="Times New Roman" pitchFamily="18" charset="0"/>
                <a:cs typeface="Times New Roman" pitchFamily="18" charset="0"/>
              </a:rPr>
              <a:t>K-maps can simplify combinational logic by grouping cells and eliminating variables that change. </a:t>
            </a:r>
          </a:p>
        </p:txBody>
      </p:sp>
      <p:graphicFrame>
        <p:nvGraphicFramePr>
          <p:cNvPr id="165920" name="Object 32">
            <a:extLst>
              <a:ext uri="{FF2B5EF4-FFF2-40B4-BE49-F238E27FC236}">
                <a16:creationId xmlns:a16="http://schemas.microsoft.com/office/drawing/2014/main" id="{C29C059D-087E-6DE3-4DE6-93DE1A0FEB85}"/>
              </a:ext>
            </a:extLst>
          </p:cNvPr>
          <p:cNvGraphicFramePr>
            <a:graphicFrameLocks noChangeAspect="1"/>
          </p:cNvGraphicFramePr>
          <p:nvPr/>
        </p:nvGraphicFramePr>
        <p:xfrm>
          <a:off x="1295400" y="2971800"/>
          <a:ext cx="2114550" cy="2971800"/>
        </p:xfrm>
        <a:graphic>
          <a:graphicData uri="http://schemas.openxmlformats.org/presentationml/2006/ole">
            <mc:AlternateContent xmlns:mc="http://schemas.openxmlformats.org/markup-compatibility/2006">
              <mc:Choice xmlns:v="urn:schemas-microsoft-com:vml" Requires="v">
                <p:oleObj name="CorelDRAW" r:id="rId5" imgW="1088296" imgH="1530665" progId="CorelDRAW.Graphic.13">
                  <p:embed/>
                </p:oleObj>
              </mc:Choice>
              <mc:Fallback>
                <p:oleObj name="CorelDRAW" r:id="rId5" imgW="1088296" imgH="1530665" progId="CorelDRAW.Graphic.13">
                  <p:embed/>
                  <p:pic>
                    <p:nvPicPr>
                      <p:cNvPr id="165920" name="Object 32">
                        <a:extLst>
                          <a:ext uri="{FF2B5EF4-FFF2-40B4-BE49-F238E27FC236}">
                            <a16:creationId xmlns:a16="http://schemas.microsoft.com/office/drawing/2014/main" id="{C29C059D-087E-6DE3-4DE6-93DE1A0FEB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2971800"/>
                        <a:ext cx="211455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5921" name="Object 33">
            <a:extLst>
              <a:ext uri="{FF2B5EF4-FFF2-40B4-BE49-F238E27FC236}">
                <a16:creationId xmlns:a16="http://schemas.microsoft.com/office/drawing/2014/main" id="{9D651839-87EF-ACF8-2928-3F9CF27A5D30}"/>
              </a:ext>
            </a:extLst>
          </p:cNvPr>
          <p:cNvGraphicFramePr>
            <a:graphicFrameLocks noChangeAspect="1"/>
          </p:cNvGraphicFramePr>
          <p:nvPr/>
        </p:nvGraphicFramePr>
        <p:xfrm>
          <a:off x="1282700" y="2954338"/>
          <a:ext cx="2128838" cy="2989262"/>
        </p:xfrm>
        <a:graphic>
          <a:graphicData uri="http://schemas.openxmlformats.org/presentationml/2006/ole">
            <mc:AlternateContent xmlns:mc="http://schemas.openxmlformats.org/markup-compatibility/2006">
              <mc:Choice xmlns:v="urn:schemas-microsoft-com:vml" Requires="v">
                <p:oleObj name="CorelDRAW" r:id="rId7" imgW="1221120" imgH="1694880" progId="CorelDRAW.Graphic.13">
                  <p:embed/>
                </p:oleObj>
              </mc:Choice>
              <mc:Fallback>
                <p:oleObj name="CorelDRAW" r:id="rId7" imgW="1221120" imgH="1694880" progId="CorelDRAW.Graphic.13">
                  <p:embed/>
                  <p:pic>
                    <p:nvPicPr>
                      <p:cNvPr id="165921" name="Object 33">
                        <a:extLst>
                          <a:ext uri="{FF2B5EF4-FFF2-40B4-BE49-F238E27FC236}">
                            <a16:creationId xmlns:a16="http://schemas.microsoft.com/office/drawing/2014/main" id="{9D651839-87EF-ACF8-2928-3F9CF27A5D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2700" y="2954338"/>
                        <a:ext cx="2128838" cy="298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5922" name="Rectangle 34">
            <a:extLst>
              <a:ext uri="{FF2B5EF4-FFF2-40B4-BE49-F238E27FC236}">
                <a16:creationId xmlns:a16="http://schemas.microsoft.com/office/drawing/2014/main" id="{A98AC587-7E79-1E6F-A6C9-844DFA018E7E}"/>
              </a:ext>
            </a:extLst>
          </p:cNvPr>
          <p:cNvSpPr>
            <a:spLocks noChangeArrowheads="1"/>
          </p:cNvSpPr>
          <p:nvPr/>
        </p:nvSpPr>
        <p:spPr bwMode="auto">
          <a:xfrm>
            <a:off x="2438400" y="2438400"/>
            <a:ext cx="594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900" dirty="0">
                <a:solidFill>
                  <a:schemeClr val="tx2"/>
                </a:solidFill>
                <a:latin typeface="Times New Roman" pitchFamily="18" charset="0"/>
                <a:cs typeface="Times New Roman" pitchFamily="18" charset="0"/>
              </a:rPr>
              <a:t>Group the 1’s on the map and read the minimum logic</a:t>
            </a:r>
            <a:r>
              <a:rPr lang="en-US" altLang="en-US" sz="2000" dirty="0"/>
              <a:t>.</a:t>
            </a:r>
          </a:p>
        </p:txBody>
      </p:sp>
      <p:sp>
        <p:nvSpPr>
          <p:cNvPr id="165923" name="WordArt 35">
            <a:extLst>
              <a:ext uri="{FF2B5EF4-FFF2-40B4-BE49-F238E27FC236}">
                <a16:creationId xmlns:a16="http://schemas.microsoft.com/office/drawing/2014/main" id="{B85F881F-E05B-8AA8-B220-DD23C487A095}"/>
              </a:ext>
            </a:extLst>
          </p:cNvPr>
          <p:cNvSpPr>
            <a:spLocks noChangeArrowheads="1" noChangeShapeType="1" noTextEdit="1"/>
          </p:cNvSpPr>
          <p:nvPr/>
        </p:nvSpPr>
        <p:spPr bwMode="auto">
          <a:xfrm>
            <a:off x="1143000" y="2438400"/>
            <a:ext cx="1219200" cy="4492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800" kern="10">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panose="020B0806030902050204" pitchFamily="34" charset="0"/>
              </a:rPr>
              <a:t>Example</a:t>
            </a:r>
          </a:p>
        </p:txBody>
      </p:sp>
      <p:grpSp>
        <p:nvGrpSpPr>
          <p:cNvPr id="165899" name="Group 11">
            <a:extLst>
              <a:ext uri="{FF2B5EF4-FFF2-40B4-BE49-F238E27FC236}">
                <a16:creationId xmlns:a16="http://schemas.microsoft.com/office/drawing/2014/main" id="{AFB93AC9-344A-20F9-41AA-DEACBC6813A3}"/>
              </a:ext>
            </a:extLst>
          </p:cNvPr>
          <p:cNvGrpSpPr>
            <a:grpSpLocks/>
          </p:cNvGrpSpPr>
          <p:nvPr/>
        </p:nvGrpSpPr>
        <p:grpSpPr bwMode="auto">
          <a:xfrm>
            <a:off x="142875" y="3460750"/>
            <a:ext cx="1990725" cy="1441450"/>
            <a:chOff x="144" y="2056"/>
            <a:chExt cx="1254" cy="908"/>
          </a:xfrm>
        </p:grpSpPr>
        <p:sp>
          <p:nvSpPr>
            <p:cNvPr id="165900" name="Line 12">
              <a:extLst>
                <a:ext uri="{FF2B5EF4-FFF2-40B4-BE49-F238E27FC236}">
                  <a16:creationId xmlns:a16="http://schemas.microsoft.com/office/drawing/2014/main" id="{EBE24A88-47B8-C70A-E24A-975630073F10}"/>
                </a:ext>
              </a:extLst>
            </p:cNvPr>
            <p:cNvSpPr>
              <a:spLocks noChangeShapeType="1"/>
            </p:cNvSpPr>
            <p:nvPr/>
          </p:nvSpPr>
          <p:spPr bwMode="auto">
            <a:xfrm>
              <a:off x="816" y="2352"/>
              <a:ext cx="582" cy="9"/>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901" name="Text Box 13">
              <a:extLst>
                <a:ext uri="{FF2B5EF4-FFF2-40B4-BE49-F238E27FC236}">
                  <a16:creationId xmlns:a16="http://schemas.microsoft.com/office/drawing/2014/main" id="{29E787C0-61D6-0339-B1D5-C8BE3889AD15}"/>
                </a:ext>
              </a:extLst>
            </p:cNvPr>
            <p:cNvSpPr txBox="1">
              <a:spLocks noChangeArrowheads="1"/>
            </p:cNvSpPr>
            <p:nvPr/>
          </p:nvSpPr>
          <p:spPr bwMode="auto">
            <a:xfrm>
              <a:off x="144" y="2208"/>
              <a:ext cx="720" cy="75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800" i="1"/>
                <a:t>B</a:t>
              </a:r>
              <a:r>
                <a:rPr lang="en-US" altLang="en-US" sz="1800"/>
                <a:t> changes across this boundary</a:t>
              </a:r>
            </a:p>
          </p:txBody>
        </p:sp>
        <p:sp>
          <p:nvSpPr>
            <p:cNvPr id="165902" name="Oval 14">
              <a:extLst>
                <a:ext uri="{FF2B5EF4-FFF2-40B4-BE49-F238E27FC236}">
                  <a16:creationId xmlns:a16="http://schemas.microsoft.com/office/drawing/2014/main" id="{2E823924-B08F-CCA9-08E2-A60A5BC2CB55}"/>
                </a:ext>
              </a:extLst>
            </p:cNvPr>
            <p:cNvSpPr>
              <a:spLocks noChangeArrowheads="1"/>
            </p:cNvSpPr>
            <p:nvPr/>
          </p:nvSpPr>
          <p:spPr bwMode="auto">
            <a:xfrm>
              <a:off x="1016" y="2056"/>
              <a:ext cx="144" cy="624"/>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65910" name="Group 22">
            <a:extLst>
              <a:ext uri="{FF2B5EF4-FFF2-40B4-BE49-F238E27FC236}">
                <a16:creationId xmlns:a16="http://schemas.microsoft.com/office/drawing/2014/main" id="{B3818B12-20DE-77E2-80EC-3210E21A146E}"/>
              </a:ext>
            </a:extLst>
          </p:cNvPr>
          <p:cNvGrpSpPr>
            <a:grpSpLocks/>
          </p:cNvGrpSpPr>
          <p:nvPr/>
        </p:nvGrpSpPr>
        <p:grpSpPr bwMode="auto">
          <a:xfrm>
            <a:off x="1765300" y="3048000"/>
            <a:ext cx="1295400" cy="3219450"/>
            <a:chOff x="1200" y="1760"/>
            <a:chExt cx="816" cy="2028"/>
          </a:xfrm>
        </p:grpSpPr>
        <p:sp>
          <p:nvSpPr>
            <p:cNvPr id="165911" name="Line 23">
              <a:extLst>
                <a:ext uri="{FF2B5EF4-FFF2-40B4-BE49-F238E27FC236}">
                  <a16:creationId xmlns:a16="http://schemas.microsoft.com/office/drawing/2014/main" id="{647D7B3C-17D9-A19B-774E-A12C8AA98B09}"/>
                </a:ext>
              </a:extLst>
            </p:cNvPr>
            <p:cNvSpPr>
              <a:spLocks noChangeShapeType="1"/>
            </p:cNvSpPr>
            <p:nvPr/>
          </p:nvSpPr>
          <p:spPr bwMode="auto">
            <a:xfrm flipV="1">
              <a:off x="1616" y="2592"/>
              <a:ext cx="0" cy="48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912" name="Text Box 24">
              <a:extLst>
                <a:ext uri="{FF2B5EF4-FFF2-40B4-BE49-F238E27FC236}">
                  <a16:creationId xmlns:a16="http://schemas.microsoft.com/office/drawing/2014/main" id="{0ED2FE0E-6B0D-B0C5-A9B3-7A6534F84338}"/>
                </a:ext>
              </a:extLst>
            </p:cNvPr>
            <p:cNvSpPr txBox="1">
              <a:spLocks noChangeArrowheads="1"/>
            </p:cNvSpPr>
            <p:nvPr/>
          </p:nvSpPr>
          <p:spPr bwMode="auto">
            <a:xfrm>
              <a:off x="1248" y="3032"/>
              <a:ext cx="720" cy="75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800" i="1"/>
                <a:t>C</a:t>
              </a:r>
              <a:r>
                <a:rPr lang="en-US" altLang="en-US" sz="1800"/>
                <a:t> changes across this boundary</a:t>
              </a:r>
            </a:p>
          </p:txBody>
        </p:sp>
        <p:sp>
          <p:nvSpPr>
            <p:cNvPr id="165913" name="Oval 25">
              <a:extLst>
                <a:ext uri="{FF2B5EF4-FFF2-40B4-BE49-F238E27FC236}">
                  <a16:creationId xmlns:a16="http://schemas.microsoft.com/office/drawing/2014/main" id="{03564603-980D-0567-61FA-29A7F16446A3}"/>
                </a:ext>
              </a:extLst>
            </p:cNvPr>
            <p:cNvSpPr>
              <a:spLocks noChangeArrowheads="1"/>
            </p:cNvSpPr>
            <p:nvPr/>
          </p:nvSpPr>
          <p:spPr bwMode="auto">
            <a:xfrm rot="-5400000">
              <a:off x="1512" y="1448"/>
              <a:ext cx="192" cy="816"/>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5924" name="WordArt 36">
            <a:extLst>
              <a:ext uri="{FF2B5EF4-FFF2-40B4-BE49-F238E27FC236}">
                <a16:creationId xmlns:a16="http://schemas.microsoft.com/office/drawing/2014/main" id="{78D85AC8-73ED-75FE-8A1D-95AE7B21EEFE}"/>
              </a:ext>
            </a:extLst>
          </p:cNvPr>
          <p:cNvSpPr>
            <a:spLocks noChangeArrowheads="1" noChangeShapeType="1" noTextEdit="1"/>
          </p:cNvSpPr>
          <p:nvPr/>
        </p:nvSpPr>
        <p:spPr bwMode="auto">
          <a:xfrm>
            <a:off x="3733800" y="2819400"/>
            <a:ext cx="1219200" cy="4492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800" kern="10">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panose="020B0806030902050204" pitchFamily="34" charset="0"/>
              </a:rPr>
              <a:t>Solution</a:t>
            </a:r>
          </a:p>
        </p:txBody>
      </p:sp>
      <p:grpSp>
        <p:nvGrpSpPr>
          <p:cNvPr id="165925" name="Group 37">
            <a:extLst>
              <a:ext uri="{FF2B5EF4-FFF2-40B4-BE49-F238E27FC236}">
                <a16:creationId xmlns:a16="http://schemas.microsoft.com/office/drawing/2014/main" id="{57BC0221-7F40-FC95-A4FE-44EE3256D12D}"/>
              </a:ext>
            </a:extLst>
          </p:cNvPr>
          <p:cNvGrpSpPr>
            <a:grpSpLocks/>
          </p:cNvGrpSpPr>
          <p:nvPr/>
        </p:nvGrpSpPr>
        <p:grpSpPr bwMode="auto">
          <a:xfrm>
            <a:off x="3886200" y="5257800"/>
            <a:ext cx="4572000" cy="384175"/>
            <a:chOff x="2448" y="3504"/>
            <a:chExt cx="2880" cy="242"/>
          </a:xfrm>
        </p:grpSpPr>
        <p:sp>
          <p:nvSpPr>
            <p:cNvPr id="165909" name="Text Box 21">
              <a:extLst>
                <a:ext uri="{FF2B5EF4-FFF2-40B4-BE49-F238E27FC236}">
                  <a16:creationId xmlns:a16="http://schemas.microsoft.com/office/drawing/2014/main" id="{CA13FDEE-6F1F-D04F-521B-F447F5A4F4E3}"/>
                </a:ext>
              </a:extLst>
            </p:cNvPr>
            <p:cNvSpPr txBox="1">
              <a:spLocks noChangeArrowheads="1"/>
            </p:cNvSpPr>
            <p:nvPr/>
          </p:nvSpPr>
          <p:spPr bwMode="auto">
            <a:xfrm>
              <a:off x="2448" y="3504"/>
              <a:ext cx="2880"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AutoNum type="arabicPeriod" startAt="4"/>
              </a:pPr>
              <a:r>
                <a:rPr lang="en-US" altLang="en-US" sz="1900" dirty="0">
                  <a:solidFill>
                    <a:schemeClr val="tx2"/>
                  </a:solidFill>
                  <a:latin typeface="Times New Roman" pitchFamily="18" charset="0"/>
                  <a:cs typeface="Times New Roman" pitchFamily="18" charset="0"/>
                </a:rPr>
                <a:t>The horizontal group is read    AB. </a:t>
              </a:r>
            </a:p>
          </p:txBody>
        </p:sp>
        <p:sp>
          <p:nvSpPr>
            <p:cNvPr id="165908" name="Line 20">
              <a:extLst>
                <a:ext uri="{FF2B5EF4-FFF2-40B4-BE49-F238E27FC236}">
                  <a16:creationId xmlns:a16="http://schemas.microsoft.com/office/drawing/2014/main" id="{7D8D3A34-15F5-2854-51E5-A75B71AE7F5A}"/>
                </a:ext>
              </a:extLst>
            </p:cNvPr>
            <p:cNvSpPr>
              <a:spLocks noChangeShapeType="1"/>
            </p:cNvSpPr>
            <p:nvPr/>
          </p:nvSpPr>
          <p:spPr bwMode="auto">
            <a:xfrm>
              <a:off x="4576" y="3560"/>
              <a:ext cx="105"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65932" name="Group 44">
            <a:extLst>
              <a:ext uri="{FF2B5EF4-FFF2-40B4-BE49-F238E27FC236}">
                <a16:creationId xmlns:a16="http://schemas.microsoft.com/office/drawing/2014/main" id="{FFEAB275-7A80-220E-B540-258A3788B740}"/>
              </a:ext>
            </a:extLst>
          </p:cNvPr>
          <p:cNvGrpSpPr>
            <a:grpSpLocks/>
          </p:cNvGrpSpPr>
          <p:nvPr/>
        </p:nvGrpSpPr>
        <p:grpSpPr bwMode="auto">
          <a:xfrm>
            <a:off x="4724400" y="5715008"/>
            <a:ext cx="1981200" cy="369888"/>
            <a:chOff x="2688" y="3600"/>
            <a:chExt cx="1248" cy="233"/>
          </a:xfrm>
        </p:grpSpPr>
        <p:sp>
          <p:nvSpPr>
            <p:cNvPr id="165927" name="Text Box 39">
              <a:extLst>
                <a:ext uri="{FF2B5EF4-FFF2-40B4-BE49-F238E27FC236}">
                  <a16:creationId xmlns:a16="http://schemas.microsoft.com/office/drawing/2014/main" id="{96004493-FF30-56E4-3CC7-017563298D79}"/>
                </a:ext>
              </a:extLst>
            </p:cNvPr>
            <p:cNvSpPr txBox="1">
              <a:spLocks noChangeArrowheads="1"/>
            </p:cNvSpPr>
            <p:nvPr/>
          </p:nvSpPr>
          <p:spPr bwMode="auto">
            <a:xfrm>
              <a:off x="2688" y="3600"/>
              <a:ext cx="124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i="1" dirty="0">
                  <a:solidFill>
                    <a:srgbClr val="FF0000"/>
                  </a:solidFill>
                </a:rPr>
                <a:t>     X = A  C +   AB</a:t>
              </a:r>
            </a:p>
          </p:txBody>
        </p:sp>
        <p:sp>
          <p:nvSpPr>
            <p:cNvPr id="165929" name="Line 41">
              <a:extLst>
                <a:ext uri="{FF2B5EF4-FFF2-40B4-BE49-F238E27FC236}">
                  <a16:creationId xmlns:a16="http://schemas.microsoft.com/office/drawing/2014/main" id="{36F7D504-D44D-D1FC-7B21-FB10EC80BFC4}"/>
                </a:ext>
              </a:extLst>
            </p:cNvPr>
            <p:cNvSpPr>
              <a:spLocks noChangeShapeType="1"/>
            </p:cNvSpPr>
            <p:nvPr/>
          </p:nvSpPr>
          <p:spPr bwMode="auto">
            <a:xfrm>
              <a:off x="3120" y="3648"/>
              <a:ext cx="96" cy="1"/>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930" name="Line 42">
              <a:extLst>
                <a:ext uri="{FF2B5EF4-FFF2-40B4-BE49-F238E27FC236}">
                  <a16:creationId xmlns:a16="http://schemas.microsoft.com/office/drawing/2014/main" id="{72D4C814-8878-7C00-E56D-85C40FF62EB7}"/>
                </a:ext>
              </a:extLst>
            </p:cNvPr>
            <p:cNvSpPr>
              <a:spLocks noChangeShapeType="1"/>
            </p:cNvSpPr>
            <p:nvPr/>
          </p:nvSpPr>
          <p:spPr bwMode="auto">
            <a:xfrm>
              <a:off x="3264" y="3648"/>
              <a:ext cx="96" cy="1"/>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931" name="Line 43">
              <a:extLst>
                <a:ext uri="{FF2B5EF4-FFF2-40B4-BE49-F238E27FC236}">
                  <a16:creationId xmlns:a16="http://schemas.microsoft.com/office/drawing/2014/main" id="{8BBB093E-2ECC-E5F6-A453-0B28F6A46244}"/>
                </a:ext>
              </a:extLst>
            </p:cNvPr>
            <p:cNvSpPr>
              <a:spLocks noChangeShapeType="1"/>
            </p:cNvSpPr>
            <p:nvPr/>
          </p:nvSpPr>
          <p:spPr bwMode="auto">
            <a:xfrm>
              <a:off x="3552" y="3648"/>
              <a:ext cx="96" cy="1"/>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Rectangle 5">
            <a:extLst>
              <a:ext uri="{FF2B5EF4-FFF2-40B4-BE49-F238E27FC236}">
                <a16:creationId xmlns:a16="http://schemas.microsoft.com/office/drawing/2014/main" id="{B5A17B37-7170-7434-9657-D304F13DEBDE}"/>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4" name="Rectangle 3">
            <a:extLst>
              <a:ext uri="{FF2B5EF4-FFF2-40B4-BE49-F238E27FC236}">
                <a16:creationId xmlns:a16="http://schemas.microsoft.com/office/drawing/2014/main" id="{7555929A-220E-775D-EEE1-78CF14859780}"/>
              </a:ext>
            </a:extLst>
          </p:cNvPr>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34</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5923"/>
                                        </p:tgtEl>
                                        <p:attrNameLst>
                                          <p:attrName>style.visibility</p:attrName>
                                        </p:attrNameLst>
                                      </p:cBhvr>
                                      <p:to>
                                        <p:strVal val="visible"/>
                                      </p:to>
                                    </p:set>
                                    <p:anim calcmode="lin" valueType="num">
                                      <p:cBhvr additive="base">
                                        <p:cTn id="7" dur="500" fill="hold"/>
                                        <p:tgtEl>
                                          <p:spTgt spid="165923"/>
                                        </p:tgtEl>
                                        <p:attrNameLst>
                                          <p:attrName>ppt_x</p:attrName>
                                        </p:attrNameLst>
                                      </p:cBhvr>
                                      <p:tavLst>
                                        <p:tav tm="0">
                                          <p:val>
                                            <p:strVal val="0-#ppt_w/2"/>
                                          </p:val>
                                        </p:tav>
                                        <p:tav tm="100000">
                                          <p:val>
                                            <p:strVal val="#ppt_x"/>
                                          </p:val>
                                        </p:tav>
                                      </p:tavLst>
                                    </p:anim>
                                    <p:anim calcmode="lin" valueType="num">
                                      <p:cBhvr additive="base">
                                        <p:cTn id="8" dur="500" fill="hold"/>
                                        <p:tgtEl>
                                          <p:spTgt spid="165923"/>
                                        </p:tgtEl>
                                        <p:attrNameLst>
                                          <p:attrName>ppt_y</p:attrName>
                                        </p:attrNameLst>
                                      </p:cBhvr>
                                      <p:tavLst>
                                        <p:tav tm="0">
                                          <p:val>
                                            <p:strVal val="#ppt_y"/>
                                          </p:val>
                                        </p:tav>
                                        <p:tav tm="100000">
                                          <p:val>
                                            <p:strVal val="#ppt_y"/>
                                          </p:val>
                                        </p:tav>
                                      </p:tavLst>
                                    </p:anim>
                                  </p:childTnLst>
                                </p:cTn>
                              </p:par>
                              <p:par>
                                <p:cTn id="9" presetID="37" presetClass="entr" presetSubtype="0" fill="hold" nodeType="withEffect">
                                  <p:stCondLst>
                                    <p:cond delay="0"/>
                                  </p:stCondLst>
                                  <p:childTnLst>
                                    <p:set>
                                      <p:cBhvr>
                                        <p:cTn id="10" dur="1" fill="hold">
                                          <p:stCondLst>
                                            <p:cond delay="0"/>
                                          </p:stCondLst>
                                        </p:cTn>
                                        <p:tgtEl>
                                          <p:spTgt spid="165922"/>
                                        </p:tgtEl>
                                        <p:attrNameLst>
                                          <p:attrName>style.visibility</p:attrName>
                                        </p:attrNameLst>
                                      </p:cBhvr>
                                      <p:to>
                                        <p:strVal val="visible"/>
                                      </p:to>
                                    </p:set>
                                    <p:animEffect transition="in" filter="fade">
                                      <p:cBhvr>
                                        <p:cTn id="11" dur="1000"/>
                                        <p:tgtEl>
                                          <p:spTgt spid="165922"/>
                                        </p:tgtEl>
                                      </p:cBhvr>
                                    </p:animEffect>
                                    <p:anim calcmode="lin" valueType="num">
                                      <p:cBhvr>
                                        <p:cTn id="12" dur="1000" fill="hold"/>
                                        <p:tgtEl>
                                          <p:spTgt spid="165922"/>
                                        </p:tgtEl>
                                        <p:attrNameLst>
                                          <p:attrName>ppt_x</p:attrName>
                                        </p:attrNameLst>
                                      </p:cBhvr>
                                      <p:tavLst>
                                        <p:tav tm="0">
                                          <p:val>
                                            <p:strVal val="#ppt_x"/>
                                          </p:val>
                                        </p:tav>
                                        <p:tav tm="100000">
                                          <p:val>
                                            <p:strVal val="#ppt_x"/>
                                          </p:val>
                                        </p:tav>
                                      </p:tavLst>
                                    </p:anim>
                                    <p:anim calcmode="lin" valueType="num">
                                      <p:cBhvr>
                                        <p:cTn id="13" dur="900" decel="100000" fill="hold"/>
                                        <p:tgtEl>
                                          <p:spTgt spid="165922"/>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165922"/>
                                        </p:tgtEl>
                                        <p:attrNameLst>
                                          <p:attrName>ppt_y</p:attrName>
                                        </p:attrNameLst>
                                      </p:cBhvr>
                                      <p:tavLst>
                                        <p:tav tm="0">
                                          <p:val>
                                            <p:strVal val="#ppt_y-.03"/>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165924"/>
                                        </p:tgtEl>
                                        <p:attrNameLst>
                                          <p:attrName>style.visibility</p:attrName>
                                        </p:attrNameLst>
                                      </p:cBhvr>
                                      <p:to>
                                        <p:strVal val="visible"/>
                                      </p:to>
                                    </p:set>
                                    <p:animEffect transition="in" filter="dissolve">
                                      <p:cBhvr>
                                        <p:cTn id="19" dur="500"/>
                                        <p:tgtEl>
                                          <p:spTgt spid="165924"/>
                                        </p:tgtEl>
                                      </p:cBhvr>
                                    </p:animEffect>
                                  </p:childTnLst>
                                </p:cTn>
                              </p:par>
                              <p:par>
                                <p:cTn id="20" presetID="9" presetClass="entr" presetSubtype="0" fill="hold" nodeType="withEffect">
                                  <p:stCondLst>
                                    <p:cond delay="0"/>
                                  </p:stCondLst>
                                  <p:childTnLst>
                                    <p:set>
                                      <p:cBhvr>
                                        <p:cTn id="21" dur="1" fill="hold">
                                          <p:stCondLst>
                                            <p:cond delay="0"/>
                                          </p:stCondLst>
                                        </p:cTn>
                                        <p:tgtEl>
                                          <p:spTgt spid="165921"/>
                                        </p:tgtEl>
                                        <p:attrNameLst>
                                          <p:attrName>style.visibility</p:attrName>
                                        </p:attrNameLst>
                                      </p:cBhvr>
                                      <p:to>
                                        <p:strVal val="visible"/>
                                      </p:to>
                                    </p:set>
                                    <p:animEffect transition="in" filter="dissolve">
                                      <p:cBhvr>
                                        <p:cTn id="22" dur="500"/>
                                        <p:tgtEl>
                                          <p:spTgt spid="165921"/>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165896">
                                            <p:txEl>
                                              <p:pRg st="0" end="0"/>
                                            </p:txEl>
                                          </p:spTgt>
                                        </p:tgtEl>
                                        <p:attrNameLst>
                                          <p:attrName>style.visibility</p:attrName>
                                        </p:attrNameLst>
                                      </p:cBhvr>
                                      <p:to>
                                        <p:strVal val="visible"/>
                                      </p:to>
                                    </p:set>
                                    <p:animEffect transition="in" filter="wipe(left)">
                                      <p:cBhvr>
                                        <p:cTn id="26" dur="1000"/>
                                        <p:tgtEl>
                                          <p:spTgt spid="165896">
                                            <p:txEl>
                                              <p:pRg st="0" end="0"/>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165896">
                                            <p:txEl>
                                              <p:pRg st="1" end="1"/>
                                            </p:txEl>
                                          </p:spTgt>
                                        </p:tgtEl>
                                        <p:attrNameLst>
                                          <p:attrName>style.visibility</p:attrName>
                                        </p:attrNameLst>
                                      </p:cBhvr>
                                      <p:to>
                                        <p:strVal val="visible"/>
                                      </p:to>
                                    </p:set>
                                    <p:animEffect transition="in" filter="wipe(left)">
                                      <p:cBhvr>
                                        <p:cTn id="31" dur="1000"/>
                                        <p:tgtEl>
                                          <p:spTgt spid="165896">
                                            <p:txEl>
                                              <p:pRg st="1" end="1"/>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7" presetClass="entr" presetSubtype="0" fill="hold" nodeType="clickEffect">
                                  <p:stCondLst>
                                    <p:cond delay="0"/>
                                  </p:stCondLst>
                                  <p:childTnLst>
                                    <p:set>
                                      <p:cBhvr>
                                        <p:cTn id="35" dur="1" fill="hold">
                                          <p:stCondLst>
                                            <p:cond delay="0"/>
                                          </p:stCondLst>
                                        </p:cTn>
                                        <p:tgtEl>
                                          <p:spTgt spid="165926"/>
                                        </p:tgtEl>
                                        <p:attrNameLst>
                                          <p:attrName>style.visibility</p:attrName>
                                        </p:attrNameLst>
                                      </p:cBhvr>
                                      <p:to>
                                        <p:strVal val="visible"/>
                                      </p:to>
                                    </p:set>
                                    <p:animEffect transition="in" filter="fade">
                                      <p:cBhvr>
                                        <p:cTn id="36" dur="1000"/>
                                        <p:tgtEl>
                                          <p:spTgt spid="165926"/>
                                        </p:tgtEl>
                                      </p:cBhvr>
                                    </p:animEffect>
                                    <p:anim calcmode="lin" valueType="num">
                                      <p:cBhvr>
                                        <p:cTn id="37" dur="1000" fill="hold"/>
                                        <p:tgtEl>
                                          <p:spTgt spid="165926"/>
                                        </p:tgtEl>
                                        <p:attrNameLst>
                                          <p:attrName>ppt_x</p:attrName>
                                        </p:attrNameLst>
                                      </p:cBhvr>
                                      <p:tavLst>
                                        <p:tav tm="0">
                                          <p:val>
                                            <p:strVal val="#ppt_x"/>
                                          </p:val>
                                        </p:tav>
                                        <p:tav tm="100000">
                                          <p:val>
                                            <p:strVal val="#ppt_x"/>
                                          </p:val>
                                        </p:tav>
                                      </p:tavLst>
                                    </p:anim>
                                    <p:anim calcmode="lin" valueType="num">
                                      <p:cBhvr>
                                        <p:cTn id="38" dur="900" decel="100000" fill="hold"/>
                                        <p:tgtEl>
                                          <p:spTgt spid="165926"/>
                                        </p:tgtEl>
                                        <p:attrNameLst>
                                          <p:attrName>ppt_y</p:attrName>
                                        </p:attrNameLst>
                                      </p:cBhvr>
                                      <p:tavLst>
                                        <p:tav tm="0">
                                          <p:val>
                                            <p:strVal val="#ppt_y+1"/>
                                          </p:val>
                                        </p:tav>
                                        <p:tav tm="100000">
                                          <p:val>
                                            <p:strVal val="#ppt_y-.03"/>
                                          </p:val>
                                        </p:tav>
                                      </p:tavLst>
                                    </p:anim>
                                    <p:anim calcmode="lin" valueType="num">
                                      <p:cBhvr>
                                        <p:cTn id="39" dur="100" accel="100000" fill="hold">
                                          <p:stCondLst>
                                            <p:cond delay="900"/>
                                          </p:stCondLst>
                                        </p:cTn>
                                        <p:tgtEl>
                                          <p:spTgt spid="165926"/>
                                        </p:tgtEl>
                                        <p:attrNameLst>
                                          <p:attrName>ppt_y</p:attrName>
                                        </p:attrNameLst>
                                      </p:cBhvr>
                                      <p:tavLst>
                                        <p:tav tm="0">
                                          <p:val>
                                            <p:strVal val="#ppt_y-.03"/>
                                          </p:val>
                                        </p:tav>
                                        <p:tav tm="100000">
                                          <p:val>
                                            <p:strVal val="#ppt_y"/>
                                          </p:val>
                                        </p:tav>
                                      </p:tavLst>
                                    </p:anim>
                                  </p:childTnLst>
                                </p:cTn>
                              </p:par>
                            </p:childTnLst>
                          </p:cTn>
                        </p:par>
                        <p:par>
                          <p:cTn id="40" fill="hold" nodeType="afterGroup">
                            <p:stCondLst>
                              <p:cond delay="1000"/>
                            </p:stCondLst>
                            <p:childTnLst>
                              <p:par>
                                <p:cTn id="41" presetID="22" presetClass="entr" presetSubtype="8" fill="hold" nodeType="afterEffect">
                                  <p:stCondLst>
                                    <p:cond delay="0"/>
                                  </p:stCondLst>
                                  <p:childTnLst>
                                    <p:set>
                                      <p:cBhvr>
                                        <p:cTn id="42" dur="1" fill="hold">
                                          <p:stCondLst>
                                            <p:cond delay="0"/>
                                          </p:stCondLst>
                                        </p:cTn>
                                        <p:tgtEl>
                                          <p:spTgt spid="165899"/>
                                        </p:tgtEl>
                                        <p:attrNameLst>
                                          <p:attrName>style.visibility</p:attrName>
                                        </p:attrNameLst>
                                      </p:cBhvr>
                                      <p:to>
                                        <p:strVal val="visible"/>
                                      </p:to>
                                    </p:set>
                                    <p:animEffect transition="in" filter="wipe(left)">
                                      <p:cBhvr>
                                        <p:cTn id="43" dur="1000"/>
                                        <p:tgtEl>
                                          <p:spTgt spid="165899"/>
                                        </p:tgtEl>
                                      </p:cBhvr>
                                    </p:animEffect>
                                  </p:childTnLst>
                                  <p:subTnLst>
                                    <p:set>
                                      <p:cBhvr override="childStyle">
                                        <p:cTn dur="1" fill="hold" display="0" masterRel="nextClick" afterEffect="1"/>
                                        <p:tgtEl>
                                          <p:spTgt spid="165899"/>
                                        </p:tgtEl>
                                        <p:attrNameLst>
                                          <p:attrName>style.visibility</p:attrName>
                                        </p:attrNameLst>
                                      </p:cBhvr>
                                      <p:to>
                                        <p:strVal val="hidden"/>
                                      </p:to>
                                    </p:set>
                                  </p:sub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65925"/>
                                        </p:tgtEl>
                                        <p:attrNameLst>
                                          <p:attrName>style.visibility</p:attrName>
                                        </p:attrNameLst>
                                      </p:cBhvr>
                                      <p:to>
                                        <p:strVal val="visible"/>
                                      </p:to>
                                    </p:set>
                                    <p:animEffect transition="in" filter="wipe(left)">
                                      <p:cBhvr>
                                        <p:cTn id="48" dur="500"/>
                                        <p:tgtEl>
                                          <p:spTgt spid="165925"/>
                                        </p:tgtEl>
                                      </p:cBhvr>
                                    </p:animEffect>
                                  </p:childTnLst>
                                </p:cTn>
                              </p:par>
                            </p:childTnLst>
                          </p:cTn>
                        </p:par>
                        <p:par>
                          <p:cTn id="49" fill="hold" nodeType="afterGroup">
                            <p:stCondLst>
                              <p:cond delay="500"/>
                            </p:stCondLst>
                            <p:childTnLst>
                              <p:par>
                                <p:cTn id="50" presetID="22" presetClass="entr" presetSubtype="4" fill="hold" nodeType="afterEffect">
                                  <p:stCondLst>
                                    <p:cond delay="0"/>
                                  </p:stCondLst>
                                  <p:childTnLst>
                                    <p:set>
                                      <p:cBhvr>
                                        <p:cTn id="51" dur="1" fill="hold">
                                          <p:stCondLst>
                                            <p:cond delay="0"/>
                                          </p:stCondLst>
                                        </p:cTn>
                                        <p:tgtEl>
                                          <p:spTgt spid="165910"/>
                                        </p:tgtEl>
                                        <p:attrNameLst>
                                          <p:attrName>style.visibility</p:attrName>
                                        </p:attrNameLst>
                                      </p:cBhvr>
                                      <p:to>
                                        <p:strVal val="visible"/>
                                      </p:to>
                                    </p:set>
                                    <p:animEffect transition="in" filter="wipe(down)">
                                      <p:cBhvr>
                                        <p:cTn id="52" dur="1000"/>
                                        <p:tgtEl>
                                          <p:spTgt spid="165910"/>
                                        </p:tgtEl>
                                      </p:cBhvr>
                                    </p:animEffect>
                                  </p:childTnLst>
                                  <p:subTnLst>
                                    <p:set>
                                      <p:cBhvr override="childStyle">
                                        <p:cTn dur="1" fill="hold" display="0" masterRel="nextClick" afterEffect="1"/>
                                        <p:tgtEl>
                                          <p:spTgt spid="165910"/>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37" presetClass="entr" presetSubtype="0" fill="hold" nodeType="clickEffect">
                                  <p:stCondLst>
                                    <p:cond delay="0"/>
                                  </p:stCondLst>
                                  <p:childTnLst>
                                    <p:set>
                                      <p:cBhvr>
                                        <p:cTn id="56" dur="1" fill="hold">
                                          <p:stCondLst>
                                            <p:cond delay="0"/>
                                          </p:stCondLst>
                                        </p:cTn>
                                        <p:tgtEl>
                                          <p:spTgt spid="165932"/>
                                        </p:tgtEl>
                                        <p:attrNameLst>
                                          <p:attrName>style.visibility</p:attrName>
                                        </p:attrNameLst>
                                      </p:cBhvr>
                                      <p:to>
                                        <p:strVal val="visible"/>
                                      </p:to>
                                    </p:set>
                                    <p:animEffect transition="in" filter="fade">
                                      <p:cBhvr>
                                        <p:cTn id="57" dur="1000"/>
                                        <p:tgtEl>
                                          <p:spTgt spid="165932"/>
                                        </p:tgtEl>
                                      </p:cBhvr>
                                    </p:animEffect>
                                    <p:anim calcmode="lin" valueType="num">
                                      <p:cBhvr>
                                        <p:cTn id="58" dur="1000" fill="hold"/>
                                        <p:tgtEl>
                                          <p:spTgt spid="165932"/>
                                        </p:tgtEl>
                                        <p:attrNameLst>
                                          <p:attrName>ppt_x</p:attrName>
                                        </p:attrNameLst>
                                      </p:cBhvr>
                                      <p:tavLst>
                                        <p:tav tm="0">
                                          <p:val>
                                            <p:strVal val="#ppt_x"/>
                                          </p:val>
                                        </p:tav>
                                        <p:tav tm="100000">
                                          <p:val>
                                            <p:strVal val="#ppt_x"/>
                                          </p:val>
                                        </p:tav>
                                      </p:tavLst>
                                    </p:anim>
                                    <p:anim calcmode="lin" valueType="num">
                                      <p:cBhvr>
                                        <p:cTn id="59" dur="900" decel="100000" fill="hold"/>
                                        <p:tgtEl>
                                          <p:spTgt spid="165932"/>
                                        </p:tgtEl>
                                        <p:attrNameLst>
                                          <p:attrName>ppt_y</p:attrName>
                                        </p:attrNameLst>
                                      </p:cBhvr>
                                      <p:tavLst>
                                        <p:tav tm="0">
                                          <p:val>
                                            <p:strVal val="#ppt_y+1"/>
                                          </p:val>
                                        </p:tav>
                                        <p:tav tm="100000">
                                          <p:val>
                                            <p:strVal val="#ppt_y-.03"/>
                                          </p:val>
                                        </p:tav>
                                      </p:tavLst>
                                    </p:anim>
                                    <p:anim calcmode="lin" valueType="num">
                                      <p:cBhvr>
                                        <p:cTn id="60" dur="100" accel="100000" fill="hold">
                                          <p:stCondLst>
                                            <p:cond delay="900"/>
                                          </p:stCondLst>
                                        </p:cTn>
                                        <p:tgtEl>
                                          <p:spTgt spid="16593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6" grpId="0" build="p"/>
      <p:bldP spid="1659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8D3A8C32-4D2A-98A5-C810-B19D256FDCB3}"/>
              </a:ext>
            </a:extLst>
          </p:cNvPr>
          <p:cNvPicPr>
            <a:picLocks noChangeAspect="1"/>
          </p:cNvPicPr>
          <p:nvPr/>
        </p:nvPicPr>
        <p:blipFill>
          <a:blip r:embed="rId4"/>
          <a:stretch>
            <a:fillRect/>
          </a:stretch>
        </p:blipFill>
        <p:spPr>
          <a:xfrm>
            <a:off x="0" y="857"/>
            <a:ext cx="9144000" cy="6857143"/>
          </a:xfrm>
          <a:prstGeom prst="rect">
            <a:avLst/>
          </a:prstGeom>
        </p:spPr>
      </p:pic>
      <p:sp>
        <p:nvSpPr>
          <p:cNvPr id="167943" name="Text Box 7">
            <a:extLst>
              <a:ext uri="{FF2B5EF4-FFF2-40B4-BE49-F238E27FC236}">
                <a16:creationId xmlns:a16="http://schemas.microsoft.com/office/drawing/2014/main" id="{7861A0CD-9ED9-6FAE-2913-F360A7258DA5}"/>
              </a:ext>
            </a:extLst>
          </p:cNvPr>
          <p:cNvSpPr txBox="1">
            <a:spLocks noChangeArrowheads="1"/>
          </p:cNvSpPr>
          <p:nvPr/>
        </p:nvSpPr>
        <p:spPr bwMode="auto">
          <a:xfrm>
            <a:off x="1062487" y="1049075"/>
            <a:ext cx="7315200" cy="1172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200000"/>
              </a:lnSpc>
            </a:pPr>
            <a:r>
              <a:rPr lang="en-US" altLang="en-US" sz="1900" dirty="0">
                <a:solidFill>
                  <a:schemeClr val="tx2"/>
                </a:solidFill>
                <a:latin typeface="Times New Roman" pitchFamily="18" charset="0"/>
                <a:cs typeface="Times New Roman" pitchFamily="18" charset="0"/>
              </a:rPr>
              <a:t>A 4-variable map has an adjacent cell on each of its four boundaries as shown.  </a:t>
            </a:r>
          </a:p>
        </p:txBody>
      </p:sp>
      <p:graphicFrame>
        <p:nvGraphicFramePr>
          <p:cNvPr id="167944" name="Object 8">
            <a:extLst>
              <a:ext uri="{FF2B5EF4-FFF2-40B4-BE49-F238E27FC236}">
                <a16:creationId xmlns:a16="http://schemas.microsoft.com/office/drawing/2014/main" id="{D5035EC4-84F5-AD68-23B3-4A26BA4740BB}"/>
              </a:ext>
            </a:extLst>
          </p:cNvPr>
          <p:cNvGraphicFramePr>
            <a:graphicFrameLocks noChangeAspect="1"/>
          </p:cNvGraphicFramePr>
          <p:nvPr/>
        </p:nvGraphicFramePr>
        <p:xfrm>
          <a:off x="1143000" y="2590800"/>
          <a:ext cx="3200400" cy="3021013"/>
        </p:xfrm>
        <a:graphic>
          <a:graphicData uri="http://schemas.openxmlformats.org/presentationml/2006/ole">
            <mc:AlternateContent xmlns:mc="http://schemas.openxmlformats.org/markup-compatibility/2006">
              <mc:Choice xmlns:v="urn:schemas-microsoft-com:vml" Requires="v">
                <p:oleObj name="CorelDRAW" r:id="rId5" imgW="1750847" imgH="1653121" progId="CorelDRAW.Graphic.12">
                  <p:embed/>
                </p:oleObj>
              </mc:Choice>
              <mc:Fallback>
                <p:oleObj name="CorelDRAW" r:id="rId5" imgW="1750847" imgH="1653121" progId="CorelDRAW.Graphic.12">
                  <p:embed/>
                  <p:pic>
                    <p:nvPicPr>
                      <p:cNvPr id="167944" name="Object 8">
                        <a:extLst>
                          <a:ext uri="{FF2B5EF4-FFF2-40B4-BE49-F238E27FC236}">
                            <a16:creationId xmlns:a16="http://schemas.microsoft.com/office/drawing/2014/main" id="{D5035EC4-84F5-AD68-23B3-4A26BA4740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2590800"/>
                        <a:ext cx="3200400" cy="302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7945" name="Text Box 9">
            <a:extLst>
              <a:ext uri="{FF2B5EF4-FFF2-40B4-BE49-F238E27FC236}">
                <a16:creationId xmlns:a16="http://schemas.microsoft.com/office/drawing/2014/main" id="{710B84A1-7D5E-537A-070E-328F7D9C8979}"/>
              </a:ext>
            </a:extLst>
          </p:cNvPr>
          <p:cNvSpPr txBox="1">
            <a:spLocks noChangeArrowheads="1"/>
          </p:cNvSpPr>
          <p:nvPr/>
        </p:nvSpPr>
        <p:spPr bwMode="auto">
          <a:xfrm>
            <a:off x="4491486" y="2052825"/>
            <a:ext cx="4271513" cy="4216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200000"/>
              </a:lnSpc>
              <a:spcBef>
                <a:spcPct val="20000"/>
              </a:spcBef>
            </a:pPr>
            <a:r>
              <a:rPr lang="en-US" altLang="en-US" sz="1900" dirty="0">
                <a:solidFill>
                  <a:schemeClr val="tx2"/>
                </a:solidFill>
                <a:latin typeface="Times New Roman" pitchFamily="18" charset="0"/>
                <a:cs typeface="Times New Roman" pitchFamily="18" charset="0"/>
              </a:rPr>
              <a:t>Each cell is different only by one variable from an adjacent cell.</a:t>
            </a:r>
          </a:p>
          <a:p>
            <a:pPr eaLnBrk="1" hangingPunct="1">
              <a:lnSpc>
                <a:spcPct val="200000"/>
              </a:lnSpc>
              <a:spcBef>
                <a:spcPct val="20000"/>
              </a:spcBef>
            </a:pPr>
            <a:r>
              <a:rPr lang="en-US" altLang="en-US" sz="1900" dirty="0">
                <a:solidFill>
                  <a:schemeClr val="tx2"/>
                </a:solidFill>
                <a:latin typeface="Times New Roman" pitchFamily="18" charset="0"/>
                <a:cs typeface="Times New Roman" pitchFamily="18" charset="0"/>
              </a:rPr>
              <a:t>Grouping follows the rules given in the text.</a:t>
            </a:r>
          </a:p>
          <a:p>
            <a:pPr eaLnBrk="1" hangingPunct="1">
              <a:lnSpc>
                <a:spcPct val="200000"/>
              </a:lnSpc>
              <a:spcBef>
                <a:spcPct val="20000"/>
              </a:spcBef>
            </a:pPr>
            <a:r>
              <a:rPr lang="en-US" altLang="en-US" sz="1900" dirty="0">
                <a:solidFill>
                  <a:schemeClr val="tx2"/>
                </a:solidFill>
                <a:latin typeface="Times New Roman" pitchFamily="18" charset="0"/>
                <a:cs typeface="Times New Roman" pitchFamily="18" charset="0"/>
              </a:rPr>
              <a:t>The following slide shows an example of reading a four variable map using binary numbers for the variables</a:t>
            </a:r>
            <a:r>
              <a:rPr lang="en-US" altLang="en-US" dirty="0"/>
              <a:t>…</a:t>
            </a:r>
          </a:p>
        </p:txBody>
      </p:sp>
      <p:sp>
        <p:nvSpPr>
          <p:cNvPr id="3" name="Rectangle 5">
            <a:extLst>
              <a:ext uri="{FF2B5EF4-FFF2-40B4-BE49-F238E27FC236}">
                <a16:creationId xmlns:a16="http://schemas.microsoft.com/office/drawing/2014/main" id="{5258F4FD-1E57-EC96-5944-4897E9BD4015}"/>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4" name="Rectangle 3">
            <a:extLst>
              <a:ext uri="{FF2B5EF4-FFF2-40B4-BE49-F238E27FC236}">
                <a16:creationId xmlns:a16="http://schemas.microsoft.com/office/drawing/2014/main" id="{817C8134-4872-07E4-C8DF-4790D4938EC3}"/>
              </a:ext>
            </a:extLst>
          </p:cNvPr>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35</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7945">
                                            <p:txEl>
                                              <p:pRg st="0" end="0"/>
                                            </p:txEl>
                                          </p:spTgt>
                                        </p:tgtEl>
                                        <p:attrNameLst>
                                          <p:attrName>style.visibility</p:attrName>
                                        </p:attrNameLst>
                                      </p:cBhvr>
                                      <p:to>
                                        <p:strVal val="visible"/>
                                      </p:to>
                                    </p:set>
                                    <p:animEffect transition="in" filter="wipe(left)">
                                      <p:cBhvr>
                                        <p:cTn id="7" dur="500"/>
                                        <p:tgtEl>
                                          <p:spTgt spid="1679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67945">
                                            <p:txEl>
                                              <p:pRg st="1" end="1"/>
                                            </p:txEl>
                                          </p:spTgt>
                                        </p:tgtEl>
                                        <p:attrNameLst>
                                          <p:attrName>style.visibility</p:attrName>
                                        </p:attrNameLst>
                                      </p:cBhvr>
                                      <p:to>
                                        <p:strVal val="visible"/>
                                      </p:to>
                                    </p:set>
                                    <p:animEffect transition="in" filter="wipe(left)">
                                      <p:cBhvr>
                                        <p:cTn id="12" dur="500"/>
                                        <p:tgtEl>
                                          <p:spTgt spid="16794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7945">
                                            <p:txEl>
                                              <p:pRg st="2" end="2"/>
                                            </p:txEl>
                                          </p:spTgt>
                                        </p:tgtEl>
                                        <p:attrNameLst>
                                          <p:attrName>style.visibility</p:attrName>
                                        </p:attrNameLst>
                                      </p:cBhvr>
                                      <p:to>
                                        <p:strVal val="visible"/>
                                      </p:to>
                                    </p:set>
                                    <p:animEffect transition="in" filter="wipe(left)">
                                      <p:cBhvr>
                                        <p:cTn id="17" dur="500"/>
                                        <p:tgtEl>
                                          <p:spTgt spid="1679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3D96D273-B1B2-D7CC-0C61-AC3F303BE5BC}"/>
              </a:ext>
            </a:extLst>
          </p:cNvPr>
          <p:cNvPicPr>
            <a:picLocks noChangeAspect="1"/>
          </p:cNvPicPr>
          <p:nvPr/>
        </p:nvPicPr>
        <p:blipFill>
          <a:blip r:embed="rId4"/>
          <a:stretch>
            <a:fillRect/>
          </a:stretch>
        </p:blipFill>
        <p:spPr>
          <a:xfrm>
            <a:off x="0" y="857"/>
            <a:ext cx="9144000" cy="6857143"/>
          </a:xfrm>
          <a:prstGeom prst="rect">
            <a:avLst/>
          </a:prstGeom>
        </p:spPr>
      </p:pic>
      <p:sp>
        <p:nvSpPr>
          <p:cNvPr id="178231" name="Text Box 55">
            <a:extLst>
              <a:ext uri="{FF2B5EF4-FFF2-40B4-BE49-F238E27FC236}">
                <a16:creationId xmlns:a16="http://schemas.microsoft.com/office/drawing/2014/main" id="{72EC93F4-5236-83DC-D468-A832305ECC9C}"/>
              </a:ext>
            </a:extLst>
          </p:cNvPr>
          <p:cNvSpPr txBox="1">
            <a:spLocks noChangeArrowheads="1"/>
          </p:cNvSpPr>
          <p:nvPr/>
        </p:nvSpPr>
        <p:spPr bwMode="auto">
          <a:xfrm>
            <a:off x="2286000" y="54864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i="1"/>
              <a:t>X</a:t>
            </a:r>
          </a:p>
        </p:txBody>
      </p:sp>
      <p:sp>
        <p:nvSpPr>
          <p:cNvPr id="178185" name="Rectangle 9">
            <a:extLst>
              <a:ext uri="{FF2B5EF4-FFF2-40B4-BE49-F238E27FC236}">
                <a16:creationId xmlns:a16="http://schemas.microsoft.com/office/drawing/2014/main" id="{E0E7CCC5-B7CD-7715-8F11-662B7A3EE988}"/>
              </a:ext>
            </a:extLst>
          </p:cNvPr>
          <p:cNvSpPr>
            <a:spLocks noChangeArrowheads="1"/>
          </p:cNvSpPr>
          <p:nvPr/>
        </p:nvSpPr>
        <p:spPr bwMode="auto">
          <a:xfrm>
            <a:off x="2209800" y="1676400"/>
            <a:ext cx="594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1900" dirty="0">
                <a:solidFill>
                  <a:schemeClr val="tx2"/>
                </a:solidFill>
                <a:latin typeface="Times New Roman" pitchFamily="18" charset="0"/>
                <a:cs typeface="Times New Roman" pitchFamily="18" charset="0"/>
              </a:rPr>
              <a:t>Group the 1’s on the map and read the minimum logic.</a:t>
            </a:r>
          </a:p>
        </p:txBody>
      </p:sp>
      <p:sp>
        <p:nvSpPr>
          <p:cNvPr id="178186" name="WordArt 10">
            <a:extLst>
              <a:ext uri="{FF2B5EF4-FFF2-40B4-BE49-F238E27FC236}">
                <a16:creationId xmlns:a16="http://schemas.microsoft.com/office/drawing/2014/main" id="{87B680D3-2954-06D4-32B0-715E9FD39C67}"/>
              </a:ext>
            </a:extLst>
          </p:cNvPr>
          <p:cNvSpPr>
            <a:spLocks noChangeArrowheads="1" noChangeShapeType="1" noTextEdit="1"/>
          </p:cNvSpPr>
          <p:nvPr/>
        </p:nvSpPr>
        <p:spPr bwMode="auto">
          <a:xfrm>
            <a:off x="914400" y="1676400"/>
            <a:ext cx="1219200" cy="4492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800" kern="10">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panose="020B0806030902050204" pitchFamily="34" charset="0"/>
              </a:rPr>
              <a:t>Example</a:t>
            </a:r>
          </a:p>
        </p:txBody>
      </p:sp>
      <p:sp>
        <p:nvSpPr>
          <p:cNvPr id="178192" name="WordArt 16">
            <a:extLst>
              <a:ext uri="{FF2B5EF4-FFF2-40B4-BE49-F238E27FC236}">
                <a16:creationId xmlns:a16="http://schemas.microsoft.com/office/drawing/2014/main" id="{09A3F455-410D-7CF5-0439-3676205E80BC}"/>
              </a:ext>
            </a:extLst>
          </p:cNvPr>
          <p:cNvSpPr>
            <a:spLocks noChangeArrowheads="1" noChangeShapeType="1" noTextEdit="1"/>
          </p:cNvSpPr>
          <p:nvPr/>
        </p:nvSpPr>
        <p:spPr bwMode="auto">
          <a:xfrm>
            <a:off x="4343400" y="2209800"/>
            <a:ext cx="1219200" cy="44926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28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alpha val="80000"/>
                    </a:srgbClr>
                  </a:outerShdw>
                </a:effectLst>
                <a:latin typeface="Impact" panose="020B0806030902050204" pitchFamily="34" charset="0"/>
              </a:rPr>
              <a:t>Solution</a:t>
            </a:r>
          </a:p>
        </p:txBody>
      </p:sp>
      <p:graphicFrame>
        <p:nvGraphicFramePr>
          <p:cNvPr id="178196" name="Object 20">
            <a:extLst>
              <a:ext uri="{FF2B5EF4-FFF2-40B4-BE49-F238E27FC236}">
                <a16:creationId xmlns:a16="http://schemas.microsoft.com/office/drawing/2014/main" id="{1E1AC12B-A21F-286E-B6C3-D5A17C88B6F0}"/>
              </a:ext>
            </a:extLst>
          </p:cNvPr>
          <p:cNvGraphicFramePr>
            <a:graphicFrameLocks noChangeAspect="1"/>
          </p:cNvGraphicFramePr>
          <p:nvPr/>
        </p:nvGraphicFramePr>
        <p:xfrm>
          <a:off x="914400" y="2590800"/>
          <a:ext cx="3124200" cy="2987675"/>
        </p:xfrm>
        <a:graphic>
          <a:graphicData uri="http://schemas.openxmlformats.org/presentationml/2006/ole">
            <mc:AlternateContent xmlns:mc="http://schemas.openxmlformats.org/markup-compatibility/2006">
              <mc:Choice xmlns:v="urn:schemas-microsoft-com:vml" Requires="v">
                <p:oleObj name="CorelDRAW" r:id="rId5" imgW="1638220" imgH="1567404" progId="CorelDRAW.Graphic.13">
                  <p:embed/>
                </p:oleObj>
              </mc:Choice>
              <mc:Fallback>
                <p:oleObj name="CorelDRAW" r:id="rId5" imgW="1638220" imgH="1567404" progId="CorelDRAW.Graphic.13">
                  <p:embed/>
                  <p:pic>
                    <p:nvPicPr>
                      <p:cNvPr id="178196" name="Object 20">
                        <a:extLst>
                          <a:ext uri="{FF2B5EF4-FFF2-40B4-BE49-F238E27FC236}">
                            <a16:creationId xmlns:a16="http://schemas.microsoft.com/office/drawing/2014/main" id="{1E1AC12B-A21F-286E-B6C3-D5A17C88B6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2590800"/>
                        <a:ext cx="3124200"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8197" name="Object 21">
            <a:extLst>
              <a:ext uri="{FF2B5EF4-FFF2-40B4-BE49-F238E27FC236}">
                <a16:creationId xmlns:a16="http://schemas.microsoft.com/office/drawing/2014/main" id="{5511B69F-1BAC-5836-EDF3-CA9A2BC9D946}"/>
              </a:ext>
            </a:extLst>
          </p:cNvPr>
          <p:cNvGraphicFramePr>
            <a:graphicFrameLocks noChangeAspect="1"/>
          </p:cNvGraphicFramePr>
          <p:nvPr/>
        </p:nvGraphicFramePr>
        <p:xfrm>
          <a:off x="914400" y="2590800"/>
          <a:ext cx="3124200" cy="2987675"/>
        </p:xfrm>
        <a:graphic>
          <a:graphicData uri="http://schemas.openxmlformats.org/presentationml/2006/ole">
            <mc:AlternateContent xmlns:mc="http://schemas.openxmlformats.org/markup-compatibility/2006">
              <mc:Choice xmlns:v="urn:schemas-microsoft-com:vml" Requires="v">
                <p:oleObj name="CorelDRAW" r:id="rId7" imgW="1638220" imgH="1567404" progId="CorelDRAW.Graphic.13">
                  <p:embed/>
                </p:oleObj>
              </mc:Choice>
              <mc:Fallback>
                <p:oleObj name="CorelDRAW" r:id="rId7" imgW="1638220" imgH="1567404" progId="CorelDRAW.Graphic.13">
                  <p:embed/>
                  <p:pic>
                    <p:nvPicPr>
                      <p:cNvPr id="178197" name="Object 21">
                        <a:extLst>
                          <a:ext uri="{FF2B5EF4-FFF2-40B4-BE49-F238E27FC236}">
                            <a16:creationId xmlns:a16="http://schemas.microsoft.com/office/drawing/2014/main" id="{5511B69F-1BAC-5836-EDF3-CA9A2BC9D9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2590800"/>
                        <a:ext cx="3124200"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78203" name="Group 27">
            <a:extLst>
              <a:ext uri="{FF2B5EF4-FFF2-40B4-BE49-F238E27FC236}">
                <a16:creationId xmlns:a16="http://schemas.microsoft.com/office/drawing/2014/main" id="{2BF61570-9707-D999-7334-D853FDE5CF09}"/>
              </a:ext>
            </a:extLst>
          </p:cNvPr>
          <p:cNvGrpSpPr>
            <a:grpSpLocks/>
          </p:cNvGrpSpPr>
          <p:nvPr/>
        </p:nvGrpSpPr>
        <p:grpSpPr bwMode="auto">
          <a:xfrm>
            <a:off x="4666413" y="2946400"/>
            <a:ext cx="1981200" cy="457200"/>
            <a:chOff x="2688" y="3600"/>
            <a:chExt cx="1248" cy="288"/>
          </a:xfrm>
        </p:grpSpPr>
        <p:sp>
          <p:nvSpPr>
            <p:cNvPr id="178199" name="Text Box 23">
              <a:extLst>
                <a:ext uri="{FF2B5EF4-FFF2-40B4-BE49-F238E27FC236}">
                  <a16:creationId xmlns:a16="http://schemas.microsoft.com/office/drawing/2014/main" id="{5F16EA2D-08E7-E7F6-20A6-2AED52F52A96}"/>
                </a:ext>
              </a:extLst>
            </p:cNvPr>
            <p:cNvSpPr txBox="1">
              <a:spLocks noChangeArrowheads="1"/>
            </p:cNvSpPr>
            <p:nvPr/>
          </p:nvSpPr>
          <p:spPr bwMode="auto">
            <a:xfrm>
              <a:off x="2688" y="360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i="1" dirty="0">
                  <a:solidFill>
                    <a:srgbClr val="FF0000"/>
                  </a:solidFill>
                </a:rPr>
                <a:t>X = AD +AD</a:t>
              </a:r>
            </a:p>
          </p:txBody>
        </p:sp>
        <p:sp>
          <p:nvSpPr>
            <p:cNvPr id="178200" name="Line 24">
              <a:extLst>
                <a:ext uri="{FF2B5EF4-FFF2-40B4-BE49-F238E27FC236}">
                  <a16:creationId xmlns:a16="http://schemas.microsoft.com/office/drawing/2014/main" id="{50B038BE-49D1-FB7D-EBE2-290E08F7BC9C}"/>
                </a:ext>
              </a:extLst>
            </p:cNvPr>
            <p:cNvSpPr>
              <a:spLocks noChangeShapeType="1"/>
            </p:cNvSpPr>
            <p:nvPr/>
          </p:nvSpPr>
          <p:spPr bwMode="auto">
            <a:xfrm>
              <a:off x="3120" y="3648"/>
              <a:ext cx="96" cy="1"/>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01" name="Line 25">
              <a:extLst>
                <a:ext uri="{FF2B5EF4-FFF2-40B4-BE49-F238E27FC236}">
                  <a16:creationId xmlns:a16="http://schemas.microsoft.com/office/drawing/2014/main" id="{D07AAC9A-C084-E246-A7FA-75F7379FC28B}"/>
                </a:ext>
              </a:extLst>
            </p:cNvPr>
            <p:cNvSpPr>
              <a:spLocks noChangeShapeType="1"/>
            </p:cNvSpPr>
            <p:nvPr/>
          </p:nvSpPr>
          <p:spPr bwMode="auto">
            <a:xfrm>
              <a:off x="3264" y="3648"/>
              <a:ext cx="96" cy="1"/>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8232" name="Group 56">
            <a:extLst>
              <a:ext uri="{FF2B5EF4-FFF2-40B4-BE49-F238E27FC236}">
                <a16:creationId xmlns:a16="http://schemas.microsoft.com/office/drawing/2014/main" id="{EFBDC5A2-5843-C0BC-7C27-BF622430BA7A}"/>
              </a:ext>
            </a:extLst>
          </p:cNvPr>
          <p:cNvGrpSpPr>
            <a:grpSpLocks/>
          </p:cNvGrpSpPr>
          <p:nvPr/>
        </p:nvGrpSpPr>
        <p:grpSpPr bwMode="auto">
          <a:xfrm>
            <a:off x="304800" y="2819400"/>
            <a:ext cx="2851150" cy="2722563"/>
            <a:chOff x="192" y="1776"/>
            <a:chExt cx="1796" cy="1715"/>
          </a:xfrm>
        </p:grpSpPr>
        <p:sp>
          <p:nvSpPr>
            <p:cNvPr id="178216" name="Line 40">
              <a:extLst>
                <a:ext uri="{FF2B5EF4-FFF2-40B4-BE49-F238E27FC236}">
                  <a16:creationId xmlns:a16="http://schemas.microsoft.com/office/drawing/2014/main" id="{B644C6BD-452D-195C-F387-774670B80521}"/>
                </a:ext>
              </a:extLst>
            </p:cNvPr>
            <p:cNvSpPr>
              <a:spLocks noChangeShapeType="1"/>
            </p:cNvSpPr>
            <p:nvPr/>
          </p:nvSpPr>
          <p:spPr bwMode="auto">
            <a:xfrm>
              <a:off x="672" y="2904"/>
              <a:ext cx="1316" cy="0"/>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7" name="Oval 41">
              <a:extLst>
                <a:ext uri="{FF2B5EF4-FFF2-40B4-BE49-F238E27FC236}">
                  <a16:creationId xmlns:a16="http://schemas.microsoft.com/office/drawing/2014/main" id="{8B203ADF-B2DA-A81F-E5A1-E6DAEB7EA42A}"/>
                </a:ext>
              </a:extLst>
            </p:cNvPr>
            <p:cNvSpPr>
              <a:spLocks noChangeArrowheads="1"/>
            </p:cNvSpPr>
            <p:nvPr/>
          </p:nvSpPr>
          <p:spPr bwMode="auto">
            <a:xfrm>
              <a:off x="772" y="2640"/>
              <a:ext cx="140" cy="480"/>
            </a:xfrm>
            <a:prstGeom prst="ellipse">
              <a:avLst/>
            </a:prstGeom>
            <a:noFill/>
            <a:ln w="9525">
              <a:solidFill>
                <a:srgbClr val="008000"/>
              </a:solidFill>
              <a:round/>
              <a:headEnd/>
              <a:tailEn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18" name="Text Box 42">
              <a:extLst>
                <a:ext uri="{FF2B5EF4-FFF2-40B4-BE49-F238E27FC236}">
                  <a16:creationId xmlns:a16="http://schemas.microsoft.com/office/drawing/2014/main" id="{2F65C676-62B2-89B3-EED8-2A97F3E9A36D}"/>
                </a:ext>
              </a:extLst>
            </p:cNvPr>
            <p:cNvSpPr txBox="1">
              <a:spLocks noChangeArrowheads="1"/>
            </p:cNvSpPr>
            <p:nvPr/>
          </p:nvSpPr>
          <p:spPr bwMode="auto">
            <a:xfrm>
              <a:off x="192" y="2808"/>
              <a:ext cx="576" cy="179"/>
            </a:xfrm>
            <a:prstGeom prst="rect">
              <a:avLst/>
            </a:prstGeom>
            <a:solidFill>
              <a:srgbClr val="66FF66"/>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i="1">
                  <a:solidFill>
                    <a:srgbClr val="FF0000"/>
                  </a:solidFill>
                </a:rPr>
                <a:t>B</a:t>
              </a:r>
              <a:r>
                <a:rPr lang="en-US" altLang="en-US" sz="1200">
                  <a:solidFill>
                    <a:srgbClr val="FF0000"/>
                  </a:solidFill>
                </a:rPr>
                <a:t> changes</a:t>
              </a:r>
            </a:p>
          </p:txBody>
        </p:sp>
        <p:sp>
          <p:nvSpPr>
            <p:cNvPr id="178219" name="Text Box 43">
              <a:extLst>
                <a:ext uri="{FF2B5EF4-FFF2-40B4-BE49-F238E27FC236}">
                  <a16:creationId xmlns:a16="http://schemas.microsoft.com/office/drawing/2014/main" id="{D9F35642-2267-818B-530A-70ACFE6BD0C4}"/>
                </a:ext>
              </a:extLst>
            </p:cNvPr>
            <p:cNvSpPr txBox="1">
              <a:spLocks noChangeArrowheads="1"/>
            </p:cNvSpPr>
            <p:nvPr/>
          </p:nvSpPr>
          <p:spPr bwMode="auto">
            <a:xfrm>
              <a:off x="1248" y="3312"/>
              <a:ext cx="576" cy="179"/>
            </a:xfrm>
            <a:prstGeom prst="rect">
              <a:avLst/>
            </a:prstGeom>
            <a:solidFill>
              <a:srgbClr val="66FF66"/>
            </a:soli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i="1">
                  <a:solidFill>
                    <a:srgbClr val="FF0000"/>
                  </a:solidFill>
                </a:rPr>
                <a:t>C </a:t>
              </a:r>
              <a:r>
                <a:rPr lang="en-US" altLang="en-US" sz="1200">
                  <a:solidFill>
                    <a:srgbClr val="FF0000"/>
                  </a:solidFill>
                </a:rPr>
                <a:t>changes</a:t>
              </a:r>
            </a:p>
          </p:txBody>
        </p:sp>
        <p:sp>
          <p:nvSpPr>
            <p:cNvPr id="178221" name="Oval 45">
              <a:extLst>
                <a:ext uri="{FF2B5EF4-FFF2-40B4-BE49-F238E27FC236}">
                  <a16:creationId xmlns:a16="http://schemas.microsoft.com/office/drawing/2014/main" id="{D673CB88-6D82-5B97-51D5-F73D94385DB8}"/>
                </a:ext>
              </a:extLst>
            </p:cNvPr>
            <p:cNvSpPr>
              <a:spLocks noChangeArrowheads="1"/>
            </p:cNvSpPr>
            <p:nvPr/>
          </p:nvSpPr>
          <p:spPr bwMode="auto">
            <a:xfrm>
              <a:off x="1344" y="1776"/>
              <a:ext cx="108" cy="144"/>
            </a:xfrm>
            <a:prstGeom prst="ellipse">
              <a:avLst/>
            </a:prstGeom>
            <a:noFill/>
            <a:ln w="952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25" name="Oval 49">
              <a:extLst>
                <a:ext uri="{FF2B5EF4-FFF2-40B4-BE49-F238E27FC236}">
                  <a16:creationId xmlns:a16="http://schemas.microsoft.com/office/drawing/2014/main" id="{9F2068F4-F691-67CE-7A65-9A4A403AC7FD}"/>
                </a:ext>
              </a:extLst>
            </p:cNvPr>
            <p:cNvSpPr>
              <a:spLocks noChangeArrowheads="1"/>
            </p:cNvSpPr>
            <p:nvPr/>
          </p:nvSpPr>
          <p:spPr bwMode="auto">
            <a:xfrm>
              <a:off x="1680" y="1776"/>
              <a:ext cx="120" cy="144"/>
            </a:xfrm>
            <a:prstGeom prst="ellipse">
              <a:avLst/>
            </a:prstGeom>
            <a:noFill/>
            <a:ln w="9525">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26" name="Line 50">
              <a:extLst>
                <a:ext uri="{FF2B5EF4-FFF2-40B4-BE49-F238E27FC236}">
                  <a16:creationId xmlns:a16="http://schemas.microsoft.com/office/drawing/2014/main" id="{A10DFEB6-17F0-E1CA-E53A-2CDF77663963}"/>
                </a:ext>
              </a:extLst>
            </p:cNvPr>
            <p:cNvSpPr>
              <a:spLocks noChangeShapeType="1"/>
            </p:cNvSpPr>
            <p:nvPr/>
          </p:nvSpPr>
          <p:spPr bwMode="auto">
            <a:xfrm flipV="1">
              <a:off x="1584" y="2400"/>
              <a:ext cx="0" cy="912"/>
            </a:xfrm>
            <a:prstGeom prst="line">
              <a:avLst/>
            </a:prstGeom>
            <a:noFill/>
            <a:ln w="127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78230" name="Group 54">
            <a:extLst>
              <a:ext uri="{FF2B5EF4-FFF2-40B4-BE49-F238E27FC236}">
                <a16:creationId xmlns:a16="http://schemas.microsoft.com/office/drawing/2014/main" id="{B3EED9EB-ECC9-976D-1C02-27F721A9830B}"/>
              </a:ext>
            </a:extLst>
          </p:cNvPr>
          <p:cNvGrpSpPr>
            <a:grpSpLocks/>
          </p:cNvGrpSpPr>
          <p:nvPr/>
        </p:nvGrpSpPr>
        <p:grpSpPr bwMode="auto">
          <a:xfrm>
            <a:off x="381000" y="2209800"/>
            <a:ext cx="3149600" cy="1847850"/>
            <a:chOff x="240" y="1392"/>
            <a:chExt cx="1984" cy="1164"/>
          </a:xfrm>
        </p:grpSpPr>
        <p:sp>
          <p:nvSpPr>
            <p:cNvPr id="178205" name="Line 29">
              <a:extLst>
                <a:ext uri="{FF2B5EF4-FFF2-40B4-BE49-F238E27FC236}">
                  <a16:creationId xmlns:a16="http://schemas.microsoft.com/office/drawing/2014/main" id="{BE7853AA-C4E8-9270-48C4-EED7A9D45628}"/>
                </a:ext>
              </a:extLst>
            </p:cNvPr>
            <p:cNvSpPr>
              <a:spLocks noChangeShapeType="1"/>
            </p:cNvSpPr>
            <p:nvPr/>
          </p:nvSpPr>
          <p:spPr bwMode="auto">
            <a:xfrm>
              <a:off x="720" y="2256"/>
              <a:ext cx="480" cy="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06" name="Oval 30">
              <a:extLst>
                <a:ext uri="{FF2B5EF4-FFF2-40B4-BE49-F238E27FC236}">
                  <a16:creationId xmlns:a16="http://schemas.microsoft.com/office/drawing/2014/main" id="{9D93542A-652F-9DBA-7EC1-EEAE2D3A4A0D}"/>
                </a:ext>
              </a:extLst>
            </p:cNvPr>
            <p:cNvSpPr>
              <a:spLocks noChangeArrowheads="1"/>
            </p:cNvSpPr>
            <p:nvPr/>
          </p:nvSpPr>
          <p:spPr bwMode="auto">
            <a:xfrm>
              <a:off x="768" y="2016"/>
              <a:ext cx="144" cy="48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07" name="Text Box 31">
              <a:extLst>
                <a:ext uri="{FF2B5EF4-FFF2-40B4-BE49-F238E27FC236}">
                  <a16:creationId xmlns:a16="http://schemas.microsoft.com/office/drawing/2014/main" id="{1A71D179-FBB8-6A64-55CC-4A989B8034FE}"/>
                </a:ext>
              </a:extLst>
            </p:cNvPr>
            <p:cNvSpPr txBox="1">
              <a:spLocks noChangeArrowheads="1"/>
            </p:cNvSpPr>
            <p:nvPr/>
          </p:nvSpPr>
          <p:spPr bwMode="auto">
            <a:xfrm>
              <a:off x="240" y="2160"/>
              <a:ext cx="576" cy="179"/>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i="1">
                  <a:solidFill>
                    <a:srgbClr val="FF0000"/>
                  </a:solidFill>
                </a:rPr>
                <a:t>B</a:t>
              </a:r>
              <a:r>
                <a:rPr lang="en-US" altLang="en-US" sz="1200">
                  <a:solidFill>
                    <a:srgbClr val="FF0000"/>
                  </a:solidFill>
                </a:rPr>
                <a:t> changes</a:t>
              </a:r>
            </a:p>
          </p:txBody>
        </p:sp>
        <p:sp>
          <p:nvSpPr>
            <p:cNvPr id="178208" name="Text Box 32">
              <a:extLst>
                <a:ext uri="{FF2B5EF4-FFF2-40B4-BE49-F238E27FC236}">
                  <a16:creationId xmlns:a16="http://schemas.microsoft.com/office/drawing/2014/main" id="{692303D0-8E8F-00F7-BC30-301A01D35175}"/>
                </a:ext>
              </a:extLst>
            </p:cNvPr>
            <p:cNvSpPr txBox="1">
              <a:spLocks noChangeArrowheads="1"/>
            </p:cNvSpPr>
            <p:nvPr/>
          </p:nvSpPr>
          <p:spPr bwMode="auto">
            <a:xfrm>
              <a:off x="768" y="1392"/>
              <a:ext cx="816" cy="294"/>
            </a:xfrm>
            <a:prstGeom prst="rect">
              <a:avLst/>
            </a:prstGeom>
            <a:solidFill>
              <a:srgbClr val="FFFF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i="1">
                  <a:solidFill>
                    <a:srgbClr val="FF0000"/>
                  </a:solidFill>
                </a:rPr>
                <a:t>C</a:t>
              </a:r>
              <a:r>
                <a:rPr lang="en-US" altLang="en-US" sz="1200">
                  <a:solidFill>
                    <a:srgbClr val="FF0000"/>
                  </a:solidFill>
                </a:rPr>
                <a:t> changes across outer boundary</a:t>
              </a:r>
            </a:p>
          </p:txBody>
        </p:sp>
        <p:sp>
          <p:nvSpPr>
            <p:cNvPr id="178209" name="Oval 33">
              <a:extLst>
                <a:ext uri="{FF2B5EF4-FFF2-40B4-BE49-F238E27FC236}">
                  <a16:creationId xmlns:a16="http://schemas.microsoft.com/office/drawing/2014/main" id="{F1109F97-8F46-CEEA-F351-D095854AF01F}"/>
                </a:ext>
              </a:extLst>
            </p:cNvPr>
            <p:cNvSpPr>
              <a:spLocks noChangeArrowheads="1"/>
            </p:cNvSpPr>
            <p:nvPr/>
          </p:nvSpPr>
          <p:spPr bwMode="auto">
            <a:xfrm>
              <a:off x="976" y="1776"/>
              <a:ext cx="96" cy="144"/>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10" name="Oval 34">
              <a:extLst>
                <a:ext uri="{FF2B5EF4-FFF2-40B4-BE49-F238E27FC236}">
                  <a16:creationId xmlns:a16="http://schemas.microsoft.com/office/drawing/2014/main" id="{FE38E267-E105-6DCD-DCAA-DE6A9A1931A9}"/>
                </a:ext>
              </a:extLst>
            </p:cNvPr>
            <p:cNvSpPr>
              <a:spLocks noChangeArrowheads="1"/>
            </p:cNvSpPr>
            <p:nvPr/>
          </p:nvSpPr>
          <p:spPr bwMode="auto">
            <a:xfrm>
              <a:off x="1992" y="1772"/>
              <a:ext cx="108" cy="144"/>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8211" name="Line 35">
              <a:extLst>
                <a:ext uri="{FF2B5EF4-FFF2-40B4-BE49-F238E27FC236}">
                  <a16:creationId xmlns:a16="http://schemas.microsoft.com/office/drawing/2014/main" id="{F460C52B-34E7-A5A0-A82B-B6D39C5634C1}"/>
                </a:ext>
              </a:extLst>
            </p:cNvPr>
            <p:cNvSpPr>
              <a:spLocks noChangeShapeType="1"/>
            </p:cNvSpPr>
            <p:nvPr/>
          </p:nvSpPr>
          <p:spPr bwMode="auto">
            <a:xfrm>
              <a:off x="1584" y="1680"/>
              <a:ext cx="416" cy="136"/>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2" name="Line 36">
              <a:extLst>
                <a:ext uri="{FF2B5EF4-FFF2-40B4-BE49-F238E27FC236}">
                  <a16:creationId xmlns:a16="http://schemas.microsoft.com/office/drawing/2014/main" id="{D1A1EDCE-E990-85B9-108C-F2DD951941F1}"/>
                </a:ext>
              </a:extLst>
            </p:cNvPr>
            <p:cNvSpPr>
              <a:spLocks noChangeShapeType="1"/>
            </p:cNvSpPr>
            <p:nvPr/>
          </p:nvSpPr>
          <p:spPr bwMode="auto">
            <a:xfrm flipH="1">
              <a:off x="1048" y="1680"/>
              <a:ext cx="8" cy="9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13" name="Line 37">
              <a:extLst>
                <a:ext uri="{FF2B5EF4-FFF2-40B4-BE49-F238E27FC236}">
                  <a16:creationId xmlns:a16="http://schemas.microsoft.com/office/drawing/2014/main" id="{E21B712D-90CC-E218-8968-0D4B1A26BB25}"/>
                </a:ext>
              </a:extLst>
            </p:cNvPr>
            <p:cNvSpPr>
              <a:spLocks noChangeShapeType="1"/>
            </p:cNvSpPr>
            <p:nvPr/>
          </p:nvSpPr>
          <p:spPr bwMode="auto">
            <a:xfrm flipV="1">
              <a:off x="932" y="1836"/>
              <a:ext cx="0" cy="72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229" name="Line 53">
              <a:extLst>
                <a:ext uri="{FF2B5EF4-FFF2-40B4-BE49-F238E27FC236}">
                  <a16:creationId xmlns:a16="http://schemas.microsoft.com/office/drawing/2014/main" id="{C6053437-0534-1D64-2A26-CBEB29D57010}"/>
                </a:ext>
              </a:extLst>
            </p:cNvPr>
            <p:cNvSpPr>
              <a:spLocks noChangeShapeType="1"/>
            </p:cNvSpPr>
            <p:nvPr/>
          </p:nvSpPr>
          <p:spPr bwMode="auto">
            <a:xfrm flipV="1">
              <a:off x="2224" y="1784"/>
              <a:ext cx="0" cy="720"/>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Rectangle 5">
            <a:extLst>
              <a:ext uri="{FF2B5EF4-FFF2-40B4-BE49-F238E27FC236}">
                <a16:creationId xmlns:a16="http://schemas.microsoft.com/office/drawing/2014/main" id="{11A45046-F5DA-9B9D-9071-A8F1BD6BBEC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4" name="Rectangle 3">
            <a:extLst>
              <a:ext uri="{FF2B5EF4-FFF2-40B4-BE49-F238E27FC236}">
                <a16:creationId xmlns:a16="http://schemas.microsoft.com/office/drawing/2014/main" id="{2785D7E9-297D-0E83-2955-E8A6F08C82F0}"/>
              </a:ext>
            </a:extLst>
          </p:cNvPr>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36</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8192"/>
                                        </p:tgtEl>
                                        <p:attrNameLst>
                                          <p:attrName>style.visibility</p:attrName>
                                        </p:attrNameLst>
                                      </p:cBhvr>
                                      <p:to>
                                        <p:strVal val="visible"/>
                                      </p:to>
                                    </p:set>
                                    <p:animEffect transition="in" filter="dissolve">
                                      <p:cBhvr>
                                        <p:cTn id="7" dur="500"/>
                                        <p:tgtEl>
                                          <p:spTgt spid="178192"/>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178197"/>
                                        </p:tgtEl>
                                        <p:attrNameLst>
                                          <p:attrName>style.visibility</p:attrName>
                                        </p:attrNameLst>
                                      </p:cBhvr>
                                      <p:to>
                                        <p:strVal val="visible"/>
                                      </p:to>
                                    </p:set>
                                    <p:animEffect transition="in" filter="dissolve">
                                      <p:cBhvr>
                                        <p:cTn id="11" dur="500"/>
                                        <p:tgtEl>
                                          <p:spTgt spid="178197"/>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178230"/>
                                        </p:tgtEl>
                                        <p:attrNameLst>
                                          <p:attrName>style.visibility</p:attrName>
                                        </p:attrNameLst>
                                      </p:cBhvr>
                                      <p:to>
                                        <p:strVal val="visible"/>
                                      </p:to>
                                    </p:set>
                                    <p:animEffect transition="in" filter="wipe(up)">
                                      <p:cBhvr>
                                        <p:cTn id="15" dur="500"/>
                                        <p:tgtEl>
                                          <p:spTgt spid="178230"/>
                                        </p:tgtEl>
                                      </p:cBhvr>
                                    </p:animEffect>
                                  </p:childTnLst>
                                  <p:subTnLst>
                                    <p:set>
                                      <p:cBhvr override="childStyle">
                                        <p:cTn dur="1" fill="hold" display="0" masterRel="nextClick" afterEffect="1"/>
                                        <p:tgtEl>
                                          <p:spTgt spid="178230"/>
                                        </p:tgtEl>
                                        <p:attrNameLst>
                                          <p:attrName>style.visibility</p:attrName>
                                        </p:attrNameLst>
                                      </p:cBhvr>
                                      <p:to>
                                        <p:strVal val="hidden"/>
                                      </p:to>
                                    </p:set>
                                  </p:subTnLst>
                                </p:cTn>
                              </p:par>
                              <p:par>
                                <p:cTn id="16" presetID="9" presetClass="entr" presetSubtype="0" fill="hold" nodeType="withEffect">
                                  <p:stCondLst>
                                    <p:cond delay="0"/>
                                  </p:stCondLst>
                                  <p:childTnLst>
                                    <p:set>
                                      <p:cBhvr>
                                        <p:cTn id="17" dur="1" fill="hold">
                                          <p:stCondLst>
                                            <p:cond delay="0"/>
                                          </p:stCondLst>
                                        </p:cTn>
                                        <p:tgtEl>
                                          <p:spTgt spid="178232"/>
                                        </p:tgtEl>
                                        <p:attrNameLst>
                                          <p:attrName>style.visibility</p:attrName>
                                        </p:attrNameLst>
                                      </p:cBhvr>
                                      <p:to>
                                        <p:strVal val="visible"/>
                                      </p:to>
                                    </p:set>
                                    <p:animEffect transition="in" filter="dissolve">
                                      <p:cBhvr>
                                        <p:cTn id="18" dur="500"/>
                                        <p:tgtEl>
                                          <p:spTgt spid="178232"/>
                                        </p:tgtEl>
                                      </p:cBhvr>
                                    </p:animEffect>
                                  </p:childTnLst>
                                  <p:subTnLst>
                                    <p:set>
                                      <p:cBhvr override="childStyle">
                                        <p:cTn dur="1" fill="hold" display="0" masterRel="nextClick" afterEffect="1"/>
                                        <p:tgtEl>
                                          <p:spTgt spid="178232"/>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nodeType="clickEffect">
                                  <p:stCondLst>
                                    <p:cond delay="0"/>
                                  </p:stCondLst>
                                  <p:childTnLst>
                                    <p:set>
                                      <p:cBhvr>
                                        <p:cTn id="22" dur="1" fill="hold">
                                          <p:stCondLst>
                                            <p:cond delay="0"/>
                                          </p:stCondLst>
                                        </p:cTn>
                                        <p:tgtEl>
                                          <p:spTgt spid="178203"/>
                                        </p:tgtEl>
                                        <p:attrNameLst>
                                          <p:attrName>style.visibility</p:attrName>
                                        </p:attrNameLst>
                                      </p:cBhvr>
                                      <p:to>
                                        <p:strVal val="visible"/>
                                      </p:to>
                                    </p:set>
                                    <p:anim calcmode="lin" valueType="num">
                                      <p:cBhvr>
                                        <p:cTn id="23" dur="1000" fill="hold"/>
                                        <p:tgtEl>
                                          <p:spTgt spid="178203"/>
                                        </p:tgtEl>
                                        <p:attrNameLst>
                                          <p:attrName>ppt_w</p:attrName>
                                        </p:attrNameLst>
                                      </p:cBhvr>
                                      <p:tavLst>
                                        <p:tav tm="0">
                                          <p:val>
                                            <p:fltVal val="0"/>
                                          </p:val>
                                        </p:tav>
                                        <p:tav tm="100000">
                                          <p:val>
                                            <p:strVal val="#ppt_w"/>
                                          </p:val>
                                        </p:tav>
                                      </p:tavLst>
                                    </p:anim>
                                    <p:anim calcmode="lin" valueType="num">
                                      <p:cBhvr>
                                        <p:cTn id="24" dur="1000" fill="hold"/>
                                        <p:tgtEl>
                                          <p:spTgt spid="178203"/>
                                        </p:tgtEl>
                                        <p:attrNameLst>
                                          <p:attrName>ppt_h</p:attrName>
                                        </p:attrNameLst>
                                      </p:cBhvr>
                                      <p:tavLst>
                                        <p:tav tm="0">
                                          <p:val>
                                            <p:fltVal val="0"/>
                                          </p:val>
                                        </p:tav>
                                        <p:tav tm="100000">
                                          <p:val>
                                            <p:strVal val="#ppt_h"/>
                                          </p:val>
                                        </p:tav>
                                      </p:tavLst>
                                    </p:anim>
                                    <p:anim calcmode="lin" valueType="num">
                                      <p:cBhvr>
                                        <p:cTn id="25" dur="1000" fill="hold"/>
                                        <p:tgtEl>
                                          <p:spTgt spid="178203"/>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7820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37</a:t>
            </a: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11502" y="531116"/>
            <a:ext cx="9144000" cy="588046"/>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5.3.3 </a:t>
            </a:r>
            <a:r>
              <a:rPr lang="en-US" sz="1900" b="1" dirty="0">
                <a:solidFill>
                  <a:schemeClr val="tx2"/>
                </a:solidFill>
                <a:latin typeface="Times New Roman" pitchFamily="18" charset="0"/>
                <a:cs typeface="Times New Roman" pitchFamily="18" charset="0"/>
              </a:rPr>
              <a:t>K-map method</a:t>
            </a:r>
            <a:r>
              <a:rPr lang="en-US" altLang="en-US" sz="1900" dirty="0">
                <a:solidFill>
                  <a:schemeClr val="tx2"/>
                </a:solidFill>
                <a:latin typeface="Times New Roman" pitchFamily="18" charset="0"/>
                <a:cs typeface="Times New Roman" pitchFamily="18" charset="0"/>
              </a:rPr>
              <a:t>:</a:t>
            </a:r>
            <a:endParaRPr 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3" name="Picture 2">
            <a:extLst>
              <a:ext uri="{FF2B5EF4-FFF2-40B4-BE49-F238E27FC236}">
                <a16:creationId xmlns:a16="http://schemas.microsoft.com/office/drawing/2014/main" id="{7D782FC1-24E1-75CA-96D1-D4C2CA2E341A}"/>
              </a:ext>
            </a:extLst>
          </p:cNvPr>
          <p:cNvPicPr>
            <a:picLocks noChangeAspect="1"/>
          </p:cNvPicPr>
          <p:nvPr/>
        </p:nvPicPr>
        <p:blipFill rotWithShape="1">
          <a:blip r:embed="rId4"/>
          <a:srcRect b="4859"/>
          <a:stretch/>
        </p:blipFill>
        <p:spPr>
          <a:xfrm>
            <a:off x="0" y="1078158"/>
            <a:ext cx="8493752" cy="5423371"/>
          </a:xfrm>
          <a:prstGeom prst="rect">
            <a:avLst/>
          </a:prstGeom>
        </p:spPr>
      </p:pic>
    </p:spTree>
    <p:extLst>
      <p:ext uri="{BB962C8B-B14F-4D97-AF65-F5344CB8AC3E}">
        <p14:creationId xmlns:p14="http://schemas.microsoft.com/office/powerpoint/2010/main" val="280267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646331"/>
          </a:xfrm>
          <a:prstGeom prst="rect">
            <a:avLst/>
          </a:prstGeom>
        </p:spPr>
        <p:txBody>
          <a:bodyPr wrap="none">
            <a:spAutoFit/>
          </a:bodyPr>
          <a:lstStyle/>
          <a:p>
            <a:r>
              <a:rPr lang="en-US">
                <a:solidFill>
                  <a:schemeClr val="bg1"/>
                </a:solidFill>
                <a:latin typeface="Times New Roman" pitchFamily="18" charset="0"/>
                <a:cs typeface="Times New Roman" pitchFamily="18" charset="0"/>
              </a:rPr>
              <a:t>38</a:t>
            </a:r>
            <a:endParaRPr lang="en-US" dirty="0">
              <a:solidFill>
                <a:schemeClr val="bg1"/>
              </a:solidFill>
              <a:latin typeface="Times New Roman" pitchFamily="18" charset="0"/>
              <a:cs typeface="Times New Roman" pitchFamily="18" charset="0"/>
            </a:endParaRPr>
          </a:p>
          <a:p>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25879" y="15041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5.3. MINIMIZATION OF BOOLEAN FUNCTIONS.</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11502" y="531116"/>
            <a:ext cx="9144000" cy="588046"/>
          </a:xfrm>
          <a:prstGeom prst="rect">
            <a:avLst/>
          </a:prstGeom>
          <a:noFill/>
          <a:ln w="9525">
            <a:noFill/>
            <a:miter lim="800000"/>
            <a:headEnd/>
            <a:tailEnd/>
          </a:ln>
        </p:spPr>
        <p:txBody>
          <a:bodyPr wrap="square">
            <a:spAutoFit/>
          </a:bodyPr>
          <a:lstStyle/>
          <a:p>
            <a:pPr algn="just">
              <a:lnSpc>
                <a:spcPct val="200000"/>
              </a:lnSpc>
              <a:defRPr/>
            </a:pPr>
            <a:r>
              <a:rPr lang="en-US" altLang="en-US" sz="1900" b="1" dirty="0">
                <a:solidFill>
                  <a:schemeClr val="tx2"/>
                </a:solidFill>
                <a:latin typeface="Times New Roman" pitchFamily="18" charset="0"/>
                <a:cs typeface="Times New Roman" pitchFamily="18" charset="0"/>
              </a:rPr>
              <a:t>5.3.3 </a:t>
            </a:r>
            <a:r>
              <a:rPr lang="en-US" sz="1900" b="1" dirty="0">
                <a:solidFill>
                  <a:schemeClr val="tx2"/>
                </a:solidFill>
                <a:latin typeface="Times New Roman" pitchFamily="18" charset="0"/>
                <a:cs typeface="Times New Roman" pitchFamily="18" charset="0"/>
              </a:rPr>
              <a:t>K-map method</a:t>
            </a:r>
            <a:r>
              <a:rPr lang="en-US" altLang="en-US" sz="1900" dirty="0">
                <a:solidFill>
                  <a:schemeClr val="tx2"/>
                </a:solidFill>
                <a:latin typeface="Times New Roman" pitchFamily="18" charset="0"/>
                <a:cs typeface="Times New Roman" pitchFamily="18" charset="0"/>
              </a:rPr>
              <a:t>:</a:t>
            </a:r>
            <a:endParaRPr lang="en-US" sz="1900" dirty="0">
              <a:solidFill>
                <a:schemeClr val="tx2"/>
              </a:solidFill>
              <a:latin typeface="Times New Roman" pitchFamily="18" charset="0"/>
              <a:cs typeface="Times New Roman" pitchFamily="18" charset="0"/>
            </a:endParaRPr>
          </a:p>
        </p:txBody>
      </p:sp>
      <p:grpSp>
        <p:nvGrpSpPr>
          <p:cNvPr id="17" name="Group 29">
            <a:extLst>
              <a:ext uri="{FF2B5EF4-FFF2-40B4-BE49-F238E27FC236}">
                <a16:creationId xmlns:a16="http://schemas.microsoft.com/office/drawing/2014/main" id="{56BDBB76-6CB3-0BC5-5805-C6AB693AEF17}"/>
              </a:ext>
            </a:extLst>
          </p:cNvPr>
          <p:cNvGrpSpPr>
            <a:grpSpLocks/>
          </p:cNvGrpSpPr>
          <p:nvPr/>
        </p:nvGrpSpPr>
        <p:grpSpPr bwMode="auto">
          <a:xfrm>
            <a:off x="1981200" y="3484"/>
            <a:ext cx="4930775" cy="0"/>
            <a:chOff x="1248" y="3484"/>
            <a:chExt cx="3106" cy="0"/>
          </a:xfrm>
        </p:grpSpPr>
        <p:sp>
          <p:nvSpPr>
            <p:cNvPr id="19" name="Line 25">
              <a:extLst>
                <a:ext uri="{FF2B5EF4-FFF2-40B4-BE49-F238E27FC236}">
                  <a16:creationId xmlns:a16="http://schemas.microsoft.com/office/drawing/2014/main" id="{6C937EF9-B6FD-0914-EB87-41E7163AC39C}"/>
                </a:ext>
              </a:extLst>
            </p:cNvPr>
            <p:cNvSpPr>
              <a:spLocks noChangeShapeType="1"/>
            </p:cNvSpPr>
            <p:nvPr/>
          </p:nvSpPr>
          <p:spPr bwMode="auto">
            <a:xfrm>
              <a:off x="3072"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6">
              <a:extLst>
                <a:ext uri="{FF2B5EF4-FFF2-40B4-BE49-F238E27FC236}">
                  <a16:creationId xmlns:a16="http://schemas.microsoft.com/office/drawing/2014/main" id="{6365072A-B383-50BA-673A-9E69581C75E5}"/>
                </a:ext>
              </a:extLst>
            </p:cNvPr>
            <p:cNvSpPr>
              <a:spLocks noChangeShapeType="1"/>
            </p:cNvSpPr>
            <p:nvPr/>
          </p:nvSpPr>
          <p:spPr bwMode="auto">
            <a:xfrm>
              <a:off x="425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7">
              <a:extLst>
                <a:ext uri="{FF2B5EF4-FFF2-40B4-BE49-F238E27FC236}">
                  <a16:creationId xmlns:a16="http://schemas.microsoft.com/office/drawing/2014/main" id="{BDACEB4B-65B3-6347-F98F-68C8496A9818}"/>
                </a:ext>
              </a:extLst>
            </p:cNvPr>
            <p:cNvSpPr>
              <a:spLocks noChangeShapeType="1"/>
            </p:cNvSpPr>
            <p:nvPr/>
          </p:nvSpPr>
          <p:spPr bwMode="auto">
            <a:xfrm>
              <a:off x="1248" y="3484"/>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5" name="Picture 4">
            <a:extLst>
              <a:ext uri="{FF2B5EF4-FFF2-40B4-BE49-F238E27FC236}">
                <a16:creationId xmlns:a16="http://schemas.microsoft.com/office/drawing/2014/main" id="{8CC976B3-BC6E-D830-D7DD-EB7B455F4E9B}"/>
              </a:ext>
            </a:extLst>
          </p:cNvPr>
          <p:cNvPicPr>
            <a:picLocks noChangeAspect="1"/>
          </p:cNvPicPr>
          <p:nvPr/>
        </p:nvPicPr>
        <p:blipFill>
          <a:blip r:embed="rId4"/>
          <a:stretch>
            <a:fillRect/>
          </a:stretch>
        </p:blipFill>
        <p:spPr>
          <a:xfrm>
            <a:off x="35943" y="1119162"/>
            <a:ext cx="9220800" cy="5207722"/>
          </a:xfrm>
          <a:prstGeom prst="rect">
            <a:avLst/>
          </a:prstGeom>
        </p:spPr>
      </p:pic>
    </p:spTree>
    <p:extLst>
      <p:ext uri="{BB962C8B-B14F-4D97-AF65-F5344CB8AC3E}">
        <p14:creationId xmlns:p14="http://schemas.microsoft.com/office/powerpoint/2010/main" val="112956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678078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Diamonds 02.p3d"/>
  <p:tag name="POWER3D TITLE SOUND" val="Synthesizer"/>
  <p:tag name="POWER3D TITLE OPTIONS" val="0 -1 158644 Reverse"/>
  <p:tag name="POWER3D TEXT0" val="The Science of Electronics"/>
  <p:tag name="POWER3D FONT0" val="Arial"/>
  <p:tag name="POWER3D TITLE OPTIONS0" val="1 1 0 100"/>
  <p:tag name="POWER3D TEXT1" val="Digital"/>
  <p:tag name="POWER3D FONT1" val="Arial"/>
  <p:tag name="POWER3D TITLE OPTIONS1" val="1 1 0 100"/>
</p:tagLst>
</file>

<file path=ppt/tags/tag2.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Diamonds 02.p3d"/>
  <p:tag name="POWER3D TITLE SOUND" val="Synthesizer"/>
  <p:tag name="POWER3D TITLE OPTIONS" val="0 -1 158644 Reverse"/>
  <p:tag name="POWER3D TEXT0" val="The Science of Electronics"/>
  <p:tag name="POWER3D FONT0" val="Arial"/>
  <p:tag name="POWER3D TITLE OPTIONS0" val="1 1 0 100"/>
  <p:tag name="POWER3D TEXT1" val="Digital"/>
  <p:tag name="POWER3D FONT1" val="Arial"/>
  <p:tag name="POWER3D TITLE OPTIONS1" val="1 1 0 100"/>
</p:tagLst>
</file>

<file path=ppt/tags/tag3.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Diamonds 02.p3d"/>
  <p:tag name="POWER3D TITLE SOUND" val="Synthesizer"/>
  <p:tag name="POWER3D TITLE OPTIONS" val="0 -1 158644 Reverse"/>
  <p:tag name="POWER3D TEXT0" val="The Science of Electronics"/>
  <p:tag name="POWER3D FONT0" val="Arial"/>
  <p:tag name="POWER3D TITLE OPTIONS0" val="1 1 0 100"/>
  <p:tag name="POWER3D TEXT1" val="Digital"/>
  <p:tag name="POWER3D FONT1" val="Arial"/>
  <p:tag name="POWER3D TITLE OPTIONS1" val="1 1 0 100"/>
</p:tagLst>
</file>

<file path=ppt/tags/tag4.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Diamonds 02.p3d"/>
  <p:tag name="POWER3D TITLE SOUND" val="Synthesizer"/>
  <p:tag name="POWER3D TITLE OPTIONS" val="0 -1 158644 Reverse"/>
  <p:tag name="POWER3D TEXT0" val="The Science of Electronics"/>
  <p:tag name="POWER3D FONT0" val="Arial"/>
  <p:tag name="POWER3D TITLE OPTIONS0" val="1 1 0 100"/>
  <p:tag name="POWER3D TEXT1" val="Digital"/>
  <p:tag name="POWER3D FONT1" val="Arial"/>
  <p:tag name="POWER3D TITLE OPTIONS1" val="1 1 0 100"/>
</p:tagLst>
</file>

<file path=ppt/tags/tag5.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Diamonds 02.p3d"/>
  <p:tag name="POWER3D TITLE SOUND" val="Synthesizer"/>
  <p:tag name="POWER3D TITLE OPTIONS" val="0 -1 158644 Reverse"/>
  <p:tag name="POWER3D TEXT0" val="The Science of Electronics"/>
  <p:tag name="POWER3D FONT0" val="Arial"/>
  <p:tag name="POWER3D TITLE OPTIONS0" val="1 1 0 100"/>
  <p:tag name="POWER3D TEXT1" val="Digital"/>
  <p:tag name="POWER3D FONT1" val="Arial"/>
  <p:tag name="POWER3D TITLE OPTIONS1" val="1 1 0 100"/>
</p:tagLst>
</file>

<file path=ppt/tags/tag6.xml><?xml version="1.0" encoding="utf-8"?>
<p:tagLst xmlns:a="http://schemas.openxmlformats.org/drawingml/2006/main" xmlns:r="http://schemas.openxmlformats.org/officeDocument/2006/relationships" xmlns:p="http://schemas.openxmlformats.org/presentationml/2006/main">
  <p:tag name="POWER3D TITLE" val="C:\Program Files\PowerPlugs\3D Titles\Volume I\\Diamonds 02.p3d"/>
  <p:tag name="POWER3D TITLE SOUND" val="Synthesizer"/>
  <p:tag name="POWER3D TITLE OPTIONS" val="0 -1 158644 Reverse"/>
  <p:tag name="POWER3D TEXT0" val="The Science of Electronics"/>
  <p:tag name="POWER3D FONT0" val="Arial"/>
  <p:tag name="POWER3D TITLE OPTIONS0" val="1 1 0 100"/>
  <p:tag name="POWER3D TEXT1" val="Digital"/>
  <p:tag name="POWER3D FONT1" val="Arial"/>
  <p:tag name="POWER3D TITLE OPTIONS1" val="1 1 0 10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53817</TotalTime>
  <Words>2526</Words>
  <Application>Microsoft Office PowerPoint</Application>
  <PresentationFormat>On-screen Show (4:3)</PresentationFormat>
  <Paragraphs>333</Paragraphs>
  <Slides>39</Slides>
  <Notes>39</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48" baseType="lpstr">
      <vt:lpstr>Arial</vt:lpstr>
      <vt:lpstr>Calibri</vt:lpstr>
      <vt:lpstr>Cambria Math</vt:lpstr>
      <vt:lpstr>Impact</vt:lpstr>
      <vt:lpstr>Söhne</vt:lpstr>
      <vt:lpstr>Times New Roman</vt:lpstr>
      <vt:lpstr>Office Theme</vt:lpstr>
      <vt:lpstr>CorelDRAW 12.0 Graphic</vt:lpstr>
      <vt:lpstr>CorelDRAW X3 Graphic</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     </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Nguyên  Lê Phú</cp:lastModifiedBy>
  <cp:revision>840</cp:revision>
  <cp:lastPrinted>2019-07-29T14:20:40Z</cp:lastPrinted>
  <dcterms:created xsi:type="dcterms:W3CDTF">2010-12-10T06:50:09Z</dcterms:created>
  <dcterms:modified xsi:type="dcterms:W3CDTF">2023-08-14T16:37:48Z</dcterms:modified>
</cp:coreProperties>
</file>