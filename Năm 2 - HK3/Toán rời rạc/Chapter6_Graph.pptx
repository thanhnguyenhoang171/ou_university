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101"/>
  </p:notesMasterIdLst>
  <p:handoutMasterIdLst>
    <p:handoutMasterId r:id="rId102"/>
  </p:handoutMasterIdLst>
  <p:sldIdLst>
    <p:sldId id="258" r:id="rId2"/>
    <p:sldId id="336" r:id="rId3"/>
    <p:sldId id="372" r:id="rId4"/>
    <p:sldId id="488" r:id="rId5"/>
    <p:sldId id="489" r:id="rId6"/>
    <p:sldId id="490" r:id="rId7"/>
    <p:sldId id="491" r:id="rId8"/>
    <p:sldId id="481" r:id="rId9"/>
    <p:sldId id="480" r:id="rId10"/>
    <p:sldId id="492" r:id="rId11"/>
    <p:sldId id="493" r:id="rId12"/>
    <p:sldId id="494" r:id="rId13"/>
    <p:sldId id="495" r:id="rId14"/>
    <p:sldId id="496" r:id="rId15"/>
    <p:sldId id="497" r:id="rId16"/>
    <p:sldId id="505" r:id="rId17"/>
    <p:sldId id="500" r:id="rId18"/>
    <p:sldId id="502" r:id="rId19"/>
    <p:sldId id="501" r:id="rId20"/>
    <p:sldId id="503" r:id="rId21"/>
    <p:sldId id="504" r:id="rId22"/>
    <p:sldId id="506" r:id="rId23"/>
    <p:sldId id="539" r:id="rId24"/>
    <p:sldId id="540" r:id="rId25"/>
    <p:sldId id="541" r:id="rId26"/>
    <p:sldId id="542" r:id="rId27"/>
    <p:sldId id="543" r:id="rId28"/>
    <p:sldId id="544" r:id="rId29"/>
    <p:sldId id="545" r:id="rId30"/>
    <p:sldId id="546" r:id="rId31"/>
    <p:sldId id="547" r:id="rId32"/>
    <p:sldId id="548" r:id="rId33"/>
    <p:sldId id="549" r:id="rId34"/>
    <p:sldId id="550" r:id="rId35"/>
    <p:sldId id="552" r:id="rId36"/>
    <p:sldId id="551" r:id="rId37"/>
    <p:sldId id="554" r:id="rId38"/>
    <p:sldId id="555" r:id="rId39"/>
    <p:sldId id="553" r:id="rId40"/>
    <p:sldId id="556" r:id="rId41"/>
    <p:sldId id="557" r:id="rId42"/>
    <p:sldId id="558" r:id="rId43"/>
    <p:sldId id="559" r:id="rId44"/>
    <p:sldId id="560" r:id="rId45"/>
    <p:sldId id="561" r:id="rId46"/>
    <p:sldId id="562" r:id="rId47"/>
    <p:sldId id="563" r:id="rId48"/>
    <p:sldId id="564" r:id="rId49"/>
    <p:sldId id="565" r:id="rId50"/>
    <p:sldId id="566" r:id="rId51"/>
    <p:sldId id="567" r:id="rId52"/>
    <p:sldId id="569" r:id="rId53"/>
    <p:sldId id="568" r:id="rId54"/>
    <p:sldId id="570" r:id="rId55"/>
    <p:sldId id="571" r:id="rId56"/>
    <p:sldId id="607" r:id="rId57"/>
    <p:sldId id="608" r:id="rId58"/>
    <p:sldId id="609" r:id="rId59"/>
    <p:sldId id="610" r:id="rId60"/>
    <p:sldId id="612" r:id="rId61"/>
    <p:sldId id="611" r:id="rId62"/>
    <p:sldId id="613" r:id="rId63"/>
    <p:sldId id="614" r:id="rId64"/>
    <p:sldId id="615" r:id="rId65"/>
    <p:sldId id="616" r:id="rId66"/>
    <p:sldId id="617" r:id="rId67"/>
    <p:sldId id="618" r:id="rId68"/>
    <p:sldId id="619" r:id="rId69"/>
    <p:sldId id="620" r:id="rId70"/>
    <p:sldId id="621" r:id="rId71"/>
    <p:sldId id="622" r:id="rId72"/>
    <p:sldId id="623" r:id="rId73"/>
    <p:sldId id="600" r:id="rId74"/>
    <p:sldId id="601" r:id="rId75"/>
    <p:sldId id="624" r:id="rId76"/>
    <p:sldId id="603" r:id="rId77"/>
    <p:sldId id="637" r:id="rId78"/>
    <p:sldId id="625" r:id="rId79"/>
    <p:sldId id="639" r:id="rId80"/>
    <p:sldId id="640" r:id="rId81"/>
    <p:sldId id="641" r:id="rId82"/>
    <p:sldId id="642" r:id="rId83"/>
    <p:sldId id="643" r:id="rId84"/>
    <p:sldId id="644" r:id="rId85"/>
    <p:sldId id="646" r:id="rId86"/>
    <p:sldId id="647" r:id="rId87"/>
    <p:sldId id="648" r:id="rId88"/>
    <p:sldId id="626" r:id="rId89"/>
    <p:sldId id="627" r:id="rId90"/>
    <p:sldId id="628" r:id="rId91"/>
    <p:sldId id="629" r:id="rId92"/>
    <p:sldId id="650" r:id="rId93"/>
    <p:sldId id="649" r:id="rId94"/>
    <p:sldId id="651" r:id="rId95"/>
    <p:sldId id="652" r:id="rId96"/>
    <p:sldId id="653" r:id="rId97"/>
    <p:sldId id="632" r:id="rId98"/>
    <p:sldId id="654" r:id="rId99"/>
    <p:sldId id="353" r:id="rId10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6374" autoAdjust="0"/>
  </p:normalViewPr>
  <p:slideViewPr>
    <p:cSldViewPr>
      <p:cViewPr varScale="1">
        <p:scale>
          <a:sx n="111" d="100"/>
          <a:sy n="111" d="100"/>
        </p:scale>
        <p:origin x="1584" y="102"/>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8/31/2023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8/31/2023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vi.wikipedia.org/wiki/D%C6%B0%C6%A1ng"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19887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110743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629079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41366778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756659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2021967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2308665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3743969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2025107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103158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3272413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chemeClr val="tx2"/>
                </a:solidFill>
                <a:latin typeface="Times New Roman" pitchFamily="18" charset="0"/>
                <a:cs typeface="Times New Roman" pitchFamily="18" charset="0"/>
              </a:rPr>
              <a:t>To avoid ambiguity, this type of object may be called precisely an undirected simple graph..</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30994667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2678709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err="1"/>
              <a:t>Tại</a:t>
            </a:r>
            <a:r>
              <a:rPr lang="en-US" altLang="en-US" dirty="0"/>
              <a:t> </a:t>
            </a:r>
            <a:r>
              <a:rPr lang="en-US" altLang="en-US" dirty="0" err="1"/>
              <a:t>sao</a:t>
            </a:r>
            <a:r>
              <a:rPr lang="en-US" altLang="en-US" dirty="0"/>
              <a:t> </a:t>
            </a:r>
            <a:r>
              <a:rPr lang="en-US" altLang="en-US" dirty="0" err="1"/>
              <a:t>phải</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a:t>
            </a:r>
          </a:p>
          <a:p>
            <a:pPr lvl="1"/>
            <a:r>
              <a:rPr lang="en-US" altLang="en-US" dirty="0"/>
              <a:t>Lý </a:t>
            </a:r>
            <a:r>
              <a:rPr lang="en-US" altLang="en-US" dirty="0" err="1"/>
              <a:t>thuyết</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ngày</a:t>
            </a:r>
            <a:r>
              <a:rPr lang="en-US" altLang="en-US" dirty="0"/>
              <a:t> </a:t>
            </a:r>
            <a:r>
              <a:rPr lang="en-US" altLang="en-US" dirty="0" err="1"/>
              <a:t>càng</a:t>
            </a:r>
            <a:r>
              <a:rPr lang="en-US" altLang="en-US" dirty="0"/>
              <a:t> </a:t>
            </a:r>
            <a:r>
              <a:rPr lang="en-US" altLang="en-US" dirty="0" err="1"/>
              <a:t>được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rộng</a:t>
            </a:r>
            <a:r>
              <a:rPr lang="en-US" altLang="en-US" dirty="0"/>
              <a:t> </a:t>
            </a:r>
            <a:r>
              <a:rPr lang="en-US" altLang="en-US" dirty="0" err="1"/>
              <a:t>rãi</a:t>
            </a:r>
            <a:r>
              <a:rPr lang="en-US" altLang="en-US" dirty="0"/>
              <a:t>.</a:t>
            </a:r>
          </a:p>
          <a:p>
            <a:pPr lvl="1"/>
            <a:r>
              <a:rPr lang="en-US" altLang="en-US" dirty="0" err="1"/>
              <a:t>Để</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của</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thì</a:t>
            </a:r>
            <a:r>
              <a:rPr lang="en-US" altLang="en-US" dirty="0"/>
              <a:t> </a:t>
            </a:r>
            <a:r>
              <a:rPr lang="en-US" altLang="en-US" dirty="0" err="1"/>
              <a:t>cần</a:t>
            </a:r>
            <a:r>
              <a:rPr lang="en-US" altLang="en-US" dirty="0"/>
              <a:t> </a:t>
            </a:r>
            <a:r>
              <a:rPr lang="en-US" altLang="en-US" dirty="0" err="1"/>
              <a:t>phải</a:t>
            </a:r>
            <a:r>
              <a:rPr lang="en-US" altLang="en-US" dirty="0"/>
              <a:t> </a:t>
            </a:r>
            <a:r>
              <a:rPr lang="en-US" altLang="en-US" dirty="0" err="1"/>
              <a:t>tìm</a:t>
            </a:r>
            <a:r>
              <a:rPr lang="en-US" altLang="en-US" dirty="0"/>
              <a:t> </a:t>
            </a:r>
            <a:r>
              <a:rPr lang="en-US" altLang="en-US" dirty="0" err="1"/>
              <a:t>cách</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r>
              <a:rPr lang="en-US" altLang="en-US" dirty="0" err="1"/>
              <a:t>thích</a:t>
            </a:r>
            <a:r>
              <a:rPr lang="en-US" altLang="en-US" dirty="0"/>
              <a:t> </a:t>
            </a:r>
            <a:r>
              <a:rPr lang="en-US" altLang="en-US" dirty="0" err="1"/>
              <a:t>hợp</a:t>
            </a:r>
            <a:r>
              <a:rPr lang="en-US" altLang="en-US" dirty="0"/>
              <a:t>.</a:t>
            </a:r>
          </a:p>
          <a:p>
            <a:pPr lvl="1"/>
            <a:r>
              <a:rPr lang="en-US" altLang="en-US" dirty="0" err="1"/>
              <a:t>Máy</a:t>
            </a:r>
            <a:r>
              <a:rPr lang="en-US" altLang="en-US" dirty="0"/>
              <a:t> </a:t>
            </a:r>
            <a:r>
              <a:rPr lang="en-US" altLang="en-US" dirty="0" err="1"/>
              <a:t>tính</a:t>
            </a:r>
            <a:r>
              <a:rPr lang="en-US" altLang="en-US" dirty="0"/>
              <a:t> </a:t>
            </a:r>
            <a:r>
              <a:rPr lang="en-US" altLang="en-US" dirty="0" err="1"/>
              <a:t>không</a:t>
            </a:r>
            <a:r>
              <a:rPr lang="en-US" altLang="en-US" dirty="0"/>
              <a:t> </a:t>
            </a:r>
            <a:r>
              <a:rPr lang="en-US" altLang="en-US" dirty="0" err="1"/>
              <a:t>thể</a:t>
            </a:r>
            <a:r>
              <a:rPr lang="en-US" altLang="en-US" dirty="0"/>
              <a:t> </a:t>
            </a:r>
            <a:r>
              <a:rPr lang="en-US" altLang="en-US" dirty="0" err="1"/>
              <a:t>hiểu</a:t>
            </a:r>
            <a:r>
              <a:rPr lang="en-US" altLang="en-US" dirty="0"/>
              <a:t> </a:t>
            </a:r>
            <a:r>
              <a:rPr lang="en-US" altLang="en-US" dirty="0" err="1"/>
              <a:t>được</a:t>
            </a:r>
            <a:r>
              <a:rPr lang="en-US" altLang="en-US" dirty="0"/>
              <a:t> </a:t>
            </a:r>
            <a:r>
              <a:rPr lang="en-US" altLang="en-US" dirty="0" err="1"/>
              <a:t>các</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dưới</a:t>
            </a:r>
            <a:r>
              <a:rPr lang="en-US" altLang="en-US" dirty="0"/>
              <a:t> </a:t>
            </a:r>
            <a:r>
              <a:rPr lang="en-US" altLang="en-US" dirty="0" err="1"/>
              <a:t>dạng</a:t>
            </a:r>
            <a:r>
              <a:rPr lang="en-US" altLang="en-US" dirty="0"/>
              <a:t> </a:t>
            </a:r>
            <a:r>
              <a:rPr lang="en-US" altLang="en-US" dirty="0" err="1"/>
              <a:t>hình</a:t>
            </a:r>
            <a:r>
              <a:rPr lang="en-US" altLang="en-US" dirty="0"/>
              <a:t> </a:t>
            </a:r>
            <a:r>
              <a:rPr lang="en-US" altLang="en-US" dirty="0" err="1"/>
              <a:t>vẽ</a:t>
            </a:r>
            <a:r>
              <a:rPr lang="en-US" altLang="en-US" dirty="0"/>
              <a:t> </a:t>
            </a:r>
            <a:r>
              <a:rPr lang="en-US" altLang="en-US" dirty="0" err="1"/>
              <a:t>thông</a:t>
            </a:r>
            <a:r>
              <a:rPr lang="en-US" altLang="en-US" dirty="0"/>
              <a:t> </a:t>
            </a:r>
            <a:r>
              <a:rPr lang="en-US" altLang="en-US" dirty="0" err="1"/>
              <a:t>thường</a:t>
            </a:r>
            <a:r>
              <a:rPr lang="en-US" altLang="en-US" dirty="0"/>
              <a:t>.</a:t>
            </a:r>
          </a:p>
          <a:p>
            <a:r>
              <a:rPr lang="en-US" altLang="en-US" dirty="0" err="1"/>
              <a:t>Tiêu</a:t>
            </a:r>
            <a:r>
              <a:rPr lang="en-US" altLang="en-US" dirty="0"/>
              <a:t> </a:t>
            </a:r>
            <a:r>
              <a:rPr lang="en-US" altLang="en-US" dirty="0" err="1"/>
              <a:t>chuẩn</a:t>
            </a:r>
            <a:r>
              <a:rPr lang="en-US" altLang="en-US" dirty="0"/>
              <a:t> </a:t>
            </a:r>
            <a:r>
              <a:rPr lang="en-US" altLang="en-US" dirty="0" err="1"/>
              <a:t>để</a:t>
            </a:r>
            <a:r>
              <a:rPr lang="en-US" altLang="en-US" dirty="0"/>
              <a:t> </a:t>
            </a:r>
            <a:r>
              <a:rPr lang="en-US" altLang="en-US" dirty="0" err="1"/>
              <a:t>lựa</a:t>
            </a:r>
            <a:r>
              <a:rPr lang="en-US" altLang="en-US" dirty="0"/>
              <a:t> </a:t>
            </a:r>
            <a:r>
              <a:rPr lang="en-US" altLang="en-US" dirty="0" err="1"/>
              <a:t>chọn</a:t>
            </a:r>
            <a:r>
              <a:rPr lang="en-US" altLang="en-US" dirty="0"/>
              <a:t> </a:t>
            </a:r>
            <a:r>
              <a:rPr lang="en-US" altLang="en-US" dirty="0" err="1"/>
              <a:t>cách</a:t>
            </a:r>
            <a:r>
              <a:rPr lang="en-US" altLang="en-US" dirty="0"/>
              <a:t> </a:t>
            </a:r>
            <a:r>
              <a:rPr lang="en-US" altLang="en-US" dirty="0" err="1"/>
              <a:t>thức</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đồ</a:t>
            </a:r>
            <a:r>
              <a:rPr lang="en-US" altLang="en-US" dirty="0"/>
              <a:t> </a:t>
            </a:r>
            <a:r>
              <a:rPr lang="en-US" altLang="en-US" dirty="0" err="1"/>
              <a:t>thị</a:t>
            </a:r>
            <a:r>
              <a:rPr lang="en-US" altLang="en-US" dirty="0"/>
              <a:t> </a:t>
            </a:r>
            <a:r>
              <a:rPr lang="en-US" altLang="en-US" dirty="0" err="1"/>
              <a:t>trên</a:t>
            </a:r>
            <a:r>
              <a:rPr lang="en-US" altLang="en-US" dirty="0"/>
              <a:t> </a:t>
            </a:r>
            <a:r>
              <a:rPr lang="en-US" altLang="en-US" dirty="0" err="1"/>
              <a:t>máy</a:t>
            </a:r>
            <a:r>
              <a:rPr lang="en-US" altLang="en-US" dirty="0"/>
              <a:t> </a:t>
            </a:r>
            <a:r>
              <a:rPr lang="en-US" altLang="en-US" dirty="0" err="1"/>
              <a:t>tính</a:t>
            </a:r>
            <a:r>
              <a:rPr lang="en-US" altLang="en-US" dirty="0"/>
              <a:t>? </a:t>
            </a:r>
          </a:p>
          <a:p>
            <a:pPr lvl="1"/>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phải</a:t>
            </a:r>
            <a:r>
              <a:rPr lang="en-US" altLang="en-US" dirty="0"/>
              <a:t> </a:t>
            </a:r>
            <a:r>
              <a:rPr lang="en-US" altLang="en-US" dirty="0" err="1"/>
              <a:t>đơn</a:t>
            </a:r>
            <a:r>
              <a:rPr lang="en-US" altLang="en-US" dirty="0"/>
              <a:t> </a:t>
            </a:r>
            <a:r>
              <a:rPr lang="en-US" altLang="en-US" dirty="0" err="1"/>
              <a:t>giản</a:t>
            </a:r>
            <a:r>
              <a:rPr lang="en-US" altLang="en-US" dirty="0"/>
              <a:t>, </a:t>
            </a:r>
            <a:r>
              <a:rPr lang="en-US" altLang="en-US" dirty="0" err="1"/>
              <a:t>phù</a:t>
            </a:r>
            <a:r>
              <a:rPr lang="en-US" altLang="en-US" dirty="0"/>
              <a:t> </a:t>
            </a:r>
            <a:r>
              <a:rPr lang="en-US" altLang="en-US" dirty="0" err="1"/>
              <a:t>hợp</a:t>
            </a:r>
            <a:r>
              <a:rPr lang="en-US" altLang="en-US" dirty="0"/>
              <a:t> </a:t>
            </a:r>
            <a:r>
              <a:rPr lang="en-US" altLang="en-US" dirty="0" err="1"/>
              <a:t>với</a:t>
            </a:r>
            <a:r>
              <a:rPr lang="en-US" altLang="en-US" dirty="0"/>
              <a:t> </a:t>
            </a:r>
            <a:r>
              <a:rPr lang="en-US" altLang="en-US" dirty="0" err="1"/>
              <a:t>từng</a:t>
            </a:r>
            <a:r>
              <a:rPr lang="en-US" altLang="en-US" dirty="0"/>
              <a:t> </a:t>
            </a:r>
            <a:r>
              <a:rPr lang="en-US" altLang="en-US" dirty="0" err="1"/>
              <a:t>bài</a:t>
            </a:r>
            <a:r>
              <a:rPr lang="en-US" altLang="en-US" dirty="0"/>
              <a:t> </a:t>
            </a:r>
            <a:r>
              <a:rPr lang="en-US" altLang="en-US" dirty="0" err="1"/>
              <a:t>toán</a:t>
            </a:r>
            <a:r>
              <a:rPr lang="en-US" altLang="en-US" dirty="0"/>
              <a:t> </a:t>
            </a:r>
            <a:r>
              <a:rPr lang="en-US" altLang="en-US" dirty="0" err="1"/>
              <a:t>ứng</a:t>
            </a:r>
            <a:r>
              <a:rPr lang="en-US" altLang="en-US" dirty="0"/>
              <a:t> </a:t>
            </a:r>
            <a:r>
              <a:rPr lang="en-US" altLang="en-US" dirty="0" err="1"/>
              <a:t>dụng</a:t>
            </a:r>
            <a:r>
              <a:rPr lang="en-US" altLang="en-US" dirty="0"/>
              <a:t>.</a:t>
            </a:r>
          </a:p>
          <a:p>
            <a:pPr lvl="1"/>
            <a:r>
              <a:rPr lang="en-US" altLang="en-US" dirty="0" err="1"/>
              <a:t>Dễ</a:t>
            </a:r>
            <a:r>
              <a:rPr lang="en-US" altLang="en-US" dirty="0"/>
              <a:t> </a:t>
            </a:r>
            <a:r>
              <a:rPr lang="en-US" altLang="en-US" dirty="0" err="1"/>
              <a:t>biểu</a:t>
            </a:r>
            <a:r>
              <a:rPr lang="en-US" altLang="en-US" dirty="0"/>
              <a:t> </a:t>
            </a:r>
            <a:r>
              <a:rPr lang="en-US" altLang="en-US" dirty="0" err="1"/>
              <a:t>diễn</a:t>
            </a:r>
            <a:r>
              <a:rPr lang="en-US" altLang="en-US" dirty="0"/>
              <a:t>, </a:t>
            </a:r>
            <a:r>
              <a:rPr lang="en-US" altLang="en-US" dirty="0" err="1"/>
              <a:t>dễ</a:t>
            </a:r>
            <a:r>
              <a:rPr lang="en-US" altLang="en-US" dirty="0"/>
              <a:t> </a:t>
            </a:r>
            <a:r>
              <a:rPr lang="en-US" altLang="en-US" dirty="0" err="1"/>
              <a:t>cài</a:t>
            </a:r>
            <a:r>
              <a:rPr lang="en-US" altLang="en-US" dirty="0"/>
              <a:t> </a:t>
            </a:r>
            <a:r>
              <a:rPr lang="en-US" altLang="en-US" dirty="0" err="1"/>
              <a:t>đặt</a:t>
            </a:r>
            <a:r>
              <a:rPr lang="en-US" altLang="en-US" dirty="0"/>
              <a:t> </a:t>
            </a:r>
            <a:r>
              <a:rPr lang="en-US" altLang="en-US" dirty="0" err="1"/>
              <a:t>các</a:t>
            </a:r>
            <a:r>
              <a:rPr lang="en-US" altLang="en-US" dirty="0"/>
              <a:t> </a:t>
            </a:r>
            <a:r>
              <a:rPr lang="en-US" altLang="en-US" dirty="0" err="1"/>
              <a:t>ứng</a:t>
            </a:r>
            <a:r>
              <a:rPr lang="en-US" altLang="en-US" dirty="0"/>
              <a:t> </a:t>
            </a:r>
            <a:r>
              <a:rPr lang="en-US" altLang="en-US" dirty="0" err="1"/>
              <a:t>dụng</a:t>
            </a:r>
            <a:r>
              <a:rPr lang="en-US" altLang="en-US" dirty="0"/>
              <a:t> </a:t>
            </a:r>
            <a:r>
              <a:rPr lang="en-US" altLang="en-US" dirty="0" err="1"/>
              <a:t>trên</a:t>
            </a:r>
            <a:r>
              <a:rPr lang="en-US" altLang="en-US" dirty="0"/>
              <a:t> </a:t>
            </a:r>
            <a:r>
              <a:rPr lang="en-US" altLang="en-US" dirty="0" err="1"/>
              <a:t>đó</a:t>
            </a:r>
            <a:r>
              <a:rPr lang="en-US" altLang="en-US" dirty="0"/>
              <a:t>.</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Ưu điểm lớn nhất của phương pháp biểu diễn đồ thị bằng ma trận kề là để trả lời câu hỏi: Hai đỉnh u,v có kề nhau trên đồ thị hay không, chúng ta chỉ phải thực hiện một phép so sánh.</a:t>
            </a:r>
          </a:p>
          <a:p>
            <a:pPr algn="l">
              <a:buFont typeface="Arial" panose="020B0604020202020204" pitchFamily="34" charset="0"/>
              <a:buChar char="•"/>
            </a:pPr>
            <a:r>
              <a:rPr lang="vi-VN" b="0" i="0" dirty="0">
                <a:solidFill>
                  <a:srgbClr val="202122"/>
                </a:solidFill>
                <a:effectLst/>
                <a:latin typeface="Arial" panose="020B0604020202020204" pitchFamily="34" charset="0"/>
              </a:rPr>
              <a:t>Nhược điểm lớn nhất của phương pháp này là: không phụ thuộc vào số cạnh của đồ thị, ta luôn phải sử dụng n^2 đơn vị bộ nhớ để lưu trữ ma trận kề của nó.</a:t>
            </a:r>
          </a:p>
          <a:p>
            <a:pPr lvl="1"/>
            <a:endParaRPr lang="en-US" altLang="en-US" dirty="0"/>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3289699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37833237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có hướng tổng bậc ra của các đỉnh = Tổng bậc vào của các đỉnh = Đỉnh.</a:t>
            </a:r>
          </a:p>
          <a:p>
            <a:pPr algn="l">
              <a:buFont typeface="Arial" panose="020B0604020202020204" pitchFamily="34" charset="0"/>
              <a:buChar char="•"/>
            </a:pPr>
            <a:r>
              <a:rPr lang="vi-VN" b="0" i="0" dirty="0">
                <a:solidFill>
                  <a:srgbClr val="202122"/>
                </a:solidFill>
                <a:effectLst/>
                <a:latin typeface="Arial" panose="020B0604020202020204" pitchFamily="34" charset="0"/>
              </a:rPr>
              <a:t>Trong ma trận của đồ thị vô hướng tổng bậc của tất cả các đỉnh = 2 lần số cạnh.</a:t>
            </a:r>
          </a:p>
          <a:p>
            <a:pPr algn="l">
              <a:buFont typeface="Arial" panose="020B0604020202020204" pitchFamily="34" charset="0"/>
              <a:buChar char="•"/>
            </a:pPr>
            <a:r>
              <a:rPr lang="vi-VN" b="1" i="0" dirty="0">
                <a:solidFill>
                  <a:srgbClr val="202122"/>
                </a:solidFill>
                <a:effectLst/>
                <a:latin typeface="Arial" panose="020B0604020202020204" pitchFamily="34" charset="0"/>
              </a:rPr>
              <a:t>Ưu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Ma trận liên thuộc đỉnh-cạnh sẽ tiết kiệm bộ nhớ hơn khi đồ thị có ít cạnh/cung.</a:t>
            </a:r>
          </a:p>
          <a:p>
            <a:pPr algn="l">
              <a:buFont typeface="Arial" panose="020B0604020202020204" pitchFamily="34" charset="0"/>
              <a:buChar char="•"/>
            </a:pPr>
            <a:r>
              <a:rPr lang="vi-VN" b="1" i="0" dirty="0">
                <a:solidFill>
                  <a:srgbClr val="202122"/>
                </a:solidFill>
                <a:effectLst/>
                <a:latin typeface="Arial" panose="020B0604020202020204" pitchFamily="34" charset="0"/>
              </a:rPr>
              <a:t>Khuyết điểm:</a:t>
            </a:r>
            <a:endParaRPr lang="vi-VN" b="0" i="0" dirty="0">
              <a:solidFill>
                <a:srgbClr val="202122"/>
              </a:solidFill>
              <a:effectLst/>
              <a:latin typeface="Arial" panose="020B0604020202020204" pitchFamily="34" charset="0"/>
            </a:endParaRP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Biểu diễn phức tạp</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38999494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30472090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985660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sẽ không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cạnh song song</a:t>
            </a:r>
          </a:p>
          <a:p>
            <a:pPr algn="l">
              <a:buFont typeface="Arial" panose="020B0604020202020204" pitchFamily="34" charset="0"/>
              <a:buChar char="•"/>
            </a:pPr>
            <a:r>
              <a:rPr lang="vi-VN" b="0" i="0" dirty="0">
                <a:solidFill>
                  <a:srgbClr val="202122"/>
                </a:solidFill>
                <a:effectLst/>
                <a:latin typeface="Arial" panose="020B0604020202020204" pitchFamily="34" charset="0"/>
              </a:rPr>
              <a:t>Ở cách biểu diễn ma trận này, ma trận có thể biểu diễn được:</a:t>
            </a:r>
          </a:p>
          <a:p>
            <a:pPr marL="742950" lvl="1" indent="-285750" algn="l">
              <a:buFont typeface="Arial" panose="020B0604020202020204" pitchFamily="34" charset="0"/>
              <a:buChar char="•"/>
            </a:pPr>
            <a:r>
              <a:rPr lang="vi-VN" b="0" i="0" dirty="0">
                <a:solidFill>
                  <a:srgbClr val="202122"/>
                </a:solidFill>
                <a:effectLst/>
                <a:latin typeface="Arial" panose="020B0604020202020204" pitchFamily="34" charset="0"/>
              </a:rPr>
              <a:t>Đồ thị có khuyên</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933576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1425286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3649121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20541491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34911517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9924235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0584816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21378268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lgn="l">
              <a:buFont typeface="+mj-lt"/>
              <a:buAutoNum type="arabicPeriod"/>
            </a:pPr>
            <a:r>
              <a:rPr lang="vi-VN" b="0" i="0" dirty="0">
                <a:solidFill>
                  <a:srgbClr val="202122"/>
                </a:solidFill>
                <a:effectLst/>
                <a:latin typeface="Arial" panose="020B0604020202020204" pitchFamily="34" charset="0"/>
              </a:rPr>
              <a:t>Cùng số đỉnh.</a:t>
            </a:r>
          </a:p>
          <a:p>
            <a:pPr algn="l">
              <a:buFont typeface="+mj-lt"/>
              <a:buAutoNum type="arabicPeriod"/>
            </a:pPr>
            <a:r>
              <a:rPr lang="vi-VN" b="0" i="0" dirty="0">
                <a:solidFill>
                  <a:srgbClr val="202122"/>
                </a:solidFill>
                <a:effectLst/>
                <a:latin typeface="Arial" panose="020B0604020202020204" pitchFamily="34" charset="0"/>
              </a:rPr>
              <a:t>Cùng số đỉnh bậc k, mọi k nguyên </a:t>
            </a:r>
            <a:r>
              <a:rPr lang="vi-VN" b="0" i="0" u="none" strike="noStrike" dirty="0">
                <a:solidFill>
                  <a:srgbClr val="3366CC"/>
                </a:solidFill>
                <a:effectLst/>
                <a:latin typeface="Arial" panose="020B0604020202020204" pitchFamily="34" charset="0"/>
                <a:hlinkClick r:id="rId3" tooltip="Dương"/>
              </a:rPr>
              <a:t>dương</a:t>
            </a:r>
            <a:r>
              <a:rPr lang="vi-VN" b="0" i="0" dirty="0">
                <a:solidFill>
                  <a:srgbClr val="202122"/>
                </a:solidFill>
                <a:effectLst/>
                <a:latin typeface="Arial" panose="020B0604020202020204" pitchFamily="34" charset="0"/>
              </a:rPr>
              <a:t> ≥ 0.</a:t>
            </a:r>
          </a:p>
          <a:p>
            <a:pPr algn="l">
              <a:buFont typeface="+mj-lt"/>
              <a:buAutoNum type="arabicPeriod"/>
            </a:pPr>
            <a:r>
              <a:rPr lang="vi-VN" b="0" i="0" dirty="0">
                <a:solidFill>
                  <a:srgbClr val="202122"/>
                </a:solidFill>
                <a:effectLst/>
                <a:latin typeface="Arial" panose="020B0604020202020204" pitchFamily="34" charset="0"/>
              </a:rPr>
              <a:t>Cùng số cạnh.</a:t>
            </a:r>
          </a:p>
          <a:p>
            <a:pPr algn="l">
              <a:buFont typeface="+mj-lt"/>
              <a:buAutoNum type="arabicPeriod"/>
            </a:pPr>
            <a:r>
              <a:rPr lang="vi-VN" b="0" i="0" dirty="0">
                <a:solidFill>
                  <a:srgbClr val="202122"/>
                </a:solidFill>
                <a:effectLst/>
                <a:latin typeface="Arial" panose="020B0604020202020204" pitchFamily="34" charset="0"/>
              </a:rPr>
              <a:t>Cùng số thành phần.</a:t>
            </a:r>
          </a:p>
          <a:p>
            <a:endParaRPr lang="en-US" altLang="en-US" dirty="0"/>
          </a:p>
        </p:txBody>
      </p:sp>
    </p:spTree>
    <p:extLst>
      <p:ext uri="{BB962C8B-B14F-4D97-AF65-F5344CB8AC3E}">
        <p14:creationId xmlns:p14="http://schemas.microsoft.com/office/powerpoint/2010/main" val="22067425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3620126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7315079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18245162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895061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29148190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33104393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41617800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5131937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26007097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Không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được</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1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Tối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thiểu</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phải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2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Không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được</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1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Tối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thiểu</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phải</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vẽ</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bằng</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 6 </a:t>
            </a:r>
            <a:r>
              <a:rPr kumimoji="0" lang="en-US" altLang="en-US" sz="1200" b="1" i="0" u="none" strike="noStrike" kern="1200" cap="none" spc="0" normalizeH="0" baseline="0" noProof="0" dirty="0" err="1">
                <a:ln>
                  <a:noFill/>
                </a:ln>
                <a:solidFill>
                  <a:prstClr val="white"/>
                </a:solidFill>
                <a:effectLst/>
                <a:uLnTx/>
                <a:uFillTx/>
                <a:latin typeface="Arial" charset="0"/>
                <a:cs typeface="Arial" charset="0"/>
              </a:rPr>
              <a:t>nét</a:t>
            </a:r>
            <a:r>
              <a:rPr kumimoji="0" lang="en-US" altLang="en-US" sz="1200" b="1" i="0" u="none" strike="noStrike" kern="1200" cap="none" spc="0" normalizeH="0" baseline="0" noProof="0" dirty="0">
                <a:ln>
                  <a:noFill/>
                </a:ln>
                <a:solidFill>
                  <a:prstClr val="white"/>
                </a:solidFill>
                <a:effectLst/>
                <a:uLnTx/>
                <a:uFillTx/>
                <a:latin typeface="Arial" charset="0"/>
                <a:cs typeface="Arial" charset="0"/>
              </a:rPr>
              <a:t>.</a:t>
            </a:r>
          </a:p>
          <a:p>
            <a:endParaRPr lang="en-US" altLang="en-US" dirty="0"/>
          </a:p>
        </p:txBody>
      </p:sp>
    </p:spTree>
    <p:extLst>
      <p:ext uri="{BB962C8B-B14F-4D97-AF65-F5344CB8AC3E}">
        <p14:creationId xmlns:p14="http://schemas.microsoft.com/office/powerpoint/2010/main" val="10995113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9926351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9643676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16713643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1040753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0366821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718900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9560702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3466730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7379150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8981668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3148495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5830541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9493345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2477927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54</a:t>
            </a:fld>
            <a:endParaRPr lang="en-US"/>
          </a:p>
        </p:txBody>
      </p:sp>
    </p:spTree>
    <p:extLst>
      <p:ext uri="{BB962C8B-B14F-4D97-AF65-F5344CB8AC3E}">
        <p14:creationId xmlns:p14="http://schemas.microsoft.com/office/powerpoint/2010/main" val="1132094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4872877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4149291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574213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4491607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6783205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9488007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5638244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1689860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01576229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302483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8858410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4705414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7610262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9158597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4728257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0861957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24466352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18240441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5330780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275260252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0" fontAlgn="base" hangingPunct="0">
              <a:lnSpc>
                <a:spcPct val="150000"/>
              </a:lnSpc>
              <a:spcBef>
                <a:spcPct val="0"/>
              </a:spcBef>
              <a:spcAft>
                <a:spcPct val="0"/>
              </a:spcAft>
            </a:pPr>
            <a:r>
              <a:rPr lang="en-US" sz="1200" b="1" dirty="0">
                <a:solidFill>
                  <a:schemeClr val="tx2"/>
                </a:solidFill>
                <a:latin typeface="Times New Roman" pitchFamily="18" charset="0"/>
                <a:cs typeface="Times New Roman" pitchFamily="18" charset="0"/>
              </a:rPr>
              <a:t>Euler's cycle</a:t>
            </a:r>
            <a:r>
              <a:rPr lang="en-US" sz="1200" dirty="0">
                <a:solidFill>
                  <a:schemeClr val="tx2"/>
                </a:solidFill>
                <a:latin typeface="Times New Roman" pitchFamily="18" charset="0"/>
                <a:cs typeface="Times New Roman" pitchFamily="18" charset="0"/>
              </a:rPr>
              <a:t> /</a:t>
            </a:r>
            <a:r>
              <a:rPr lang="en-US" sz="1200" b="1" dirty="0">
                <a:solidFill>
                  <a:schemeClr val="tx2"/>
                </a:solidFill>
                <a:latin typeface="Times New Roman" pitchFamily="18" charset="0"/>
                <a:cs typeface="Times New Roman" pitchFamily="18" charset="0"/>
              </a:rPr>
              <a:t> Euler’s path</a:t>
            </a:r>
            <a:r>
              <a:rPr lang="en-US" sz="1200" dirty="0">
                <a:solidFill>
                  <a:schemeClr val="tx2"/>
                </a:solidFill>
                <a:latin typeface="Times New Roman" pitchFamily="18" charset="0"/>
                <a:cs typeface="Times New Roman" pitchFamily="18" charset="0"/>
              </a:rPr>
              <a:t> </a:t>
            </a:r>
          </a:p>
          <a:p>
            <a:endParaRPr lang="en-US" altLang="en-US" dirty="0"/>
          </a:p>
        </p:txBody>
      </p:sp>
    </p:spTree>
    <p:extLst>
      <p:ext uri="{BB962C8B-B14F-4D97-AF65-F5344CB8AC3E}">
        <p14:creationId xmlns:p14="http://schemas.microsoft.com/office/powerpoint/2010/main" val="3141069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72262950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63284988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a:p>
        </p:txBody>
      </p:sp>
    </p:spTree>
    <p:extLst>
      <p:ext uri="{BB962C8B-B14F-4D97-AF65-F5344CB8AC3E}">
        <p14:creationId xmlns:p14="http://schemas.microsoft.com/office/powerpoint/2010/main" val="109119242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tLang="en-US" dirty="0"/>
          </a:p>
        </p:txBody>
      </p:sp>
    </p:spTree>
    <p:extLst>
      <p:ext uri="{BB962C8B-B14F-4D97-AF65-F5344CB8AC3E}">
        <p14:creationId xmlns:p14="http://schemas.microsoft.com/office/powerpoint/2010/main" val="390140922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vi-VN" altLang="en-US" dirty="0"/>
              <a:t>Đầu tiên, khởi tạo khoảng cách nhỏ nhất ban đầu tới các đỉnh khác là </a:t>
            </a:r>
            <a:endParaRPr lang="en-US" altLang="en-US" dirty="0"/>
          </a:p>
          <a:p>
            <a:r>
              <a:rPr lang="vi-VN" altLang="en-US" dirty="0"/>
              <a:t>+∞ và khoảng cách tới đỉnh gốc là 0. Ta được danh sách các khoảng cách tới các đỉnh.</a:t>
            </a:r>
            <a:endParaRPr lang="en-US" altLang="en-US" dirty="0"/>
          </a:p>
          <a:p>
            <a:endParaRPr lang="en-US" altLang="en-US" dirty="0"/>
          </a:p>
          <a:p>
            <a:endParaRPr lang="en-US" altLang="en-US" dirty="0"/>
          </a:p>
        </p:txBody>
      </p:sp>
    </p:spTree>
    <p:extLst>
      <p:ext uri="{BB962C8B-B14F-4D97-AF65-F5344CB8AC3E}">
        <p14:creationId xmlns:p14="http://schemas.microsoft.com/office/powerpoint/2010/main" val="31570427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vi-VN" altLang="en-US" dirty="0"/>
              <a:t>Chọn đỉnh 0 có giá trị nhỏ nhất, xét các đỉnh kề của đỉnh 0: </a:t>
            </a:r>
            <a:endParaRPr lang="en-US" altLang="en-US" dirty="0"/>
          </a:p>
          <a:p>
            <a:r>
              <a:rPr lang="vi-VN" altLang="en-US" dirty="0"/>
              <a:t>Xét đỉnh 1, khoảng cách từ gốc đến đỉnh 1 là 2.5 &lt; ∞</a:t>
            </a:r>
          </a:p>
          <a:p>
            <a:r>
              <a:rPr lang="vi-VN" altLang="en-US" dirty="0"/>
              <a:t>nên ghi nhận giá trị mới là (2.5,0)</a:t>
            </a:r>
          </a:p>
          <a:p>
            <a:r>
              <a:rPr lang="vi-VN" altLang="en-US" dirty="0"/>
              <a:t>(2.5,0) (nghĩa là khoảng cách đến đỉnh gốc hiện tại ghi nhận là 2.5, đỉnh kề liền trước là đỉnh 0). </a:t>
            </a:r>
            <a:endParaRPr lang="en-US" altLang="en-US" dirty="0"/>
          </a:p>
          <a:p>
            <a:endParaRPr lang="en-US" altLang="en-US" dirty="0"/>
          </a:p>
        </p:txBody>
      </p:sp>
    </p:spTree>
    <p:extLst>
      <p:ext uri="{BB962C8B-B14F-4D97-AF65-F5344CB8AC3E}">
        <p14:creationId xmlns:p14="http://schemas.microsoft.com/office/powerpoint/2010/main" val="300377510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dirty="0"/>
          </a:p>
          <a:p>
            <a:r>
              <a:rPr lang="vi-VN" altLang="en-US" dirty="0"/>
              <a:t>Xét tương tự cho đỉnh 2 và 3, ta được dòng thứ 2 trong bảng</a:t>
            </a:r>
            <a:endParaRPr lang="en-US" b="0" i="0" dirty="0">
              <a:solidFill>
                <a:srgbClr val="5D686F"/>
              </a:solidFill>
              <a:effectLst/>
              <a:latin typeface="Merriweather" panose="020F0502020204030204" pitchFamily="2" charset="0"/>
            </a:endParaRPr>
          </a:p>
          <a:p>
            <a:r>
              <a:rPr lang="vi-VN" b="0" i="0" dirty="0">
                <a:solidFill>
                  <a:srgbClr val="5D686F"/>
                </a:solidFill>
                <a:effectLst/>
                <a:latin typeface="Merriweather" panose="020F0502020204030204" pitchFamily="2" charset="0"/>
              </a:rPr>
              <a:t>Sau khi xét tất cả các đỉnh ta chọn đỉnh 2 có khoảng cách nhỏ nhất và ghi nhận để xét tiếp. </a:t>
            </a:r>
            <a:endParaRPr lang="en-US" b="0" i="0" dirty="0">
              <a:solidFill>
                <a:srgbClr val="5D686F"/>
              </a:solidFill>
              <a:effectLst/>
              <a:latin typeface="Merriweather" panose="020F0502020204030204" pitchFamily="2" charset="0"/>
            </a:endParaRPr>
          </a:p>
          <a:p>
            <a:r>
              <a:rPr lang="vi-VN" b="0" i="0" dirty="0">
                <a:solidFill>
                  <a:srgbClr val="5D686F"/>
                </a:solidFill>
                <a:effectLst/>
                <a:latin typeface="Merriweather" panose="020F0502020204030204" pitchFamily="2" charset="0"/>
              </a:rPr>
              <a:t>Tiếp tục xét đỉnh kề của 2 là đỉnh 4 và 5 với nguyên tắc nêu ở trên. </a:t>
            </a:r>
            <a:endParaRPr lang="en-US" b="0" i="0" dirty="0">
              <a:solidFill>
                <a:srgbClr val="5D686F"/>
              </a:solidFill>
              <a:effectLst/>
              <a:latin typeface="Merriweather" panose="020F0502020204030204" pitchFamily="2" charset="0"/>
            </a:endParaRPr>
          </a:p>
          <a:p>
            <a:r>
              <a:rPr lang="vi-VN" b="0" i="0" dirty="0">
                <a:solidFill>
                  <a:srgbClr val="5D686F"/>
                </a:solidFill>
                <a:effectLst/>
                <a:latin typeface="Merriweather" panose="020F0502020204030204" pitchFamily="2" charset="0"/>
              </a:rPr>
              <a:t>Xét đỉnh 4, khoảng cách từ đỉnh gốc đến đỉnh 4 sẽ bằng khoảng cách từ đỉnh gốc tới đỉnh 2 cộng khoảng cách từ 2 đến 4.</a:t>
            </a:r>
            <a:endParaRPr lang="en-US" b="0" i="0" dirty="0">
              <a:solidFill>
                <a:srgbClr val="5D686F"/>
              </a:solidFill>
              <a:effectLst/>
              <a:latin typeface="Merriweather" panose="020F0502020204030204" pitchFamily="2" charset="0"/>
            </a:endParaRPr>
          </a:p>
          <a:p>
            <a:r>
              <a:rPr lang="vi-VN" b="0" i="0" dirty="0">
                <a:solidFill>
                  <a:srgbClr val="5D686F"/>
                </a:solidFill>
                <a:effectLst/>
                <a:latin typeface="Merriweather" panose="020F0502020204030204" pitchFamily="2" charset="0"/>
              </a:rPr>
              <a:t> Nghĩa là </a:t>
            </a:r>
            <a:r>
              <a:rPr lang="vi-VN" b="0" i="0" dirty="0">
                <a:solidFill>
                  <a:srgbClr val="5D686F"/>
                </a:solidFill>
                <a:effectLst/>
                <a:latin typeface="KaTeX_Main"/>
              </a:rPr>
              <a:t>2.0+0.6=2.6</a:t>
            </a:r>
            <a:r>
              <a:rPr lang="vi-VN" b="0" i="0" dirty="0">
                <a:solidFill>
                  <a:srgbClr val="5D686F"/>
                </a:solidFill>
                <a:effectLst/>
                <a:latin typeface="Merriweather" panose="020F0502020204030204" pitchFamily="2" charset="0"/>
              </a:rPr>
              <a:t> nên ta ghi nhận khoảng cách tại đỉnh 4 là </a:t>
            </a:r>
            <a:r>
              <a:rPr lang="vi-VN" b="0" i="0" dirty="0">
                <a:solidFill>
                  <a:srgbClr val="5D686F"/>
                </a:solidFill>
                <a:effectLst/>
                <a:latin typeface="KaTeX_Main"/>
              </a:rPr>
              <a:t>(2.6,2)</a:t>
            </a:r>
            <a:r>
              <a:rPr lang="vi-VN" b="0" i="0" dirty="0">
                <a:solidFill>
                  <a:srgbClr val="5D686F"/>
                </a:solidFill>
                <a:effectLst/>
                <a:latin typeface="Merriweather" panose="020F0502020204030204" pitchFamily="2" charset="0"/>
              </a:rPr>
              <a:t>. Xét tương tự cho đỉnh 5.</a:t>
            </a:r>
            <a:endParaRPr lang="en-US" altLang="en-US" dirty="0"/>
          </a:p>
          <a:p>
            <a:endParaRPr lang="en-US" b="0" i="0" dirty="0">
              <a:solidFill>
                <a:srgbClr val="5D686F"/>
              </a:solidFill>
              <a:effectLst/>
              <a:latin typeface="Merriweather" panose="00000500000000000000" pitchFamily="2" charset="0"/>
            </a:endParaRPr>
          </a:p>
          <a:p>
            <a:endParaRPr lang="en-US" b="0" i="0" dirty="0">
              <a:solidFill>
                <a:srgbClr val="5D686F"/>
              </a:solidFill>
              <a:effectLst/>
              <a:latin typeface="Merriweather" panose="00000500000000000000" pitchFamily="2" charset="0"/>
            </a:endParaRPr>
          </a:p>
        </p:txBody>
      </p:sp>
    </p:spTree>
    <p:extLst>
      <p:ext uri="{BB962C8B-B14F-4D97-AF65-F5344CB8AC3E}">
        <p14:creationId xmlns:p14="http://schemas.microsoft.com/office/powerpoint/2010/main" val="371584716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b="0" i="0" dirty="0">
              <a:solidFill>
                <a:srgbClr val="5D686F"/>
              </a:solidFill>
              <a:effectLst/>
              <a:latin typeface="Merriweather" panose="00000500000000000000" pitchFamily="2" charset="0"/>
            </a:endParaRPr>
          </a:p>
          <a:p>
            <a:r>
              <a:rPr lang="vi-VN" b="0" i="0" dirty="0">
                <a:solidFill>
                  <a:srgbClr val="5D686F"/>
                </a:solidFill>
                <a:effectLst/>
                <a:latin typeface="Merriweather" panose="00000500000000000000" pitchFamily="2" charset="0"/>
              </a:rPr>
              <a:t>Lúc này ta chọn được đỉnh 3 có khoảng cách nhỏ nhất,</a:t>
            </a:r>
            <a:endParaRPr lang="en-US" b="0" i="0" dirty="0">
              <a:solidFill>
                <a:srgbClr val="5D686F"/>
              </a:solidFill>
              <a:effectLst/>
              <a:latin typeface="Merriweather" panose="00000500000000000000" pitchFamily="2" charset="0"/>
            </a:endParaRPr>
          </a:p>
          <a:p>
            <a:r>
              <a:rPr lang="vi-VN" b="0" i="0" dirty="0">
                <a:solidFill>
                  <a:srgbClr val="5D686F"/>
                </a:solidFill>
                <a:effectLst/>
                <a:latin typeface="Merriweather" panose="00000500000000000000" pitchFamily="2" charset="0"/>
              </a:rPr>
              <a:t> xét đỉnh kề của đỉnh 3 là đỉnh 5.</a:t>
            </a:r>
            <a:endParaRPr lang="en-US" b="0" i="0" dirty="0">
              <a:solidFill>
                <a:srgbClr val="5D686F"/>
              </a:solidFill>
              <a:effectLst/>
              <a:latin typeface="Merriweather" panose="00000500000000000000" pitchFamily="2" charset="0"/>
            </a:endParaRPr>
          </a:p>
          <a:p>
            <a:r>
              <a:rPr lang="vi-VN" b="0" i="0" dirty="0">
                <a:solidFill>
                  <a:srgbClr val="5D686F"/>
                </a:solidFill>
                <a:effectLst/>
                <a:latin typeface="Merriweather" panose="00000500000000000000" pitchFamily="2" charset="0"/>
              </a:rPr>
              <a:t> Khoảng cách từ gốc tới đỉnh 5 </a:t>
            </a:r>
            <a:r>
              <a:rPr lang="vi-VN" b="0" i="0" dirty="0">
                <a:solidFill>
                  <a:srgbClr val="5D686F"/>
                </a:solidFill>
                <a:effectLst/>
                <a:latin typeface="KaTeX_Main"/>
              </a:rPr>
              <a:t>=2.1+2.5=4.6</a:t>
            </a:r>
            <a:r>
              <a:rPr lang="vi-VN" b="0" i="0" dirty="0">
                <a:solidFill>
                  <a:srgbClr val="5D686F"/>
                </a:solidFill>
                <a:effectLst/>
                <a:latin typeface="Merriweather" panose="00000500000000000000" pitchFamily="2" charset="0"/>
              </a:rPr>
              <a:t> </a:t>
            </a:r>
            <a:endParaRPr lang="en-US" b="0" i="0" dirty="0">
              <a:solidFill>
                <a:srgbClr val="5D686F"/>
              </a:solidFill>
              <a:effectLst/>
              <a:latin typeface="Merriweather" panose="00000500000000000000" pitchFamily="2" charset="0"/>
            </a:endParaRPr>
          </a:p>
          <a:p>
            <a:r>
              <a:rPr lang="vi-VN" b="0" i="0" dirty="0">
                <a:solidFill>
                  <a:srgbClr val="5D686F"/>
                </a:solidFill>
                <a:effectLst/>
                <a:latin typeface="Merriweather" panose="00000500000000000000" pitchFamily="2" charset="0"/>
              </a:rPr>
              <a:t>lớn hơn khoảng cách hiện tại được ghi nhận, vì vậy giá trị tại đỉnh 5 không đổi.</a:t>
            </a:r>
            <a:endParaRPr lang="en-US" altLang="en-US" dirty="0"/>
          </a:p>
          <a:p>
            <a:endParaRPr lang="en-US" b="0" i="0" dirty="0">
              <a:solidFill>
                <a:srgbClr val="5D686F"/>
              </a:solidFill>
              <a:effectLst/>
              <a:latin typeface="Merriweather" panose="00000500000000000000" pitchFamily="2" charset="0"/>
            </a:endParaRPr>
          </a:p>
          <a:p>
            <a:endParaRPr lang="en-US" b="0" i="0" dirty="0">
              <a:solidFill>
                <a:srgbClr val="5D686F"/>
              </a:solidFill>
              <a:effectLst/>
              <a:latin typeface="Merriweather" panose="00000500000000000000" pitchFamily="2" charset="0"/>
            </a:endParaRPr>
          </a:p>
          <a:p>
            <a:endParaRPr lang="en-US" b="0" i="0" dirty="0">
              <a:solidFill>
                <a:srgbClr val="5D686F"/>
              </a:solidFill>
              <a:effectLst/>
              <a:latin typeface="Merriweather" panose="00000500000000000000" pitchFamily="2" charset="0"/>
            </a:endParaRPr>
          </a:p>
          <a:p>
            <a:r>
              <a:rPr lang="vi-VN" b="0" i="0" dirty="0">
                <a:solidFill>
                  <a:srgbClr val="5D686F"/>
                </a:solidFill>
                <a:effectLst/>
                <a:latin typeface="Merriweather" panose="00000500000000000000" pitchFamily="2" charset="0"/>
              </a:rPr>
              <a:t>Đỉnh 1 là đỉnh được chọn tiếp theo, xét đỉnh kề của 1 là đỉnh 4.</a:t>
            </a:r>
            <a:endParaRPr lang="en-US" b="0" i="0" dirty="0">
              <a:solidFill>
                <a:srgbClr val="5D686F"/>
              </a:solidFill>
              <a:effectLst/>
              <a:latin typeface="Merriweather" panose="00000500000000000000" pitchFamily="2" charset="0"/>
            </a:endParaRPr>
          </a:p>
          <a:p>
            <a:r>
              <a:rPr lang="vi-VN" b="0" i="0" dirty="0">
                <a:solidFill>
                  <a:srgbClr val="5D686F"/>
                </a:solidFill>
                <a:effectLst/>
                <a:latin typeface="Merriweather" panose="00000500000000000000" pitchFamily="2" charset="0"/>
              </a:rPr>
              <a:t>Khoảng cách từ đỉnh gốc không nhỏ hơn khoảng cách hiện tại nên ta không cập nhật gì ở đỉnh này.</a:t>
            </a:r>
            <a:endParaRPr lang="en-US" altLang="en-US" dirty="0"/>
          </a:p>
        </p:txBody>
      </p:sp>
    </p:spTree>
    <p:extLst>
      <p:ext uri="{BB962C8B-B14F-4D97-AF65-F5344CB8AC3E}">
        <p14:creationId xmlns:p14="http://schemas.microsoft.com/office/powerpoint/2010/main" val="193721556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vi-VN" b="0" i="0" dirty="0">
                <a:solidFill>
                  <a:srgbClr val="5D686F"/>
                </a:solidFill>
                <a:effectLst/>
                <a:latin typeface="Merriweather" panose="00000500000000000000" pitchFamily="2" charset="0"/>
              </a:rPr>
              <a:t>Sau khi xét xong ta chọn được đỉnh 4 là đỉnh tiếp theo. Ta cập nhật giá trị mới cho đỉnh 6.</a:t>
            </a:r>
            <a:endParaRPr lang="en-US" altLang="en-US" dirty="0"/>
          </a:p>
        </p:txBody>
      </p:sp>
    </p:spTree>
    <p:extLst>
      <p:ext uri="{BB962C8B-B14F-4D97-AF65-F5344CB8AC3E}">
        <p14:creationId xmlns:p14="http://schemas.microsoft.com/office/powerpoint/2010/main" val="407249288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vi-VN" b="0" i="0" dirty="0">
                <a:solidFill>
                  <a:srgbClr val="5D686F"/>
                </a:solidFill>
                <a:effectLst/>
                <a:latin typeface="Merriweather" panose="00000500000000000000" pitchFamily="2" charset="0"/>
              </a:rPr>
              <a:t>Chọn được đỉnh 5 là đỉnh nhỏ nhất, tiếp tục xét các đỉnh kề.</a:t>
            </a:r>
            <a:endParaRPr lang="en-US" altLang="en-US" dirty="0"/>
          </a:p>
        </p:txBody>
      </p:sp>
    </p:spTree>
    <p:extLst>
      <p:ext uri="{BB962C8B-B14F-4D97-AF65-F5344CB8AC3E}">
        <p14:creationId xmlns:p14="http://schemas.microsoft.com/office/powerpoint/2010/main" val="6569791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vi-VN" b="0" i="0" dirty="0">
                <a:solidFill>
                  <a:srgbClr val="5D686F"/>
                </a:solidFill>
                <a:effectLst/>
                <a:latin typeface="Merriweather" panose="00000500000000000000" pitchFamily="2" charset="0"/>
              </a:rPr>
              <a:t>Đỉnh 6 là đỉnh tiếp theo được chọn.</a:t>
            </a:r>
            <a:endParaRPr lang="en-US" altLang="en-US" dirty="0"/>
          </a:p>
        </p:txBody>
      </p:sp>
    </p:spTree>
    <p:extLst>
      <p:ext uri="{BB962C8B-B14F-4D97-AF65-F5344CB8AC3E}">
        <p14:creationId xmlns:p14="http://schemas.microsoft.com/office/powerpoint/2010/main" val="212474491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b="0" i="0" dirty="0" err="1">
                <a:solidFill>
                  <a:srgbClr val="5D686F"/>
                </a:solidFill>
                <a:effectLst/>
                <a:latin typeface="Merriweather" panose="00000500000000000000" pitchFamily="2" charset="0"/>
              </a:rPr>
              <a:t>Chọn</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đỉnh</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có</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khoảng</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cách</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nhỏ</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nhất</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là</a:t>
            </a:r>
            <a:r>
              <a:rPr lang="en-US" b="0" i="0" dirty="0">
                <a:solidFill>
                  <a:srgbClr val="5D686F"/>
                </a:solidFill>
                <a:effectLst/>
                <a:latin typeface="Merriweather" panose="00000500000000000000" pitchFamily="2" charset="0"/>
              </a:rPr>
              <a:t> </a:t>
            </a:r>
            <a:r>
              <a:rPr lang="en-US" b="0" i="0" dirty="0" err="1">
                <a:solidFill>
                  <a:srgbClr val="5D686F"/>
                </a:solidFill>
                <a:effectLst/>
                <a:latin typeface="Merriweather" panose="00000500000000000000" pitchFamily="2" charset="0"/>
              </a:rPr>
              <a:t>đỉnh</a:t>
            </a:r>
            <a:r>
              <a:rPr lang="en-US" b="0" i="0" dirty="0">
                <a:solidFill>
                  <a:srgbClr val="5D686F"/>
                </a:solidFill>
                <a:effectLst/>
                <a:latin typeface="Merriweather" panose="00000500000000000000" pitchFamily="2" charset="0"/>
              </a:rPr>
              <a:t> 7.</a:t>
            </a:r>
          </a:p>
          <a:p>
            <a:r>
              <a:rPr lang="vi-VN" b="0" i="0" dirty="0">
                <a:solidFill>
                  <a:srgbClr val="5D686F"/>
                </a:solidFill>
                <a:effectLst/>
                <a:latin typeface="Merriweather" panose="00000500000000000000" pitchFamily="2" charset="0"/>
              </a:rPr>
              <a:t>Thuật toán kết thúc khi chọn được khoảng cách nhỏ nhất cho tất cả các đỉnh.</a:t>
            </a:r>
            <a:endParaRPr lang="en-US" altLang="en-US" dirty="0"/>
          </a:p>
        </p:txBody>
      </p:sp>
    </p:spTree>
    <p:extLst>
      <p:ext uri="{BB962C8B-B14F-4D97-AF65-F5344CB8AC3E}">
        <p14:creationId xmlns:p14="http://schemas.microsoft.com/office/powerpoint/2010/main" val="352489152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414551474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70075413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98413007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02323618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102913967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106706973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54310948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229599302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35736783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91334708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en-US"/>
          </a:p>
        </p:txBody>
      </p:sp>
    </p:spTree>
    <p:extLst>
      <p:ext uri="{BB962C8B-B14F-4D97-AF65-F5344CB8AC3E}">
        <p14:creationId xmlns:p14="http://schemas.microsoft.com/office/powerpoint/2010/main" val="417869588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99</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8/31/2023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8/31/2023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8/31/2023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8/31/2023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8/31/2023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8/31/2023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wmf"/><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oleObject" Target="../embeddings/oleObject2.bin"/><Relationship Id="rId5" Type="http://schemas.openxmlformats.org/officeDocument/2006/relationships/image" Target="../media/image9.w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wmf"/><Relationship Id="rId4" Type="http://schemas.openxmlformats.org/officeDocument/2006/relationships/oleObject" Target="../embeddings/oleObject4.bin"/></Relationships>
</file>

<file path=ppt/slides/_rels/slide1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png"/><Relationship Id="rId7" Type="http://schemas.openxmlformats.org/officeDocument/2006/relationships/oleObject" Target="../embeddings/oleObject6.bin"/><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wmf"/><Relationship Id="rId5" Type="http://schemas.openxmlformats.org/officeDocument/2006/relationships/oleObject" Target="../embeddings/oleObject5.bin"/><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image" Target="../media/image1.png"/><Relationship Id="rId7" Type="http://schemas.openxmlformats.org/officeDocument/2006/relationships/oleObject" Target="../embeddings/oleObject8.bin"/><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w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jpe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4.emf"/><Relationship Id="rId4" Type="http://schemas.openxmlformats.org/officeDocument/2006/relationships/oleObject" Target="../embeddings/oleObject10.bin"/></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4.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6.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7.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8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1.png"/><Relationship Id="rId7" Type="http://schemas.openxmlformats.org/officeDocument/2006/relationships/image" Target="../media/image78.pn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9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6.png"/></Relationships>
</file>

<file path=ppt/slides/_rels/slide9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9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7.xml"/><Relationship Id="rId1" Type="http://schemas.openxmlformats.org/officeDocument/2006/relationships/slideLayout" Target="../slideLayouts/slideLayout2.xml"/><Relationship Id="rId5" Type="http://schemas.openxmlformats.org/officeDocument/2006/relationships/image" Target="../media/image85.jpeg"/><Relationship Id="rId4" Type="http://schemas.openxmlformats.org/officeDocument/2006/relationships/image" Target="../media/image84.png"/></Relationships>
</file>

<file path=ppt/slides/_rels/slide9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sz="2200" b="1" dirty="0">
                <a:solidFill>
                  <a:schemeClr val="bg1"/>
                </a:solidFill>
                <a:latin typeface="Times New Roman" panose="02020603050405020304" pitchFamily="18" charset="0"/>
              </a:rPr>
              <a:t>Chapter 6: </a:t>
            </a:r>
          </a:p>
          <a:p>
            <a:pPr algn="ctr" eaLnBrk="0" hangingPunct="0">
              <a:lnSpc>
                <a:spcPct val="150000"/>
              </a:lnSpc>
              <a:defRPr/>
            </a:pPr>
            <a:r>
              <a:rPr lang="en-US" sz="2200" b="1" dirty="0">
                <a:solidFill>
                  <a:schemeClr val="bg1"/>
                </a:solidFill>
                <a:latin typeface="Times New Roman" panose="02020603050405020304" pitchFamily="18" charset="0"/>
              </a:rPr>
              <a:t>GRAPH THEORY</a:t>
            </a:r>
            <a:endParaRPr lang="en-US" altLang="ko-KR" sz="2200" b="1" dirty="0">
              <a:solidFill>
                <a:schemeClr val="bg1"/>
              </a:solidFill>
              <a:latin typeface="Times New Roman" panose="02020603050405020304"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Introduction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 BASIC CONCEPTS OF GRAPHS. </a:t>
            </a:r>
          </a:p>
          <a:p>
            <a:pPr lvl="2" algn="just">
              <a:lnSpc>
                <a:spcPct val="200000"/>
              </a:lnSpc>
              <a:defRPr/>
            </a:pPr>
            <a:r>
              <a:rPr lang="en-US" sz="1900" b="1" dirty="0">
                <a:solidFill>
                  <a:schemeClr val="tx2"/>
                </a:solidFill>
                <a:latin typeface="Times New Roman" pitchFamily="18" charset="0"/>
                <a:cs typeface="Times New Roman" pitchFamily="18" charset="0"/>
              </a:rPr>
              <a:t> 6.1.1. Undirected &amp; directed graph. </a:t>
            </a:r>
          </a:p>
          <a:p>
            <a:pPr lvl="2" algn="just">
              <a:lnSpc>
                <a:spcPct val="200000"/>
              </a:lnSpc>
              <a:defRPr/>
            </a:pPr>
            <a:r>
              <a:rPr lang="en-US" sz="1900" b="1" dirty="0">
                <a:solidFill>
                  <a:schemeClr val="tx2"/>
                </a:solidFill>
                <a:latin typeface="Times New Roman" pitchFamily="18" charset="0"/>
                <a:cs typeface="Times New Roman" pitchFamily="18" charset="0"/>
              </a:rPr>
              <a:t> 6.1.2. Graphical representation. </a:t>
            </a:r>
          </a:p>
          <a:p>
            <a:pPr lvl="2" algn="just">
              <a:lnSpc>
                <a:spcPct val="200000"/>
              </a:lnSpc>
              <a:defRPr/>
            </a:pPr>
            <a:r>
              <a:rPr lang="en-US" sz="1900" b="1" dirty="0">
                <a:solidFill>
                  <a:schemeClr val="tx2"/>
                </a:solidFill>
                <a:latin typeface="Times New Roman" pitchFamily="18" charset="0"/>
                <a:cs typeface="Times New Roman" pitchFamily="18" charset="0"/>
              </a:rPr>
              <a:t> 6.1.3.Some special graphs. </a:t>
            </a:r>
          </a:p>
          <a:p>
            <a:pPr algn="just">
              <a:lnSpc>
                <a:spcPct val="200000"/>
              </a:lnSpc>
              <a:defRPr/>
            </a:pPr>
            <a:r>
              <a:rPr lang="en-US" sz="1900" b="1" dirty="0">
                <a:solidFill>
                  <a:schemeClr val="tx2"/>
                </a:solidFill>
                <a:latin typeface="Times New Roman" pitchFamily="18" charset="0"/>
                <a:cs typeface="Times New Roman" pitchFamily="18" charset="0"/>
              </a:rPr>
              <a:t>6.2. PLANAR GRAPH, AND NOT FLAT. </a:t>
            </a:r>
          </a:p>
          <a:p>
            <a:pPr algn="just">
              <a:lnSpc>
                <a:spcPct val="200000"/>
              </a:lnSpc>
              <a:defRPr/>
            </a:pPr>
            <a:r>
              <a:rPr lang="en-US" sz="1900" b="1" dirty="0">
                <a:solidFill>
                  <a:schemeClr val="tx2"/>
                </a:solidFill>
                <a:latin typeface="Times New Roman" pitchFamily="18" charset="0"/>
                <a:cs typeface="Times New Roman" pitchFamily="18" charset="0"/>
              </a:rPr>
              <a:t>	6.2.1. Subgraph. </a:t>
            </a:r>
          </a:p>
          <a:p>
            <a:pPr algn="just">
              <a:lnSpc>
                <a:spcPct val="200000"/>
              </a:lnSpc>
              <a:defRPr/>
            </a:pPr>
            <a:r>
              <a:rPr lang="en-US" sz="1900" b="1" dirty="0">
                <a:solidFill>
                  <a:schemeClr val="tx2"/>
                </a:solidFill>
                <a:latin typeface="Times New Roman" pitchFamily="18" charset="0"/>
                <a:cs typeface="Times New Roman" pitchFamily="18" charset="0"/>
              </a:rPr>
              <a:t>	6.2.2. Planar graph and properties.</a:t>
            </a:r>
          </a:p>
          <a:p>
            <a:pPr algn="just">
              <a:lnSpc>
                <a:spcPct val="200000"/>
              </a:lnSpc>
              <a:defRPr/>
            </a:pPr>
            <a:r>
              <a:rPr lang="en-US" sz="1900" b="1" dirty="0">
                <a:solidFill>
                  <a:schemeClr val="tx2"/>
                </a:solidFill>
                <a:latin typeface="Times New Roman" pitchFamily="18" charset="0"/>
                <a:cs typeface="Times New Roman" pitchFamily="18" charset="0"/>
              </a:rPr>
              <a:t>	6.2.3. Euler's cycle and Hamiltonian cycle.</a:t>
            </a:r>
          </a:p>
          <a:p>
            <a:pPr algn="just">
              <a:lnSpc>
                <a:spcPct val="200000"/>
              </a:lnSpc>
              <a:defRPr/>
            </a:pPr>
            <a:r>
              <a:rPr lang="en-US" sz="1900" b="1" dirty="0">
                <a:solidFill>
                  <a:schemeClr val="tx2"/>
                </a:solidFill>
                <a:latin typeface="Times New Roman" pitchFamily="18" charset="0"/>
                <a:cs typeface="Times New Roman" pitchFamily="18" charset="0"/>
              </a:rPr>
              <a:t> </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Picture 2" descr="7_cau_Konigberg.jpg">
            <a:extLst>
              <a:ext uri="{FF2B5EF4-FFF2-40B4-BE49-F238E27FC236}">
                <a16:creationId xmlns:a16="http://schemas.microsoft.com/office/drawing/2014/main" id="{D9234F37-AA3D-81C8-C96B-89019DC06D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78992" y="1288135"/>
            <a:ext cx="6172200" cy="4937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821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nodeType="clickEffect">
                                  <p:stCondLst>
                                    <p:cond delay="0"/>
                                  </p:stCondLst>
                                  <p:childTnLst>
                                    <p:animEffect transition="out" filter="box(i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7" name="Picture 6">
            <a:extLst>
              <a:ext uri="{FF2B5EF4-FFF2-40B4-BE49-F238E27FC236}">
                <a16:creationId xmlns:a16="http://schemas.microsoft.com/office/drawing/2014/main" id="{6BD59090-2414-8031-D7A3-B056EDE55421}"/>
              </a:ext>
            </a:extLst>
          </p:cNvPr>
          <p:cNvPicPr>
            <a:picLocks noChangeAspect="1"/>
          </p:cNvPicPr>
          <p:nvPr/>
        </p:nvPicPr>
        <p:blipFill>
          <a:blip r:embed="rId4"/>
          <a:stretch>
            <a:fillRect/>
          </a:stretch>
        </p:blipFill>
        <p:spPr>
          <a:xfrm>
            <a:off x="745567" y="1230670"/>
            <a:ext cx="7639050" cy="5040789"/>
          </a:xfrm>
          <a:prstGeom prst="rect">
            <a:avLst/>
          </a:prstGeom>
        </p:spPr>
      </p:pic>
    </p:spTree>
    <p:extLst>
      <p:ext uri="{BB962C8B-B14F-4D97-AF65-F5344CB8AC3E}">
        <p14:creationId xmlns:p14="http://schemas.microsoft.com/office/powerpoint/2010/main" val="2661932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p:txBody>
      </p:sp>
      <p:pic>
        <p:nvPicPr>
          <p:cNvPr id="3" name="Content Placeholder 7" descr="optimap_tsp_solver.jpg">
            <a:extLst>
              <a:ext uri="{FF2B5EF4-FFF2-40B4-BE49-F238E27FC236}">
                <a16:creationId xmlns:a16="http://schemas.microsoft.com/office/drawing/2014/main" id="{710C8BB3-D9F5-3157-0ED1-3FCDF5EB8B96}"/>
              </a:ext>
            </a:extLst>
          </p:cNvPr>
          <p:cNvPicPr>
            <a:picLocks noChangeAspect="1"/>
          </p:cNvPicPr>
          <p:nvPr/>
        </p:nvPicPr>
        <p:blipFill rotWithShape="1">
          <a:blip r:embed="rId4">
            <a:extLst>
              <a:ext uri="{28A0092B-C50C-407E-A947-70E740481C1C}">
                <a14:useLocalDpi xmlns:a14="http://schemas.microsoft.com/office/drawing/2010/main" val="0"/>
              </a:ext>
            </a:extLst>
          </a:blip>
          <a:srcRect l="2242" t="7842" r="1227" b="3352"/>
          <a:stretch/>
        </p:blipFill>
        <p:spPr>
          <a:xfrm>
            <a:off x="945592" y="1472209"/>
            <a:ext cx="7239000" cy="4557711"/>
          </a:xfrm>
          <a:prstGeom prst="rect">
            <a:avLst/>
          </a:prstGeom>
        </p:spPr>
      </p:pic>
    </p:spTree>
    <p:extLst>
      <p:ext uri="{BB962C8B-B14F-4D97-AF65-F5344CB8AC3E}">
        <p14:creationId xmlns:p14="http://schemas.microsoft.com/office/powerpoint/2010/main" val="19673581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nSpc>
                <a:spcPct val="200000"/>
              </a:lnSpc>
              <a:defRPr/>
            </a:pPr>
            <a:r>
              <a:rPr lang="en-US" sz="1900" dirty="0">
                <a:solidFill>
                  <a:schemeClr val="tx2"/>
                </a:solidFill>
                <a:latin typeface="Times New Roman" pitchFamily="18" charset="0"/>
                <a:cs typeface="Times New Roman" pitchFamily="18" charset="0"/>
              </a:rPr>
              <a:t>Let's assume there are 6 tasks that need to be done: A, B, C, D, E, F. </a:t>
            </a:r>
          </a:p>
          <a:p>
            <a:pPr algn="l">
              <a:lnSpc>
                <a:spcPct val="200000"/>
              </a:lnSpc>
            </a:pPr>
            <a:r>
              <a:rPr lang="en-US" sz="1900" dirty="0">
                <a:solidFill>
                  <a:schemeClr val="tx2"/>
                </a:solidFill>
                <a:latin typeface="Times New Roman" pitchFamily="18" charset="0"/>
                <a:cs typeface="Times New Roman" pitchFamily="18" charset="0"/>
              </a:rPr>
              <a:t>Task A: Must be done before tasks B, D. </a:t>
            </a:r>
          </a:p>
          <a:p>
            <a:pPr algn="l">
              <a:lnSpc>
                <a:spcPct val="200000"/>
              </a:lnSpc>
            </a:pPr>
            <a:r>
              <a:rPr lang="en-US" sz="1900" dirty="0">
                <a:solidFill>
                  <a:schemeClr val="tx2"/>
                </a:solidFill>
                <a:latin typeface="Times New Roman" pitchFamily="18" charset="0"/>
                <a:cs typeface="Times New Roman" pitchFamily="18" charset="0"/>
              </a:rPr>
              <a:t>Task B: Must be done before task D. </a:t>
            </a:r>
          </a:p>
          <a:p>
            <a:pPr algn="l">
              <a:lnSpc>
                <a:spcPct val="200000"/>
              </a:lnSpc>
            </a:pPr>
            <a:r>
              <a:rPr lang="en-US" sz="1900" dirty="0">
                <a:solidFill>
                  <a:schemeClr val="tx2"/>
                </a:solidFill>
                <a:latin typeface="Times New Roman" pitchFamily="18" charset="0"/>
                <a:cs typeface="Times New Roman" pitchFamily="18" charset="0"/>
              </a:rPr>
              <a:t>Task C: Must be done after task F, before A. </a:t>
            </a:r>
          </a:p>
          <a:p>
            <a:pPr algn="l">
              <a:lnSpc>
                <a:spcPct val="200000"/>
              </a:lnSpc>
            </a:pPr>
            <a:r>
              <a:rPr lang="en-US" sz="1900" dirty="0">
                <a:solidFill>
                  <a:schemeClr val="tx2"/>
                </a:solidFill>
                <a:latin typeface="Times New Roman" pitchFamily="18" charset="0"/>
                <a:cs typeface="Times New Roman" pitchFamily="18" charset="0"/>
              </a:rPr>
              <a:t>Task D: Must be done after tasks A, B, E. </a:t>
            </a:r>
          </a:p>
          <a:p>
            <a:pPr algn="l">
              <a:lnSpc>
                <a:spcPct val="200000"/>
              </a:lnSpc>
            </a:pPr>
            <a:r>
              <a:rPr lang="en-US" sz="1900" dirty="0">
                <a:solidFill>
                  <a:schemeClr val="tx2"/>
                </a:solidFill>
                <a:latin typeface="Times New Roman" pitchFamily="18" charset="0"/>
                <a:cs typeface="Times New Roman" pitchFamily="18" charset="0"/>
              </a:rPr>
              <a:t>Task E: Must be done before tasks B, D, F.</a:t>
            </a:r>
          </a:p>
          <a:p>
            <a:pPr algn="l">
              <a:lnSpc>
                <a:spcPct val="200000"/>
              </a:lnSpc>
            </a:pPr>
            <a:r>
              <a:rPr lang="en-US" sz="1900" dirty="0">
                <a:solidFill>
                  <a:schemeClr val="tx2"/>
                </a:solidFill>
                <a:latin typeface="Times New Roman" pitchFamily="18" charset="0"/>
                <a:cs typeface="Times New Roman" pitchFamily="18" charset="0"/>
              </a:rPr>
              <a:t>Please find a sequence to perform the tasks that satisfies the given requirements.</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18116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id="{4707DC95-81B7-8567-1D67-842CD3CE6857}"/>
              </a:ext>
            </a:extLst>
          </p:cNvPr>
          <p:cNvPicPr>
            <a:picLocks noChangeAspect="1"/>
          </p:cNvPicPr>
          <p:nvPr/>
        </p:nvPicPr>
        <p:blipFill>
          <a:blip r:embed="rId4"/>
          <a:stretch>
            <a:fillRect/>
          </a:stretch>
        </p:blipFill>
        <p:spPr>
          <a:xfrm>
            <a:off x="2057400" y="1747718"/>
            <a:ext cx="5410200" cy="4581763"/>
          </a:xfrm>
          <a:prstGeom prst="rect">
            <a:avLst/>
          </a:prstGeom>
        </p:spPr>
      </p:pic>
    </p:spTree>
    <p:extLst>
      <p:ext uri="{BB962C8B-B14F-4D97-AF65-F5344CB8AC3E}">
        <p14:creationId xmlns:p14="http://schemas.microsoft.com/office/powerpoint/2010/main" val="3694019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sz="1900" dirty="0">
                <a:solidFill>
                  <a:schemeClr val="tx2"/>
                </a:solidFill>
                <a:latin typeface="Times New Roman" pitchFamily="18" charset="0"/>
                <a:cs typeface="Times New Roman" pitchFamily="18" charset="0"/>
              </a:rPr>
              <a:t>	Graph theory was initiated in 1736 by Leonard Euler when he wrote a paper on the Seven Bridges of Königsberg problem. </a:t>
            </a:r>
          </a:p>
          <a:p>
            <a:pPr algn="just">
              <a:lnSpc>
                <a:spcPct val="200000"/>
              </a:lnSpc>
              <a:defRPr/>
            </a:pPr>
            <a:r>
              <a:rPr lang="en-US" sz="1900" dirty="0">
                <a:solidFill>
                  <a:schemeClr val="tx2"/>
                </a:solidFill>
                <a:latin typeface="Times New Roman" pitchFamily="18" charset="0"/>
                <a:cs typeface="Times New Roman" pitchFamily="18" charset="0"/>
              </a:rPr>
              <a:t>Some notable scientists and their important contributions: </a:t>
            </a:r>
          </a:p>
          <a:p>
            <a:pPr algn="just">
              <a:lnSpc>
                <a:spcPct val="200000"/>
              </a:lnSpc>
              <a:defRPr/>
            </a:pPr>
            <a:r>
              <a:rPr lang="en-US" sz="1900" dirty="0">
                <a:solidFill>
                  <a:schemeClr val="tx2"/>
                </a:solidFill>
                <a:latin typeface="Times New Roman" pitchFamily="18" charset="0"/>
                <a:cs typeface="Times New Roman" pitchFamily="18" charset="0"/>
              </a:rPr>
              <a:t>	Hamilton: Hamiltonian graphs and related problems. </a:t>
            </a:r>
          </a:p>
          <a:p>
            <a:pPr algn="just">
              <a:lnSpc>
                <a:spcPct val="200000"/>
              </a:lnSpc>
              <a:defRPr/>
            </a:pPr>
            <a:r>
              <a:rPr lang="en-US" sz="1900" dirty="0">
                <a:solidFill>
                  <a:schemeClr val="tx2"/>
                </a:solidFill>
                <a:latin typeface="Times New Roman" pitchFamily="18" charset="0"/>
                <a:cs typeface="Times New Roman" pitchFamily="18" charset="0"/>
              </a:rPr>
              <a:t>	Dijkstra, Floyd, </a:t>
            </a:r>
            <a:r>
              <a:rPr lang="en-US" sz="1900" dirty="0" err="1">
                <a:solidFill>
                  <a:schemeClr val="tx2"/>
                </a:solidFill>
                <a:latin typeface="Times New Roman" pitchFamily="18" charset="0"/>
                <a:cs typeface="Times New Roman" pitchFamily="18" charset="0"/>
              </a:rPr>
              <a:t>Warshall</a:t>
            </a:r>
            <a:r>
              <a:rPr lang="en-US" sz="1900" dirty="0">
                <a:solidFill>
                  <a:schemeClr val="tx2"/>
                </a:solidFill>
                <a:latin typeface="Times New Roman" pitchFamily="18" charset="0"/>
                <a:cs typeface="Times New Roman" pitchFamily="18" charset="0"/>
              </a:rPr>
              <a:t>, Bellman: Algorithms for finding shortest paths. </a:t>
            </a:r>
          </a:p>
          <a:p>
            <a:pPr algn="just">
              <a:lnSpc>
                <a:spcPct val="200000"/>
              </a:lnSpc>
              <a:defRPr/>
            </a:pPr>
            <a:r>
              <a:rPr lang="en-US" sz="1900" dirty="0">
                <a:solidFill>
                  <a:schemeClr val="tx2"/>
                </a:solidFill>
                <a:latin typeface="Times New Roman" pitchFamily="18" charset="0"/>
                <a:cs typeface="Times New Roman" pitchFamily="18" charset="0"/>
              </a:rPr>
              <a:t>	Prim, Kruskal: Algorithms for finding minimum spanning trees.</a:t>
            </a:r>
          </a:p>
        </p:txBody>
      </p:sp>
    </p:spTree>
    <p:extLst>
      <p:ext uri="{BB962C8B-B14F-4D97-AF65-F5344CB8AC3E}">
        <p14:creationId xmlns:p14="http://schemas.microsoft.com/office/powerpoint/2010/main" val="1891495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mathematics, graph theory is the study of graphs, which are mathematical structures used to model pairwise relations between objects. </a:t>
            </a:r>
          </a:p>
          <a:p>
            <a:pPr algn="just">
              <a:lnSpc>
                <a:spcPct val="200000"/>
              </a:lnSpc>
              <a:defRPr/>
            </a:pPr>
            <a:r>
              <a:rPr lang="en-US" altLang="en-US" sz="2200" dirty="0">
                <a:solidFill>
                  <a:schemeClr val="tx2"/>
                </a:solidFill>
                <a:latin typeface="Times New Roman" pitchFamily="18" charset="0"/>
                <a:cs typeface="Times New Roman" pitchFamily="18" charset="0"/>
              </a:rPr>
              <a:t>A graph in this context is made up of vertices (also called nodes or points) which are connected by edges (also called links or lines). </a:t>
            </a:r>
          </a:p>
          <a:p>
            <a:pPr algn="just">
              <a:lnSpc>
                <a:spcPct val="200000"/>
              </a:lnSpc>
              <a:defRPr/>
            </a:pPr>
            <a:r>
              <a:rPr lang="en-US" altLang="en-US" sz="2200" dirty="0">
                <a:solidFill>
                  <a:schemeClr val="tx2"/>
                </a:solidFill>
                <a:latin typeface="Times New Roman" pitchFamily="18" charset="0"/>
                <a:cs typeface="Times New Roman" pitchFamily="18" charset="0"/>
              </a:rPr>
              <a:t>A distinction is made between undirected graphs, where edges link two vertices symmetrically, and directed graphs, where edges link two vertices asymmetrically..</a:t>
            </a:r>
          </a:p>
        </p:txBody>
      </p:sp>
    </p:spTree>
    <p:extLst>
      <p:ext uri="{BB962C8B-B14F-4D97-AF65-F5344CB8AC3E}">
        <p14:creationId xmlns:p14="http://schemas.microsoft.com/office/powerpoint/2010/main" val="3010946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An undirected graph is an ordered pair G=(V,E) comprising:</a:t>
            </a:r>
          </a:p>
          <a:p>
            <a:pPr algn="just">
              <a:lnSpc>
                <a:spcPct val="200000"/>
              </a:lnSpc>
              <a:defRPr/>
            </a:pPr>
            <a:r>
              <a:rPr lang="en-US" altLang="en-US" sz="2200" dirty="0">
                <a:solidFill>
                  <a:schemeClr val="tx2"/>
                </a:solidFill>
                <a:latin typeface="Times New Roman" pitchFamily="18" charset="0"/>
                <a:cs typeface="Times New Roman" pitchFamily="18" charset="0"/>
              </a:rPr>
              <a:t>	V, a set of vertices (also called nodes or points);</a:t>
            </a:r>
          </a:p>
          <a:p>
            <a:pPr algn="just">
              <a:lnSpc>
                <a:spcPct val="200000"/>
              </a:lnSpc>
              <a:defRPr/>
            </a:pPr>
            <a:r>
              <a:rPr lang="en-US" altLang="en-US" sz="2200" dirty="0">
                <a:solidFill>
                  <a:schemeClr val="tx2"/>
                </a:solidFill>
                <a:latin typeface="Times New Roman" pitchFamily="18" charset="0"/>
                <a:cs typeface="Times New Roman" pitchFamily="18" charset="0"/>
              </a:rPr>
              <a:t>	E⊆{{</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}∣x,y∈V</a:t>
            </a:r>
            <a:r>
              <a:rPr lang="en-US" altLang="en-US" sz="2200" baseline="30000" dirty="0">
                <a:solidFill>
                  <a:schemeClr val="tx2"/>
                </a:solidFill>
                <a:latin typeface="Times New Roman" pitchFamily="18" charset="0"/>
                <a:cs typeface="Times New Roman" pitchFamily="18" charset="0"/>
              </a:rPr>
              <a:t>2</a:t>
            </a:r>
            <a:r>
              <a:rPr lang="en-US" altLang="en-US" sz="2200" dirty="0">
                <a:solidFill>
                  <a:schemeClr val="tx2"/>
                </a:solidFill>
                <a:latin typeface="Times New Roman" pitchFamily="18" charset="0"/>
                <a:cs typeface="Times New Roman" pitchFamily="18" charset="0"/>
              </a:rPr>
              <a:t> and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a set of edges (also called links or lines), which are unordered pairs of vertices (that is, an edge is associated with two distinct vertices).</a:t>
            </a:r>
          </a:p>
        </p:txBody>
      </p:sp>
      <p:pic>
        <p:nvPicPr>
          <p:cNvPr id="1035" name="Picture 11">
            <a:extLst>
              <a:ext uri="{FF2B5EF4-FFF2-40B4-BE49-F238E27FC236}">
                <a16:creationId xmlns:a16="http://schemas.microsoft.com/office/drawing/2014/main" id="{FF85E280-C92A-C9F6-229C-27EA9991C8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4250" y="4199545"/>
            <a:ext cx="2095500" cy="2095500"/>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6A9AF74-80B8-21F4-AE3A-1D153299B2E9}"/>
              </a:ext>
            </a:extLst>
          </p:cNvPr>
          <p:cNvSpPr txBox="1"/>
          <p:nvPr/>
        </p:nvSpPr>
        <p:spPr>
          <a:xfrm>
            <a:off x="2189743" y="6088559"/>
            <a:ext cx="5281612" cy="769441"/>
          </a:xfrm>
          <a:prstGeom prst="rect">
            <a:avLst/>
          </a:prstGeom>
          <a:noFill/>
        </p:spPr>
        <p:txBody>
          <a:bodyPr wrap="square">
            <a:spAutoFit/>
          </a:bodyPr>
          <a:lstStyle/>
          <a:p>
            <a:r>
              <a:rPr lang="en-US" sz="2200" dirty="0">
                <a:solidFill>
                  <a:schemeClr val="tx2"/>
                </a:solidFill>
                <a:latin typeface="Times New Roman" pitchFamily="18" charset="0"/>
                <a:cs typeface="Times New Roman" pitchFamily="18" charset="0"/>
              </a:rPr>
              <a:t>A graph with three vertices and three edges.</a:t>
            </a:r>
            <a:br>
              <a:rPr lang="en-US" sz="2200" dirty="0">
                <a:solidFill>
                  <a:schemeClr val="tx2"/>
                </a:solidFill>
                <a:latin typeface="Times New Roman" pitchFamily="18" charset="0"/>
                <a:cs typeface="Times New Roman" pitchFamily="18" charset="0"/>
              </a:rPr>
            </a:br>
            <a:endParaRPr 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1099611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31376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In the edge {</a:t>
            </a:r>
            <a:r>
              <a:rPr lang="en-US" altLang="en-US" sz="2200" dirty="0" err="1">
                <a:solidFill>
                  <a:schemeClr val="tx2"/>
                </a:solidFill>
                <a:latin typeface="Times New Roman" pitchFamily="18" charset="0"/>
                <a:cs typeface="Times New Roman" pitchFamily="18" charset="0"/>
              </a:rPr>
              <a:t>x,y</a:t>
            </a:r>
            <a:r>
              <a:rPr lang="en-US" altLang="en-US" sz="2200" dirty="0">
                <a:solidFill>
                  <a:schemeClr val="tx2"/>
                </a:solidFill>
                <a:latin typeface="Times New Roman" pitchFamily="18" charset="0"/>
                <a:cs typeface="Times New Roman" pitchFamily="18" charset="0"/>
              </a:rPr>
              <a:t>}, the vertices x and y are called the endpoints of the edge. The edge is said to join x and y and to be incident on x and on y.</a:t>
            </a:r>
          </a:p>
          <a:p>
            <a:pPr algn="just">
              <a:lnSpc>
                <a:spcPct val="200000"/>
              </a:lnSpc>
              <a:defRPr/>
            </a:pPr>
            <a:r>
              <a:rPr lang="en-US" altLang="en-US" sz="2200" dirty="0">
                <a:solidFill>
                  <a:schemeClr val="tx2"/>
                </a:solidFill>
                <a:latin typeface="Times New Roman" pitchFamily="18" charset="0"/>
                <a:cs typeface="Times New Roman" pitchFamily="18" charset="0"/>
              </a:rPr>
              <a:t> A vertex may exist in a graph and not belong to an edge. </a:t>
            </a:r>
          </a:p>
          <a:p>
            <a:pPr algn="just">
              <a:lnSpc>
                <a:spcPct val="200000"/>
              </a:lnSpc>
              <a:defRPr/>
            </a:pPr>
            <a:r>
              <a:rPr lang="en-US" altLang="en-US" sz="2200" dirty="0">
                <a:solidFill>
                  <a:schemeClr val="tx2"/>
                </a:solidFill>
                <a:latin typeface="Times New Roman" pitchFamily="18" charset="0"/>
                <a:cs typeface="Times New Roman" pitchFamily="18" charset="0"/>
              </a:rPr>
              <a:t>Multiple edges are two or more edges that join the same two vertices</a:t>
            </a:r>
          </a:p>
          <a:p>
            <a:pPr algn="just">
              <a:lnSpc>
                <a:spcPct val="200000"/>
              </a:lnSpc>
              <a:defRPr/>
            </a:pPr>
            <a:r>
              <a:rPr lang="en-US" altLang="en-US" sz="2200" dirty="0">
                <a:solidFill>
                  <a:schemeClr val="tx2"/>
                </a:solidFill>
                <a:latin typeface="Times New Roman" pitchFamily="18" charset="0"/>
                <a:cs typeface="Times New Roman" pitchFamily="18" charset="0"/>
              </a:rPr>
              <a:t>A loop is an edge that joins a vertex to itself</a:t>
            </a:r>
          </a:p>
          <a:p>
            <a:pPr algn="just">
              <a:lnSpc>
                <a:spcPct val="200000"/>
              </a:lnSpc>
              <a:defRPr/>
            </a:pPr>
            <a:r>
              <a:rPr lang="en-US" altLang="en-US" sz="2200" dirty="0">
                <a:solidFill>
                  <a:schemeClr val="tx2"/>
                </a:solidFill>
                <a:latin typeface="Times New Roman" pitchFamily="18" charset="0"/>
                <a:cs typeface="Times New Roman" pitchFamily="18" charset="0"/>
              </a:rPr>
              <a:t>Degree of vertex X are the number of edges connected to X</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15171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599087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b="1" dirty="0">
                <a:solidFill>
                  <a:schemeClr val="tx2"/>
                </a:solidFill>
                <a:latin typeface="Times New Roman" pitchFamily="18" charset="0"/>
                <a:cs typeface="Times New Roman" pitchFamily="18" charset="0"/>
              </a:rPr>
              <a:t>Simple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no loop, no multiple edges </a:t>
            </a:r>
            <a:endParaRPr lang="en-US" sz="2200" b="1" dirty="0">
              <a:solidFill>
                <a:schemeClr val="tx2"/>
              </a:solidFill>
              <a:latin typeface="Times New Roman" pitchFamily="18" charset="0"/>
              <a:cs typeface="Times New Roman" pitchFamily="18" charset="0"/>
            </a:endParaRPr>
          </a:p>
          <a:p>
            <a:pPr algn="just">
              <a:lnSpc>
                <a:spcPct val="200000"/>
              </a:lnSpc>
              <a:defRPr/>
            </a:pPr>
            <a:r>
              <a:rPr lang="en-US" altLang="en-US" sz="2200" b="1" dirty="0">
                <a:solidFill>
                  <a:schemeClr val="tx2"/>
                </a:solidFill>
                <a:latin typeface="Times New Roman" pitchFamily="18" charset="0"/>
                <a:cs typeface="Times New Roman" pitchFamily="18" charset="0"/>
              </a:rPr>
              <a:t>Multi-graph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is permitted to have multiple edges (also called parallel edges, that is, edges that have the same end nodes, or. Thus two vertices may be connected by more than one edge.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graph which loop(s)</a:t>
            </a:r>
          </a:p>
          <a:p>
            <a:pPr algn="just">
              <a:lnSpc>
                <a:spcPct val="200000"/>
              </a:lnSpc>
              <a:defRPr/>
            </a:pPr>
            <a:endParaRPr lang="en-US" altLang="en-US" sz="2200" dirty="0">
              <a:solidFill>
                <a:schemeClr val="tx2"/>
              </a:solidFill>
              <a:latin typeface="Times New Roman" pitchFamily="18" charset="0"/>
              <a:cs typeface="Times New Roman" pitchFamily="18" charset="0"/>
            </a:endParaRPr>
          </a:p>
        </p:txBody>
      </p:sp>
    </p:spTree>
    <p:extLst>
      <p:ext uri="{BB962C8B-B14F-4D97-AF65-F5344CB8AC3E}">
        <p14:creationId xmlns:p14="http://schemas.microsoft.com/office/powerpoint/2010/main" val="2566888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95954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A single directed graph is a set G=&lt;V,E&gt;,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V is a finite set of vertices of the graph.</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E is the set of ordered pairs of two </a:t>
            </a:r>
          </a:p>
          <a:p>
            <a:pPr marL="342900" indent="-342900" algn="just">
              <a:lnSpc>
                <a:spcPct val="200000"/>
              </a:lnSpc>
              <a:buFont typeface="Arial" panose="020B0604020202020204" pitchFamily="34" charset="0"/>
              <a:buChar char="•"/>
              <a:defRPr/>
            </a:pPr>
            <a:r>
              <a:rPr lang="en-US" altLang="en-US" sz="2200" dirty="0">
                <a:solidFill>
                  <a:schemeClr val="tx2"/>
                </a:solidFill>
                <a:latin typeface="Times New Roman" pitchFamily="18" charset="0"/>
                <a:cs typeface="Times New Roman" pitchFamily="18" charset="0"/>
              </a:rPr>
              <a:t>different elements of V called arcs.</a:t>
            </a: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9AA5167-A12B-1D13-227A-61871CF407F9}"/>
              </a:ext>
            </a:extLst>
          </p:cNvPr>
          <p:cNvPicPr>
            <a:picLocks noChangeAspect="1"/>
          </p:cNvPicPr>
          <p:nvPr/>
        </p:nvPicPr>
        <p:blipFill>
          <a:blip r:embed="rId4"/>
          <a:stretch>
            <a:fillRect/>
          </a:stretch>
        </p:blipFill>
        <p:spPr>
          <a:xfrm>
            <a:off x="5638800" y="2166937"/>
            <a:ext cx="3143250" cy="2828925"/>
          </a:xfrm>
          <a:prstGeom prst="rect">
            <a:avLst/>
          </a:prstGeom>
        </p:spPr>
      </p:pic>
    </p:spTree>
    <p:extLst>
      <p:ext uri="{BB962C8B-B14F-4D97-AF65-F5344CB8AC3E}">
        <p14:creationId xmlns:p14="http://schemas.microsoft.com/office/powerpoint/2010/main" val="2691129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92822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6.1.1 Undirected &amp; directed graph</a:t>
            </a:r>
          </a:p>
          <a:p>
            <a:pPr algn="just">
              <a:lnSpc>
                <a:spcPct val="200000"/>
              </a:lnSpc>
              <a:defRPr/>
            </a:pPr>
            <a:r>
              <a:rPr lang="en-US" altLang="en-US" sz="2200" dirty="0">
                <a:solidFill>
                  <a:schemeClr val="tx2"/>
                </a:solidFill>
                <a:latin typeface="Times New Roman" pitchFamily="18" charset="0"/>
                <a:cs typeface="Times New Roman" pitchFamily="18" charset="0"/>
              </a:rPr>
              <a:t>Directed graph:	</a:t>
            </a:r>
          </a:p>
          <a:p>
            <a:pPr marL="342900" indent="-342900" algn="just">
              <a:lnSpc>
                <a:spcPct val="200000"/>
              </a:lnSpc>
              <a:buFont typeface="Arial" panose="020B0604020202020204" pitchFamily="34" charset="0"/>
              <a:buChar char="•"/>
              <a:defRPr/>
            </a:pPr>
            <a:endParaRPr lang="en-US" altLang="en-US" sz="2200" dirty="0">
              <a:solidFill>
                <a:schemeClr val="tx2"/>
              </a:solidFill>
              <a:latin typeface="Times New Roman" pitchFamily="18" charset="0"/>
              <a:cs typeface="Times New Roman" pitchFamily="18" charset="0"/>
            </a:endParaRPr>
          </a:p>
        </p:txBody>
      </p:sp>
      <p:sp>
        <p:nvSpPr>
          <p:cNvPr id="3" name="AutoShape 2">
            <a:extLst>
              <a:ext uri="{FF2B5EF4-FFF2-40B4-BE49-F238E27FC236}">
                <a16:creationId xmlns:a16="http://schemas.microsoft.com/office/drawing/2014/main" id="{A3C76A66-D767-DD79-5501-EAF59C084BE0}"/>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2">
            <a:extLst>
              <a:ext uri="{FF2B5EF4-FFF2-40B4-BE49-F238E27FC236}">
                <a16:creationId xmlns:a16="http://schemas.microsoft.com/office/drawing/2014/main" id="{6F8319D8-EEE7-FEE3-B318-0D49A744F52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4112" b="46875"/>
          <a:stretch/>
        </p:blipFill>
        <p:spPr bwMode="auto">
          <a:xfrm>
            <a:off x="1729001" y="2171700"/>
            <a:ext cx="53721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CB910768-5572-56F8-E47C-4EE55FFD3B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4766" r="9346" b="37500"/>
          <a:stretch/>
        </p:blipFill>
        <p:spPr bwMode="auto">
          <a:xfrm>
            <a:off x="3535148" y="3962399"/>
            <a:ext cx="1822357"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6413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par>
                                <p:cTn id="8" presetID="4"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dirty="0">
                <a:solidFill>
                  <a:schemeClr val="tx2"/>
                </a:solidFill>
                <a:latin typeface="Times New Roman" pitchFamily="18" charset="0"/>
                <a:cs typeface="Times New Roman" pitchFamily="18" charset="0"/>
              </a:rPr>
              <a:t>Let the graph G = &lt;V, E&gt;, with V = {v</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v</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 </a:t>
            </a:r>
            <a:r>
              <a:rPr lang="en-US" sz="1900" dirty="0" err="1">
                <a:solidFill>
                  <a:schemeClr val="tx2"/>
                </a:solidFill>
                <a:latin typeface="Times New Roman" pitchFamily="18" charset="0"/>
                <a:cs typeface="Times New Roman" pitchFamily="18" charset="0"/>
              </a:rPr>
              <a:t>v</a:t>
            </a:r>
            <a:r>
              <a:rPr lang="en-US" sz="1900" baseline="-25000" dirty="0" err="1">
                <a:solidFill>
                  <a:schemeClr val="tx2"/>
                </a:solidFill>
                <a:latin typeface="Times New Roman" pitchFamily="18" charset="0"/>
                <a:cs typeface="Times New Roman" pitchFamily="18" charset="0"/>
              </a:rPr>
              <a:t>n</a:t>
            </a:r>
            <a:r>
              <a:rPr lang="en-US" sz="1900" dirty="0">
                <a:solidFill>
                  <a:schemeClr val="tx2"/>
                </a:solidFill>
                <a:latin typeface="Times New Roman" pitchFamily="18" charset="0"/>
                <a:cs typeface="Times New Roman" pitchFamily="18" charset="0"/>
              </a:rPr>
              <a:t>}. The adjacency matrix representing G is a square matrix A, size </a:t>
            </a:r>
            <a:r>
              <a:rPr lang="en-US" sz="1900" dirty="0" err="1">
                <a:solidFill>
                  <a:schemeClr val="tx2"/>
                </a:solidFill>
                <a:latin typeface="Times New Roman" pitchFamily="18" charset="0"/>
                <a:cs typeface="Times New Roman" pitchFamily="18" charset="0"/>
              </a:rPr>
              <a:t>nxn</a:t>
            </a:r>
            <a:r>
              <a:rPr lang="en-US" sz="1900" dirty="0">
                <a:solidFill>
                  <a:schemeClr val="tx2"/>
                </a:solidFill>
                <a:latin typeface="Times New Roman" pitchFamily="18" charset="0"/>
                <a:cs typeface="Times New Roman" pitchFamily="18" charset="0"/>
              </a:rPr>
              <a:t>, defined as follows:</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5" name="Object 3">
            <a:extLst>
              <a:ext uri="{FF2B5EF4-FFF2-40B4-BE49-F238E27FC236}">
                <a16:creationId xmlns:a16="http://schemas.microsoft.com/office/drawing/2014/main" id="{35866A94-C15A-4A2F-416F-3873CBD6D9A7}"/>
              </a:ext>
            </a:extLst>
          </p:cNvPr>
          <p:cNvGraphicFramePr>
            <a:graphicFrameLocks noChangeAspect="1"/>
          </p:cNvGraphicFramePr>
          <p:nvPr>
            <p:extLst>
              <p:ext uri="{D42A27DB-BD31-4B8C-83A1-F6EECF244321}">
                <p14:modId xmlns:p14="http://schemas.microsoft.com/office/powerpoint/2010/main" val="4124009719"/>
              </p:ext>
            </p:extLst>
          </p:nvPr>
        </p:nvGraphicFramePr>
        <p:xfrm>
          <a:off x="2776751" y="3192230"/>
          <a:ext cx="3276600" cy="1106488"/>
        </p:xfrm>
        <a:graphic>
          <a:graphicData uri="http://schemas.openxmlformats.org/presentationml/2006/ole">
            <mc:AlternateContent xmlns:mc="http://schemas.openxmlformats.org/markup-compatibility/2006">
              <mc:Choice xmlns:v="urn:schemas-microsoft-com:vml" Requires="v">
                <p:oleObj name="Equation" r:id="rId4" imgW="1435100" imgH="482600" progId="Equation.DSMT4">
                  <p:embed/>
                </p:oleObj>
              </mc:Choice>
              <mc:Fallback>
                <p:oleObj name="Equation" r:id="rId4" imgW="1435100" imgH="482600" progId="Equation.DSMT4">
                  <p:embed/>
                  <p:pic>
                    <p:nvPicPr>
                      <p:cNvPr id="10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6751" y="3192230"/>
                        <a:ext cx="3276600" cy="1106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20">
            <a:extLst>
              <a:ext uri="{FF2B5EF4-FFF2-40B4-BE49-F238E27FC236}">
                <a16:creationId xmlns:a16="http://schemas.microsoft.com/office/drawing/2014/main" id="{D3203DB3-A88D-654D-A2DF-415DE9B52F6F}"/>
              </a:ext>
            </a:extLst>
          </p:cNvPr>
          <p:cNvGraphicFramePr>
            <a:graphicFrameLocks noChangeAspect="1"/>
          </p:cNvGraphicFramePr>
          <p:nvPr>
            <p:extLst>
              <p:ext uri="{D42A27DB-BD31-4B8C-83A1-F6EECF244321}">
                <p14:modId xmlns:p14="http://schemas.microsoft.com/office/powerpoint/2010/main" val="2472560215"/>
              </p:ext>
            </p:extLst>
          </p:nvPr>
        </p:nvGraphicFramePr>
        <p:xfrm>
          <a:off x="5715000" y="3834530"/>
          <a:ext cx="2909888" cy="2617788"/>
        </p:xfrm>
        <a:graphic>
          <a:graphicData uri="http://schemas.openxmlformats.org/presentationml/2006/ole">
            <mc:AlternateContent xmlns:mc="http://schemas.openxmlformats.org/markup-compatibility/2006">
              <mc:Choice xmlns:v="urn:schemas-microsoft-com:vml" Requires="v">
                <p:oleObj name="Equation" r:id="rId6" imgW="1269720" imgH="1143000" progId="Equation.DSMT4">
                  <p:embed/>
                </p:oleObj>
              </mc:Choice>
              <mc:Fallback>
                <p:oleObj name="Equation" r:id="rId6" imgW="1269720" imgH="1143000" progId="Equation.DSMT4">
                  <p:embed/>
                  <p:pic>
                    <p:nvPicPr>
                      <p:cNvPr id="8194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5000" y="3834530"/>
                        <a:ext cx="2909888" cy="2617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22">
            <a:extLst>
              <a:ext uri="{FF2B5EF4-FFF2-40B4-BE49-F238E27FC236}">
                <a16:creationId xmlns:a16="http://schemas.microsoft.com/office/drawing/2014/main" id="{1240A66D-6244-AE71-650F-F5705CEA6B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800" y="4490168"/>
            <a:ext cx="2971800" cy="201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28">
            <a:extLst>
              <a:ext uri="{FF2B5EF4-FFF2-40B4-BE49-F238E27FC236}">
                <a16:creationId xmlns:a16="http://schemas.microsoft.com/office/drawing/2014/main" id="{815532ED-E6EC-B44F-A4F4-F623F520316B}"/>
              </a:ext>
            </a:extLst>
          </p:cNvPr>
          <p:cNvSpPr>
            <a:spLocks noChangeArrowheads="1"/>
          </p:cNvSpPr>
          <p:nvPr/>
        </p:nvSpPr>
        <p:spPr bwMode="auto">
          <a:xfrm>
            <a:off x="4470400" y="514263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888946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ox(i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matrix: </a:t>
            </a:r>
          </a:p>
          <a:p>
            <a:pPr algn="just">
              <a:lnSpc>
                <a:spcPct val="200000"/>
              </a:lnSpc>
              <a:defRPr/>
            </a:pPr>
            <a:r>
              <a:rPr lang="en-US" sz="1900" b="1" dirty="0">
                <a:solidFill>
                  <a:schemeClr val="tx2"/>
                </a:solidFill>
                <a:latin typeface="Times New Roman" pitchFamily="18" charset="0"/>
                <a:cs typeface="Times New Roman" pitchFamily="18" charset="0"/>
              </a:rPr>
              <a:t>Ex:?</a:t>
            </a:r>
          </a:p>
        </p:txBody>
      </p:sp>
    </p:spTree>
    <p:extLst>
      <p:ext uri="{BB962C8B-B14F-4D97-AF65-F5344CB8AC3E}">
        <p14:creationId xmlns:p14="http://schemas.microsoft.com/office/powerpoint/2010/main" val="3505636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Undirected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3" name="Group 9">
            <a:extLst>
              <a:ext uri="{FF2B5EF4-FFF2-40B4-BE49-F238E27FC236}">
                <a16:creationId xmlns:a16="http://schemas.microsoft.com/office/drawing/2014/main" id="{6BF47DEA-5627-C428-BA77-C4CA4F732635}"/>
              </a:ext>
            </a:extLst>
          </p:cNvPr>
          <p:cNvGrpSpPr>
            <a:grpSpLocks/>
          </p:cNvGrpSpPr>
          <p:nvPr/>
        </p:nvGrpSpPr>
        <p:grpSpPr bwMode="auto">
          <a:xfrm>
            <a:off x="1172949" y="2857500"/>
            <a:ext cx="7315200" cy="1143000"/>
            <a:chOff x="1981200" y="3048000"/>
            <a:chExt cx="5369668" cy="1047750"/>
          </a:xfrm>
        </p:grpSpPr>
        <p:graphicFrame>
          <p:nvGraphicFramePr>
            <p:cNvPr id="5" name="Object 2">
              <a:extLst>
                <a:ext uri="{FF2B5EF4-FFF2-40B4-BE49-F238E27FC236}">
                  <a16:creationId xmlns:a16="http://schemas.microsoft.com/office/drawing/2014/main" id="{4641138B-0143-FB40-3CC4-14A9C46B2163}"/>
                </a:ext>
              </a:extLst>
            </p:cNvPr>
            <p:cNvGraphicFramePr>
              <a:graphicFrameLocks noChangeAspect="1"/>
            </p:cNvGraphicFramePr>
            <p:nvPr/>
          </p:nvGraphicFramePr>
          <p:xfrm>
            <a:off x="1981200" y="3048000"/>
            <a:ext cx="1247775" cy="1047750"/>
          </p:xfrm>
          <a:graphic>
            <a:graphicData uri="http://schemas.openxmlformats.org/presentationml/2006/ole">
              <mc:AlternateContent xmlns:mc="http://schemas.openxmlformats.org/markup-compatibility/2006">
                <mc:Choice xmlns:v="urn:schemas-microsoft-com:vml" Requires="v">
                  <p:oleObj name="Equation" r:id="rId4" imgW="545760" imgH="457200" progId="Equation.DSMT4">
                    <p:embed/>
                  </p:oleObj>
                </mc:Choice>
                <mc:Fallback>
                  <p:oleObj name="Equation" r:id="rId4" imgW="545760" imgH="457200" progId="Equation.DSMT4">
                    <p:embed/>
                    <p:pic>
                      <p:nvPicPr>
                        <p:cNvPr id="30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048000"/>
                          <a:ext cx="1247775"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7">
              <a:extLst>
                <a:ext uri="{FF2B5EF4-FFF2-40B4-BE49-F238E27FC236}">
                  <a16:creationId xmlns:a16="http://schemas.microsoft.com/office/drawing/2014/main" id="{0536C7CF-9629-EBD6-0910-1875796D6E08}"/>
                </a:ext>
              </a:extLst>
            </p:cNvPr>
            <p:cNvSpPr txBox="1">
              <a:spLocks noChangeArrowheads="1"/>
            </p:cNvSpPr>
            <p:nvPr/>
          </p:nvSpPr>
          <p:spPr bwMode="auto">
            <a:xfrm>
              <a:off x="3194726" y="3073400"/>
              <a:ext cx="34290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8" name="TextBox 8">
              <a:extLst>
                <a:ext uri="{FF2B5EF4-FFF2-40B4-BE49-F238E27FC236}">
                  <a16:creationId xmlns:a16="http://schemas.microsoft.com/office/drawing/2014/main" id="{3E89CB97-21D8-64D2-C1CD-30A1550937A8}"/>
                </a:ext>
              </a:extLst>
            </p:cNvPr>
            <p:cNvSpPr txBox="1">
              <a:spLocks noChangeArrowheads="1"/>
            </p:cNvSpPr>
            <p:nvPr/>
          </p:nvSpPr>
          <p:spPr bwMode="auto">
            <a:xfrm>
              <a:off x="3236068" y="3695640"/>
              <a:ext cx="4114800" cy="366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not vertices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grpSp>
    </p:spTree>
    <p:extLst>
      <p:ext uri="{BB962C8B-B14F-4D97-AF65-F5344CB8AC3E}">
        <p14:creationId xmlns:p14="http://schemas.microsoft.com/office/powerpoint/2010/main" val="1977942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r>
              <a:rPr lang="en-US" sz="1900" b="1" dirty="0">
                <a:solidFill>
                  <a:schemeClr val="tx2"/>
                </a:solidFill>
                <a:latin typeface="Times New Roman" pitchFamily="18" charset="0"/>
                <a:cs typeface="Times New Roman" pitchFamily="18" charset="0"/>
              </a:rPr>
              <a:t>Directed graph</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2">
            <a:extLst>
              <a:ext uri="{FF2B5EF4-FFF2-40B4-BE49-F238E27FC236}">
                <a16:creationId xmlns:a16="http://schemas.microsoft.com/office/drawing/2014/main" id="{37C73E80-22A2-ACB2-2195-9FD8DF669AA2}"/>
              </a:ext>
            </a:extLst>
          </p:cNvPr>
          <p:cNvGraphicFramePr>
            <a:graphicFrameLocks noChangeAspect="1"/>
          </p:cNvGraphicFramePr>
          <p:nvPr>
            <p:extLst>
              <p:ext uri="{D42A27DB-BD31-4B8C-83A1-F6EECF244321}">
                <p14:modId xmlns:p14="http://schemas.microsoft.com/office/powerpoint/2010/main" val="3250436672"/>
              </p:ext>
            </p:extLst>
          </p:nvPr>
        </p:nvGraphicFramePr>
        <p:xfrm>
          <a:off x="1219200" y="2833434"/>
          <a:ext cx="1335087" cy="1628775"/>
        </p:xfrm>
        <a:graphic>
          <a:graphicData uri="http://schemas.openxmlformats.org/presentationml/2006/ole">
            <mc:AlternateContent xmlns:mc="http://schemas.openxmlformats.org/markup-compatibility/2006">
              <mc:Choice xmlns:v="urn:schemas-microsoft-com:vml" Requires="v">
                <p:oleObj name="Equation" r:id="rId4" imgW="583920" imgH="711000" progId="Equation.DSMT4">
                  <p:embed/>
                </p:oleObj>
              </mc:Choice>
              <mc:Fallback>
                <p:oleObj name="Equation" r:id="rId4" imgW="583920" imgH="711000" progId="Equation.DSMT4">
                  <p:embed/>
                  <p:pic>
                    <p:nvPicPr>
                      <p:cNvPr id="5122"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200" y="2833434"/>
                        <a:ext cx="1335087" cy="1628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Box 7">
            <a:extLst>
              <a:ext uri="{FF2B5EF4-FFF2-40B4-BE49-F238E27FC236}">
                <a16:creationId xmlns:a16="http://schemas.microsoft.com/office/drawing/2014/main" id="{32604E71-F3CD-41F8-8919-F8039C3344FB}"/>
              </a:ext>
            </a:extLst>
          </p:cNvPr>
          <p:cNvSpPr txBox="1">
            <a:spLocks noChangeArrowheads="1"/>
          </p:cNvSpPr>
          <p:nvPr/>
        </p:nvSpPr>
        <p:spPr bwMode="auto">
          <a:xfrm>
            <a:off x="2630487" y="29096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start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2" name="TextBox 8">
            <a:extLst>
              <a:ext uri="{FF2B5EF4-FFF2-40B4-BE49-F238E27FC236}">
                <a16:creationId xmlns:a16="http://schemas.microsoft.com/office/drawing/2014/main" id="{24A1DFBC-CB83-E01C-ABD7-BFC8522B3A79}"/>
              </a:ext>
            </a:extLst>
          </p:cNvPr>
          <p:cNvSpPr txBox="1">
            <a:spLocks noChangeArrowheads="1"/>
          </p:cNvSpPr>
          <p:nvPr/>
        </p:nvSpPr>
        <p:spPr bwMode="auto">
          <a:xfrm>
            <a:off x="2706687" y="3900234"/>
            <a:ext cx="541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a:t>
            </a: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not </a:t>
            </a:r>
            <a:r>
              <a:rPr lang="en-US" altLang="en-US" sz="2000" b="1" dirty="0">
                <a:solidFill>
                  <a:srgbClr val="FF0000"/>
                </a:solidFill>
              </a:rPr>
              <a:t>a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
        <p:nvSpPr>
          <p:cNvPr id="13" name="TextBox 7">
            <a:extLst>
              <a:ext uri="{FF2B5EF4-FFF2-40B4-BE49-F238E27FC236}">
                <a16:creationId xmlns:a16="http://schemas.microsoft.com/office/drawing/2014/main" id="{71D97F8F-23FC-B8D8-64FF-EDE05E84BF4A}"/>
              </a:ext>
            </a:extLst>
          </p:cNvPr>
          <p:cNvSpPr txBox="1">
            <a:spLocks noChangeArrowheads="1"/>
          </p:cNvSpPr>
          <p:nvPr/>
        </p:nvSpPr>
        <p:spPr bwMode="auto">
          <a:xfrm>
            <a:off x="2630487" y="3443034"/>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v</a:t>
            </a:r>
            <a:r>
              <a:rPr kumimoji="0" lang="en-US" altLang="en-US" sz="2000" b="1" i="0" u="none" strike="noStrike" kern="1200" cap="none" spc="0" normalizeH="0" baseline="-25000" noProof="0" dirty="0">
                <a:ln>
                  <a:noFill/>
                </a:ln>
                <a:solidFill>
                  <a:prstClr val="black"/>
                </a:solidFill>
                <a:effectLst/>
                <a:uLnTx/>
                <a:uFillTx/>
                <a:latin typeface="Arial" charset="0"/>
                <a:cs typeface="Arial" charset="0"/>
              </a:rPr>
              <a:t>i</a:t>
            </a: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 end point of </a:t>
            </a:r>
            <a:r>
              <a:rPr kumimoji="0" lang="en-US" altLang="en-US" sz="2000" b="1" i="0" u="none" strike="noStrike" kern="1200" cap="none" spc="0" normalizeH="0" baseline="0" noProof="0" dirty="0" err="1">
                <a:ln>
                  <a:noFill/>
                </a:ln>
                <a:solidFill>
                  <a:prstClr val="black"/>
                </a:solidFill>
                <a:effectLst/>
                <a:uLnTx/>
                <a:uFillTx/>
                <a:latin typeface="Arial" charset="0"/>
                <a:cs typeface="Arial" charset="0"/>
              </a:rPr>
              <a:t>e</a:t>
            </a:r>
            <a:r>
              <a:rPr kumimoji="0" lang="en-US" altLang="en-US" sz="2000" b="1" i="0" u="none" strike="noStrike" kern="1200" cap="none" spc="0" normalizeH="0" baseline="-25000" noProof="0" dirty="0" err="1">
                <a:ln>
                  <a:noFill/>
                </a:ln>
                <a:solidFill>
                  <a:prstClr val="black"/>
                </a:solidFill>
                <a:effectLst/>
                <a:uLnTx/>
                <a:uFillTx/>
                <a:latin typeface="Arial" charset="0"/>
                <a:cs typeface="Arial" charset="0"/>
              </a:rPr>
              <a:t>j</a:t>
            </a:r>
            <a:endParaRPr kumimoji="0" lang="en-US" altLang="en-US" sz="2000" b="1" i="0" u="none" strike="noStrike" kern="1200" cap="none" spc="0" normalizeH="0" baseline="-25000" noProof="0" dirty="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12311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pSp>
        <p:nvGrpSpPr>
          <p:cNvPr id="9" name="Group 30">
            <a:extLst>
              <a:ext uri="{FF2B5EF4-FFF2-40B4-BE49-F238E27FC236}">
                <a16:creationId xmlns:a16="http://schemas.microsoft.com/office/drawing/2014/main" id="{6910345F-FD46-393E-B6B0-42D32D9D4A3A}"/>
              </a:ext>
            </a:extLst>
          </p:cNvPr>
          <p:cNvGrpSpPr>
            <a:grpSpLocks/>
          </p:cNvGrpSpPr>
          <p:nvPr/>
        </p:nvGrpSpPr>
        <p:grpSpPr bwMode="auto">
          <a:xfrm>
            <a:off x="315913" y="2505075"/>
            <a:ext cx="3036887" cy="2295525"/>
            <a:chOff x="316523" y="2504609"/>
            <a:chExt cx="3036277" cy="2295991"/>
          </a:xfrm>
        </p:grpSpPr>
        <p:sp>
          <p:nvSpPr>
            <p:cNvPr id="10" name="Line 6">
              <a:extLst>
                <a:ext uri="{FF2B5EF4-FFF2-40B4-BE49-F238E27FC236}">
                  <a16:creationId xmlns:a16="http://schemas.microsoft.com/office/drawing/2014/main" id="{A3510F01-5CB3-4A54-84A8-EA054A66D3DE}"/>
                </a:ext>
              </a:extLst>
            </p:cNvPr>
            <p:cNvSpPr>
              <a:spLocks noChangeShapeType="1"/>
            </p:cNvSpPr>
            <p:nvPr/>
          </p:nvSpPr>
          <p:spPr bwMode="auto">
            <a:xfrm>
              <a:off x="1744394"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Line 7">
              <a:extLst>
                <a:ext uri="{FF2B5EF4-FFF2-40B4-BE49-F238E27FC236}">
                  <a16:creationId xmlns:a16="http://schemas.microsoft.com/office/drawing/2014/main" id="{3B8EC39F-4BB7-5A00-35C4-F1A57073AEBC}"/>
                </a:ext>
              </a:extLst>
            </p:cNvPr>
            <p:cNvSpPr>
              <a:spLocks noChangeShapeType="1"/>
            </p:cNvSpPr>
            <p:nvPr/>
          </p:nvSpPr>
          <p:spPr bwMode="auto">
            <a:xfrm>
              <a:off x="562708" y="3016664"/>
              <a:ext cx="0"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Line 8">
              <a:extLst>
                <a:ext uri="{FF2B5EF4-FFF2-40B4-BE49-F238E27FC236}">
                  <a16:creationId xmlns:a16="http://schemas.microsoft.com/office/drawing/2014/main" id="{E4724CD2-9241-F2FA-6DBB-07CBCB4E7EA8}"/>
                </a:ext>
              </a:extLst>
            </p:cNvPr>
            <p:cNvSpPr>
              <a:spLocks noChangeShapeType="1"/>
            </p:cNvSpPr>
            <p:nvPr/>
          </p:nvSpPr>
          <p:spPr bwMode="auto">
            <a:xfrm>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Line 9">
              <a:extLst>
                <a:ext uri="{FF2B5EF4-FFF2-40B4-BE49-F238E27FC236}">
                  <a16:creationId xmlns:a16="http://schemas.microsoft.com/office/drawing/2014/main" id="{B221D17B-69A4-3A65-68DA-AFA927F839BA}"/>
                </a:ext>
              </a:extLst>
            </p:cNvPr>
            <p:cNvSpPr>
              <a:spLocks noChangeShapeType="1"/>
            </p:cNvSpPr>
            <p:nvPr/>
          </p:nvSpPr>
          <p:spPr bwMode="auto">
            <a:xfrm flipH="1">
              <a:off x="562708" y="3016664"/>
              <a:ext cx="1181686" cy="118929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Line 10">
              <a:extLst>
                <a:ext uri="{FF2B5EF4-FFF2-40B4-BE49-F238E27FC236}">
                  <a16:creationId xmlns:a16="http://schemas.microsoft.com/office/drawing/2014/main" id="{5049DA31-C9C3-6176-F64F-9B326DCB373E}"/>
                </a:ext>
              </a:extLst>
            </p:cNvPr>
            <p:cNvSpPr>
              <a:spLocks noChangeShapeType="1"/>
            </p:cNvSpPr>
            <p:nvPr/>
          </p:nvSpPr>
          <p:spPr bwMode="auto">
            <a:xfrm flipH="1">
              <a:off x="562708"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Line 11">
              <a:extLst>
                <a:ext uri="{FF2B5EF4-FFF2-40B4-BE49-F238E27FC236}">
                  <a16:creationId xmlns:a16="http://schemas.microsoft.com/office/drawing/2014/main" id="{7FDC11CA-EF1E-1DB3-D992-1C9334BB2F7D}"/>
                </a:ext>
              </a:extLst>
            </p:cNvPr>
            <p:cNvSpPr>
              <a:spLocks noChangeShapeType="1"/>
            </p:cNvSpPr>
            <p:nvPr/>
          </p:nvSpPr>
          <p:spPr bwMode="auto">
            <a:xfrm flipH="1">
              <a:off x="562708" y="420595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Line 12">
              <a:extLst>
                <a:ext uri="{FF2B5EF4-FFF2-40B4-BE49-F238E27FC236}">
                  <a16:creationId xmlns:a16="http://schemas.microsoft.com/office/drawing/2014/main" id="{CD390CF2-6914-F5F6-3C15-6B140AFEBFBB}"/>
                </a:ext>
              </a:extLst>
            </p:cNvPr>
            <p:cNvSpPr>
              <a:spLocks noChangeShapeType="1"/>
            </p:cNvSpPr>
            <p:nvPr/>
          </p:nvSpPr>
          <p:spPr bwMode="auto">
            <a:xfrm flipH="1">
              <a:off x="1744394" y="3016664"/>
              <a:ext cx="1181686" cy="0"/>
            </a:xfrm>
            <a:prstGeom prst="line">
              <a:avLst/>
            </a:prstGeom>
            <a:noFill/>
            <a:ln w="38100">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Picture 13">
              <a:extLst>
                <a:ext uri="{FF2B5EF4-FFF2-40B4-BE49-F238E27FC236}">
                  <a16:creationId xmlns:a16="http://schemas.microsoft.com/office/drawing/2014/main" id="{F96967FA-65D0-38B5-1DE6-4E57043DC6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6843" y="4024257"/>
              <a:ext cx="246185" cy="297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D44290EE-C108-538A-FD61-ECFB5A8A6322}"/>
                </a:ext>
              </a:extLst>
            </p:cNvPr>
            <p:cNvSpPr txBox="1">
              <a:spLocks noChangeArrowheads="1"/>
            </p:cNvSpPr>
            <p:nvPr/>
          </p:nvSpPr>
          <p:spPr bwMode="auto">
            <a:xfrm>
              <a:off x="316523"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1</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1" name="Text Box 15">
              <a:extLst>
                <a:ext uri="{FF2B5EF4-FFF2-40B4-BE49-F238E27FC236}">
                  <a16:creationId xmlns:a16="http://schemas.microsoft.com/office/drawing/2014/main" id="{EDE25579-486F-E794-970A-64FA137EB733}"/>
                </a:ext>
              </a:extLst>
            </p:cNvPr>
            <p:cNvSpPr txBox="1">
              <a:spLocks noChangeArrowheads="1"/>
            </p:cNvSpPr>
            <p:nvPr/>
          </p:nvSpPr>
          <p:spPr bwMode="auto">
            <a:xfrm>
              <a:off x="1432560" y="2504609"/>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2</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2" name="Text Box 16">
              <a:extLst>
                <a:ext uri="{FF2B5EF4-FFF2-40B4-BE49-F238E27FC236}">
                  <a16:creationId xmlns:a16="http://schemas.microsoft.com/office/drawing/2014/main" id="{AD277AC6-2802-2D90-A5BD-CBF308D867A5}"/>
                </a:ext>
              </a:extLst>
            </p:cNvPr>
            <p:cNvSpPr txBox="1">
              <a:spLocks noChangeArrowheads="1"/>
            </p:cNvSpPr>
            <p:nvPr/>
          </p:nvSpPr>
          <p:spPr bwMode="auto">
            <a:xfrm>
              <a:off x="2614246" y="2521126"/>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3</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 Box 17">
              <a:extLst>
                <a:ext uri="{FF2B5EF4-FFF2-40B4-BE49-F238E27FC236}">
                  <a16:creationId xmlns:a16="http://schemas.microsoft.com/office/drawing/2014/main" id="{6BA054DD-3631-70B0-B936-B87021059086}"/>
                </a:ext>
              </a:extLst>
            </p:cNvPr>
            <p:cNvSpPr txBox="1">
              <a:spLocks noChangeArrowheads="1"/>
            </p:cNvSpPr>
            <p:nvPr/>
          </p:nvSpPr>
          <p:spPr bwMode="auto">
            <a:xfrm>
              <a:off x="365760"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4</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4" name="Text Box 18">
              <a:extLst>
                <a:ext uri="{FF2B5EF4-FFF2-40B4-BE49-F238E27FC236}">
                  <a16:creationId xmlns:a16="http://schemas.microsoft.com/office/drawing/2014/main" id="{21527A86-0224-9A73-022A-58BB24574293}"/>
                </a:ext>
              </a:extLst>
            </p:cNvPr>
            <p:cNvSpPr txBox="1">
              <a:spLocks noChangeArrowheads="1"/>
            </p:cNvSpPr>
            <p:nvPr/>
          </p:nvSpPr>
          <p:spPr bwMode="auto">
            <a:xfrm>
              <a:off x="1547446" y="4205954"/>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5</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sp>
          <p:nvSpPr>
            <p:cNvPr id="25" name="Text Box 19">
              <a:extLst>
                <a:ext uri="{FF2B5EF4-FFF2-40B4-BE49-F238E27FC236}">
                  <a16:creationId xmlns:a16="http://schemas.microsoft.com/office/drawing/2014/main" id="{53D910D6-2195-5ECE-3075-6CB18F8CE88A}"/>
                </a:ext>
              </a:extLst>
            </p:cNvPr>
            <p:cNvSpPr txBox="1">
              <a:spLocks noChangeArrowheads="1"/>
            </p:cNvSpPr>
            <p:nvPr/>
          </p:nvSpPr>
          <p:spPr bwMode="auto">
            <a:xfrm>
              <a:off x="2761956" y="4189437"/>
              <a:ext cx="590844" cy="594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0" i="0" u="none" strike="noStrike" kern="1200" cap="none" spc="0" normalizeH="0" baseline="0" noProof="0">
                  <a:ln>
                    <a:noFill/>
                  </a:ln>
                  <a:solidFill>
                    <a:prstClr val="black"/>
                  </a:solidFill>
                  <a:effectLst/>
                  <a:uLnTx/>
                  <a:uFillTx/>
                  <a:latin typeface="Calibri" charset="0"/>
                  <a:cs typeface="Arial" charset="0"/>
                </a:rPr>
                <a:t>6</a:t>
              </a:r>
              <a:endParaRPr kumimoji="0" lang="en-US" altLang="en-US" sz="2800" b="0" i="0" u="none" strike="noStrike" kern="1200" cap="none" spc="0" normalizeH="0" baseline="0" noProof="0">
                <a:ln>
                  <a:noFill/>
                </a:ln>
                <a:solidFill>
                  <a:prstClr val="black"/>
                </a:solidFill>
                <a:effectLst/>
                <a:uLnTx/>
                <a:uFillTx/>
                <a:latin typeface="Arial" charset="0"/>
                <a:cs typeface="Arial" charset="0"/>
              </a:endParaRPr>
            </a:p>
          </p:txBody>
        </p:sp>
      </p:grpSp>
      <p:graphicFrame>
        <p:nvGraphicFramePr>
          <p:cNvPr id="26" name="Object 2">
            <a:extLst>
              <a:ext uri="{FF2B5EF4-FFF2-40B4-BE49-F238E27FC236}">
                <a16:creationId xmlns:a16="http://schemas.microsoft.com/office/drawing/2014/main" id="{1332BA1B-8CF3-AAD4-3744-A1B672A8F6BD}"/>
              </a:ext>
            </a:extLst>
          </p:cNvPr>
          <p:cNvGraphicFramePr>
            <a:graphicFrameLocks noChangeAspect="1"/>
          </p:cNvGraphicFramePr>
          <p:nvPr/>
        </p:nvGraphicFramePr>
        <p:xfrm>
          <a:off x="4267200" y="1978025"/>
          <a:ext cx="4768850" cy="3279775"/>
        </p:xfrm>
        <a:graphic>
          <a:graphicData uri="http://schemas.openxmlformats.org/presentationml/2006/ole">
            <mc:AlternateContent xmlns:mc="http://schemas.openxmlformats.org/markup-compatibility/2006">
              <mc:Choice xmlns:v="urn:schemas-microsoft-com:vml" Requires="v">
                <p:oleObj name="Equation" r:id="rId5" imgW="1993680" imgH="1371600" progId="Equation.DSMT4">
                  <p:embed/>
                </p:oleObj>
              </mc:Choice>
              <mc:Fallback>
                <p:oleObj name="Equation" r:id="rId5" imgW="1993680" imgH="1371600" progId="Equation.DSMT4">
                  <p:embed/>
                  <p:pic>
                    <p:nvPicPr>
                      <p:cNvPr id="22"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978025"/>
                        <a:ext cx="4768850" cy="327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ight Arrow 22">
            <a:extLst>
              <a:ext uri="{FF2B5EF4-FFF2-40B4-BE49-F238E27FC236}">
                <a16:creationId xmlns:a16="http://schemas.microsoft.com/office/drawing/2014/main" id="{F98A0D5D-8750-F634-A193-E29E70762B03}"/>
              </a:ext>
            </a:extLst>
          </p:cNvPr>
          <p:cNvSpPr>
            <a:spLocks noChangeArrowheads="1"/>
          </p:cNvSpPr>
          <p:nvPr/>
        </p:nvSpPr>
        <p:spPr bwMode="auto">
          <a:xfrm>
            <a:off x="3048000" y="3352800"/>
            <a:ext cx="1066800" cy="457200"/>
          </a:xfrm>
          <a:prstGeom prst="rightArrow">
            <a:avLst>
              <a:gd name="adj1" fmla="val 50000"/>
              <a:gd name="adj2" fmla="val 50005"/>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8" name="Text Box 14">
            <a:extLst>
              <a:ext uri="{FF2B5EF4-FFF2-40B4-BE49-F238E27FC236}">
                <a16:creationId xmlns:a16="http://schemas.microsoft.com/office/drawing/2014/main" id="{E8692699-7289-8CF6-09F8-4C50CB265F03}"/>
              </a:ext>
            </a:extLst>
          </p:cNvPr>
          <p:cNvSpPr txBox="1">
            <a:spLocks noChangeArrowheads="1"/>
          </p:cNvSpPr>
          <p:nvPr/>
        </p:nvSpPr>
        <p:spPr bwMode="auto">
          <a:xfrm>
            <a:off x="8572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9" name="Text Box 14">
            <a:extLst>
              <a:ext uri="{FF2B5EF4-FFF2-40B4-BE49-F238E27FC236}">
                <a16:creationId xmlns:a16="http://schemas.microsoft.com/office/drawing/2014/main" id="{9C487C11-D641-FE64-4583-F751D2BC0ACE}"/>
              </a:ext>
            </a:extLst>
          </p:cNvPr>
          <p:cNvSpPr txBox="1">
            <a:spLocks noChangeArrowheads="1"/>
          </p:cNvSpPr>
          <p:nvPr/>
        </p:nvSpPr>
        <p:spPr bwMode="auto">
          <a:xfrm>
            <a:off x="2152650" y="2514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0" name="Text Box 14">
            <a:extLst>
              <a:ext uri="{FF2B5EF4-FFF2-40B4-BE49-F238E27FC236}">
                <a16:creationId xmlns:a16="http://schemas.microsoft.com/office/drawing/2014/main" id="{C06067FE-C05D-EEE5-E6B4-A24B5BF59303}"/>
              </a:ext>
            </a:extLst>
          </p:cNvPr>
          <p:cNvSpPr txBox="1">
            <a:spLocks noChangeArrowheads="1"/>
          </p:cNvSpPr>
          <p:nvPr/>
        </p:nvSpPr>
        <p:spPr bwMode="auto">
          <a:xfrm>
            <a:off x="95250" y="3214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1" name="Text Box 14">
            <a:extLst>
              <a:ext uri="{FF2B5EF4-FFF2-40B4-BE49-F238E27FC236}">
                <a16:creationId xmlns:a16="http://schemas.microsoft.com/office/drawing/2014/main" id="{0D9F35E5-D3A1-905D-8AA3-D7E0CE96D35C}"/>
              </a:ext>
            </a:extLst>
          </p:cNvPr>
          <p:cNvSpPr txBox="1">
            <a:spLocks noChangeArrowheads="1"/>
          </p:cNvSpPr>
          <p:nvPr/>
        </p:nvSpPr>
        <p:spPr bwMode="auto">
          <a:xfrm>
            <a:off x="806450" y="29987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2" name="Text Box 14">
            <a:extLst>
              <a:ext uri="{FF2B5EF4-FFF2-40B4-BE49-F238E27FC236}">
                <a16:creationId xmlns:a16="http://schemas.microsoft.com/office/drawing/2014/main" id="{3DD50CC0-3D7E-229E-42CE-EFBA95133888}"/>
              </a:ext>
            </a:extLst>
          </p:cNvPr>
          <p:cNvSpPr txBox="1">
            <a:spLocks noChangeArrowheads="1"/>
          </p:cNvSpPr>
          <p:nvPr/>
        </p:nvSpPr>
        <p:spPr bwMode="auto">
          <a:xfrm>
            <a:off x="857250" y="35956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3" name="Text Box 14">
            <a:extLst>
              <a:ext uri="{FF2B5EF4-FFF2-40B4-BE49-F238E27FC236}">
                <a16:creationId xmlns:a16="http://schemas.microsoft.com/office/drawing/2014/main" id="{C8F3BBB9-FD6B-90A1-9400-99631F5EF03A}"/>
              </a:ext>
            </a:extLst>
          </p:cNvPr>
          <p:cNvSpPr txBox="1">
            <a:spLocks noChangeArrowheads="1"/>
          </p:cNvSpPr>
          <p:nvPr/>
        </p:nvSpPr>
        <p:spPr bwMode="auto">
          <a:xfrm>
            <a:off x="914400" y="4114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6</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4" name="Text Box 14">
            <a:extLst>
              <a:ext uri="{FF2B5EF4-FFF2-40B4-BE49-F238E27FC236}">
                <a16:creationId xmlns:a16="http://schemas.microsoft.com/office/drawing/2014/main" id="{DFB3E644-FBAF-8EFB-F107-15224873956F}"/>
              </a:ext>
            </a:extLst>
          </p:cNvPr>
          <p:cNvSpPr txBox="1">
            <a:spLocks noChangeArrowheads="1"/>
          </p:cNvSpPr>
          <p:nvPr/>
        </p:nvSpPr>
        <p:spPr bwMode="auto">
          <a:xfrm>
            <a:off x="1695450" y="3276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7</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35" name="Object 3">
            <a:extLst>
              <a:ext uri="{FF2B5EF4-FFF2-40B4-BE49-F238E27FC236}">
                <a16:creationId xmlns:a16="http://schemas.microsoft.com/office/drawing/2014/main" id="{5FA7A009-AA56-1E64-1450-1DA7D6BFE683}"/>
              </a:ext>
            </a:extLst>
          </p:cNvPr>
          <p:cNvGraphicFramePr>
            <a:graphicFrameLocks noChangeAspect="1"/>
          </p:cNvGraphicFramePr>
          <p:nvPr/>
        </p:nvGraphicFramePr>
        <p:xfrm>
          <a:off x="5308600" y="1562100"/>
          <a:ext cx="3657600" cy="495300"/>
        </p:xfrm>
        <a:graphic>
          <a:graphicData uri="http://schemas.openxmlformats.org/presentationml/2006/ole">
            <mc:AlternateContent xmlns:mc="http://schemas.openxmlformats.org/markup-compatibility/2006">
              <mc:Choice xmlns:v="urn:schemas-microsoft-com:vml" Requires="v">
                <p:oleObj name="Equation" r:id="rId7" imgW="1688760" imgH="228600" progId="Equation.DSMT4">
                  <p:embed/>
                </p:oleObj>
              </mc:Choice>
              <mc:Fallback>
                <p:oleObj name="Equation" r:id="rId7" imgW="168876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08600" y="1562100"/>
                        <a:ext cx="3657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43036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ox(in)">
                                      <p:cBhvr>
                                        <p:cTn id="7" dur="500"/>
                                        <p:tgtEl>
                                          <p:spTgt spid="27"/>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box(in)">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box(in)">
                                      <p:cBhvr>
                                        <p:cTn id="16" dur="500"/>
                                        <p:tgtEl>
                                          <p:spTgt spid="30"/>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box(in)">
                                      <p:cBhvr>
                                        <p:cTn id="19" dur="500"/>
                                        <p:tgtEl>
                                          <p:spTgt spid="28"/>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ox(in)">
                                      <p:cBhvr>
                                        <p:cTn id="22" dur="500"/>
                                        <p:tgtEl>
                                          <p:spTgt spid="2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ox(in)">
                                      <p:cBhvr>
                                        <p:cTn id="25" dur="500"/>
                                        <p:tgtEl>
                                          <p:spTgt spid="31"/>
                                        </p:tgtEl>
                                      </p:cBhvr>
                                    </p:animEffect>
                                  </p:childTnLst>
                                </p:cTn>
                              </p:par>
                              <p:par>
                                <p:cTn id="26" presetID="4" presetClass="entr" presetSubtype="16"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box(in)">
                                      <p:cBhvr>
                                        <p:cTn id="28" dur="500"/>
                                        <p:tgtEl>
                                          <p:spTgt spid="34"/>
                                        </p:tgtEl>
                                      </p:cBhvr>
                                    </p:animEffect>
                                  </p:childTnLst>
                                </p:cTn>
                              </p:par>
                              <p:par>
                                <p:cTn id="29" presetID="4" presetClass="entr" presetSubtype="16"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ox(in)">
                                      <p:cBhvr>
                                        <p:cTn id="31" dur="500"/>
                                        <p:tgtEl>
                                          <p:spTgt spid="32"/>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box(in)">
                                      <p:cBhvr>
                                        <p:cTn id="34" dur="500"/>
                                        <p:tgtEl>
                                          <p:spTgt spid="33"/>
                                        </p:tgtEl>
                                      </p:cBhvr>
                                    </p:animEffect>
                                  </p:childTnLst>
                                </p:cTn>
                              </p:par>
                              <p:par>
                                <p:cTn id="35" presetID="4" presetClass="entr" presetSubtype="16"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box(in)">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p:bldP spid="29" grpId="0"/>
      <p:bldP spid="30" grpId="0"/>
      <p:bldP spid="31" grpId="0"/>
      <p:bldP spid="32" grpId="0"/>
      <p:bldP spid="33" grpId="0"/>
      <p:bldP spid="3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incident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3" name="Picture 22">
            <a:extLst>
              <a:ext uri="{FF2B5EF4-FFF2-40B4-BE49-F238E27FC236}">
                <a16:creationId xmlns:a16="http://schemas.microsoft.com/office/drawing/2014/main" id="{F1DA4C46-47D6-968B-8F0E-55BDEE43F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2286000"/>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ight Arrow 7">
            <a:extLst>
              <a:ext uri="{FF2B5EF4-FFF2-40B4-BE49-F238E27FC236}">
                <a16:creationId xmlns:a16="http://schemas.microsoft.com/office/drawing/2014/main" id="{02603129-B350-C138-9B88-F01CBDCF2FDB}"/>
              </a:ext>
            </a:extLst>
          </p:cNvPr>
          <p:cNvSpPr>
            <a:spLocks noChangeArrowheads="1"/>
          </p:cNvSpPr>
          <p:nvPr/>
        </p:nvSpPr>
        <p:spPr bwMode="auto">
          <a:xfrm>
            <a:off x="3708400" y="2938463"/>
            <a:ext cx="711200" cy="611187"/>
          </a:xfrm>
          <a:prstGeom prst="rightArrow">
            <a:avLst>
              <a:gd name="adj1" fmla="val 50000"/>
              <a:gd name="adj2" fmla="val 50020"/>
            </a:avLst>
          </a:prstGeom>
          <a:solidFill>
            <a:srgbClr val="FF0000"/>
          </a:solidFill>
          <a:ln w="9525">
            <a:solidFill>
              <a:schemeClr val="tx1"/>
            </a:solidFill>
            <a:round/>
            <a:headEnd/>
            <a:tailEnd/>
          </a:ln>
        </p:spPr>
        <p:txBody>
          <a:bodyPr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graphicFrame>
        <p:nvGraphicFramePr>
          <p:cNvPr id="7" name="Object 2">
            <a:extLst>
              <a:ext uri="{FF2B5EF4-FFF2-40B4-BE49-F238E27FC236}">
                <a16:creationId xmlns:a16="http://schemas.microsoft.com/office/drawing/2014/main" id="{F45B812A-41C5-804F-C8DA-56EFA6E1A313}"/>
              </a:ext>
            </a:extLst>
          </p:cNvPr>
          <p:cNvGraphicFramePr>
            <a:graphicFrameLocks noChangeAspect="1"/>
          </p:cNvGraphicFramePr>
          <p:nvPr/>
        </p:nvGraphicFramePr>
        <p:xfrm>
          <a:off x="4557713" y="2438400"/>
          <a:ext cx="4586287" cy="2200275"/>
        </p:xfrm>
        <a:graphic>
          <a:graphicData uri="http://schemas.openxmlformats.org/presentationml/2006/ole">
            <mc:AlternateContent xmlns:mc="http://schemas.openxmlformats.org/markup-compatibility/2006">
              <mc:Choice xmlns:v="urn:schemas-microsoft-com:vml" Requires="v">
                <p:oleObj name="Equation" r:id="rId5" imgW="1904760" imgH="914400" progId="Equation.DSMT4">
                  <p:embed/>
                </p:oleObj>
              </mc:Choice>
              <mc:Fallback>
                <p:oleObj name="Equation" r:id="rId5" imgW="1904760" imgH="914400" progId="Equation.DSMT4">
                  <p:embed/>
                  <p:pic>
                    <p:nvPicPr>
                      <p:cNvPr id="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57713" y="2438400"/>
                        <a:ext cx="4586287"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4">
            <a:extLst>
              <a:ext uri="{FF2B5EF4-FFF2-40B4-BE49-F238E27FC236}">
                <a16:creationId xmlns:a16="http://schemas.microsoft.com/office/drawing/2014/main" id="{53F745EF-0128-1A56-818E-A1C7B863CE78}"/>
              </a:ext>
            </a:extLst>
          </p:cNvPr>
          <p:cNvSpPr txBox="1">
            <a:spLocks noChangeArrowheads="1"/>
          </p:cNvSpPr>
          <p:nvPr/>
        </p:nvSpPr>
        <p:spPr bwMode="auto">
          <a:xfrm>
            <a:off x="609600" y="26812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6" name="Text Box 14">
            <a:extLst>
              <a:ext uri="{FF2B5EF4-FFF2-40B4-BE49-F238E27FC236}">
                <a16:creationId xmlns:a16="http://schemas.microsoft.com/office/drawing/2014/main" id="{6E670E33-B6AF-47BE-4F48-B497B441DCA1}"/>
              </a:ext>
            </a:extLst>
          </p:cNvPr>
          <p:cNvSpPr txBox="1">
            <a:spLocks noChangeArrowheads="1"/>
          </p:cNvSpPr>
          <p:nvPr/>
        </p:nvSpPr>
        <p:spPr bwMode="auto">
          <a:xfrm>
            <a:off x="1600200" y="28956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7" name="Text Box 14">
            <a:extLst>
              <a:ext uri="{FF2B5EF4-FFF2-40B4-BE49-F238E27FC236}">
                <a16:creationId xmlns:a16="http://schemas.microsoft.com/office/drawing/2014/main" id="{AB40215C-C07A-80EE-2009-0B579F9B59B6}"/>
              </a:ext>
            </a:extLst>
          </p:cNvPr>
          <p:cNvSpPr txBox="1">
            <a:spLocks noChangeArrowheads="1"/>
          </p:cNvSpPr>
          <p:nvPr/>
        </p:nvSpPr>
        <p:spPr bwMode="auto">
          <a:xfrm>
            <a:off x="1295400" y="3671888"/>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8" name="Text Box 14">
            <a:extLst>
              <a:ext uri="{FF2B5EF4-FFF2-40B4-BE49-F238E27FC236}">
                <a16:creationId xmlns:a16="http://schemas.microsoft.com/office/drawing/2014/main" id="{CD43F489-A128-A81A-31ED-9EAABF874DBA}"/>
              </a:ext>
            </a:extLst>
          </p:cNvPr>
          <p:cNvSpPr txBox="1">
            <a:spLocks noChangeArrowheads="1"/>
          </p:cNvSpPr>
          <p:nvPr/>
        </p:nvSpPr>
        <p:spPr bwMode="auto">
          <a:xfrm>
            <a:off x="2381250" y="27432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39" name="Text Box 14">
            <a:extLst>
              <a:ext uri="{FF2B5EF4-FFF2-40B4-BE49-F238E27FC236}">
                <a16:creationId xmlns:a16="http://schemas.microsoft.com/office/drawing/2014/main" id="{0EA943FA-AED1-176C-F51A-C2244256873D}"/>
              </a:ext>
            </a:extLst>
          </p:cNvPr>
          <p:cNvSpPr txBox="1">
            <a:spLocks noChangeArrowheads="1"/>
          </p:cNvSpPr>
          <p:nvPr/>
        </p:nvSpPr>
        <p:spPr bwMode="auto">
          <a:xfrm>
            <a:off x="2990850" y="2971800"/>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40" name="Object 3">
            <a:extLst>
              <a:ext uri="{FF2B5EF4-FFF2-40B4-BE49-F238E27FC236}">
                <a16:creationId xmlns:a16="http://schemas.microsoft.com/office/drawing/2014/main" id="{677C582A-EE03-72CD-38E4-81DAF2BFA17C}"/>
              </a:ext>
            </a:extLst>
          </p:cNvPr>
          <p:cNvGraphicFramePr>
            <a:graphicFrameLocks noChangeAspect="1"/>
          </p:cNvGraphicFramePr>
          <p:nvPr/>
        </p:nvGraphicFramePr>
        <p:xfrm>
          <a:off x="5802313" y="1905000"/>
          <a:ext cx="3738562" cy="495300"/>
        </p:xfrm>
        <a:graphic>
          <a:graphicData uri="http://schemas.openxmlformats.org/presentationml/2006/ole">
            <mc:AlternateContent xmlns:mc="http://schemas.openxmlformats.org/markup-compatibility/2006">
              <mc:Choice xmlns:v="urn:schemas-microsoft-com:vml" Requires="v">
                <p:oleObj name="Equation" r:id="rId7" imgW="1726920" imgH="228600" progId="Equation.DSMT4">
                  <p:embed/>
                </p:oleObj>
              </mc:Choice>
              <mc:Fallback>
                <p:oleObj name="Equation" r:id="rId7" imgW="1726920" imgH="228600" progId="Equation.DSMT4">
                  <p:embed/>
                  <p:pic>
                    <p:nvPicPr>
                      <p:cNvPr id="9318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2313" y="1905000"/>
                        <a:ext cx="373856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268239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ox(in)">
                                      <p:cBhvr>
                                        <p:cTn id="7" dur="500"/>
                                        <p:tgtEl>
                                          <p:spTgt spid="37"/>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ox(in)">
                                      <p:cBhvr>
                                        <p:cTn id="10" dur="500"/>
                                        <p:tgtEl>
                                          <p:spTgt spid="8"/>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ox(in)">
                                      <p:cBhvr>
                                        <p:cTn id="13" dur="500"/>
                                        <p:tgtEl>
                                          <p:spTgt spid="36"/>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box(in)">
                                      <p:cBhvr>
                                        <p:cTn id="16" dur="500"/>
                                        <p:tgtEl>
                                          <p:spTgt spid="38"/>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box(in)">
                                      <p:cBhvr>
                                        <p:cTn id="19" dur="500"/>
                                        <p:tgtEl>
                                          <p:spTgt spid="39"/>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ox(in)">
                                      <p:cBhvr>
                                        <p:cTn id="24" dur="500"/>
                                        <p:tgtEl>
                                          <p:spTgt spid="5"/>
                                        </p:tgtEl>
                                      </p:cBhvr>
                                    </p:animEffect>
                                  </p:childTnLst>
                                </p:cTn>
                              </p:par>
                            </p:childTnLst>
                          </p:cTn>
                        </p:par>
                        <p:par>
                          <p:cTn id="25" fill="hold">
                            <p:stCondLst>
                              <p:cond delay="500"/>
                            </p:stCondLst>
                            <p:childTnLst>
                              <p:par>
                                <p:cTn id="26" presetID="4" presetClass="entr" presetSubtype="16" fill="hold"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ox(in)">
                                      <p:cBhvr>
                                        <p:cTn id="28" dur="500"/>
                                        <p:tgtEl>
                                          <p:spTgt spid="7"/>
                                        </p:tgtEl>
                                      </p:cBhvr>
                                    </p:animEffect>
                                  </p:childTnLst>
                                </p:cTn>
                              </p:par>
                              <p:par>
                                <p:cTn id="29" presetID="4" presetClass="entr" presetSubtype="16"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box(in)">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weight matrix: </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graphicFrame>
        <p:nvGraphicFramePr>
          <p:cNvPr id="9" name="Object 3">
            <a:extLst>
              <a:ext uri="{FF2B5EF4-FFF2-40B4-BE49-F238E27FC236}">
                <a16:creationId xmlns:a16="http://schemas.microsoft.com/office/drawing/2014/main" id="{5E97D109-FB58-C761-4434-5993396B3433}"/>
              </a:ext>
            </a:extLst>
          </p:cNvPr>
          <p:cNvGraphicFramePr>
            <a:graphicFrameLocks noChangeAspect="1"/>
          </p:cNvGraphicFramePr>
          <p:nvPr>
            <p:extLst>
              <p:ext uri="{D42A27DB-BD31-4B8C-83A1-F6EECF244321}">
                <p14:modId xmlns:p14="http://schemas.microsoft.com/office/powerpoint/2010/main" val="1421999372"/>
              </p:ext>
            </p:extLst>
          </p:nvPr>
        </p:nvGraphicFramePr>
        <p:xfrm>
          <a:off x="2057400" y="2123399"/>
          <a:ext cx="4232275" cy="1106488"/>
        </p:xfrm>
        <a:graphic>
          <a:graphicData uri="http://schemas.openxmlformats.org/presentationml/2006/ole">
            <mc:AlternateContent xmlns:mc="http://schemas.openxmlformats.org/markup-compatibility/2006">
              <mc:Choice xmlns:v="urn:schemas-microsoft-com:vml" Requires="v">
                <p:oleObj name="Equation" r:id="rId4" imgW="1854200" imgH="482600" progId="Equation.DSMT4">
                  <p:embed/>
                </p:oleObj>
              </mc:Choice>
              <mc:Fallback>
                <p:oleObj name="Equation" r:id="rId4" imgW="1854200" imgH="482600" progId="Equation.DSMT4">
                  <p:embed/>
                  <p:pic>
                    <p:nvPicPr>
                      <p:cNvPr id="3789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123399"/>
                        <a:ext cx="4232275"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Picture 11">
            <a:extLst>
              <a:ext uri="{FF2B5EF4-FFF2-40B4-BE49-F238E27FC236}">
                <a16:creationId xmlns:a16="http://schemas.microsoft.com/office/drawing/2014/main" id="{3A3A6EC4-D01C-DFC6-76DC-8524541CEC19}"/>
              </a:ext>
            </a:extLst>
          </p:cNvPr>
          <p:cNvPicPr>
            <a:picLocks noChangeAspect="1"/>
          </p:cNvPicPr>
          <p:nvPr/>
        </p:nvPicPr>
        <p:blipFill>
          <a:blip r:embed="rId6"/>
          <a:stretch>
            <a:fillRect/>
          </a:stretch>
        </p:blipFill>
        <p:spPr>
          <a:xfrm>
            <a:off x="917575" y="3419175"/>
            <a:ext cx="7410450" cy="2895600"/>
          </a:xfrm>
          <a:prstGeom prst="rect">
            <a:avLst/>
          </a:prstGeom>
        </p:spPr>
      </p:pic>
    </p:spTree>
    <p:extLst>
      <p:ext uri="{BB962C8B-B14F-4D97-AF65-F5344CB8AC3E}">
        <p14:creationId xmlns:p14="http://schemas.microsoft.com/office/powerpoint/2010/main" val="32270820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edge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19" name="Picture 22">
            <a:extLst>
              <a:ext uri="{FF2B5EF4-FFF2-40B4-BE49-F238E27FC236}">
                <a16:creationId xmlns:a16="http://schemas.microsoft.com/office/drawing/2014/main" id="{C22F8737-312C-7F17-292D-47842423EB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2605603"/>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 Box 14">
            <a:extLst>
              <a:ext uri="{FF2B5EF4-FFF2-40B4-BE49-F238E27FC236}">
                <a16:creationId xmlns:a16="http://schemas.microsoft.com/office/drawing/2014/main" id="{C97AA692-3D1C-2FFC-009A-0EC995DB2D10}"/>
              </a:ext>
            </a:extLst>
          </p:cNvPr>
          <p:cNvSpPr txBox="1">
            <a:spLocks noChangeArrowheads="1"/>
          </p:cNvSpPr>
          <p:nvPr/>
        </p:nvSpPr>
        <p:spPr bwMode="auto">
          <a:xfrm>
            <a:off x="1447800" y="30008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1</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1" name="Text Box 14">
            <a:extLst>
              <a:ext uri="{FF2B5EF4-FFF2-40B4-BE49-F238E27FC236}">
                <a16:creationId xmlns:a16="http://schemas.microsoft.com/office/drawing/2014/main" id="{EB964451-9E40-D635-C5E3-C95BC94C9C7A}"/>
              </a:ext>
            </a:extLst>
          </p:cNvPr>
          <p:cNvSpPr txBox="1">
            <a:spLocks noChangeArrowheads="1"/>
          </p:cNvSpPr>
          <p:nvPr/>
        </p:nvSpPr>
        <p:spPr bwMode="auto">
          <a:xfrm>
            <a:off x="2438400" y="32152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2</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2" name="Text Box 14">
            <a:extLst>
              <a:ext uri="{FF2B5EF4-FFF2-40B4-BE49-F238E27FC236}">
                <a16:creationId xmlns:a16="http://schemas.microsoft.com/office/drawing/2014/main" id="{5CCB4FFB-5D14-A32C-5278-4B1242DF4DAC}"/>
              </a:ext>
            </a:extLst>
          </p:cNvPr>
          <p:cNvSpPr txBox="1">
            <a:spLocks noChangeArrowheads="1"/>
          </p:cNvSpPr>
          <p:nvPr/>
        </p:nvSpPr>
        <p:spPr bwMode="auto">
          <a:xfrm>
            <a:off x="2133600" y="3991491"/>
            <a:ext cx="590550"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3</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3" name="Text Box 14">
            <a:extLst>
              <a:ext uri="{FF2B5EF4-FFF2-40B4-BE49-F238E27FC236}">
                <a16:creationId xmlns:a16="http://schemas.microsoft.com/office/drawing/2014/main" id="{1EE9F689-53FB-1446-1F43-27A58FC62BB4}"/>
              </a:ext>
            </a:extLst>
          </p:cNvPr>
          <p:cNvSpPr txBox="1">
            <a:spLocks noChangeArrowheads="1"/>
          </p:cNvSpPr>
          <p:nvPr/>
        </p:nvSpPr>
        <p:spPr bwMode="auto">
          <a:xfrm>
            <a:off x="3219450" y="30628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4</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sp>
        <p:nvSpPr>
          <p:cNvPr id="24" name="Text Box 14">
            <a:extLst>
              <a:ext uri="{FF2B5EF4-FFF2-40B4-BE49-F238E27FC236}">
                <a16:creationId xmlns:a16="http://schemas.microsoft.com/office/drawing/2014/main" id="{4EA7C4DD-30D0-1238-F3CF-96FE8A7FCC4D}"/>
              </a:ext>
            </a:extLst>
          </p:cNvPr>
          <p:cNvSpPr txBox="1">
            <a:spLocks noChangeArrowheads="1"/>
          </p:cNvSpPr>
          <p:nvPr/>
        </p:nvSpPr>
        <p:spPr bwMode="auto">
          <a:xfrm>
            <a:off x="3829050" y="3291403"/>
            <a:ext cx="5905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n-US" altLang="en-US" sz="2800" b="1" i="0" u="none" strike="noStrike" kern="1200" cap="none" spc="0" normalizeH="0" baseline="0" noProof="0">
                <a:ln>
                  <a:noFill/>
                </a:ln>
                <a:solidFill>
                  <a:srgbClr val="FF0000"/>
                </a:solidFill>
                <a:effectLst/>
                <a:uLnTx/>
                <a:uFillTx/>
                <a:latin typeface="Calibri" charset="0"/>
                <a:cs typeface="Arial" charset="0"/>
              </a:rPr>
              <a:t>e</a:t>
            </a:r>
            <a:r>
              <a:rPr kumimoji="0" lang="en-US" altLang="en-US" sz="2800" b="1" i="0" u="none" strike="noStrike" kern="1200" cap="none" spc="0" normalizeH="0" baseline="-25000" noProof="0">
                <a:ln>
                  <a:noFill/>
                </a:ln>
                <a:solidFill>
                  <a:srgbClr val="FF0000"/>
                </a:solidFill>
                <a:effectLst/>
                <a:uLnTx/>
                <a:uFillTx/>
                <a:latin typeface="Calibri" charset="0"/>
                <a:cs typeface="Arial" charset="0"/>
              </a:rPr>
              <a:t>5</a:t>
            </a:r>
            <a:endParaRPr kumimoji="0" lang="en-US" altLang="en-US" sz="2800" b="1" i="0" u="none" strike="noStrike" kern="1200" cap="none" spc="0" normalizeH="0" baseline="-25000" noProof="0">
              <a:ln>
                <a:noFill/>
              </a:ln>
              <a:solidFill>
                <a:srgbClr val="FF0000"/>
              </a:solidFill>
              <a:effectLst/>
              <a:uLnTx/>
              <a:uFillTx/>
              <a:latin typeface="Arial" charset="0"/>
              <a:cs typeface="Arial" charset="0"/>
            </a:endParaRPr>
          </a:p>
        </p:txBody>
      </p:sp>
      <p:graphicFrame>
        <p:nvGraphicFramePr>
          <p:cNvPr id="25" name="Table 24">
            <a:extLst>
              <a:ext uri="{FF2B5EF4-FFF2-40B4-BE49-F238E27FC236}">
                <a16:creationId xmlns:a16="http://schemas.microsoft.com/office/drawing/2014/main" id="{FC059D80-953A-06F7-858E-DF83A6F3DF7E}"/>
              </a:ext>
            </a:extLst>
          </p:cNvPr>
          <p:cNvGraphicFramePr>
            <a:graphicFrameLocks noGrp="1"/>
          </p:cNvGraphicFramePr>
          <p:nvPr>
            <p:extLst>
              <p:ext uri="{D42A27DB-BD31-4B8C-83A1-F6EECF244321}">
                <p14:modId xmlns:p14="http://schemas.microsoft.com/office/powerpoint/2010/main" val="3953050970"/>
              </p:ext>
            </p:extLst>
          </p:nvPr>
        </p:nvGraphicFramePr>
        <p:xfrm>
          <a:off x="5715000" y="2286000"/>
          <a:ext cx="1981200" cy="280404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518043">
                <a:tc>
                  <a:txBody>
                    <a:bodyPr/>
                    <a:lstStyle/>
                    <a:p>
                      <a:pPr algn="ctr"/>
                      <a:r>
                        <a:rPr lang="en-US" sz="2800" b="1" dirty="0">
                          <a:solidFill>
                            <a:srgbClr val="0000CC"/>
                          </a:solidFill>
                        </a:rPr>
                        <a:t>Start</a:t>
                      </a:r>
                    </a:p>
                  </a:txBody>
                  <a:tcPr marT="45710" marB="45710"/>
                </a:tc>
                <a:tc>
                  <a:txBody>
                    <a:bodyPr/>
                    <a:lstStyle/>
                    <a:p>
                      <a:pPr algn="ctr"/>
                      <a:r>
                        <a:rPr lang="en-US" sz="2800" b="1" dirty="0">
                          <a:solidFill>
                            <a:srgbClr val="0000CC"/>
                          </a:solidFill>
                        </a:rPr>
                        <a:t>End</a:t>
                      </a:r>
                    </a:p>
                  </a:txBody>
                  <a:tcPr marT="45710" marB="45710"/>
                </a:tc>
                <a:extLst>
                  <a:ext uri="{0D108BD9-81ED-4DB2-BD59-A6C34878D82A}">
                    <a16:rowId xmlns:a16="http://schemas.microsoft.com/office/drawing/2014/main" val="10000"/>
                  </a:ext>
                </a:extLst>
              </a:tr>
              <a:tr h="457096">
                <a:tc>
                  <a:txBody>
                    <a:bodyPr/>
                    <a:lstStyle/>
                    <a:p>
                      <a:pPr algn="ctr"/>
                      <a:r>
                        <a:rPr lang="en-US" sz="2400" b="1"/>
                        <a:t>1</a:t>
                      </a:r>
                    </a:p>
                  </a:txBody>
                  <a:tcPr marT="45710" marB="45710"/>
                </a:tc>
                <a:tc>
                  <a:txBody>
                    <a:bodyPr/>
                    <a:lstStyle/>
                    <a:p>
                      <a:pPr algn="ctr"/>
                      <a:r>
                        <a:rPr lang="en-US" sz="2400" b="1"/>
                        <a:t>3</a:t>
                      </a:r>
                    </a:p>
                  </a:txBody>
                  <a:tcPr marT="45710" marB="45710"/>
                </a:tc>
                <a:extLst>
                  <a:ext uri="{0D108BD9-81ED-4DB2-BD59-A6C34878D82A}">
                    <a16:rowId xmlns:a16="http://schemas.microsoft.com/office/drawing/2014/main" val="10001"/>
                  </a:ext>
                </a:extLst>
              </a:tr>
              <a:tr h="457096">
                <a:tc>
                  <a:txBody>
                    <a:bodyPr/>
                    <a:lstStyle/>
                    <a:p>
                      <a:pPr algn="ctr"/>
                      <a:r>
                        <a:rPr lang="en-US" sz="2400" b="1"/>
                        <a:t>4</a:t>
                      </a:r>
                    </a:p>
                  </a:txBody>
                  <a:tcPr marT="45710" marB="45710"/>
                </a:tc>
                <a:tc>
                  <a:txBody>
                    <a:bodyPr/>
                    <a:lstStyle/>
                    <a:p>
                      <a:pPr algn="ctr"/>
                      <a:r>
                        <a:rPr lang="en-US" sz="2400" b="1"/>
                        <a:t>1</a:t>
                      </a:r>
                    </a:p>
                  </a:txBody>
                  <a:tcPr marT="45710" marB="45710"/>
                </a:tc>
                <a:extLst>
                  <a:ext uri="{0D108BD9-81ED-4DB2-BD59-A6C34878D82A}">
                    <a16:rowId xmlns:a16="http://schemas.microsoft.com/office/drawing/2014/main" val="10002"/>
                  </a:ext>
                </a:extLst>
              </a:tr>
              <a:tr h="457096">
                <a:tc>
                  <a:txBody>
                    <a:bodyPr/>
                    <a:lstStyle/>
                    <a:p>
                      <a:pPr algn="ctr"/>
                      <a:r>
                        <a:rPr lang="en-US" sz="2400" b="1"/>
                        <a:t>3</a:t>
                      </a:r>
                    </a:p>
                  </a:txBody>
                  <a:tcPr marT="45710" marB="45710"/>
                </a:tc>
                <a:tc>
                  <a:txBody>
                    <a:bodyPr/>
                    <a:lstStyle/>
                    <a:p>
                      <a:pPr algn="ctr"/>
                      <a:r>
                        <a:rPr lang="en-US" sz="2400" b="1"/>
                        <a:t>4</a:t>
                      </a:r>
                    </a:p>
                  </a:txBody>
                  <a:tcPr marT="45710" marB="45710"/>
                </a:tc>
                <a:extLst>
                  <a:ext uri="{0D108BD9-81ED-4DB2-BD59-A6C34878D82A}">
                    <a16:rowId xmlns:a16="http://schemas.microsoft.com/office/drawing/2014/main" val="10003"/>
                  </a:ext>
                </a:extLst>
              </a:tr>
              <a:tr h="457096">
                <a:tc>
                  <a:txBody>
                    <a:bodyPr/>
                    <a:lstStyle/>
                    <a:p>
                      <a:pPr algn="ctr"/>
                      <a:r>
                        <a:rPr lang="en-US" sz="2400" b="1"/>
                        <a:t>4</a:t>
                      </a:r>
                    </a:p>
                  </a:txBody>
                  <a:tcPr marT="45710" marB="45710"/>
                </a:tc>
                <a:tc>
                  <a:txBody>
                    <a:bodyPr/>
                    <a:lstStyle/>
                    <a:p>
                      <a:pPr algn="ctr"/>
                      <a:r>
                        <a:rPr lang="en-US" sz="2400" b="1"/>
                        <a:t>2</a:t>
                      </a:r>
                    </a:p>
                  </a:txBody>
                  <a:tcPr marT="45710" marB="45710"/>
                </a:tc>
                <a:extLst>
                  <a:ext uri="{0D108BD9-81ED-4DB2-BD59-A6C34878D82A}">
                    <a16:rowId xmlns:a16="http://schemas.microsoft.com/office/drawing/2014/main" val="10004"/>
                  </a:ext>
                </a:extLst>
              </a:tr>
              <a:tr h="457096">
                <a:tc>
                  <a:txBody>
                    <a:bodyPr/>
                    <a:lstStyle/>
                    <a:p>
                      <a:pPr algn="ctr"/>
                      <a:r>
                        <a:rPr lang="en-US" sz="2400" b="1"/>
                        <a:t>2</a:t>
                      </a:r>
                    </a:p>
                  </a:txBody>
                  <a:tcPr marT="45710" marB="45710"/>
                </a:tc>
                <a:tc>
                  <a:txBody>
                    <a:bodyPr/>
                    <a:lstStyle/>
                    <a:p>
                      <a:pPr algn="ctr"/>
                      <a:r>
                        <a:rPr lang="en-US" sz="2400" b="1" dirty="0"/>
                        <a:t>4</a:t>
                      </a:r>
                    </a:p>
                  </a:txBody>
                  <a:tcPr marT="45710" marB="45710"/>
                </a:tc>
                <a:extLst>
                  <a:ext uri="{0D108BD9-81ED-4DB2-BD59-A6C34878D82A}">
                    <a16:rowId xmlns:a16="http://schemas.microsoft.com/office/drawing/2014/main" val="10005"/>
                  </a:ext>
                </a:extLst>
              </a:tr>
            </a:tbl>
          </a:graphicData>
        </a:graphic>
      </p:graphicFrame>
      <p:sp>
        <p:nvSpPr>
          <p:cNvPr id="26" name="Right Arrow 13">
            <a:extLst>
              <a:ext uri="{FF2B5EF4-FFF2-40B4-BE49-F238E27FC236}">
                <a16:creationId xmlns:a16="http://schemas.microsoft.com/office/drawing/2014/main" id="{78E3B277-A52A-382A-32DD-D48B827D11F8}"/>
              </a:ext>
            </a:extLst>
          </p:cNvPr>
          <p:cNvSpPr>
            <a:spLocks noChangeArrowheads="1"/>
          </p:cNvSpPr>
          <p:nvPr/>
        </p:nvSpPr>
        <p:spPr bwMode="auto">
          <a:xfrm>
            <a:off x="4572000" y="3367603"/>
            <a:ext cx="990600" cy="533400"/>
          </a:xfrm>
          <a:prstGeom prst="rightArrow">
            <a:avLst>
              <a:gd name="adj1" fmla="val 50000"/>
              <a:gd name="adj2" fmla="val 49997"/>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303122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ox(in)">
                                      <p:cBhvr>
                                        <p:cTn id="7" dur="500"/>
                                        <p:tgtEl>
                                          <p:spTgt spid="26"/>
                                        </p:tgtEl>
                                      </p:cBhvr>
                                    </p:animEffect>
                                  </p:childTnLst>
                                </p:cTn>
                              </p:par>
                              <p:par>
                                <p:cTn id="8" presetID="4" presetClass="entr" presetSubtype="16"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box(in)">
                                      <p:cBhvr>
                                        <p:cTn id="1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857"/>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6.1.2. Graphical representation.</a:t>
            </a:r>
          </a:p>
          <a:p>
            <a:pPr algn="just">
              <a:lnSpc>
                <a:spcPct val="200000"/>
              </a:lnSpc>
              <a:defRPr/>
            </a:pPr>
            <a:r>
              <a:rPr lang="en-US" sz="1900" b="1" dirty="0">
                <a:solidFill>
                  <a:schemeClr val="tx2"/>
                </a:solidFill>
                <a:latin typeface="Times New Roman" pitchFamily="18" charset="0"/>
                <a:cs typeface="Times New Roman" pitchFamily="18" charset="0"/>
              </a:rPr>
              <a:t>By adjacency list</a:t>
            </a:r>
          </a:p>
          <a:p>
            <a:pPr algn="just">
              <a:lnSpc>
                <a:spcPct val="200000"/>
              </a:lnSpc>
              <a:defRPr/>
            </a:pPr>
            <a:endParaRPr lang="en-US" sz="1900" b="1" dirty="0">
              <a:solidFill>
                <a:schemeClr val="tx2"/>
              </a:solidFill>
              <a:latin typeface="Times New Roman" pitchFamily="18" charset="0"/>
              <a:cs typeface="Times New Roman" pitchFamily="18" charset="0"/>
            </a:endParaRPr>
          </a:p>
        </p:txBody>
      </p:sp>
      <p:pic>
        <p:nvPicPr>
          <p:cNvPr id="8" name="Picture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74" y="2263786"/>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a:spLocks noChangeArrowheads="1"/>
          </p:cNvSpPr>
          <p:nvPr/>
        </p:nvSpPr>
        <p:spPr bwMode="auto">
          <a:xfrm>
            <a:off x="6413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3</a:t>
            </a:r>
          </a:p>
        </p:txBody>
      </p:sp>
      <p:sp>
        <p:nvSpPr>
          <p:cNvPr id="10" name="Rectangle 9"/>
          <p:cNvSpPr>
            <a:spLocks noChangeArrowheads="1"/>
          </p:cNvSpPr>
          <p:nvPr/>
        </p:nvSpPr>
        <p:spPr bwMode="auto">
          <a:xfrm>
            <a:off x="6794500" y="41148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2" name="Straight Arrow Connector 11"/>
          <p:cNvCxnSpPr>
            <a:cxnSpLocks noChangeShapeType="1"/>
          </p:cNvCxnSpPr>
          <p:nvPr/>
        </p:nvCxnSpPr>
        <p:spPr bwMode="auto">
          <a:xfrm>
            <a:off x="69469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3" name="TextBox 12"/>
          <p:cNvSpPr txBox="1">
            <a:spLocks noChangeArrowheads="1"/>
          </p:cNvSpPr>
          <p:nvPr/>
        </p:nvSpPr>
        <p:spPr bwMode="auto">
          <a:xfrm>
            <a:off x="7391400" y="40941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15" name="Rectangle 14"/>
          <p:cNvSpPr>
            <a:spLocks noChangeArrowheads="1"/>
          </p:cNvSpPr>
          <p:nvPr/>
        </p:nvSpPr>
        <p:spPr bwMode="auto">
          <a:xfrm>
            <a:off x="6413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16" name="Rectangle 15"/>
          <p:cNvSpPr>
            <a:spLocks noChangeArrowheads="1"/>
          </p:cNvSpPr>
          <p:nvPr/>
        </p:nvSpPr>
        <p:spPr bwMode="auto">
          <a:xfrm>
            <a:off x="6794500" y="45720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7" name="Straight Arrow Connector 16"/>
          <p:cNvCxnSpPr>
            <a:cxnSpLocks noChangeShapeType="1"/>
          </p:cNvCxnSpPr>
          <p:nvPr/>
        </p:nvCxnSpPr>
        <p:spPr bwMode="auto">
          <a:xfrm>
            <a:off x="69469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18" name="TextBox 17"/>
          <p:cNvSpPr txBox="1">
            <a:spLocks noChangeArrowheads="1"/>
          </p:cNvSpPr>
          <p:nvPr/>
        </p:nvSpPr>
        <p:spPr bwMode="auto">
          <a:xfrm>
            <a:off x="7391400" y="45513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0" name="Rectangle 19"/>
          <p:cNvSpPr>
            <a:spLocks noChangeArrowheads="1"/>
          </p:cNvSpPr>
          <p:nvPr/>
        </p:nvSpPr>
        <p:spPr bwMode="auto">
          <a:xfrm>
            <a:off x="6413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4</a:t>
            </a:r>
          </a:p>
        </p:txBody>
      </p:sp>
      <p:sp>
        <p:nvSpPr>
          <p:cNvPr id="21" name="Rectangle 20"/>
          <p:cNvSpPr>
            <a:spLocks noChangeArrowheads="1"/>
          </p:cNvSpPr>
          <p:nvPr/>
        </p:nvSpPr>
        <p:spPr bwMode="auto">
          <a:xfrm>
            <a:off x="6794500" y="50292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2" name="Straight Arrow Connector 21"/>
          <p:cNvCxnSpPr>
            <a:cxnSpLocks noChangeShapeType="1"/>
          </p:cNvCxnSpPr>
          <p:nvPr/>
        </p:nvCxnSpPr>
        <p:spPr bwMode="auto">
          <a:xfrm>
            <a:off x="69469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3" name="TextBox 22"/>
          <p:cNvSpPr txBox="1">
            <a:spLocks noChangeArrowheads="1"/>
          </p:cNvSpPr>
          <p:nvPr/>
        </p:nvSpPr>
        <p:spPr bwMode="auto">
          <a:xfrm>
            <a:off x="7391400" y="50085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25" name="Rectangle 24"/>
          <p:cNvSpPr>
            <a:spLocks noChangeArrowheads="1"/>
          </p:cNvSpPr>
          <p:nvPr/>
        </p:nvSpPr>
        <p:spPr bwMode="auto">
          <a:xfrm>
            <a:off x="6413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1</a:t>
            </a:r>
          </a:p>
        </p:txBody>
      </p:sp>
      <p:sp>
        <p:nvSpPr>
          <p:cNvPr id="26" name="Rectangle 25"/>
          <p:cNvSpPr>
            <a:spLocks noChangeArrowheads="1"/>
          </p:cNvSpPr>
          <p:nvPr/>
        </p:nvSpPr>
        <p:spPr bwMode="auto">
          <a:xfrm>
            <a:off x="67945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27" name="Straight Arrow Connector 26"/>
          <p:cNvCxnSpPr>
            <a:cxnSpLocks noChangeShapeType="1"/>
          </p:cNvCxnSpPr>
          <p:nvPr/>
        </p:nvCxnSpPr>
        <p:spPr bwMode="auto">
          <a:xfrm>
            <a:off x="69469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28" name="TextBox 27"/>
          <p:cNvSpPr txBox="1">
            <a:spLocks noChangeArrowheads="1"/>
          </p:cNvSpPr>
          <p:nvPr/>
        </p:nvSpPr>
        <p:spPr bwMode="auto">
          <a:xfrm>
            <a:off x="8458200" y="545306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NULL</a:t>
            </a:r>
          </a:p>
        </p:txBody>
      </p:sp>
      <p:sp>
        <p:nvSpPr>
          <p:cNvPr id="33" name="Rectangle 32"/>
          <p:cNvSpPr>
            <a:spLocks noChangeArrowheads="1"/>
          </p:cNvSpPr>
          <p:nvPr/>
        </p:nvSpPr>
        <p:spPr bwMode="auto">
          <a:xfrm>
            <a:off x="7467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Arial" charset="0"/>
                <a:cs typeface="Arial" charset="0"/>
              </a:rPr>
              <a:t>2</a:t>
            </a:r>
          </a:p>
        </p:txBody>
      </p:sp>
      <p:sp>
        <p:nvSpPr>
          <p:cNvPr id="34" name="Rectangle 33"/>
          <p:cNvSpPr>
            <a:spLocks noChangeArrowheads="1"/>
          </p:cNvSpPr>
          <p:nvPr/>
        </p:nvSpPr>
        <p:spPr bwMode="auto">
          <a:xfrm>
            <a:off x="7848600" y="5486400"/>
            <a:ext cx="381000" cy="304800"/>
          </a:xfrm>
          <a:prstGeom prst="rect">
            <a:avLst/>
          </a:prstGeom>
          <a:solidFill>
            <a:schemeClr val="accent1"/>
          </a:solidFill>
          <a:ln w="9525">
            <a:solidFill>
              <a:schemeClr val="tx1"/>
            </a:solidFill>
            <a:round/>
            <a:headEnd/>
            <a:tailEnd/>
          </a:ln>
        </p:spPr>
        <p:txBody>
          <a:bodyPr anchor="ctr" anchorCtr="1"/>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35" name="Straight Arrow Connector 34"/>
          <p:cNvCxnSpPr>
            <a:cxnSpLocks noChangeShapeType="1"/>
          </p:cNvCxnSpPr>
          <p:nvPr/>
        </p:nvCxnSpPr>
        <p:spPr bwMode="auto">
          <a:xfrm>
            <a:off x="80010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
        <p:nvSpPr>
          <p:cNvPr id="36" name="Rectangle 35"/>
          <p:cNvSpPr>
            <a:spLocks noChangeArrowheads="1"/>
          </p:cNvSpPr>
          <p:nvPr/>
        </p:nvSpPr>
        <p:spPr bwMode="auto">
          <a:xfrm>
            <a:off x="5715000" y="40386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7" name="Rectangle 36"/>
          <p:cNvSpPr>
            <a:spLocks noChangeArrowheads="1"/>
          </p:cNvSpPr>
          <p:nvPr/>
        </p:nvSpPr>
        <p:spPr bwMode="auto">
          <a:xfrm>
            <a:off x="5715000" y="44958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8" name="Rectangle 37"/>
          <p:cNvSpPr>
            <a:spLocks noChangeArrowheads="1"/>
          </p:cNvSpPr>
          <p:nvPr/>
        </p:nvSpPr>
        <p:spPr bwMode="auto">
          <a:xfrm>
            <a:off x="5715000" y="49530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9" name="Rectangle 38"/>
          <p:cNvSpPr>
            <a:spLocks noChangeArrowheads="1"/>
          </p:cNvSpPr>
          <p:nvPr/>
        </p:nvSpPr>
        <p:spPr bwMode="auto">
          <a:xfrm>
            <a:off x="5715000" y="5410200"/>
            <a:ext cx="304800" cy="457200"/>
          </a:xfrm>
          <a:prstGeom prst="rect">
            <a:avLst/>
          </a:prstGeom>
          <a:solidFill>
            <a:srgbClr val="0000CC">
              <a:alpha val="56862"/>
            </a:srgbClr>
          </a:solidFill>
          <a:ln w="28575">
            <a:solidFill>
              <a:schemeClr val="bg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40" name="TextBox 39"/>
          <p:cNvSpPr txBox="1">
            <a:spLocks noChangeArrowheads="1"/>
          </p:cNvSpPr>
          <p:nvPr/>
        </p:nvSpPr>
        <p:spPr bwMode="auto">
          <a:xfrm>
            <a:off x="5181600" y="41148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1</a:t>
            </a:r>
          </a:p>
        </p:txBody>
      </p:sp>
      <p:sp>
        <p:nvSpPr>
          <p:cNvPr id="41" name="TextBox 40"/>
          <p:cNvSpPr txBox="1">
            <a:spLocks noChangeArrowheads="1"/>
          </p:cNvSpPr>
          <p:nvPr/>
        </p:nvSpPr>
        <p:spPr bwMode="auto">
          <a:xfrm>
            <a:off x="5181600" y="45720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2</a:t>
            </a:r>
          </a:p>
        </p:txBody>
      </p:sp>
      <p:sp>
        <p:nvSpPr>
          <p:cNvPr id="42" name="TextBox 41"/>
          <p:cNvSpPr txBox="1">
            <a:spLocks noChangeArrowheads="1"/>
          </p:cNvSpPr>
          <p:nvPr/>
        </p:nvSpPr>
        <p:spPr bwMode="auto">
          <a:xfrm>
            <a:off x="5181600" y="50292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srgbClr val="FF0000"/>
                </a:solidFill>
                <a:effectLst/>
                <a:uLnTx/>
                <a:uFillTx/>
                <a:latin typeface="Arial" charset="0"/>
                <a:cs typeface="Arial" charset="0"/>
              </a:rPr>
              <a:t>3</a:t>
            </a:r>
          </a:p>
        </p:txBody>
      </p:sp>
      <p:sp>
        <p:nvSpPr>
          <p:cNvPr id="43" name="TextBox 42"/>
          <p:cNvSpPr txBox="1">
            <a:spLocks noChangeArrowheads="1"/>
          </p:cNvSpPr>
          <p:nvPr/>
        </p:nvSpPr>
        <p:spPr bwMode="auto">
          <a:xfrm>
            <a:off x="5181600" y="5486400"/>
            <a:ext cx="83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srgbClr val="FF0000"/>
                </a:solidFill>
                <a:effectLst/>
                <a:uLnTx/>
                <a:uFillTx/>
                <a:latin typeface="Arial" charset="0"/>
                <a:cs typeface="Arial" charset="0"/>
              </a:rPr>
              <a:t>4</a:t>
            </a:r>
          </a:p>
        </p:txBody>
      </p:sp>
      <p:sp>
        <p:nvSpPr>
          <p:cNvPr id="44" name="Right Arrow 43"/>
          <p:cNvSpPr>
            <a:spLocks noChangeArrowheads="1"/>
          </p:cNvSpPr>
          <p:nvPr/>
        </p:nvSpPr>
        <p:spPr bwMode="auto">
          <a:xfrm rot="1521604">
            <a:off x="3773451" y="4061536"/>
            <a:ext cx="990600" cy="533400"/>
          </a:xfrm>
          <a:prstGeom prst="rightArrow">
            <a:avLst>
              <a:gd name="adj1" fmla="val 50000"/>
              <a:gd name="adj2" fmla="val 47548"/>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cxnSp>
        <p:nvCxnSpPr>
          <p:cNvPr id="14" name="Straight Arrow Connector 13"/>
          <p:cNvCxnSpPr>
            <a:cxnSpLocks noChangeShapeType="1"/>
          </p:cNvCxnSpPr>
          <p:nvPr/>
        </p:nvCxnSpPr>
        <p:spPr bwMode="auto">
          <a:xfrm>
            <a:off x="5867400" y="42672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19" name="Straight Arrow Connector 18"/>
          <p:cNvCxnSpPr>
            <a:cxnSpLocks noChangeShapeType="1"/>
          </p:cNvCxnSpPr>
          <p:nvPr/>
        </p:nvCxnSpPr>
        <p:spPr bwMode="auto">
          <a:xfrm>
            <a:off x="5867400" y="47244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4" name="Straight Arrow Connector 23"/>
          <p:cNvCxnSpPr>
            <a:cxnSpLocks noChangeShapeType="1"/>
          </p:cNvCxnSpPr>
          <p:nvPr/>
        </p:nvCxnSpPr>
        <p:spPr bwMode="auto">
          <a:xfrm>
            <a:off x="5867400" y="51816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cxnSp>
        <p:nvCxnSpPr>
          <p:cNvPr id="29" name="Straight Arrow Connector 28"/>
          <p:cNvCxnSpPr>
            <a:cxnSpLocks noChangeShapeType="1"/>
          </p:cNvCxnSpPr>
          <p:nvPr/>
        </p:nvCxnSpPr>
        <p:spPr bwMode="auto">
          <a:xfrm>
            <a:off x="5867400" y="5638800"/>
            <a:ext cx="533400" cy="1588"/>
          </a:xfrm>
          <a:prstGeom prst="straightConnector1">
            <a:avLst/>
          </a:prstGeom>
          <a:noFill/>
          <a:ln w="38100">
            <a:solidFill>
              <a:schemeClr val="tx1"/>
            </a:solidFill>
            <a:round/>
            <a:headEnd type="oval"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507939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ox(in)">
                                      <p:cBhvr>
                                        <p:cTn id="12" dur="500"/>
                                        <p:tgtEl>
                                          <p:spTgt spid="36"/>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ox(in)">
                                      <p:cBhvr>
                                        <p:cTn id="15" dur="500"/>
                                        <p:tgtEl>
                                          <p:spTgt spid="37"/>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ox(in)">
                                      <p:cBhvr>
                                        <p:cTn id="18" dur="500"/>
                                        <p:tgtEl>
                                          <p:spTgt spid="38"/>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box(in)">
                                      <p:cBhvr>
                                        <p:cTn id="21" dur="500"/>
                                        <p:tgtEl>
                                          <p:spTgt spid="39"/>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box(in)">
                                      <p:cBhvr>
                                        <p:cTn id="24" dur="500"/>
                                        <p:tgtEl>
                                          <p:spTgt spid="44"/>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box(in)">
                                      <p:cBhvr>
                                        <p:cTn id="27" dur="500"/>
                                        <p:tgtEl>
                                          <p:spTgt spid="40"/>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box(in)">
                                      <p:cBhvr>
                                        <p:cTn id="30" dur="500"/>
                                        <p:tgtEl>
                                          <p:spTgt spid="41"/>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box(in)">
                                      <p:cBhvr>
                                        <p:cTn id="33" dur="500"/>
                                        <p:tgtEl>
                                          <p:spTgt spid="4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box(in)">
                                      <p:cBhvr>
                                        <p:cTn id="36" dur="500"/>
                                        <p:tgtEl>
                                          <p:spTgt spid="4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ox(in)">
                                      <p:cBhvr>
                                        <p:cTn id="41" dur="500"/>
                                        <p:tgtEl>
                                          <p:spTgt spid="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box(in)">
                                      <p:cBhvr>
                                        <p:cTn id="44" dur="500"/>
                                        <p:tgtEl>
                                          <p:spTgt spid="10"/>
                                        </p:tgtEl>
                                      </p:cBhvr>
                                    </p:animEffect>
                                  </p:childTnLst>
                                </p:cTn>
                              </p:par>
                              <p:par>
                                <p:cTn id="45" presetID="4" presetClass="entr" presetSubtype="16"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ox(in)">
                                      <p:cBhvr>
                                        <p:cTn id="47" dur="500"/>
                                        <p:tgtEl>
                                          <p:spTgt spid="12"/>
                                        </p:tgtEl>
                                      </p:cBhvr>
                                    </p:animEffect>
                                  </p:childTnLst>
                                </p:cTn>
                              </p:par>
                              <p:par>
                                <p:cTn id="48" presetID="4" presetClass="entr" presetSubtype="16"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ox(in)">
                                      <p:cBhvr>
                                        <p:cTn id="50" dur="500"/>
                                        <p:tgtEl>
                                          <p:spTgt spid="14"/>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box(in)">
                                      <p:cBhvr>
                                        <p:cTn id="53" dur="500"/>
                                        <p:tgtEl>
                                          <p:spTgt spid="1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4" presetClass="entr" presetSubtype="16"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box(in)">
                                      <p:cBhvr>
                                        <p:cTn id="58" dur="500"/>
                                        <p:tgtEl>
                                          <p:spTgt spid="15"/>
                                        </p:tgtEl>
                                      </p:cBhvr>
                                    </p:animEffect>
                                  </p:childTnLst>
                                </p:cTn>
                              </p:par>
                              <p:par>
                                <p:cTn id="59" presetID="4" presetClass="entr" presetSubtype="16"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box(in)">
                                      <p:cBhvr>
                                        <p:cTn id="61" dur="500"/>
                                        <p:tgtEl>
                                          <p:spTgt spid="16"/>
                                        </p:tgtEl>
                                      </p:cBhvr>
                                    </p:animEffect>
                                  </p:childTnLst>
                                </p:cTn>
                              </p:par>
                              <p:par>
                                <p:cTn id="62" presetID="4" presetClass="entr" presetSubtype="16" fill="hold"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ox(in)">
                                      <p:cBhvr>
                                        <p:cTn id="64" dur="500"/>
                                        <p:tgtEl>
                                          <p:spTgt spid="17"/>
                                        </p:tgtEl>
                                      </p:cBhvr>
                                    </p:animEffect>
                                  </p:childTnLst>
                                </p:cTn>
                              </p:par>
                              <p:par>
                                <p:cTn id="65" presetID="4"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ox(in)">
                                      <p:cBhvr>
                                        <p:cTn id="67" dur="500"/>
                                        <p:tgtEl>
                                          <p:spTgt spid="19"/>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box(in)">
                                      <p:cBhvr>
                                        <p:cTn id="70" dur="500"/>
                                        <p:tgtEl>
                                          <p:spTgt spid="1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box(in)">
                                      <p:cBhvr>
                                        <p:cTn id="75" dur="500"/>
                                        <p:tgtEl>
                                          <p:spTgt spid="20"/>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box(in)">
                                      <p:cBhvr>
                                        <p:cTn id="78" dur="500"/>
                                        <p:tgtEl>
                                          <p:spTgt spid="21"/>
                                        </p:tgtEl>
                                      </p:cBhvr>
                                    </p:animEffect>
                                  </p:childTnLst>
                                </p:cTn>
                              </p:par>
                              <p:par>
                                <p:cTn id="79" presetID="4" presetClass="entr" presetSubtype="16"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box(in)">
                                      <p:cBhvr>
                                        <p:cTn id="81" dur="500"/>
                                        <p:tgtEl>
                                          <p:spTgt spid="22"/>
                                        </p:tgtEl>
                                      </p:cBhvr>
                                    </p:animEffect>
                                  </p:childTnLst>
                                </p:cTn>
                              </p:par>
                              <p:par>
                                <p:cTn id="82" presetID="4" presetClass="entr" presetSubtype="16" fill="hold" grpId="0" nodeType="with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box(in)">
                                      <p:cBhvr>
                                        <p:cTn id="84" dur="500"/>
                                        <p:tgtEl>
                                          <p:spTgt spid="23"/>
                                        </p:tgtEl>
                                      </p:cBhvr>
                                    </p:animEffect>
                                  </p:childTnLst>
                                </p:cTn>
                              </p:par>
                              <p:par>
                                <p:cTn id="85" presetID="4" presetClass="entr" presetSubtype="16" fill="hold" nodeType="with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box(in)">
                                      <p:cBhvr>
                                        <p:cTn id="87" dur="500"/>
                                        <p:tgtEl>
                                          <p:spTgt spid="2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4" presetClass="entr" presetSubtype="16"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box(in)">
                                      <p:cBhvr>
                                        <p:cTn id="92" dur="500"/>
                                        <p:tgtEl>
                                          <p:spTgt spid="25"/>
                                        </p:tgtEl>
                                      </p:cBhvr>
                                    </p:animEffect>
                                  </p:childTnLst>
                                </p:cTn>
                              </p:par>
                              <p:par>
                                <p:cTn id="93" presetID="4" presetClass="entr" presetSubtype="16" fill="hold" grpId="0" nodeType="withEffect">
                                  <p:stCondLst>
                                    <p:cond delay="0"/>
                                  </p:stCondLst>
                                  <p:childTnLst>
                                    <p:set>
                                      <p:cBhvr>
                                        <p:cTn id="94" dur="1" fill="hold">
                                          <p:stCondLst>
                                            <p:cond delay="0"/>
                                          </p:stCondLst>
                                        </p:cTn>
                                        <p:tgtEl>
                                          <p:spTgt spid="26"/>
                                        </p:tgtEl>
                                        <p:attrNameLst>
                                          <p:attrName>style.visibility</p:attrName>
                                        </p:attrNameLst>
                                      </p:cBhvr>
                                      <p:to>
                                        <p:strVal val="visible"/>
                                      </p:to>
                                    </p:set>
                                    <p:animEffect transition="in" filter="box(in)">
                                      <p:cBhvr>
                                        <p:cTn id="95" dur="500"/>
                                        <p:tgtEl>
                                          <p:spTgt spid="26"/>
                                        </p:tgtEl>
                                      </p:cBhvr>
                                    </p:animEffect>
                                  </p:childTnLst>
                                </p:cTn>
                              </p:par>
                              <p:par>
                                <p:cTn id="96" presetID="4" presetClass="entr" presetSubtype="16" fill="hold"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box(in)">
                                      <p:cBhvr>
                                        <p:cTn id="98" dur="500"/>
                                        <p:tgtEl>
                                          <p:spTgt spid="27"/>
                                        </p:tgtEl>
                                      </p:cBhvr>
                                    </p:animEffect>
                                  </p:childTnLst>
                                </p:cTn>
                              </p:par>
                              <p:par>
                                <p:cTn id="99" presetID="4" presetClass="entr" presetSubtype="16"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box(in)">
                                      <p:cBhvr>
                                        <p:cTn id="101" dur="500"/>
                                        <p:tgtEl>
                                          <p:spTgt spid="33"/>
                                        </p:tgtEl>
                                      </p:cBhvr>
                                    </p:animEffect>
                                  </p:childTnLst>
                                </p:cTn>
                              </p:par>
                              <p:par>
                                <p:cTn id="102" presetID="4" presetClass="entr" presetSubtype="16"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box(in)">
                                      <p:cBhvr>
                                        <p:cTn id="104" dur="500"/>
                                        <p:tgtEl>
                                          <p:spTgt spid="34"/>
                                        </p:tgtEl>
                                      </p:cBhvr>
                                    </p:animEffect>
                                  </p:childTnLst>
                                </p:cTn>
                              </p:par>
                              <p:par>
                                <p:cTn id="105" presetID="4" presetClass="entr" presetSubtype="16"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box(in)">
                                      <p:cBhvr>
                                        <p:cTn id="107" dur="500"/>
                                        <p:tgtEl>
                                          <p:spTgt spid="35"/>
                                        </p:tgtEl>
                                      </p:cBhvr>
                                    </p:animEffect>
                                  </p:childTnLst>
                                </p:cTn>
                              </p:par>
                              <p:par>
                                <p:cTn id="108" presetID="4" presetClass="entr" presetSubtype="16" fill="hold" nodeType="with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box(in)">
                                      <p:cBhvr>
                                        <p:cTn id="110" dur="500"/>
                                        <p:tgtEl>
                                          <p:spTgt spid="29"/>
                                        </p:tgtEl>
                                      </p:cBhvr>
                                    </p:animEffect>
                                  </p:childTnLst>
                                </p:cTn>
                              </p:par>
                              <p:par>
                                <p:cTn id="111" presetID="4" presetClass="entr" presetSubtype="16" fill="hold" grpId="0" nodeType="withEffect">
                                  <p:stCondLst>
                                    <p:cond delay="0"/>
                                  </p:stCondLst>
                                  <p:childTnLst>
                                    <p:set>
                                      <p:cBhvr>
                                        <p:cTn id="112" dur="1" fill="hold">
                                          <p:stCondLst>
                                            <p:cond delay="0"/>
                                          </p:stCondLst>
                                        </p:cTn>
                                        <p:tgtEl>
                                          <p:spTgt spid="28"/>
                                        </p:tgtEl>
                                        <p:attrNameLst>
                                          <p:attrName>style.visibility</p:attrName>
                                        </p:attrNameLst>
                                      </p:cBhvr>
                                      <p:to>
                                        <p:strVal val="visible"/>
                                      </p:to>
                                    </p:set>
                                    <p:animEffect transition="in" filter="box(in)">
                                      <p:cBhvr>
                                        <p:cTn id="113"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p:bldP spid="15" grpId="0" animBg="1"/>
      <p:bldP spid="16" grpId="0" animBg="1"/>
      <p:bldP spid="18" grpId="0"/>
      <p:bldP spid="20" grpId="0" animBg="1"/>
      <p:bldP spid="21" grpId="0" animBg="1"/>
      <p:bldP spid="23" grpId="0"/>
      <p:bldP spid="25" grpId="0" animBg="1"/>
      <p:bldP spid="26" grpId="0" animBg="1"/>
      <p:bldP spid="28" grpId="0"/>
      <p:bldP spid="33" grpId="0" animBg="1"/>
      <p:bldP spid="34" grpId="0" animBg="1"/>
      <p:bldP spid="36" grpId="0" animBg="1"/>
      <p:bldP spid="37" grpId="0" animBg="1"/>
      <p:bldP spid="38" grpId="0" animBg="1"/>
      <p:bldP spid="39" grpId="0" animBg="1"/>
      <p:bldP spid="40" grpId="0"/>
      <p:bldP spid="41" grpId="0"/>
      <p:bldP spid="42" grpId="0"/>
      <p:bldP spid="43" grpId="0"/>
      <p:bldP spid="4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23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complete graph </a:t>
            </a:r>
            <a:r>
              <a:rPr lang="en-US" sz="1900" dirty="0">
                <a:solidFill>
                  <a:schemeClr val="tx2"/>
                </a:solidFill>
                <a:latin typeface="Times New Roman" pitchFamily="18" charset="0"/>
                <a:cs typeface="Times New Roman" pitchFamily="18" charset="0"/>
              </a:rPr>
              <a:t>is a simple undirected graph in which every pair of distinct vertices is connected by a unique edge. A complete digraph is a directed graph in which every pair of distinct vertices is connected by a pair of unique edges</a:t>
            </a:r>
          </a:p>
        </p:txBody>
      </p:sp>
      <p:pic>
        <p:nvPicPr>
          <p:cNvPr id="1026" name="Picture 2" descr="Complete Graph -- from Wolfram MathWorld">
            <a:extLst>
              <a:ext uri="{FF2B5EF4-FFF2-40B4-BE49-F238E27FC236}">
                <a16:creationId xmlns:a16="http://schemas.microsoft.com/office/drawing/2014/main" id="{4E572E08-E0E0-874A-2843-4BA7149455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549" y="3287444"/>
            <a:ext cx="4008651" cy="30847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C5D2659-5F5D-593A-E145-E966A2BF407F}"/>
              </a:ext>
            </a:extLst>
          </p:cNvPr>
          <p:cNvPicPr>
            <a:picLocks noChangeAspect="1"/>
          </p:cNvPicPr>
          <p:nvPr/>
        </p:nvPicPr>
        <p:blipFill rotWithShape="1">
          <a:blip r:embed="rId5"/>
          <a:srcRect r="28388"/>
          <a:stretch/>
        </p:blipFill>
        <p:spPr>
          <a:xfrm>
            <a:off x="304800" y="3759312"/>
            <a:ext cx="4008651" cy="1504979"/>
          </a:xfrm>
          <a:prstGeom prst="rect">
            <a:avLst/>
          </a:prstGeom>
        </p:spPr>
      </p:pic>
    </p:spTree>
    <p:extLst>
      <p:ext uri="{BB962C8B-B14F-4D97-AF65-F5344CB8AC3E}">
        <p14:creationId xmlns:p14="http://schemas.microsoft.com/office/powerpoint/2010/main" val="1852111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6.1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BASIC CONCEPTS OF GRAPHS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4102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6.1.3.Some special graphs.</a:t>
            </a:r>
          </a:p>
          <a:p>
            <a:pPr algn="just">
              <a:lnSpc>
                <a:spcPct val="200000"/>
              </a:lnSpc>
              <a:defRPr/>
            </a:pPr>
            <a:r>
              <a:rPr lang="en-US" sz="1900" b="1" dirty="0">
                <a:solidFill>
                  <a:schemeClr val="tx2"/>
                </a:solidFill>
                <a:latin typeface="Times New Roman" pitchFamily="18" charset="0"/>
                <a:cs typeface="Times New Roman" pitchFamily="18" charset="0"/>
              </a:rPr>
              <a:t>a bipartite graph (or </a:t>
            </a:r>
            <a:r>
              <a:rPr lang="en-US" sz="1900" b="1" dirty="0" err="1">
                <a:solidFill>
                  <a:schemeClr val="tx2"/>
                </a:solidFill>
                <a:latin typeface="Times New Roman" pitchFamily="18" charset="0"/>
                <a:cs typeface="Times New Roman" pitchFamily="18" charset="0"/>
              </a:rPr>
              <a:t>bigraph</a:t>
            </a:r>
            <a:r>
              <a:rPr lang="en-US" sz="1900" b="1" dirty="0">
                <a:solidFill>
                  <a:schemeClr val="tx2"/>
                </a:solidFill>
                <a:latin typeface="Times New Roman" pitchFamily="18" charset="0"/>
                <a:cs typeface="Times New Roman" pitchFamily="18" charset="0"/>
              </a:rPr>
              <a:t>) </a:t>
            </a:r>
            <a:r>
              <a:rPr lang="en-US" sz="1900" dirty="0">
                <a:solidFill>
                  <a:schemeClr val="tx2"/>
                </a:solidFill>
                <a:latin typeface="Times New Roman" pitchFamily="18" charset="0"/>
                <a:cs typeface="Times New Roman" pitchFamily="18" charset="0"/>
              </a:rPr>
              <a:t>is a graph whose vertices can be divided into two disjoint and independent sets U and V, that is, every edge connects a vertex in U to one in </a:t>
            </a:r>
          </a:p>
          <a:p>
            <a:pPr algn="just">
              <a:lnSpc>
                <a:spcPct val="200000"/>
              </a:lnSpc>
              <a:defRPr/>
            </a:pPr>
            <a:r>
              <a:rPr lang="en-US" sz="1900" dirty="0">
                <a:solidFill>
                  <a:schemeClr val="tx2"/>
                </a:solidFill>
                <a:latin typeface="Times New Roman" pitchFamily="18" charset="0"/>
                <a:cs typeface="Times New Roman" pitchFamily="18" charset="0"/>
              </a:rPr>
              <a:t>V. Vertex sets U and V are usually called the parts of the graph.</a:t>
            </a:r>
          </a:p>
        </p:txBody>
      </p:sp>
      <p:pic>
        <p:nvPicPr>
          <p:cNvPr id="9226" name="Picture 10" descr="Giải Thuật Lập Trình · Một số ứng dụng của cặp ghép trong đồ thị hai phía —  Applications of Bipartite Matching">
            <a:extLst>
              <a:ext uri="{FF2B5EF4-FFF2-40B4-BE49-F238E27FC236}">
                <a16:creationId xmlns:a16="http://schemas.microsoft.com/office/drawing/2014/main" id="{F96AC420-2C94-BFB8-8B56-78DFD8326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275896"/>
            <a:ext cx="6400800" cy="313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628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Degree of vertices: the number of edges connected to vertices</a:t>
            </a:r>
          </a:p>
          <a:p>
            <a:pPr algn="just">
              <a:lnSpc>
                <a:spcPct val="200000"/>
              </a:lnSpc>
              <a:defRPr/>
            </a:pPr>
            <a:endParaRPr lang="en-US" sz="1900" dirty="0">
              <a:solidFill>
                <a:schemeClr val="tx2"/>
              </a:solidFill>
              <a:latin typeface="Times New Roman" pitchFamily="18" charset="0"/>
              <a:cs typeface="Times New Roman" pitchFamily="18" charset="0"/>
            </a:endParaRPr>
          </a:p>
        </p:txBody>
      </p:sp>
      <p:pic>
        <p:nvPicPr>
          <p:cNvPr id="2" name="Picture 2" descr="Complete Graph -- from Wolfram MathWorld">
            <a:extLst>
              <a:ext uri="{FF2B5EF4-FFF2-40B4-BE49-F238E27FC236}">
                <a16:creationId xmlns:a16="http://schemas.microsoft.com/office/drawing/2014/main" id="{D918AFBB-EE73-74BC-BA89-E66EDB54AB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0725" y="2607217"/>
            <a:ext cx="4008651" cy="3084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0854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Degree of vertices in directed graph:</a:t>
            </a:r>
          </a:p>
          <a:p>
            <a:pPr algn="just">
              <a:lnSpc>
                <a:spcPct val="200000"/>
              </a:lnSpc>
              <a:defRPr/>
            </a:pPr>
            <a:r>
              <a:rPr lang="en-US" sz="1900" dirty="0">
                <a:solidFill>
                  <a:schemeClr val="tx2"/>
                </a:solidFill>
                <a:latin typeface="Times New Roman" pitchFamily="18" charset="0"/>
                <a:cs typeface="Times New Roman" pitchFamily="18" charset="0"/>
              </a:rPr>
              <a:t>+ inner degree deg</a:t>
            </a:r>
            <a:r>
              <a:rPr lang="en-US" sz="1900" baseline="30000" dirty="0">
                <a:solidFill>
                  <a:schemeClr val="tx2"/>
                </a:solidFill>
                <a:latin typeface="Times New Roman" pitchFamily="18" charset="0"/>
                <a:cs typeface="Times New Roman" pitchFamily="18" charset="0"/>
              </a:rPr>
              <a:t>-</a:t>
            </a:r>
            <a:endParaRPr lang="en-US" sz="1900" dirty="0">
              <a:solidFill>
                <a:schemeClr val="tx2"/>
              </a:solidFill>
              <a:latin typeface="Times New Roman" pitchFamily="18" charset="0"/>
              <a:cs typeface="Times New Roman" pitchFamily="18" charset="0"/>
            </a:endParaRPr>
          </a:p>
          <a:p>
            <a:pPr algn="just">
              <a:lnSpc>
                <a:spcPct val="200000"/>
              </a:lnSpc>
              <a:defRPr/>
            </a:pPr>
            <a:r>
              <a:rPr lang="en-US" sz="1900" dirty="0">
                <a:solidFill>
                  <a:schemeClr val="tx2"/>
                </a:solidFill>
                <a:latin typeface="Times New Roman" pitchFamily="18" charset="0"/>
                <a:cs typeface="Times New Roman" pitchFamily="18" charset="0"/>
              </a:rPr>
              <a:t>+ outer degree deg</a:t>
            </a:r>
            <a:r>
              <a:rPr lang="en-US" sz="1900" baseline="30000" dirty="0">
                <a:solidFill>
                  <a:schemeClr val="tx2"/>
                </a:solidFill>
                <a:latin typeface="Times New Roman" pitchFamily="18" charset="0"/>
                <a:cs typeface="Times New Roman" pitchFamily="18" charset="0"/>
              </a:rPr>
              <a:t>+ </a:t>
            </a: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87BD6601-B46D-03F0-89DF-7C6A2318E074}"/>
              </a:ext>
            </a:extLst>
          </p:cNvPr>
          <p:cNvPicPr>
            <a:picLocks noChangeAspect="1"/>
          </p:cNvPicPr>
          <p:nvPr/>
        </p:nvPicPr>
        <p:blipFill>
          <a:blip r:embed="rId4"/>
          <a:stretch>
            <a:fillRect/>
          </a:stretch>
        </p:blipFill>
        <p:spPr>
          <a:xfrm>
            <a:off x="2705100" y="3325578"/>
            <a:ext cx="3733800" cy="406651"/>
          </a:xfrm>
          <a:prstGeom prst="rect">
            <a:avLst/>
          </a:prstGeom>
        </p:spPr>
      </p:pic>
      <p:pic>
        <p:nvPicPr>
          <p:cNvPr id="8" name="Picture 22">
            <a:extLst>
              <a:ext uri="{FF2B5EF4-FFF2-40B4-BE49-F238E27FC236}">
                <a16:creationId xmlns:a16="http://schemas.microsoft.com/office/drawing/2014/main" id="{997108BC-9CCC-34CF-2C60-79E0D50753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29151" y="4132262"/>
            <a:ext cx="29718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7021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2714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H(V’,E’) is a subgraph of G(V,E) if: </a:t>
                </a:r>
              </a:p>
              <a:p>
                <a:pPr algn="just">
                  <a:lnSpc>
                    <a:spcPct val="200000"/>
                  </a:lnSpc>
                  <a:defRPr/>
                </a:pPr>
                <a:r>
                  <a:rPr lang="en-US" sz="1900" dirty="0">
                    <a:solidFill>
                      <a:schemeClr val="tx2"/>
                    </a:solidFill>
                    <a:latin typeface="Times New Roman" pitchFamily="18" charset="0"/>
                    <a:cs typeface="Times New Roman" pitchFamily="18" charset="0"/>
                  </a:rPr>
                  <a:t>				V’</a:t>
                </a:r>
                <a14:m>
                  <m:oMath xmlns:m="http://schemas.openxmlformats.org/officeDocument/2006/math">
                    <m:r>
                      <a:rPr lang="en-US" sz="1900" i="1" smtClean="0">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V </a:t>
                </a:r>
                <a:r>
                  <a:rPr lang="en-US" sz="1900" b="1" dirty="0">
                    <a:solidFill>
                      <a:schemeClr val="tx2"/>
                    </a:solidFill>
                    <a:latin typeface="Times New Roman" pitchFamily="18" charset="0"/>
                    <a:cs typeface="Times New Roman" pitchFamily="18" charset="0"/>
                  </a:rPr>
                  <a:t>and </a:t>
                </a:r>
                <a:r>
                  <a:rPr lang="en-US" sz="1900" dirty="0">
                    <a:solidFill>
                      <a:schemeClr val="tx2"/>
                    </a:solidFill>
                    <a:latin typeface="Times New Roman" pitchFamily="18" charset="0"/>
                    <a:cs typeface="Times New Roman" pitchFamily="18" charset="0"/>
                  </a:rPr>
                  <a:t>E </a:t>
                </a:r>
                <a14:m>
                  <m:oMath xmlns:m="http://schemas.openxmlformats.org/officeDocument/2006/math">
                    <m:r>
                      <a:rPr lang="en-US" sz="1900" i="1">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E’</a:t>
                </a: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mc:Choice>
        <mc:Fallback xmlns="">
          <p:sp>
            <p:nvSpPr>
              <p:cNvPr id="30" name="TextBox 8">
                <a:extLst>
                  <a:ext uri="{FF2B5EF4-FFF2-40B4-BE49-F238E27FC236}">
                    <a16:creationId xmlns:a16="http://schemas.microsoft.com/office/drawing/2014/main" id="{3BFE4A34-3B4C-BF27-619D-49657B4FE0B0}"/>
                  </a:ext>
                </a:extLst>
              </p:cNvPr>
              <p:cNvSpPr txBox="1">
                <a:spLocks noRot="1" noChangeAspect="1" noMove="1" noResize="1" noEditPoints="1" noAdjustHandles="1" noChangeArrowheads="1" noChangeShapeType="1" noTextEdit="1"/>
              </p:cNvSpPr>
              <p:nvPr/>
            </p:nvSpPr>
            <p:spPr bwMode="auto">
              <a:xfrm>
                <a:off x="0" y="700089"/>
                <a:ext cx="9144000" cy="2927148"/>
              </a:xfrm>
              <a:prstGeom prst="rect">
                <a:avLst/>
              </a:prstGeom>
              <a:blipFill>
                <a:blip r:embed="rId4"/>
                <a:stretch>
                  <a:fillRect l="-600"/>
                </a:stretch>
              </a:blipFill>
              <a:ln w="9525">
                <a:noFill/>
                <a:miter lim="800000"/>
                <a:headEnd/>
                <a:tailEnd/>
              </a:ln>
            </p:spPr>
            <p:txBody>
              <a:bodyPr/>
              <a:lstStyle/>
              <a:p>
                <a:r>
                  <a:rPr lang="en-US">
                    <a:noFill/>
                  </a:rPr>
                  <a:t> </a:t>
                </a:r>
              </a:p>
            </p:txBody>
          </p:sp>
        </mc:Fallback>
      </mc:AlternateContent>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19AA5623-A8A4-0D31-A6AA-E962EF7F0461}"/>
              </a:ext>
            </a:extLst>
          </p:cNvPr>
          <p:cNvPicPr>
            <a:picLocks noChangeAspect="1"/>
          </p:cNvPicPr>
          <p:nvPr/>
        </p:nvPicPr>
        <p:blipFill>
          <a:blip r:embed="rId5"/>
          <a:stretch>
            <a:fillRect/>
          </a:stretch>
        </p:blipFill>
        <p:spPr>
          <a:xfrm>
            <a:off x="85931" y="2438400"/>
            <a:ext cx="4015433" cy="3614866"/>
          </a:xfrm>
          <a:prstGeom prst="rect">
            <a:avLst/>
          </a:prstGeom>
        </p:spPr>
      </p:pic>
      <p:pic>
        <p:nvPicPr>
          <p:cNvPr id="9" name="Picture 8">
            <a:extLst>
              <a:ext uri="{FF2B5EF4-FFF2-40B4-BE49-F238E27FC236}">
                <a16:creationId xmlns:a16="http://schemas.microsoft.com/office/drawing/2014/main" id="{79FEAE10-BD9C-D162-1943-52307E6E69F1}"/>
              </a:ext>
            </a:extLst>
          </p:cNvPr>
          <p:cNvPicPr>
            <a:picLocks noChangeAspect="1"/>
          </p:cNvPicPr>
          <p:nvPr/>
        </p:nvPicPr>
        <p:blipFill>
          <a:blip r:embed="rId6"/>
          <a:stretch>
            <a:fillRect/>
          </a:stretch>
        </p:blipFill>
        <p:spPr>
          <a:xfrm>
            <a:off x="3962400" y="2476889"/>
            <a:ext cx="4789683" cy="3918077"/>
          </a:xfrm>
          <a:prstGeom prst="rect">
            <a:avLst/>
          </a:prstGeom>
        </p:spPr>
      </p:pic>
    </p:spTree>
    <p:extLst>
      <p:ext uri="{BB962C8B-B14F-4D97-AF65-F5344CB8AC3E}">
        <p14:creationId xmlns:p14="http://schemas.microsoft.com/office/powerpoint/2010/main" val="34126030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40447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Isomorphism of graphs G and H is a bijection between the vertex sets of G and H:</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		f:V(G)→V(H)</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such that any two vertices u and v of G are adjacent in G if and only if f(u) and f(v) are adjacent in H.</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4" name="Picture 13">
            <a:extLst>
              <a:ext uri="{FF2B5EF4-FFF2-40B4-BE49-F238E27FC236}">
                <a16:creationId xmlns:a16="http://schemas.microsoft.com/office/drawing/2014/main" id="{53AF6070-8527-B49A-B26E-B272EFB563B2}"/>
              </a:ext>
            </a:extLst>
          </p:cNvPr>
          <p:cNvPicPr>
            <a:picLocks noChangeAspect="1"/>
          </p:cNvPicPr>
          <p:nvPr/>
        </p:nvPicPr>
        <p:blipFill>
          <a:blip r:embed="rId4"/>
          <a:stretch>
            <a:fillRect/>
          </a:stretch>
        </p:blipFill>
        <p:spPr>
          <a:xfrm>
            <a:off x="2771775" y="3571478"/>
            <a:ext cx="3600450" cy="2911002"/>
          </a:xfrm>
          <a:prstGeom prst="rect">
            <a:avLst/>
          </a:prstGeom>
        </p:spPr>
      </p:pic>
    </p:spTree>
    <p:extLst>
      <p:ext uri="{BB962C8B-B14F-4D97-AF65-F5344CB8AC3E}">
        <p14:creationId xmlns:p14="http://schemas.microsoft.com/office/powerpoint/2010/main" val="1180223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6.2.1. Subgraph. </a:t>
            </a:r>
          </a:p>
          <a:p>
            <a:pPr algn="just">
              <a:lnSpc>
                <a:spcPct val="200000"/>
              </a:lnSpc>
              <a:defRPr/>
            </a:pP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B6DD1D2E-85E7-202B-88A9-B4C2589AD605}"/>
              </a:ext>
            </a:extLst>
          </p:cNvPr>
          <p:cNvPicPr>
            <a:picLocks noChangeAspect="1"/>
          </p:cNvPicPr>
          <p:nvPr/>
        </p:nvPicPr>
        <p:blipFill>
          <a:blip r:embed="rId4"/>
          <a:stretch>
            <a:fillRect/>
          </a:stretch>
        </p:blipFill>
        <p:spPr>
          <a:xfrm>
            <a:off x="276225" y="1614487"/>
            <a:ext cx="8591550" cy="3629025"/>
          </a:xfrm>
          <a:prstGeom prst="rect">
            <a:avLst/>
          </a:prstGeom>
        </p:spPr>
      </p:pic>
    </p:spTree>
    <p:extLst>
      <p:ext uri="{BB962C8B-B14F-4D97-AF65-F5344CB8AC3E}">
        <p14:creationId xmlns:p14="http://schemas.microsoft.com/office/powerpoint/2010/main" val="1513025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44496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R="0" algn="just">
              <a:lnSpc>
                <a:spcPct val="200000"/>
              </a:lnSpc>
              <a:spcBef>
                <a:spcPts val="0"/>
              </a:spcBef>
              <a:spcAft>
                <a:spcPts val="800"/>
              </a:spcAft>
              <a:defRPr/>
            </a:pPr>
            <a:r>
              <a:rPr lang="en-US" sz="1900" dirty="0">
                <a:solidFill>
                  <a:schemeClr val="tx2"/>
                </a:solidFill>
                <a:latin typeface="Times New Roman" pitchFamily="18" charset="0"/>
                <a:cs typeface="Times New Roman" pitchFamily="18" charset="0"/>
              </a:rPr>
              <a:t>A graph is said to be planar if it can be drawn in a plane so that no edge cross.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EA630018-2000-8E83-FD19-5D6AA062C21F}"/>
              </a:ext>
            </a:extLst>
          </p:cNvPr>
          <p:cNvPicPr>
            <a:picLocks noChangeAspect="1"/>
          </p:cNvPicPr>
          <p:nvPr/>
        </p:nvPicPr>
        <p:blipFill>
          <a:blip r:embed="rId4"/>
          <a:stretch>
            <a:fillRect/>
          </a:stretch>
        </p:blipFill>
        <p:spPr>
          <a:xfrm>
            <a:off x="5029200" y="2052050"/>
            <a:ext cx="1950140" cy="3363499"/>
          </a:xfrm>
          <a:prstGeom prst="rect">
            <a:avLst/>
          </a:prstGeom>
        </p:spPr>
      </p:pic>
      <p:pic>
        <p:nvPicPr>
          <p:cNvPr id="8" name="Picture 7">
            <a:extLst>
              <a:ext uri="{FF2B5EF4-FFF2-40B4-BE49-F238E27FC236}">
                <a16:creationId xmlns:a16="http://schemas.microsoft.com/office/drawing/2014/main" id="{1437B68F-19EC-EB3C-23E7-9882BD2D8423}"/>
              </a:ext>
            </a:extLst>
          </p:cNvPr>
          <p:cNvPicPr>
            <a:picLocks noChangeAspect="1"/>
          </p:cNvPicPr>
          <p:nvPr/>
        </p:nvPicPr>
        <p:blipFill>
          <a:blip r:embed="rId5"/>
          <a:stretch>
            <a:fillRect/>
          </a:stretch>
        </p:blipFill>
        <p:spPr>
          <a:xfrm>
            <a:off x="2407340" y="2588608"/>
            <a:ext cx="2324100" cy="2419350"/>
          </a:xfrm>
          <a:prstGeom prst="rect">
            <a:avLst/>
          </a:prstGeom>
        </p:spPr>
      </p:pic>
    </p:spTree>
    <p:extLst>
      <p:ext uri="{BB962C8B-B14F-4D97-AF65-F5344CB8AC3E}">
        <p14:creationId xmlns:p14="http://schemas.microsoft.com/office/powerpoint/2010/main" val="3567606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11208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Region of a Graph: Consider a planar graph G=(V,E).A region is defined to be an area of the plane that is bounded by edges and cannot be further subdivided. A planar graph divides the plans into one or more regions. One of these regions will be infinite.</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Finite Region: If the area of the region is finite, then that region is called a finite region</a:t>
            </a:r>
          </a:p>
          <a:p>
            <a:pPr marL="342900" marR="0" indent="-342900">
              <a:lnSpc>
                <a:spcPct val="150000"/>
              </a:lnSpc>
              <a:spcBef>
                <a:spcPts val="0"/>
              </a:spcBef>
              <a:spcAft>
                <a:spcPts val="800"/>
              </a:spcAft>
              <a:buFont typeface="Arial" panose="020B0604020202020204" pitchFamily="34" charset="0"/>
              <a:buChar char="•"/>
              <a:tabLst>
                <a:tab pos="914400" algn="l"/>
              </a:tabLst>
            </a:pPr>
            <a:r>
              <a:rPr lang="en-US" sz="1900" dirty="0">
                <a:solidFill>
                  <a:schemeClr val="tx2"/>
                </a:solidFill>
                <a:latin typeface="Times New Roman" pitchFamily="18" charset="0"/>
                <a:cs typeface="Times New Roman" pitchFamily="18" charset="0"/>
              </a:rPr>
              <a:t>Infinite Region: If the area of the region is infinite, that region is called a infinite region. A planar graph has only one infinite region.</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23557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17282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783B2F16-52D5-DEBF-2223-0BE1F2F76EB5}"/>
              </a:ext>
            </a:extLst>
          </p:cNvPr>
          <p:cNvPicPr>
            <a:picLocks noChangeAspect="1"/>
          </p:cNvPicPr>
          <p:nvPr/>
        </p:nvPicPr>
        <p:blipFill>
          <a:blip r:embed="rId4"/>
          <a:stretch>
            <a:fillRect/>
          </a:stretch>
        </p:blipFill>
        <p:spPr>
          <a:xfrm>
            <a:off x="1676400" y="1410147"/>
            <a:ext cx="5181600" cy="4669261"/>
          </a:xfrm>
          <a:prstGeom prst="rect">
            <a:avLst/>
          </a:prstGeom>
        </p:spPr>
      </p:pic>
    </p:spTree>
    <p:extLst>
      <p:ext uri="{BB962C8B-B14F-4D97-AF65-F5344CB8AC3E}">
        <p14:creationId xmlns:p14="http://schemas.microsoft.com/office/powerpoint/2010/main" val="176447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82766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6.2.2. Planar graph and properties.</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1900" dirty="0">
                <a:solidFill>
                  <a:schemeClr val="tx2"/>
                </a:solidFill>
                <a:latin typeface="Times New Roman" pitchFamily="18" charset="0"/>
                <a:cs typeface="Times New Roman" pitchFamily="18" charset="0"/>
              </a:rPr>
              <a:t>Properties of Planar Graphs:</a:t>
            </a:r>
          </a:p>
          <a:p>
            <a:pPr lvl="1" eaLnBrk="0" fontAlgn="base" hangingPunct="0">
              <a:lnSpc>
                <a:spcPct val="150000"/>
              </a:lnSpc>
              <a:spcBef>
                <a:spcPct val="0"/>
              </a:spcBef>
              <a:spcAft>
                <a:spcPct val="0"/>
              </a:spcAft>
              <a:buFontTx/>
              <a:buAutoNum type="arabicPeriod"/>
            </a:pPr>
            <a:r>
              <a:rPr lang="en-US" altLang="en-US" sz="1900" dirty="0">
                <a:solidFill>
                  <a:schemeClr val="tx2"/>
                </a:solidFill>
                <a:latin typeface="Times New Roman" pitchFamily="18" charset="0"/>
                <a:cs typeface="Times New Roman" pitchFamily="18" charset="0"/>
              </a:rPr>
              <a:t>If a connected planar graph G has e edges and r regions, then r ≤   2/3  e.</a:t>
            </a:r>
          </a:p>
          <a:p>
            <a:pPr lvl="1" eaLnBrk="0" fontAlgn="base" hangingPunct="0">
              <a:lnSpc>
                <a:spcPct val="150000"/>
              </a:lnSpc>
              <a:spcBef>
                <a:spcPct val="0"/>
              </a:spcBef>
              <a:spcAft>
                <a:spcPct val="0"/>
              </a:spcAft>
              <a:buFontTx/>
              <a:buAutoNum type="arabicPeriod" startAt="2"/>
            </a:pPr>
            <a:r>
              <a:rPr lang="en-US" altLang="en-US" sz="1900" dirty="0">
                <a:solidFill>
                  <a:schemeClr val="tx2"/>
                </a:solidFill>
                <a:latin typeface="Times New Roman" pitchFamily="18" charset="0"/>
                <a:cs typeface="Times New Roman" pitchFamily="18" charset="0"/>
              </a:rPr>
              <a:t>If a connected planar graph G has e edges, v vertices, and r regions, then </a:t>
            </a:r>
            <a:r>
              <a:rPr lang="en-US" altLang="en-US" sz="1900" dirty="0" err="1">
                <a:solidFill>
                  <a:schemeClr val="tx2"/>
                </a:solidFill>
                <a:latin typeface="Times New Roman" pitchFamily="18" charset="0"/>
                <a:cs typeface="Times New Roman" pitchFamily="18" charset="0"/>
              </a:rPr>
              <a:t>v-e+r</a:t>
            </a:r>
            <a:r>
              <a:rPr lang="en-US" altLang="en-US" sz="1900" dirty="0">
                <a:solidFill>
                  <a:schemeClr val="tx2"/>
                </a:solidFill>
                <a:latin typeface="Times New Roman" pitchFamily="18" charset="0"/>
                <a:cs typeface="Times New Roman" pitchFamily="18" charset="0"/>
              </a:rPr>
              <a:t>=2.</a:t>
            </a:r>
          </a:p>
          <a:p>
            <a:pPr lvl="1" eaLnBrk="0" fontAlgn="base" hangingPunct="0">
              <a:lnSpc>
                <a:spcPct val="150000"/>
              </a:lnSpc>
              <a:spcBef>
                <a:spcPct val="0"/>
              </a:spcBef>
              <a:spcAft>
                <a:spcPct val="0"/>
              </a:spcAft>
              <a:buFontTx/>
              <a:buAutoNum type="arabicPeriod" startAt="3"/>
            </a:pPr>
            <a:r>
              <a:rPr lang="en-US" altLang="en-US" sz="1900" dirty="0">
                <a:solidFill>
                  <a:schemeClr val="tx2"/>
                </a:solidFill>
                <a:latin typeface="Times New Roman" pitchFamily="18" charset="0"/>
                <a:cs typeface="Times New Roman" pitchFamily="18" charset="0"/>
              </a:rPr>
              <a:t>If a connected planar graph G has e edges and v vertices, then 3v-e≥6.</a:t>
            </a:r>
          </a:p>
          <a:p>
            <a:pPr lvl="1" eaLnBrk="0" fontAlgn="base" hangingPunct="0">
              <a:lnSpc>
                <a:spcPct val="150000"/>
              </a:lnSpc>
              <a:spcBef>
                <a:spcPct val="0"/>
              </a:spcBef>
              <a:spcAft>
                <a:spcPct val="0"/>
              </a:spcAft>
              <a:buFontTx/>
              <a:buAutoNum type="arabicPeriod" startAt="4"/>
            </a:pPr>
            <a:r>
              <a:rPr lang="en-US" altLang="en-US" sz="1900" dirty="0">
                <a:solidFill>
                  <a:schemeClr val="tx2"/>
                </a:solidFill>
                <a:latin typeface="Times New Roman" pitchFamily="18" charset="0"/>
                <a:cs typeface="Times New Roman" pitchFamily="18" charset="0"/>
              </a:rPr>
              <a:t>A complete graph </a:t>
            </a:r>
            <a:r>
              <a:rPr lang="en-US" altLang="en-US" sz="1900" dirty="0" err="1">
                <a:solidFill>
                  <a:schemeClr val="tx2"/>
                </a:solidFill>
                <a:latin typeface="Times New Roman" pitchFamily="18" charset="0"/>
                <a:cs typeface="Times New Roman" pitchFamily="18" charset="0"/>
              </a:rPr>
              <a:t>K</a:t>
            </a:r>
            <a:r>
              <a:rPr lang="en-US" altLang="en-US" sz="1900" baseline="-25000" dirty="0" err="1">
                <a:solidFill>
                  <a:schemeClr val="tx2"/>
                </a:solidFill>
                <a:latin typeface="Times New Roman" pitchFamily="18" charset="0"/>
                <a:cs typeface="Times New Roman" pitchFamily="18" charset="0"/>
              </a:rPr>
              <a:t>n</a:t>
            </a:r>
            <a:r>
              <a:rPr lang="en-US" altLang="en-US" sz="1900" dirty="0">
                <a:solidFill>
                  <a:schemeClr val="tx2"/>
                </a:solidFill>
                <a:latin typeface="Times New Roman" pitchFamily="18" charset="0"/>
                <a:cs typeface="Times New Roman" pitchFamily="18" charset="0"/>
              </a:rPr>
              <a:t> is a planar if and only if n&lt;5.</a:t>
            </a:r>
          </a:p>
          <a:p>
            <a:pPr lvl="1" eaLnBrk="0" fontAlgn="base" hangingPunct="0">
              <a:lnSpc>
                <a:spcPct val="150000"/>
              </a:lnSpc>
              <a:spcBef>
                <a:spcPct val="0"/>
              </a:spcBef>
              <a:spcAft>
                <a:spcPct val="0"/>
              </a:spcAft>
              <a:buFontTx/>
              <a:buAutoNum type="arabicPeriod" startAt="5"/>
            </a:pPr>
            <a:r>
              <a:rPr lang="en-US" altLang="en-US" sz="1900" dirty="0">
                <a:solidFill>
                  <a:schemeClr val="tx2"/>
                </a:solidFill>
                <a:latin typeface="Times New Roman" pitchFamily="18" charset="0"/>
                <a:cs typeface="Times New Roman" pitchFamily="18" charset="0"/>
              </a:rPr>
              <a:t>A complete bipartite graph </a:t>
            </a:r>
            <a:r>
              <a:rPr lang="en-US" altLang="en-US" sz="1900" dirty="0" err="1">
                <a:solidFill>
                  <a:schemeClr val="tx2"/>
                </a:solidFill>
                <a:latin typeface="Times New Roman" pitchFamily="18" charset="0"/>
                <a:cs typeface="Times New Roman" pitchFamily="18" charset="0"/>
              </a:rPr>
              <a:t>K</a:t>
            </a:r>
            <a:r>
              <a:rPr lang="en-US" altLang="en-US" sz="1900" baseline="-25000" dirty="0" err="1">
                <a:solidFill>
                  <a:schemeClr val="tx2"/>
                </a:solidFill>
                <a:latin typeface="Times New Roman" pitchFamily="18" charset="0"/>
                <a:cs typeface="Times New Roman" pitchFamily="18" charset="0"/>
              </a:rPr>
              <a:t>mn</a:t>
            </a:r>
            <a:r>
              <a:rPr lang="en-US" altLang="en-US" sz="1900" dirty="0">
                <a:solidFill>
                  <a:schemeClr val="tx2"/>
                </a:solidFill>
                <a:latin typeface="Times New Roman" pitchFamily="18" charset="0"/>
                <a:cs typeface="Times New Roman" pitchFamily="18" charset="0"/>
              </a:rPr>
              <a:t> is planar if and only if m&lt;3 or n&gt;3.</a:t>
            </a:r>
          </a:p>
          <a:p>
            <a:pPr algn="just">
              <a:lnSpc>
                <a:spcPct val="15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0858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4899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Path</a:t>
            </a:r>
            <a:r>
              <a:rPr lang="en-US" sz="1900"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For a graph G=(X, U).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path in G is a sequence alternating between vertices and edges: x</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2</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m-1</a:t>
            </a:r>
            <a:r>
              <a:rPr lang="en-US" sz="1900" dirty="0">
                <a:solidFill>
                  <a:schemeClr val="tx2"/>
                </a:solidFill>
                <a:latin typeface="Times New Roman" pitchFamily="18" charset="0"/>
                <a:cs typeface="Times New Roman" pitchFamily="18" charset="0"/>
              </a:rPr>
              <a:t> u</a:t>
            </a:r>
            <a:r>
              <a:rPr lang="en-US" sz="1900" baseline="-25000" dirty="0">
                <a:solidFill>
                  <a:schemeClr val="tx2"/>
                </a:solidFill>
                <a:latin typeface="Times New Roman" pitchFamily="18" charset="0"/>
                <a:cs typeface="Times New Roman" pitchFamily="18" charset="0"/>
              </a:rPr>
              <a:t>m-1</a:t>
            </a:r>
            <a:r>
              <a:rPr lang="en-US" sz="1900" dirty="0">
                <a:solidFill>
                  <a:schemeClr val="tx2"/>
                </a:solidFill>
                <a:latin typeface="Times New Roman" pitchFamily="18" charset="0"/>
                <a:cs typeface="Times New Roman" pitchFamily="18" charset="0"/>
              </a:rPr>
              <a:t>1 </a:t>
            </a:r>
            <a:r>
              <a:rPr lang="en-US" sz="1900" dirty="0" err="1">
                <a:solidFill>
                  <a:schemeClr val="tx2"/>
                </a:solidFill>
                <a:latin typeface="Times New Roman" pitchFamily="18" charset="0"/>
                <a:cs typeface="Times New Roman" pitchFamily="18" charset="0"/>
              </a:rPr>
              <a:t>x</a:t>
            </a:r>
            <a:r>
              <a:rPr lang="en-US" sz="1900" baseline="-25000" dirty="0" err="1">
                <a:solidFill>
                  <a:schemeClr val="tx2"/>
                </a:solidFill>
                <a:latin typeface="Times New Roman" pitchFamily="18" charset="0"/>
                <a:cs typeface="Times New Roman" pitchFamily="18" charset="0"/>
              </a:rPr>
              <a:t>m</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is a vertex and </a:t>
            </a: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is an edge) in the graph that satisfies the condition that </a:t>
            </a: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connects the vertex pair (x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if the graph is directed,</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err="1">
                <a:solidFill>
                  <a:schemeClr val="tx2"/>
                </a:solidFill>
                <a:latin typeface="Times New Roman" pitchFamily="18" charset="0"/>
                <a:cs typeface="Times New Roman" pitchFamily="18" charset="0"/>
              </a:rPr>
              <a:t>u</a:t>
            </a:r>
            <a:r>
              <a:rPr lang="en-US" sz="1900" baseline="-25000" dirty="0" err="1">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={x</a:t>
            </a:r>
            <a:r>
              <a:rPr lang="en-US" sz="1900" baseline="-25000" dirty="0">
                <a:solidFill>
                  <a:schemeClr val="tx2"/>
                </a:solidFill>
                <a:latin typeface="Times New Roman" pitchFamily="18" charset="0"/>
                <a:cs typeface="Times New Roman" pitchFamily="18" charset="0"/>
              </a:rPr>
              <a:t>i</a:t>
            </a:r>
            <a:r>
              <a:rPr lang="en-US" sz="1900" dirty="0">
                <a:solidFill>
                  <a:schemeClr val="tx2"/>
                </a:solidFill>
                <a:latin typeface="Times New Roman" pitchFamily="18" charset="0"/>
                <a:cs typeface="Times New Roman" pitchFamily="18" charset="0"/>
              </a:rPr>
              <a:t>, x</a:t>
            </a:r>
            <a:r>
              <a:rPr lang="en-US" sz="1900" baseline="-25000" dirty="0">
                <a:solidFill>
                  <a:schemeClr val="tx2"/>
                </a:solidFill>
                <a:latin typeface="Times New Roman" pitchFamily="18" charset="0"/>
                <a:cs typeface="Times New Roman" pitchFamily="18" charset="0"/>
              </a:rPr>
              <a:t>i+1</a:t>
            </a:r>
            <a:r>
              <a:rPr lang="en-US" sz="1900" dirty="0">
                <a:solidFill>
                  <a:schemeClr val="tx2"/>
                </a:solidFill>
                <a:latin typeface="Times New Roman" pitchFamily="18" charset="0"/>
                <a:cs typeface="Times New Roman" pitchFamily="18" charset="0"/>
              </a:rPr>
              <a:t>} if the graph is undirected.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In this case, x</a:t>
            </a:r>
            <a:r>
              <a:rPr lang="en-US" sz="1900" baseline="-25000" dirty="0">
                <a:solidFill>
                  <a:schemeClr val="tx2"/>
                </a:solidFill>
                <a:latin typeface="Times New Roman" pitchFamily="18" charset="0"/>
                <a:cs typeface="Times New Roman" pitchFamily="18" charset="0"/>
              </a:rPr>
              <a:t>1</a:t>
            </a:r>
            <a:r>
              <a:rPr lang="en-US" sz="1900" dirty="0">
                <a:solidFill>
                  <a:schemeClr val="tx2"/>
                </a:solidFill>
                <a:latin typeface="Times New Roman" pitchFamily="18" charset="0"/>
                <a:cs typeface="Times New Roman" pitchFamily="18" charset="0"/>
              </a:rPr>
              <a:t> is called the starting vertex and </a:t>
            </a:r>
            <a:r>
              <a:rPr lang="en-US" sz="1900" dirty="0" err="1">
                <a:solidFill>
                  <a:schemeClr val="tx2"/>
                </a:solidFill>
                <a:latin typeface="Times New Roman" pitchFamily="18" charset="0"/>
                <a:cs typeface="Times New Roman" pitchFamily="18" charset="0"/>
              </a:rPr>
              <a:t>x</a:t>
            </a:r>
            <a:r>
              <a:rPr lang="en-US" sz="1900" baseline="-25000" dirty="0" err="1">
                <a:solidFill>
                  <a:schemeClr val="tx2"/>
                </a:solidFill>
                <a:latin typeface="Times New Roman" pitchFamily="18" charset="0"/>
                <a:cs typeface="Times New Roman" pitchFamily="18" charset="0"/>
              </a:rPr>
              <a:t>m</a:t>
            </a:r>
            <a:r>
              <a:rPr lang="en-US" sz="1900" dirty="0">
                <a:solidFill>
                  <a:schemeClr val="tx2"/>
                </a:solidFill>
                <a:latin typeface="Times New Roman" pitchFamily="18" charset="0"/>
                <a:cs typeface="Times New Roman" pitchFamily="18" charset="0"/>
              </a:rPr>
              <a:t> is the ending vertex of the path.</a:t>
            </a:r>
          </a:p>
          <a:p>
            <a:pPr marL="342900" indent="-342900" eaLnBrk="0" fontAlgn="base" hangingPunct="0">
              <a:lnSpc>
                <a:spcPct val="150000"/>
              </a:lnSpc>
              <a:spcBef>
                <a:spcPct val="0"/>
              </a:spcBef>
              <a:spcAft>
                <a:spcPct val="0"/>
              </a:spcAft>
              <a:buFont typeface="Arial" panose="020B0604020202020204" pitchFamily="34" charset="0"/>
              <a:buChar char="•"/>
            </a:pPr>
            <a:r>
              <a:rPr lang="en-US" altLang="en-US" sz="1900" dirty="0">
                <a:solidFill>
                  <a:schemeClr val="tx2"/>
                </a:solidFill>
                <a:latin typeface="Times New Roman" pitchFamily="18" charset="0"/>
                <a:cs typeface="Times New Roman" pitchFamily="18" charset="0"/>
              </a:rPr>
              <a:t>The "single" nature of a chain or path requires that no border appear twice in the path.</a:t>
            </a:r>
          </a:p>
          <a:p>
            <a:pPr marL="342900" indent="-342900" eaLnBrk="0" fontAlgn="base" hangingPunct="0">
              <a:lnSpc>
                <a:spcPct val="150000"/>
              </a:lnSpc>
              <a:spcBef>
                <a:spcPct val="0"/>
              </a:spcBef>
              <a:spcAft>
                <a:spcPct val="0"/>
              </a:spcAft>
              <a:buFont typeface="Arial" panose="020B0604020202020204" pitchFamily="34" charset="0"/>
              <a:buChar char="•"/>
            </a:pPr>
            <a:r>
              <a:rPr lang="en-US" altLang="en-US" sz="1900" dirty="0">
                <a:solidFill>
                  <a:schemeClr val="tx2"/>
                </a:solidFill>
                <a:latin typeface="Times New Roman" pitchFamily="18" charset="0"/>
                <a:cs typeface="Times New Roman" pitchFamily="18" charset="0"/>
              </a:rPr>
              <a:t>The "primary" (aka "secondary") quality requires that no vertices appear twice.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5902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7207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i="1" dirty="0">
                <a:solidFill>
                  <a:schemeClr val="tx2"/>
                </a:solidFill>
                <a:latin typeface="Times New Roman" pitchFamily="18" charset="0"/>
                <a:cs typeface="Times New Roman" pitchFamily="18" charset="0"/>
              </a:rPr>
              <a:t>Cycle</a:t>
            </a:r>
            <a:r>
              <a:rPr lang="en-US" sz="1900" i="1" dirty="0">
                <a:solidFill>
                  <a:schemeClr val="tx2"/>
                </a:solidFill>
                <a:latin typeface="Times New Roman" pitchFamily="18" charset="0"/>
                <a:cs typeface="Times New Roman" pitchFamily="18" charset="0"/>
              </a:rPr>
              <a:t>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path that starts and ends at the same point (k&gt;=3) is called a cycle</a:t>
            </a:r>
            <a:r>
              <a:rPr lang="en-US" sz="2000" b="0" i="0" dirty="0">
                <a:solidFill>
                  <a:srgbClr val="202122"/>
                </a:solidFill>
                <a:effectLst/>
                <a:latin typeface="Arial" panose="020B0604020202020204" pitchFamily="34" charset="0"/>
              </a:rPr>
              <a:t>.</a:t>
            </a:r>
            <a:endParaRPr lang="en-US" altLang="en-US" sz="1900" dirty="0">
              <a:solidFill>
                <a:schemeClr val="tx2"/>
              </a:solidFill>
              <a:latin typeface="Times New Roman" pitchFamily="18" charset="0"/>
              <a:cs typeface="Times New Roman" pitchFamily="18" charset="0"/>
            </a:endParaRPr>
          </a:p>
          <a:p>
            <a:pPr algn="just">
              <a:lnSpc>
                <a:spcPct val="150000"/>
              </a:lnSpc>
              <a:defRPr/>
            </a:pPr>
            <a:r>
              <a:rPr lang="en-US" sz="1900" b="1" i="1" dirty="0">
                <a:solidFill>
                  <a:schemeClr val="tx2"/>
                </a:solidFill>
                <a:latin typeface="Times New Roman" pitchFamily="18" charset="0"/>
                <a:cs typeface="Times New Roman" pitchFamily="18" charset="0"/>
              </a:rPr>
              <a:t>Connectivity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In an undirected graph G, two vertices u and v are called connected if G contains a path from u to v. Otherwise, they are called disconnected.</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the two vertices are additionally connected by a path of length 1, i.e. by a single edge, the vertices are called adjacent.</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graph is said to be connected if every pair of vertices in the graph is connected.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undirected graph that is not connected is called disconnected.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undirected graph G is therefore disconnected if there exist two vertices in G such that no path in G has these vertices as endpoints. </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2227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 graph with just one vertex is connected. </a:t>
            </a:r>
          </a:p>
          <a:p>
            <a:pPr marL="342900" indent="-342900" eaLnBrk="0" fontAlgn="base" hangingPunct="0">
              <a:lnSpc>
                <a:spcPct val="150000"/>
              </a:lnSpc>
              <a:spcBef>
                <a:spcPct val="0"/>
              </a:spcBef>
              <a:spcAft>
                <a:spcPct val="0"/>
              </a:spcAft>
              <a:buFont typeface="Arial" panose="020B0604020202020204" pitchFamily="34" charset="0"/>
              <a:buChar char="•"/>
            </a:pPr>
            <a:r>
              <a:rPr lang="en-US" sz="1900" dirty="0">
                <a:solidFill>
                  <a:schemeClr val="tx2"/>
                </a:solidFill>
                <a:latin typeface="Times New Roman" pitchFamily="18" charset="0"/>
                <a:cs typeface="Times New Roman" pitchFamily="18" charset="0"/>
              </a:rPr>
              <a:t>An edgeless graph with two or more vertices is disconnected.</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directed graph is called weakly connected if replacing all of its directed edges with undirected edges produces a connected (undirected) graph. </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It is unilaterally connected or unilateral (also called semi-connected) if it contains a directed path from u to v or a directed path from v to u for every pair of vertices u, v.</a:t>
            </a:r>
          </a:p>
          <a:p>
            <a:pPr marL="342900" indent="-342900" algn="just">
              <a:lnSpc>
                <a:spcPct val="15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 It is strongly connected, or simply strong, if it contains a directed path from u to v and a directed path from v to u for every pair of vertices u, v.</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4318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357ECD9D-818F-2049-0ACA-62A9AF2588F2}"/>
              </a:ext>
            </a:extLst>
          </p:cNvPr>
          <p:cNvPicPr>
            <a:picLocks noChangeAspect="1"/>
          </p:cNvPicPr>
          <p:nvPr/>
        </p:nvPicPr>
        <p:blipFill>
          <a:blip r:embed="rId4"/>
          <a:stretch>
            <a:fillRect/>
          </a:stretch>
        </p:blipFill>
        <p:spPr>
          <a:xfrm>
            <a:off x="581025" y="1321254"/>
            <a:ext cx="2609850" cy="2314575"/>
          </a:xfrm>
          <a:prstGeom prst="rect">
            <a:avLst/>
          </a:prstGeom>
        </p:spPr>
      </p:pic>
      <p:pic>
        <p:nvPicPr>
          <p:cNvPr id="5" name="Picture 4">
            <a:extLst>
              <a:ext uri="{FF2B5EF4-FFF2-40B4-BE49-F238E27FC236}">
                <a16:creationId xmlns:a16="http://schemas.microsoft.com/office/drawing/2014/main" id="{6D9F1202-907E-F4EC-266B-C4A5B6BD4CAA}"/>
              </a:ext>
            </a:extLst>
          </p:cNvPr>
          <p:cNvPicPr>
            <a:picLocks noChangeAspect="1"/>
          </p:cNvPicPr>
          <p:nvPr/>
        </p:nvPicPr>
        <p:blipFill>
          <a:blip r:embed="rId5"/>
          <a:stretch>
            <a:fillRect/>
          </a:stretch>
        </p:blipFill>
        <p:spPr>
          <a:xfrm>
            <a:off x="1422400" y="3990994"/>
            <a:ext cx="6400800" cy="2057400"/>
          </a:xfrm>
          <a:prstGeom prst="rect">
            <a:avLst/>
          </a:prstGeom>
        </p:spPr>
      </p:pic>
      <p:pic>
        <p:nvPicPr>
          <p:cNvPr id="8" name="Picture 7">
            <a:extLst>
              <a:ext uri="{FF2B5EF4-FFF2-40B4-BE49-F238E27FC236}">
                <a16:creationId xmlns:a16="http://schemas.microsoft.com/office/drawing/2014/main" id="{E1E59529-F7BF-2A5D-C99E-1B9E240FFC2B}"/>
              </a:ext>
            </a:extLst>
          </p:cNvPr>
          <p:cNvPicPr>
            <a:picLocks noChangeAspect="1"/>
          </p:cNvPicPr>
          <p:nvPr/>
        </p:nvPicPr>
        <p:blipFill>
          <a:blip r:embed="rId6"/>
          <a:stretch>
            <a:fillRect/>
          </a:stretch>
        </p:blipFill>
        <p:spPr>
          <a:xfrm>
            <a:off x="4572000" y="1092399"/>
            <a:ext cx="3714750" cy="2381250"/>
          </a:xfrm>
          <a:prstGeom prst="rect">
            <a:avLst/>
          </a:prstGeom>
        </p:spPr>
      </p:pic>
    </p:spTree>
    <p:extLst>
      <p:ext uri="{BB962C8B-B14F-4D97-AF65-F5344CB8AC3E}">
        <p14:creationId xmlns:p14="http://schemas.microsoft.com/office/powerpoint/2010/main" val="3167043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634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Draw the following shapes with a single pen stroke (do not lift the pen while drawing).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4" descr="http://i177.photobucket.com/albums/w216/m2mpro/ve1net.jpg">
            <a:extLst>
              <a:ext uri="{FF2B5EF4-FFF2-40B4-BE49-F238E27FC236}">
                <a16:creationId xmlns:a16="http://schemas.microsoft.com/office/drawing/2014/main" id="{D8DF68E3-7DC9-4C8C-DDE7-F38B24855D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5684" y="2155915"/>
            <a:ext cx="3505200" cy="330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http://img517.imageshack.us/img517/5109/17696083xh9.gif">
            <a:extLst>
              <a:ext uri="{FF2B5EF4-FFF2-40B4-BE49-F238E27FC236}">
                <a16:creationId xmlns:a16="http://schemas.microsoft.com/office/drawing/2014/main" id="{44078E00-4758-99A4-AEE0-F18CF467E6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432" y="2921585"/>
            <a:ext cx="2773136" cy="2375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713788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634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Draw the following shapes with a single pen stroke (do not lift the pen while drawing).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4DAE9449-ABED-6724-F8CD-C7A05651D783}"/>
              </a:ext>
            </a:extLst>
          </p:cNvPr>
          <p:cNvPicPr>
            <a:picLocks noChangeAspect="1"/>
          </p:cNvPicPr>
          <p:nvPr/>
        </p:nvPicPr>
        <p:blipFill>
          <a:blip r:embed="rId4"/>
          <a:stretch>
            <a:fillRect/>
          </a:stretch>
        </p:blipFill>
        <p:spPr>
          <a:xfrm>
            <a:off x="1295400" y="2620831"/>
            <a:ext cx="6438900" cy="3543300"/>
          </a:xfrm>
          <a:prstGeom prst="rect">
            <a:avLst/>
          </a:prstGeom>
        </p:spPr>
      </p:pic>
    </p:spTree>
    <p:extLst>
      <p:ext uri="{BB962C8B-B14F-4D97-AF65-F5344CB8AC3E}">
        <p14:creationId xmlns:p14="http://schemas.microsoft.com/office/powerpoint/2010/main" val="4236757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448992"/>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Consider the graph G = &lt;V,E&gt;.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path on the graph is called an Eulerian path if it traverses all edges, each edge once.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An Eulerian cycle on the graph is a cycle that goes through all edges, each edge once</a:t>
            </a:r>
          </a:p>
          <a:p>
            <a:pPr>
              <a:lnSpc>
                <a:spcPct val="150000"/>
              </a:lnSpc>
              <a:buFont typeface="Wingdings" charset="2"/>
              <a:buNone/>
            </a:pPr>
            <a:endParaRPr lang="en-US" sz="1900" dirty="0">
              <a:solidFill>
                <a:schemeClr val="tx2"/>
              </a:solidFill>
              <a:latin typeface="Times New Roman" pitchFamily="18" charset="0"/>
              <a:cs typeface="Times New Roman" pitchFamily="18" charset="0"/>
            </a:endParaRPr>
          </a:p>
          <a:p>
            <a:pPr>
              <a:lnSpc>
                <a:spcPct val="150000"/>
              </a:lnSpc>
              <a:buFont typeface="Wingdings" charset="2"/>
              <a:buNone/>
            </a:pPr>
            <a:r>
              <a:rPr lang="en-US" sz="1900" dirty="0">
                <a:solidFill>
                  <a:schemeClr val="tx2"/>
                </a:solidFill>
                <a:latin typeface="Times New Roman" pitchFamily="18" charset="0"/>
                <a:cs typeface="Times New Roman" pitchFamily="18" charset="0"/>
              </a:rPr>
              <a:t>EX.:</a:t>
            </a:r>
          </a:p>
          <a:p>
            <a:pPr>
              <a:lnSpc>
                <a:spcPct val="150000"/>
              </a:lnSpc>
              <a:buFont typeface="Wingdings" charset="2"/>
              <a:buNone/>
            </a:pPr>
            <a:r>
              <a:rPr lang="en-US" sz="1900" dirty="0">
                <a:solidFill>
                  <a:schemeClr val="tx2"/>
                </a:solidFill>
                <a:latin typeface="Times New Roman" pitchFamily="18" charset="0"/>
                <a:cs typeface="Times New Roman" pitchFamily="18" charset="0"/>
              </a:rPr>
              <a:t>Eulerian path </a:t>
            </a:r>
            <a:r>
              <a:rPr lang="en-US" altLang="en-US" sz="1900" dirty="0">
                <a:solidFill>
                  <a:schemeClr val="tx2"/>
                </a:solidFill>
                <a:latin typeface="Times New Roman" pitchFamily="18" charset="0"/>
                <a:cs typeface="Times New Roman" pitchFamily="18" charset="0"/>
              </a:rPr>
              <a:t>:</a:t>
            </a:r>
          </a:p>
          <a:p>
            <a:pPr>
              <a:lnSpc>
                <a:spcPct val="150000"/>
              </a:lnSpc>
              <a:buFont typeface="Wingdings" charset="2"/>
              <a:buNone/>
            </a:pPr>
            <a:r>
              <a:rPr lang="en-US" altLang="en-US" sz="1900" dirty="0">
                <a:solidFill>
                  <a:schemeClr val="tx2"/>
                </a:solidFill>
                <a:latin typeface="Times New Roman" pitchFamily="18" charset="0"/>
                <a:cs typeface="Times New Roman" pitchFamily="18" charset="0"/>
              </a:rPr>
              <a:t>d1: 1 2 3 4 2 5 4 1 5</a:t>
            </a:r>
          </a:p>
          <a:p>
            <a:pPr>
              <a:lnSpc>
                <a:spcPct val="150000"/>
              </a:lnSpc>
              <a:buFont typeface="Wingdings" charset="2"/>
              <a:buNone/>
            </a:pPr>
            <a:r>
              <a:rPr lang="en-US" altLang="en-US" sz="1900" dirty="0">
                <a:solidFill>
                  <a:schemeClr val="tx2"/>
                </a:solidFill>
                <a:latin typeface="Times New Roman" pitchFamily="18" charset="0"/>
                <a:cs typeface="Times New Roman" pitchFamily="18" charset="0"/>
              </a:rPr>
              <a:t>d2: 1 2 4 3 2 5 1 4 5</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C7475953-A272-8631-0D1C-B179E67AF77E}"/>
              </a:ext>
            </a:extLst>
          </p:cNvPr>
          <p:cNvPicPr>
            <a:picLocks noChangeAspect="1"/>
          </p:cNvPicPr>
          <p:nvPr/>
        </p:nvPicPr>
        <p:blipFill>
          <a:blip r:embed="rId4"/>
          <a:stretch>
            <a:fillRect/>
          </a:stretch>
        </p:blipFill>
        <p:spPr>
          <a:xfrm>
            <a:off x="4038600" y="3519486"/>
            <a:ext cx="2990850" cy="2638425"/>
          </a:xfrm>
          <a:prstGeom prst="rect">
            <a:avLst/>
          </a:prstGeom>
        </p:spPr>
      </p:pic>
    </p:spTree>
    <p:extLst>
      <p:ext uri="{BB962C8B-B14F-4D97-AF65-F5344CB8AC3E}">
        <p14:creationId xmlns:p14="http://schemas.microsoft.com/office/powerpoint/2010/main" val="2063582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6369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p>
          <a:p>
            <a:pPr>
              <a:lnSpc>
                <a:spcPct val="150000"/>
              </a:lnSpc>
              <a:buFont typeface="Wingdings" charset="2"/>
              <a:buNone/>
            </a:pPr>
            <a:r>
              <a:rPr lang="en-US" sz="1900" dirty="0">
                <a:solidFill>
                  <a:schemeClr val="tx2"/>
                </a:solidFill>
                <a:latin typeface="Times New Roman" pitchFamily="18" charset="0"/>
                <a:cs typeface="Times New Roman" pitchFamily="18" charset="0"/>
              </a:rPr>
              <a:t>Eulerian cycles </a:t>
            </a:r>
            <a:r>
              <a:rPr lang="en-US" altLang="en-US" sz="1900" dirty="0">
                <a:solidFill>
                  <a:schemeClr val="tx2"/>
                </a:solidFill>
                <a:latin typeface="Times New Roman" pitchFamily="18" charset="0"/>
                <a:cs typeface="Times New Roman" pitchFamily="18" charset="0"/>
              </a:rPr>
              <a:t>:</a:t>
            </a:r>
          </a:p>
          <a:p>
            <a:pPr>
              <a:buFont typeface="Wingdings" charset="2"/>
              <a:buNone/>
            </a:pPr>
            <a:r>
              <a:rPr lang="en-US" altLang="en-US" sz="1900" dirty="0">
                <a:solidFill>
                  <a:schemeClr val="tx2"/>
                </a:solidFill>
                <a:latin typeface="Times New Roman" pitchFamily="18" charset="0"/>
                <a:cs typeface="Times New Roman" pitchFamily="18" charset="0"/>
              </a:rPr>
              <a:t>c1: 1 2 3 4 2 5 4 1 5 6 1</a:t>
            </a:r>
          </a:p>
          <a:p>
            <a:pPr>
              <a:buFont typeface="Wingdings" charset="2"/>
              <a:buNone/>
            </a:pPr>
            <a:r>
              <a:rPr lang="en-US" altLang="en-US" sz="1900" dirty="0">
                <a:solidFill>
                  <a:schemeClr val="tx2"/>
                </a:solidFill>
                <a:latin typeface="Times New Roman" pitchFamily="18" charset="0"/>
                <a:cs typeface="Times New Roman" pitchFamily="18" charset="0"/>
              </a:rPr>
              <a:t>c2: 1 2 4 3 2 5 1 4 5 6 1</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D496B020-F442-F17B-91C5-5AA1662C01AA}"/>
              </a:ext>
            </a:extLst>
          </p:cNvPr>
          <p:cNvPicPr>
            <a:picLocks noChangeAspect="1"/>
          </p:cNvPicPr>
          <p:nvPr/>
        </p:nvPicPr>
        <p:blipFill>
          <a:blip r:embed="rId4"/>
          <a:stretch>
            <a:fillRect/>
          </a:stretch>
        </p:blipFill>
        <p:spPr>
          <a:xfrm>
            <a:off x="4038600" y="1962150"/>
            <a:ext cx="2600325" cy="3543300"/>
          </a:xfrm>
          <a:prstGeom prst="rect">
            <a:avLst/>
          </a:prstGeom>
        </p:spPr>
      </p:pic>
    </p:spTree>
    <p:extLst>
      <p:ext uri="{BB962C8B-B14F-4D97-AF65-F5344CB8AC3E}">
        <p14:creationId xmlns:p14="http://schemas.microsoft.com/office/powerpoint/2010/main" val="1155751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Euler's cycle</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 Euler’s path</a:t>
            </a:r>
            <a:r>
              <a:rPr lang="en-US" sz="1900" dirty="0">
                <a:solidFill>
                  <a:schemeClr val="tx2"/>
                </a:solidFill>
                <a:latin typeface="Times New Roman" pitchFamily="18" charset="0"/>
                <a:cs typeface="Times New Roman" pitchFamily="18" charset="0"/>
              </a:rPr>
              <a:t>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undefined">
            <a:extLst>
              <a:ext uri="{FF2B5EF4-FFF2-40B4-BE49-F238E27FC236}">
                <a16:creationId xmlns:a16="http://schemas.microsoft.com/office/drawing/2014/main" id="{44079329-F40A-6450-4AB1-0D7B011B15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181605"/>
            <a:ext cx="5702349" cy="3490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486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378921"/>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graph is called an Eulerian graph if an only if exist an Eulerian cycle in the graph</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A graph is called a half Eulerian graph if an only if exist an Eulerian path in the graph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D1E531E-F1D0-7E76-79A3-70B991F64B04}"/>
              </a:ext>
            </a:extLst>
          </p:cNvPr>
          <p:cNvPicPr>
            <a:picLocks noChangeAspect="1"/>
          </p:cNvPicPr>
          <p:nvPr/>
        </p:nvPicPr>
        <p:blipFill>
          <a:blip r:embed="rId4"/>
          <a:stretch>
            <a:fillRect/>
          </a:stretch>
        </p:blipFill>
        <p:spPr>
          <a:xfrm>
            <a:off x="1219200" y="2643186"/>
            <a:ext cx="6477000" cy="3514725"/>
          </a:xfrm>
          <a:prstGeom prst="rect">
            <a:avLst/>
          </a:prstGeom>
        </p:spPr>
      </p:pic>
    </p:spTree>
    <p:extLst>
      <p:ext uri="{BB962C8B-B14F-4D97-AF65-F5344CB8AC3E}">
        <p14:creationId xmlns:p14="http://schemas.microsoft.com/office/powerpoint/2010/main" val="26295260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a:lnSpc>
                <a:spcPct val="150000"/>
              </a:lnSpc>
            </a:pPr>
            <a:r>
              <a:rPr lang="en-US" sz="1900" b="1" dirty="0">
                <a:solidFill>
                  <a:schemeClr val="tx2"/>
                </a:solidFill>
                <a:latin typeface="Times New Roman" pitchFamily="18" charset="0"/>
                <a:cs typeface="Times New Roman" pitchFamily="18" charset="0"/>
              </a:rPr>
              <a:t>Theorem. </a:t>
            </a:r>
            <a:r>
              <a:rPr lang="en-US" sz="1900" dirty="0">
                <a:solidFill>
                  <a:schemeClr val="tx2"/>
                </a:solidFill>
                <a:latin typeface="Times New Roman" pitchFamily="18" charset="0"/>
                <a:cs typeface="Times New Roman" pitchFamily="18" charset="0"/>
              </a:rPr>
              <a:t>A connected undirected graph G is an Eulerian graph if and only if every vertex of it has an even degree. </a:t>
            </a:r>
          </a:p>
          <a:p>
            <a:pPr>
              <a:lnSpc>
                <a:spcPct val="150000"/>
              </a:lnSpc>
            </a:pPr>
            <a:r>
              <a:rPr lang="en-US" sz="1900" b="1" dirty="0">
                <a:solidFill>
                  <a:schemeClr val="tx2"/>
                </a:solidFill>
                <a:latin typeface="Times New Roman" pitchFamily="18" charset="0"/>
                <a:cs typeface="Times New Roman" pitchFamily="18" charset="0"/>
              </a:rPr>
              <a:t>Corollary.</a:t>
            </a:r>
            <a:r>
              <a:rPr lang="en-US" sz="1900" dirty="0">
                <a:solidFill>
                  <a:schemeClr val="tx2"/>
                </a:solidFill>
                <a:latin typeface="Times New Roman" pitchFamily="18" charset="0"/>
                <a:cs typeface="Times New Roman" pitchFamily="18" charset="0"/>
              </a:rPr>
              <a:t> A connected undirected graph G is a semi-Eulerian graph if and only if it has at most two vertices with odd degrees.</a:t>
            </a:r>
            <a:endParaRPr lang="en-US" alt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D1E531E-F1D0-7E76-79A3-70B991F64B04}"/>
              </a:ext>
            </a:extLst>
          </p:cNvPr>
          <p:cNvPicPr>
            <a:picLocks noChangeAspect="1"/>
          </p:cNvPicPr>
          <p:nvPr/>
        </p:nvPicPr>
        <p:blipFill>
          <a:blip r:embed="rId4"/>
          <a:stretch>
            <a:fillRect/>
          </a:stretch>
        </p:blipFill>
        <p:spPr>
          <a:xfrm>
            <a:off x="1384300" y="3022934"/>
            <a:ext cx="6477000" cy="3514725"/>
          </a:xfrm>
          <a:prstGeom prst="rect">
            <a:avLst/>
          </a:prstGeom>
        </p:spPr>
      </p:pic>
    </p:spTree>
    <p:extLst>
      <p:ext uri="{BB962C8B-B14F-4D97-AF65-F5344CB8AC3E}">
        <p14:creationId xmlns:p14="http://schemas.microsoft.com/office/powerpoint/2010/main" val="29628951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42508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Consider G to be a strongly connected directed graph. Then, G is an Eulerian graph if and only if every vertex of G has an equal out-degree and in-degree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A44C525A-33D5-25AA-889B-9BA68443D8A5}"/>
              </a:ext>
            </a:extLst>
          </p:cNvPr>
          <p:cNvPicPr>
            <a:picLocks noChangeAspect="1"/>
          </p:cNvPicPr>
          <p:nvPr/>
        </p:nvPicPr>
        <p:blipFill>
          <a:blip r:embed="rId4"/>
          <a:stretch>
            <a:fillRect/>
          </a:stretch>
        </p:blipFill>
        <p:spPr>
          <a:xfrm>
            <a:off x="2220698" y="2313400"/>
            <a:ext cx="4561101" cy="4045064"/>
          </a:xfrm>
          <a:prstGeom prst="rect">
            <a:avLst/>
          </a:prstGeom>
        </p:spPr>
      </p:pic>
    </p:spTree>
    <p:extLst>
      <p:ext uri="{BB962C8B-B14F-4D97-AF65-F5344CB8AC3E}">
        <p14:creationId xmlns:p14="http://schemas.microsoft.com/office/powerpoint/2010/main" val="2105141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Find the Eulerian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Rule 1: After pass any edge, delete it</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Rule 2: Only pass a bridge if there is no other choice</a:t>
            </a: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512524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50175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775C61A5-9DAD-59DB-04CB-62E8FC9FEF1C}"/>
              </a:ext>
            </a:extLst>
          </p:cNvPr>
          <p:cNvPicPr>
            <a:picLocks noChangeAspect="1"/>
          </p:cNvPicPr>
          <p:nvPr/>
        </p:nvPicPr>
        <p:blipFill>
          <a:blip r:embed="rId4"/>
          <a:stretch>
            <a:fillRect/>
          </a:stretch>
        </p:blipFill>
        <p:spPr>
          <a:xfrm>
            <a:off x="-4312" y="1578528"/>
            <a:ext cx="1922285" cy="2619377"/>
          </a:xfrm>
          <a:prstGeom prst="rect">
            <a:avLst/>
          </a:prstGeom>
        </p:spPr>
      </p:pic>
      <p:graphicFrame>
        <p:nvGraphicFramePr>
          <p:cNvPr id="9" name="Table 9">
            <a:extLst>
              <a:ext uri="{FF2B5EF4-FFF2-40B4-BE49-F238E27FC236}">
                <a16:creationId xmlns:a16="http://schemas.microsoft.com/office/drawing/2014/main" id="{07BBD141-A4F4-8BB6-A6E3-105E9D1E4CBF}"/>
              </a:ext>
            </a:extLst>
          </p:cNvPr>
          <p:cNvGraphicFramePr>
            <a:graphicFrameLocks noGrp="1"/>
          </p:cNvGraphicFramePr>
          <p:nvPr>
            <p:extLst>
              <p:ext uri="{D42A27DB-BD31-4B8C-83A1-F6EECF244321}">
                <p14:modId xmlns:p14="http://schemas.microsoft.com/office/powerpoint/2010/main" val="4178044979"/>
              </p:ext>
            </p:extLst>
          </p:nvPr>
        </p:nvGraphicFramePr>
        <p:xfrm>
          <a:off x="1994173" y="1343964"/>
          <a:ext cx="6534994" cy="4701202"/>
        </p:xfrm>
        <a:graphic>
          <a:graphicData uri="http://schemas.openxmlformats.org/drawingml/2006/table">
            <a:tbl>
              <a:tblPr firstRow="1" bandRow="1">
                <a:tableStyleId>{5C22544A-7EE6-4342-B048-85BDC9FD1C3A}</a:tableStyleId>
              </a:tblPr>
              <a:tblGrid>
                <a:gridCol w="617855">
                  <a:extLst>
                    <a:ext uri="{9D8B030D-6E8A-4147-A177-3AD203B41FA5}">
                      <a16:colId xmlns:a16="http://schemas.microsoft.com/office/drawing/2014/main" val="3998536876"/>
                    </a:ext>
                  </a:extLst>
                </a:gridCol>
                <a:gridCol w="802386">
                  <a:extLst>
                    <a:ext uri="{9D8B030D-6E8A-4147-A177-3AD203B41FA5}">
                      <a16:colId xmlns:a16="http://schemas.microsoft.com/office/drawing/2014/main" val="3691183443"/>
                    </a:ext>
                  </a:extLst>
                </a:gridCol>
                <a:gridCol w="2235518">
                  <a:extLst>
                    <a:ext uri="{9D8B030D-6E8A-4147-A177-3AD203B41FA5}">
                      <a16:colId xmlns:a16="http://schemas.microsoft.com/office/drawing/2014/main" val="1984081462"/>
                    </a:ext>
                  </a:extLst>
                </a:gridCol>
                <a:gridCol w="675550">
                  <a:extLst>
                    <a:ext uri="{9D8B030D-6E8A-4147-A177-3AD203B41FA5}">
                      <a16:colId xmlns:a16="http://schemas.microsoft.com/office/drawing/2014/main" val="3506332921"/>
                    </a:ext>
                  </a:extLst>
                </a:gridCol>
                <a:gridCol w="1446022">
                  <a:extLst>
                    <a:ext uri="{9D8B030D-6E8A-4147-A177-3AD203B41FA5}">
                      <a16:colId xmlns:a16="http://schemas.microsoft.com/office/drawing/2014/main" val="4255207429"/>
                    </a:ext>
                  </a:extLst>
                </a:gridCol>
                <a:gridCol w="757663">
                  <a:extLst>
                    <a:ext uri="{9D8B030D-6E8A-4147-A177-3AD203B41FA5}">
                      <a16:colId xmlns:a16="http://schemas.microsoft.com/office/drawing/2014/main" val="3963408106"/>
                    </a:ext>
                  </a:extLst>
                </a:gridCol>
              </a:tblGrid>
              <a:tr h="789217">
                <a:tc>
                  <a:txBody>
                    <a:bodyPr/>
                    <a:lstStyle/>
                    <a:p>
                      <a:r>
                        <a:rPr lang="en-US" sz="1600" kern="1200" dirty="0">
                          <a:solidFill>
                            <a:schemeClr val="tx2"/>
                          </a:solidFill>
                          <a:latin typeface="Times New Roman" pitchFamily="18" charset="0"/>
                          <a:ea typeface="+mn-ea"/>
                          <a:cs typeface="Times New Roman" pitchFamily="18" charset="0"/>
                        </a:rPr>
                        <a:t>Step</a:t>
                      </a:r>
                    </a:p>
                  </a:txBody>
                  <a:tcPr/>
                </a:tc>
                <a:tc>
                  <a:txBody>
                    <a:bodyPr/>
                    <a:lstStyle/>
                    <a:p>
                      <a:r>
                        <a:rPr lang="en-US" sz="1600" kern="1200" dirty="0">
                          <a:solidFill>
                            <a:schemeClr val="tx2"/>
                          </a:solidFill>
                          <a:latin typeface="Times New Roman" pitchFamily="18" charset="0"/>
                          <a:ea typeface="+mn-ea"/>
                          <a:cs typeface="Times New Roman" pitchFamily="18" charset="0"/>
                        </a:rPr>
                        <a:t>Vertex</a:t>
                      </a:r>
                    </a:p>
                  </a:txBody>
                  <a:tcPr/>
                </a:tc>
                <a:tc>
                  <a:txBody>
                    <a:bodyPr/>
                    <a:lstStyle/>
                    <a:p>
                      <a:r>
                        <a:rPr lang="en-US" sz="1600" kern="1200" dirty="0">
                          <a:solidFill>
                            <a:schemeClr val="tx2"/>
                          </a:solidFill>
                          <a:latin typeface="Times New Roman" pitchFamily="18" charset="0"/>
                          <a:ea typeface="+mn-ea"/>
                          <a:cs typeface="Times New Roman" pitchFamily="18" charset="0"/>
                        </a:rPr>
                        <a:t>List edges to the vertex</a:t>
                      </a:r>
                    </a:p>
                  </a:txBody>
                  <a:tcPr/>
                </a:tc>
                <a:tc>
                  <a:txBody>
                    <a:bodyPr/>
                    <a:lstStyle/>
                    <a:p>
                      <a:r>
                        <a:rPr lang="en-US" sz="1600" kern="1200" dirty="0">
                          <a:solidFill>
                            <a:schemeClr val="tx2"/>
                          </a:solidFill>
                          <a:latin typeface="Times New Roman" pitchFamily="18" charset="0"/>
                          <a:ea typeface="+mn-ea"/>
                          <a:cs typeface="Times New Roman" pitchFamily="18" charset="0"/>
                        </a:rPr>
                        <a:t>Edge </a:t>
                      </a:r>
                    </a:p>
                  </a:txBody>
                  <a:tcPr/>
                </a:tc>
                <a:tc>
                  <a:txBody>
                    <a:bodyPr/>
                    <a:lstStyle/>
                    <a:p>
                      <a:r>
                        <a:rPr lang="en-US" sz="1600" kern="1200" dirty="0">
                          <a:solidFill>
                            <a:schemeClr val="tx2"/>
                          </a:solidFill>
                          <a:latin typeface="Times New Roman" pitchFamily="18" charset="0"/>
                          <a:ea typeface="+mn-ea"/>
                          <a:cs typeface="Times New Roman" pitchFamily="18" charset="0"/>
                        </a:rPr>
                        <a:t>Bridge? </a:t>
                      </a:r>
                    </a:p>
                    <a:p>
                      <a:r>
                        <a:rPr lang="en-US" sz="1600" kern="1200" dirty="0">
                          <a:solidFill>
                            <a:schemeClr val="tx2"/>
                          </a:solidFill>
                          <a:latin typeface="Times New Roman" pitchFamily="18" charset="0"/>
                          <a:ea typeface="+mn-ea"/>
                          <a:cs typeface="Times New Roman" pitchFamily="18" charset="0"/>
                        </a:rPr>
                        <a:t>Other choice?</a:t>
                      </a:r>
                    </a:p>
                  </a:txBody>
                  <a:tcPr/>
                </a:tc>
                <a:tc>
                  <a:txBody>
                    <a:bodyPr/>
                    <a:lstStyle/>
                    <a:p>
                      <a:r>
                        <a:rPr lang="en-US" sz="1600" kern="1200" dirty="0">
                          <a:solidFill>
                            <a:schemeClr val="tx2"/>
                          </a:solidFill>
                          <a:latin typeface="Times New Roman" pitchFamily="18" charset="0"/>
                          <a:ea typeface="+mn-ea"/>
                          <a:cs typeface="Times New Roman" pitchFamily="18" charset="0"/>
                        </a:rPr>
                        <a:t>Delete</a:t>
                      </a:r>
                    </a:p>
                  </a:txBody>
                  <a:tcPr/>
                </a:tc>
                <a:extLst>
                  <a:ext uri="{0D108BD9-81ED-4DB2-BD59-A6C34878D82A}">
                    <a16:rowId xmlns:a16="http://schemas.microsoft.com/office/drawing/2014/main" val="2901744825"/>
                  </a:ext>
                </a:extLst>
              </a:tr>
              <a:tr h="355635">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(1,2); (1,4);(1,5);(1,6)</a:t>
                      </a:r>
                    </a:p>
                  </a:txBody>
                  <a:tcPr/>
                </a:tc>
                <a:tc>
                  <a:txBody>
                    <a:bodyPr/>
                    <a:lstStyle/>
                    <a:p>
                      <a:r>
                        <a:rPr lang="en-US" sz="1600" kern="1200" dirty="0">
                          <a:solidFill>
                            <a:schemeClr val="tx2"/>
                          </a:solidFill>
                          <a:latin typeface="Times New Roman" pitchFamily="18" charset="0"/>
                          <a:ea typeface="+mn-ea"/>
                          <a:cs typeface="Times New Roman" pitchFamily="18" charset="0"/>
                        </a:rPr>
                        <a:t>(1,2)</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(1,2)</a:t>
                      </a:r>
                    </a:p>
                  </a:txBody>
                  <a:tcPr/>
                </a:tc>
                <a:extLst>
                  <a:ext uri="{0D108BD9-81ED-4DB2-BD59-A6C34878D82A}">
                    <a16:rowId xmlns:a16="http://schemas.microsoft.com/office/drawing/2014/main" val="309644230"/>
                  </a:ext>
                </a:extLst>
              </a:tr>
              <a:tr h="355635">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r>
                        <a:rPr lang="en-US" sz="1600" kern="1200" dirty="0">
                          <a:solidFill>
                            <a:schemeClr val="tx2"/>
                          </a:solidFill>
                          <a:latin typeface="Times New Roman" pitchFamily="18" charset="0"/>
                          <a:ea typeface="+mn-ea"/>
                          <a:cs typeface="Times New Roman" pitchFamily="18" charset="0"/>
                        </a:rPr>
                        <a:t>(2,3);(2,4);(2;5)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(2,3)</a:t>
                      </a:r>
                    </a:p>
                  </a:txBody>
                  <a:tcPr/>
                </a:tc>
                <a:extLst>
                  <a:ext uri="{0D108BD9-81ED-4DB2-BD59-A6C34878D82A}">
                    <a16:rowId xmlns:a16="http://schemas.microsoft.com/office/drawing/2014/main" val="435455534"/>
                  </a:ext>
                </a:extLst>
              </a:tr>
              <a:tr h="355635">
                <a:tc>
                  <a:txBody>
                    <a:bodyPr/>
                    <a:lstStyle/>
                    <a:p>
                      <a:r>
                        <a:rPr lang="en-US" sz="1600" kern="1200" dirty="0">
                          <a:solidFill>
                            <a:schemeClr val="tx2"/>
                          </a:solidFill>
                          <a:latin typeface="Times New Roman" pitchFamily="18" charset="0"/>
                          <a:ea typeface="+mn-ea"/>
                          <a:cs typeface="Times New Roman" pitchFamily="18" charset="0"/>
                        </a:rPr>
                        <a:t>3</a:t>
                      </a:r>
                    </a:p>
                  </a:txBody>
                  <a:tcPr/>
                </a:tc>
                <a:tc>
                  <a:txBody>
                    <a:bodyPr/>
                    <a:lstStyle/>
                    <a:p>
                      <a:r>
                        <a:rPr lang="en-US" sz="1600" kern="1200" dirty="0">
                          <a:solidFill>
                            <a:schemeClr val="tx2"/>
                          </a:solidFill>
                          <a:latin typeface="Times New Roman" pitchFamily="18" charset="0"/>
                          <a:ea typeface="+mn-ea"/>
                          <a:cs typeface="Times New Roman" pitchFamily="18" charset="0"/>
                        </a:rPr>
                        <a:t>3</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tc>
                  <a:txBody>
                    <a:bodyPr/>
                    <a:lstStyle/>
                    <a:p>
                      <a:r>
                        <a:rPr lang="en-US" sz="1600" kern="1200" dirty="0">
                          <a:solidFill>
                            <a:schemeClr val="tx2"/>
                          </a:solidFill>
                          <a:latin typeface="Times New Roman" pitchFamily="18" charset="0"/>
                          <a:ea typeface="+mn-ea"/>
                          <a:cs typeface="Times New Roman" pitchFamily="18" charset="0"/>
                        </a:rPr>
                        <a:t>Y, N</a:t>
                      </a:r>
                    </a:p>
                  </a:txBody>
                  <a:tcPr/>
                </a:tc>
                <a:tc>
                  <a:txBody>
                    <a:bodyPr/>
                    <a:lstStyle/>
                    <a:p>
                      <a:r>
                        <a:rPr lang="en-US" sz="1600" kern="1200" dirty="0">
                          <a:solidFill>
                            <a:schemeClr val="tx2"/>
                          </a:solidFill>
                          <a:latin typeface="Times New Roman" pitchFamily="18" charset="0"/>
                          <a:ea typeface="+mn-ea"/>
                          <a:cs typeface="Times New Roman" pitchFamily="18" charset="0"/>
                        </a:rPr>
                        <a:t>(3,4)</a:t>
                      </a:r>
                    </a:p>
                  </a:txBody>
                  <a:tcPr/>
                </a:tc>
                <a:extLst>
                  <a:ext uri="{0D108BD9-81ED-4DB2-BD59-A6C34878D82A}">
                    <a16:rowId xmlns:a16="http://schemas.microsoft.com/office/drawing/2014/main" val="1661956441"/>
                  </a:ext>
                </a:extLst>
              </a:tr>
              <a:tr h="355635">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(4,2);(4,1);(4,5)</a:t>
                      </a:r>
                    </a:p>
                  </a:txBody>
                  <a:tcPr/>
                </a:tc>
                <a:tc>
                  <a:txBody>
                    <a:bodyPr/>
                    <a:lstStyle/>
                    <a:p>
                      <a:r>
                        <a:rPr lang="en-US" sz="1600" kern="1200" dirty="0">
                          <a:solidFill>
                            <a:schemeClr val="tx2"/>
                          </a:solidFill>
                          <a:latin typeface="Times New Roman" pitchFamily="18" charset="0"/>
                          <a:ea typeface="+mn-ea"/>
                          <a:cs typeface="Times New Roman" pitchFamily="18" charset="0"/>
                        </a:rPr>
                        <a:t>(4,1)</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(4,1)</a:t>
                      </a:r>
                    </a:p>
                  </a:txBody>
                  <a:tcPr/>
                </a:tc>
                <a:extLst>
                  <a:ext uri="{0D108BD9-81ED-4DB2-BD59-A6C34878D82A}">
                    <a16:rowId xmlns:a16="http://schemas.microsoft.com/office/drawing/2014/main" val="3222188783"/>
                  </a:ext>
                </a:extLst>
              </a:tr>
              <a:tr h="355635">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r>
                        <a:rPr lang="en-US" sz="1600" kern="1200" dirty="0">
                          <a:solidFill>
                            <a:schemeClr val="tx2"/>
                          </a:solidFill>
                          <a:latin typeface="Times New Roman" pitchFamily="18" charset="0"/>
                          <a:ea typeface="+mn-ea"/>
                          <a:cs typeface="Times New Roman" pitchFamily="18" charset="0"/>
                        </a:rPr>
                        <a:t>(1,5);(1;6)</a:t>
                      </a:r>
                    </a:p>
                  </a:txBody>
                  <a:tcPr/>
                </a:tc>
                <a:tc>
                  <a:txBody>
                    <a:bodyPr/>
                    <a:lstStyle/>
                    <a:p>
                      <a:r>
                        <a:rPr lang="en-US" sz="1600" kern="1200" dirty="0">
                          <a:solidFill>
                            <a:schemeClr val="tx2"/>
                          </a:solidFill>
                          <a:latin typeface="Times New Roman" pitchFamily="18" charset="0"/>
                          <a:ea typeface="+mn-ea"/>
                          <a:cs typeface="Times New Roman" pitchFamily="18" charset="0"/>
                        </a:rPr>
                        <a:t>(1,5)</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(1,5)</a:t>
                      </a:r>
                    </a:p>
                  </a:txBody>
                  <a:tcPr/>
                </a:tc>
                <a:extLst>
                  <a:ext uri="{0D108BD9-81ED-4DB2-BD59-A6C34878D82A}">
                    <a16:rowId xmlns:a16="http://schemas.microsoft.com/office/drawing/2014/main" val="1995379419"/>
                  </a:ext>
                </a:extLst>
              </a:tr>
              <a:tr h="355635">
                <a:tc>
                  <a:txBody>
                    <a:bodyPr/>
                    <a:lstStyle/>
                    <a:p>
                      <a:r>
                        <a:rPr lang="en-US" sz="1600" kern="1200" dirty="0">
                          <a:solidFill>
                            <a:schemeClr val="tx2"/>
                          </a:solidFill>
                          <a:latin typeface="Times New Roman" pitchFamily="18" charset="0"/>
                          <a:ea typeface="+mn-ea"/>
                          <a:cs typeface="Times New Roman" pitchFamily="18" charset="0"/>
                        </a:rPr>
                        <a:t>6</a:t>
                      </a:r>
                    </a:p>
                  </a:txBody>
                  <a:tcPr/>
                </a:tc>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(5,2); (5,6)</a:t>
                      </a:r>
                    </a:p>
                  </a:txBody>
                  <a:tcPr/>
                </a:tc>
                <a:tc>
                  <a:txBody>
                    <a:bodyPr/>
                    <a:lstStyle/>
                    <a:p>
                      <a:r>
                        <a:rPr lang="en-US" sz="1600" kern="1200" dirty="0">
                          <a:solidFill>
                            <a:schemeClr val="tx2"/>
                          </a:solidFill>
                          <a:latin typeface="Times New Roman" pitchFamily="18" charset="0"/>
                          <a:ea typeface="+mn-ea"/>
                          <a:cs typeface="Times New Roman" pitchFamily="18" charset="0"/>
                        </a:rPr>
                        <a:t>(5,2)</a:t>
                      </a:r>
                    </a:p>
                  </a:txBody>
                  <a:tcPr/>
                </a:tc>
                <a:tc>
                  <a:txBody>
                    <a:bodyPr/>
                    <a:lstStyle/>
                    <a:p>
                      <a:r>
                        <a:rPr lang="en-US" sz="1600" kern="1200" dirty="0">
                          <a:solidFill>
                            <a:schemeClr val="tx2"/>
                          </a:solidFill>
                          <a:latin typeface="Times New Roman" pitchFamily="18" charset="0"/>
                          <a:ea typeface="+mn-ea"/>
                          <a:cs typeface="Times New Roman" pitchFamily="18" charset="0"/>
                        </a:rPr>
                        <a:t>N</a:t>
                      </a:r>
                    </a:p>
                  </a:txBody>
                  <a:tcPr/>
                </a:tc>
                <a:tc>
                  <a:txBody>
                    <a:bodyPr/>
                    <a:lstStyle/>
                    <a:p>
                      <a:r>
                        <a:rPr lang="en-US" sz="1600" kern="1200" dirty="0">
                          <a:solidFill>
                            <a:schemeClr val="tx2"/>
                          </a:solidFill>
                          <a:latin typeface="Times New Roman" pitchFamily="18" charset="0"/>
                          <a:ea typeface="+mn-ea"/>
                          <a:cs typeface="Times New Roman" pitchFamily="18" charset="0"/>
                        </a:rPr>
                        <a:t>(5,2)</a:t>
                      </a:r>
                    </a:p>
                  </a:txBody>
                  <a:tcPr/>
                </a:tc>
                <a:extLst>
                  <a:ext uri="{0D108BD9-81ED-4DB2-BD59-A6C34878D82A}">
                    <a16:rowId xmlns:a16="http://schemas.microsoft.com/office/drawing/2014/main" val="1261759775"/>
                  </a:ext>
                </a:extLst>
              </a:tr>
              <a:tr h="355635">
                <a:tc>
                  <a:txBody>
                    <a:bodyPr/>
                    <a:lstStyle/>
                    <a:p>
                      <a:r>
                        <a:rPr lang="en-US" sz="1600" kern="1200" dirty="0">
                          <a:solidFill>
                            <a:schemeClr val="tx2"/>
                          </a:solidFill>
                          <a:latin typeface="Times New Roman" pitchFamily="18" charset="0"/>
                          <a:ea typeface="+mn-ea"/>
                          <a:cs typeface="Times New Roman" pitchFamily="18" charset="0"/>
                        </a:rPr>
                        <a:t>7</a:t>
                      </a:r>
                    </a:p>
                  </a:txBody>
                  <a:tcPr/>
                </a:tc>
                <a:tc>
                  <a:txBody>
                    <a:bodyPr/>
                    <a:lstStyle/>
                    <a:p>
                      <a:r>
                        <a:rPr lang="en-US" sz="1600" kern="1200" dirty="0">
                          <a:solidFill>
                            <a:schemeClr val="tx2"/>
                          </a:solidFill>
                          <a:latin typeface="Times New Roman" pitchFamily="18" charset="0"/>
                          <a:ea typeface="+mn-ea"/>
                          <a:cs typeface="Times New Roman"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(2,4)</a:t>
                      </a:r>
                    </a:p>
                  </a:txBody>
                  <a:tcPr/>
                </a:tc>
                <a:tc>
                  <a:txBody>
                    <a:bodyPr/>
                    <a:lstStyle/>
                    <a:p>
                      <a:r>
                        <a:rPr lang="en-US" sz="1600" kern="1200" dirty="0">
                          <a:solidFill>
                            <a:schemeClr val="tx2"/>
                          </a:solidFill>
                          <a:latin typeface="Times New Roman" pitchFamily="18" charset="0"/>
                          <a:ea typeface="+mn-ea"/>
                          <a:cs typeface="Times New Roman" pitchFamily="18" charset="0"/>
                        </a:rPr>
                        <a:t>(2,4)</a:t>
                      </a:r>
                    </a:p>
                  </a:txBody>
                  <a:tcPr/>
                </a:tc>
                <a:tc>
                  <a:txBody>
                    <a:bodyPr/>
                    <a:lstStyle/>
                    <a:p>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(2,4)</a:t>
                      </a:r>
                    </a:p>
                  </a:txBody>
                  <a:tcPr/>
                </a:tc>
                <a:extLst>
                  <a:ext uri="{0D108BD9-81ED-4DB2-BD59-A6C34878D82A}">
                    <a16:rowId xmlns:a16="http://schemas.microsoft.com/office/drawing/2014/main" val="2773522746"/>
                  </a:ext>
                </a:extLst>
              </a:tr>
              <a:tr h="355635">
                <a:tc>
                  <a:txBody>
                    <a:bodyPr/>
                    <a:lstStyle/>
                    <a:p>
                      <a:r>
                        <a:rPr lang="en-US" sz="1600" kern="1200" dirty="0">
                          <a:solidFill>
                            <a:schemeClr val="tx2"/>
                          </a:solidFill>
                          <a:latin typeface="Times New Roman" pitchFamily="18" charset="0"/>
                          <a:ea typeface="+mn-ea"/>
                          <a:cs typeface="Times New Roman" pitchFamily="18" charset="0"/>
                        </a:rPr>
                        <a:t>8</a:t>
                      </a:r>
                    </a:p>
                  </a:txBody>
                  <a:tcPr/>
                </a:tc>
                <a:tc>
                  <a:txBody>
                    <a:bodyPr/>
                    <a:lstStyle/>
                    <a:p>
                      <a:r>
                        <a:rPr lang="en-US" sz="1600" kern="1200" dirty="0">
                          <a:solidFill>
                            <a:schemeClr val="tx2"/>
                          </a:solidFill>
                          <a:latin typeface="Times New Roman" pitchFamily="18" charset="0"/>
                          <a:ea typeface="+mn-ea"/>
                          <a:cs typeface="Times New Roman" pitchFamily="18" charset="0"/>
                        </a:rPr>
                        <a:t>4</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(4,5)</a:t>
                      </a:r>
                    </a:p>
                  </a:txBody>
                  <a:tcPr/>
                </a:tc>
                <a:extLst>
                  <a:ext uri="{0D108BD9-81ED-4DB2-BD59-A6C34878D82A}">
                    <a16:rowId xmlns:a16="http://schemas.microsoft.com/office/drawing/2014/main" val="664845718"/>
                  </a:ext>
                </a:extLst>
              </a:tr>
              <a:tr h="355635">
                <a:tc>
                  <a:txBody>
                    <a:bodyPr/>
                    <a:lstStyle/>
                    <a:p>
                      <a:r>
                        <a:rPr lang="en-US" sz="1600" kern="1200" dirty="0">
                          <a:solidFill>
                            <a:schemeClr val="tx2"/>
                          </a:solidFill>
                          <a:latin typeface="Times New Roman" pitchFamily="18" charset="0"/>
                          <a:ea typeface="+mn-ea"/>
                          <a:cs typeface="Times New Roman" pitchFamily="18" charset="0"/>
                        </a:rPr>
                        <a:t>9</a:t>
                      </a:r>
                    </a:p>
                  </a:txBody>
                  <a:tcPr/>
                </a:tc>
                <a:tc>
                  <a:txBody>
                    <a:bodyPr/>
                    <a:lstStyle/>
                    <a:p>
                      <a:r>
                        <a:rPr lang="en-US" sz="1600" kern="1200" dirty="0">
                          <a:solidFill>
                            <a:schemeClr val="tx2"/>
                          </a:solidFill>
                          <a:latin typeface="Times New Roman" pitchFamily="18" charset="0"/>
                          <a:ea typeface="+mn-ea"/>
                          <a:cs typeface="Times New Roman" pitchFamily="18" charset="0"/>
                        </a:rPr>
                        <a:t>5</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(5,6)</a:t>
                      </a:r>
                    </a:p>
                  </a:txBody>
                  <a:tcPr/>
                </a:tc>
                <a:extLst>
                  <a:ext uri="{0D108BD9-81ED-4DB2-BD59-A6C34878D82A}">
                    <a16:rowId xmlns:a16="http://schemas.microsoft.com/office/drawing/2014/main" val="2731509458"/>
                  </a:ext>
                </a:extLst>
              </a:tr>
              <a:tr h="355635">
                <a:tc>
                  <a:txBody>
                    <a:bodyPr/>
                    <a:lstStyle/>
                    <a:p>
                      <a:r>
                        <a:rPr lang="en-US" sz="1600" kern="1200" dirty="0">
                          <a:solidFill>
                            <a:schemeClr val="tx2"/>
                          </a:solidFill>
                          <a:latin typeface="Times New Roman" pitchFamily="18" charset="0"/>
                          <a:ea typeface="+mn-ea"/>
                          <a:cs typeface="Times New Roman" pitchFamily="18" charset="0"/>
                        </a:rPr>
                        <a:t>10</a:t>
                      </a:r>
                    </a:p>
                  </a:txBody>
                  <a:tcPr/>
                </a:tc>
                <a:tc>
                  <a:txBody>
                    <a:bodyPr/>
                    <a:lstStyle/>
                    <a:p>
                      <a:r>
                        <a:rPr lang="en-US" sz="1600" kern="1200" dirty="0">
                          <a:solidFill>
                            <a:schemeClr val="tx2"/>
                          </a:solidFill>
                          <a:latin typeface="Times New Roman" pitchFamily="18" charset="0"/>
                          <a:ea typeface="+mn-ea"/>
                          <a:cs typeface="Times New Roman" pitchFamily="18" charset="0"/>
                        </a:rPr>
                        <a:t>6</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2"/>
                          </a:solidFill>
                          <a:latin typeface="Times New Roman" pitchFamily="18" charset="0"/>
                          <a:ea typeface="+mn-ea"/>
                          <a:cs typeface="Times New Roman" pitchFamily="18" charset="0"/>
                        </a:rPr>
                        <a:t>Y,N</a:t>
                      </a:r>
                    </a:p>
                  </a:txBody>
                  <a:tcPr/>
                </a:tc>
                <a:tc>
                  <a:txBody>
                    <a:bodyPr/>
                    <a:lstStyle/>
                    <a:p>
                      <a:r>
                        <a:rPr lang="en-US" sz="1600" kern="1200" dirty="0">
                          <a:solidFill>
                            <a:schemeClr val="tx2"/>
                          </a:solidFill>
                          <a:latin typeface="Times New Roman" pitchFamily="18" charset="0"/>
                          <a:ea typeface="+mn-ea"/>
                          <a:cs typeface="Times New Roman" pitchFamily="18" charset="0"/>
                        </a:rPr>
                        <a:t>(6,1)</a:t>
                      </a:r>
                    </a:p>
                  </a:txBody>
                  <a:tcPr/>
                </a:tc>
                <a:extLst>
                  <a:ext uri="{0D108BD9-81ED-4DB2-BD59-A6C34878D82A}">
                    <a16:rowId xmlns:a16="http://schemas.microsoft.com/office/drawing/2014/main" val="1216916060"/>
                  </a:ext>
                </a:extLst>
              </a:tr>
              <a:tr h="355635">
                <a:tc>
                  <a:txBody>
                    <a:bodyPr/>
                    <a:lstStyle/>
                    <a:p>
                      <a:r>
                        <a:rPr lang="en-US" sz="1600" kern="1200" dirty="0">
                          <a:solidFill>
                            <a:schemeClr val="tx2"/>
                          </a:solidFill>
                          <a:latin typeface="Times New Roman" pitchFamily="18" charset="0"/>
                          <a:ea typeface="+mn-ea"/>
                          <a:cs typeface="Times New Roman" pitchFamily="18" charset="0"/>
                        </a:rPr>
                        <a:t>11</a:t>
                      </a:r>
                    </a:p>
                  </a:txBody>
                  <a:tcPr/>
                </a:tc>
                <a:tc>
                  <a:txBody>
                    <a:bodyPr/>
                    <a:lstStyle/>
                    <a:p>
                      <a:r>
                        <a:rPr lang="en-US" sz="1600" kern="1200" dirty="0">
                          <a:solidFill>
                            <a:schemeClr val="tx2"/>
                          </a:solidFill>
                          <a:latin typeface="Times New Roman" pitchFamily="18" charset="0"/>
                          <a:ea typeface="+mn-ea"/>
                          <a:cs typeface="Times New Roman" pitchFamily="18" charset="0"/>
                        </a:rPr>
                        <a:t>1</a:t>
                      </a: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tc>
                  <a:txBody>
                    <a:bodyPr/>
                    <a:lstStyle/>
                    <a:p>
                      <a:endParaRPr lang="en-US" sz="1600" kern="1200" dirty="0">
                        <a:solidFill>
                          <a:schemeClr val="tx2"/>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504849776"/>
                  </a:ext>
                </a:extLst>
              </a:tr>
            </a:tbl>
          </a:graphicData>
        </a:graphic>
      </p:graphicFrame>
    </p:spTree>
    <p:extLst>
      <p:ext uri="{BB962C8B-B14F-4D97-AF65-F5344CB8AC3E}">
        <p14:creationId xmlns:p14="http://schemas.microsoft.com/office/powerpoint/2010/main" val="3993838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69466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Consider the graph G = &lt;V,E&gt;.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The graph G is called a Hamiltonian graph if and only if there exists a Hamiltonian cycle in G.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The graph G is called a semi-Hamiltonian graph if and only if there exists a Hamiltonian path in G</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634D39A-1517-212D-5C15-FDBEF19F9585}"/>
              </a:ext>
            </a:extLst>
          </p:cNvPr>
          <p:cNvPicPr>
            <a:picLocks noChangeAspect="1"/>
          </p:cNvPicPr>
          <p:nvPr/>
        </p:nvPicPr>
        <p:blipFill>
          <a:blip r:embed="rId4"/>
          <a:stretch>
            <a:fillRect/>
          </a:stretch>
        </p:blipFill>
        <p:spPr>
          <a:xfrm>
            <a:off x="2185987" y="3733800"/>
            <a:ext cx="5381625" cy="2613712"/>
          </a:xfrm>
          <a:prstGeom prst="rect">
            <a:avLst/>
          </a:prstGeom>
        </p:spPr>
      </p:pic>
    </p:spTree>
    <p:extLst>
      <p:ext uri="{BB962C8B-B14F-4D97-AF65-F5344CB8AC3E}">
        <p14:creationId xmlns:p14="http://schemas.microsoft.com/office/powerpoint/2010/main" val="2965766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05657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(Dirac, 1952). Consider G to be an undirected simple graph with n vertices (n &gt; 2). If every vertex of G has a degree of at least n/2, then G is a Hamiltonian graph.</a:t>
            </a:r>
          </a:p>
          <a:p>
            <a:pPr algn="l">
              <a:lnSpc>
                <a:spcPct val="150000"/>
              </a:lnSpc>
            </a:pPr>
            <a:r>
              <a:rPr lang="en-US" sz="1900" b="1" dirty="0">
                <a:solidFill>
                  <a:schemeClr val="tx2"/>
                </a:solidFill>
                <a:latin typeface="Times New Roman" pitchFamily="18" charset="0"/>
                <a:cs typeface="Times New Roman" pitchFamily="18" charset="0"/>
              </a:rPr>
              <a:t>Theorem </a:t>
            </a:r>
            <a:r>
              <a:rPr lang="en-US" sz="1900" dirty="0">
                <a:solidFill>
                  <a:schemeClr val="tx2"/>
                </a:solidFill>
                <a:latin typeface="Times New Roman" pitchFamily="18" charset="0"/>
                <a:cs typeface="Times New Roman" pitchFamily="18" charset="0"/>
              </a:rPr>
              <a:t>(Dirac, 1952). Consider G to be a strongly connected directed simple graph with n vertices (n &gt; 2). If every vertex of G has an out-degree and in-degree of at least n/2, then G is a Hamiltonian graph</a:t>
            </a:r>
          </a:p>
          <a:p>
            <a:pPr algn="l">
              <a:lnSpc>
                <a:spcPct val="150000"/>
              </a:lnSpc>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 (Ore, 1960): For a graph G with n vertices. If any two non-adjacent vertices of G have a sum of degrees at least n, then G is a Hamiltonian graph. In other words:</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Object 4">
            <a:extLst>
              <a:ext uri="{FF2B5EF4-FFF2-40B4-BE49-F238E27FC236}">
                <a16:creationId xmlns:a16="http://schemas.microsoft.com/office/drawing/2014/main" id="{D0249577-E392-E0AB-9F02-36F80A7C76EA}"/>
              </a:ext>
            </a:extLst>
          </p:cNvPr>
          <p:cNvGraphicFramePr>
            <a:graphicFrameLocks noChangeAspect="1"/>
          </p:cNvGraphicFramePr>
          <p:nvPr>
            <p:extLst>
              <p:ext uri="{D42A27DB-BD31-4B8C-83A1-F6EECF244321}">
                <p14:modId xmlns:p14="http://schemas.microsoft.com/office/powerpoint/2010/main" val="1802885203"/>
              </p:ext>
            </p:extLst>
          </p:nvPr>
        </p:nvGraphicFramePr>
        <p:xfrm>
          <a:off x="808037" y="5096525"/>
          <a:ext cx="7629525" cy="533400"/>
        </p:xfrm>
        <a:graphic>
          <a:graphicData uri="http://schemas.openxmlformats.org/presentationml/2006/ole">
            <mc:AlternateContent xmlns:mc="http://schemas.openxmlformats.org/markup-compatibility/2006">
              <mc:Choice xmlns:v="urn:schemas-microsoft-com:vml" Requires="v">
                <p:oleObj name="Equation" r:id="rId4" imgW="7629186" imgH="533564" progId="Equation.DSMT4">
                  <p:embed/>
                </p:oleObj>
              </mc:Choice>
              <mc:Fallback>
                <p:oleObj name="Equation" r:id="rId4" imgW="7629186" imgH="533564" progId="Equation.DSMT4">
                  <p:embed/>
                  <p:pic>
                    <p:nvPicPr>
                      <p:cNvPr id="0" name=""/>
                      <p:cNvPicPr/>
                      <p:nvPr/>
                    </p:nvPicPr>
                    <p:blipFill>
                      <a:blip r:embed="rId5"/>
                      <a:stretch>
                        <a:fillRect/>
                      </a:stretch>
                    </p:blipFill>
                    <p:spPr>
                      <a:xfrm>
                        <a:off x="808037" y="5096525"/>
                        <a:ext cx="7629525" cy="533400"/>
                      </a:xfrm>
                      <a:prstGeom prst="rect">
                        <a:avLst/>
                      </a:prstGeom>
                    </p:spPr>
                  </p:pic>
                </p:oleObj>
              </mc:Fallback>
            </mc:AlternateContent>
          </a:graphicData>
        </a:graphic>
      </p:graphicFrame>
    </p:spTree>
    <p:extLst>
      <p:ext uri="{BB962C8B-B14F-4D97-AF65-F5344CB8AC3E}">
        <p14:creationId xmlns:p14="http://schemas.microsoft.com/office/powerpoint/2010/main" val="580423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57182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Rules for determining Hamiltonian cycles (H) in a graph: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1: If there is a vertex of degree 2, then both edges of this vertex must be included in H.</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2: There should not be any </a:t>
            </a:r>
            <a:r>
              <a:rPr lang="en-US" sz="1900" dirty="0" err="1">
                <a:solidFill>
                  <a:schemeClr val="tx2"/>
                </a:solidFill>
                <a:latin typeface="Times New Roman" pitchFamily="18" charset="0"/>
                <a:cs typeface="Times New Roman" pitchFamily="18" charset="0"/>
              </a:rPr>
              <a:t>subcycle</a:t>
            </a:r>
            <a:r>
              <a:rPr lang="en-US" sz="1900" dirty="0">
                <a:solidFill>
                  <a:schemeClr val="tx2"/>
                </a:solidFill>
                <a:latin typeface="Times New Roman" pitchFamily="18" charset="0"/>
                <a:cs typeface="Times New Roman" pitchFamily="18" charset="0"/>
              </a:rPr>
              <a:t> (of length less than n) within H.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Rule 3: For a particular vertex, if you have already selected both incoming edges into H, then you must remove all other remaining edges (since you can't add more). </a:t>
            </a:r>
          </a:p>
          <a:p>
            <a:pPr eaLnBrk="0" fontAlgn="base" hangingPunct="0">
              <a:lnSpc>
                <a:spcPct val="150000"/>
              </a:lnSpc>
              <a:spcBef>
                <a:spcPct val="0"/>
              </a:spcBef>
              <a:spcAft>
                <a:spcPct val="0"/>
              </a:spcAft>
            </a:pPr>
            <a:r>
              <a:rPr lang="en-US" sz="1900" dirty="0">
                <a:solidFill>
                  <a:schemeClr val="tx2"/>
                </a:solidFill>
                <a:latin typeface="Times New Roman" pitchFamily="18" charset="0"/>
                <a:cs typeface="Times New Roman" pitchFamily="18" charset="0"/>
              </a:rPr>
              <a:t>No isolated vertices or pendant vertices exist when applying rule 3. </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2608526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C7472957-1BBB-C6E2-CE20-A5625179BC95}"/>
              </a:ext>
            </a:extLst>
          </p:cNvPr>
          <p:cNvPicPr>
            <a:picLocks noChangeAspect="1"/>
          </p:cNvPicPr>
          <p:nvPr/>
        </p:nvPicPr>
        <p:blipFill>
          <a:blip r:embed="rId4"/>
          <a:stretch>
            <a:fillRect/>
          </a:stretch>
        </p:blipFill>
        <p:spPr>
          <a:xfrm>
            <a:off x="1157287" y="2414587"/>
            <a:ext cx="6829425" cy="2028825"/>
          </a:xfrm>
          <a:prstGeom prst="rect">
            <a:avLst/>
          </a:prstGeom>
        </p:spPr>
      </p:pic>
    </p:spTree>
    <p:extLst>
      <p:ext uri="{BB962C8B-B14F-4D97-AF65-F5344CB8AC3E}">
        <p14:creationId xmlns:p14="http://schemas.microsoft.com/office/powerpoint/2010/main" val="4051162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6.2 </a:t>
            </a: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PLANAR, AND NOT FLAT GRAPH</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94033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6.2.3 Euler's cycle and Hamiltonian cycle.</a:t>
            </a:r>
          </a:p>
          <a:p>
            <a:pPr eaLnBrk="0" fontAlgn="base" hangingPunct="0">
              <a:lnSpc>
                <a:spcPct val="150000"/>
              </a:lnSpc>
              <a:spcBef>
                <a:spcPct val="0"/>
              </a:spcBef>
              <a:spcAft>
                <a:spcPct val="0"/>
              </a:spcAft>
            </a:pPr>
            <a:r>
              <a:rPr lang="en-US" sz="1900" b="1" dirty="0">
                <a:solidFill>
                  <a:schemeClr val="tx2"/>
                </a:solidFill>
                <a:latin typeface="Times New Roman" pitchFamily="18" charset="0"/>
                <a:cs typeface="Times New Roman" pitchFamily="18" charset="0"/>
              </a:rPr>
              <a:t>Hamiltonian cycle</a:t>
            </a:r>
          </a:p>
          <a:p>
            <a:pPr eaLnBrk="0" fontAlgn="base" hangingPunct="0">
              <a:lnSpc>
                <a:spcPct val="150000"/>
              </a:lnSpc>
              <a:spcBef>
                <a:spcPct val="0"/>
              </a:spcBef>
              <a:spcAft>
                <a:spcPct val="0"/>
              </a:spcAft>
            </a:pPr>
            <a:endParaRPr lang="en-US" sz="1900" dirty="0">
              <a:solidFill>
                <a:schemeClr val="tx2"/>
              </a:solidFill>
              <a:latin typeface="Times New Roman" pitchFamily="18" charset="0"/>
              <a:cs typeface="Times New Roman" pitchFamily="18" charset="0"/>
            </a:endParaRP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9D5041DC-692C-057B-E72F-085CB7916621}"/>
              </a:ext>
            </a:extLst>
          </p:cNvPr>
          <p:cNvPicPr>
            <a:picLocks noChangeAspect="1"/>
          </p:cNvPicPr>
          <p:nvPr/>
        </p:nvPicPr>
        <p:blipFill>
          <a:blip r:embed="rId4"/>
          <a:stretch>
            <a:fillRect/>
          </a:stretch>
        </p:blipFill>
        <p:spPr>
          <a:xfrm>
            <a:off x="2209800" y="2147887"/>
            <a:ext cx="4724400" cy="2562225"/>
          </a:xfrm>
          <a:prstGeom prst="rect">
            <a:avLst/>
          </a:prstGeom>
        </p:spPr>
      </p:pic>
    </p:spTree>
    <p:extLst>
      <p:ext uri="{BB962C8B-B14F-4D97-AF65-F5344CB8AC3E}">
        <p14:creationId xmlns:p14="http://schemas.microsoft.com/office/powerpoint/2010/main" val="8255498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Section 3, and 4</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00089"/>
            <a:ext cx="9144000" cy="415825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 TREE AND FOREST</a:t>
            </a:r>
            <a:r>
              <a:rPr lang="en-US" sz="2000" dirty="0"/>
              <a:t>. </a:t>
            </a:r>
          </a:p>
          <a:p>
            <a:pPr algn="just">
              <a:lnSpc>
                <a:spcPct val="200000"/>
              </a:lnSpc>
              <a:defRPr/>
            </a:pPr>
            <a:r>
              <a:rPr lang="en-US" sz="2000" dirty="0"/>
              <a:t>	</a:t>
            </a:r>
            <a:r>
              <a:rPr lang="en-US" sz="1900" b="1" dirty="0">
                <a:solidFill>
                  <a:schemeClr val="tx2"/>
                </a:solidFill>
                <a:latin typeface="Times New Roman" pitchFamily="18" charset="0"/>
                <a:cs typeface="Times New Roman" pitchFamily="18" charset="0"/>
              </a:rPr>
              <a:t>6.3.1. Definition </a:t>
            </a:r>
          </a:p>
          <a:p>
            <a:pPr algn="just">
              <a:lnSpc>
                <a:spcPct val="200000"/>
              </a:lnSpc>
              <a:defRPr/>
            </a:pPr>
            <a:r>
              <a:rPr lang="en-US" sz="1900" b="1" dirty="0">
                <a:solidFill>
                  <a:schemeClr val="tx2"/>
                </a:solidFill>
                <a:latin typeface="Times New Roman" pitchFamily="18" charset="0"/>
                <a:cs typeface="Times New Roman" pitchFamily="18" charset="0"/>
              </a:rPr>
              <a:t>	6.3.2. Rooted tree. </a:t>
            </a:r>
          </a:p>
          <a:p>
            <a:pPr algn="just">
              <a:lnSpc>
                <a:spcPct val="200000"/>
              </a:lnSpc>
              <a:defRPr/>
            </a:pPr>
            <a:r>
              <a:rPr lang="en-US" sz="1900" b="1" dirty="0">
                <a:solidFill>
                  <a:schemeClr val="tx2"/>
                </a:solidFill>
                <a:latin typeface="Times New Roman" pitchFamily="18" charset="0"/>
                <a:cs typeface="Times New Roman" pitchFamily="18" charset="0"/>
              </a:rPr>
              <a:t>	6.3.3. Minimal spanning tree.</a:t>
            </a:r>
          </a:p>
          <a:p>
            <a:pPr algn="just">
              <a:lnSpc>
                <a:spcPct val="200000"/>
              </a:lnSpc>
              <a:defRPr/>
            </a:pPr>
            <a:r>
              <a:rPr lang="en-US" sz="1900" b="1" dirty="0">
                <a:solidFill>
                  <a:schemeClr val="tx2"/>
                </a:solidFill>
                <a:latin typeface="Times New Roman" pitchFamily="18" charset="0"/>
                <a:cs typeface="Times New Roman" pitchFamily="18" charset="0"/>
              </a:rPr>
              <a:t>6.4. MATH PROBLEMS </a:t>
            </a:r>
          </a:p>
          <a:p>
            <a:pPr algn="just">
              <a:lnSpc>
                <a:spcPct val="200000"/>
              </a:lnSpc>
              <a:defRPr/>
            </a:pPr>
            <a:r>
              <a:rPr lang="en-US" dirty="0"/>
              <a:t>	</a:t>
            </a:r>
            <a:r>
              <a:rPr lang="en-US" sz="1900" b="1" dirty="0">
                <a:solidFill>
                  <a:schemeClr val="tx2"/>
                </a:solidFill>
                <a:latin typeface="Times New Roman" pitchFamily="18" charset="0"/>
                <a:cs typeface="Times New Roman" pitchFamily="18" charset="0"/>
              </a:rPr>
              <a:t>6.4.1. Shortest path problem.</a:t>
            </a:r>
          </a:p>
          <a:p>
            <a:pPr algn="just">
              <a:lnSpc>
                <a:spcPct val="200000"/>
              </a:lnSpc>
              <a:defRPr/>
            </a:pPr>
            <a:r>
              <a:rPr lang="en-US" sz="1900" b="1" dirty="0">
                <a:solidFill>
                  <a:schemeClr val="tx2"/>
                </a:solidFill>
                <a:latin typeface="Times New Roman" pitchFamily="18" charset="0"/>
                <a:cs typeface="Times New Roman" pitchFamily="18" charset="0"/>
              </a:rPr>
              <a:t>	6.4.2 Graph coloring. </a:t>
            </a:r>
          </a:p>
        </p:txBody>
      </p:sp>
    </p:spTree>
    <p:extLst>
      <p:ext uri="{BB962C8B-B14F-4D97-AF65-F5344CB8AC3E}">
        <p14:creationId xmlns:p14="http://schemas.microsoft.com/office/powerpoint/2010/main" val="30225181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23272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dirty="0">
                <a:solidFill>
                  <a:schemeClr val="tx2"/>
                </a:solidFill>
                <a:latin typeface="Times New Roman" pitchFamily="18" charset="0"/>
                <a:cs typeface="Times New Roman" pitchFamily="18" charset="0"/>
              </a:rPr>
              <a:t>A tree is a </a:t>
            </a:r>
            <a:r>
              <a:rPr lang="en-US" sz="1900" b="1" dirty="0">
                <a:solidFill>
                  <a:schemeClr val="tx2"/>
                </a:solidFill>
                <a:latin typeface="Times New Roman" pitchFamily="18" charset="0"/>
                <a:cs typeface="Times New Roman" pitchFamily="18" charset="0"/>
              </a:rPr>
              <a:t>single undirected</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connected graph </a:t>
            </a:r>
            <a:r>
              <a:rPr lang="en-US" sz="1900" dirty="0">
                <a:solidFill>
                  <a:schemeClr val="tx2"/>
                </a:solidFill>
                <a:latin typeface="Times New Roman" pitchFamily="18" charset="0"/>
                <a:cs typeface="Times New Roman" pitchFamily="18" charset="0"/>
              </a:rPr>
              <a:t>that contains </a:t>
            </a:r>
            <a:r>
              <a:rPr lang="en-US" sz="1900" b="1" dirty="0">
                <a:solidFill>
                  <a:schemeClr val="tx2"/>
                </a:solidFill>
                <a:latin typeface="Times New Roman" pitchFamily="18" charset="0"/>
                <a:cs typeface="Times New Roman" pitchFamily="18" charset="0"/>
              </a:rPr>
              <a:t>no cycles</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Example: </a:t>
            </a:r>
            <a:r>
              <a:rPr lang="en-US" sz="1900" dirty="0">
                <a:solidFill>
                  <a:schemeClr val="tx2"/>
                </a:solidFill>
                <a:latin typeface="Times New Roman" pitchFamily="18" charset="0"/>
                <a:cs typeface="Times New Roman" pitchFamily="18" charset="0"/>
              </a:rPr>
              <a:t>Which of the following graphs is a tree?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2" descr="hinh3_01">
            <a:extLst>
              <a:ext uri="{FF2B5EF4-FFF2-40B4-BE49-F238E27FC236}">
                <a16:creationId xmlns:a16="http://schemas.microsoft.com/office/drawing/2014/main" id="{E7D86FEF-A282-DCDB-60B8-CBC69D96E0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3200400"/>
            <a:ext cx="6815138"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899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23272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dirty="0">
                <a:solidFill>
                  <a:schemeClr val="tx2"/>
                </a:solidFill>
                <a:latin typeface="Times New Roman" pitchFamily="18" charset="0"/>
                <a:cs typeface="Times New Roman" pitchFamily="18" charset="0"/>
              </a:rPr>
              <a:t>A tree is a </a:t>
            </a:r>
            <a:r>
              <a:rPr lang="en-US" sz="1900" b="1" dirty="0">
                <a:solidFill>
                  <a:schemeClr val="tx2"/>
                </a:solidFill>
                <a:latin typeface="Times New Roman" pitchFamily="18" charset="0"/>
                <a:cs typeface="Times New Roman" pitchFamily="18" charset="0"/>
              </a:rPr>
              <a:t>single undirected</a:t>
            </a:r>
            <a:r>
              <a:rPr lang="en-US" sz="1900" dirty="0">
                <a:solidFill>
                  <a:schemeClr val="tx2"/>
                </a:solidFill>
                <a:latin typeface="Times New Roman" pitchFamily="18" charset="0"/>
                <a:cs typeface="Times New Roman" pitchFamily="18" charset="0"/>
              </a:rPr>
              <a:t>, </a:t>
            </a:r>
            <a:r>
              <a:rPr lang="en-US" sz="1900" b="1" dirty="0">
                <a:solidFill>
                  <a:schemeClr val="tx2"/>
                </a:solidFill>
                <a:latin typeface="Times New Roman" pitchFamily="18" charset="0"/>
                <a:cs typeface="Times New Roman" pitchFamily="18" charset="0"/>
              </a:rPr>
              <a:t>connected graph </a:t>
            </a:r>
            <a:r>
              <a:rPr lang="en-US" sz="1900" dirty="0">
                <a:solidFill>
                  <a:schemeClr val="tx2"/>
                </a:solidFill>
                <a:latin typeface="Times New Roman" pitchFamily="18" charset="0"/>
                <a:cs typeface="Times New Roman" pitchFamily="18" charset="0"/>
              </a:rPr>
              <a:t>that contains </a:t>
            </a:r>
            <a:r>
              <a:rPr lang="en-US" sz="1900" b="1" dirty="0">
                <a:solidFill>
                  <a:schemeClr val="tx2"/>
                </a:solidFill>
                <a:latin typeface="Times New Roman" pitchFamily="18" charset="0"/>
                <a:cs typeface="Times New Roman" pitchFamily="18" charset="0"/>
              </a:rPr>
              <a:t>no cycles</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Example: </a:t>
            </a:r>
            <a:r>
              <a:rPr lang="en-US" sz="1900" dirty="0">
                <a:solidFill>
                  <a:schemeClr val="tx2"/>
                </a:solidFill>
                <a:latin typeface="Times New Roman" pitchFamily="18" charset="0"/>
                <a:cs typeface="Times New Roman" pitchFamily="18" charset="0"/>
              </a:rPr>
              <a:t>Which of the following graphs is a tree?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2">
            <a:extLst>
              <a:ext uri="{FF2B5EF4-FFF2-40B4-BE49-F238E27FC236}">
                <a16:creationId xmlns:a16="http://schemas.microsoft.com/office/drawing/2014/main" id="{99024676-2888-566E-EF3E-ED13E91D55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851" y="2830874"/>
            <a:ext cx="7010400" cy="33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43586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81750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dirty="0">
                <a:solidFill>
                  <a:schemeClr val="tx2"/>
                </a:solidFill>
                <a:latin typeface="Times New Roman" pitchFamily="18" charset="0"/>
                <a:cs typeface="Times New Roman" pitchFamily="18" charset="0"/>
              </a:rPr>
              <a:t>If G is an undirected graph and contains no cycles, then G is said to be a forest. Then each connected component of G will be a tree.</a:t>
            </a:r>
          </a:p>
          <a:p>
            <a:pPr algn="just">
              <a:lnSpc>
                <a:spcPct val="200000"/>
              </a:lnSpc>
              <a:defRPr/>
            </a:pPr>
            <a:r>
              <a:rPr lang="en-US" sz="1900" b="1" dirty="0">
                <a:solidFill>
                  <a:schemeClr val="tx2"/>
                </a:solidFill>
                <a:latin typeface="Times New Roman" pitchFamily="18" charset="0"/>
                <a:cs typeface="Times New Roman" pitchFamily="18" charset="0"/>
              </a:rPr>
              <a:t>Example: </a:t>
            </a:r>
            <a:r>
              <a:rPr lang="en-US" sz="1900" dirty="0">
                <a:solidFill>
                  <a:schemeClr val="tx2"/>
                </a:solidFill>
                <a:latin typeface="Times New Roman" pitchFamily="18" charset="0"/>
                <a:cs typeface="Times New Roman" pitchFamily="18" charset="0"/>
              </a:rPr>
              <a:t>The following graph is a forest with three tree </a:t>
            </a:r>
          </a:p>
          <a:p>
            <a:pPr eaLnBrk="0" fontAlgn="base" hangingPunct="0">
              <a:lnSpc>
                <a:spcPct val="150000"/>
              </a:lnSpc>
              <a:spcBef>
                <a:spcPct val="0"/>
              </a:spcBef>
              <a:spcAft>
                <a:spcPct val="0"/>
              </a:spcAft>
            </a:pPr>
            <a:endParaRPr lang="en-US" alt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3">
            <a:extLst>
              <a:ext uri="{FF2B5EF4-FFF2-40B4-BE49-F238E27FC236}">
                <a16:creationId xmlns:a16="http://schemas.microsoft.com/office/drawing/2014/main" id="{31F0DF41-5D4F-84D3-9C2A-CC7837A0D6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0" y="3351622"/>
            <a:ext cx="6810375"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a:extLst>
              <a:ext uri="{FF2B5EF4-FFF2-40B4-BE49-F238E27FC236}">
                <a16:creationId xmlns:a16="http://schemas.microsoft.com/office/drawing/2014/main" id="{34ABF1DA-E47D-0663-BB8D-2E8D1499D21E}"/>
              </a:ext>
            </a:extLst>
          </p:cNvPr>
          <p:cNvSpPr>
            <a:spLocks noChangeArrowheads="1"/>
          </p:cNvSpPr>
          <p:nvPr/>
        </p:nvSpPr>
        <p:spPr bwMode="auto">
          <a:xfrm>
            <a:off x="4978400" y="3427822"/>
            <a:ext cx="533400" cy="1752600"/>
          </a:xfrm>
          <a:prstGeom prst="ellipse">
            <a:avLst/>
          </a:prstGeom>
          <a:solidFill>
            <a:srgbClr val="FF0000">
              <a:alpha val="34117"/>
            </a:srgbClr>
          </a:solidFill>
          <a:ln w="9525">
            <a:solidFill>
              <a:schemeClr val="tx1"/>
            </a:solidFill>
            <a:round/>
            <a:headEnd/>
            <a:tailEnd/>
          </a:ln>
        </p:spPr>
        <p:txBody>
          <a:bodyPr wrap="none" anchor="ct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9" name="Freeform 9">
            <a:extLst>
              <a:ext uri="{FF2B5EF4-FFF2-40B4-BE49-F238E27FC236}">
                <a16:creationId xmlns:a16="http://schemas.microsoft.com/office/drawing/2014/main" id="{F739E0FC-1A7D-19F6-B774-0CC39CDCD8DE}"/>
              </a:ext>
            </a:extLst>
          </p:cNvPr>
          <p:cNvSpPr>
            <a:spLocks noChangeArrowheads="1"/>
          </p:cNvSpPr>
          <p:nvPr/>
        </p:nvSpPr>
        <p:spPr bwMode="auto">
          <a:xfrm>
            <a:off x="1130300" y="3694522"/>
            <a:ext cx="3022600" cy="2501900"/>
          </a:xfrm>
          <a:custGeom>
            <a:avLst/>
            <a:gdLst>
              <a:gd name="T0" fmla="*/ 406400 w 3022600"/>
              <a:gd name="T1" fmla="*/ 0 h 2501900"/>
              <a:gd name="T2" fmla="*/ 2743200 w 3022600"/>
              <a:gd name="T3" fmla="*/ 977900 h 2501900"/>
              <a:gd name="T4" fmla="*/ 3022600 w 3022600"/>
              <a:gd name="T5" fmla="*/ 1270000 h 2501900"/>
              <a:gd name="T6" fmla="*/ 1308100 w 3022600"/>
              <a:gd name="T7" fmla="*/ 1854200 h 2501900"/>
              <a:gd name="T8" fmla="*/ 736600 w 3022600"/>
              <a:gd name="T9" fmla="*/ 2501900 h 2501900"/>
              <a:gd name="T10" fmla="*/ 0 w 3022600"/>
              <a:gd name="T11" fmla="*/ 1536700 h 2501900"/>
              <a:gd name="T12" fmla="*/ 0 60000 65536"/>
              <a:gd name="T13" fmla="*/ 0 60000 65536"/>
              <a:gd name="T14" fmla="*/ 0 60000 65536"/>
              <a:gd name="T15" fmla="*/ 0 60000 65536"/>
              <a:gd name="T16" fmla="*/ 0 60000 65536"/>
              <a:gd name="T17" fmla="*/ 0 60000 65536"/>
              <a:gd name="T18" fmla="*/ 0 w 3022600"/>
              <a:gd name="T19" fmla="*/ 0 h 2501900"/>
              <a:gd name="T20" fmla="*/ 3022600 w 3022600"/>
              <a:gd name="T21" fmla="*/ 2501900 h 2501900"/>
            </a:gdLst>
            <a:ahLst/>
            <a:cxnLst>
              <a:cxn ang="T12">
                <a:pos x="T0" y="T1"/>
              </a:cxn>
              <a:cxn ang="T13">
                <a:pos x="T2" y="T3"/>
              </a:cxn>
              <a:cxn ang="T14">
                <a:pos x="T4" y="T5"/>
              </a:cxn>
              <a:cxn ang="T15">
                <a:pos x="T6" y="T7"/>
              </a:cxn>
              <a:cxn ang="T16">
                <a:pos x="T8" y="T9"/>
              </a:cxn>
              <a:cxn ang="T17">
                <a:pos x="T10" y="T11"/>
              </a:cxn>
            </a:cxnLst>
            <a:rect l="T18" t="T19" r="T20" b="T21"/>
            <a:pathLst>
              <a:path w="3022600" h="2501900">
                <a:moveTo>
                  <a:pt x="406400" y="0"/>
                </a:moveTo>
                <a:lnTo>
                  <a:pt x="2743200" y="977900"/>
                </a:lnTo>
                <a:lnTo>
                  <a:pt x="3022600" y="1270000"/>
                </a:lnTo>
                <a:lnTo>
                  <a:pt x="1308100" y="1854200"/>
                </a:lnTo>
                <a:cubicBezTo>
                  <a:pt x="1115486" y="2068216"/>
                  <a:pt x="736600" y="2213971"/>
                  <a:pt x="736600" y="2501900"/>
                </a:cubicBezTo>
                <a:lnTo>
                  <a:pt x="0" y="1536700"/>
                </a:lnTo>
              </a:path>
            </a:pathLst>
          </a:custGeom>
          <a:solidFill>
            <a:srgbClr val="FF0000">
              <a:alpha val="50195"/>
            </a:srgbClr>
          </a:solidFill>
          <a:ln w="9525">
            <a:solidFill>
              <a:schemeClr val="tx1"/>
            </a:solidFill>
            <a:round/>
            <a:headEnd/>
            <a:tailEnd/>
          </a:ln>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a:extLst>
              <a:ext uri="{FF2B5EF4-FFF2-40B4-BE49-F238E27FC236}">
                <a16:creationId xmlns:a16="http://schemas.microsoft.com/office/drawing/2014/main" id="{782FC7F9-7D4D-9364-005C-B23703214420}"/>
              </a:ext>
            </a:extLst>
          </p:cNvPr>
          <p:cNvSpPr>
            <a:spLocks noChangeArrowheads="1"/>
          </p:cNvSpPr>
          <p:nvPr/>
        </p:nvSpPr>
        <p:spPr bwMode="auto">
          <a:xfrm>
            <a:off x="1981200" y="3199222"/>
            <a:ext cx="6299200" cy="3238500"/>
          </a:xfrm>
          <a:custGeom>
            <a:avLst/>
            <a:gdLst>
              <a:gd name="T0" fmla="*/ 101600 w 6299200"/>
              <a:gd name="T1" fmla="*/ 0 h 3238500"/>
              <a:gd name="T2" fmla="*/ 3073400 w 6299200"/>
              <a:gd name="T3" fmla="*/ 101600 h 3238500"/>
              <a:gd name="T4" fmla="*/ 3060700 w 6299200"/>
              <a:gd name="T5" fmla="*/ 368300 h 3238500"/>
              <a:gd name="T6" fmla="*/ 2679700 w 6299200"/>
              <a:gd name="T7" fmla="*/ 1739900 h 3238500"/>
              <a:gd name="T8" fmla="*/ 3124200 w 6299200"/>
              <a:gd name="T9" fmla="*/ 2133600 h 3238500"/>
              <a:gd name="T10" fmla="*/ 3771900 w 6299200"/>
              <a:gd name="T11" fmla="*/ 1828800 h 3238500"/>
              <a:gd name="T12" fmla="*/ 3860800 w 6299200"/>
              <a:gd name="T13" fmla="*/ 609600 h 3238500"/>
              <a:gd name="T14" fmla="*/ 5143500 w 6299200"/>
              <a:gd name="T15" fmla="*/ 165100 h 3238500"/>
              <a:gd name="T16" fmla="*/ 6299200 w 6299200"/>
              <a:gd name="T17" fmla="*/ 3238500 h 3238500"/>
              <a:gd name="T18" fmla="*/ 368300 w 6299200"/>
              <a:gd name="T19" fmla="*/ 2603500 h 3238500"/>
              <a:gd name="T20" fmla="*/ 711200 w 6299200"/>
              <a:gd name="T21" fmla="*/ 2336800 h 3238500"/>
              <a:gd name="T22" fmla="*/ 2286000 w 6299200"/>
              <a:gd name="T23" fmla="*/ 1803400 h 3238500"/>
              <a:gd name="T24" fmla="*/ 1778000 w 6299200"/>
              <a:gd name="T25" fmla="*/ 1295400 h 3238500"/>
              <a:gd name="T26" fmla="*/ 0 w 6299200"/>
              <a:gd name="T27" fmla="*/ 317500 h 3238500"/>
              <a:gd name="T28" fmla="*/ 101600 w 6299200"/>
              <a:gd name="T29" fmla="*/ 0 h 32385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299200"/>
              <a:gd name="T46" fmla="*/ 0 h 3238500"/>
              <a:gd name="T47" fmla="*/ 6299200 w 6299200"/>
              <a:gd name="T48" fmla="*/ 3238500 h 32385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299200" h="3238500">
                <a:moveTo>
                  <a:pt x="101600" y="0"/>
                </a:moveTo>
                <a:lnTo>
                  <a:pt x="3073400" y="101600"/>
                </a:lnTo>
                <a:lnTo>
                  <a:pt x="3060700" y="368300"/>
                </a:lnTo>
                <a:lnTo>
                  <a:pt x="2679700" y="1739900"/>
                </a:lnTo>
                <a:lnTo>
                  <a:pt x="3124200" y="2133600"/>
                </a:lnTo>
                <a:lnTo>
                  <a:pt x="3771900" y="1828800"/>
                </a:lnTo>
                <a:lnTo>
                  <a:pt x="3860800" y="609600"/>
                </a:lnTo>
                <a:lnTo>
                  <a:pt x="5143500" y="165100"/>
                </a:lnTo>
                <a:lnTo>
                  <a:pt x="6299200" y="3238500"/>
                </a:lnTo>
                <a:lnTo>
                  <a:pt x="368300" y="2603500"/>
                </a:lnTo>
                <a:lnTo>
                  <a:pt x="711200" y="2336800"/>
                </a:lnTo>
                <a:lnTo>
                  <a:pt x="2286000" y="1803400"/>
                </a:lnTo>
                <a:lnTo>
                  <a:pt x="1778000" y="1295400"/>
                </a:lnTo>
                <a:lnTo>
                  <a:pt x="0" y="317500"/>
                </a:lnTo>
                <a:lnTo>
                  <a:pt x="101600" y="0"/>
                </a:lnTo>
                <a:close/>
              </a:path>
            </a:pathLst>
          </a:custGeom>
          <a:solidFill>
            <a:srgbClr val="0000CC">
              <a:alpha val="61960"/>
            </a:srgbClr>
          </a:solidFill>
          <a:ln w="9525">
            <a:solidFill>
              <a:schemeClr val="tx1"/>
            </a:solidFill>
            <a:round/>
            <a:headEnd/>
            <a:tailEnd/>
          </a:ln>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3563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ox(in)">
                                      <p:cBhvr>
                                        <p:cTn id="15" dur="500"/>
                                        <p:tgtEl>
                                          <p:spTgt spid="10"/>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ox(in)">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6.3.1. Definition</a:t>
            </a:r>
          </a:p>
          <a:p>
            <a:pPr algn="just">
              <a:lnSpc>
                <a:spcPct val="200000"/>
              </a:lnSpc>
              <a:defRPr/>
            </a:pPr>
            <a:r>
              <a:rPr lang="en-US" sz="1900" b="1" dirty="0">
                <a:solidFill>
                  <a:schemeClr val="tx2"/>
                </a:solidFill>
                <a:latin typeface="Times New Roman" pitchFamily="18" charset="0"/>
                <a:cs typeface="Times New Roman" pitchFamily="18" charset="0"/>
              </a:rPr>
              <a:t>Theorem</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Let T be an undirected graph. Then the following are equivalent:</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is a tree.</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contains no cycles and has n – 1 edges.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is connected and has n - 1 edges.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is connected and every edge of T is a cutting edge (bridge).</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Any two vertices of T are connected by exactly one single path.</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T does not contain a cycle, but if we add any edge to T, we will get exactly 1 cycle.</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71343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2927148"/>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In some trees, a particular vertex is chosen as the root</a:t>
            </a:r>
          </a:p>
          <a:p>
            <a:pPr algn="just">
              <a:lnSpc>
                <a:spcPct val="200000"/>
              </a:lnSpc>
              <a:defRPr/>
            </a:pPr>
            <a:r>
              <a:rPr lang="en-US" sz="1900" dirty="0">
                <a:solidFill>
                  <a:schemeClr val="tx2"/>
                </a:solidFill>
                <a:latin typeface="Times New Roman" pitchFamily="18" charset="0"/>
                <a:cs typeface="Times New Roman" pitchFamily="18" charset="0"/>
              </a:rPr>
              <a:t>The path from the origin to the vertices is oriented from the origin to that vertex</a:t>
            </a:r>
          </a:p>
          <a:p>
            <a:pPr algn="just">
              <a:lnSpc>
                <a:spcPct val="200000"/>
              </a:lnSpc>
              <a:defRPr/>
            </a:pPr>
            <a:r>
              <a:rPr lang="en-US" sz="1900" dirty="0">
                <a:solidFill>
                  <a:schemeClr val="tx2"/>
                </a:solidFill>
                <a:latin typeface="Times New Roman" pitchFamily="18" charset="0"/>
                <a:cs typeface="Times New Roman" pitchFamily="18" charset="0"/>
              </a:rPr>
              <a:t>It follows that a tree with a root will produce a directed graph, which is called a rooted tree.</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533190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89217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A rooted tree is a tree with a special vertex labelled as the "root" the of tree.</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The root serves as a point of reference for other vertices in the tree. In diagrams, we usually keep the root at the top and list other vertices below it.</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This notion is particularly useful in computer science for working with tree-based data structures.</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In the figure, the root vertex is shown with a black border.</a:t>
            </a:r>
          </a:p>
          <a:p>
            <a:pPr algn="just">
              <a:lnSpc>
                <a:spcPct val="200000"/>
              </a:lnSpc>
            </a:pPr>
            <a:r>
              <a:rPr kumimoji="1" lang="en-US" sz="2000" dirty="0">
                <a:solidFill>
                  <a:schemeClr val="tx2"/>
                </a:solidFill>
                <a:latin typeface="Times New Roman" panose="02020603050405020304" pitchFamily="18" charset="0"/>
                <a:ea typeface="HY견고딕" panose="02020500000000000000" pitchFamily="18" charset="-127"/>
                <a:cs typeface="Times New Roman" panose="02020603050405020304" pitchFamily="18" charset="0"/>
              </a:rPr>
              <a:t>Below are some useful terms associated with rooted trees.</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83559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In a rooted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vertex has only one parent – the vertex that goes directly to it on the path from the root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vertex may have zero, one or more child vertices</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Vertices with children are called inner vertices, vertices without children are called outer vertices (leaf nodes)..</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3860697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88046"/>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2">
            <a:extLst>
              <a:ext uri="{FF2B5EF4-FFF2-40B4-BE49-F238E27FC236}">
                <a16:creationId xmlns:a16="http://schemas.microsoft.com/office/drawing/2014/main" id="{F6EA2B9D-FE01-6C89-A94B-BFC3BA5C2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589" y="1740375"/>
            <a:ext cx="2919506" cy="2873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a:extLst>
              <a:ext uri="{FF2B5EF4-FFF2-40B4-BE49-F238E27FC236}">
                <a16:creationId xmlns:a16="http://schemas.microsoft.com/office/drawing/2014/main" id="{4D2972F2-4759-AD82-44A5-A03B1F0E95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812" y="3822900"/>
            <a:ext cx="2896347" cy="2335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0A6D61A2-F596-E88E-70BD-C22845F78A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9405" y="2689857"/>
            <a:ext cx="2819401" cy="336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633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ox(i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63</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The vertex a is the original vertex </a:t>
            </a:r>
          </a:p>
          <a:p>
            <a:pPr algn="just">
              <a:lnSpc>
                <a:spcPct val="200000"/>
              </a:lnSpc>
              <a:defRPr/>
            </a:pPr>
            <a:r>
              <a:rPr lang="en-US" sz="1900" dirty="0">
                <a:solidFill>
                  <a:schemeClr val="tx2"/>
                </a:solidFill>
                <a:latin typeface="Times New Roman" pitchFamily="18" charset="0"/>
                <a:cs typeface="Times New Roman" pitchFamily="18" charset="0"/>
              </a:rPr>
              <a:t>The child vertices of vertex a: b, c and d. </a:t>
            </a:r>
          </a:p>
          <a:p>
            <a:pPr algn="just">
              <a:lnSpc>
                <a:spcPct val="200000"/>
              </a:lnSpc>
              <a:defRPr/>
            </a:pPr>
            <a:r>
              <a:rPr lang="en-US" sz="1900" dirty="0">
                <a:solidFill>
                  <a:schemeClr val="tx2"/>
                </a:solidFill>
                <a:latin typeface="Times New Roman" pitchFamily="18" charset="0"/>
                <a:cs typeface="Times New Roman" pitchFamily="18" charset="0"/>
              </a:rPr>
              <a:t>Parent vertex of vertex f: vertex b (unique) </a:t>
            </a:r>
          </a:p>
          <a:p>
            <a:pPr algn="just">
              <a:lnSpc>
                <a:spcPct val="200000"/>
              </a:lnSpc>
              <a:defRPr/>
            </a:pPr>
            <a:r>
              <a:rPr lang="en-US" sz="1900" dirty="0">
                <a:solidFill>
                  <a:schemeClr val="tx2"/>
                </a:solidFill>
                <a:latin typeface="Times New Roman" pitchFamily="18" charset="0"/>
                <a:cs typeface="Times New Roman" pitchFamily="18" charset="0"/>
              </a:rPr>
              <a:t>Inner Vertices: a, b, and c. </a:t>
            </a:r>
          </a:p>
          <a:p>
            <a:pPr algn="just">
              <a:lnSpc>
                <a:spcPct val="200000"/>
              </a:lnSpc>
              <a:defRPr/>
            </a:pPr>
            <a:r>
              <a:rPr lang="en-US" sz="1900" dirty="0">
                <a:solidFill>
                  <a:schemeClr val="tx2"/>
                </a:solidFill>
                <a:latin typeface="Times New Roman" pitchFamily="18" charset="0"/>
                <a:cs typeface="Times New Roman" pitchFamily="18" charset="0"/>
              </a:rPr>
              <a:t>The outer vertices (leaves): f, k, e and d.</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EBBA5C4D-8409-B6A6-E9D6-6A0DAF1FFA73}"/>
              </a:ext>
            </a:extLst>
          </p:cNvPr>
          <p:cNvPicPr>
            <a:picLocks noChangeAspect="1"/>
          </p:cNvPicPr>
          <p:nvPr/>
        </p:nvPicPr>
        <p:blipFill>
          <a:blip r:embed="rId4"/>
          <a:stretch>
            <a:fillRect/>
          </a:stretch>
        </p:blipFill>
        <p:spPr>
          <a:xfrm>
            <a:off x="5047861" y="2272751"/>
            <a:ext cx="3239965" cy="2272710"/>
          </a:xfrm>
          <a:prstGeom prst="rect">
            <a:avLst/>
          </a:prstGeom>
        </p:spPr>
      </p:pic>
    </p:spTree>
    <p:extLst>
      <p:ext uri="{BB962C8B-B14F-4D97-AF65-F5344CB8AC3E}">
        <p14:creationId xmlns:p14="http://schemas.microsoft.com/office/powerpoint/2010/main" val="37622763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64</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68147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rooted tree is said to be an m-partition tree if all its interior vertices have no more than m sub-vertices.</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 tree is said to be m-partially complete if all its interior vertices have exactly m sub-vertices</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With m = 2, we have a binary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An ordered rooted tree is a rooted tree in which the children of each vertex are always arranged in some order (usually growing from left to right).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247300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681474"/>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endParaRPr lang="en-US" sz="1900" dirty="0">
              <a:solidFill>
                <a:schemeClr val="tx2"/>
              </a:solidFill>
              <a:latin typeface="Times New Roman" pitchFamily="18" charset="0"/>
              <a:cs typeface="Times New Roman" pitchFamily="18" charset="0"/>
            </a:endParaRPr>
          </a:p>
          <a:p>
            <a:pPr algn="just">
              <a:lnSpc>
                <a:spcPct val="200000"/>
              </a:lnSpc>
              <a:defRPr/>
            </a:pPr>
            <a:r>
              <a:rPr lang="en-US" sz="1900" dirty="0">
                <a:solidFill>
                  <a:schemeClr val="tx2"/>
                </a:solidFill>
                <a:latin typeface="Times New Roman" pitchFamily="18" charset="0"/>
                <a:cs typeface="Times New Roman" pitchFamily="18" charset="0"/>
              </a:rPr>
              <a:t>Give more examples?</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2">
            <a:extLst>
              <a:ext uri="{FF2B5EF4-FFF2-40B4-BE49-F238E27FC236}">
                <a16:creationId xmlns:a16="http://schemas.microsoft.com/office/drawing/2014/main" id="{EE88F527-C60D-FD7C-02B2-45E3B5ED5A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149" y="2287903"/>
            <a:ext cx="419100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14197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66</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marL="457200" indent="-457200" algn="just">
              <a:lnSpc>
                <a:spcPct val="200000"/>
              </a:lnSpc>
              <a:buFont typeface="+mj-lt"/>
              <a:buAutoNum type="arabicPeriod"/>
              <a:defRPr/>
            </a:pPr>
            <a:r>
              <a:rPr lang="en-US" sz="1900" dirty="0">
                <a:solidFill>
                  <a:schemeClr val="tx2"/>
                </a:solidFill>
                <a:latin typeface="Times New Roman" pitchFamily="18" charset="0"/>
                <a:cs typeface="Times New Roman" pitchFamily="18" charset="0"/>
              </a:rPr>
              <a:t>Binary search tree (learned in CTDL)</a:t>
            </a:r>
          </a:p>
          <a:p>
            <a:pPr marL="457200" indent="-457200" algn="just">
              <a:lnSpc>
                <a:spcPct val="200000"/>
              </a:lnSpc>
              <a:buFont typeface="+mj-lt"/>
              <a:buAutoNum type="arabicPeriod"/>
              <a:defRPr/>
            </a:pPr>
            <a:r>
              <a:rPr lang="en-US" sz="1900" dirty="0">
                <a:solidFill>
                  <a:schemeClr val="tx2"/>
                </a:solidFill>
                <a:latin typeface="Times New Roman" pitchFamily="18" charset="0"/>
                <a:cs typeface="Times New Roman" pitchFamily="18" charset="0"/>
              </a:rPr>
              <a:t>Decision tree.</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Is a tree with roots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vertex corresponds to a decision</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Each subtree at this vertex corresponds to the possible outcomes of that decision</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651956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67</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6.3.2. Rooted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The road system in Maine is as shown below.</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Snow is covering all the roads.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Need to restore the system by shoveling some roads.</a:t>
            </a:r>
          </a:p>
          <a:p>
            <a:pPr marL="800100" lvl="1"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It is not necessary to shovel all the roads:</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4">
            <a:extLst>
              <a:ext uri="{FF2B5EF4-FFF2-40B4-BE49-F238E27FC236}">
                <a16:creationId xmlns:a16="http://schemas.microsoft.com/office/drawing/2014/main" id="{6B48F0CD-1847-D336-71C2-03D1A92C96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0" y="2834492"/>
            <a:ext cx="3284506"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BACF79B2-427E-210A-635E-CC5A042B1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6824" y="4806718"/>
            <a:ext cx="3229992" cy="1635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a:extLst>
              <a:ext uri="{FF2B5EF4-FFF2-40B4-BE49-F238E27FC236}">
                <a16:creationId xmlns:a16="http://schemas.microsoft.com/office/drawing/2014/main" id="{5F57E494-F11E-A992-6FDC-33503C7CC64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6122" y="4806718"/>
            <a:ext cx="3195920" cy="1642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Arrow Connector 13">
            <a:extLst>
              <a:ext uri="{FF2B5EF4-FFF2-40B4-BE49-F238E27FC236}">
                <a16:creationId xmlns:a16="http://schemas.microsoft.com/office/drawing/2014/main" id="{89C981B7-E8AD-130F-6AF9-B9460D561FF7}"/>
              </a:ext>
            </a:extLst>
          </p:cNvPr>
          <p:cNvCxnSpPr/>
          <p:nvPr/>
        </p:nvCxnSpPr>
        <p:spPr>
          <a:xfrm flipV="1">
            <a:off x="4516816" y="4267200"/>
            <a:ext cx="1655384"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C8A8A74-8590-29E3-9372-41925A899951}"/>
              </a:ext>
            </a:extLst>
          </p:cNvPr>
          <p:cNvCxnSpPr/>
          <p:nvPr/>
        </p:nvCxnSpPr>
        <p:spPr>
          <a:xfrm>
            <a:off x="4516816" y="5105400"/>
            <a:ext cx="1426784" cy="15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92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par>
                                <p:cTn id="8" presetID="4" presetClass="entr" presetSubtype="16"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ox(i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68</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3511923"/>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Let G be a simple graph. A tree T is said to be a minimal spanning tree of G if and only if:</a:t>
            </a:r>
          </a:p>
          <a:p>
            <a:pPr lvl="1" algn="just">
              <a:lnSpc>
                <a:spcPct val="200000"/>
              </a:lnSpc>
              <a:defRPr/>
            </a:pPr>
            <a:r>
              <a:rPr lang="en-US" sz="1900" dirty="0">
                <a:solidFill>
                  <a:schemeClr val="tx2"/>
                </a:solidFill>
                <a:latin typeface="Times New Roman" pitchFamily="18" charset="0"/>
                <a:cs typeface="Times New Roman" pitchFamily="18" charset="0"/>
              </a:rPr>
              <a:t>T is a subgraph of G</a:t>
            </a:r>
          </a:p>
          <a:p>
            <a:pPr lvl="1" algn="just">
              <a:lnSpc>
                <a:spcPct val="200000"/>
              </a:lnSpc>
              <a:defRPr/>
            </a:pPr>
            <a:r>
              <a:rPr lang="en-US" sz="1900" dirty="0">
                <a:solidFill>
                  <a:schemeClr val="tx2"/>
                </a:solidFill>
                <a:latin typeface="Times New Roman" pitchFamily="18" charset="0"/>
                <a:cs typeface="Times New Roman" pitchFamily="18" charset="0"/>
              </a:rPr>
              <a:t>T contains all vertices of G</a:t>
            </a: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2" descr="hinh3_02">
            <a:extLst>
              <a:ext uri="{FF2B5EF4-FFF2-40B4-BE49-F238E27FC236}">
                <a16:creationId xmlns:a16="http://schemas.microsoft.com/office/drawing/2014/main" id="{10E4E810-9F97-267C-382F-CE65ABB628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239278"/>
            <a:ext cx="69342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371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69</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851025"/>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dirty="0">
                <a:solidFill>
                  <a:schemeClr val="tx2"/>
                </a:solidFill>
                <a:latin typeface="Times New Roman" pitchFamily="18" charset="0"/>
                <a:cs typeface="Times New Roman" pitchFamily="18" charset="0"/>
              </a:rPr>
              <a:t>Theorem: </a:t>
            </a:r>
          </a:p>
          <a:p>
            <a:pPr algn="just">
              <a:lnSpc>
                <a:spcPct val="200000"/>
              </a:lnSpc>
              <a:defRPr/>
            </a:pPr>
            <a:r>
              <a:rPr lang="en-US" sz="1900" dirty="0">
                <a:solidFill>
                  <a:schemeClr val="tx2"/>
                </a:solidFill>
                <a:latin typeface="Times New Roman" pitchFamily="18" charset="0"/>
                <a:cs typeface="Times New Roman" pitchFamily="18" charset="0"/>
              </a:rPr>
              <a:t>A simple graph is connected if and only if it has a spanning tree.</a:t>
            </a:r>
          </a:p>
          <a:p>
            <a:pPr algn="just">
              <a:lnSpc>
                <a:spcPct val="200000"/>
              </a:lnSpc>
              <a:defRPr/>
            </a:pPr>
            <a:r>
              <a:rPr lang="en-US" sz="1900" dirty="0">
                <a:solidFill>
                  <a:schemeClr val="tx2"/>
                </a:solidFill>
                <a:latin typeface="Times New Roman" pitchFamily="18" charset="0"/>
                <a:cs typeface="Times New Roman" pitchFamily="18" charset="0"/>
              </a:rPr>
              <a:t>Prove:</a:t>
            </a:r>
          </a:p>
          <a:p>
            <a:pPr algn="just">
              <a:lnSpc>
                <a:spcPct val="200000"/>
              </a:lnSpc>
              <a:defRPr/>
            </a:pPr>
            <a:r>
              <a:rPr lang="en-US" sz="1900" dirty="0">
                <a:solidFill>
                  <a:schemeClr val="tx2"/>
                </a:solidFill>
                <a:latin typeface="Times New Roman" pitchFamily="18" charset="0"/>
                <a:cs typeface="Times New Roman" pitchFamily="18" charset="0"/>
              </a:rPr>
              <a:t>If G contains a spanning tree, then the spanning tree is connected and the spanning tree contains all the vertices of G. It follows that the vertices of G are always connected or G is connected.</a:t>
            </a:r>
          </a:p>
          <a:p>
            <a:pPr algn="just">
              <a:lnSpc>
                <a:spcPct val="200000"/>
              </a:lnSpc>
              <a:defRPr/>
            </a:pPr>
            <a:r>
              <a:rPr lang="en-US" sz="1900" dirty="0">
                <a:solidFill>
                  <a:schemeClr val="tx2"/>
                </a:solidFill>
                <a:latin typeface="Times New Roman" pitchFamily="18" charset="0"/>
                <a:cs typeface="Times New Roman" pitchFamily="18" charset="0"/>
              </a:rPr>
              <a:t>Consider G connected. Assuming there is a cycle in G, delete an edge in this cycle, then the graph is still connected. If there is still a cycle, repeat the above step. Keep doing this until there are no more cycles. Then we will get a frame</a:t>
            </a:r>
            <a:endParaRPr lang="en-US" sz="1900" b="1"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562892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70</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1757597"/>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Minimal spanning tree problem</a:t>
            </a:r>
            <a:r>
              <a:rPr lang="en-US" sz="1900" dirty="0">
                <a:solidFill>
                  <a:schemeClr val="tx2"/>
                </a:solidFill>
                <a:latin typeface="Times New Roman" pitchFamily="18" charset="0"/>
                <a:cs typeface="Times New Roman" pitchFamily="18" charset="0"/>
              </a:rPr>
              <a:t>: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70A782A0-5399-8C6F-6AA7-81A66501237D}"/>
              </a:ext>
            </a:extLst>
          </p:cNvPr>
          <p:cNvPicPr>
            <a:picLocks noChangeAspect="1"/>
          </p:cNvPicPr>
          <p:nvPr/>
        </p:nvPicPr>
        <p:blipFill>
          <a:blip r:embed="rId4"/>
          <a:stretch>
            <a:fillRect/>
          </a:stretch>
        </p:blipFill>
        <p:spPr>
          <a:xfrm>
            <a:off x="838200" y="1981200"/>
            <a:ext cx="6610350" cy="4052235"/>
          </a:xfrm>
          <a:prstGeom prst="rect">
            <a:avLst/>
          </a:prstGeom>
        </p:spPr>
      </p:pic>
    </p:spTree>
    <p:extLst>
      <p:ext uri="{BB962C8B-B14F-4D97-AF65-F5344CB8AC3E}">
        <p14:creationId xmlns:p14="http://schemas.microsoft.com/office/powerpoint/2010/main" val="8398001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71</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Minimal spanning tree problem</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Define</a:t>
            </a:r>
            <a:r>
              <a:rPr lang="en-US" sz="1900" dirty="0">
                <a:solidFill>
                  <a:schemeClr val="tx2"/>
                </a:solidFill>
                <a:latin typeface="Times New Roman" pitchFamily="18" charset="0"/>
                <a:cs typeface="Times New Roman" pitchFamily="18" charset="0"/>
              </a:rPr>
              <a:t>. </a:t>
            </a:r>
          </a:p>
          <a:p>
            <a:pPr algn="just">
              <a:lnSpc>
                <a:spcPct val="200000"/>
              </a:lnSpc>
              <a:defRPr/>
            </a:pPr>
            <a:r>
              <a:rPr lang="en-US" sz="1900" dirty="0">
                <a:solidFill>
                  <a:schemeClr val="tx2"/>
                </a:solidFill>
                <a:latin typeface="Times New Roman" pitchFamily="18" charset="0"/>
                <a:cs typeface="Times New Roman" pitchFamily="18" charset="0"/>
              </a:rPr>
              <a:t>Given a weighted graph G. The smallest spanning tree of G (if exists) is the spanning tree with the smallest weight sum among the spanning trees of G.</a:t>
            </a:r>
          </a:p>
          <a:p>
            <a:pPr algn="just">
              <a:lnSpc>
                <a:spcPct val="200000"/>
              </a:lnSpc>
              <a:defRPr/>
            </a:pPr>
            <a:r>
              <a:rPr lang="en-US" sz="1900" b="1" dirty="0">
                <a:solidFill>
                  <a:schemeClr val="tx2"/>
                </a:solidFill>
                <a:latin typeface="Times New Roman" pitchFamily="18" charset="0"/>
                <a:cs typeface="Times New Roman" pitchFamily="18" charset="0"/>
              </a:rPr>
              <a:t>Algorithms to find the smallest spanning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Kruskal Algorithm</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Prim Algorithm </a:t>
            </a:r>
          </a:p>
          <a:p>
            <a:pPr algn="just">
              <a:lnSpc>
                <a:spcPct val="200000"/>
              </a:lnSpc>
              <a:defRPr/>
            </a:pPr>
            <a:endParaRPr lang="en-US" sz="1900" dirty="0">
              <a:solidFill>
                <a:schemeClr val="tx2"/>
              </a:solidFill>
              <a:latin typeface="Times New Roman" pitchFamily="18" charset="0"/>
              <a:cs typeface="Times New Roman" pitchFamily="18" charset="0"/>
            </a:endParaRP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088692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72</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sz="1900" b="1" dirty="0">
                <a:solidFill>
                  <a:schemeClr val="tx2"/>
                </a:solidFill>
                <a:latin typeface="Times New Roman" pitchFamily="18" charset="0"/>
                <a:cs typeface="Times New Roman" pitchFamily="18" charset="0"/>
              </a:rPr>
              <a:t>Kruskal Algorithm</a:t>
            </a:r>
            <a:r>
              <a:rPr 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Consider the edges in order of increasing weight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For each edge under consideration, we try to put it in the tree of frames 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there is no cycle with the selected edges, accept this new edge and put it in the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If forming a cycle with selected edges, skip and consider the next edge.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Continue like this until you find enough n-1 edges to put in the tree 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505410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D73B800F-B15E-AFCF-2DF6-9C8D0B2DDB24}"/>
              </a:ext>
            </a:extLst>
          </p:cNvPr>
          <p:cNvPicPr>
            <a:picLocks noChangeAspect="1"/>
          </p:cNvPicPr>
          <p:nvPr/>
        </p:nvPicPr>
        <p:blipFill>
          <a:blip r:embed="rId3"/>
          <a:stretch>
            <a:fillRect/>
          </a:stretch>
        </p:blipFill>
        <p:spPr>
          <a:xfrm>
            <a:off x="0" y="0"/>
            <a:ext cx="9144000" cy="6857143"/>
          </a:xfrm>
          <a:prstGeom prst="rect">
            <a:avLst/>
          </a:prstGeom>
        </p:spPr>
      </p:pic>
      <p:pic>
        <p:nvPicPr>
          <p:cNvPr id="4813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1219200"/>
            <a:ext cx="45148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6" name="TextBox 7"/>
          <p:cNvSpPr txBox="1">
            <a:spLocks noChangeArrowheads="1"/>
          </p:cNvSpPr>
          <p:nvPr/>
        </p:nvSpPr>
        <p:spPr bwMode="auto">
          <a:xfrm>
            <a:off x="2876550" y="16113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37" name="TextBox 8"/>
          <p:cNvSpPr txBox="1">
            <a:spLocks noChangeArrowheads="1"/>
          </p:cNvSpPr>
          <p:nvPr/>
        </p:nvSpPr>
        <p:spPr bwMode="auto">
          <a:xfrm>
            <a:off x="2647950" y="2590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38" name="TextBox 9"/>
          <p:cNvSpPr txBox="1">
            <a:spLocks noChangeArrowheads="1"/>
          </p:cNvSpPr>
          <p:nvPr/>
        </p:nvSpPr>
        <p:spPr bwMode="auto">
          <a:xfrm>
            <a:off x="3105150" y="21447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39" name="TextBox 10"/>
          <p:cNvSpPr txBox="1">
            <a:spLocks noChangeArrowheads="1"/>
          </p:cNvSpPr>
          <p:nvPr/>
        </p:nvSpPr>
        <p:spPr bwMode="auto">
          <a:xfrm>
            <a:off x="3790950" y="1778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0" name="TextBox 11"/>
          <p:cNvSpPr txBox="1">
            <a:spLocks noChangeArrowheads="1"/>
          </p:cNvSpPr>
          <p:nvPr/>
        </p:nvSpPr>
        <p:spPr bwMode="auto">
          <a:xfrm>
            <a:off x="3790950" y="2679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1" name="TextBox 12"/>
          <p:cNvSpPr txBox="1">
            <a:spLocks noChangeArrowheads="1"/>
          </p:cNvSpPr>
          <p:nvPr/>
        </p:nvSpPr>
        <p:spPr bwMode="auto">
          <a:xfrm>
            <a:off x="4248150" y="1066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20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2" name="TextBox 13"/>
          <p:cNvSpPr txBox="1">
            <a:spLocks noChangeArrowheads="1"/>
          </p:cNvSpPr>
          <p:nvPr/>
        </p:nvSpPr>
        <p:spPr bwMode="auto">
          <a:xfrm>
            <a:off x="4552950" y="1600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3" name="TextBox 14"/>
          <p:cNvSpPr txBox="1">
            <a:spLocks noChangeArrowheads="1"/>
          </p:cNvSpPr>
          <p:nvPr/>
        </p:nvSpPr>
        <p:spPr bwMode="auto">
          <a:xfrm>
            <a:off x="5695950" y="1371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8144" name="TextBox 15"/>
          <p:cNvSpPr txBox="1">
            <a:spLocks noChangeArrowheads="1"/>
          </p:cNvSpPr>
          <p:nvPr/>
        </p:nvSpPr>
        <p:spPr bwMode="auto">
          <a:xfrm>
            <a:off x="5086350" y="175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17" name="Oval 16"/>
          <p:cNvSpPr>
            <a:spLocks noChangeArrowheads="1"/>
          </p:cNvSpPr>
          <p:nvPr/>
        </p:nvSpPr>
        <p:spPr bwMode="auto">
          <a:xfrm>
            <a:off x="32004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8" name="Oval 17"/>
          <p:cNvSpPr>
            <a:spLocks noChangeArrowheads="1"/>
          </p:cNvSpPr>
          <p:nvPr/>
        </p:nvSpPr>
        <p:spPr bwMode="auto">
          <a:xfrm>
            <a:off x="2438400" y="51816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9" name="Oval 18"/>
          <p:cNvSpPr>
            <a:spLocks noChangeArrowheads="1"/>
          </p:cNvSpPr>
          <p:nvPr/>
        </p:nvSpPr>
        <p:spPr bwMode="auto">
          <a:xfrm>
            <a:off x="2743200" y="61722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0" name="Oval 19"/>
          <p:cNvSpPr>
            <a:spLocks noChangeArrowheads="1"/>
          </p:cNvSpPr>
          <p:nvPr/>
        </p:nvSpPr>
        <p:spPr bwMode="auto">
          <a:xfrm>
            <a:off x="49530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1" name="Oval 20"/>
          <p:cNvSpPr>
            <a:spLocks noChangeArrowheads="1"/>
          </p:cNvSpPr>
          <p:nvPr/>
        </p:nvSpPr>
        <p:spPr bwMode="auto">
          <a:xfrm>
            <a:off x="4267200" y="53340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2" name="Oval 21"/>
          <p:cNvSpPr>
            <a:spLocks noChangeArrowheads="1"/>
          </p:cNvSpPr>
          <p:nvPr/>
        </p:nvSpPr>
        <p:spPr bwMode="auto">
          <a:xfrm>
            <a:off x="5867400" y="48768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Box 22"/>
          <p:cNvSpPr txBox="1">
            <a:spLocks noChangeArrowheads="1"/>
          </p:cNvSpPr>
          <p:nvPr/>
        </p:nvSpPr>
        <p:spPr bwMode="auto">
          <a:xfrm>
            <a:off x="2743200" y="4005263"/>
            <a:ext cx="99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Etna</a:t>
            </a:r>
          </a:p>
        </p:txBody>
      </p:sp>
      <p:sp>
        <p:nvSpPr>
          <p:cNvPr id="24" name="TextBox 23"/>
          <p:cNvSpPr txBox="1">
            <a:spLocks noChangeArrowheads="1"/>
          </p:cNvSpPr>
          <p:nvPr/>
        </p:nvSpPr>
        <p:spPr bwMode="auto">
          <a:xfrm>
            <a:off x="4419600" y="4038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Oldtown</a:t>
            </a:r>
          </a:p>
        </p:txBody>
      </p:sp>
      <p:sp>
        <p:nvSpPr>
          <p:cNvPr id="25" name="TextBox 24"/>
          <p:cNvSpPr txBox="1">
            <a:spLocks noChangeArrowheads="1"/>
          </p:cNvSpPr>
          <p:nvPr/>
        </p:nvSpPr>
        <p:spPr bwMode="auto">
          <a:xfrm>
            <a:off x="5791200" y="4767263"/>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Orono</a:t>
            </a:r>
          </a:p>
        </p:txBody>
      </p:sp>
      <p:sp>
        <p:nvSpPr>
          <p:cNvPr id="26" name="TextBox 25"/>
          <p:cNvSpPr txBox="1">
            <a:spLocks noChangeArrowheads="1"/>
          </p:cNvSpPr>
          <p:nvPr/>
        </p:nvSpPr>
        <p:spPr bwMode="auto">
          <a:xfrm>
            <a:off x="4038600" y="54864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Bangor</a:t>
            </a:r>
          </a:p>
        </p:txBody>
      </p:sp>
      <p:sp>
        <p:nvSpPr>
          <p:cNvPr id="27" name="TextBox 26"/>
          <p:cNvSpPr txBox="1">
            <a:spLocks noChangeArrowheads="1"/>
          </p:cNvSpPr>
          <p:nvPr/>
        </p:nvSpPr>
        <p:spPr bwMode="auto">
          <a:xfrm>
            <a:off x="2798795" y="6200774"/>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Hampden</a:t>
            </a:r>
          </a:p>
        </p:txBody>
      </p:sp>
      <p:sp>
        <p:nvSpPr>
          <p:cNvPr id="28" name="TextBox 27"/>
          <p:cNvSpPr txBox="1">
            <a:spLocks noChangeArrowheads="1"/>
          </p:cNvSpPr>
          <p:nvPr/>
        </p:nvSpPr>
        <p:spPr bwMode="auto">
          <a:xfrm>
            <a:off x="1524000" y="48768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Hermae</a:t>
            </a:r>
          </a:p>
        </p:txBody>
      </p:sp>
      <p:cxnSp>
        <p:nvCxnSpPr>
          <p:cNvPr id="30" name="Straight Connector 29"/>
          <p:cNvCxnSpPr>
            <a:cxnSpLocks noChangeShapeType="1"/>
            <a:stCxn id="17" idx="5"/>
            <a:endCxn id="21" idx="1"/>
          </p:cNvCxnSpPr>
          <p:nvPr/>
        </p:nvCxnSpPr>
        <p:spPr bwMode="auto">
          <a:xfrm rot="16200000" flipH="1">
            <a:off x="3368675" y="4435475"/>
            <a:ext cx="882650" cy="9588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3" name="TextBox 32"/>
          <p:cNvSpPr txBox="1">
            <a:spLocks noChangeArrowheads="1"/>
          </p:cNvSpPr>
          <p:nvPr/>
        </p:nvSpPr>
        <p:spPr bwMode="auto">
          <a:xfrm>
            <a:off x="3581400" y="4572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4" name="Straight Connector 33"/>
          <p:cNvCxnSpPr>
            <a:cxnSpLocks noChangeShapeType="1"/>
            <a:stCxn id="21" idx="3"/>
            <a:endCxn id="19" idx="7"/>
          </p:cNvCxnSpPr>
          <p:nvPr/>
        </p:nvCxnSpPr>
        <p:spPr bwMode="auto">
          <a:xfrm rot="5400000">
            <a:off x="3216275" y="5121275"/>
            <a:ext cx="730250" cy="14160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8" name="TextBox 37"/>
          <p:cNvSpPr txBox="1">
            <a:spLocks noChangeArrowheads="1"/>
          </p:cNvSpPr>
          <p:nvPr/>
        </p:nvSpPr>
        <p:spPr bwMode="auto">
          <a:xfrm>
            <a:off x="3200400" y="5537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9" name="Straight Connector 38"/>
          <p:cNvCxnSpPr>
            <a:cxnSpLocks noChangeShapeType="1"/>
            <a:stCxn id="18" idx="4"/>
            <a:endCxn id="19" idx="1"/>
          </p:cNvCxnSpPr>
          <p:nvPr/>
        </p:nvCxnSpPr>
        <p:spPr bwMode="auto">
          <a:xfrm rot="16200000" flipH="1">
            <a:off x="2209800" y="5638800"/>
            <a:ext cx="860425" cy="250825"/>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2" name="TextBox 41"/>
          <p:cNvSpPr txBox="1">
            <a:spLocks noChangeArrowheads="1"/>
          </p:cNvSpPr>
          <p:nvPr/>
        </p:nvSpPr>
        <p:spPr bwMode="auto">
          <a:xfrm>
            <a:off x="2133600" y="556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3" name="Straight Connector 42"/>
          <p:cNvCxnSpPr>
            <a:cxnSpLocks noChangeShapeType="1"/>
          </p:cNvCxnSpPr>
          <p:nvPr/>
        </p:nvCxnSpPr>
        <p:spPr bwMode="auto">
          <a:xfrm rot="10800000" flipV="1">
            <a:off x="4419600" y="4953000"/>
            <a:ext cx="1524000" cy="4254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5" name="TextBox 44"/>
          <p:cNvSpPr txBox="1">
            <a:spLocks noChangeArrowheads="1"/>
          </p:cNvSpPr>
          <p:nvPr/>
        </p:nvSpPr>
        <p:spPr bwMode="auto">
          <a:xfrm>
            <a:off x="4826000" y="4838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6" name="Straight Connector 45"/>
          <p:cNvCxnSpPr>
            <a:cxnSpLocks noChangeShapeType="1"/>
          </p:cNvCxnSpPr>
          <p:nvPr/>
        </p:nvCxnSpPr>
        <p:spPr bwMode="auto">
          <a:xfrm>
            <a:off x="5029200" y="4419600"/>
            <a:ext cx="914400" cy="53340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8" name="TextBox 47"/>
          <p:cNvSpPr txBox="1">
            <a:spLocks noChangeArrowheads="1"/>
          </p:cNvSpPr>
          <p:nvPr/>
        </p:nvSpPr>
        <p:spPr bwMode="auto">
          <a:xfrm>
            <a:off x="5257800" y="4368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3" name="Rectangle 5">
            <a:extLst>
              <a:ext uri="{FF2B5EF4-FFF2-40B4-BE49-F238E27FC236}">
                <a16:creationId xmlns:a16="http://schemas.microsoft.com/office/drawing/2014/main" id="{0434B254-786E-BC4D-9845-3AE6211D97FD}"/>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6D2083FC-2647-8B6E-E767-9751ECB537A2}"/>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73</a:t>
            </a:r>
            <a:endParaRPr lang="en-US" dirty="0"/>
          </a:p>
        </p:txBody>
      </p:sp>
    </p:spTree>
    <p:extLst>
      <p:ext uri="{BB962C8B-B14F-4D97-AF65-F5344CB8AC3E}">
        <p14:creationId xmlns:p14="http://schemas.microsoft.com/office/powerpoint/2010/main" val="10110743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ox(in)">
                                      <p:cBhvr>
                                        <p:cTn id="10" dur="500"/>
                                        <p:tgtEl>
                                          <p:spTgt spid="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ox(in)">
                                      <p:cBhvr>
                                        <p:cTn id="15" dur="500"/>
                                        <p:tgtEl>
                                          <p:spTgt spid="33"/>
                                        </p:tgtEl>
                                      </p:cBhvr>
                                    </p:animEffect>
                                  </p:childTnLst>
                                </p:cTn>
                              </p:par>
                              <p:par>
                                <p:cTn id="16" presetID="4" presetClass="entr" presetSubtype="16"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ox(in)">
                                      <p:cBhvr>
                                        <p:cTn id="18" dur="500"/>
                                        <p:tgtEl>
                                          <p:spTgt spid="30"/>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ox(in)">
                                      <p:cBhvr>
                                        <p:cTn id="21" dur="500"/>
                                        <p:tgtEl>
                                          <p:spTgt spid="2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ox(in)">
                                      <p:cBhvr>
                                        <p:cTn id="24" dur="5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box(in)">
                                      <p:cBhvr>
                                        <p:cTn id="29" dur="500"/>
                                        <p:tgtEl>
                                          <p:spTgt spid="42"/>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box(in)">
                                      <p:cBhvr>
                                        <p:cTn id="32" dur="500"/>
                                        <p:tgtEl>
                                          <p:spTgt spid="28"/>
                                        </p:tgtEl>
                                      </p:cBhvr>
                                    </p:animEffect>
                                  </p:childTnLst>
                                </p:cTn>
                              </p:par>
                              <p:par>
                                <p:cTn id="33" presetID="4" presetClass="entr" presetSubtype="16" fill="hold"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box(in)">
                                      <p:cBhvr>
                                        <p:cTn id="35" dur="500"/>
                                        <p:tgtEl>
                                          <p:spTgt spid="39"/>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ox(in)">
                                      <p:cBhvr>
                                        <p:cTn id="38" dur="500"/>
                                        <p:tgtEl>
                                          <p:spTgt spid="18"/>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box(in)">
                                      <p:cBhvr>
                                        <p:cTn id="41" dur="500"/>
                                        <p:tgtEl>
                                          <p:spTgt spid="19"/>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box(in)">
                                      <p:cBhvr>
                                        <p:cTn id="44" dur="500"/>
                                        <p:tgtEl>
                                          <p:spTgt spid="2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box(in)">
                                      <p:cBhvr>
                                        <p:cTn id="49" dur="500"/>
                                        <p:tgtEl>
                                          <p:spTgt spid="34"/>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box(in)">
                                      <p:cBhvr>
                                        <p:cTn id="52" dur="500"/>
                                        <p:tgtEl>
                                          <p:spTgt spid="3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ox(in)">
                                      <p:cBhvr>
                                        <p:cTn id="57" dur="500"/>
                                        <p:tgtEl>
                                          <p:spTgt spid="22"/>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ox(in)">
                                      <p:cBhvr>
                                        <p:cTn id="60" dur="500"/>
                                        <p:tgtEl>
                                          <p:spTgt spid="25"/>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box(in)">
                                      <p:cBhvr>
                                        <p:cTn id="63" dur="500"/>
                                        <p:tgtEl>
                                          <p:spTgt spid="45"/>
                                        </p:tgtEl>
                                      </p:cBhvr>
                                    </p:animEffect>
                                  </p:childTnLst>
                                </p:cTn>
                              </p:par>
                              <p:par>
                                <p:cTn id="64" presetID="4" presetClass="entr" presetSubtype="16"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box(in)">
                                      <p:cBhvr>
                                        <p:cTn id="66" dur="500"/>
                                        <p:tgtEl>
                                          <p:spTgt spid="4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box(in)">
                                      <p:cBhvr>
                                        <p:cTn id="71" dur="500"/>
                                        <p:tgtEl>
                                          <p:spTgt spid="20"/>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box(in)">
                                      <p:cBhvr>
                                        <p:cTn id="74" dur="500"/>
                                        <p:tgtEl>
                                          <p:spTgt spid="24"/>
                                        </p:tgtEl>
                                      </p:cBhvr>
                                    </p:animEffect>
                                  </p:childTnLst>
                                </p:cTn>
                              </p:par>
                              <p:par>
                                <p:cTn id="75" presetID="4" presetClass="entr" presetSubtype="16"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box(in)">
                                      <p:cBhvr>
                                        <p:cTn id="77" dur="500"/>
                                        <p:tgtEl>
                                          <p:spTgt spid="48"/>
                                        </p:tgtEl>
                                      </p:cBhvr>
                                    </p:animEffect>
                                  </p:childTnLst>
                                </p:cTn>
                              </p:par>
                              <p:par>
                                <p:cTn id="78" presetID="4" presetClass="entr" presetSubtype="16" fill="hold" nodeType="with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box(in)">
                                      <p:cBhvr>
                                        <p:cTn id="8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33" grpId="0"/>
      <p:bldP spid="38" grpId="0"/>
      <p:bldP spid="42" grpId="0"/>
      <p:bldP spid="45" grpId="0"/>
      <p:bldP spid="4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F90262CE-1AC1-347F-2F17-BA021A0C6091}"/>
              </a:ext>
            </a:extLst>
          </p:cNvPr>
          <p:cNvPicPr>
            <a:picLocks noChangeAspect="1"/>
          </p:cNvPicPr>
          <p:nvPr/>
        </p:nvPicPr>
        <p:blipFill>
          <a:blip r:embed="rId3"/>
          <a:stretch>
            <a:fillRect/>
          </a:stretch>
        </p:blipFill>
        <p:spPr>
          <a:xfrm>
            <a:off x="0" y="0"/>
            <a:ext cx="9144000" cy="6857143"/>
          </a:xfrm>
          <a:prstGeom prst="rect">
            <a:avLst/>
          </a:prstGeom>
        </p:spPr>
      </p:pic>
      <p:graphicFrame>
        <p:nvGraphicFramePr>
          <p:cNvPr id="50" name="Content Placeholder 49"/>
          <p:cNvGraphicFramePr>
            <a:graphicFrameLocks noGrp="1"/>
          </p:cNvGraphicFramePr>
          <p:nvPr>
            <p:ph idx="1"/>
            <p:extLst>
              <p:ext uri="{D42A27DB-BD31-4B8C-83A1-F6EECF244321}">
                <p14:modId xmlns:p14="http://schemas.microsoft.com/office/powerpoint/2010/main" val="1090568921"/>
              </p:ext>
            </p:extLst>
          </p:nvPr>
        </p:nvGraphicFramePr>
        <p:xfrm>
          <a:off x="1676400" y="2895600"/>
          <a:ext cx="2514600" cy="3553798"/>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tblGrid>
              <a:tr h="36512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en-US" sz="2000" b="1" kern="1200"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Weight</a:t>
                      </a:r>
                      <a:r>
                        <a:rPr kumimoji="0" lang="en-US" altLang="en-US" sz="1800" b="1" i="0" u="none" strike="noStrike" cap="none" normalizeH="0" baseline="0" dirty="0">
                          <a:ln>
                            <a:noFill/>
                          </a:ln>
                          <a:solidFill>
                            <a:srgbClr val="FF0000"/>
                          </a:solidFill>
                          <a:effectLst/>
                          <a:latin typeface="Arial" charset="0"/>
                          <a:ea typeface="Arial" charset="0"/>
                          <a:cs typeface="Arial" charset="0"/>
                        </a:rPr>
                        <a:t> </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en-US" sz="2000" b="1" kern="1200"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Edge</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(3,5)</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8</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(4,6)</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9</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(4,5)</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(5,6)</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16</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(3,4)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17</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(1,3)</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6"/>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18</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(2,3)</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7"/>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20</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(2,4)</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8"/>
                  </a:ext>
                </a:extLst>
              </a:tr>
              <a:tr h="350838">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ea typeface="Arial" charset="0"/>
                          <a:cs typeface="Arial" charset="0"/>
                        </a:rPr>
                        <a:t>33</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ea typeface="Arial" charset="0"/>
                          <a:cs typeface="Arial" charset="0"/>
                        </a:rPr>
                        <a:t>(1,2)</a:t>
                      </a:r>
                    </a:p>
                  </a:txBody>
                  <a:tcPr marT="45728" marB="4572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9"/>
                  </a:ext>
                </a:extLst>
              </a:tr>
            </a:tbl>
          </a:graphicData>
        </a:graphic>
      </p:graphicFrame>
      <p:sp>
        <p:nvSpPr>
          <p:cNvPr id="49193" name="Line 3"/>
          <p:cNvSpPr>
            <a:spLocks noChangeShapeType="1"/>
          </p:cNvSpPr>
          <p:nvPr/>
        </p:nvSpPr>
        <p:spPr bwMode="auto">
          <a:xfrm flipV="1">
            <a:off x="847725" y="1295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4" name="Line 4"/>
          <p:cNvSpPr>
            <a:spLocks noChangeShapeType="1"/>
          </p:cNvSpPr>
          <p:nvPr/>
        </p:nvSpPr>
        <p:spPr bwMode="auto">
          <a:xfrm flipH="1" flipV="1">
            <a:off x="847725" y="19812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5" name="Line 5"/>
          <p:cNvSpPr>
            <a:spLocks noChangeShapeType="1"/>
          </p:cNvSpPr>
          <p:nvPr/>
        </p:nvSpPr>
        <p:spPr bwMode="auto">
          <a:xfrm flipV="1">
            <a:off x="1533525"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6" name="Line 6"/>
          <p:cNvSpPr>
            <a:spLocks noChangeShapeType="1"/>
          </p:cNvSpPr>
          <p:nvPr/>
        </p:nvSpPr>
        <p:spPr bwMode="auto">
          <a:xfrm flipH="1" flipV="1">
            <a:off x="2790825" y="1295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7" name="Line 7"/>
          <p:cNvSpPr>
            <a:spLocks noChangeShapeType="1"/>
          </p:cNvSpPr>
          <p:nvPr/>
        </p:nvSpPr>
        <p:spPr bwMode="auto">
          <a:xfrm flipV="1">
            <a:off x="2790825" y="19812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8" name="Line 8"/>
          <p:cNvSpPr>
            <a:spLocks noChangeShapeType="1"/>
          </p:cNvSpPr>
          <p:nvPr/>
        </p:nvSpPr>
        <p:spPr bwMode="auto">
          <a:xfrm flipH="1" flipV="1">
            <a:off x="2790825"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99" name="Line 9"/>
          <p:cNvSpPr>
            <a:spLocks noChangeShapeType="1"/>
          </p:cNvSpPr>
          <p:nvPr/>
        </p:nvSpPr>
        <p:spPr bwMode="auto">
          <a:xfrm flipH="1" flipV="1">
            <a:off x="1533525" y="12954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200" name="Line 10"/>
          <p:cNvSpPr>
            <a:spLocks noChangeShapeType="1"/>
          </p:cNvSpPr>
          <p:nvPr/>
        </p:nvSpPr>
        <p:spPr bwMode="auto">
          <a:xfrm flipH="1" flipV="1">
            <a:off x="1533525" y="26670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201" name="Line 11"/>
          <p:cNvSpPr>
            <a:spLocks noChangeShapeType="1"/>
          </p:cNvSpPr>
          <p:nvPr/>
        </p:nvSpPr>
        <p:spPr bwMode="auto">
          <a:xfrm flipH="1">
            <a:off x="1533525" y="1295400"/>
            <a:ext cx="125730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202" name="Text Box 12"/>
          <p:cNvSpPr txBox="1">
            <a:spLocks noChangeArrowheads="1"/>
          </p:cNvSpPr>
          <p:nvPr/>
        </p:nvSpPr>
        <p:spPr bwMode="auto">
          <a:xfrm>
            <a:off x="1990725" y="12287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20</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3" name="Text Box 13"/>
          <p:cNvSpPr txBox="1">
            <a:spLocks noChangeArrowheads="1"/>
          </p:cNvSpPr>
          <p:nvPr/>
        </p:nvSpPr>
        <p:spPr bwMode="auto">
          <a:xfrm>
            <a:off x="2105025" y="24384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4" name="Text Box 14"/>
          <p:cNvSpPr txBox="1">
            <a:spLocks noChangeArrowheads="1"/>
          </p:cNvSpPr>
          <p:nvPr/>
        </p:nvSpPr>
        <p:spPr bwMode="auto">
          <a:xfrm>
            <a:off x="2743200" y="1790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5" name="Text Box 15"/>
          <p:cNvSpPr txBox="1">
            <a:spLocks noChangeArrowheads="1"/>
          </p:cNvSpPr>
          <p:nvPr/>
        </p:nvSpPr>
        <p:spPr bwMode="auto">
          <a:xfrm>
            <a:off x="3076575" y="14287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6" name="Text Box 16"/>
          <p:cNvSpPr txBox="1">
            <a:spLocks noChangeArrowheads="1"/>
          </p:cNvSpPr>
          <p:nvPr/>
        </p:nvSpPr>
        <p:spPr bwMode="auto">
          <a:xfrm>
            <a:off x="3057525" y="22288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7" name="Text Box 17"/>
          <p:cNvSpPr txBox="1">
            <a:spLocks noChangeArrowheads="1"/>
          </p:cNvSpPr>
          <p:nvPr/>
        </p:nvSpPr>
        <p:spPr bwMode="auto">
          <a:xfrm>
            <a:off x="1876425" y="1752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16</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8" name="Text Box 18"/>
          <p:cNvSpPr txBox="1">
            <a:spLocks noChangeArrowheads="1"/>
          </p:cNvSpPr>
          <p:nvPr/>
        </p:nvSpPr>
        <p:spPr bwMode="auto">
          <a:xfrm>
            <a:off x="1247775" y="1752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09" name="Text Box 19"/>
          <p:cNvSpPr txBox="1">
            <a:spLocks noChangeArrowheads="1"/>
          </p:cNvSpPr>
          <p:nvPr/>
        </p:nvSpPr>
        <p:spPr bwMode="auto">
          <a:xfrm>
            <a:off x="962025" y="1409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33</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10" name="Text Box 20"/>
          <p:cNvSpPr txBox="1">
            <a:spLocks noChangeArrowheads="1"/>
          </p:cNvSpPr>
          <p:nvPr/>
        </p:nvSpPr>
        <p:spPr bwMode="auto">
          <a:xfrm>
            <a:off x="838200" y="21526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9211" name="Text Box 21"/>
          <p:cNvSpPr txBox="1">
            <a:spLocks noChangeArrowheads="1"/>
          </p:cNvSpPr>
          <p:nvPr/>
        </p:nvSpPr>
        <p:spPr bwMode="auto">
          <a:xfrm>
            <a:off x="609600" y="18383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2" name="Text Box 23"/>
          <p:cNvSpPr txBox="1">
            <a:spLocks noChangeArrowheads="1"/>
          </p:cNvSpPr>
          <p:nvPr/>
        </p:nvSpPr>
        <p:spPr bwMode="auto">
          <a:xfrm>
            <a:off x="1304925"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3" name="Text Box 25"/>
          <p:cNvSpPr txBox="1">
            <a:spLocks noChangeArrowheads="1"/>
          </p:cNvSpPr>
          <p:nvPr/>
        </p:nvSpPr>
        <p:spPr bwMode="auto">
          <a:xfrm>
            <a:off x="2790825"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4" name="Text Box 26"/>
          <p:cNvSpPr txBox="1">
            <a:spLocks noChangeArrowheads="1"/>
          </p:cNvSpPr>
          <p:nvPr/>
        </p:nvSpPr>
        <p:spPr bwMode="auto">
          <a:xfrm>
            <a:off x="3476625"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15" name="Right Arrow 28"/>
          <p:cNvSpPr>
            <a:spLocks noChangeArrowheads="1"/>
          </p:cNvSpPr>
          <p:nvPr/>
        </p:nvSpPr>
        <p:spPr bwMode="auto">
          <a:xfrm>
            <a:off x="4267200" y="1828800"/>
            <a:ext cx="990600" cy="381000"/>
          </a:xfrm>
          <a:prstGeom prst="rightArrow">
            <a:avLst>
              <a:gd name="adj1" fmla="val 50000"/>
              <a:gd name="adj2" fmla="val 50002"/>
            </a:avLst>
          </a:prstGeom>
          <a:solidFill>
            <a:srgbClr val="FF0000"/>
          </a:solidFill>
          <a:ln w="9525">
            <a:solidFill>
              <a:schemeClr val="tx1"/>
            </a:solidFill>
            <a:round/>
            <a:headEnd/>
            <a:tailEnd/>
          </a:ln>
        </p:spPr>
        <p:txBody>
          <a:bodyPr wrap="none" anchor="ct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0" name="Line 4"/>
          <p:cNvSpPr>
            <a:spLocks noChangeShapeType="1"/>
          </p:cNvSpPr>
          <p:nvPr/>
        </p:nvSpPr>
        <p:spPr bwMode="auto">
          <a:xfrm flipH="1" flipV="1">
            <a:off x="5715000" y="19812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Line 5"/>
          <p:cNvSpPr>
            <a:spLocks noChangeShapeType="1"/>
          </p:cNvSpPr>
          <p:nvPr/>
        </p:nvSpPr>
        <p:spPr bwMode="auto">
          <a:xfrm flipV="1">
            <a:off x="6400800"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Line 6"/>
          <p:cNvSpPr>
            <a:spLocks noChangeShapeType="1"/>
          </p:cNvSpPr>
          <p:nvPr/>
        </p:nvSpPr>
        <p:spPr bwMode="auto">
          <a:xfrm flipH="1" flipV="1">
            <a:off x="7658100" y="1295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Line 8"/>
          <p:cNvSpPr>
            <a:spLocks noChangeShapeType="1"/>
          </p:cNvSpPr>
          <p:nvPr/>
        </p:nvSpPr>
        <p:spPr bwMode="auto">
          <a:xfrm flipH="1" flipV="1">
            <a:off x="7658100" y="12954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Line 10"/>
          <p:cNvSpPr>
            <a:spLocks noChangeShapeType="1"/>
          </p:cNvSpPr>
          <p:nvPr/>
        </p:nvSpPr>
        <p:spPr bwMode="auto">
          <a:xfrm flipH="1" flipV="1">
            <a:off x="6400800" y="26670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Box 13"/>
          <p:cNvSpPr txBox="1">
            <a:spLocks noChangeArrowheads="1"/>
          </p:cNvSpPr>
          <p:nvPr/>
        </p:nvSpPr>
        <p:spPr bwMode="auto">
          <a:xfrm>
            <a:off x="6972300" y="24384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6" name="Text Box 14"/>
          <p:cNvSpPr txBox="1">
            <a:spLocks noChangeArrowheads="1"/>
          </p:cNvSpPr>
          <p:nvPr/>
        </p:nvSpPr>
        <p:spPr bwMode="auto">
          <a:xfrm>
            <a:off x="7610475" y="1790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7" name="Text Box 15"/>
          <p:cNvSpPr txBox="1">
            <a:spLocks noChangeArrowheads="1"/>
          </p:cNvSpPr>
          <p:nvPr/>
        </p:nvSpPr>
        <p:spPr bwMode="auto">
          <a:xfrm>
            <a:off x="7943850" y="14287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8" name="Text Box 18"/>
          <p:cNvSpPr txBox="1">
            <a:spLocks noChangeArrowheads="1"/>
          </p:cNvSpPr>
          <p:nvPr/>
        </p:nvSpPr>
        <p:spPr bwMode="auto">
          <a:xfrm>
            <a:off x="6115050" y="1752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39" name="Text Box 20"/>
          <p:cNvSpPr txBox="1">
            <a:spLocks noChangeArrowheads="1"/>
          </p:cNvSpPr>
          <p:nvPr/>
        </p:nvSpPr>
        <p:spPr bwMode="auto">
          <a:xfrm>
            <a:off x="5705475" y="21526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0" name="Text Box 21"/>
          <p:cNvSpPr txBox="1">
            <a:spLocks noChangeArrowheads="1"/>
          </p:cNvSpPr>
          <p:nvPr/>
        </p:nvSpPr>
        <p:spPr bwMode="auto">
          <a:xfrm>
            <a:off x="5476875" y="18383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1" name="Text Box 23"/>
          <p:cNvSpPr txBox="1">
            <a:spLocks noChangeArrowheads="1"/>
          </p:cNvSpPr>
          <p:nvPr/>
        </p:nvSpPr>
        <p:spPr bwMode="auto">
          <a:xfrm>
            <a:off x="6172200"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2" name="Text Box 25"/>
          <p:cNvSpPr txBox="1">
            <a:spLocks noChangeArrowheads="1"/>
          </p:cNvSpPr>
          <p:nvPr/>
        </p:nvSpPr>
        <p:spPr bwMode="auto">
          <a:xfrm>
            <a:off x="7658100" y="2552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3" name="Text Box 26"/>
          <p:cNvSpPr txBox="1">
            <a:spLocks noChangeArrowheads="1"/>
          </p:cNvSpPr>
          <p:nvPr/>
        </p:nvSpPr>
        <p:spPr bwMode="auto">
          <a:xfrm>
            <a:off x="8343900"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30" name="Text Box 22"/>
          <p:cNvSpPr txBox="1">
            <a:spLocks noChangeArrowheads="1"/>
          </p:cNvSpPr>
          <p:nvPr/>
        </p:nvSpPr>
        <p:spPr bwMode="auto">
          <a:xfrm>
            <a:off x="1304925"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9231" name="Text Box 24"/>
          <p:cNvSpPr txBox="1">
            <a:spLocks noChangeArrowheads="1"/>
          </p:cNvSpPr>
          <p:nvPr/>
        </p:nvSpPr>
        <p:spPr bwMode="auto">
          <a:xfrm>
            <a:off x="2790825"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3" name="Text Box 22"/>
          <p:cNvSpPr txBox="1">
            <a:spLocks noChangeArrowheads="1"/>
          </p:cNvSpPr>
          <p:nvPr/>
        </p:nvSpPr>
        <p:spPr bwMode="auto">
          <a:xfrm>
            <a:off x="6172200"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4" name="Text Box 24"/>
          <p:cNvSpPr txBox="1">
            <a:spLocks noChangeArrowheads="1"/>
          </p:cNvSpPr>
          <p:nvPr/>
        </p:nvSpPr>
        <p:spPr bwMode="auto">
          <a:xfrm>
            <a:off x="7658100" y="10287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6" name="TextBox 55"/>
          <p:cNvSpPr txBox="1">
            <a:spLocks noChangeArrowheads="1"/>
          </p:cNvSpPr>
          <p:nvPr/>
        </p:nvSpPr>
        <p:spPr bwMode="auto">
          <a:xfrm>
            <a:off x="4648201" y="3251200"/>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0000CC"/>
                </a:solidFill>
                <a:effectLst/>
                <a:uLnTx/>
                <a:uFillTx/>
                <a:latin typeface="Arial" charset="0"/>
                <a:cs typeface="Arial" charset="0"/>
              </a:rPr>
              <a:t>Select</a:t>
            </a:r>
          </a:p>
        </p:txBody>
      </p:sp>
      <p:cxnSp>
        <p:nvCxnSpPr>
          <p:cNvPr id="58" name="Straight Arrow Connector 57"/>
          <p:cNvCxnSpPr>
            <a:cxnSpLocks noChangeShapeType="1"/>
            <a:stCxn id="56" idx="1"/>
          </p:cNvCxnSpPr>
          <p:nvPr/>
        </p:nvCxnSpPr>
        <p:spPr bwMode="auto">
          <a:xfrm flipH="1">
            <a:off x="3962400" y="3420477"/>
            <a:ext cx="685801" cy="8522"/>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1" name="TextBox 60"/>
          <p:cNvSpPr txBox="1">
            <a:spLocks noChangeArrowheads="1"/>
          </p:cNvSpPr>
          <p:nvPr/>
        </p:nvSpPr>
        <p:spPr bwMode="auto">
          <a:xfrm>
            <a:off x="4648200" y="3581400"/>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a:t>
            </a:r>
            <a:endParaRPr kumimoji="0" lang="en-US" altLang="en-US" sz="1600" b="1" i="0" u="none" strike="noStrike" kern="1200" cap="none" spc="0" normalizeH="0" baseline="0" noProof="0" dirty="0">
              <a:ln>
                <a:noFill/>
              </a:ln>
              <a:solidFill>
                <a:srgbClr val="0000CC"/>
              </a:solidFill>
              <a:effectLst/>
              <a:uLnTx/>
              <a:uFillTx/>
              <a:latin typeface="Arial" charset="0"/>
              <a:cs typeface="Arial" charset="0"/>
            </a:endParaRPr>
          </a:p>
        </p:txBody>
      </p:sp>
      <p:cxnSp>
        <p:nvCxnSpPr>
          <p:cNvPr id="62" name="Straight Arrow Connector 61"/>
          <p:cNvCxnSpPr>
            <a:cxnSpLocks noChangeShapeType="1"/>
            <a:stCxn id="61" idx="1"/>
          </p:cNvCxnSpPr>
          <p:nvPr/>
        </p:nvCxnSpPr>
        <p:spPr bwMode="auto">
          <a:xfrm flipH="1">
            <a:off x="3962400" y="3750677"/>
            <a:ext cx="685800" cy="8522"/>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3" name="TextBox 62"/>
          <p:cNvSpPr txBox="1">
            <a:spLocks noChangeArrowheads="1"/>
          </p:cNvSpPr>
          <p:nvPr/>
        </p:nvSpPr>
        <p:spPr bwMode="auto">
          <a:xfrm>
            <a:off x="4648200" y="3944938"/>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a:t>
            </a:r>
            <a:endParaRPr kumimoji="0" lang="en-US" altLang="en-US" sz="1600" b="1" i="0" u="none" strike="noStrike" kern="1200" cap="none" spc="0" normalizeH="0" baseline="0" noProof="0" dirty="0">
              <a:ln>
                <a:noFill/>
              </a:ln>
              <a:solidFill>
                <a:srgbClr val="0000CC"/>
              </a:solidFill>
              <a:effectLst/>
              <a:uLnTx/>
              <a:uFillTx/>
              <a:latin typeface="Arial" charset="0"/>
              <a:cs typeface="Arial" charset="0"/>
            </a:endParaRPr>
          </a:p>
        </p:txBody>
      </p:sp>
      <p:cxnSp>
        <p:nvCxnSpPr>
          <p:cNvPr id="64" name="Straight Arrow Connector 63"/>
          <p:cNvCxnSpPr>
            <a:cxnSpLocks noChangeShapeType="1"/>
            <a:stCxn id="63" idx="1"/>
          </p:cNvCxnSpPr>
          <p:nvPr/>
        </p:nvCxnSpPr>
        <p:spPr bwMode="auto">
          <a:xfrm flipH="1">
            <a:off x="3962400" y="4114215"/>
            <a:ext cx="685800" cy="8523"/>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5" name="TextBox 64"/>
          <p:cNvSpPr txBox="1">
            <a:spLocks noChangeArrowheads="1"/>
          </p:cNvSpPr>
          <p:nvPr/>
        </p:nvSpPr>
        <p:spPr bwMode="auto">
          <a:xfrm>
            <a:off x="4648200" y="5011738"/>
            <a:ext cx="8286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a:t>
            </a:r>
            <a:endParaRPr kumimoji="0" lang="en-US" altLang="en-US" sz="1600" b="1" i="0" u="none" strike="noStrike" kern="1200" cap="none" spc="0" normalizeH="0" baseline="0" noProof="0" dirty="0">
              <a:ln>
                <a:noFill/>
              </a:ln>
              <a:solidFill>
                <a:srgbClr val="0000CC"/>
              </a:solidFill>
              <a:effectLst/>
              <a:uLnTx/>
              <a:uFillTx/>
              <a:latin typeface="Arial" charset="0"/>
              <a:cs typeface="Arial" charset="0"/>
            </a:endParaRPr>
          </a:p>
        </p:txBody>
      </p:sp>
      <p:cxnSp>
        <p:nvCxnSpPr>
          <p:cNvPr id="66" name="Straight Arrow Connector 65"/>
          <p:cNvCxnSpPr>
            <a:cxnSpLocks noChangeShapeType="1"/>
            <a:stCxn id="65" idx="1"/>
          </p:cNvCxnSpPr>
          <p:nvPr/>
        </p:nvCxnSpPr>
        <p:spPr bwMode="auto">
          <a:xfrm flipH="1">
            <a:off x="3962400" y="5181015"/>
            <a:ext cx="685800" cy="8523"/>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67" name="TextBox 66"/>
          <p:cNvSpPr txBox="1">
            <a:spLocks noChangeArrowheads="1"/>
          </p:cNvSpPr>
          <p:nvPr/>
        </p:nvSpPr>
        <p:spPr bwMode="auto">
          <a:xfrm>
            <a:off x="4648200" y="5392738"/>
            <a:ext cx="3124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0000CC"/>
                </a:solidFill>
              </a:rPr>
              <a:t>Select. </a:t>
            </a:r>
            <a:r>
              <a:rPr kumimoji="0" lang="en-US" altLang="en-US" sz="1600" b="1" i="0" u="none" strike="noStrike" kern="1200" cap="none" spc="0" normalizeH="0" baseline="0" noProof="0" dirty="0">
                <a:ln>
                  <a:noFill/>
                </a:ln>
                <a:solidFill>
                  <a:srgbClr val="0000CC"/>
                </a:solidFill>
                <a:effectLst/>
                <a:uLnTx/>
                <a:uFillTx/>
                <a:latin typeface="Arial" charset="0"/>
                <a:cs typeface="Arial" charset="0"/>
              </a:rPr>
              <a:t>Stop for</a:t>
            </a:r>
            <a:r>
              <a:rPr kumimoji="0" lang="en-US" altLang="en-US" sz="1600" b="1" i="0" u="none" strike="noStrike" kern="1200" cap="none" spc="0" normalizeH="0" noProof="0" dirty="0">
                <a:ln>
                  <a:noFill/>
                </a:ln>
                <a:solidFill>
                  <a:srgbClr val="0000CC"/>
                </a:solidFill>
                <a:effectLst/>
                <a:uLnTx/>
                <a:uFillTx/>
                <a:latin typeface="Arial" charset="0"/>
                <a:cs typeface="Arial" charset="0"/>
              </a:rPr>
              <a:t> n-1 condition</a:t>
            </a:r>
            <a:r>
              <a:rPr kumimoji="0" lang="en-US" altLang="en-US" sz="1600" b="1" i="0" u="none" strike="noStrike" kern="1200" cap="none" spc="0" normalizeH="0" baseline="0" noProof="0" dirty="0">
                <a:ln>
                  <a:noFill/>
                </a:ln>
                <a:solidFill>
                  <a:srgbClr val="0000CC"/>
                </a:solidFill>
                <a:effectLst/>
                <a:uLnTx/>
                <a:uFillTx/>
                <a:latin typeface="Arial" charset="0"/>
                <a:cs typeface="Arial" charset="0"/>
              </a:rPr>
              <a:t>.</a:t>
            </a:r>
          </a:p>
        </p:txBody>
      </p:sp>
      <p:cxnSp>
        <p:nvCxnSpPr>
          <p:cNvPr id="68" name="Straight Arrow Connector 67"/>
          <p:cNvCxnSpPr>
            <a:cxnSpLocks noChangeShapeType="1"/>
            <a:stCxn id="67" idx="1"/>
          </p:cNvCxnSpPr>
          <p:nvPr/>
        </p:nvCxnSpPr>
        <p:spPr bwMode="auto">
          <a:xfrm flipH="1">
            <a:off x="3962400" y="5562015"/>
            <a:ext cx="685800" cy="8523"/>
          </a:xfrm>
          <a:prstGeom prst="straightConnector1">
            <a:avLst/>
          </a:prstGeom>
          <a:noFill/>
          <a:ln w="38100">
            <a:solidFill>
              <a:srgbClr val="0000CC"/>
            </a:solidFill>
            <a:round/>
            <a:headEnd/>
            <a:tailEnd type="arrow" w="med" len="med"/>
          </a:ln>
          <a:extLst>
            <a:ext uri="{909E8E84-426E-40DD-AFC4-6F175D3DCCD1}">
              <a14:hiddenFill xmlns:a14="http://schemas.microsoft.com/office/drawing/2010/main">
                <a:noFill/>
              </a14:hiddenFill>
            </a:ext>
          </a:extLst>
        </p:spPr>
      </p:cxnSp>
      <p:sp>
        <p:nvSpPr>
          <p:cNvPr id="71" name="TextBox 70"/>
          <p:cNvSpPr txBox="1">
            <a:spLocks noChangeArrowheads="1"/>
          </p:cNvSpPr>
          <p:nvPr/>
        </p:nvSpPr>
        <p:spPr bwMode="auto">
          <a:xfrm>
            <a:off x="4648200" y="4343400"/>
            <a:ext cx="1371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lang="en-US" altLang="en-US" sz="1600" b="1" dirty="0">
                <a:solidFill>
                  <a:srgbClr val="FF0000"/>
                </a:solidFill>
              </a:rPr>
              <a:t>Not Select</a:t>
            </a:r>
          </a:p>
        </p:txBody>
      </p:sp>
      <p:cxnSp>
        <p:nvCxnSpPr>
          <p:cNvPr id="72" name="Straight Arrow Connector 71"/>
          <p:cNvCxnSpPr>
            <a:cxnSpLocks noChangeShapeType="1"/>
          </p:cNvCxnSpPr>
          <p:nvPr/>
        </p:nvCxnSpPr>
        <p:spPr bwMode="auto">
          <a:xfrm rot="10800000" flipV="1">
            <a:off x="4038600" y="4508500"/>
            <a:ext cx="685800" cy="7938"/>
          </a:xfrm>
          <a:prstGeom prst="straightConnector1">
            <a:avLst/>
          </a:prstGeom>
          <a:noFill/>
          <a:ln w="381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73" name="TextBox 72"/>
          <p:cNvSpPr txBox="1">
            <a:spLocks noChangeArrowheads="1"/>
          </p:cNvSpPr>
          <p:nvPr/>
        </p:nvSpPr>
        <p:spPr bwMode="auto">
          <a:xfrm>
            <a:off x="4648200" y="4724400"/>
            <a:ext cx="1524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lvl="0" algn="ctr" eaLnBrk="1" hangingPunct="1">
              <a:spcBef>
                <a:spcPct val="50000"/>
              </a:spcBef>
              <a:buClrTx/>
              <a:buSzTx/>
              <a:buNone/>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Not </a:t>
            </a:r>
            <a:r>
              <a:rPr lang="en-US" altLang="en-US" sz="1600" b="1" dirty="0">
                <a:solidFill>
                  <a:srgbClr val="FF0000"/>
                </a:solidFill>
              </a:rPr>
              <a:t>Select</a:t>
            </a:r>
          </a:p>
        </p:txBody>
      </p:sp>
      <p:cxnSp>
        <p:nvCxnSpPr>
          <p:cNvPr id="74" name="Straight Arrow Connector 73"/>
          <p:cNvCxnSpPr>
            <a:cxnSpLocks noChangeShapeType="1"/>
          </p:cNvCxnSpPr>
          <p:nvPr/>
        </p:nvCxnSpPr>
        <p:spPr bwMode="auto">
          <a:xfrm rot="10800000" flipV="1">
            <a:off x="4038600" y="4876800"/>
            <a:ext cx="762000" cy="0"/>
          </a:xfrm>
          <a:prstGeom prst="straightConnector1">
            <a:avLst/>
          </a:prstGeom>
          <a:noFill/>
          <a:ln w="38100">
            <a:solidFill>
              <a:srgbClr val="FF0000"/>
            </a:solidFill>
            <a:round/>
            <a:headEnd/>
            <a:tailEnd type="arrow" w="med" len="med"/>
          </a:ln>
          <a:extLst>
            <a:ext uri="{909E8E84-426E-40DD-AFC4-6F175D3DCCD1}">
              <a14:hiddenFill xmlns:a14="http://schemas.microsoft.com/office/drawing/2010/main">
                <a:noFill/>
              </a14:hiddenFill>
            </a:ext>
          </a:extLst>
        </p:spPr>
      </p:cxnSp>
      <p:sp>
        <p:nvSpPr>
          <p:cNvPr id="3" name="Rectangle 5">
            <a:extLst>
              <a:ext uri="{FF2B5EF4-FFF2-40B4-BE49-F238E27FC236}">
                <a16:creationId xmlns:a16="http://schemas.microsoft.com/office/drawing/2014/main" id="{8B00F663-E23C-AF03-FEC2-FFD12A27E4F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4" name="Rectangle 3">
            <a:extLst>
              <a:ext uri="{FF2B5EF4-FFF2-40B4-BE49-F238E27FC236}">
                <a16:creationId xmlns:a16="http://schemas.microsoft.com/office/drawing/2014/main" id="{DEB28C7B-F107-5D39-EBA8-2A334EFDD9F6}"/>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74</a:t>
            </a:r>
            <a:endParaRPr lang="en-US" dirty="0"/>
          </a:p>
        </p:txBody>
      </p:sp>
    </p:spTree>
    <p:extLst>
      <p:ext uri="{BB962C8B-B14F-4D97-AF65-F5344CB8AC3E}">
        <p14:creationId xmlns:p14="http://schemas.microsoft.com/office/powerpoint/2010/main" val="785494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ox(in)">
                                      <p:cBhvr>
                                        <p:cTn id="7" dur="500"/>
                                        <p:tgtEl>
                                          <p:spTgt spid="40"/>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box(in)">
                                      <p:cBhvr>
                                        <p:cTn id="10" dur="500"/>
                                        <p:tgtEl>
                                          <p:spTgt spid="41"/>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box(in)">
                                      <p:cBhvr>
                                        <p:cTn id="13" dur="500"/>
                                        <p:tgtEl>
                                          <p:spTgt spid="42"/>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box(in)">
                                      <p:cBhvr>
                                        <p:cTn id="16" dur="500"/>
                                        <p:tgtEl>
                                          <p:spTgt spid="43"/>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box(in)">
                                      <p:cBhvr>
                                        <p:cTn id="19" dur="500"/>
                                        <p:tgtEl>
                                          <p:spTgt spid="54"/>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box(in)">
                                      <p:cBhvr>
                                        <p:cTn id="22" dur="500"/>
                                        <p:tgtEl>
                                          <p:spTgt spid="5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58"/>
                                        </p:tgtEl>
                                        <p:attrNameLst>
                                          <p:attrName>style.visibility</p:attrName>
                                        </p:attrNameLst>
                                      </p:cBhvr>
                                      <p:to>
                                        <p:strVal val="visible"/>
                                      </p:to>
                                    </p:set>
                                    <p:animEffect transition="in" filter="box(in)">
                                      <p:cBhvr>
                                        <p:cTn id="27" dur="500"/>
                                        <p:tgtEl>
                                          <p:spTgt spid="58"/>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box(in)">
                                      <p:cBhvr>
                                        <p:cTn id="30" dur="500"/>
                                        <p:tgtEl>
                                          <p:spTgt spid="5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box(in)">
                                      <p:cBhvr>
                                        <p:cTn id="35" dur="500"/>
                                        <p:tgtEl>
                                          <p:spTgt spid="35"/>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box(in)">
                                      <p:cBhvr>
                                        <p:cTn id="38" dur="500"/>
                                        <p:tgtEl>
                                          <p:spTgt spid="3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box(in)">
                                      <p:cBhvr>
                                        <p:cTn id="43" dur="500"/>
                                        <p:tgtEl>
                                          <p:spTgt spid="62"/>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box(in)">
                                      <p:cBhvr>
                                        <p:cTn id="46" dur="500"/>
                                        <p:tgtEl>
                                          <p:spTgt spid="6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grpId="0" nodeType="click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box(in)">
                                      <p:cBhvr>
                                        <p:cTn id="51" dur="500"/>
                                        <p:tgtEl>
                                          <p:spTgt spid="37"/>
                                        </p:tgtEl>
                                      </p:cBhvr>
                                    </p:animEffect>
                                  </p:childTnLst>
                                </p:cTn>
                              </p:par>
                              <p:par>
                                <p:cTn id="52" presetID="4" presetClass="entr" presetSubtype="16" fill="hold" grpId="0" nodeType="withEffect">
                                  <p:stCondLst>
                                    <p:cond delay="0"/>
                                  </p:stCondLst>
                                  <p:childTnLst>
                                    <p:set>
                                      <p:cBhvr>
                                        <p:cTn id="53" dur="1" fill="hold">
                                          <p:stCondLst>
                                            <p:cond delay="0"/>
                                          </p:stCondLst>
                                        </p:cTn>
                                        <p:tgtEl>
                                          <p:spTgt spid="32"/>
                                        </p:tgtEl>
                                        <p:attrNameLst>
                                          <p:attrName>style.visibility</p:attrName>
                                        </p:attrNameLst>
                                      </p:cBhvr>
                                      <p:to>
                                        <p:strVal val="visible"/>
                                      </p:to>
                                    </p:set>
                                    <p:animEffect transition="in" filter="box(in)">
                                      <p:cBhvr>
                                        <p:cTn id="54" dur="500"/>
                                        <p:tgtEl>
                                          <p:spTgt spid="3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4" presetClass="entr" presetSubtype="16" fill="hold" nodeType="click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box(in)">
                                      <p:cBhvr>
                                        <p:cTn id="59" dur="500"/>
                                        <p:tgtEl>
                                          <p:spTgt spid="64"/>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box(in)">
                                      <p:cBhvr>
                                        <p:cTn id="62" dur="500"/>
                                        <p:tgtEl>
                                          <p:spTgt spid="6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box(in)">
                                      <p:cBhvr>
                                        <p:cTn id="67" dur="500"/>
                                        <p:tgtEl>
                                          <p:spTgt spid="36"/>
                                        </p:tgtEl>
                                      </p:cBhvr>
                                    </p:animEffect>
                                  </p:childTnLst>
                                </p:cTn>
                              </p:par>
                              <p:par>
                                <p:cTn id="68" presetID="4" presetClass="entr" presetSubtype="16"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box(in)">
                                      <p:cBhvr>
                                        <p:cTn id="70" dur="500"/>
                                        <p:tgtEl>
                                          <p:spTgt spid="3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4" presetClass="entr" presetSubtype="16" fill="hold" nodeType="clickEffect">
                                  <p:stCondLst>
                                    <p:cond delay="0"/>
                                  </p:stCondLst>
                                  <p:childTnLst>
                                    <p:set>
                                      <p:cBhvr>
                                        <p:cTn id="74" dur="1" fill="hold">
                                          <p:stCondLst>
                                            <p:cond delay="0"/>
                                          </p:stCondLst>
                                        </p:cTn>
                                        <p:tgtEl>
                                          <p:spTgt spid="72"/>
                                        </p:tgtEl>
                                        <p:attrNameLst>
                                          <p:attrName>style.visibility</p:attrName>
                                        </p:attrNameLst>
                                      </p:cBhvr>
                                      <p:to>
                                        <p:strVal val="visible"/>
                                      </p:to>
                                    </p:set>
                                    <p:animEffect transition="in" filter="box(in)">
                                      <p:cBhvr>
                                        <p:cTn id="75" dur="500"/>
                                        <p:tgtEl>
                                          <p:spTgt spid="72"/>
                                        </p:tgtEl>
                                      </p:cBhvr>
                                    </p:animEffect>
                                  </p:childTnLst>
                                </p:cTn>
                              </p:par>
                              <p:par>
                                <p:cTn id="76" presetID="4" presetClass="entr" presetSubtype="16" fill="hold" grpId="0" nodeType="withEffect">
                                  <p:stCondLst>
                                    <p:cond delay="0"/>
                                  </p:stCondLst>
                                  <p:childTnLst>
                                    <p:set>
                                      <p:cBhvr>
                                        <p:cTn id="77" dur="1" fill="hold">
                                          <p:stCondLst>
                                            <p:cond delay="0"/>
                                          </p:stCondLst>
                                        </p:cTn>
                                        <p:tgtEl>
                                          <p:spTgt spid="71"/>
                                        </p:tgtEl>
                                        <p:attrNameLst>
                                          <p:attrName>style.visibility</p:attrName>
                                        </p:attrNameLst>
                                      </p:cBhvr>
                                      <p:to>
                                        <p:strVal val="visible"/>
                                      </p:to>
                                    </p:set>
                                    <p:animEffect transition="in" filter="box(in)">
                                      <p:cBhvr>
                                        <p:cTn id="78" dur="500"/>
                                        <p:tgtEl>
                                          <p:spTgt spid="7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16" fill="hold" nodeType="clickEffect">
                                  <p:stCondLst>
                                    <p:cond delay="0"/>
                                  </p:stCondLst>
                                  <p:childTnLst>
                                    <p:set>
                                      <p:cBhvr>
                                        <p:cTn id="82" dur="1" fill="hold">
                                          <p:stCondLst>
                                            <p:cond delay="0"/>
                                          </p:stCondLst>
                                        </p:cTn>
                                        <p:tgtEl>
                                          <p:spTgt spid="74"/>
                                        </p:tgtEl>
                                        <p:attrNameLst>
                                          <p:attrName>style.visibility</p:attrName>
                                        </p:attrNameLst>
                                      </p:cBhvr>
                                      <p:to>
                                        <p:strVal val="visible"/>
                                      </p:to>
                                    </p:set>
                                    <p:animEffect transition="in" filter="box(in)">
                                      <p:cBhvr>
                                        <p:cTn id="83" dur="500"/>
                                        <p:tgtEl>
                                          <p:spTgt spid="74"/>
                                        </p:tgtEl>
                                      </p:cBhvr>
                                    </p:animEffect>
                                  </p:childTnLst>
                                </p:cTn>
                              </p:par>
                              <p:par>
                                <p:cTn id="84" presetID="4" presetClass="entr" presetSubtype="16" fill="hold" grpId="0" nodeType="withEffect">
                                  <p:stCondLst>
                                    <p:cond delay="0"/>
                                  </p:stCondLst>
                                  <p:childTnLst>
                                    <p:set>
                                      <p:cBhvr>
                                        <p:cTn id="85" dur="1" fill="hold">
                                          <p:stCondLst>
                                            <p:cond delay="0"/>
                                          </p:stCondLst>
                                        </p:cTn>
                                        <p:tgtEl>
                                          <p:spTgt spid="73"/>
                                        </p:tgtEl>
                                        <p:attrNameLst>
                                          <p:attrName>style.visibility</p:attrName>
                                        </p:attrNameLst>
                                      </p:cBhvr>
                                      <p:to>
                                        <p:strVal val="visible"/>
                                      </p:to>
                                    </p:set>
                                    <p:animEffect transition="in" filter="box(in)">
                                      <p:cBhvr>
                                        <p:cTn id="86" dur="500"/>
                                        <p:tgtEl>
                                          <p:spTgt spid="7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4" presetClass="entr" presetSubtype="16" fill="hold" nodeType="clickEffect">
                                  <p:stCondLst>
                                    <p:cond delay="0"/>
                                  </p:stCondLst>
                                  <p:childTnLst>
                                    <p:set>
                                      <p:cBhvr>
                                        <p:cTn id="90" dur="1" fill="hold">
                                          <p:stCondLst>
                                            <p:cond delay="0"/>
                                          </p:stCondLst>
                                        </p:cTn>
                                        <p:tgtEl>
                                          <p:spTgt spid="66"/>
                                        </p:tgtEl>
                                        <p:attrNameLst>
                                          <p:attrName>style.visibility</p:attrName>
                                        </p:attrNameLst>
                                      </p:cBhvr>
                                      <p:to>
                                        <p:strVal val="visible"/>
                                      </p:to>
                                    </p:set>
                                    <p:animEffect transition="in" filter="box(in)">
                                      <p:cBhvr>
                                        <p:cTn id="91" dur="500"/>
                                        <p:tgtEl>
                                          <p:spTgt spid="66"/>
                                        </p:tgtEl>
                                      </p:cBhvr>
                                    </p:animEffect>
                                  </p:childTnLst>
                                </p:cTn>
                              </p:par>
                              <p:par>
                                <p:cTn id="92" presetID="4" presetClass="entr" presetSubtype="16" fill="hold" grpId="0" nodeType="withEffect">
                                  <p:stCondLst>
                                    <p:cond delay="0"/>
                                  </p:stCondLst>
                                  <p:childTnLst>
                                    <p:set>
                                      <p:cBhvr>
                                        <p:cTn id="93" dur="1" fill="hold">
                                          <p:stCondLst>
                                            <p:cond delay="0"/>
                                          </p:stCondLst>
                                        </p:cTn>
                                        <p:tgtEl>
                                          <p:spTgt spid="65"/>
                                        </p:tgtEl>
                                        <p:attrNameLst>
                                          <p:attrName>style.visibility</p:attrName>
                                        </p:attrNameLst>
                                      </p:cBhvr>
                                      <p:to>
                                        <p:strVal val="visible"/>
                                      </p:to>
                                    </p:set>
                                    <p:animEffect transition="in" filter="box(in)">
                                      <p:cBhvr>
                                        <p:cTn id="94" dur="500"/>
                                        <p:tgtEl>
                                          <p:spTgt spid="65"/>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4" presetClass="entr" presetSubtype="16" fill="hold" grpId="0" nodeType="click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box(in)">
                                      <p:cBhvr>
                                        <p:cTn id="99" dur="500"/>
                                        <p:tgtEl>
                                          <p:spTgt spid="39"/>
                                        </p:tgtEl>
                                      </p:cBhvr>
                                    </p:animEffect>
                                  </p:childTnLst>
                                </p:cTn>
                              </p:par>
                              <p:par>
                                <p:cTn id="100" presetID="4" presetClass="entr" presetSubtype="16"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box(in)">
                                      <p:cBhvr>
                                        <p:cTn id="102" dur="500"/>
                                        <p:tgtEl>
                                          <p:spTgt spid="3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4" presetClass="entr" presetSubtype="16" fill="hold" nodeType="clickEffect">
                                  <p:stCondLst>
                                    <p:cond delay="0"/>
                                  </p:stCondLst>
                                  <p:childTnLst>
                                    <p:set>
                                      <p:cBhvr>
                                        <p:cTn id="106" dur="1" fill="hold">
                                          <p:stCondLst>
                                            <p:cond delay="0"/>
                                          </p:stCondLst>
                                        </p:cTn>
                                        <p:tgtEl>
                                          <p:spTgt spid="68"/>
                                        </p:tgtEl>
                                        <p:attrNameLst>
                                          <p:attrName>style.visibility</p:attrName>
                                        </p:attrNameLst>
                                      </p:cBhvr>
                                      <p:to>
                                        <p:strVal val="visible"/>
                                      </p:to>
                                    </p:set>
                                    <p:animEffect transition="in" filter="box(in)">
                                      <p:cBhvr>
                                        <p:cTn id="107" dur="500"/>
                                        <p:tgtEl>
                                          <p:spTgt spid="68"/>
                                        </p:tgtEl>
                                      </p:cBhvr>
                                    </p:animEffect>
                                  </p:childTnLst>
                                </p:cTn>
                              </p:par>
                              <p:par>
                                <p:cTn id="108" presetID="4" presetClass="entr" presetSubtype="16" fill="hold" grpId="0" nodeType="withEffect">
                                  <p:stCondLst>
                                    <p:cond delay="0"/>
                                  </p:stCondLst>
                                  <p:childTnLst>
                                    <p:set>
                                      <p:cBhvr>
                                        <p:cTn id="109" dur="1" fill="hold">
                                          <p:stCondLst>
                                            <p:cond delay="0"/>
                                          </p:stCondLst>
                                        </p:cTn>
                                        <p:tgtEl>
                                          <p:spTgt spid="67"/>
                                        </p:tgtEl>
                                        <p:attrNameLst>
                                          <p:attrName>style.visibility</p:attrName>
                                        </p:attrNameLst>
                                      </p:cBhvr>
                                      <p:to>
                                        <p:strVal val="visible"/>
                                      </p:to>
                                    </p:set>
                                    <p:animEffect transition="in" filter="box(in)">
                                      <p:cBhvr>
                                        <p:cTn id="110" dur="500"/>
                                        <p:tgtEl>
                                          <p:spTgt spid="67"/>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4" presetClass="entr" presetSubtype="16"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box(in)">
                                      <p:cBhvr>
                                        <p:cTn id="115" dur="500"/>
                                        <p:tgtEl>
                                          <p:spTgt spid="31"/>
                                        </p:tgtEl>
                                      </p:cBhvr>
                                    </p:animEffect>
                                  </p:childTnLst>
                                </p:cTn>
                              </p:par>
                              <p:par>
                                <p:cTn id="116" presetID="4" presetClass="entr" presetSubtype="16" fill="hold" grpId="0" nodeType="withEffect">
                                  <p:stCondLst>
                                    <p:cond delay="0"/>
                                  </p:stCondLst>
                                  <p:childTnLst>
                                    <p:set>
                                      <p:cBhvr>
                                        <p:cTn id="117" dur="1" fill="hold">
                                          <p:stCondLst>
                                            <p:cond delay="0"/>
                                          </p:stCondLst>
                                        </p:cTn>
                                        <p:tgtEl>
                                          <p:spTgt spid="38"/>
                                        </p:tgtEl>
                                        <p:attrNameLst>
                                          <p:attrName>style.visibility</p:attrName>
                                        </p:attrNameLst>
                                      </p:cBhvr>
                                      <p:to>
                                        <p:strVal val="visible"/>
                                      </p:to>
                                    </p:set>
                                    <p:animEffect transition="in" filter="box(in)">
                                      <p:cBhvr>
                                        <p:cTn id="11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6" grpId="0"/>
      <p:bldP spid="37" grpId="0"/>
      <p:bldP spid="38" grpId="0"/>
      <p:bldP spid="39" grpId="0"/>
      <p:bldP spid="40" grpId="0"/>
      <p:bldP spid="41" grpId="0"/>
      <p:bldP spid="42" grpId="0"/>
      <p:bldP spid="43" grpId="0"/>
      <p:bldP spid="53" grpId="0"/>
      <p:bldP spid="54" grpId="0"/>
      <p:bldP spid="56" grpId="0"/>
      <p:bldP spid="61" grpId="0"/>
      <p:bldP spid="63" grpId="0"/>
      <p:bldP spid="65" grpId="0"/>
      <p:bldP spid="67" grpId="0"/>
      <p:bldP spid="71" grpId="0"/>
      <p:bldP spid="7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C1676C34-ED54-F031-DC20-2917A29F06A7}"/>
              </a:ext>
            </a:extLst>
          </p:cNvPr>
          <p:cNvPicPr>
            <a:picLocks noChangeAspect="1"/>
          </p:cNvPicPr>
          <p:nvPr/>
        </p:nvPicPr>
        <p:blipFill>
          <a:blip r:embed="rId3"/>
          <a:stretch>
            <a:fillRect/>
          </a:stretch>
        </p:blipFill>
        <p:spPr>
          <a:xfrm>
            <a:off x="0" y="13719"/>
            <a:ext cx="9144000" cy="6857143"/>
          </a:xfrm>
          <a:prstGeom prst="rect">
            <a:avLst/>
          </a:prstGeom>
        </p:spPr>
      </p:pic>
      <p:sp>
        <p:nvSpPr>
          <p:cNvPr id="7" name="Rectangle 6">
            <a:extLst>
              <a:ext uri="{FF2B5EF4-FFF2-40B4-BE49-F238E27FC236}">
                <a16:creationId xmlns:a16="http://schemas.microsoft.com/office/drawing/2014/main" id="{D6CDF724-3CC8-95CA-615D-48026EAB123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75</a:t>
            </a:r>
            <a:endParaRPr lang="en-US" dirty="0"/>
          </a:p>
        </p:txBody>
      </p:sp>
      <p:sp>
        <p:nvSpPr>
          <p:cNvPr id="11" name="Rectangle 5">
            <a:extLst>
              <a:ext uri="{FF2B5EF4-FFF2-40B4-BE49-F238E27FC236}">
                <a16:creationId xmlns:a16="http://schemas.microsoft.com/office/drawing/2014/main" id="{39A209D4-0EF9-B083-454F-C348E845D301}"/>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30" name="TextBox 8">
            <a:extLst>
              <a:ext uri="{FF2B5EF4-FFF2-40B4-BE49-F238E27FC236}">
                <a16:creationId xmlns:a16="http://schemas.microsoft.com/office/drawing/2014/main" id="{3BFE4A34-3B4C-BF27-619D-49657B4FE0B0}"/>
              </a:ext>
            </a:extLst>
          </p:cNvPr>
          <p:cNvSpPr txBox="1">
            <a:spLocks noChangeArrowheads="1"/>
          </p:cNvSpPr>
          <p:nvPr/>
        </p:nvSpPr>
        <p:spPr bwMode="auto">
          <a:xfrm>
            <a:off x="0" y="700089"/>
            <a:ext cx="9144000" cy="4096699"/>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6.3.3. Minimal spanning tree</a:t>
            </a:r>
            <a:r>
              <a:rPr lang="en-US" sz="1900" dirty="0">
                <a:solidFill>
                  <a:schemeClr val="tx2"/>
                </a:solidFill>
                <a:latin typeface="Times New Roman" pitchFamily="18" charset="0"/>
                <a:cs typeface="Times New Roman" pitchFamily="18" charset="0"/>
              </a:rPr>
              <a:t>:</a:t>
            </a:r>
          </a:p>
          <a:p>
            <a:pPr algn="just">
              <a:lnSpc>
                <a:spcPct val="200000"/>
              </a:lnSpc>
              <a:defRPr/>
            </a:pPr>
            <a:r>
              <a:rPr lang="en-US" altLang="en-US" sz="1900" b="1" dirty="0">
                <a:solidFill>
                  <a:schemeClr val="tx2"/>
                </a:solidFill>
                <a:latin typeface="Times New Roman" pitchFamily="18" charset="0"/>
                <a:cs typeface="Times New Roman" pitchFamily="18" charset="0"/>
              </a:rPr>
              <a:t>Prim</a:t>
            </a:r>
            <a:r>
              <a:rPr lang="en-US" sz="1900" b="1" dirty="0">
                <a:solidFill>
                  <a:schemeClr val="tx2"/>
                </a:solidFill>
                <a:latin typeface="Times New Roman" pitchFamily="18" charset="0"/>
                <a:cs typeface="Times New Roman" pitchFamily="18" charset="0"/>
              </a:rPr>
              <a:t> Algorithm</a:t>
            </a:r>
            <a:r>
              <a:rPr lang="en-US" sz="1900" dirty="0">
                <a:solidFill>
                  <a:schemeClr val="tx2"/>
                </a:solidFill>
                <a:latin typeface="Times New Roman" pitchFamily="18" charset="0"/>
                <a:cs typeface="Times New Roman" pitchFamily="18" charset="0"/>
              </a:rPr>
              <a: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Starting from any vertex. Put this vertex in the T-frame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At each step, always choose the least weighted edge among the edges that adjacency</a:t>
            </a:r>
            <a:r>
              <a:rPr lang="en-US" sz="2000" b="0" i="1" dirty="0">
                <a:solidFill>
                  <a:srgbClr val="202122"/>
                </a:solidFill>
                <a:effectLst/>
                <a:latin typeface="Arial" panose="020B0604020202020204" pitchFamily="34" charset="0"/>
              </a:rPr>
              <a:t> </a:t>
            </a:r>
            <a:r>
              <a:rPr lang="en-US" sz="1900" dirty="0">
                <a:solidFill>
                  <a:schemeClr val="tx2"/>
                </a:solidFill>
                <a:latin typeface="Times New Roman" pitchFamily="18" charset="0"/>
                <a:cs typeface="Times New Roman" pitchFamily="18" charset="0"/>
              </a:rPr>
              <a:t> to a vertex in T (the other vertex is outside T).</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Insert the newly selected edge and its vertex into the T tree</a:t>
            </a:r>
          </a:p>
          <a:p>
            <a:pPr marL="342900" indent="-342900" algn="just">
              <a:lnSpc>
                <a:spcPct val="200000"/>
              </a:lnSpc>
              <a:buFont typeface="Arial" panose="020B0604020202020204" pitchFamily="34" charset="0"/>
              <a:buChar char="•"/>
              <a:defRPr/>
            </a:pPr>
            <a:r>
              <a:rPr lang="en-US" sz="1900" dirty="0">
                <a:solidFill>
                  <a:schemeClr val="tx2"/>
                </a:solidFill>
                <a:latin typeface="Times New Roman" pitchFamily="18" charset="0"/>
                <a:cs typeface="Times New Roman" pitchFamily="18" charset="0"/>
              </a:rPr>
              <a:t>Repeat the above process until enough n-1 edges are included in T</a:t>
            </a:r>
          </a:p>
        </p:txBody>
      </p:sp>
      <p:sp>
        <p:nvSpPr>
          <p:cNvPr id="3" name="AutoShape 2" descr="{\displaystyle \deg(v)=\deg ^{+}(v)+\deg ^{-}(v)}">
            <a:extLst>
              <a:ext uri="{FF2B5EF4-FFF2-40B4-BE49-F238E27FC236}">
                <a16:creationId xmlns:a16="http://schemas.microsoft.com/office/drawing/2014/main" id="{9820C075-74D6-A49C-8397-9D1E3F4F289E}"/>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isplaystyle \deg(v)=\deg ^{+}(v)+\deg ^{-}(v)}">
            <a:extLst>
              <a:ext uri="{FF2B5EF4-FFF2-40B4-BE49-F238E27FC236}">
                <a16:creationId xmlns:a16="http://schemas.microsoft.com/office/drawing/2014/main" id="{05BF3CBA-0359-44B7-1FAE-F36283C45FC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368374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36C8AB1C-5C18-C26F-A74C-2B30A7F5B8AD}"/>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8C793E6-C206-7006-7A52-543A73FECC07}"/>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18198DE7-7391-E16F-B07F-B32D32980310}"/>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76</a:t>
            </a:r>
            <a:endParaRPr lang="en-US" dirty="0"/>
          </a:p>
        </p:txBody>
      </p:sp>
      <p:pic>
        <p:nvPicPr>
          <p:cNvPr id="430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6950" y="1219200"/>
            <a:ext cx="451485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Box 7"/>
          <p:cNvSpPr txBox="1">
            <a:spLocks noChangeArrowheads="1"/>
          </p:cNvSpPr>
          <p:nvPr/>
        </p:nvSpPr>
        <p:spPr bwMode="auto">
          <a:xfrm>
            <a:off x="2876550" y="16113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17" name="TextBox 8"/>
          <p:cNvSpPr txBox="1">
            <a:spLocks noChangeArrowheads="1"/>
          </p:cNvSpPr>
          <p:nvPr/>
        </p:nvSpPr>
        <p:spPr bwMode="auto">
          <a:xfrm>
            <a:off x="2647950" y="2590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18" name="TextBox 9"/>
          <p:cNvSpPr txBox="1">
            <a:spLocks noChangeArrowheads="1"/>
          </p:cNvSpPr>
          <p:nvPr/>
        </p:nvSpPr>
        <p:spPr bwMode="auto">
          <a:xfrm>
            <a:off x="3105150" y="2144713"/>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19" name="TextBox 10"/>
          <p:cNvSpPr txBox="1">
            <a:spLocks noChangeArrowheads="1"/>
          </p:cNvSpPr>
          <p:nvPr/>
        </p:nvSpPr>
        <p:spPr bwMode="auto">
          <a:xfrm>
            <a:off x="3790950" y="1778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0" name="TextBox 11"/>
          <p:cNvSpPr txBox="1">
            <a:spLocks noChangeArrowheads="1"/>
          </p:cNvSpPr>
          <p:nvPr/>
        </p:nvSpPr>
        <p:spPr bwMode="auto">
          <a:xfrm>
            <a:off x="3790950" y="2679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1" name="TextBox 12"/>
          <p:cNvSpPr txBox="1">
            <a:spLocks noChangeArrowheads="1"/>
          </p:cNvSpPr>
          <p:nvPr/>
        </p:nvSpPr>
        <p:spPr bwMode="auto">
          <a:xfrm>
            <a:off x="4248150" y="1066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20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2" name="TextBox 13"/>
          <p:cNvSpPr txBox="1">
            <a:spLocks noChangeArrowheads="1"/>
          </p:cNvSpPr>
          <p:nvPr/>
        </p:nvSpPr>
        <p:spPr bwMode="auto">
          <a:xfrm>
            <a:off x="4552950" y="1600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3" name="TextBox 14"/>
          <p:cNvSpPr txBox="1">
            <a:spLocks noChangeArrowheads="1"/>
          </p:cNvSpPr>
          <p:nvPr/>
        </p:nvSpPr>
        <p:spPr bwMode="auto">
          <a:xfrm>
            <a:off x="5695950" y="1371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43024" name="TextBox 15"/>
          <p:cNvSpPr txBox="1">
            <a:spLocks noChangeArrowheads="1"/>
          </p:cNvSpPr>
          <p:nvPr/>
        </p:nvSpPr>
        <p:spPr bwMode="auto">
          <a:xfrm>
            <a:off x="5086350" y="175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
        <p:nvSpPr>
          <p:cNvPr id="17" name="Oval 16"/>
          <p:cNvSpPr>
            <a:spLocks noChangeArrowheads="1"/>
          </p:cNvSpPr>
          <p:nvPr/>
        </p:nvSpPr>
        <p:spPr bwMode="auto">
          <a:xfrm>
            <a:off x="32004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8" name="Oval 17"/>
          <p:cNvSpPr>
            <a:spLocks noChangeArrowheads="1"/>
          </p:cNvSpPr>
          <p:nvPr/>
        </p:nvSpPr>
        <p:spPr bwMode="auto">
          <a:xfrm>
            <a:off x="2438400" y="51816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9" name="Oval 18"/>
          <p:cNvSpPr>
            <a:spLocks noChangeArrowheads="1"/>
          </p:cNvSpPr>
          <p:nvPr/>
        </p:nvSpPr>
        <p:spPr bwMode="auto">
          <a:xfrm>
            <a:off x="2743200" y="61722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0" name="Oval 19"/>
          <p:cNvSpPr>
            <a:spLocks noChangeArrowheads="1"/>
          </p:cNvSpPr>
          <p:nvPr/>
        </p:nvSpPr>
        <p:spPr bwMode="auto">
          <a:xfrm>
            <a:off x="4953000" y="43434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1" name="Oval 20"/>
          <p:cNvSpPr>
            <a:spLocks noChangeArrowheads="1"/>
          </p:cNvSpPr>
          <p:nvPr/>
        </p:nvSpPr>
        <p:spPr bwMode="auto">
          <a:xfrm>
            <a:off x="4267200" y="53340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2" name="Oval 21"/>
          <p:cNvSpPr>
            <a:spLocks noChangeArrowheads="1"/>
          </p:cNvSpPr>
          <p:nvPr/>
        </p:nvSpPr>
        <p:spPr bwMode="auto">
          <a:xfrm>
            <a:off x="5867400" y="4876800"/>
            <a:ext cx="152400" cy="152400"/>
          </a:xfrm>
          <a:prstGeom prst="ellipse">
            <a:avLst/>
          </a:prstGeom>
          <a:solidFill>
            <a:srgbClr val="00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3" name="TextBox 22"/>
          <p:cNvSpPr txBox="1">
            <a:spLocks noChangeArrowheads="1"/>
          </p:cNvSpPr>
          <p:nvPr/>
        </p:nvSpPr>
        <p:spPr bwMode="auto">
          <a:xfrm>
            <a:off x="2743200" y="4005263"/>
            <a:ext cx="990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Etna</a:t>
            </a:r>
          </a:p>
        </p:txBody>
      </p:sp>
      <p:sp>
        <p:nvSpPr>
          <p:cNvPr id="24" name="TextBox 23"/>
          <p:cNvSpPr txBox="1">
            <a:spLocks noChangeArrowheads="1"/>
          </p:cNvSpPr>
          <p:nvPr/>
        </p:nvSpPr>
        <p:spPr bwMode="auto">
          <a:xfrm>
            <a:off x="4419600" y="4038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Oldtown</a:t>
            </a:r>
          </a:p>
        </p:txBody>
      </p:sp>
      <p:sp>
        <p:nvSpPr>
          <p:cNvPr id="25" name="TextBox 24"/>
          <p:cNvSpPr txBox="1">
            <a:spLocks noChangeArrowheads="1"/>
          </p:cNvSpPr>
          <p:nvPr/>
        </p:nvSpPr>
        <p:spPr bwMode="auto">
          <a:xfrm>
            <a:off x="5791200" y="4767263"/>
            <a:ext cx="1219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Orono</a:t>
            </a:r>
          </a:p>
        </p:txBody>
      </p:sp>
      <p:sp>
        <p:nvSpPr>
          <p:cNvPr id="26" name="TextBox 25"/>
          <p:cNvSpPr txBox="1">
            <a:spLocks noChangeArrowheads="1"/>
          </p:cNvSpPr>
          <p:nvPr/>
        </p:nvSpPr>
        <p:spPr bwMode="auto">
          <a:xfrm>
            <a:off x="4038600" y="54864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Bangor</a:t>
            </a:r>
          </a:p>
        </p:txBody>
      </p:sp>
      <p:sp>
        <p:nvSpPr>
          <p:cNvPr id="27" name="TextBox 26"/>
          <p:cNvSpPr txBox="1">
            <a:spLocks noChangeArrowheads="1"/>
          </p:cNvSpPr>
          <p:nvPr/>
        </p:nvSpPr>
        <p:spPr bwMode="auto">
          <a:xfrm>
            <a:off x="2895600" y="6163392"/>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dirty="0">
                <a:ln>
                  <a:noFill/>
                </a:ln>
                <a:solidFill>
                  <a:srgbClr val="FF0000"/>
                </a:solidFill>
                <a:effectLst/>
                <a:uLnTx/>
                <a:uFillTx/>
                <a:latin typeface="Arial" charset="0"/>
                <a:cs typeface="Arial" charset="0"/>
              </a:rPr>
              <a:t>Hampden</a:t>
            </a:r>
          </a:p>
        </p:txBody>
      </p:sp>
      <p:sp>
        <p:nvSpPr>
          <p:cNvPr id="28" name="TextBox 27"/>
          <p:cNvSpPr txBox="1">
            <a:spLocks noChangeArrowheads="1"/>
          </p:cNvSpPr>
          <p:nvPr/>
        </p:nvSpPr>
        <p:spPr bwMode="auto">
          <a:xfrm>
            <a:off x="1524000" y="48768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600" b="1" i="0" u="none" strike="noStrike" kern="1200" cap="none" spc="0" normalizeH="0" baseline="0" noProof="0">
                <a:ln>
                  <a:noFill/>
                </a:ln>
                <a:solidFill>
                  <a:srgbClr val="FF0000"/>
                </a:solidFill>
                <a:effectLst/>
                <a:uLnTx/>
                <a:uFillTx/>
                <a:latin typeface="Arial" charset="0"/>
                <a:cs typeface="Arial" charset="0"/>
              </a:rPr>
              <a:t>Hermae</a:t>
            </a:r>
          </a:p>
        </p:txBody>
      </p:sp>
      <p:cxnSp>
        <p:nvCxnSpPr>
          <p:cNvPr id="30" name="Straight Connector 29"/>
          <p:cNvCxnSpPr>
            <a:cxnSpLocks noChangeShapeType="1"/>
            <a:stCxn id="17" idx="5"/>
            <a:endCxn id="21" idx="1"/>
          </p:cNvCxnSpPr>
          <p:nvPr/>
        </p:nvCxnSpPr>
        <p:spPr bwMode="auto">
          <a:xfrm rot="16200000" flipH="1">
            <a:off x="3368675" y="4435475"/>
            <a:ext cx="882650" cy="9588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3" name="TextBox 32"/>
          <p:cNvSpPr txBox="1">
            <a:spLocks noChangeArrowheads="1"/>
          </p:cNvSpPr>
          <p:nvPr/>
        </p:nvSpPr>
        <p:spPr bwMode="auto">
          <a:xfrm>
            <a:off x="3581400" y="45720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3</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4" name="Straight Connector 33"/>
          <p:cNvCxnSpPr>
            <a:cxnSpLocks noChangeShapeType="1"/>
            <a:stCxn id="21" idx="3"/>
            <a:endCxn id="19" idx="7"/>
          </p:cNvCxnSpPr>
          <p:nvPr/>
        </p:nvCxnSpPr>
        <p:spPr bwMode="auto">
          <a:xfrm rot="5400000">
            <a:off x="3216275" y="5121275"/>
            <a:ext cx="730250" cy="14160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38" name="TextBox 37"/>
          <p:cNvSpPr txBox="1">
            <a:spLocks noChangeArrowheads="1"/>
          </p:cNvSpPr>
          <p:nvPr/>
        </p:nvSpPr>
        <p:spPr bwMode="auto">
          <a:xfrm>
            <a:off x="3200400" y="55372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8</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39" name="Straight Connector 38"/>
          <p:cNvCxnSpPr>
            <a:cxnSpLocks noChangeShapeType="1"/>
            <a:stCxn id="18" idx="4"/>
            <a:endCxn id="19" idx="1"/>
          </p:cNvCxnSpPr>
          <p:nvPr/>
        </p:nvCxnSpPr>
        <p:spPr bwMode="auto">
          <a:xfrm rot="16200000" flipH="1">
            <a:off x="2209800" y="5638800"/>
            <a:ext cx="860425" cy="250825"/>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2" name="TextBox 41"/>
          <p:cNvSpPr txBox="1">
            <a:spLocks noChangeArrowheads="1"/>
          </p:cNvSpPr>
          <p:nvPr/>
        </p:nvSpPr>
        <p:spPr bwMode="auto">
          <a:xfrm>
            <a:off x="2133600" y="55626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5</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3" name="Straight Connector 42"/>
          <p:cNvCxnSpPr>
            <a:cxnSpLocks noChangeShapeType="1"/>
          </p:cNvCxnSpPr>
          <p:nvPr/>
        </p:nvCxnSpPr>
        <p:spPr bwMode="auto">
          <a:xfrm rot="10800000" flipV="1">
            <a:off x="4419600" y="4953000"/>
            <a:ext cx="1524000" cy="42545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5" name="TextBox 44"/>
          <p:cNvSpPr txBox="1">
            <a:spLocks noChangeArrowheads="1"/>
          </p:cNvSpPr>
          <p:nvPr/>
        </p:nvSpPr>
        <p:spPr bwMode="auto">
          <a:xfrm>
            <a:off x="4826000" y="48387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9</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cxnSp>
        <p:nvCxnSpPr>
          <p:cNvPr id="46" name="Straight Connector 45"/>
          <p:cNvCxnSpPr>
            <a:cxnSpLocks noChangeShapeType="1"/>
          </p:cNvCxnSpPr>
          <p:nvPr/>
        </p:nvCxnSpPr>
        <p:spPr bwMode="auto">
          <a:xfrm>
            <a:off x="5029200" y="4419600"/>
            <a:ext cx="914400" cy="533400"/>
          </a:xfrm>
          <a:prstGeom prst="line">
            <a:avLst/>
          </a:prstGeom>
          <a:noFill/>
          <a:ln w="38100">
            <a:solidFill>
              <a:srgbClr val="0000CC"/>
            </a:solidFill>
            <a:round/>
            <a:headEnd/>
            <a:tailEnd/>
          </a:ln>
          <a:extLst>
            <a:ext uri="{909E8E84-426E-40DD-AFC4-6F175D3DCCD1}">
              <a14:hiddenFill xmlns:a14="http://schemas.microsoft.com/office/drawing/2010/main">
                <a:noFill/>
              </a14:hiddenFill>
            </a:ext>
          </a:extLst>
        </p:spPr>
      </p:cxnSp>
      <p:sp>
        <p:nvSpPr>
          <p:cNvPr id="48" name="TextBox 47"/>
          <p:cNvSpPr txBox="1">
            <a:spLocks noChangeArrowheads="1"/>
          </p:cNvSpPr>
          <p:nvPr/>
        </p:nvSpPr>
        <p:spPr bwMode="auto">
          <a:xfrm>
            <a:off x="5257800" y="43688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Arial" charset="0"/>
                <a:cs typeface="Arial" charset="0"/>
              </a:rPr>
              <a:t>10</a:t>
            </a:r>
            <a:endParaRPr kumimoji="0" lang="en-US" altLang="en-US" sz="1400" b="1" i="0" u="none" strike="noStrike" kern="1200" cap="none" spc="0" normalizeH="0" baseline="0" noProof="0">
              <a:ln>
                <a:noFill/>
              </a:ln>
              <a:solidFill>
                <a:srgbClr val="FF0000"/>
              </a:solidFill>
              <a:effectLst/>
              <a:uLnTx/>
              <a:uFillTx/>
              <a:latin typeface="Arial" charset="0"/>
              <a:cs typeface="Arial" charset="0"/>
            </a:endParaRPr>
          </a:p>
        </p:txBody>
      </p:sp>
    </p:spTree>
    <p:extLst>
      <p:ext uri="{BB962C8B-B14F-4D97-AF65-F5344CB8AC3E}">
        <p14:creationId xmlns:p14="http://schemas.microsoft.com/office/powerpoint/2010/main" val="4058349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ox(in)">
                                      <p:cBhvr>
                                        <p:cTn id="7" dur="500"/>
                                        <p:tgtEl>
                                          <p:spTgt spid="2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ox(in)">
                                      <p:cBhvr>
                                        <p:cTn id="10" dur="500"/>
                                        <p:tgtEl>
                                          <p:spTgt spid="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ox(in)">
                                      <p:cBhvr>
                                        <p:cTn id="15" dur="500"/>
                                        <p:tgtEl>
                                          <p:spTgt spid="33"/>
                                        </p:tgtEl>
                                      </p:cBhvr>
                                    </p:animEffect>
                                  </p:childTnLst>
                                </p:cTn>
                              </p:par>
                              <p:par>
                                <p:cTn id="16" presetID="4" presetClass="entr" presetSubtype="16"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ox(in)">
                                      <p:cBhvr>
                                        <p:cTn id="18" dur="500"/>
                                        <p:tgtEl>
                                          <p:spTgt spid="30"/>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box(in)">
                                      <p:cBhvr>
                                        <p:cTn id="21" dur="500"/>
                                        <p:tgtEl>
                                          <p:spTgt spid="2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box(in)">
                                      <p:cBhvr>
                                        <p:cTn id="24" dur="500"/>
                                        <p:tgtEl>
                                          <p:spTgt spid="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ox(in)">
                                      <p:cBhvr>
                                        <p:cTn id="29" dur="500"/>
                                        <p:tgtEl>
                                          <p:spTgt spid="34"/>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ox(in)">
                                      <p:cBhvr>
                                        <p:cTn id="32" dur="500"/>
                                        <p:tgtEl>
                                          <p:spTgt spid="38"/>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ox(in)">
                                      <p:cBhvr>
                                        <p:cTn id="35" dur="500"/>
                                        <p:tgtEl>
                                          <p:spTgt spid="19"/>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box(in)">
                                      <p:cBhvr>
                                        <p:cTn id="38" dur="500"/>
                                        <p:tgtEl>
                                          <p:spTgt spid="2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animEffect transition="in" filter="box(in)">
                                      <p:cBhvr>
                                        <p:cTn id="43" dur="500"/>
                                        <p:tgtEl>
                                          <p:spTgt spid="42"/>
                                        </p:tgtEl>
                                      </p:cBhvr>
                                    </p:animEffect>
                                  </p:childTnLst>
                                </p:cTn>
                              </p:par>
                              <p:par>
                                <p:cTn id="44" presetID="4" presetClass="entr" presetSubtype="16"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box(in)">
                                      <p:cBhvr>
                                        <p:cTn id="46" dur="500"/>
                                        <p:tgtEl>
                                          <p:spTgt spid="28"/>
                                        </p:tgtEl>
                                      </p:cBhvr>
                                    </p:animEffect>
                                  </p:childTnLst>
                                </p:cTn>
                              </p:par>
                              <p:par>
                                <p:cTn id="47" presetID="4" presetClass="entr" presetSubtype="16" fill="hold"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box(in)">
                                      <p:cBhvr>
                                        <p:cTn id="49" dur="500"/>
                                        <p:tgtEl>
                                          <p:spTgt spid="39"/>
                                        </p:tgtEl>
                                      </p:cBhvr>
                                    </p:animEffect>
                                  </p:childTnLst>
                                </p:cTn>
                              </p:par>
                              <p:par>
                                <p:cTn id="50" presetID="4" presetClass="entr" presetSubtype="16"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ox(in)">
                                      <p:cBhvr>
                                        <p:cTn id="52" dur="500"/>
                                        <p:tgtEl>
                                          <p:spTgt spid="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ox(in)">
                                      <p:cBhvr>
                                        <p:cTn id="57" dur="500"/>
                                        <p:tgtEl>
                                          <p:spTgt spid="22"/>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box(in)">
                                      <p:cBhvr>
                                        <p:cTn id="60" dur="500"/>
                                        <p:tgtEl>
                                          <p:spTgt spid="25"/>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box(in)">
                                      <p:cBhvr>
                                        <p:cTn id="63" dur="500"/>
                                        <p:tgtEl>
                                          <p:spTgt spid="45"/>
                                        </p:tgtEl>
                                      </p:cBhvr>
                                    </p:animEffect>
                                  </p:childTnLst>
                                </p:cTn>
                              </p:par>
                              <p:par>
                                <p:cTn id="64" presetID="4" presetClass="entr" presetSubtype="16" fill="hold" nodeType="withEffect">
                                  <p:stCondLst>
                                    <p:cond delay="0"/>
                                  </p:stCondLst>
                                  <p:childTnLst>
                                    <p:set>
                                      <p:cBhvr>
                                        <p:cTn id="65" dur="1" fill="hold">
                                          <p:stCondLst>
                                            <p:cond delay="0"/>
                                          </p:stCondLst>
                                        </p:cTn>
                                        <p:tgtEl>
                                          <p:spTgt spid="43"/>
                                        </p:tgtEl>
                                        <p:attrNameLst>
                                          <p:attrName>style.visibility</p:attrName>
                                        </p:attrNameLst>
                                      </p:cBhvr>
                                      <p:to>
                                        <p:strVal val="visible"/>
                                      </p:to>
                                    </p:set>
                                    <p:animEffect transition="in" filter="box(in)">
                                      <p:cBhvr>
                                        <p:cTn id="66" dur="500"/>
                                        <p:tgtEl>
                                          <p:spTgt spid="43"/>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4" presetClass="entr" presetSubtype="16" fill="hold" grpId="0" nodeType="click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box(in)">
                                      <p:cBhvr>
                                        <p:cTn id="71" dur="500"/>
                                        <p:tgtEl>
                                          <p:spTgt spid="20"/>
                                        </p:tgtEl>
                                      </p:cBhvr>
                                    </p:animEffect>
                                  </p:childTnLst>
                                </p:cTn>
                              </p:par>
                              <p:par>
                                <p:cTn id="72" presetID="4" presetClass="entr" presetSubtype="16"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box(in)">
                                      <p:cBhvr>
                                        <p:cTn id="74" dur="500"/>
                                        <p:tgtEl>
                                          <p:spTgt spid="24"/>
                                        </p:tgtEl>
                                      </p:cBhvr>
                                    </p:animEffect>
                                  </p:childTnLst>
                                </p:cTn>
                              </p:par>
                              <p:par>
                                <p:cTn id="75" presetID="4" presetClass="entr" presetSubtype="16" fill="hold" grpId="0" nodeType="withEffect">
                                  <p:stCondLst>
                                    <p:cond delay="0"/>
                                  </p:stCondLst>
                                  <p:childTnLst>
                                    <p:set>
                                      <p:cBhvr>
                                        <p:cTn id="76" dur="1" fill="hold">
                                          <p:stCondLst>
                                            <p:cond delay="0"/>
                                          </p:stCondLst>
                                        </p:cTn>
                                        <p:tgtEl>
                                          <p:spTgt spid="48"/>
                                        </p:tgtEl>
                                        <p:attrNameLst>
                                          <p:attrName>style.visibility</p:attrName>
                                        </p:attrNameLst>
                                      </p:cBhvr>
                                      <p:to>
                                        <p:strVal val="visible"/>
                                      </p:to>
                                    </p:set>
                                    <p:animEffect transition="in" filter="box(in)">
                                      <p:cBhvr>
                                        <p:cTn id="77" dur="500"/>
                                        <p:tgtEl>
                                          <p:spTgt spid="48"/>
                                        </p:tgtEl>
                                      </p:cBhvr>
                                    </p:animEffect>
                                  </p:childTnLst>
                                </p:cTn>
                              </p:par>
                              <p:par>
                                <p:cTn id="78" presetID="4" presetClass="entr" presetSubtype="16" fill="hold" nodeType="with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box(in)">
                                      <p:cBhvr>
                                        <p:cTn id="80"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p:bldP spid="24" grpId="0"/>
      <p:bldP spid="25" grpId="0"/>
      <p:bldP spid="26" grpId="0"/>
      <p:bldP spid="27" grpId="0"/>
      <p:bldP spid="28" grpId="0"/>
      <p:bldP spid="33" grpId="0"/>
      <p:bldP spid="38" grpId="0"/>
      <p:bldP spid="42" grpId="0"/>
      <p:bldP spid="45" grpId="0"/>
      <p:bldP spid="48"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TREE AND FOREST</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graphicFrame>
        <p:nvGraphicFramePr>
          <p:cNvPr id="33" name="Content Placeholder 32"/>
          <p:cNvGraphicFramePr>
            <a:graphicFrameLocks noGrp="1"/>
          </p:cNvGraphicFramePr>
          <p:nvPr>
            <p:ph idx="1"/>
          </p:nvPr>
        </p:nvGraphicFramePr>
        <p:xfrm>
          <a:off x="304800" y="3284538"/>
          <a:ext cx="7696200" cy="3186430"/>
        </p:xfrm>
        <a:graphic>
          <a:graphicData uri="http://schemas.openxmlformats.org/drawingml/2006/table">
            <a:tbl>
              <a:tblPr/>
              <a:tblGrid>
                <a:gridCol w="7620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7"/>
                    </a:ext>
                  </a:extLst>
                </a:gridCol>
                <a:gridCol w="1981200">
                  <a:extLst>
                    <a:ext uri="{9D8B030D-6E8A-4147-A177-3AD203B41FA5}">
                      <a16:colId xmlns:a16="http://schemas.microsoft.com/office/drawing/2014/main" val="20008"/>
                    </a:ext>
                  </a:extLst>
                </a:gridCol>
              </a:tblGrid>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Step</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Vertex</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kern="1200" cap="none" normalizeH="0" baseline="0" dirty="0">
                          <a:ln>
                            <a:noFill/>
                          </a:ln>
                          <a:solidFill>
                            <a:schemeClr val="tx1"/>
                          </a:solidFill>
                          <a:effectLst/>
                          <a:latin typeface="Times New Roman" charset="0"/>
                          <a:ea typeface="Arial" charset="0"/>
                          <a:cs typeface="Times New Roman" charset="0"/>
                        </a:rPr>
                        <a:t> Adjacency vertex/weight </a:t>
                      </a:r>
                      <a:endParaRPr kumimoji="0" lang="en-US" altLang="en-US" sz="1600" b="1" i="0" u="none" strike="noStrike" kern="1200" cap="none" normalizeH="0" baseline="0" dirty="0">
                        <a:ln>
                          <a:noFill/>
                        </a:ln>
                        <a:solidFill>
                          <a:schemeClr val="tx1"/>
                        </a:solidFill>
                        <a:effectLst/>
                        <a:latin typeface="Times New Roman"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Select</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charset="0"/>
                          <a:ea typeface="Times New Roman" charset="0"/>
                          <a:cs typeface="Times New Roman" charset="0"/>
                        </a:rPr>
                        <a:t>Edge</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[2/33] [3/17]</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987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1</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[2/33] [2/18] [4/16][5/4]</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(3,1),(5,3)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987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2</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1,3,5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[2/33] [2/18] [4/16][4/9] [6/14]</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rPr>
                        <a:t>4</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(3,1),(5,3),(4.5)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9875">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3</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1,3,5,4</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[2/33] [2/18][2/20] [6/8] [6/14]</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6</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(3,1),(5,3),(4.5)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(6,4)</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4</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1,3,5,4,6</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[2/33] [2/18][2/20] </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rPr>
                        <a:t>2</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(3,1),(5,3),(4.5)</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(6,4),(2,3)</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39750">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5</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charset="0"/>
                          <a:ea typeface="Times New Roman" charset="0"/>
                          <a:cs typeface="Times New Roman" charset="0"/>
                        </a:rPr>
                        <a:t>1,3,5,4,6,2</a:t>
                      </a: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Times New Roman" charset="0"/>
                          <a:ea typeface="Times New Roman" charset="0"/>
                          <a:cs typeface="Times New Roman" charset="0"/>
                        </a:rPr>
                        <a:t>-</a:t>
                      </a:r>
                      <a:endParaRPr kumimoji="0" lang="en-US" altLang="en-US" sz="1600" b="0" i="0" u="none" strike="noStrike" cap="none" normalizeH="0" baseline="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eaLnBrk="0" hangingPunct="0">
                        <a:spcBef>
                          <a:spcPct val="20000"/>
                        </a:spcBef>
                        <a:buClr>
                          <a:srgbClr val="0251B8"/>
                        </a:buClr>
                        <a:buSzPct val="75000"/>
                        <a:buFont typeface="Wingdings" charset="2"/>
                        <a:defRPr sz="22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defRPr sz="21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defRPr>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defRPr sz="1500">
                          <a:solidFill>
                            <a:schemeClr val="tx1"/>
                          </a:solidFill>
                          <a:latin typeface="Arial" charset="0"/>
                          <a:ea typeface="Arial" charset="0"/>
                          <a:cs typeface="Arial" charset="0"/>
                        </a:defRPr>
                      </a:lvl4pPr>
                      <a:lvl5pPr marL="2057400" indent="-228600" algn="l" eaLnBrk="0" hangingPunct="0">
                        <a:spcBef>
                          <a:spcPct val="20000"/>
                        </a:spcBef>
                        <a:defRPr sz="1200">
                          <a:solidFill>
                            <a:schemeClr val="tx1"/>
                          </a:solidFill>
                          <a:latin typeface="Arial" charset="0"/>
                          <a:ea typeface="Arial" charset="0"/>
                          <a:cs typeface="Arial" charset="0"/>
                        </a:defRPr>
                      </a:lvl5pPr>
                      <a:lvl6pPr marL="2514600" indent="-228600" eaLnBrk="0" fontAlgn="base" hangingPunct="0">
                        <a:spcBef>
                          <a:spcPct val="20000"/>
                        </a:spcBef>
                        <a:spcAft>
                          <a:spcPct val="0"/>
                        </a:spcAft>
                        <a:defRPr sz="1200">
                          <a:solidFill>
                            <a:schemeClr val="tx1"/>
                          </a:solidFill>
                          <a:latin typeface="Arial" charset="0"/>
                          <a:ea typeface="Arial" charset="0"/>
                          <a:cs typeface="Arial" charset="0"/>
                        </a:defRPr>
                      </a:lvl6pPr>
                      <a:lvl7pPr marL="2971800" indent="-228600" eaLnBrk="0" fontAlgn="base" hangingPunct="0">
                        <a:spcBef>
                          <a:spcPct val="20000"/>
                        </a:spcBef>
                        <a:spcAft>
                          <a:spcPct val="0"/>
                        </a:spcAft>
                        <a:defRPr sz="1200">
                          <a:solidFill>
                            <a:schemeClr val="tx1"/>
                          </a:solidFill>
                          <a:latin typeface="Arial" charset="0"/>
                          <a:ea typeface="Arial" charset="0"/>
                          <a:cs typeface="Arial" charset="0"/>
                        </a:defRPr>
                      </a:lvl7pPr>
                      <a:lvl8pPr marL="3429000" indent="-228600" eaLnBrk="0" fontAlgn="base" hangingPunct="0">
                        <a:spcBef>
                          <a:spcPct val="20000"/>
                        </a:spcBef>
                        <a:spcAft>
                          <a:spcPct val="0"/>
                        </a:spcAft>
                        <a:defRPr sz="1200">
                          <a:solidFill>
                            <a:schemeClr val="tx1"/>
                          </a:solidFill>
                          <a:latin typeface="Arial" charset="0"/>
                          <a:ea typeface="Arial" charset="0"/>
                          <a:cs typeface="Arial" charset="0"/>
                        </a:defRPr>
                      </a:lvl8pPr>
                      <a:lvl9pPr marL="3886200" indent="-228600" eaLnBrk="0" fontAlgn="base" hangingPunct="0">
                        <a:spcBef>
                          <a:spcPct val="20000"/>
                        </a:spcBef>
                        <a:spcAft>
                          <a:spcPct val="0"/>
                        </a:spcAft>
                        <a:defRPr sz="1200">
                          <a:solidFill>
                            <a:schemeClr val="tx1"/>
                          </a:solidFill>
                          <a:latin typeface="Arial" charset="0"/>
                          <a:ea typeface="Arial" charset="0"/>
                          <a:cs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VNI-Times" charset="0"/>
                        <a:ea typeface="Times New Roman" charset="0"/>
                        <a:cs typeface="Times New Roman"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46168" name="Line 3"/>
          <p:cNvSpPr>
            <a:spLocks noChangeShapeType="1"/>
          </p:cNvSpPr>
          <p:nvPr/>
        </p:nvSpPr>
        <p:spPr bwMode="auto">
          <a:xfrm flipV="1">
            <a:off x="847725" y="13716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69" name="Line 4"/>
          <p:cNvSpPr>
            <a:spLocks noChangeShapeType="1"/>
          </p:cNvSpPr>
          <p:nvPr/>
        </p:nvSpPr>
        <p:spPr bwMode="auto">
          <a:xfrm flipH="1" flipV="1">
            <a:off x="847725" y="2057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0" name="Line 5"/>
          <p:cNvSpPr>
            <a:spLocks noChangeShapeType="1"/>
          </p:cNvSpPr>
          <p:nvPr/>
        </p:nvSpPr>
        <p:spPr bwMode="auto">
          <a:xfrm flipV="1">
            <a:off x="1533525"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1" name="Line 6"/>
          <p:cNvSpPr>
            <a:spLocks noChangeShapeType="1"/>
          </p:cNvSpPr>
          <p:nvPr/>
        </p:nvSpPr>
        <p:spPr bwMode="auto">
          <a:xfrm flipH="1" flipV="1">
            <a:off x="2790825" y="13716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2" name="Line 7"/>
          <p:cNvSpPr>
            <a:spLocks noChangeShapeType="1"/>
          </p:cNvSpPr>
          <p:nvPr/>
        </p:nvSpPr>
        <p:spPr bwMode="auto">
          <a:xfrm flipV="1">
            <a:off x="2790825" y="2057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3" name="Line 8"/>
          <p:cNvSpPr>
            <a:spLocks noChangeShapeType="1"/>
          </p:cNvSpPr>
          <p:nvPr/>
        </p:nvSpPr>
        <p:spPr bwMode="auto">
          <a:xfrm flipH="1" flipV="1">
            <a:off x="2790825"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4" name="Line 9"/>
          <p:cNvSpPr>
            <a:spLocks noChangeShapeType="1"/>
          </p:cNvSpPr>
          <p:nvPr/>
        </p:nvSpPr>
        <p:spPr bwMode="auto">
          <a:xfrm flipH="1" flipV="1">
            <a:off x="1533525" y="13716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5" name="Line 10"/>
          <p:cNvSpPr>
            <a:spLocks noChangeShapeType="1"/>
          </p:cNvSpPr>
          <p:nvPr/>
        </p:nvSpPr>
        <p:spPr bwMode="auto">
          <a:xfrm flipH="1" flipV="1">
            <a:off x="1533525" y="27432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6" name="Line 11"/>
          <p:cNvSpPr>
            <a:spLocks noChangeShapeType="1"/>
          </p:cNvSpPr>
          <p:nvPr/>
        </p:nvSpPr>
        <p:spPr bwMode="auto">
          <a:xfrm flipH="1">
            <a:off x="1533525" y="1371600"/>
            <a:ext cx="125730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77" name="Text Box 12"/>
          <p:cNvSpPr txBox="1">
            <a:spLocks noChangeArrowheads="1"/>
          </p:cNvSpPr>
          <p:nvPr/>
        </p:nvSpPr>
        <p:spPr bwMode="auto">
          <a:xfrm>
            <a:off x="1990725" y="13049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20</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78" name="Text Box 13"/>
          <p:cNvSpPr txBox="1">
            <a:spLocks noChangeArrowheads="1"/>
          </p:cNvSpPr>
          <p:nvPr/>
        </p:nvSpPr>
        <p:spPr bwMode="auto">
          <a:xfrm>
            <a:off x="2105025" y="2514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79" name="Text Box 14"/>
          <p:cNvSpPr txBox="1">
            <a:spLocks noChangeArrowheads="1"/>
          </p:cNvSpPr>
          <p:nvPr/>
        </p:nvSpPr>
        <p:spPr bwMode="auto">
          <a:xfrm>
            <a:off x="2743200"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0" name="Text Box 15"/>
          <p:cNvSpPr txBox="1">
            <a:spLocks noChangeArrowheads="1"/>
          </p:cNvSpPr>
          <p:nvPr/>
        </p:nvSpPr>
        <p:spPr bwMode="auto">
          <a:xfrm>
            <a:off x="3076575" y="15049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1" name="Text Box 16"/>
          <p:cNvSpPr txBox="1">
            <a:spLocks noChangeArrowheads="1"/>
          </p:cNvSpPr>
          <p:nvPr/>
        </p:nvSpPr>
        <p:spPr bwMode="auto">
          <a:xfrm>
            <a:off x="3057525" y="23050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2" name="Text Box 17"/>
          <p:cNvSpPr txBox="1">
            <a:spLocks noChangeArrowheads="1"/>
          </p:cNvSpPr>
          <p:nvPr/>
        </p:nvSpPr>
        <p:spPr bwMode="auto">
          <a:xfrm>
            <a:off x="1876425" y="18288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16</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3" name="Text Box 18"/>
          <p:cNvSpPr txBox="1">
            <a:spLocks noChangeArrowheads="1"/>
          </p:cNvSpPr>
          <p:nvPr/>
        </p:nvSpPr>
        <p:spPr bwMode="auto">
          <a:xfrm>
            <a:off x="1247775" y="18288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4" name="Text Box 19"/>
          <p:cNvSpPr txBox="1">
            <a:spLocks noChangeArrowheads="1"/>
          </p:cNvSpPr>
          <p:nvPr/>
        </p:nvSpPr>
        <p:spPr bwMode="auto">
          <a:xfrm>
            <a:off x="962025" y="1485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33</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5" name="Text Box 20"/>
          <p:cNvSpPr txBox="1">
            <a:spLocks noChangeArrowheads="1"/>
          </p:cNvSpPr>
          <p:nvPr/>
        </p:nvSpPr>
        <p:spPr bwMode="auto">
          <a:xfrm>
            <a:off x="838200" y="22288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186" name="Text Box 21"/>
          <p:cNvSpPr txBox="1">
            <a:spLocks noChangeArrowheads="1"/>
          </p:cNvSpPr>
          <p:nvPr/>
        </p:nvSpPr>
        <p:spPr bwMode="auto">
          <a:xfrm>
            <a:off x="609600" y="19145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87" name="Text Box 22"/>
          <p:cNvSpPr txBox="1">
            <a:spLocks noChangeArrowheads="1"/>
          </p:cNvSpPr>
          <p:nvPr/>
        </p:nvSpPr>
        <p:spPr bwMode="auto">
          <a:xfrm>
            <a:off x="1304925"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88" name="Text Box 23"/>
          <p:cNvSpPr txBox="1">
            <a:spLocks noChangeArrowheads="1"/>
          </p:cNvSpPr>
          <p:nvPr/>
        </p:nvSpPr>
        <p:spPr bwMode="auto">
          <a:xfrm>
            <a:off x="1304925"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89" name="Text Box 24"/>
          <p:cNvSpPr txBox="1">
            <a:spLocks noChangeArrowheads="1"/>
          </p:cNvSpPr>
          <p:nvPr/>
        </p:nvSpPr>
        <p:spPr bwMode="auto">
          <a:xfrm>
            <a:off x="2790825"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90" name="Text Box 25"/>
          <p:cNvSpPr txBox="1">
            <a:spLocks noChangeArrowheads="1"/>
          </p:cNvSpPr>
          <p:nvPr/>
        </p:nvSpPr>
        <p:spPr bwMode="auto">
          <a:xfrm>
            <a:off x="2790825"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91" name="Text Box 26"/>
          <p:cNvSpPr txBox="1">
            <a:spLocks noChangeArrowheads="1"/>
          </p:cNvSpPr>
          <p:nvPr/>
        </p:nvSpPr>
        <p:spPr bwMode="auto">
          <a:xfrm>
            <a:off x="3476625" y="19431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46192" name="Right Arrow 33"/>
          <p:cNvSpPr>
            <a:spLocks noChangeArrowheads="1"/>
          </p:cNvSpPr>
          <p:nvPr/>
        </p:nvSpPr>
        <p:spPr bwMode="auto">
          <a:xfrm>
            <a:off x="4267200" y="1905000"/>
            <a:ext cx="990600" cy="381000"/>
          </a:xfrm>
          <a:prstGeom prst="rightArrow">
            <a:avLst>
              <a:gd name="adj1" fmla="val 50000"/>
              <a:gd name="adj2" fmla="val 50002"/>
            </a:avLst>
          </a:prstGeom>
          <a:solidFill>
            <a:srgbClr val="FF0000"/>
          </a:solidFill>
          <a:ln w="9525">
            <a:solidFill>
              <a:schemeClr val="tx1"/>
            </a:solidFill>
            <a:round/>
            <a:headEnd/>
            <a:tailEnd/>
          </a:ln>
        </p:spPr>
        <p:txBody>
          <a:bodyPr wrap="none" anchor="ctr">
            <a:spAutoFit/>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36" name="Line 4"/>
          <p:cNvSpPr>
            <a:spLocks noChangeShapeType="1"/>
          </p:cNvSpPr>
          <p:nvPr/>
        </p:nvSpPr>
        <p:spPr bwMode="auto">
          <a:xfrm flipH="1" flipV="1">
            <a:off x="5715000" y="20574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Line 5"/>
          <p:cNvSpPr>
            <a:spLocks noChangeShapeType="1"/>
          </p:cNvSpPr>
          <p:nvPr/>
        </p:nvSpPr>
        <p:spPr bwMode="auto">
          <a:xfrm flipV="1">
            <a:off x="6400800"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Line 6"/>
          <p:cNvSpPr>
            <a:spLocks noChangeShapeType="1"/>
          </p:cNvSpPr>
          <p:nvPr/>
        </p:nvSpPr>
        <p:spPr bwMode="auto">
          <a:xfrm flipH="1" flipV="1">
            <a:off x="7658100" y="1371600"/>
            <a:ext cx="685800" cy="6858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ine 8"/>
          <p:cNvSpPr>
            <a:spLocks noChangeShapeType="1"/>
          </p:cNvSpPr>
          <p:nvPr/>
        </p:nvSpPr>
        <p:spPr bwMode="auto">
          <a:xfrm flipH="1" flipV="1">
            <a:off x="7658100" y="1371600"/>
            <a:ext cx="0" cy="137160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Line 10"/>
          <p:cNvSpPr>
            <a:spLocks noChangeShapeType="1"/>
          </p:cNvSpPr>
          <p:nvPr/>
        </p:nvSpPr>
        <p:spPr bwMode="auto">
          <a:xfrm flipH="1" flipV="1">
            <a:off x="6400800" y="2743200"/>
            <a:ext cx="1257300" cy="0"/>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Box 13"/>
          <p:cNvSpPr txBox="1">
            <a:spLocks noChangeArrowheads="1"/>
          </p:cNvSpPr>
          <p:nvPr/>
        </p:nvSpPr>
        <p:spPr bwMode="auto">
          <a:xfrm>
            <a:off x="6972300" y="25146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4</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6" name="Text Box 14"/>
          <p:cNvSpPr txBox="1">
            <a:spLocks noChangeArrowheads="1"/>
          </p:cNvSpPr>
          <p:nvPr/>
        </p:nvSpPr>
        <p:spPr bwMode="auto">
          <a:xfrm>
            <a:off x="7610475" y="1866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9</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47" name="Text Box 15"/>
          <p:cNvSpPr txBox="1">
            <a:spLocks noChangeArrowheads="1"/>
          </p:cNvSpPr>
          <p:nvPr/>
        </p:nvSpPr>
        <p:spPr bwMode="auto">
          <a:xfrm>
            <a:off x="7943850" y="15049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50" name="Text Box 18"/>
          <p:cNvSpPr txBox="1">
            <a:spLocks noChangeArrowheads="1"/>
          </p:cNvSpPr>
          <p:nvPr/>
        </p:nvSpPr>
        <p:spPr bwMode="auto">
          <a:xfrm>
            <a:off x="6115050" y="18288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18</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52" name="Text Box 20"/>
          <p:cNvSpPr txBox="1">
            <a:spLocks noChangeArrowheads="1"/>
          </p:cNvSpPr>
          <p:nvPr/>
        </p:nvSpPr>
        <p:spPr bwMode="auto">
          <a:xfrm>
            <a:off x="5705475" y="222885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srgbClr val="FF0000"/>
                </a:solidFill>
                <a:effectLst/>
                <a:uLnTx/>
                <a:uFillTx/>
                <a:latin typeface="Calibri" charset="0"/>
                <a:cs typeface="Arial" charset="0"/>
              </a:rPr>
              <a:t>17</a:t>
            </a:r>
            <a:endParaRPr kumimoji="0" lang="en-US" altLang="en-US" sz="1800" b="1" i="0" u="none" strike="noStrike" kern="1200" cap="none" spc="0" normalizeH="0" baseline="0" noProof="0">
              <a:ln>
                <a:noFill/>
              </a:ln>
              <a:solidFill>
                <a:srgbClr val="FF0000"/>
              </a:solidFill>
              <a:effectLst/>
              <a:uLnTx/>
              <a:uFillTx/>
              <a:latin typeface="Arial" charset="0"/>
              <a:cs typeface="Arial" charset="0"/>
            </a:endParaRPr>
          </a:p>
        </p:txBody>
      </p:sp>
      <p:sp>
        <p:nvSpPr>
          <p:cNvPr id="53" name="Text Box 21"/>
          <p:cNvSpPr txBox="1">
            <a:spLocks noChangeArrowheads="1"/>
          </p:cNvSpPr>
          <p:nvPr/>
        </p:nvSpPr>
        <p:spPr bwMode="auto">
          <a:xfrm>
            <a:off x="5476875" y="1914525"/>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1</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4" name="Text Box 22"/>
          <p:cNvSpPr txBox="1">
            <a:spLocks noChangeArrowheads="1"/>
          </p:cNvSpPr>
          <p:nvPr/>
        </p:nvSpPr>
        <p:spPr bwMode="auto">
          <a:xfrm>
            <a:off x="6172200"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2</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5" name="Text Box 23"/>
          <p:cNvSpPr txBox="1">
            <a:spLocks noChangeArrowheads="1"/>
          </p:cNvSpPr>
          <p:nvPr/>
        </p:nvSpPr>
        <p:spPr bwMode="auto">
          <a:xfrm>
            <a:off x="6172200"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3</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6" name="Text Box 24"/>
          <p:cNvSpPr txBox="1">
            <a:spLocks noChangeArrowheads="1"/>
          </p:cNvSpPr>
          <p:nvPr/>
        </p:nvSpPr>
        <p:spPr bwMode="auto">
          <a:xfrm>
            <a:off x="7658100" y="11430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4</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7" name="Text Box 25"/>
          <p:cNvSpPr txBox="1">
            <a:spLocks noChangeArrowheads="1"/>
          </p:cNvSpPr>
          <p:nvPr/>
        </p:nvSpPr>
        <p:spPr bwMode="auto">
          <a:xfrm>
            <a:off x="7658100" y="26289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5</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8" name="Text Box 26"/>
          <p:cNvSpPr txBox="1">
            <a:spLocks noChangeArrowheads="1"/>
          </p:cNvSpPr>
          <p:nvPr/>
        </p:nvSpPr>
        <p:spPr bwMode="auto">
          <a:xfrm>
            <a:off x="8343900" y="1943100"/>
            <a:ext cx="4572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ct val="50000"/>
              </a:spcBef>
              <a:spcAft>
                <a:spcPts val="1000"/>
              </a:spcAft>
              <a:buClrTx/>
              <a:buSzTx/>
              <a:buFontTx/>
              <a:buNone/>
              <a:tabLst/>
              <a:defRPr/>
            </a:pPr>
            <a:r>
              <a:rPr kumimoji="0" lang="en-US" altLang="en-US" sz="1800" b="1" i="0" u="none" strike="noStrike" kern="1200" cap="none" spc="0" normalizeH="0" baseline="0" noProof="0">
                <a:ln>
                  <a:noFill/>
                </a:ln>
                <a:solidFill>
                  <a:prstClr val="black"/>
                </a:solidFill>
                <a:effectLst/>
                <a:uLnTx/>
                <a:uFillTx/>
                <a:latin typeface="Calibri" charset="0"/>
                <a:cs typeface="Arial" charset="0"/>
              </a:rPr>
              <a:t>6</a:t>
            </a:r>
            <a:endParaRPr kumimoji="0" lang="en-US" altLang="en-US" sz="1800" b="1" i="0" u="none" strike="noStrike" kern="1200" cap="none" spc="0" normalizeH="0" baseline="0" noProof="0">
              <a:ln>
                <a:noFill/>
              </a:ln>
              <a:solidFill>
                <a:prstClr val="black"/>
              </a:solidFill>
              <a:effectLst/>
              <a:uLnTx/>
              <a:uFillTx/>
              <a:latin typeface="Arial" charset="0"/>
              <a:cs typeface="Arial" charset="0"/>
            </a:endParaRPr>
          </a:p>
        </p:txBody>
      </p:sp>
      <p:sp>
        <p:nvSpPr>
          <p:cNvPr id="59" name="Oval 58"/>
          <p:cNvSpPr>
            <a:spLocks noChangeArrowheads="1"/>
          </p:cNvSpPr>
          <p:nvPr/>
        </p:nvSpPr>
        <p:spPr bwMode="auto">
          <a:xfrm>
            <a:off x="812800" y="1981200"/>
            <a:ext cx="152400" cy="152400"/>
          </a:xfrm>
          <a:prstGeom prst="ellipse">
            <a:avLst/>
          </a:prstGeom>
          <a:solidFill>
            <a:srgbClr val="0000CC"/>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0" name="Oval 59"/>
          <p:cNvSpPr>
            <a:spLocks noChangeArrowheads="1"/>
          </p:cNvSpPr>
          <p:nvPr/>
        </p:nvSpPr>
        <p:spPr bwMode="auto">
          <a:xfrm>
            <a:off x="1460500" y="26543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1" name="Oval 60"/>
          <p:cNvSpPr>
            <a:spLocks noChangeArrowheads="1"/>
          </p:cNvSpPr>
          <p:nvPr/>
        </p:nvSpPr>
        <p:spPr bwMode="auto">
          <a:xfrm>
            <a:off x="2730500" y="26543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2" name="Oval 61"/>
          <p:cNvSpPr>
            <a:spLocks noChangeArrowheads="1"/>
          </p:cNvSpPr>
          <p:nvPr/>
        </p:nvSpPr>
        <p:spPr bwMode="auto">
          <a:xfrm>
            <a:off x="2717800" y="12954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3" name="Oval 62"/>
          <p:cNvSpPr>
            <a:spLocks noChangeArrowheads="1"/>
          </p:cNvSpPr>
          <p:nvPr/>
        </p:nvSpPr>
        <p:spPr bwMode="auto">
          <a:xfrm>
            <a:off x="3403600" y="19812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64" name="Oval 63"/>
          <p:cNvSpPr>
            <a:spLocks noChangeArrowheads="1"/>
          </p:cNvSpPr>
          <p:nvPr/>
        </p:nvSpPr>
        <p:spPr bwMode="auto">
          <a:xfrm>
            <a:off x="1473200" y="1320800"/>
            <a:ext cx="152400" cy="152400"/>
          </a:xfrm>
          <a:prstGeom prst="ellipse">
            <a:avLst/>
          </a:prstGeom>
          <a:solidFill>
            <a:srgbClr val="FF0000"/>
          </a:solidFill>
          <a:ln w="9525">
            <a:solidFill>
              <a:schemeClr val="tx1"/>
            </a:solidFill>
            <a:round/>
            <a:headEnd/>
            <a:tailEnd/>
          </a:ln>
        </p:spPr>
        <p:txBody>
          <a:bodyPr wrap="none" anchor="ctr"/>
          <a:lstStyle>
            <a:lvl1pPr algn="just" eaLnBrk="0" hangingPunct="0">
              <a:spcBef>
                <a:spcPct val="20000"/>
              </a:spcBef>
              <a:buClr>
                <a:srgbClr val="0251B8"/>
              </a:buClr>
              <a:buSzPct val="75000"/>
              <a:buFont typeface="Wingdings" charset="2"/>
              <a:buChar char="n"/>
              <a:defRPr sz="2600">
                <a:solidFill>
                  <a:schemeClr val="tx1"/>
                </a:solidFill>
                <a:latin typeface="Arial" charset="0"/>
                <a:ea typeface="Arial" charset="0"/>
                <a:cs typeface="Arial" charset="0"/>
              </a:defRPr>
            </a:lvl1pPr>
            <a:lvl2pPr marL="742950" indent="-285750" algn="just" eaLnBrk="0" hangingPunct="0">
              <a:spcBef>
                <a:spcPct val="20000"/>
              </a:spcBef>
              <a:buClr>
                <a:srgbClr val="0251B8"/>
              </a:buClr>
              <a:buSzPct val="70000"/>
              <a:buFont typeface="Wingdings" charset="2"/>
              <a:buChar char="u"/>
              <a:defRPr sz="2300">
                <a:solidFill>
                  <a:schemeClr val="tx1"/>
                </a:solidFill>
                <a:latin typeface="Arial" charset="0"/>
                <a:ea typeface="Arial" charset="0"/>
                <a:cs typeface="Arial" charset="0"/>
              </a:defRPr>
            </a:lvl2pPr>
            <a:lvl3pPr marL="1143000" indent="-228600" algn="just" eaLnBrk="0" hangingPunct="0">
              <a:spcBef>
                <a:spcPct val="20000"/>
              </a:spcBef>
              <a:buClr>
                <a:srgbClr val="0251B8"/>
              </a:buClr>
              <a:buSzPct val="70000"/>
              <a:buFont typeface="Wingdings" charset="2"/>
              <a:buChar char="l"/>
              <a:defRPr sz="2000">
                <a:solidFill>
                  <a:schemeClr val="tx1"/>
                </a:solidFill>
                <a:latin typeface="Arial" charset="0"/>
                <a:ea typeface="Arial" charset="0"/>
                <a:cs typeface="Arial" charset="0"/>
              </a:defRPr>
            </a:lvl3pPr>
            <a:lvl4pPr marL="1600200" indent="-228600" algn="l" eaLnBrk="0" hangingPunct="0">
              <a:spcBef>
                <a:spcPct val="20000"/>
              </a:spcBef>
              <a:buClr>
                <a:srgbClr val="0251B8"/>
              </a:buClr>
              <a:buFont typeface="Arial" charset="0"/>
              <a:buChar char="–"/>
              <a:defRPr sz="1700">
                <a:solidFill>
                  <a:schemeClr val="tx1"/>
                </a:solidFill>
                <a:latin typeface="Arial" charset="0"/>
                <a:ea typeface="Arial" charset="0"/>
                <a:cs typeface="Arial" charset="0"/>
              </a:defRPr>
            </a:lvl4pPr>
            <a:lvl5pPr marL="2057400" indent="-228600" algn="l" eaLnBrk="0" hangingPunct="0">
              <a:spcBef>
                <a:spcPct val="20000"/>
              </a:spcBef>
              <a:buChar char="»"/>
              <a:defRPr sz="1400">
                <a:solidFill>
                  <a:schemeClr val="tx1"/>
                </a:solidFill>
                <a:latin typeface="Arial" charset="0"/>
                <a:ea typeface="Arial" charset="0"/>
                <a:cs typeface="Arial" charset="0"/>
              </a:defRPr>
            </a:lvl5pPr>
            <a:lvl6pPr marL="2514600" indent="-228600" eaLnBrk="0" fontAlgn="base" hangingPunct="0">
              <a:spcBef>
                <a:spcPct val="20000"/>
              </a:spcBef>
              <a:spcAft>
                <a:spcPct val="0"/>
              </a:spcAft>
              <a:buChar char="»"/>
              <a:defRPr sz="1400">
                <a:solidFill>
                  <a:schemeClr val="tx1"/>
                </a:solidFill>
                <a:latin typeface="Arial" charset="0"/>
                <a:ea typeface="Arial" charset="0"/>
                <a:cs typeface="Arial" charset="0"/>
              </a:defRPr>
            </a:lvl6pPr>
            <a:lvl7pPr marL="2971800" indent="-228600" eaLnBrk="0" fontAlgn="base" hangingPunct="0">
              <a:spcBef>
                <a:spcPct val="20000"/>
              </a:spcBef>
              <a:spcAft>
                <a:spcPct val="0"/>
              </a:spcAft>
              <a:buChar char="»"/>
              <a:defRPr sz="1400">
                <a:solidFill>
                  <a:schemeClr val="tx1"/>
                </a:solidFill>
                <a:latin typeface="Arial" charset="0"/>
                <a:ea typeface="Arial" charset="0"/>
                <a:cs typeface="Arial" charset="0"/>
              </a:defRPr>
            </a:lvl7pPr>
            <a:lvl8pPr marL="3429000" indent="-228600" eaLnBrk="0" fontAlgn="base" hangingPunct="0">
              <a:spcBef>
                <a:spcPct val="20000"/>
              </a:spcBef>
              <a:spcAft>
                <a:spcPct val="0"/>
              </a:spcAft>
              <a:buChar char="»"/>
              <a:defRPr sz="1400">
                <a:solidFill>
                  <a:schemeClr val="tx1"/>
                </a:solidFill>
                <a:latin typeface="Arial" charset="0"/>
                <a:ea typeface="Arial" charset="0"/>
                <a:cs typeface="Arial" charset="0"/>
              </a:defRPr>
            </a:lvl8pPr>
            <a:lvl9pPr marL="3886200" indent="-228600" eaLnBrk="0" fontAlgn="base" hangingPunct="0">
              <a:spcBef>
                <a:spcPct val="20000"/>
              </a:spcBef>
              <a:spcAft>
                <a:spcPct val="0"/>
              </a:spcAft>
              <a:buChar char="»"/>
              <a:defRPr sz="1400">
                <a:solidFill>
                  <a:schemeClr val="tx1"/>
                </a:solidFill>
                <a:latin typeface="Arial" charset="0"/>
                <a:ea typeface="Arial" charset="0"/>
                <a:cs typeface="Arial"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Tree>
    <p:extLst>
      <p:ext uri="{BB962C8B-B14F-4D97-AF65-F5344CB8AC3E}">
        <p14:creationId xmlns:p14="http://schemas.microsoft.com/office/powerpoint/2010/main" val="12769671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ox(in)">
                                      <p:cBhvr>
                                        <p:cTn id="7" dur="500"/>
                                        <p:tgtEl>
                                          <p:spTgt spid="5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9"/>
                                        </p:tgtEl>
                                        <p:attrNameLst>
                                          <p:attrName>style.visibility</p:attrName>
                                        </p:attrNameLst>
                                      </p:cBhvr>
                                      <p:to>
                                        <p:strVal val="visible"/>
                                      </p:to>
                                    </p:set>
                                    <p:animEffect transition="in" filter="box(in)">
                                      <p:cBhvr>
                                        <p:cTn id="10" dur="500"/>
                                        <p:tgtEl>
                                          <p:spTgt spid="5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box(in)">
                                      <p:cBhvr>
                                        <p:cTn id="15" dur="500"/>
                                        <p:tgtEl>
                                          <p:spTgt spid="52"/>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ox(in)">
                                      <p:cBhvr>
                                        <p:cTn id="18" dur="500"/>
                                        <p:tgtEl>
                                          <p:spTgt spid="55"/>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box(in)">
                                      <p:cBhvr>
                                        <p:cTn id="21" dur="500"/>
                                        <p:tgtEl>
                                          <p:spTgt spid="36"/>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box(in)">
                                      <p:cBhvr>
                                        <p:cTn id="24" dur="500"/>
                                        <p:tgtEl>
                                          <p:spTgt spid="6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box(in)">
                                      <p:cBhvr>
                                        <p:cTn id="29" dur="500"/>
                                        <p:tgtEl>
                                          <p:spTgt spid="45"/>
                                        </p:tgtEl>
                                      </p:cBhvr>
                                    </p:animEffect>
                                  </p:childTnLst>
                                </p:cTn>
                              </p:par>
                              <p:par>
                                <p:cTn id="30" presetID="4" presetClass="entr" presetSubtype="16" fill="hold" grpId="0"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box(in)">
                                      <p:cBhvr>
                                        <p:cTn id="32" dur="500"/>
                                        <p:tgtEl>
                                          <p:spTgt spid="42"/>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Effect transition="in" filter="box(in)">
                                      <p:cBhvr>
                                        <p:cTn id="35" dur="500"/>
                                        <p:tgtEl>
                                          <p:spTgt spid="57"/>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61"/>
                                        </p:tgtEl>
                                        <p:attrNameLst>
                                          <p:attrName>style.visibility</p:attrName>
                                        </p:attrNameLst>
                                      </p:cBhvr>
                                      <p:to>
                                        <p:strVal val="visible"/>
                                      </p:to>
                                    </p:set>
                                    <p:animEffect transition="in" filter="box(in)">
                                      <p:cBhvr>
                                        <p:cTn id="38" dur="500"/>
                                        <p:tgtEl>
                                          <p:spTgt spid="61"/>
                                        </p:tgtEl>
                                      </p:cBhvr>
                                    </p:animEffect>
                                  </p:childTnLst>
                                </p:cTn>
                              </p:par>
                              <p:par>
                                <p:cTn id="39" presetID="1" presetClass="emph" presetSubtype="2" fill="hold" nodeType="withEffect">
                                  <p:stCondLst>
                                    <p:cond delay="0"/>
                                  </p:stCondLst>
                                  <p:childTnLst>
                                    <p:animClr clrSpc="rgb" dir="cw">
                                      <p:cBhvr>
                                        <p:cTn id="40" dur="2000" fill="hold"/>
                                        <p:tgtEl>
                                          <p:spTgt spid="60"/>
                                        </p:tgtEl>
                                        <p:attrNameLst>
                                          <p:attrName>fillcolor</p:attrName>
                                        </p:attrNameLst>
                                      </p:cBhvr>
                                      <p:to>
                                        <a:schemeClr val="accent2"/>
                                      </p:to>
                                    </p:animClr>
                                    <p:set>
                                      <p:cBhvr>
                                        <p:cTn id="41" dur="2000" fill="hold"/>
                                        <p:tgtEl>
                                          <p:spTgt spid="60"/>
                                        </p:tgtEl>
                                        <p:attrNameLst>
                                          <p:attrName>fill.type</p:attrName>
                                        </p:attrNameLst>
                                      </p:cBhvr>
                                      <p:to>
                                        <p:strVal val="solid"/>
                                      </p:to>
                                    </p:set>
                                    <p:set>
                                      <p:cBhvr>
                                        <p:cTn id="42" dur="2000" fill="hold"/>
                                        <p:tgtEl>
                                          <p:spTgt spid="60"/>
                                        </p:tgtEl>
                                        <p:attrNameLst>
                                          <p:attrName>fill.on</p:attrName>
                                        </p:attrNameLst>
                                      </p:cBhvr>
                                      <p:to>
                                        <p:strVal val="tru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box(in)">
                                      <p:cBhvr>
                                        <p:cTn id="47" dur="500"/>
                                        <p:tgtEl>
                                          <p:spTgt spid="46"/>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40"/>
                                        </p:tgtEl>
                                        <p:attrNameLst>
                                          <p:attrName>style.visibility</p:attrName>
                                        </p:attrNameLst>
                                      </p:cBhvr>
                                      <p:to>
                                        <p:strVal val="visible"/>
                                      </p:to>
                                    </p:set>
                                    <p:animEffect transition="in" filter="box(in)">
                                      <p:cBhvr>
                                        <p:cTn id="50" dur="500"/>
                                        <p:tgtEl>
                                          <p:spTgt spid="40"/>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animEffect transition="in" filter="box(in)">
                                      <p:cBhvr>
                                        <p:cTn id="53" dur="500"/>
                                        <p:tgtEl>
                                          <p:spTgt spid="56"/>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62"/>
                                        </p:tgtEl>
                                        <p:attrNameLst>
                                          <p:attrName>style.visibility</p:attrName>
                                        </p:attrNameLst>
                                      </p:cBhvr>
                                      <p:to>
                                        <p:strVal val="visible"/>
                                      </p:to>
                                    </p:set>
                                    <p:animEffect transition="in" filter="box(in)">
                                      <p:cBhvr>
                                        <p:cTn id="56" dur="500"/>
                                        <p:tgtEl>
                                          <p:spTgt spid="62"/>
                                        </p:tgtEl>
                                      </p:cBhvr>
                                    </p:animEffect>
                                  </p:childTnLst>
                                </p:cTn>
                              </p:par>
                              <p:par>
                                <p:cTn id="57" presetID="1" presetClass="emph" presetSubtype="2" fill="hold" nodeType="withEffect">
                                  <p:stCondLst>
                                    <p:cond delay="0"/>
                                  </p:stCondLst>
                                  <p:childTnLst>
                                    <p:animClr clrSpc="rgb" dir="cw">
                                      <p:cBhvr>
                                        <p:cTn id="58" dur="2000" fill="hold"/>
                                        <p:tgtEl>
                                          <p:spTgt spid="61"/>
                                        </p:tgtEl>
                                        <p:attrNameLst>
                                          <p:attrName>fillcolor</p:attrName>
                                        </p:attrNameLst>
                                      </p:cBhvr>
                                      <p:to>
                                        <a:schemeClr val="accent2"/>
                                      </p:to>
                                    </p:animClr>
                                    <p:set>
                                      <p:cBhvr>
                                        <p:cTn id="59" dur="2000" fill="hold"/>
                                        <p:tgtEl>
                                          <p:spTgt spid="61"/>
                                        </p:tgtEl>
                                        <p:attrNameLst>
                                          <p:attrName>fill.type</p:attrName>
                                        </p:attrNameLst>
                                      </p:cBhvr>
                                      <p:to>
                                        <p:strVal val="solid"/>
                                      </p:to>
                                    </p:set>
                                    <p:set>
                                      <p:cBhvr>
                                        <p:cTn id="60" dur="2000" fill="hold"/>
                                        <p:tgtEl>
                                          <p:spTgt spid="61"/>
                                        </p:tgtEl>
                                        <p:attrNameLst>
                                          <p:attrName>fill.on</p:attrName>
                                        </p:attrNameLst>
                                      </p:cBhvr>
                                      <p:to>
                                        <p:strVal val="tru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box(in)">
                                      <p:cBhvr>
                                        <p:cTn id="65" dur="500"/>
                                        <p:tgtEl>
                                          <p:spTgt spid="47"/>
                                        </p:tgtEl>
                                      </p:cBhvr>
                                    </p:animEffect>
                                  </p:childTnLst>
                                </p:cTn>
                              </p:par>
                              <p:par>
                                <p:cTn id="66" presetID="4" presetClass="entr" presetSubtype="16"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box(in)">
                                      <p:cBhvr>
                                        <p:cTn id="68" dur="500"/>
                                        <p:tgtEl>
                                          <p:spTgt spid="38"/>
                                        </p:tgtEl>
                                      </p:cBhvr>
                                    </p:animEffect>
                                  </p:childTnLst>
                                </p:cTn>
                              </p:par>
                              <p:par>
                                <p:cTn id="69" presetID="4" presetClass="entr" presetSubtype="16" fill="hold" grpId="0" nodeType="with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box(in)">
                                      <p:cBhvr>
                                        <p:cTn id="71" dur="500"/>
                                        <p:tgtEl>
                                          <p:spTgt spid="58"/>
                                        </p:tgtEl>
                                      </p:cBhvr>
                                    </p:animEffect>
                                  </p:childTnLst>
                                </p:cTn>
                              </p:par>
                              <p:par>
                                <p:cTn id="72" presetID="1" presetClass="emph" presetSubtype="2" fill="hold" nodeType="withEffect">
                                  <p:stCondLst>
                                    <p:cond delay="0"/>
                                  </p:stCondLst>
                                  <p:childTnLst>
                                    <p:animClr clrSpc="rgb" dir="cw">
                                      <p:cBhvr>
                                        <p:cTn id="73" dur="2000" fill="hold"/>
                                        <p:tgtEl>
                                          <p:spTgt spid="62"/>
                                        </p:tgtEl>
                                        <p:attrNameLst>
                                          <p:attrName>fillcolor</p:attrName>
                                        </p:attrNameLst>
                                      </p:cBhvr>
                                      <p:to>
                                        <a:schemeClr val="accent2"/>
                                      </p:to>
                                    </p:animClr>
                                    <p:set>
                                      <p:cBhvr>
                                        <p:cTn id="74" dur="2000" fill="hold"/>
                                        <p:tgtEl>
                                          <p:spTgt spid="62"/>
                                        </p:tgtEl>
                                        <p:attrNameLst>
                                          <p:attrName>fill.type</p:attrName>
                                        </p:attrNameLst>
                                      </p:cBhvr>
                                      <p:to>
                                        <p:strVal val="solid"/>
                                      </p:to>
                                    </p:set>
                                    <p:set>
                                      <p:cBhvr>
                                        <p:cTn id="75" dur="2000" fill="hold"/>
                                        <p:tgtEl>
                                          <p:spTgt spid="62"/>
                                        </p:tgtEl>
                                        <p:attrNameLst>
                                          <p:attrName>fill.on</p:attrName>
                                        </p:attrNameLst>
                                      </p:cBhvr>
                                      <p:to>
                                        <p:strVal val="true"/>
                                      </p:to>
                                    </p:set>
                                  </p:childTnLst>
                                </p:cTn>
                              </p:par>
                              <p:par>
                                <p:cTn id="76" presetID="4" presetClass="entr" presetSubtype="16" fill="hold" grpId="0" nodeType="withEffect">
                                  <p:stCondLst>
                                    <p:cond delay="0"/>
                                  </p:stCondLst>
                                  <p:childTnLst>
                                    <p:set>
                                      <p:cBhvr>
                                        <p:cTn id="77" dur="1" fill="hold">
                                          <p:stCondLst>
                                            <p:cond delay="0"/>
                                          </p:stCondLst>
                                        </p:cTn>
                                        <p:tgtEl>
                                          <p:spTgt spid="63"/>
                                        </p:tgtEl>
                                        <p:attrNameLst>
                                          <p:attrName>style.visibility</p:attrName>
                                        </p:attrNameLst>
                                      </p:cBhvr>
                                      <p:to>
                                        <p:strVal val="visible"/>
                                      </p:to>
                                    </p:set>
                                    <p:animEffect transition="in" filter="box(in)">
                                      <p:cBhvr>
                                        <p:cTn id="78" dur="500"/>
                                        <p:tgtEl>
                                          <p:spTgt spid="63"/>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4" presetClass="entr" presetSubtype="16" fill="hold" grpId="0" nodeType="click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box(in)">
                                      <p:cBhvr>
                                        <p:cTn id="83" dur="500"/>
                                        <p:tgtEl>
                                          <p:spTgt spid="37"/>
                                        </p:tgtEl>
                                      </p:cBhvr>
                                    </p:animEffect>
                                  </p:childTnLst>
                                </p:cTn>
                              </p:par>
                              <p:par>
                                <p:cTn id="84" presetID="4" presetClass="entr" presetSubtype="16"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Effect transition="in" filter="box(in)">
                                      <p:cBhvr>
                                        <p:cTn id="86" dur="500"/>
                                        <p:tgtEl>
                                          <p:spTgt spid="50"/>
                                        </p:tgtEl>
                                      </p:cBhvr>
                                    </p:animEffect>
                                  </p:childTnLst>
                                </p:cTn>
                              </p:par>
                              <p:par>
                                <p:cTn id="87" presetID="4" presetClass="entr" presetSubtype="16"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animEffect transition="in" filter="box(in)">
                                      <p:cBhvr>
                                        <p:cTn id="89" dur="500"/>
                                        <p:tgtEl>
                                          <p:spTgt spid="54"/>
                                        </p:tgtEl>
                                      </p:cBhvr>
                                    </p:animEffect>
                                  </p:childTnLst>
                                </p:cTn>
                              </p:par>
                              <p:par>
                                <p:cTn id="90" presetID="4" presetClass="entr" presetSubtype="16" fill="hold" grpId="0" nodeType="withEffect">
                                  <p:stCondLst>
                                    <p:cond delay="0"/>
                                  </p:stCondLst>
                                  <p:childTnLst>
                                    <p:set>
                                      <p:cBhvr>
                                        <p:cTn id="91" dur="1" fill="hold">
                                          <p:stCondLst>
                                            <p:cond delay="0"/>
                                          </p:stCondLst>
                                        </p:cTn>
                                        <p:tgtEl>
                                          <p:spTgt spid="64"/>
                                        </p:tgtEl>
                                        <p:attrNameLst>
                                          <p:attrName>style.visibility</p:attrName>
                                        </p:attrNameLst>
                                      </p:cBhvr>
                                      <p:to>
                                        <p:strVal val="visible"/>
                                      </p:to>
                                    </p:set>
                                    <p:animEffect transition="in" filter="box(in)">
                                      <p:cBhvr>
                                        <p:cTn id="92" dur="500"/>
                                        <p:tgtEl>
                                          <p:spTgt spid="64"/>
                                        </p:tgtEl>
                                      </p:cBhvr>
                                    </p:animEffect>
                                  </p:childTnLst>
                                </p:cTn>
                              </p:par>
                              <p:par>
                                <p:cTn id="93" presetID="1" presetClass="emph" presetSubtype="2" fill="hold" nodeType="withEffect">
                                  <p:stCondLst>
                                    <p:cond delay="0"/>
                                  </p:stCondLst>
                                  <p:childTnLst>
                                    <p:animClr clrSpc="rgb" dir="cw">
                                      <p:cBhvr>
                                        <p:cTn id="94" dur="2000" fill="hold"/>
                                        <p:tgtEl>
                                          <p:spTgt spid="63"/>
                                        </p:tgtEl>
                                        <p:attrNameLst>
                                          <p:attrName>fillcolor</p:attrName>
                                        </p:attrNameLst>
                                      </p:cBhvr>
                                      <p:to>
                                        <a:schemeClr val="accent2"/>
                                      </p:to>
                                    </p:animClr>
                                    <p:set>
                                      <p:cBhvr>
                                        <p:cTn id="95" dur="2000" fill="hold"/>
                                        <p:tgtEl>
                                          <p:spTgt spid="63"/>
                                        </p:tgtEl>
                                        <p:attrNameLst>
                                          <p:attrName>fill.type</p:attrName>
                                        </p:attrNameLst>
                                      </p:cBhvr>
                                      <p:to>
                                        <p:strVal val="solid"/>
                                      </p:to>
                                    </p:set>
                                    <p:set>
                                      <p:cBhvr>
                                        <p:cTn id="96" dur="2000" fill="hold"/>
                                        <p:tgtEl>
                                          <p:spTgt spid="63"/>
                                        </p:tgtEl>
                                        <p:attrNameLst>
                                          <p:attrName>fill.on</p:attrName>
                                        </p:attrNameLst>
                                      </p:cBhvr>
                                      <p:to>
                                        <p:strVal val="tru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1" presetClass="emph" presetSubtype="2" fill="hold" nodeType="clickEffect">
                                  <p:stCondLst>
                                    <p:cond delay="0"/>
                                  </p:stCondLst>
                                  <p:childTnLst>
                                    <p:animClr clrSpc="rgb" dir="cw">
                                      <p:cBhvr>
                                        <p:cTn id="100" dur="2000" fill="hold"/>
                                        <p:tgtEl>
                                          <p:spTgt spid="64"/>
                                        </p:tgtEl>
                                        <p:attrNameLst>
                                          <p:attrName>fillcolor</p:attrName>
                                        </p:attrNameLst>
                                      </p:cBhvr>
                                      <p:to>
                                        <a:schemeClr val="accent2"/>
                                      </p:to>
                                    </p:animClr>
                                    <p:set>
                                      <p:cBhvr>
                                        <p:cTn id="101" dur="2000" fill="hold"/>
                                        <p:tgtEl>
                                          <p:spTgt spid="64"/>
                                        </p:tgtEl>
                                        <p:attrNameLst>
                                          <p:attrName>fill.type</p:attrName>
                                        </p:attrNameLst>
                                      </p:cBhvr>
                                      <p:to>
                                        <p:strVal val="solid"/>
                                      </p:to>
                                    </p:set>
                                    <p:set>
                                      <p:cBhvr>
                                        <p:cTn id="102" dur="2000" fill="hold"/>
                                        <p:tgtEl>
                                          <p:spTgt spid="6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40" grpId="0" animBg="1"/>
      <p:bldP spid="42" grpId="0" animBg="1"/>
      <p:bldP spid="45" grpId="0"/>
      <p:bldP spid="46" grpId="0"/>
      <p:bldP spid="47" grpId="0"/>
      <p:bldP spid="50" grpId="0"/>
      <p:bldP spid="52" grpId="0"/>
      <p:bldP spid="53" grpId="0"/>
      <p:bldP spid="54" grpId="0"/>
      <p:bldP spid="55" grpId="0"/>
      <p:bldP spid="56" grpId="0"/>
      <p:bldP spid="57" grpId="0"/>
      <p:bldP spid="58" grpId="0"/>
      <p:bldP spid="59" grpId="0" animBg="1"/>
      <p:bldP spid="60" grpId="0" animBg="1"/>
      <p:bldP spid="61" grpId="0" animBg="1"/>
      <p:bldP spid="62" grpId="0" animBg="1"/>
      <p:bldP spid="63" grpId="0" animBg="1"/>
      <p:bldP spid="6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r>
                  <a:rPr lang="en-US" sz="1900" b="1" dirty="0">
                    <a:solidFill>
                      <a:schemeClr val="tx2"/>
                    </a:solidFill>
                    <a:latin typeface="Times New Roman" pitchFamily="18" charset="0"/>
                    <a:cs typeface="Times New Roman" pitchFamily="18" charset="0"/>
                  </a:rPr>
                  <a:t>To find shortest path from a to z vertex </a:t>
                </a:r>
              </a:p>
              <a:p>
                <a:pPr marL="457200" indent="-457200">
                  <a:lnSpc>
                    <a:spcPct val="150000"/>
                  </a:lnSpc>
                  <a:buFont typeface="+mj-lt"/>
                  <a:buAutoNum type="arabicPeriod"/>
                </a:pPr>
                <a:r>
                  <a:rPr lang="en-US" sz="1900" dirty="0">
                    <a:solidFill>
                      <a:schemeClr val="tx2"/>
                    </a:solidFill>
                    <a:latin typeface="Times New Roman" pitchFamily="18" charset="0"/>
                    <a:cs typeface="Times New Roman" pitchFamily="18" charset="0"/>
                  </a:rPr>
                  <a:t>Initial step: </a:t>
                </a:r>
                <a14:m>
                  <m:oMath xmlns:m="http://schemas.openxmlformats.org/officeDocument/2006/math">
                    <m:r>
                      <a:rPr lang="en-US" sz="1900" b="0" i="1" dirty="0" smtClean="0">
                        <a:solidFill>
                          <a:schemeClr val="tx2"/>
                        </a:solidFill>
                        <a:latin typeface="Cambria Math" panose="02040503050406030204" pitchFamily="18" charset="0"/>
                        <a:cs typeface="Times New Roman" pitchFamily="18" charset="0"/>
                      </a:rPr>
                      <m:t>𝐿</m:t>
                    </m:r>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𝑎</m:t>
                    </m:r>
                    <m:r>
                      <a:rPr lang="en-US" sz="1900" b="0" i="1" dirty="0" smtClean="0">
                        <a:solidFill>
                          <a:schemeClr val="tx2"/>
                        </a:solidFill>
                        <a:latin typeface="Cambria Math" panose="02040503050406030204" pitchFamily="18" charset="0"/>
                        <a:cs typeface="Times New Roman" pitchFamily="18" charset="0"/>
                      </a:rPr>
                      <m:t>)=0</m:t>
                    </m:r>
                  </m:oMath>
                </a14:m>
                <a:r>
                  <a:rPr lang="en-US" sz="1900" i="0" dirty="0">
                    <a:solidFill>
                      <a:schemeClr val="tx2"/>
                    </a:solidFill>
                    <a:latin typeface="+mj-lt"/>
                    <a:cs typeface="Times New Roman" pitchFamily="18" charset="0"/>
                  </a:rPr>
                  <a:t>, </a:t>
                </a:r>
                <a:r>
                  <a:rPr lang="en-US" sz="1900" dirty="0">
                    <a:solidFill>
                      <a:schemeClr val="tx2"/>
                    </a:solidFill>
                    <a:latin typeface="Times New Roman" pitchFamily="18" charset="0"/>
                    <a:cs typeface="Times New Roman" pitchFamily="18" charset="0"/>
                  </a:rPr>
                  <a:t>S=</a:t>
                </a:r>
                <a:r>
                  <a:rPr lang="en-US" sz="1900" i="0" dirty="0">
                    <a:solidFill>
                      <a:schemeClr val="tx2"/>
                    </a:solidFill>
                    <a:latin typeface="+mj-lt"/>
                    <a:ea typeface="Cambria Math" panose="02040503050406030204" pitchFamily="18" charset="0"/>
                    <a:cs typeface="Times New Roman" pitchFamily="18" charset="0"/>
                  </a:rPr>
                  <a:t>∅</a:t>
                </a:r>
                <a:r>
                  <a:rPr lang="en-US" sz="1900" dirty="0">
                    <a:solidFill>
                      <a:schemeClr val="tx2"/>
                    </a:solidFill>
                    <a:latin typeface="Times New Roman" pitchFamily="18" charset="0"/>
                    <a:cs typeface="Times New Roman" pitchFamily="18" charset="0"/>
                  </a:rPr>
                  <a:t>, for every vertex v that </a:t>
                </a:r>
                <a14:m>
                  <m:oMath xmlns:m="http://schemas.openxmlformats.org/officeDocument/2006/math">
                    <m:r>
                      <a:rPr lang="en-US" sz="1900" b="0" i="1" dirty="0" smtClean="0">
                        <a:solidFill>
                          <a:schemeClr val="tx2"/>
                        </a:solidFill>
                        <a:latin typeface="Cambria Math" panose="02040503050406030204" pitchFamily="18" charset="0"/>
                        <a:cs typeface="Times New Roman" pitchFamily="18" charset="0"/>
                      </a:rPr>
                      <m:t>𝑣</m:t>
                    </m:r>
                    <m:r>
                      <a:rPr lang="en-US" sz="1900" b="0" i="1" dirty="0" smtClean="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𝑎</m:t>
                    </m:r>
                    <m:r>
                      <a:rPr lang="en-US" sz="1900" b="0" i="1" dirty="0" smtClean="0">
                        <a:solidFill>
                          <a:schemeClr val="tx2"/>
                        </a:solidFill>
                        <a:latin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a:t>
                </a:r>
                <a14:m>
                  <m:oMath xmlns:m="http://schemas.openxmlformats.org/officeDocument/2006/math">
                    <m:r>
                      <a:rPr lang="en-US" sz="1900" b="0" i="1" dirty="0">
                        <a:solidFill>
                          <a:schemeClr val="tx2"/>
                        </a:solidFill>
                        <a:latin typeface="Cambria Math" panose="02040503050406030204" pitchFamily="18" charset="0"/>
                        <a:cs typeface="Times New Roman" pitchFamily="18" charset="0"/>
                      </a:rPr>
                      <m:t>𝐿</m:t>
                    </m:r>
                    <m:r>
                      <a:rPr lang="en-US" sz="1900" b="0" i="1" dirty="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𝑣</m:t>
                    </m:r>
                    <m:r>
                      <a:rPr lang="en-US" sz="1900" b="0" i="1" dirty="0">
                        <a:solidFill>
                          <a:schemeClr val="tx2"/>
                        </a:solidFill>
                        <a:latin typeface="Cambria Math" panose="02040503050406030204" pitchFamily="18" charset="0"/>
                        <a:cs typeface="Times New Roman" pitchFamily="18" charset="0"/>
                      </a:rPr>
                      <m:t>)=</m:t>
                    </m:r>
                    <m:r>
                      <a:rPr lang="en-US" sz="1900" b="0" i="1" dirty="0" smtClean="0">
                        <a:solidFill>
                          <a:schemeClr val="tx2"/>
                        </a:solidFill>
                        <a:latin typeface="Cambria Math" panose="02040503050406030204" pitchFamily="18" charset="0"/>
                        <a:cs typeface="Times New Roman" pitchFamily="18" charset="0"/>
                      </a:rPr>
                      <m:t>∞</m:t>
                    </m:r>
                  </m:oMath>
                </a14:m>
                <a:endParaRPr lang="en-US" sz="1900" dirty="0">
                  <a:solidFill>
                    <a:schemeClr val="tx2"/>
                  </a:solidFill>
                  <a:latin typeface="Times New Roman" pitchFamily="18" charset="0"/>
                  <a:cs typeface="Times New Roman" pitchFamily="18" charset="0"/>
                </a:endParaRPr>
              </a:p>
              <a:p>
                <a:pPr marL="457200" indent="-457200">
                  <a:lnSpc>
                    <a:spcPct val="150000"/>
                  </a:lnSpc>
                  <a:buFont typeface="+mj-lt"/>
                  <a:buAutoNum type="arabicPeriod"/>
                </a:pPr>
                <a:r>
                  <a:rPr lang="en-US" sz="1900" dirty="0">
                    <a:solidFill>
                      <a:schemeClr val="tx2"/>
                    </a:solidFill>
                    <a:latin typeface="Times New Roman" pitchFamily="18" charset="0"/>
                    <a:cs typeface="Times New Roman" pitchFamily="18" charset="0"/>
                  </a:rPr>
                  <a:t>Stop condition: </a:t>
                </a:r>
                <a14:m>
                  <m:oMath xmlns:m="http://schemas.openxmlformats.org/officeDocument/2006/math">
                    <m:r>
                      <m:rPr>
                        <m:sty m:val="p"/>
                      </m:rPr>
                      <a:rPr lang="en-US" sz="1900" b="0" i="0" smtClean="0">
                        <a:solidFill>
                          <a:schemeClr val="tx2"/>
                        </a:solidFill>
                        <a:latin typeface="Cambria Math" panose="02040503050406030204" pitchFamily="18" charset="0"/>
                        <a:ea typeface="Cambria Math" panose="02040503050406030204" pitchFamily="18" charset="0"/>
                        <a:cs typeface="Times New Roman" pitchFamily="18" charset="0"/>
                      </a:rPr>
                      <m:t>z</m:t>
                    </m:r>
                    <m:r>
                      <a:rPr lang="en-US" sz="1900" b="0" i="1"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1900" b="0" i="1" smtClean="0">
                        <a:solidFill>
                          <a:schemeClr val="tx2"/>
                        </a:solidFill>
                        <a:latin typeface="Cambria Math" panose="02040503050406030204" pitchFamily="18" charset="0"/>
                        <a:ea typeface="Cambria Math" panose="02040503050406030204" pitchFamily="18" charset="0"/>
                        <a:cs typeface="Times New Roman" pitchFamily="18" charset="0"/>
                      </a:rPr>
                      <m:t>𝑆</m:t>
                    </m:r>
                  </m:oMath>
                </a14:m>
                <a:r>
                  <a:rPr lang="en-US" sz="1900" dirty="0">
                    <a:solidFill>
                      <a:schemeClr val="tx2"/>
                    </a:solidFill>
                    <a:latin typeface="Times New Roman" pitchFamily="18" charset="0"/>
                    <a:cs typeface="Times New Roman" pitchFamily="18" charset="0"/>
                  </a:rPr>
                  <a:t>, L(z) is the minimum path from a to z</a:t>
                </a:r>
              </a:p>
              <a:p>
                <a:pPr marL="457200" indent="-457200">
                  <a:lnSpc>
                    <a:spcPct val="150000"/>
                  </a:lnSpc>
                  <a:buFont typeface="+mj-lt"/>
                  <a:buAutoNum type="arabicPeriod"/>
                </a:pPr>
                <a:r>
                  <a:rPr lang="en-US" sz="1900" dirty="0">
                    <a:solidFill>
                      <a:schemeClr val="tx2"/>
                    </a:solidFill>
                    <a:latin typeface="Times New Roman" pitchFamily="18" charset="0"/>
                    <a:cs typeface="Times New Roman" pitchFamily="18" charset="0"/>
                  </a:rPr>
                  <a:t>Find the next vertex: Find </a:t>
                </a:r>
                <a14:m>
                  <m:oMath xmlns:m="http://schemas.openxmlformats.org/officeDocument/2006/math">
                    <m:r>
                      <m:rPr>
                        <m:sty m:val="p"/>
                      </m:rPr>
                      <a:rPr lang="en-US" sz="1900" b="0" i="0" smtClean="0">
                        <a:solidFill>
                          <a:schemeClr val="tx2"/>
                        </a:solidFill>
                        <a:latin typeface="Cambria Math" panose="02040503050406030204" pitchFamily="18" charset="0"/>
                        <a:ea typeface="Cambria Math" panose="02040503050406030204" pitchFamily="18" charset="0"/>
                        <a:cs typeface="Times New Roman" pitchFamily="18" charset="0"/>
                      </a:rPr>
                      <m:t>v</m:t>
                    </m:r>
                    <m:r>
                      <a:rPr lang="en-US" sz="1900" b="0" i="1"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1900" b="0" i="1" smtClean="0">
                        <a:solidFill>
                          <a:schemeClr val="tx2"/>
                        </a:solidFill>
                        <a:latin typeface="Cambria Math" panose="02040503050406030204" pitchFamily="18" charset="0"/>
                        <a:ea typeface="Cambria Math" panose="02040503050406030204" pitchFamily="18" charset="0"/>
                        <a:cs typeface="Times New Roman" pitchFamily="18" charset="0"/>
                      </a:rPr>
                      <m:t>𝑉</m:t>
                    </m:r>
                    <m:r>
                      <a:rPr lang="en-US" sz="1900" b="0">
                        <a:solidFill>
                          <a:schemeClr val="tx2"/>
                        </a:solidFill>
                        <a:latin typeface="Cambria Math" panose="02040503050406030204" pitchFamily="18" charset="0"/>
                        <a:ea typeface="Cambria Math" panose="02040503050406030204" pitchFamily="18" charset="0"/>
                        <a:cs typeface="Times New Roman" pitchFamily="18" charset="0"/>
                      </a:rPr>
                      <m:t> (</m:t>
                    </m:r>
                    <m:r>
                      <m:rPr>
                        <m:sty m:val="p"/>
                      </m:rPr>
                      <a:rPr lang="en-US" sz="1900" b="0" i="0" smtClean="0">
                        <a:solidFill>
                          <a:schemeClr val="tx2"/>
                        </a:solidFill>
                        <a:latin typeface="Cambria Math" panose="02040503050406030204" pitchFamily="18" charset="0"/>
                        <a:ea typeface="Cambria Math" panose="02040503050406030204" pitchFamily="18" charset="0"/>
                        <a:cs typeface="Times New Roman" pitchFamily="18" charset="0"/>
                      </a:rPr>
                      <m:t>v</m:t>
                    </m:r>
                    <m:r>
                      <a:rPr lang="en-US" sz="1900" b="0" i="1" smtClean="0">
                        <a:solidFill>
                          <a:schemeClr val="tx2"/>
                        </a:solidFill>
                        <a:latin typeface="Cambria Math" panose="02040503050406030204" pitchFamily="18" charset="0"/>
                        <a:ea typeface="Cambria Math" panose="02040503050406030204" pitchFamily="18" charset="0"/>
                        <a:cs typeface="Times New Roman" pitchFamily="18" charset="0"/>
                      </a:rPr>
                      <m:t>∉</m:t>
                    </m:r>
                    <m:r>
                      <a:rPr lang="en-US" sz="1900" b="0" i="1">
                        <a:solidFill>
                          <a:schemeClr val="tx2"/>
                        </a:solidFill>
                        <a:latin typeface="Cambria Math" panose="02040503050406030204" pitchFamily="18" charset="0"/>
                        <a:ea typeface="Cambria Math" panose="02040503050406030204" pitchFamily="18" charset="0"/>
                        <a:cs typeface="Times New Roman" pitchFamily="18" charset="0"/>
                      </a:rPr>
                      <m:t>𝑆</m:t>
                    </m:r>
                    <m:r>
                      <a:rPr lang="en-US" sz="1900" b="0" i="0" smtClean="0">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900" dirty="0">
                    <a:solidFill>
                      <a:schemeClr val="tx2"/>
                    </a:solidFill>
                    <a:latin typeface="Times New Roman" pitchFamily="18" charset="0"/>
                    <a:cs typeface="Times New Roman" pitchFamily="18" charset="0"/>
                  </a:rPr>
                  <a:t> for L(v) is minimum</a:t>
                </a:r>
              </a:p>
              <a:p>
                <a:pPr marL="457200" indent="-457200">
                  <a:lnSpc>
                    <a:spcPct val="150000"/>
                  </a:lnSpc>
                  <a:buFont typeface="+mj-lt"/>
                  <a:buAutoNum type="arabicPeriod"/>
                </a:pPr>
                <a:r>
                  <a:rPr lang="en-US" sz="1900" dirty="0">
                    <a:solidFill>
                      <a:schemeClr val="tx2"/>
                    </a:solidFill>
                    <a:latin typeface="Times New Roman" pitchFamily="18" charset="0"/>
                    <a:cs typeface="Times New Roman" pitchFamily="18" charset="0"/>
                  </a:rPr>
                  <a:t>Label the vertex: For x vertex that is adjacency to y but not belong to S</a:t>
                </a:r>
              </a:p>
              <a:p>
                <a:pPr marL="0" indent="0">
                  <a:lnSpc>
                    <a:spcPct val="150000"/>
                  </a:lnSpc>
                  <a:buNone/>
                </a:pPr>
                <a:r>
                  <a:rPr lang="en-US" sz="1900" dirty="0">
                    <a:solidFill>
                      <a:schemeClr val="tx2"/>
                    </a:solidFill>
                    <a:latin typeface="Times New Roman" pitchFamily="18" charset="0"/>
                    <a:cs typeface="Times New Roman" pitchFamily="18" charset="0"/>
                  </a:rPr>
                  <a:t>	</a:t>
                </a:r>
                <a14:m>
                  <m:oMath xmlns:m="http://schemas.openxmlformats.org/officeDocument/2006/math">
                    <m:r>
                      <a:rPr lang="en-US" sz="1900" i="1" dirty="0" smtClean="0">
                        <a:solidFill>
                          <a:schemeClr val="tx2"/>
                        </a:solidFill>
                        <a:latin typeface="Cambria Math" panose="02040503050406030204" pitchFamily="18" charset="0"/>
                        <a:cs typeface="Times New Roman" pitchFamily="18" charset="0"/>
                      </a:rPr>
                      <m:t>𝐿</m:t>
                    </m:r>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𝑥</m:t>
                    </m:r>
                    <m:r>
                      <a:rPr lang="en-US" sz="1900" i="1" dirty="0" smtClean="0">
                        <a:solidFill>
                          <a:schemeClr val="tx2"/>
                        </a:solidFill>
                        <a:latin typeface="Cambria Math" panose="02040503050406030204" pitchFamily="18" charset="0"/>
                        <a:cs typeface="Times New Roman" pitchFamily="18" charset="0"/>
                      </a:rPr>
                      <m:t>)=</m:t>
                    </m:r>
                    <m:r>
                      <m:rPr>
                        <m:sty m:val="p"/>
                      </m:rPr>
                      <a:rPr lang="en-US" sz="1900" i="1" dirty="0" smtClean="0">
                        <a:solidFill>
                          <a:schemeClr val="tx2"/>
                        </a:solidFill>
                        <a:latin typeface="Cambria Math" panose="02040503050406030204" pitchFamily="18" charset="0"/>
                        <a:cs typeface="Times New Roman" pitchFamily="18" charset="0"/>
                      </a:rPr>
                      <m:t>min</m:t>
                    </m:r>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𝐿</m:t>
                    </m:r>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𝑥</m:t>
                    </m:r>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𝐿</m:t>
                    </m:r>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𝑣</m:t>
                    </m:r>
                    <m:r>
                      <a:rPr lang="en-US" sz="1900" i="1" dirty="0" smtClean="0">
                        <a:solidFill>
                          <a:schemeClr val="tx2"/>
                        </a:solidFill>
                        <a:latin typeface="Cambria Math" panose="02040503050406030204" pitchFamily="18" charset="0"/>
                        <a:cs typeface="Times New Roman" pitchFamily="18" charset="0"/>
                      </a:rPr>
                      <m:t>)+</m:t>
                    </m:r>
                    <m:r>
                      <a:rPr lang="en-US" sz="1900" i="1" dirty="0" smtClean="0">
                        <a:solidFill>
                          <a:schemeClr val="tx2"/>
                        </a:solidFill>
                        <a:latin typeface="Cambria Math" panose="02040503050406030204" pitchFamily="18" charset="0"/>
                        <a:cs typeface="Times New Roman" pitchFamily="18" charset="0"/>
                      </a:rPr>
                      <m:t>𝑤</m:t>
                    </m:r>
                    <m:r>
                      <a:rPr lang="en-US" sz="1900" i="1" dirty="0" smtClean="0">
                        <a:solidFill>
                          <a:schemeClr val="tx2"/>
                        </a:solidFill>
                        <a:latin typeface="Cambria Math" panose="02040503050406030204" pitchFamily="18" charset="0"/>
                        <a:cs typeface="Times New Roman" pitchFamily="18" charset="0"/>
                      </a:rPr>
                      <m:t>(</m:t>
                    </m:r>
                    <m:r>
                      <a:rPr lang="en-US" sz="1900" i="1" dirty="0" err="1" smtClean="0">
                        <a:solidFill>
                          <a:schemeClr val="tx2"/>
                        </a:solidFill>
                        <a:latin typeface="Cambria Math" panose="02040503050406030204" pitchFamily="18" charset="0"/>
                        <a:cs typeface="Times New Roman" pitchFamily="18" charset="0"/>
                      </a:rPr>
                      <m:t>𝑣</m:t>
                    </m:r>
                    <m:r>
                      <a:rPr lang="en-US" sz="1900" i="1" dirty="0" err="1" smtClean="0">
                        <a:solidFill>
                          <a:schemeClr val="tx2"/>
                        </a:solidFill>
                        <a:latin typeface="Cambria Math" panose="02040503050406030204" pitchFamily="18" charset="0"/>
                        <a:cs typeface="Times New Roman" pitchFamily="18" charset="0"/>
                      </a:rPr>
                      <m:t>,</m:t>
                    </m:r>
                    <m:r>
                      <a:rPr lang="en-US" sz="1900" i="1" dirty="0" err="1" smtClean="0">
                        <a:solidFill>
                          <a:schemeClr val="tx2"/>
                        </a:solidFill>
                        <a:latin typeface="Cambria Math" panose="02040503050406030204" pitchFamily="18" charset="0"/>
                        <a:cs typeface="Times New Roman" pitchFamily="18" charset="0"/>
                      </a:rPr>
                      <m:t>𝑥</m:t>
                    </m:r>
                    <m:r>
                      <a:rPr lang="en-US" sz="1900" i="1" dirty="0" smtClean="0">
                        <a:solidFill>
                          <a:schemeClr val="tx2"/>
                        </a:solidFill>
                        <a:latin typeface="Cambria Math" panose="02040503050406030204" pitchFamily="18" charset="0"/>
                        <a:cs typeface="Times New Roman" pitchFamily="18" charset="0"/>
                      </a:rPr>
                      <m:t>)}</m:t>
                    </m:r>
                  </m:oMath>
                </a14:m>
                <a:endParaRPr lang="en-US" sz="1900" dirty="0">
                  <a:solidFill>
                    <a:schemeClr val="tx2"/>
                  </a:solidFill>
                  <a:latin typeface="Times New Roman" pitchFamily="18" charset="0"/>
                  <a:cs typeface="Times New Roman" pitchFamily="18" charset="0"/>
                </a:endParaRPr>
              </a:p>
              <a:p>
                <a:pPr marL="0" indent="0">
                  <a:lnSpc>
                    <a:spcPct val="150000"/>
                  </a:lnSpc>
                  <a:buNone/>
                </a:pPr>
                <a:r>
                  <a:rPr lang="en-US" sz="1900" dirty="0">
                    <a:solidFill>
                      <a:schemeClr val="tx2"/>
                    </a:solidFill>
                    <a:latin typeface="Times New Roman" pitchFamily="18" charset="0"/>
                    <a:cs typeface="Times New Roman" pitchFamily="18" charset="0"/>
                  </a:rPr>
                  <a:t>5.     Back to 2.</a:t>
                </a:r>
              </a:p>
            </p:txBody>
          </p:sp>
        </mc:Choice>
        <mc:Fallback xmlns="">
          <p:sp>
            <p:nvSpPr>
              <p:cNvPr id="3" name="Content Placeholder 2">
                <a:extLst>
                  <a:ext uri="{FF2B5EF4-FFF2-40B4-BE49-F238E27FC236}">
                    <a16:creationId xmlns:a16="http://schemas.microsoft.com/office/drawing/2014/main" id="{5487E7D8-8D0C-82C5-AD91-2FE56300D128}"/>
                  </a:ext>
                </a:extLst>
              </p:cNvPr>
              <p:cNvSpPr>
                <a:spLocks noGrp="1" noRot="1" noChangeAspect="1" noMove="1" noResize="1" noEditPoints="1" noAdjustHandles="1" noChangeArrowheads="1" noChangeShapeType="1" noTextEdit="1"/>
              </p:cNvSpPr>
              <p:nvPr>
                <p:ph idx="1"/>
              </p:nvPr>
            </p:nvSpPr>
            <p:spPr>
              <a:xfrm>
                <a:off x="0" y="701006"/>
                <a:ext cx="8229600" cy="4525963"/>
              </a:xfrm>
              <a:blipFill>
                <a:blip r:embed="rId4"/>
                <a:stretch>
                  <a:fillRect l="-667" t="-674"/>
                </a:stretch>
              </a:blipFill>
            </p:spPr>
            <p:txBody>
              <a:bodyPr/>
              <a:lstStyle/>
              <a:p>
                <a:r>
                  <a:rPr lang="en-US">
                    <a:noFill/>
                  </a:rPr>
                  <a:t> </a:t>
                </a:r>
              </a:p>
            </p:txBody>
          </p:sp>
        </mc:Fallback>
      </mc:AlternateContent>
    </p:spTree>
    <p:extLst>
      <p:ext uri="{BB962C8B-B14F-4D97-AF65-F5344CB8AC3E}">
        <p14:creationId xmlns:p14="http://schemas.microsoft.com/office/powerpoint/2010/main" val="12354240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1D820EF9-CFBD-E911-8A01-8CE82E00FBE6}"/>
              </a:ext>
            </a:extLst>
          </p:cNvPr>
          <p:cNvPicPr>
            <a:picLocks noChangeAspect="1"/>
          </p:cNvPicPr>
          <p:nvPr/>
        </p:nvPicPr>
        <p:blipFill>
          <a:blip r:embed="rId4"/>
          <a:stretch>
            <a:fillRect/>
          </a:stretch>
        </p:blipFill>
        <p:spPr>
          <a:xfrm>
            <a:off x="868149" y="1375593"/>
            <a:ext cx="7924800" cy="4552382"/>
          </a:xfrm>
          <a:prstGeom prst="rect">
            <a:avLst/>
          </a:prstGeom>
        </p:spPr>
      </p:pic>
    </p:spTree>
    <p:extLst>
      <p:ext uri="{BB962C8B-B14F-4D97-AF65-F5344CB8AC3E}">
        <p14:creationId xmlns:p14="http://schemas.microsoft.com/office/powerpoint/2010/main" val="14585062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6E531E71-BCD9-2E60-7FC6-C67BC2659A90}"/>
              </a:ext>
            </a:extLst>
          </p:cNvPr>
          <p:cNvPicPr>
            <a:picLocks noChangeAspect="1"/>
          </p:cNvPicPr>
          <p:nvPr/>
        </p:nvPicPr>
        <p:blipFill>
          <a:blip r:embed="rId4"/>
          <a:stretch>
            <a:fillRect/>
          </a:stretch>
        </p:blipFill>
        <p:spPr>
          <a:xfrm>
            <a:off x="914400" y="1435491"/>
            <a:ext cx="7315200" cy="4488736"/>
          </a:xfrm>
          <a:prstGeom prst="rect">
            <a:avLst/>
          </a:prstGeom>
        </p:spPr>
      </p:pic>
    </p:spTree>
    <p:extLst>
      <p:ext uri="{BB962C8B-B14F-4D97-AF65-F5344CB8AC3E}">
        <p14:creationId xmlns:p14="http://schemas.microsoft.com/office/powerpoint/2010/main" val="33131347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5A7F27C1-B2C0-ADB7-06F0-85C26E8B89AF}"/>
              </a:ext>
            </a:extLst>
          </p:cNvPr>
          <p:cNvPicPr>
            <a:picLocks noChangeAspect="1"/>
          </p:cNvPicPr>
          <p:nvPr/>
        </p:nvPicPr>
        <p:blipFill>
          <a:blip r:embed="rId4"/>
          <a:stretch>
            <a:fillRect/>
          </a:stretch>
        </p:blipFill>
        <p:spPr>
          <a:xfrm>
            <a:off x="762000" y="1251564"/>
            <a:ext cx="7620000" cy="5056966"/>
          </a:xfrm>
          <a:prstGeom prst="rect">
            <a:avLst/>
          </a:prstGeom>
        </p:spPr>
      </p:pic>
    </p:spTree>
    <p:extLst>
      <p:ext uri="{BB962C8B-B14F-4D97-AF65-F5344CB8AC3E}">
        <p14:creationId xmlns:p14="http://schemas.microsoft.com/office/powerpoint/2010/main" val="3278643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55365D69-CC0D-77C9-1C47-083771E6CFB4}"/>
              </a:ext>
            </a:extLst>
          </p:cNvPr>
          <p:cNvPicPr>
            <a:picLocks noChangeAspect="1"/>
          </p:cNvPicPr>
          <p:nvPr/>
        </p:nvPicPr>
        <p:blipFill>
          <a:blip r:embed="rId4"/>
          <a:stretch>
            <a:fillRect/>
          </a:stretch>
        </p:blipFill>
        <p:spPr>
          <a:xfrm>
            <a:off x="914400" y="1433411"/>
            <a:ext cx="7620000" cy="4988969"/>
          </a:xfrm>
          <a:prstGeom prst="rect">
            <a:avLst/>
          </a:prstGeom>
        </p:spPr>
      </p:pic>
    </p:spTree>
    <p:extLst>
      <p:ext uri="{BB962C8B-B14F-4D97-AF65-F5344CB8AC3E}">
        <p14:creationId xmlns:p14="http://schemas.microsoft.com/office/powerpoint/2010/main" val="21524290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28620614-845E-CD56-7940-FCA888BBD38F}"/>
              </a:ext>
            </a:extLst>
          </p:cNvPr>
          <p:cNvPicPr>
            <a:picLocks noChangeAspect="1"/>
          </p:cNvPicPr>
          <p:nvPr/>
        </p:nvPicPr>
        <p:blipFill>
          <a:blip r:embed="rId4"/>
          <a:stretch>
            <a:fillRect/>
          </a:stretch>
        </p:blipFill>
        <p:spPr>
          <a:xfrm>
            <a:off x="1051616" y="1066800"/>
            <a:ext cx="7040767" cy="5308673"/>
          </a:xfrm>
          <a:prstGeom prst="rect">
            <a:avLst/>
          </a:prstGeom>
        </p:spPr>
      </p:pic>
    </p:spTree>
    <p:extLst>
      <p:ext uri="{BB962C8B-B14F-4D97-AF65-F5344CB8AC3E}">
        <p14:creationId xmlns:p14="http://schemas.microsoft.com/office/powerpoint/2010/main" val="40261250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4">
            <a:extLst>
              <a:ext uri="{FF2B5EF4-FFF2-40B4-BE49-F238E27FC236}">
                <a16:creationId xmlns:a16="http://schemas.microsoft.com/office/drawing/2014/main" id="{7CA13117-B08A-F9FF-2B45-D87F0F433E5C}"/>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CB8DA2B0-A65D-5B2E-4375-94610675D1BF}"/>
              </a:ext>
            </a:extLst>
          </p:cNvPr>
          <p:cNvPicPr>
            <a:picLocks noChangeAspect="1"/>
          </p:cNvPicPr>
          <p:nvPr/>
        </p:nvPicPr>
        <p:blipFill>
          <a:blip r:embed="rId4"/>
          <a:stretch>
            <a:fillRect/>
          </a:stretch>
        </p:blipFill>
        <p:spPr>
          <a:xfrm>
            <a:off x="3967048" y="815896"/>
            <a:ext cx="4271245" cy="2552736"/>
          </a:xfrm>
          <a:prstGeom prst="rect">
            <a:avLst/>
          </a:prstGeom>
        </p:spPr>
      </p:pic>
      <p:pic>
        <p:nvPicPr>
          <p:cNvPr id="12" name="Picture 11">
            <a:extLst>
              <a:ext uri="{FF2B5EF4-FFF2-40B4-BE49-F238E27FC236}">
                <a16:creationId xmlns:a16="http://schemas.microsoft.com/office/drawing/2014/main" id="{2A94D250-1F1A-0390-D562-6ABBB0CE251E}"/>
              </a:ext>
            </a:extLst>
          </p:cNvPr>
          <p:cNvPicPr>
            <a:picLocks noChangeAspect="1"/>
          </p:cNvPicPr>
          <p:nvPr/>
        </p:nvPicPr>
        <p:blipFill>
          <a:blip r:embed="rId5"/>
          <a:stretch>
            <a:fillRect/>
          </a:stretch>
        </p:blipFill>
        <p:spPr>
          <a:xfrm>
            <a:off x="443419" y="3382351"/>
            <a:ext cx="7943264" cy="2757974"/>
          </a:xfrm>
          <a:prstGeom prst="rect">
            <a:avLst/>
          </a:prstGeom>
        </p:spPr>
      </p:pic>
    </p:spTree>
    <p:extLst>
      <p:ext uri="{BB962C8B-B14F-4D97-AF65-F5344CB8AC3E}">
        <p14:creationId xmlns:p14="http://schemas.microsoft.com/office/powerpoint/2010/main" val="100473184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08B70536-031A-42C0-50CA-2B92EBB551D1}"/>
              </a:ext>
            </a:extLst>
          </p:cNvPr>
          <p:cNvPicPr>
            <a:picLocks noChangeAspect="1"/>
          </p:cNvPicPr>
          <p:nvPr/>
        </p:nvPicPr>
        <p:blipFill>
          <a:blip r:embed="rId4"/>
          <a:stretch>
            <a:fillRect/>
          </a:stretch>
        </p:blipFill>
        <p:spPr>
          <a:xfrm>
            <a:off x="4251994" y="739318"/>
            <a:ext cx="4411529" cy="2689682"/>
          </a:xfrm>
          <a:prstGeom prst="rect">
            <a:avLst/>
          </a:prstGeom>
        </p:spPr>
      </p:pic>
      <p:pic>
        <p:nvPicPr>
          <p:cNvPr id="10" name="Picture 9">
            <a:extLst>
              <a:ext uri="{FF2B5EF4-FFF2-40B4-BE49-F238E27FC236}">
                <a16:creationId xmlns:a16="http://schemas.microsoft.com/office/drawing/2014/main" id="{7C4F1DC4-E834-AB03-791C-512D9E2C14F6}"/>
              </a:ext>
            </a:extLst>
          </p:cNvPr>
          <p:cNvPicPr>
            <a:picLocks noChangeAspect="1"/>
          </p:cNvPicPr>
          <p:nvPr/>
        </p:nvPicPr>
        <p:blipFill>
          <a:blip r:embed="rId5"/>
          <a:stretch>
            <a:fillRect/>
          </a:stretch>
        </p:blipFill>
        <p:spPr>
          <a:xfrm>
            <a:off x="935604" y="3408412"/>
            <a:ext cx="7789889" cy="3068513"/>
          </a:xfrm>
          <a:prstGeom prst="rect">
            <a:avLst/>
          </a:prstGeom>
        </p:spPr>
      </p:pic>
    </p:spTree>
    <p:extLst>
      <p:ext uri="{BB962C8B-B14F-4D97-AF65-F5344CB8AC3E}">
        <p14:creationId xmlns:p14="http://schemas.microsoft.com/office/powerpoint/2010/main" val="12200150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A9B710D3-1AE7-E51D-CEDD-A9578395419B}"/>
              </a:ext>
            </a:extLst>
          </p:cNvPr>
          <p:cNvPicPr>
            <a:picLocks noChangeAspect="1"/>
          </p:cNvPicPr>
          <p:nvPr/>
        </p:nvPicPr>
        <p:blipFill>
          <a:blip r:embed="rId4"/>
          <a:stretch>
            <a:fillRect/>
          </a:stretch>
        </p:blipFill>
        <p:spPr>
          <a:xfrm>
            <a:off x="5796187" y="769036"/>
            <a:ext cx="3296542" cy="1999613"/>
          </a:xfrm>
          <a:prstGeom prst="rect">
            <a:avLst/>
          </a:prstGeom>
        </p:spPr>
      </p:pic>
      <p:pic>
        <p:nvPicPr>
          <p:cNvPr id="12" name="Picture 11">
            <a:extLst>
              <a:ext uri="{FF2B5EF4-FFF2-40B4-BE49-F238E27FC236}">
                <a16:creationId xmlns:a16="http://schemas.microsoft.com/office/drawing/2014/main" id="{514988AD-8307-EF59-E7B4-9839575D1F2E}"/>
              </a:ext>
            </a:extLst>
          </p:cNvPr>
          <p:cNvPicPr>
            <a:picLocks noChangeAspect="1"/>
          </p:cNvPicPr>
          <p:nvPr/>
        </p:nvPicPr>
        <p:blipFill>
          <a:blip r:embed="rId5"/>
          <a:stretch>
            <a:fillRect/>
          </a:stretch>
        </p:blipFill>
        <p:spPr>
          <a:xfrm>
            <a:off x="206378" y="2836679"/>
            <a:ext cx="7238080" cy="3669205"/>
          </a:xfrm>
          <a:prstGeom prst="rect">
            <a:avLst/>
          </a:prstGeom>
        </p:spPr>
      </p:pic>
    </p:spTree>
    <p:extLst>
      <p:ext uri="{BB962C8B-B14F-4D97-AF65-F5344CB8AC3E}">
        <p14:creationId xmlns:p14="http://schemas.microsoft.com/office/powerpoint/2010/main" val="327122642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7D1C7724-CF2E-1F09-2480-0CA3AEB57B0E}"/>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E4F5DBD6-A356-298C-3A53-DA60DFA7FA3C}"/>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2FF6706-242D-5DBC-434F-0D6F35D052C1}"/>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78</a:t>
            </a:r>
            <a:endParaRPr lang="en-US" dirty="0"/>
          </a:p>
        </p:txBody>
      </p:sp>
      <p:sp>
        <p:nvSpPr>
          <p:cNvPr id="3" name="Content Placeholder 2">
            <a:extLst>
              <a:ext uri="{FF2B5EF4-FFF2-40B4-BE49-F238E27FC236}">
                <a16:creationId xmlns:a16="http://schemas.microsoft.com/office/drawing/2014/main" id="{5487E7D8-8D0C-82C5-AD91-2FE56300D128}"/>
              </a:ext>
            </a:extLst>
          </p:cNvPr>
          <p:cNvSpPr>
            <a:spLocks noGrp="1"/>
          </p:cNvSpPr>
          <p:nvPr>
            <p:ph idx="1"/>
          </p:nvPr>
        </p:nvSpPr>
        <p:spPr>
          <a:xfrm>
            <a:off x="0" y="701006"/>
            <a:ext cx="8229600" cy="4525963"/>
          </a:xfrm>
        </p:spPr>
        <p:txBody>
          <a:bodyPr/>
          <a:lstStyle/>
          <a:p>
            <a:pPr marL="0" indent="0">
              <a:buNone/>
            </a:pPr>
            <a:r>
              <a:rPr lang="en-US" sz="1900" b="1" dirty="0">
                <a:solidFill>
                  <a:schemeClr val="tx2"/>
                </a:solidFill>
                <a:latin typeface="Times New Roman" pitchFamily="18" charset="0"/>
                <a:cs typeface="Times New Roman" pitchFamily="18" charset="0"/>
              </a:rPr>
              <a:t>6.3.3. Shortest path problem</a:t>
            </a:r>
          </a:p>
          <a:p>
            <a:pPr marL="342900" indent="-342900" algn="just">
              <a:lnSpc>
                <a:spcPct val="200000"/>
              </a:lnSpc>
              <a:buFont typeface="Arial" panose="020B0604020202020204" pitchFamily="34" charset="0"/>
              <a:buChar char="•"/>
              <a:defRPr/>
            </a:pPr>
            <a:endParaRPr lang="en-US" sz="1900" b="1" dirty="0">
              <a:solidFill>
                <a:schemeClr val="tx2"/>
              </a:solidFill>
              <a:latin typeface="Times New Roman" pitchFamily="18" charset="0"/>
              <a:cs typeface="Times New Roman" pitchFamily="18" charset="0"/>
            </a:endParaRPr>
          </a:p>
        </p:txBody>
      </p:sp>
      <p:sp>
        <p:nvSpPr>
          <p:cNvPr id="4" name="AutoShape 2" descr="Đồ thị $G$">
            <a:extLst>
              <a:ext uri="{FF2B5EF4-FFF2-40B4-BE49-F238E27FC236}">
                <a16:creationId xmlns:a16="http://schemas.microsoft.com/office/drawing/2014/main" id="{55AADD0F-AB57-E62A-4AC1-A14406860EE0}"/>
              </a:ext>
            </a:extLst>
          </p:cNvPr>
          <p:cNvSpPr>
            <a:spLocks noChangeAspect="1" noChangeArrowheads="1"/>
          </p:cNvSpPr>
          <p:nvPr/>
        </p:nvSpPr>
        <p:spPr bwMode="auto">
          <a:xfrm>
            <a:off x="2438400" y="3276600"/>
            <a:ext cx="2286000" cy="2286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D79879AF-8144-2913-5687-EBF0E54AD6C9}"/>
              </a:ext>
            </a:extLst>
          </p:cNvPr>
          <p:cNvPicPr>
            <a:picLocks noChangeAspect="1"/>
          </p:cNvPicPr>
          <p:nvPr/>
        </p:nvPicPr>
        <p:blipFill>
          <a:blip r:embed="rId4"/>
          <a:stretch>
            <a:fillRect/>
          </a:stretch>
        </p:blipFill>
        <p:spPr>
          <a:xfrm>
            <a:off x="88900" y="1295400"/>
            <a:ext cx="3609975" cy="2209800"/>
          </a:xfrm>
          <a:prstGeom prst="rect">
            <a:avLst/>
          </a:prstGeom>
        </p:spPr>
      </p:pic>
      <p:pic>
        <p:nvPicPr>
          <p:cNvPr id="9" name="Picture 8">
            <a:extLst>
              <a:ext uri="{FF2B5EF4-FFF2-40B4-BE49-F238E27FC236}">
                <a16:creationId xmlns:a16="http://schemas.microsoft.com/office/drawing/2014/main" id="{9F0B1E82-3DCA-C60F-2A68-1FB280A45DF3}"/>
              </a:ext>
            </a:extLst>
          </p:cNvPr>
          <p:cNvPicPr>
            <a:picLocks noChangeAspect="1"/>
          </p:cNvPicPr>
          <p:nvPr/>
        </p:nvPicPr>
        <p:blipFill>
          <a:blip r:embed="rId5"/>
          <a:stretch>
            <a:fillRect/>
          </a:stretch>
        </p:blipFill>
        <p:spPr>
          <a:xfrm>
            <a:off x="3738908" y="1368713"/>
            <a:ext cx="5377925" cy="3050887"/>
          </a:xfrm>
          <a:prstGeom prst="rect">
            <a:avLst/>
          </a:prstGeom>
        </p:spPr>
      </p:pic>
    </p:spTree>
    <p:extLst>
      <p:ext uri="{BB962C8B-B14F-4D97-AF65-F5344CB8AC3E}">
        <p14:creationId xmlns:p14="http://schemas.microsoft.com/office/powerpoint/2010/main" val="38869947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Untitled.png">
            <a:extLst>
              <a:ext uri="{FF2B5EF4-FFF2-40B4-BE49-F238E27FC236}">
                <a16:creationId xmlns:a16="http://schemas.microsoft.com/office/drawing/2014/main" id="{15145840-B4FD-4C52-06BF-F6D95CA0BFCC}"/>
              </a:ext>
            </a:extLst>
          </p:cNvPr>
          <p:cNvPicPr>
            <a:picLocks noChangeAspect="1"/>
          </p:cNvPicPr>
          <p:nvPr/>
        </p:nvPicPr>
        <p:blipFill>
          <a:blip r:embed="rId3"/>
          <a:stretch>
            <a:fillRect/>
          </a:stretch>
        </p:blipFill>
        <p:spPr>
          <a:xfrm>
            <a:off x="0" y="0"/>
            <a:ext cx="9144000" cy="6857143"/>
          </a:xfrm>
          <a:prstGeom prst="rect">
            <a:avLst/>
          </a:prstGeom>
        </p:spPr>
      </p:pic>
      <p:sp>
        <p:nvSpPr>
          <p:cNvPr id="7" name="Rectangle 5">
            <a:extLst>
              <a:ext uri="{FF2B5EF4-FFF2-40B4-BE49-F238E27FC236}">
                <a16:creationId xmlns:a16="http://schemas.microsoft.com/office/drawing/2014/main" id="{A1C96792-B8D5-8ACF-27C1-A229D1721E75}"/>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8" name="Rectangle 7">
            <a:extLst>
              <a:ext uri="{FF2B5EF4-FFF2-40B4-BE49-F238E27FC236}">
                <a16:creationId xmlns:a16="http://schemas.microsoft.com/office/drawing/2014/main" id="{615313BF-F193-58C0-6AFA-3B9791BFFBC0}"/>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pic>
        <p:nvPicPr>
          <p:cNvPr id="21511" name="Picture 2" descr="http://www.hn-ams.org/map/images/world_map.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400" y="1074426"/>
            <a:ext cx="86868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4B11998E-FFA5-EC26-5B8A-1E50FCCEF897}"/>
              </a:ext>
            </a:extLst>
          </p:cNvPr>
          <p:cNvSpPr txBox="1"/>
          <p:nvPr/>
        </p:nvSpPr>
        <p:spPr>
          <a:xfrm>
            <a:off x="0" y="869220"/>
            <a:ext cx="4572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endParaRPr lang="en-US" dirty="0"/>
          </a:p>
        </p:txBody>
      </p:sp>
    </p:spTree>
    <p:extLst>
      <p:ext uri="{BB962C8B-B14F-4D97-AF65-F5344CB8AC3E}">
        <p14:creationId xmlns:p14="http://schemas.microsoft.com/office/powerpoint/2010/main" val="9726603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09E9BFE5-8EA2-19D9-18B3-A38CE479BB3F}"/>
              </a:ext>
            </a:extLst>
          </p:cNvPr>
          <p:cNvPicPr>
            <a:picLocks noChangeAspect="1"/>
          </p:cNvPicPr>
          <p:nvPr/>
        </p:nvPicPr>
        <p:blipFill>
          <a:blip r:embed="rId3"/>
          <a:stretch>
            <a:fillRect/>
          </a:stretch>
        </p:blipFill>
        <p:spPr>
          <a:xfrm>
            <a:off x="0" y="0"/>
            <a:ext cx="9144000" cy="6857143"/>
          </a:xfrm>
          <a:prstGeom prst="rect">
            <a:avLst/>
          </a:prstGeom>
        </p:spPr>
      </p:pic>
      <p:sp>
        <p:nvSpPr>
          <p:cNvPr id="3" name="Rectangle 5">
            <a:extLst>
              <a:ext uri="{FF2B5EF4-FFF2-40B4-BE49-F238E27FC236}">
                <a16:creationId xmlns:a16="http://schemas.microsoft.com/office/drawing/2014/main" id="{9D3883CA-3841-5F95-F599-2FDF5B4BBA18}"/>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4" name="Rectangle 3">
            <a:extLst>
              <a:ext uri="{FF2B5EF4-FFF2-40B4-BE49-F238E27FC236}">
                <a16:creationId xmlns:a16="http://schemas.microsoft.com/office/drawing/2014/main" id="{3F30859C-EE15-7AAE-7FD1-3D2B579FC7FE}"/>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pic>
        <p:nvPicPr>
          <p:cNvPr id="2253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333500"/>
            <a:ext cx="30480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7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0250" y="1295400"/>
            <a:ext cx="31051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ight Arrow 8"/>
          <p:cNvSpPr>
            <a:spLocks noChangeArrowheads="1"/>
          </p:cNvSpPr>
          <p:nvPr/>
        </p:nvSpPr>
        <p:spPr bwMode="auto">
          <a:xfrm>
            <a:off x="3657600" y="2133600"/>
            <a:ext cx="1905000" cy="228600"/>
          </a:xfrm>
          <a:prstGeom prst="rightArrow">
            <a:avLst>
              <a:gd name="adj1" fmla="val 50000"/>
              <a:gd name="adj2" fmla="val 50000"/>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0" name="TextBox 9"/>
          <p:cNvSpPr txBox="1">
            <a:spLocks noChangeArrowheads="1"/>
          </p:cNvSpPr>
          <p:nvPr/>
        </p:nvSpPr>
        <p:spPr bwMode="auto">
          <a:xfrm>
            <a:off x="3657600" y="1524000"/>
            <a:ext cx="182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charset="0"/>
                <a:cs typeface="Arial" charset="0"/>
              </a:rPr>
              <a:t>3 colors</a:t>
            </a:r>
          </a:p>
        </p:txBody>
      </p:sp>
      <p:pic>
        <p:nvPicPr>
          <p:cNvPr id="522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3733800"/>
            <a:ext cx="32099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5950" y="3600450"/>
            <a:ext cx="3295650" cy="180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a:spLocks noChangeArrowheads="1"/>
          </p:cNvSpPr>
          <p:nvPr/>
        </p:nvSpPr>
        <p:spPr bwMode="auto">
          <a:xfrm>
            <a:off x="7505700" y="4114800"/>
            <a:ext cx="60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1" i="0" u="none" strike="noStrike" kern="1200" cap="none" spc="0" normalizeH="0" baseline="0" noProof="0">
                <a:ln>
                  <a:noFill/>
                </a:ln>
                <a:solidFill>
                  <a:prstClr val="black"/>
                </a:solidFill>
                <a:effectLst/>
                <a:uLnTx/>
                <a:uFillTx/>
                <a:latin typeface="Arial" charset="0"/>
                <a:cs typeface="Arial" charset="0"/>
              </a:rPr>
              <a:t>?</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pic>
        <p:nvPicPr>
          <p:cNvPr id="5222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7550" y="3581400"/>
            <a:ext cx="321945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ight Arrow 14"/>
          <p:cNvSpPr>
            <a:spLocks noChangeArrowheads="1"/>
          </p:cNvSpPr>
          <p:nvPr/>
        </p:nvSpPr>
        <p:spPr bwMode="auto">
          <a:xfrm>
            <a:off x="3886200" y="4724400"/>
            <a:ext cx="1905000" cy="228600"/>
          </a:xfrm>
          <a:prstGeom prst="rightArrow">
            <a:avLst>
              <a:gd name="adj1" fmla="val 50000"/>
              <a:gd name="adj2" fmla="val 50000"/>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6" name="TextBox 15"/>
          <p:cNvSpPr txBox="1">
            <a:spLocks noChangeArrowheads="1"/>
          </p:cNvSpPr>
          <p:nvPr/>
        </p:nvSpPr>
        <p:spPr bwMode="auto">
          <a:xfrm>
            <a:off x="3886200" y="4114800"/>
            <a:ext cx="1828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lvl="0" eaLnBrk="1" hangingPunct="1">
              <a:defRPr/>
            </a:pPr>
            <a:r>
              <a:rPr lang="en-US" altLang="en-US" sz="2000" b="1" dirty="0">
                <a:solidFill>
                  <a:prstClr val="black"/>
                </a:solidFill>
              </a:rPr>
              <a:t>4 colors</a:t>
            </a:r>
          </a:p>
        </p:txBody>
      </p:sp>
      <p:sp>
        <p:nvSpPr>
          <p:cNvPr id="7" name="TextBox 6">
            <a:extLst>
              <a:ext uri="{FF2B5EF4-FFF2-40B4-BE49-F238E27FC236}">
                <a16:creationId xmlns:a16="http://schemas.microsoft.com/office/drawing/2014/main" id="{C8DE83D8-28D3-A46B-A7AF-E990643C23E4}"/>
              </a:ext>
            </a:extLst>
          </p:cNvPr>
          <p:cNvSpPr txBox="1"/>
          <p:nvPr/>
        </p:nvSpPr>
        <p:spPr>
          <a:xfrm>
            <a:off x="0" y="869220"/>
            <a:ext cx="4572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endParaRPr lang="en-US" dirty="0"/>
          </a:p>
        </p:txBody>
      </p:sp>
    </p:spTree>
    <p:extLst>
      <p:ext uri="{BB962C8B-B14F-4D97-AF65-F5344CB8AC3E}">
        <p14:creationId xmlns:p14="http://schemas.microsoft.com/office/powerpoint/2010/main" val="39493995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0179"/>
                                        </p:tgtEl>
                                        <p:attrNameLst>
                                          <p:attrName>style.visibility</p:attrName>
                                        </p:attrNameLst>
                                      </p:cBhvr>
                                      <p:to>
                                        <p:strVal val="visible"/>
                                      </p:to>
                                    </p:set>
                                    <p:animEffect transition="in" filter="box(in)">
                                      <p:cBhvr>
                                        <p:cTn id="7" dur="500"/>
                                        <p:tgtEl>
                                          <p:spTgt spid="501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ox(in)">
                                      <p:cBhvr>
                                        <p:cTn id="15" dur="500"/>
                                        <p:tgtEl>
                                          <p:spTgt spid="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nodeType="clickEffect">
                                  <p:stCondLst>
                                    <p:cond delay="0"/>
                                  </p:stCondLst>
                                  <p:childTnLst>
                                    <p:set>
                                      <p:cBhvr>
                                        <p:cTn id="19" dur="1" fill="hold">
                                          <p:stCondLst>
                                            <p:cond delay="0"/>
                                          </p:stCondLst>
                                        </p:cTn>
                                        <p:tgtEl>
                                          <p:spTgt spid="52226"/>
                                        </p:tgtEl>
                                        <p:attrNameLst>
                                          <p:attrName>style.visibility</p:attrName>
                                        </p:attrNameLst>
                                      </p:cBhvr>
                                      <p:to>
                                        <p:strVal val="visible"/>
                                      </p:to>
                                    </p:set>
                                    <p:animEffect transition="in" filter="box(in)">
                                      <p:cBhvr>
                                        <p:cTn id="20" dur="500"/>
                                        <p:tgtEl>
                                          <p:spTgt spid="5222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52227"/>
                                        </p:tgtEl>
                                        <p:attrNameLst>
                                          <p:attrName>style.visibility</p:attrName>
                                        </p:attrNameLst>
                                      </p:cBhvr>
                                      <p:to>
                                        <p:strVal val="visible"/>
                                      </p:to>
                                    </p:set>
                                    <p:animEffect transition="in" filter="box(in)">
                                      <p:cBhvr>
                                        <p:cTn id="25" dur="500"/>
                                        <p:tgtEl>
                                          <p:spTgt spid="5222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ox(in)">
                                      <p:cBhvr>
                                        <p:cTn id="30" dur="500"/>
                                        <p:tgtEl>
                                          <p:spTgt spid="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ox(in)">
                                      <p:cBhvr>
                                        <p:cTn id="35" dur="500"/>
                                        <p:tgtEl>
                                          <p:spTgt spid="16"/>
                                        </p:tgtEl>
                                      </p:cBhvr>
                                    </p:animEffect>
                                  </p:childTnLst>
                                </p:cTn>
                              </p:par>
                              <p:par>
                                <p:cTn id="36" presetID="4" presetClass="entr" presetSubtype="16"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box(in)">
                                      <p:cBhvr>
                                        <p:cTn id="38" dur="500"/>
                                        <p:tgtEl>
                                          <p:spTgt spid="1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16" fill="hold" nodeType="clickEffect">
                                  <p:stCondLst>
                                    <p:cond delay="0"/>
                                  </p:stCondLst>
                                  <p:childTnLst>
                                    <p:set>
                                      <p:cBhvr>
                                        <p:cTn id="42" dur="1" fill="hold">
                                          <p:stCondLst>
                                            <p:cond delay="0"/>
                                          </p:stCondLst>
                                        </p:cTn>
                                        <p:tgtEl>
                                          <p:spTgt spid="52228"/>
                                        </p:tgtEl>
                                        <p:attrNameLst>
                                          <p:attrName>style.visibility</p:attrName>
                                        </p:attrNameLst>
                                      </p:cBhvr>
                                      <p:to>
                                        <p:strVal val="visible"/>
                                      </p:to>
                                    </p:set>
                                    <p:animEffect transition="in" filter="box(in)">
                                      <p:cBhvr>
                                        <p:cTn id="43" dur="500"/>
                                        <p:tgtEl>
                                          <p:spTgt spid="52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3" grpId="0"/>
      <p:bldP spid="15" grpId="0" animBg="1"/>
      <p:bldP spid="1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CBE6FD1F-5F62-BE56-E632-52C304F6739A}"/>
              </a:ext>
            </a:extLst>
          </p:cNvPr>
          <p:cNvPicPr>
            <a:picLocks noChangeAspect="1"/>
          </p:cNvPicPr>
          <p:nvPr/>
        </p:nvPicPr>
        <p:blipFill>
          <a:blip r:embed="rId3"/>
          <a:stretch>
            <a:fillRect/>
          </a:stretch>
        </p:blipFill>
        <p:spPr>
          <a:xfrm>
            <a:off x="0" y="0"/>
            <a:ext cx="9144000" cy="6857143"/>
          </a:xfrm>
          <a:prstGeom prst="rect">
            <a:avLst/>
          </a:prstGeom>
        </p:spPr>
      </p:pic>
      <p:sp>
        <p:nvSpPr>
          <p:cNvPr id="3" name="Rectangle 5">
            <a:extLst>
              <a:ext uri="{FF2B5EF4-FFF2-40B4-BE49-F238E27FC236}">
                <a16:creationId xmlns:a16="http://schemas.microsoft.com/office/drawing/2014/main" id="{6A369C17-B0E5-3606-0793-EF68AD21305A}"/>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4" name="Rectangle 3">
            <a:extLst>
              <a:ext uri="{FF2B5EF4-FFF2-40B4-BE49-F238E27FC236}">
                <a16:creationId xmlns:a16="http://schemas.microsoft.com/office/drawing/2014/main" id="{E73E07F3-19DB-FDDD-7DF6-3CCC91ED4D10}"/>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pic>
        <p:nvPicPr>
          <p:cNvPr id="23559" name="Picture 2" descr="http://enervisioninc.com/joss/images/south_america_map.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295400"/>
            <a:ext cx="3897086" cy="4588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5EB7A07A-576E-4CC1-8AEC-02B32EF2FEF1}"/>
              </a:ext>
            </a:extLst>
          </p:cNvPr>
          <p:cNvSpPr txBox="1"/>
          <p:nvPr/>
        </p:nvSpPr>
        <p:spPr>
          <a:xfrm>
            <a:off x="0" y="869220"/>
            <a:ext cx="4572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endParaRPr lang="en-US" dirty="0"/>
          </a:p>
        </p:txBody>
      </p:sp>
    </p:spTree>
    <p:extLst>
      <p:ext uri="{BB962C8B-B14F-4D97-AF65-F5344CB8AC3E}">
        <p14:creationId xmlns:p14="http://schemas.microsoft.com/office/powerpoint/2010/main" val="36928948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EBCCB1C8-76D6-23AB-296A-CD854961B0AE}"/>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FC877BE-4A50-285A-9F92-A9E5076AD47F}"/>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904E5511-D122-C786-F61A-F725002CA57A}"/>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900" y="1371600"/>
            <a:ext cx="31051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000500"/>
            <a:ext cx="3219450"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5" name="TextBox 8"/>
          <p:cNvSpPr txBox="1">
            <a:spLocks noChangeArrowheads="1"/>
          </p:cNvSpPr>
          <p:nvPr/>
        </p:nvSpPr>
        <p:spPr bwMode="auto">
          <a:xfrm>
            <a:off x="736600" y="177165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1</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86" name="TextBox 9"/>
          <p:cNvSpPr txBox="1">
            <a:spLocks noChangeArrowheads="1"/>
          </p:cNvSpPr>
          <p:nvPr/>
        </p:nvSpPr>
        <p:spPr bwMode="auto">
          <a:xfrm>
            <a:off x="838200" y="23622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3</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87" name="TextBox 10"/>
          <p:cNvSpPr txBox="1">
            <a:spLocks noChangeArrowheads="1"/>
          </p:cNvSpPr>
          <p:nvPr/>
        </p:nvSpPr>
        <p:spPr bwMode="auto">
          <a:xfrm>
            <a:off x="1066800" y="18288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2</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88" name="TextBox 11"/>
          <p:cNvSpPr txBox="1">
            <a:spLocks noChangeArrowheads="1"/>
          </p:cNvSpPr>
          <p:nvPr/>
        </p:nvSpPr>
        <p:spPr bwMode="auto">
          <a:xfrm>
            <a:off x="1600200" y="16002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4</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89" name="TextBox 12"/>
          <p:cNvSpPr txBox="1">
            <a:spLocks noChangeArrowheads="1"/>
          </p:cNvSpPr>
          <p:nvPr/>
        </p:nvSpPr>
        <p:spPr bwMode="auto">
          <a:xfrm>
            <a:off x="1371600" y="24384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5</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0" name="TextBox 13"/>
          <p:cNvSpPr txBox="1">
            <a:spLocks noChangeArrowheads="1"/>
          </p:cNvSpPr>
          <p:nvPr/>
        </p:nvSpPr>
        <p:spPr bwMode="auto">
          <a:xfrm>
            <a:off x="2057400" y="22098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6</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1" name="TextBox 14"/>
          <p:cNvSpPr txBox="1">
            <a:spLocks noChangeArrowheads="1"/>
          </p:cNvSpPr>
          <p:nvPr/>
        </p:nvSpPr>
        <p:spPr bwMode="auto">
          <a:xfrm>
            <a:off x="2286000" y="15240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7</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2" name="TextBox 15"/>
          <p:cNvSpPr txBox="1">
            <a:spLocks noChangeArrowheads="1"/>
          </p:cNvSpPr>
          <p:nvPr/>
        </p:nvSpPr>
        <p:spPr bwMode="auto">
          <a:xfrm>
            <a:off x="2743200" y="188595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8</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3" name="TextBox 16"/>
          <p:cNvSpPr txBox="1">
            <a:spLocks noChangeArrowheads="1"/>
          </p:cNvSpPr>
          <p:nvPr/>
        </p:nvSpPr>
        <p:spPr bwMode="auto">
          <a:xfrm>
            <a:off x="2895600" y="23622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9</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grpSp>
        <p:nvGrpSpPr>
          <p:cNvPr id="2" name="Group 50"/>
          <p:cNvGrpSpPr>
            <a:grpSpLocks/>
          </p:cNvGrpSpPr>
          <p:nvPr/>
        </p:nvGrpSpPr>
        <p:grpSpPr bwMode="auto">
          <a:xfrm>
            <a:off x="4800600" y="1066800"/>
            <a:ext cx="4064000" cy="2324100"/>
            <a:chOff x="5080000" y="1352490"/>
            <a:chExt cx="4064000" cy="2324220"/>
          </a:xfrm>
        </p:grpSpPr>
        <p:cxnSp>
          <p:nvCxnSpPr>
            <p:cNvPr id="24623" name="Straight Connector 18"/>
            <p:cNvCxnSpPr>
              <a:cxnSpLocks noChangeShapeType="1"/>
            </p:cNvCxnSpPr>
            <p:nvPr/>
          </p:nvCxnSpPr>
          <p:spPr bwMode="auto">
            <a:xfrm>
              <a:off x="5257800" y="1676400"/>
              <a:ext cx="11430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24" name="Straight Connector 19"/>
            <p:cNvCxnSpPr>
              <a:cxnSpLocks noChangeShapeType="1"/>
            </p:cNvCxnSpPr>
            <p:nvPr/>
          </p:nvCxnSpPr>
          <p:spPr bwMode="auto">
            <a:xfrm>
              <a:off x="5257800" y="1676400"/>
              <a:ext cx="1143000" cy="915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25" name="Straight Connector 21"/>
            <p:cNvCxnSpPr>
              <a:cxnSpLocks noChangeShapeType="1"/>
            </p:cNvCxnSpPr>
            <p:nvPr/>
          </p:nvCxnSpPr>
          <p:spPr bwMode="auto">
            <a:xfrm rot="5400000">
              <a:off x="5943600" y="2133600"/>
              <a:ext cx="914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26" name="Straight Connector 23"/>
            <p:cNvCxnSpPr>
              <a:cxnSpLocks noChangeShapeType="1"/>
            </p:cNvCxnSpPr>
            <p:nvPr/>
          </p:nvCxnSpPr>
          <p:spPr bwMode="auto">
            <a:xfrm rot="5400000">
              <a:off x="6782594" y="2132806"/>
              <a:ext cx="914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27" name="Straight Connector 24"/>
            <p:cNvCxnSpPr>
              <a:cxnSpLocks noChangeShapeType="1"/>
            </p:cNvCxnSpPr>
            <p:nvPr/>
          </p:nvCxnSpPr>
          <p:spPr bwMode="auto">
            <a:xfrm rot="16200000" flipH="1">
              <a:off x="6363494" y="1715294"/>
              <a:ext cx="914400" cy="836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28" name="Straight Connector 26"/>
            <p:cNvCxnSpPr>
              <a:cxnSpLocks noChangeShapeType="1"/>
            </p:cNvCxnSpPr>
            <p:nvPr/>
          </p:nvCxnSpPr>
          <p:spPr bwMode="auto">
            <a:xfrm rot="5400000">
              <a:off x="6362700" y="2628900"/>
              <a:ext cx="914400" cy="838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29" name="Straight Connector 28"/>
            <p:cNvCxnSpPr>
              <a:cxnSpLocks noChangeShapeType="1"/>
            </p:cNvCxnSpPr>
            <p:nvPr/>
          </p:nvCxnSpPr>
          <p:spPr bwMode="auto">
            <a:xfrm rot="5400000">
              <a:off x="5944394" y="3047206"/>
              <a:ext cx="914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630" name="TextBox 30"/>
            <p:cNvSpPr txBox="1">
              <a:spLocks noChangeArrowheads="1"/>
            </p:cNvSpPr>
            <p:nvPr/>
          </p:nvSpPr>
          <p:spPr bwMode="auto">
            <a:xfrm>
              <a:off x="5080000" y="136519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1</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31" name="TextBox 31"/>
            <p:cNvSpPr txBox="1">
              <a:spLocks noChangeArrowheads="1"/>
            </p:cNvSpPr>
            <p:nvPr/>
          </p:nvSpPr>
          <p:spPr bwMode="auto">
            <a:xfrm>
              <a:off x="6324600" y="135249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2</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32" name="TextBox 32"/>
            <p:cNvSpPr txBox="1">
              <a:spLocks noChangeArrowheads="1"/>
            </p:cNvSpPr>
            <p:nvPr/>
          </p:nvSpPr>
          <p:spPr bwMode="auto">
            <a:xfrm>
              <a:off x="6096000" y="25146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3</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33" name="TextBox 33"/>
            <p:cNvSpPr txBox="1">
              <a:spLocks noChangeArrowheads="1"/>
            </p:cNvSpPr>
            <p:nvPr/>
          </p:nvSpPr>
          <p:spPr bwMode="auto">
            <a:xfrm>
              <a:off x="6096000" y="32766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5</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34" name="TextBox 34"/>
            <p:cNvSpPr txBox="1">
              <a:spLocks noChangeArrowheads="1"/>
            </p:cNvSpPr>
            <p:nvPr/>
          </p:nvSpPr>
          <p:spPr bwMode="auto">
            <a:xfrm>
              <a:off x="6858000" y="23622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4</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35" name="TextBox 35"/>
            <p:cNvSpPr txBox="1">
              <a:spLocks noChangeArrowheads="1"/>
            </p:cNvSpPr>
            <p:nvPr/>
          </p:nvSpPr>
          <p:spPr bwMode="auto">
            <a:xfrm>
              <a:off x="7010400" y="13716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7</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cxnSp>
          <p:nvCxnSpPr>
            <p:cNvPr id="24636" name="Straight Connector 36"/>
            <p:cNvCxnSpPr>
              <a:cxnSpLocks noChangeShapeType="1"/>
            </p:cNvCxnSpPr>
            <p:nvPr/>
          </p:nvCxnSpPr>
          <p:spPr bwMode="auto">
            <a:xfrm>
              <a:off x="7240588" y="2590800"/>
              <a:ext cx="91281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637" name="TextBox 37"/>
            <p:cNvSpPr txBox="1">
              <a:spLocks noChangeArrowheads="1"/>
            </p:cNvSpPr>
            <p:nvPr/>
          </p:nvSpPr>
          <p:spPr bwMode="auto">
            <a:xfrm>
              <a:off x="8153400" y="25908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6</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cxnSp>
          <p:nvCxnSpPr>
            <p:cNvPr id="24638" name="Straight Connector 39"/>
            <p:cNvCxnSpPr>
              <a:cxnSpLocks noChangeShapeType="1"/>
              <a:endCxn id="24633" idx="3"/>
            </p:cNvCxnSpPr>
            <p:nvPr/>
          </p:nvCxnSpPr>
          <p:spPr bwMode="auto">
            <a:xfrm rot="10800000" flipV="1">
              <a:off x="6400800" y="2590799"/>
              <a:ext cx="1752600" cy="8858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39" name="Straight Connector 41"/>
            <p:cNvCxnSpPr>
              <a:cxnSpLocks noChangeShapeType="1"/>
            </p:cNvCxnSpPr>
            <p:nvPr/>
          </p:nvCxnSpPr>
          <p:spPr bwMode="auto">
            <a:xfrm rot="5400000">
              <a:off x="7696994" y="2132806"/>
              <a:ext cx="914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40" name="Straight Connector 42"/>
            <p:cNvCxnSpPr>
              <a:cxnSpLocks noChangeShapeType="1"/>
            </p:cNvCxnSpPr>
            <p:nvPr/>
          </p:nvCxnSpPr>
          <p:spPr bwMode="auto">
            <a:xfrm rot="16200000" flipH="1">
              <a:off x="7239794" y="1677194"/>
              <a:ext cx="914400" cy="9128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641" name="TextBox 44"/>
            <p:cNvSpPr txBox="1">
              <a:spLocks noChangeArrowheads="1"/>
            </p:cNvSpPr>
            <p:nvPr/>
          </p:nvSpPr>
          <p:spPr bwMode="auto">
            <a:xfrm>
              <a:off x="7848600" y="13716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8</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cxnSp>
          <p:nvCxnSpPr>
            <p:cNvPr id="24642" name="Straight Connector 45"/>
            <p:cNvCxnSpPr>
              <a:cxnSpLocks noChangeShapeType="1"/>
            </p:cNvCxnSpPr>
            <p:nvPr/>
          </p:nvCxnSpPr>
          <p:spPr bwMode="auto">
            <a:xfrm>
              <a:off x="7239000" y="1676400"/>
              <a:ext cx="91281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43" name="Straight Connector 46"/>
            <p:cNvCxnSpPr>
              <a:cxnSpLocks noChangeShapeType="1"/>
            </p:cNvCxnSpPr>
            <p:nvPr/>
          </p:nvCxnSpPr>
          <p:spPr bwMode="auto">
            <a:xfrm rot="16200000" flipH="1">
              <a:off x="8114506" y="1715294"/>
              <a:ext cx="914400" cy="836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44" name="Straight Connector 47"/>
            <p:cNvCxnSpPr>
              <a:cxnSpLocks noChangeShapeType="1"/>
            </p:cNvCxnSpPr>
            <p:nvPr/>
          </p:nvCxnSpPr>
          <p:spPr bwMode="auto">
            <a:xfrm>
              <a:off x="8077200" y="2590800"/>
              <a:ext cx="912812"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645" name="TextBox 48"/>
            <p:cNvSpPr txBox="1">
              <a:spLocks noChangeArrowheads="1"/>
            </p:cNvSpPr>
            <p:nvPr/>
          </p:nvSpPr>
          <p:spPr bwMode="auto">
            <a:xfrm>
              <a:off x="8839200" y="25908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9</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46" name="Freeform 49"/>
            <p:cNvSpPr>
              <a:spLocks noChangeArrowheads="1"/>
            </p:cNvSpPr>
            <p:nvPr/>
          </p:nvSpPr>
          <p:spPr bwMode="auto">
            <a:xfrm>
              <a:off x="6400800" y="1663700"/>
              <a:ext cx="279400" cy="1828800"/>
            </a:xfrm>
            <a:custGeom>
              <a:avLst/>
              <a:gdLst>
                <a:gd name="T0" fmla="*/ 0 w 279400"/>
                <a:gd name="T1" fmla="*/ 0 h 1828800"/>
                <a:gd name="T2" fmla="*/ 279400 w 279400"/>
                <a:gd name="T3" fmla="*/ 990600 h 1828800"/>
                <a:gd name="T4" fmla="*/ 0 w 279400"/>
                <a:gd name="T5" fmla="*/ 1828800 h 1828800"/>
                <a:gd name="T6" fmla="*/ 0 60000 65536"/>
                <a:gd name="T7" fmla="*/ 0 60000 65536"/>
                <a:gd name="T8" fmla="*/ 0 60000 65536"/>
                <a:gd name="T9" fmla="*/ 0 w 279400"/>
                <a:gd name="T10" fmla="*/ 0 h 1828800"/>
                <a:gd name="T11" fmla="*/ 279400 w 279400"/>
                <a:gd name="T12" fmla="*/ 1828800 h 1828800"/>
              </a:gdLst>
              <a:ahLst/>
              <a:cxnLst>
                <a:cxn ang="T6">
                  <a:pos x="T0" y="T1"/>
                </a:cxn>
                <a:cxn ang="T7">
                  <a:pos x="T2" y="T3"/>
                </a:cxn>
                <a:cxn ang="T8">
                  <a:pos x="T4" y="T5"/>
                </a:cxn>
              </a:cxnLst>
              <a:rect l="T9" t="T10" r="T11" b="T12"/>
              <a:pathLst>
                <a:path w="279400" h="1828800">
                  <a:moveTo>
                    <a:pt x="0" y="0"/>
                  </a:moveTo>
                  <a:cubicBezTo>
                    <a:pt x="139700" y="342900"/>
                    <a:pt x="279400" y="685800"/>
                    <a:pt x="279400" y="990600"/>
                  </a:cubicBezTo>
                  <a:cubicBezTo>
                    <a:pt x="279400" y="1295400"/>
                    <a:pt x="139700" y="1562100"/>
                    <a:pt x="0" y="182880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grpSp>
      <p:sp>
        <p:nvSpPr>
          <p:cNvPr id="52" name="Right Arrow 51"/>
          <p:cNvSpPr>
            <a:spLocks noChangeArrowheads="1"/>
          </p:cNvSpPr>
          <p:nvPr/>
        </p:nvSpPr>
        <p:spPr bwMode="auto">
          <a:xfrm>
            <a:off x="3810000" y="2057400"/>
            <a:ext cx="1524000" cy="304800"/>
          </a:xfrm>
          <a:prstGeom prst="rightArrow">
            <a:avLst>
              <a:gd name="adj1" fmla="val 50000"/>
              <a:gd name="adj2" fmla="val 50000"/>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24596" name="TextBox 52"/>
          <p:cNvSpPr txBox="1">
            <a:spLocks noChangeArrowheads="1"/>
          </p:cNvSpPr>
          <p:nvPr/>
        </p:nvSpPr>
        <p:spPr bwMode="auto">
          <a:xfrm>
            <a:off x="838200" y="46482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1</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7" name="TextBox 53"/>
          <p:cNvSpPr txBox="1">
            <a:spLocks noChangeArrowheads="1"/>
          </p:cNvSpPr>
          <p:nvPr/>
        </p:nvSpPr>
        <p:spPr bwMode="auto">
          <a:xfrm>
            <a:off x="1447800" y="41910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2</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8" name="TextBox 54"/>
          <p:cNvSpPr txBox="1">
            <a:spLocks noChangeArrowheads="1"/>
          </p:cNvSpPr>
          <p:nvPr/>
        </p:nvSpPr>
        <p:spPr bwMode="auto">
          <a:xfrm>
            <a:off x="1295400" y="51054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3</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599" name="TextBox 55"/>
          <p:cNvSpPr txBox="1">
            <a:spLocks noChangeArrowheads="1"/>
          </p:cNvSpPr>
          <p:nvPr/>
        </p:nvSpPr>
        <p:spPr bwMode="auto">
          <a:xfrm>
            <a:off x="1752600" y="48006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4</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00" name="TextBox 56"/>
          <p:cNvSpPr txBox="1">
            <a:spLocks noChangeArrowheads="1"/>
          </p:cNvSpPr>
          <p:nvPr/>
        </p:nvSpPr>
        <p:spPr bwMode="auto">
          <a:xfrm>
            <a:off x="2438400" y="45720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5</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01" name="TextBox 57"/>
          <p:cNvSpPr txBox="1">
            <a:spLocks noChangeArrowheads="1"/>
          </p:cNvSpPr>
          <p:nvPr/>
        </p:nvSpPr>
        <p:spPr bwMode="auto">
          <a:xfrm>
            <a:off x="3048000" y="44958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6</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02" name="TextBox 58"/>
          <p:cNvSpPr txBox="1">
            <a:spLocks noChangeArrowheads="1"/>
          </p:cNvSpPr>
          <p:nvPr/>
        </p:nvSpPr>
        <p:spPr bwMode="auto">
          <a:xfrm>
            <a:off x="2438400" y="5105400"/>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7</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grpSp>
        <p:nvGrpSpPr>
          <p:cNvPr id="3" name="Group 95"/>
          <p:cNvGrpSpPr>
            <a:grpSpLocks/>
          </p:cNvGrpSpPr>
          <p:nvPr/>
        </p:nvGrpSpPr>
        <p:grpSpPr bwMode="auto">
          <a:xfrm>
            <a:off x="5715000" y="3733800"/>
            <a:ext cx="1905000" cy="2076450"/>
            <a:chOff x="5715000" y="3733800"/>
            <a:chExt cx="1905000" cy="2076510"/>
          </a:xfrm>
        </p:grpSpPr>
        <p:cxnSp>
          <p:nvCxnSpPr>
            <p:cNvPr id="24605" name="Straight Connector 60"/>
            <p:cNvCxnSpPr>
              <a:cxnSpLocks noChangeShapeType="1"/>
            </p:cNvCxnSpPr>
            <p:nvPr/>
          </p:nvCxnSpPr>
          <p:spPr bwMode="auto">
            <a:xfrm rot="5400000" flipH="1" flipV="1">
              <a:off x="6019800" y="4114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06" name="Straight Connector 61"/>
            <p:cNvCxnSpPr>
              <a:cxnSpLocks noChangeShapeType="1"/>
            </p:cNvCxnSpPr>
            <p:nvPr/>
          </p:nvCxnSpPr>
          <p:spPr bwMode="auto">
            <a:xfrm rot="16200000" flipV="1">
              <a:off x="6019800" y="48006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07" name="Straight Connector 63"/>
            <p:cNvCxnSpPr>
              <a:cxnSpLocks noChangeShapeType="1"/>
            </p:cNvCxnSpPr>
            <p:nvPr/>
          </p:nvCxnSpPr>
          <p:spPr bwMode="auto">
            <a:xfrm rot="10800000">
              <a:off x="6019800" y="4800600"/>
              <a:ext cx="685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608" name="TextBox 65"/>
            <p:cNvSpPr txBox="1">
              <a:spLocks noChangeArrowheads="1"/>
            </p:cNvSpPr>
            <p:nvPr/>
          </p:nvSpPr>
          <p:spPr bwMode="auto">
            <a:xfrm>
              <a:off x="5715000" y="45720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1</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09" name="TextBox 66"/>
            <p:cNvSpPr txBox="1">
              <a:spLocks noChangeArrowheads="1"/>
            </p:cNvSpPr>
            <p:nvPr/>
          </p:nvSpPr>
          <p:spPr bwMode="auto">
            <a:xfrm>
              <a:off x="6629400" y="37338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2</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10" name="TextBox 67"/>
            <p:cNvSpPr txBox="1">
              <a:spLocks noChangeArrowheads="1"/>
            </p:cNvSpPr>
            <p:nvPr/>
          </p:nvSpPr>
          <p:spPr bwMode="auto">
            <a:xfrm>
              <a:off x="6438900" y="44577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4</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11" name="TextBox 68"/>
            <p:cNvSpPr txBox="1">
              <a:spLocks noChangeArrowheads="1"/>
            </p:cNvSpPr>
            <p:nvPr/>
          </p:nvSpPr>
          <p:spPr bwMode="auto">
            <a:xfrm>
              <a:off x="6477000" y="54102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3</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cxnSp>
          <p:nvCxnSpPr>
            <p:cNvPr id="24612" name="Straight Connector 69"/>
            <p:cNvCxnSpPr>
              <a:cxnSpLocks noChangeShapeType="1"/>
            </p:cNvCxnSpPr>
            <p:nvPr/>
          </p:nvCxnSpPr>
          <p:spPr bwMode="auto">
            <a:xfrm rot="5400000" flipH="1">
              <a:off x="6341239" y="4479955"/>
              <a:ext cx="73031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3" name="Straight Connector 71"/>
            <p:cNvCxnSpPr>
              <a:cxnSpLocks noChangeShapeType="1"/>
            </p:cNvCxnSpPr>
            <p:nvPr/>
          </p:nvCxnSpPr>
          <p:spPr bwMode="auto">
            <a:xfrm rot="5400000" flipH="1" flipV="1">
              <a:off x="6362700" y="5143500"/>
              <a:ext cx="6858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4" name="Straight Connector 73"/>
            <p:cNvCxnSpPr>
              <a:cxnSpLocks noChangeShapeType="1"/>
            </p:cNvCxnSpPr>
            <p:nvPr/>
          </p:nvCxnSpPr>
          <p:spPr bwMode="auto">
            <a:xfrm rot="5400000" flipH="1" flipV="1">
              <a:off x="6705600" y="4114800"/>
              <a:ext cx="68580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5" name="Straight Connector 74"/>
            <p:cNvCxnSpPr>
              <a:cxnSpLocks noChangeShapeType="1"/>
            </p:cNvCxnSpPr>
            <p:nvPr/>
          </p:nvCxnSpPr>
          <p:spPr bwMode="auto">
            <a:xfrm>
              <a:off x="6705600" y="4800600"/>
              <a:ext cx="685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6" name="Straight Connector 81"/>
            <p:cNvCxnSpPr>
              <a:cxnSpLocks noChangeShapeType="1"/>
            </p:cNvCxnSpPr>
            <p:nvPr/>
          </p:nvCxnSpPr>
          <p:spPr bwMode="auto">
            <a:xfrm>
              <a:off x="6705600" y="4800600"/>
              <a:ext cx="533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7" name="Straight Connector 84"/>
            <p:cNvCxnSpPr>
              <a:cxnSpLocks noChangeShapeType="1"/>
            </p:cNvCxnSpPr>
            <p:nvPr/>
          </p:nvCxnSpPr>
          <p:spPr bwMode="auto">
            <a:xfrm rot="5400000">
              <a:off x="6972300" y="4381500"/>
              <a:ext cx="6858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8" name="Straight Connector 86"/>
            <p:cNvCxnSpPr>
              <a:cxnSpLocks noChangeShapeType="1"/>
            </p:cNvCxnSpPr>
            <p:nvPr/>
          </p:nvCxnSpPr>
          <p:spPr bwMode="auto">
            <a:xfrm rot="16200000" flipH="1">
              <a:off x="7010400" y="5029200"/>
              <a:ext cx="60960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4619" name="Straight Connector 88"/>
            <p:cNvCxnSpPr>
              <a:cxnSpLocks noChangeShapeType="1"/>
            </p:cNvCxnSpPr>
            <p:nvPr/>
          </p:nvCxnSpPr>
          <p:spPr bwMode="auto">
            <a:xfrm rot="5400000" flipH="1" flipV="1">
              <a:off x="6744494" y="4761706"/>
              <a:ext cx="1295400" cy="15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24620" name="TextBox 91"/>
            <p:cNvSpPr txBox="1">
              <a:spLocks noChangeArrowheads="1"/>
            </p:cNvSpPr>
            <p:nvPr/>
          </p:nvSpPr>
          <p:spPr bwMode="auto">
            <a:xfrm>
              <a:off x="7010400" y="44704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5</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21" name="TextBox 92"/>
            <p:cNvSpPr txBox="1">
              <a:spLocks noChangeArrowheads="1"/>
            </p:cNvSpPr>
            <p:nvPr/>
          </p:nvSpPr>
          <p:spPr bwMode="auto">
            <a:xfrm>
              <a:off x="7315200" y="38100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6</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sp>
          <p:nvSpPr>
            <p:cNvPr id="24622" name="TextBox 93"/>
            <p:cNvSpPr txBox="1">
              <a:spLocks noChangeArrowheads="1"/>
            </p:cNvSpPr>
            <p:nvPr/>
          </p:nvSpPr>
          <p:spPr bwMode="auto">
            <a:xfrm>
              <a:off x="7315200" y="53340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charset="0"/>
                  <a:cs typeface="Arial" charset="0"/>
                </a:rPr>
                <a:t>7</a:t>
              </a:r>
              <a:endParaRPr kumimoji="0" lang="en-US" altLang="en-US" sz="1400" b="1" i="0" u="none" strike="noStrike" kern="1200" cap="none" spc="0" normalizeH="0" baseline="0" noProof="0">
                <a:ln>
                  <a:noFill/>
                </a:ln>
                <a:solidFill>
                  <a:prstClr val="black"/>
                </a:solidFill>
                <a:effectLst/>
                <a:uLnTx/>
                <a:uFillTx/>
                <a:latin typeface="Arial" charset="0"/>
                <a:cs typeface="Arial" charset="0"/>
              </a:endParaRPr>
            </a:p>
          </p:txBody>
        </p:sp>
      </p:grpSp>
      <p:sp>
        <p:nvSpPr>
          <p:cNvPr id="95" name="Right Arrow 94"/>
          <p:cNvSpPr>
            <a:spLocks noChangeArrowheads="1"/>
          </p:cNvSpPr>
          <p:nvPr/>
        </p:nvSpPr>
        <p:spPr bwMode="auto">
          <a:xfrm>
            <a:off x="3962400" y="4648200"/>
            <a:ext cx="1524000" cy="304800"/>
          </a:xfrm>
          <a:prstGeom prst="rightArrow">
            <a:avLst>
              <a:gd name="adj1" fmla="val 50000"/>
              <a:gd name="adj2" fmla="val 50000"/>
            </a:avLst>
          </a:prstGeom>
          <a:solidFill>
            <a:srgbClr val="FF0000"/>
          </a:solidFill>
          <a:ln w="9525">
            <a:solidFill>
              <a:schemeClr val="tx1"/>
            </a:solidFill>
            <a:round/>
            <a:headEnd/>
            <a:tailEnd/>
          </a:ln>
        </p:spPr>
        <p:txBody>
          <a:bodyPr wrap="none" anchor="ctr">
            <a:spAutoFit/>
          </a:bodyPr>
          <a:lstStyle>
            <a:lvl1pPr eaLnBrk="0" hangingPunct="0">
              <a:defRPr sz="1400">
                <a:solidFill>
                  <a:schemeClr val="tx1"/>
                </a:solidFill>
                <a:latin typeface="Arial" charset="0"/>
                <a:ea typeface="Arial" charset="0"/>
                <a:cs typeface="Arial" charset="0"/>
              </a:defRPr>
            </a:lvl1pPr>
            <a:lvl2pPr marL="742950" indent="-285750" eaLnBrk="0" hangingPunct="0">
              <a:defRPr sz="1400">
                <a:solidFill>
                  <a:schemeClr val="tx1"/>
                </a:solidFill>
                <a:latin typeface="Arial" charset="0"/>
                <a:ea typeface="Arial" charset="0"/>
                <a:cs typeface="Arial" charset="0"/>
              </a:defRPr>
            </a:lvl2pPr>
            <a:lvl3pPr marL="1143000" indent="-228600" eaLnBrk="0" hangingPunct="0">
              <a:defRPr sz="1400">
                <a:solidFill>
                  <a:schemeClr val="tx1"/>
                </a:solidFill>
                <a:latin typeface="Arial" charset="0"/>
                <a:ea typeface="Arial" charset="0"/>
                <a:cs typeface="Arial" charset="0"/>
              </a:defRPr>
            </a:lvl3pPr>
            <a:lvl4pPr marL="1600200" indent="-228600" eaLnBrk="0" hangingPunct="0">
              <a:defRPr sz="1400">
                <a:solidFill>
                  <a:schemeClr val="tx1"/>
                </a:solidFill>
                <a:latin typeface="Arial" charset="0"/>
                <a:ea typeface="Arial" charset="0"/>
                <a:cs typeface="Arial" charset="0"/>
              </a:defRPr>
            </a:lvl4pPr>
            <a:lvl5pPr marL="2057400" indent="-228600" eaLnBrk="0" hangingPunct="0">
              <a:defRPr sz="1400">
                <a:solidFill>
                  <a:schemeClr val="tx1"/>
                </a:solidFill>
                <a:latin typeface="Arial" charset="0"/>
                <a:ea typeface="Arial" charset="0"/>
                <a:cs typeface="Arial" charset="0"/>
              </a:defRPr>
            </a:lvl5pPr>
            <a:lvl6pPr marL="2514600" indent="-228600" algn="ctr" eaLnBrk="0" fontAlgn="base" hangingPunct="0">
              <a:spcBef>
                <a:spcPct val="50000"/>
              </a:spcBef>
              <a:spcAft>
                <a:spcPct val="0"/>
              </a:spcAft>
              <a:defRPr sz="1400">
                <a:solidFill>
                  <a:schemeClr val="tx1"/>
                </a:solidFill>
                <a:latin typeface="Arial" charset="0"/>
                <a:ea typeface="Arial" charset="0"/>
                <a:cs typeface="Arial" charset="0"/>
              </a:defRPr>
            </a:lvl6pPr>
            <a:lvl7pPr marL="2971800" indent="-228600" algn="ctr" eaLnBrk="0" fontAlgn="base" hangingPunct="0">
              <a:spcBef>
                <a:spcPct val="50000"/>
              </a:spcBef>
              <a:spcAft>
                <a:spcPct val="0"/>
              </a:spcAft>
              <a:defRPr sz="1400">
                <a:solidFill>
                  <a:schemeClr val="tx1"/>
                </a:solidFill>
                <a:latin typeface="Arial" charset="0"/>
                <a:ea typeface="Arial" charset="0"/>
                <a:cs typeface="Arial" charset="0"/>
              </a:defRPr>
            </a:lvl7pPr>
            <a:lvl8pPr marL="3429000" indent="-228600" algn="ctr" eaLnBrk="0" fontAlgn="base" hangingPunct="0">
              <a:spcBef>
                <a:spcPct val="50000"/>
              </a:spcBef>
              <a:spcAft>
                <a:spcPct val="0"/>
              </a:spcAft>
              <a:defRPr sz="1400">
                <a:solidFill>
                  <a:schemeClr val="tx1"/>
                </a:solidFill>
                <a:latin typeface="Arial" charset="0"/>
                <a:ea typeface="Arial" charset="0"/>
                <a:cs typeface="Arial" charset="0"/>
              </a:defRPr>
            </a:lvl8pPr>
            <a:lvl9pPr marL="3886200" indent="-228600" algn="ctr" eaLnBrk="0" fontAlgn="base" hangingPunct="0">
              <a:spcBef>
                <a:spcPct val="50000"/>
              </a:spcBef>
              <a:spcAft>
                <a:spcPct val="0"/>
              </a:spcAft>
              <a:defRPr sz="1400">
                <a:solidFill>
                  <a:schemeClr val="tx1"/>
                </a:solidFill>
                <a:latin typeface="Arial" charset="0"/>
                <a:ea typeface="Arial" charset="0"/>
                <a:cs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400" b="0" i="0" u="none" strike="noStrike" kern="1200" cap="none" spc="0" normalizeH="0" baseline="0" noProof="0">
              <a:ln>
                <a:noFill/>
              </a:ln>
              <a:solidFill>
                <a:prstClr val="black"/>
              </a:solidFill>
              <a:effectLst/>
              <a:uLnTx/>
              <a:uFillTx/>
              <a:latin typeface="Arial" charset="0"/>
              <a:cs typeface="Arial" charset="0"/>
            </a:endParaRPr>
          </a:p>
        </p:txBody>
      </p:sp>
      <p:sp>
        <p:nvSpPr>
          <p:cNvPr id="11" name="TextBox 10">
            <a:extLst>
              <a:ext uri="{FF2B5EF4-FFF2-40B4-BE49-F238E27FC236}">
                <a16:creationId xmlns:a16="http://schemas.microsoft.com/office/drawing/2014/main" id="{D0523132-9E6E-76BC-7F2A-7118EA384567}"/>
              </a:ext>
            </a:extLst>
          </p:cNvPr>
          <p:cNvSpPr txBox="1"/>
          <p:nvPr/>
        </p:nvSpPr>
        <p:spPr>
          <a:xfrm>
            <a:off x="0" y="869220"/>
            <a:ext cx="4572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endParaRPr lang="en-US" dirty="0"/>
          </a:p>
        </p:txBody>
      </p:sp>
    </p:spTree>
    <p:extLst>
      <p:ext uri="{BB962C8B-B14F-4D97-AF65-F5344CB8AC3E}">
        <p14:creationId xmlns:p14="http://schemas.microsoft.com/office/powerpoint/2010/main" val="6649509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4591"/>
                                        </p:tgtEl>
                                        <p:attrNameLst>
                                          <p:attrName>style.visibility</p:attrName>
                                        </p:attrNameLst>
                                      </p:cBhvr>
                                      <p:to>
                                        <p:strVal val="visible"/>
                                      </p:to>
                                    </p:set>
                                    <p:animEffect transition="in" filter="box(in)">
                                      <p:cBhvr>
                                        <p:cTn id="12" dur="500"/>
                                        <p:tgtEl>
                                          <p:spTgt spid="24591"/>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24588"/>
                                        </p:tgtEl>
                                        <p:attrNameLst>
                                          <p:attrName>style.visibility</p:attrName>
                                        </p:attrNameLst>
                                      </p:cBhvr>
                                      <p:to>
                                        <p:strVal val="visible"/>
                                      </p:to>
                                    </p:set>
                                    <p:animEffect transition="in" filter="box(in)">
                                      <p:cBhvr>
                                        <p:cTn id="15" dur="500"/>
                                        <p:tgtEl>
                                          <p:spTgt spid="24588"/>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24587"/>
                                        </p:tgtEl>
                                        <p:attrNameLst>
                                          <p:attrName>style.visibility</p:attrName>
                                        </p:attrNameLst>
                                      </p:cBhvr>
                                      <p:to>
                                        <p:strVal val="visible"/>
                                      </p:to>
                                    </p:set>
                                    <p:animEffect transition="in" filter="box(in)">
                                      <p:cBhvr>
                                        <p:cTn id="18" dur="500"/>
                                        <p:tgtEl>
                                          <p:spTgt spid="24587"/>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24585"/>
                                        </p:tgtEl>
                                        <p:attrNameLst>
                                          <p:attrName>style.visibility</p:attrName>
                                        </p:attrNameLst>
                                      </p:cBhvr>
                                      <p:to>
                                        <p:strVal val="visible"/>
                                      </p:to>
                                    </p:set>
                                    <p:animEffect transition="in" filter="box(in)">
                                      <p:cBhvr>
                                        <p:cTn id="21" dur="500"/>
                                        <p:tgtEl>
                                          <p:spTgt spid="24585"/>
                                        </p:tgtEl>
                                      </p:cBhvr>
                                    </p:animEffect>
                                  </p:childTnLst>
                                </p:cTn>
                              </p:par>
                              <p:par>
                                <p:cTn id="22" presetID="4" presetClass="entr" presetSubtype="16" fill="hold" grpId="0" nodeType="withEffect">
                                  <p:stCondLst>
                                    <p:cond delay="0"/>
                                  </p:stCondLst>
                                  <p:childTnLst>
                                    <p:set>
                                      <p:cBhvr>
                                        <p:cTn id="23" dur="1" fill="hold">
                                          <p:stCondLst>
                                            <p:cond delay="0"/>
                                          </p:stCondLst>
                                        </p:cTn>
                                        <p:tgtEl>
                                          <p:spTgt spid="24586"/>
                                        </p:tgtEl>
                                        <p:attrNameLst>
                                          <p:attrName>style.visibility</p:attrName>
                                        </p:attrNameLst>
                                      </p:cBhvr>
                                      <p:to>
                                        <p:strVal val="visible"/>
                                      </p:to>
                                    </p:set>
                                    <p:animEffect transition="in" filter="box(in)">
                                      <p:cBhvr>
                                        <p:cTn id="24" dur="500"/>
                                        <p:tgtEl>
                                          <p:spTgt spid="24586"/>
                                        </p:tgtEl>
                                      </p:cBhvr>
                                    </p:animEffect>
                                  </p:childTnLst>
                                </p:cTn>
                              </p:par>
                              <p:par>
                                <p:cTn id="25" presetID="4" presetClass="entr" presetSubtype="16" fill="hold" grpId="0" nodeType="withEffect">
                                  <p:stCondLst>
                                    <p:cond delay="0"/>
                                  </p:stCondLst>
                                  <p:childTnLst>
                                    <p:set>
                                      <p:cBhvr>
                                        <p:cTn id="26" dur="1" fill="hold">
                                          <p:stCondLst>
                                            <p:cond delay="0"/>
                                          </p:stCondLst>
                                        </p:cTn>
                                        <p:tgtEl>
                                          <p:spTgt spid="24589"/>
                                        </p:tgtEl>
                                        <p:attrNameLst>
                                          <p:attrName>style.visibility</p:attrName>
                                        </p:attrNameLst>
                                      </p:cBhvr>
                                      <p:to>
                                        <p:strVal val="visible"/>
                                      </p:to>
                                    </p:set>
                                    <p:animEffect transition="in" filter="box(in)">
                                      <p:cBhvr>
                                        <p:cTn id="27" dur="500"/>
                                        <p:tgtEl>
                                          <p:spTgt spid="24589"/>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24590"/>
                                        </p:tgtEl>
                                        <p:attrNameLst>
                                          <p:attrName>style.visibility</p:attrName>
                                        </p:attrNameLst>
                                      </p:cBhvr>
                                      <p:to>
                                        <p:strVal val="visible"/>
                                      </p:to>
                                    </p:set>
                                    <p:animEffect transition="in" filter="box(in)">
                                      <p:cBhvr>
                                        <p:cTn id="30" dur="500"/>
                                        <p:tgtEl>
                                          <p:spTgt spid="24590"/>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24592"/>
                                        </p:tgtEl>
                                        <p:attrNameLst>
                                          <p:attrName>style.visibility</p:attrName>
                                        </p:attrNameLst>
                                      </p:cBhvr>
                                      <p:to>
                                        <p:strVal val="visible"/>
                                      </p:to>
                                    </p:set>
                                    <p:animEffect transition="in" filter="box(in)">
                                      <p:cBhvr>
                                        <p:cTn id="33" dur="500"/>
                                        <p:tgtEl>
                                          <p:spTgt spid="2459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24593"/>
                                        </p:tgtEl>
                                        <p:attrNameLst>
                                          <p:attrName>style.visibility</p:attrName>
                                        </p:attrNameLst>
                                      </p:cBhvr>
                                      <p:to>
                                        <p:strVal val="visible"/>
                                      </p:to>
                                    </p:set>
                                    <p:animEffect transition="in" filter="box(in)">
                                      <p:cBhvr>
                                        <p:cTn id="36" dur="500"/>
                                        <p:tgtEl>
                                          <p:spTgt spid="2459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ox(in)">
                                      <p:cBhvr>
                                        <p:cTn id="41" dur="500"/>
                                        <p:tgtEl>
                                          <p:spTgt spid="2"/>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box(in)">
                                      <p:cBhvr>
                                        <p:cTn id="44" dur="500"/>
                                        <p:tgtEl>
                                          <p:spTgt spid="5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4" presetClass="entr" presetSubtype="16"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box(in)">
                                      <p:cBhvr>
                                        <p:cTn id="49" dur="500"/>
                                        <p:tgtEl>
                                          <p:spTgt spid="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grpId="0" nodeType="clickEffect">
                                  <p:stCondLst>
                                    <p:cond delay="0"/>
                                  </p:stCondLst>
                                  <p:childTnLst>
                                    <p:set>
                                      <p:cBhvr>
                                        <p:cTn id="53" dur="1" fill="hold">
                                          <p:stCondLst>
                                            <p:cond delay="0"/>
                                          </p:stCondLst>
                                        </p:cTn>
                                        <p:tgtEl>
                                          <p:spTgt spid="24596"/>
                                        </p:tgtEl>
                                        <p:attrNameLst>
                                          <p:attrName>style.visibility</p:attrName>
                                        </p:attrNameLst>
                                      </p:cBhvr>
                                      <p:to>
                                        <p:strVal val="visible"/>
                                      </p:to>
                                    </p:set>
                                    <p:animEffect transition="in" filter="box(in)">
                                      <p:cBhvr>
                                        <p:cTn id="54" dur="500"/>
                                        <p:tgtEl>
                                          <p:spTgt spid="24596"/>
                                        </p:tgtEl>
                                      </p:cBhvr>
                                    </p:animEffect>
                                  </p:childTnLst>
                                </p:cTn>
                              </p:par>
                              <p:par>
                                <p:cTn id="55" presetID="4" presetClass="entr" presetSubtype="16" fill="hold" grpId="0" nodeType="withEffect">
                                  <p:stCondLst>
                                    <p:cond delay="0"/>
                                  </p:stCondLst>
                                  <p:childTnLst>
                                    <p:set>
                                      <p:cBhvr>
                                        <p:cTn id="56" dur="1" fill="hold">
                                          <p:stCondLst>
                                            <p:cond delay="0"/>
                                          </p:stCondLst>
                                        </p:cTn>
                                        <p:tgtEl>
                                          <p:spTgt spid="24597"/>
                                        </p:tgtEl>
                                        <p:attrNameLst>
                                          <p:attrName>style.visibility</p:attrName>
                                        </p:attrNameLst>
                                      </p:cBhvr>
                                      <p:to>
                                        <p:strVal val="visible"/>
                                      </p:to>
                                    </p:set>
                                    <p:animEffect transition="in" filter="box(in)">
                                      <p:cBhvr>
                                        <p:cTn id="57" dur="500"/>
                                        <p:tgtEl>
                                          <p:spTgt spid="24597"/>
                                        </p:tgtEl>
                                      </p:cBhvr>
                                    </p:animEffect>
                                  </p:childTnLst>
                                </p:cTn>
                              </p:par>
                              <p:par>
                                <p:cTn id="58" presetID="4" presetClass="entr" presetSubtype="16" fill="hold" grpId="0" nodeType="withEffect">
                                  <p:stCondLst>
                                    <p:cond delay="0"/>
                                  </p:stCondLst>
                                  <p:childTnLst>
                                    <p:set>
                                      <p:cBhvr>
                                        <p:cTn id="59" dur="1" fill="hold">
                                          <p:stCondLst>
                                            <p:cond delay="0"/>
                                          </p:stCondLst>
                                        </p:cTn>
                                        <p:tgtEl>
                                          <p:spTgt spid="24598"/>
                                        </p:tgtEl>
                                        <p:attrNameLst>
                                          <p:attrName>style.visibility</p:attrName>
                                        </p:attrNameLst>
                                      </p:cBhvr>
                                      <p:to>
                                        <p:strVal val="visible"/>
                                      </p:to>
                                    </p:set>
                                    <p:animEffect transition="in" filter="box(in)">
                                      <p:cBhvr>
                                        <p:cTn id="60" dur="500"/>
                                        <p:tgtEl>
                                          <p:spTgt spid="24598"/>
                                        </p:tgtEl>
                                      </p:cBhvr>
                                    </p:animEffect>
                                  </p:childTnLst>
                                </p:cTn>
                              </p:par>
                              <p:par>
                                <p:cTn id="61" presetID="4" presetClass="entr" presetSubtype="16" fill="hold" grpId="0" nodeType="withEffect">
                                  <p:stCondLst>
                                    <p:cond delay="0"/>
                                  </p:stCondLst>
                                  <p:childTnLst>
                                    <p:set>
                                      <p:cBhvr>
                                        <p:cTn id="62" dur="1" fill="hold">
                                          <p:stCondLst>
                                            <p:cond delay="0"/>
                                          </p:stCondLst>
                                        </p:cTn>
                                        <p:tgtEl>
                                          <p:spTgt spid="24599"/>
                                        </p:tgtEl>
                                        <p:attrNameLst>
                                          <p:attrName>style.visibility</p:attrName>
                                        </p:attrNameLst>
                                      </p:cBhvr>
                                      <p:to>
                                        <p:strVal val="visible"/>
                                      </p:to>
                                    </p:set>
                                    <p:animEffect transition="in" filter="box(in)">
                                      <p:cBhvr>
                                        <p:cTn id="63" dur="500"/>
                                        <p:tgtEl>
                                          <p:spTgt spid="24599"/>
                                        </p:tgtEl>
                                      </p:cBhvr>
                                    </p:animEffect>
                                  </p:childTnLst>
                                </p:cTn>
                              </p:par>
                              <p:par>
                                <p:cTn id="64" presetID="4" presetClass="entr" presetSubtype="16" fill="hold" grpId="0" nodeType="withEffect">
                                  <p:stCondLst>
                                    <p:cond delay="0"/>
                                  </p:stCondLst>
                                  <p:childTnLst>
                                    <p:set>
                                      <p:cBhvr>
                                        <p:cTn id="65" dur="1" fill="hold">
                                          <p:stCondLst>
                                            <p:cond delay="0"/>
                                          </p:stCondLst>
                                        </p:cTn>
                                        <p:tgtEl>
                                          <p:spTgt spid="24602"/>
                                        </p:tgtEl>
                                        <p:attrNameLst>
                                          <p:attrName>style.visibility</p:attrName>
                                        </p:attrNameLst>
                                      </p:cBhvr>
                                      <p:to>
                                        <p:strVal val="visible"/>
                                      </p:to>
                                    </p:set>
                                    <p:animEffect transition="in" filter="box(in)">
                                      <p:cBhvr>
                                        <p:cTn id="66" dur="500"/>
                                        <p:tgtEl>
                                          <p:spTgt spid="24602"/>
                                        </p:tgtEl>
                                      </p:cBhvr>
                                    </p:animEffect>
                                  </p:childTnLst>
                                </p:cTn>
                              </p:par>
                              <p:par>
                                <p:cTn id="67" presetID="4" presetClass="entr" presetSubtype="16" fill="hold" grpId="0" nodeType="withEffect">
                                  <p:stCondLst>
                                    <p:cond delay="0"/>
                                  </p:stCondLst>
                                  <p:childTnLst>
                                    <p:set>
                                      <p:cBhvr>
                                        <p:cTn id="68" dur="1" fill="hold">
                                          <p:stCondLst>
                                            <p:cond delay="0"/>
                                          </p:stCondLst>
                                        </p:cTn>
                                        <p:tgtEl>
                                          <p:spTgt spid="24600"/>
                                        </p:tgtEl>
                                        <p:attrNameLst>
                                          <p:attrName>style.visibility</p:attrName>
                                        </p:attrNameLst>
                                      </p:cBhvr>
                                      <p:to>
                                        <p:strVal val="visible"/>
                                      </p:to>
                                    </p:set>
                                    <p:animEffect transition="in" filter="box(in)">
                                      <p:cBhvr>
                                        <p:cTn id="69" dur="500"/>
                                        <p:tgtEl>
                                          <p:spTgt spid="24600"/>
                                        </p:tgtEl>
                                      </p:cBhvr>
                                    </p:animEffect>
                                  </p:childTnLst>
                                </p:cTn>
                              </p:par>
                              <p:par>
                                <p:cTn id="70" presetID="4" presetClass="entr" presetSubtype="16" fill="hold" grpId="0" nodeType="withEffect">
                                  <p:stCondLst>
                                    <p:cond delay="0"/>
                                  </p:stCondLst>
                                  <p:childTnLst>
                                    <p:set>
                                      <p:cBhvr>
                                        <p:cTn id="71" dur="1" fill="hold">
                                          <p:stCondLst>
                                            <p:cond delay="0"/>
                                          </p:stCondLst>
                                        </p:cTn>
                                        <p:tgtEl>
                                          <p:spTgt spid="24601"/>
                                        </p:tgtEl>
                                        <p:attrNameLst>
                                          <p:attrName>style.visibility</p:attrName>
                                        </p:attrNameLst>
                                      </p:cBhvr>
                                      <p:to>
                                        <p:strVal val="visible"/>
                                      </p:to>
                                    </p:set>
                                    <p:animEffect transition="in" filter="box(in)">
                                      <p:cBhvr>
                                        <p:cTn id="72" dur="500"/>
                                        <p:tgtEl>
                                          <p:spTgt spid="2460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4" presetClass="entr" presetSubtype="16"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box(in)">
                                      <p:cBhvr>
                                        <p:cTn id="77" dur="500"/>
                                        <p:tgtEl>
                                          <p:spTgt spid="3"/>
                                        </p:tgtEl>
                                      </p:cBhvr>
                                    </p:animEffect>
                                  </p:childTnLst>
                                </p:cTn>
                              </p:par>
                              <p:par>
                                <p:cTn id="78" presetID="4" presetClass="entr" presetSubtype="16" fill="hold" grpId="0" nodeType="withEffect">
                                  <p:stCondLst>
                                    <p:cond delay="0"/>
                                  </p:stCondLst>
                                  <p:childTnLst>
                                    <p:set>
                                      <p:cBhvr>
                                        <p:cTn id="79" dur="1" fill="hold">
                                          <p:stCondLst>
                                            <p:cond delay="0"/>
                                          </p:stCondLst>
                                        </p:cTn>
                                        <p:tgtEl>
                                          <p:spTgt spid="95"/>
                                        </p:tgtEl>
                                        <p:attrNameLst>
                                          <p:attrName>style.visibility</p:attrName>
                                        </p:attrNameLst>
                                      </p:cBhvr>
                                      <p:to>
                                        <p:strVal val="visible"/>
                                      </p:to>
                                    </p:set>
                                    <p:animEffect transition="in" filter="box(in)">
                                      <p:cBhvr>
                                        <p:cTn id="80"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5" grpId="0"/>
      <p:bldP spid="24586" grpId="0"/>
      <p:bldP spid="24587" grpId="0"/>
      <p:bldP spid="24588" grpId="0"/>
      <p:bldP spid="24589" grpId="0"/>
      <p:bldP spid="24590" grpId="0"/>
      <p:bldP spid="24591" grpId="0"/>
      <p:bldP spid="24592" grpId="0"/>
      <p:bldP spid="24593" grpId="0"/>
      <p:bldP spid="52" grpId="0" animBg="1"/>
      <p:bldP spid="24596" grpId="0"/>
      <p:bldP spid="24597" grpId="0"/>
      <p:bldP spid="24598" grpId="0"/>
      <p:bldP spid="24599" grpId="0"/>
      <p:bldP spid="24600" grpId="0"/>
      <p:bldP spid="24601" grpId="0"/>
      <p:bldP spid="24602" grpId="0"/>
      <p:bldP spid="95"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EBCCB1C8-76D6-23AB-296A-CD854961B0AE}"/>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FC877BE-4A50-285A-9F92-A9E5076AD47F}"/>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904E5511-D122-C786-F61A-F725002CA57A}"/>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0523132-9E6E-76BC-7F2A-7118EA384567}"/>
                  </a:ext>
                </a:extLst>
              </p:cNvPr>
              <p:cNvSpPr txBox="1"/>
              <p:nvPr/>
            </p:nvSpPr>
            <p:spPr>
              <a:xfrm>
                <a:off x="0" y="869220"/>
                <a:ext cx="9144000" cy="4204356"/>
              </a:xfrm>
              <a:prstGeom prst="rect">
                <a:avLst/>
              </a:prstGeom>
              <a:noFill/>
            </p:spPr>
            <p:txBody>
              <a:bodyPr wrap="square">
                <a:spAutoFit/>
              </a:bodyPr>
              <a:lstStyle/>
              <a:p>
                <a:pPr>
                  <a:lnSpc>
                    <a:spcPct val="150000"/>
                  </a:lnSpc>
                </a:pPr>
                <a:r>
                  <a:rPr lang="en-US" sz="1800" b="1" dirty="0">
                    <a:solidFill>
                      <a:schemeClr val="tx2"/>
                    </a:solidFill>
                    <a:latin typeface="Times New Roman" pitchFamily="18" charset="0"/>
                    <a:cs typeface="Times New Roman" pitchFamily="18" charset="0"/>
                  </a:rPr>
                  <a:t>6.4.2 Graph coloring.</a:t>
                </a:r>
              </a:p>
              <a:p>
                <a:pPr>
                  <a:lnSpc>
                    <a:spcPct val="150000"/>
                  </a:lnSpc>
                </a:pPr>
                <a:r>
                  <a:rPr lang="en-US" sz="1800" dirty="0">
                    <a:solidFill>
                      <a:schemeClr val="tx2"/>
                    </a:solidFill>
                    <a:latin typeface="Times New Roman" pitchFamily="18" charset="0"/>
                    <a:cs typeface="Times New Roman" pitchFamily="18" charset="0"/>
                  </a:rPr>
                  <a:t>Theorem 1: Every odd cycle has a chromatic number  of 3</a:t>
                </a:r>
              </a:p>
              <a:p>
                <a:pPr>
                  <a:lnSpc>
                    <a:spcPct val="150000"/>
                  </a:lnSpc>
                </a:pPr>
                <a:r>
                  <a:rPr lang="en-US" sz="1800" dirty="0">
                    <a:solidFill>
                      <a:schemeClr val="tx2"/>
                    </a:solidFill>
                    <a:latin typeface="Times New Roman" pitchFamily="18" charset="0"/>
                    <a:cs typeface="Times New Roman" pitchFamily="18" charset="0"/>
                  </a:rPr>
                  <a:t>Theorem 2: If G contains an isomorphic subgraph with </a:t>
                </a:r>
                <a:r>
                  <a:rPr lang="en-US" sz="1800" dirty="0" err="1">
                    <a:solidFill>
                      <a:schemeClr val="tx2"/>
                    </a:solidFill>
                    <a:latin typeface="Times New Roman" pitchFamily="18" charset="0"/>
                    <a:cs typeface="Times New Roman" pitchFamily="18" charset="0"/>
                  </a:rPr>
                  <a:t>K</a:t>
                </a:r>
                <a:r>
                  <a:rPr lang="en-US" sz="1800" baseline="-25000" dirty="0" err="1">
                    <a:solidFill>
                      <a:schemeClr val="tx2"/>
                    </a:solidFill>
                    <a:latin typeface="Times New Roman" pitchFamily="18" charset="0"/>
                    <a:cs typeface="Times New Roman" pitchFamily="18" charset="0"/>
                  </a:rPr>
                  <a:t>n</a:t>
                </a:r>
                <a:r>
                  <a:rPr lang="en-US" sz="1800" dirty="0" err="1">
                    <a:solidFill>
                      <a:schemeClr val="tx2"/>
                    </a:solidFill>
                    <a:latin typeface="Times New Roman" pitchFamily="18" charset="0"/>
                    <a:cs typeface="Times New Roman" pitchFamily="18" charset="0"/>
                  </a:rPr>
                  <a:t>then</a:t>
                </a:r>
                <a:r>
                  <a:rPr lang="en-US" sz="1800" dirty="0">
                    <a:solidFill>
                      <a:schemeClr val="tx2"/>
                    </a:solidFill>
                    <a:latin typeface="Times New Roman" pitchFamily="18" charset="0"/>
                    <a:cs typeface="Times New Roman" pitchFamily="18" charset="0"/>
                  </a:rPr>
                  <a:t> 𝜒(𝐺) ≥ n.</a:t>
                </a:r>
              </a:p>
              <a:p>
                <a:pPr>
                  <a:lnSpc>
                    <a:spcPct val="150000"/>
                  </a:lnSpc>
                </a:pPr>
                <a:r>
                  <a:rPr lang="en-US" sz="1800" dirty="0">
                    <a:solidFill>
                      <a:schemeClr val="tx2"/>
                    </a:solidFill>
                    <a:latin typeface="Times New Roman" pitchFamily="18" charset="0"/>
                    <a:cs typeface="Times New Roman" pitchFamily="18" charset="0"/>
                  </a:rPr>
                  <a:t>Theorem 3: A single graph G = (V, E) can be filled with 2color if and only if it has no cycles of odd length.</a:t>
                </a:r>
              </a:p>
              <a:p>
                <a:pPr>
                  <a:lnSpc>
                    <a:spcPct val="150000"/>
                  </a:lnSpc>
                </a:pPr>
                <a:r>
                  <a:rPr lang="en-US" sz="1800" dirty="0">
                    <a:solidFill>
                      <a:schemeClr val="tx2"/>
                    </a:solidFill>
                    <a:latin typeface="Times New Roman" pitchFamily="18" charset="0"/>
                    <a:cs typeface="Times New Roman" pitchFamily="18" charset="0"/>
                  </a:rPr>
                  <a:t> Theorem 4: If a graph has n vertices then 𝜒(𝐺) ≤ n</a:t>
                </a:r>
              </a:p>
              <a:p>
                <a:pPr>
                  <a:lnSpc>
                    <a:spcPct val="150000"/>
                  </a:lnSpc>
                </a:pPr>
                <a:r>
                  <a:rPr lang="en-US" sz="1800" dirty="0">
                    <a:solidFill>
                      <a:schemeClr val="tx2"/>
                    </a:solidFill>
                    <a:latin typeface="Times New Roman" pitchFamily="18" charset="0"/>
                    <a:cs typeface="Times New Roman" pitchFamily="18" charset="0"/>
                  </a:rPr>
                  <a:t> Theorem 5: For all graphs G: 𝜒(𝐺</a:t>
                </a:r>
                <a:r>
                  <a:rPr lang="en-US" dirty="0">
                    <a:solidFill>
                      <a:schemeClr val="tx2"/>
                    </a:solidFill>
                    <a:latin typeface="Times New Roman" pitchFamily="18" charset="0"/>
                    <a:cs typeface="Times New Roman" pitchFamily="18" charset="0"/>
                  </a:rPr>
                  <a:t>) ≤ </a:t>
                </a:r>
                <a:r>
                  <a:rPr lang="en-US" sz="1800" dirty="0">
                    <a:solidFill>
                      <a:schemeClr val="tx2"/>
                    </a:solidFill>
                    <a:latin typeface="Times New Roman" pitchFamily="18" charset="0"/>
                    <a:cs typeface="Times New Roman" pitchFamily="18" charset="0"/>
                  </a:rPr>
                  <a:t>1+max(deg(v)) (v</a:t>
                </a:r>
                <a14:m>
                  <m:oMath xmlns:m="http://schemas.openxmlformats.org/officeDocument/2006/math">
                    <m:r>
                      <a:rPr lang="en-US" sz="1800" i="1" smtClean="0">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800" dirty="0">
                    <a:solidFill>
                      <a:schemeClr val="tx2"/>
                    </a:solidFill>
                    <a:latin typeface="Times New Roman" pitchFamily="18" charset="0"/>
                    <a:cs typeface="Times New Roman" pitchFamily="18" charset="0"/>
                  </a:rPr>
                  <a:t> V)</a:t>
                </a:r>
              </a:p>
              <a:p>
                <a:pPr>
                  <a:lnSpc>
                    <a:spcPct val="150000"/>
                  </a:lnSpc>
                </a:pPr>
                <a:r>
                  <a:rPr lang="en-US" sz="1800" dirty="0">
                    <a:solidFill>
                      <a:schemeClr val="tx2"/>
                    </a:solidFill>
                    <a:latin typeface="Times New Roman" pitchFamily="18" charset="0"/>
                    <a:cs typeface="Times New Roman" pitchFamily="18" charset="0"/>
                  </a:rPr>
                  <a:t>Theorem 6: If G is a connected graph, there are no cycles odd graph, not a complete graph, then 𝜒(𝐺</a:t>
                </a:r>
                <a:r>
                  <a:rPr lang="en-US" dirty="0">
                    <a:solidFill>
                      <a:schemeClr val="tx2"/>
                    </a:solidFill>
                    <a:latin typeface="Times New Roman" pitchFamily="18" charset="0"/>
                    <a:cs typeface="Times New Roman" pitchFamily="18" charset="0"/>
                  </a:rPr>
                  <a:t>) ≤ </a:t>
                </a:r>
                <a:r>
                  <a:rPr lang="en-US" sz="1800" dirty="0">
                    <a:solidFill>
                      <a:schemeClr val="tx2"/>
                    </a:solidFill>
                    <a:latin typeface="Times New Roman" pitchFamily="18" charset="0"/>
                    <a:cs typeface="Times New Roman" pitchFamily="18" charset="0"/>
                  </a:rPr>
                  <a:t>1+max(deg(v)) (v</a:t>
                </a:r>
                <a14:m>
                  <m:oMath xmlns:m="http://schemas.openxmlformats.org/officeDocument/2006/math">
                    <m:r>
                      <a:rPr lang="en-US" sz="1800" i="1" smtClean="0">
                        <a:solidFill>
                          <a:schemeClr val="tx2"/>
                        </a:solidFill>
                        <a:latin typeface="Cambria Math" panose="02040503050406030204" pitchFamily="18" charset="0"/>
                        <a:ea typeface="Cambria Math" panose="02040503050406030204" pitchFamily="18" charset="0"/>
                        <a:cs typeface="Times New Roman" pitchFamily="18" charset="0"/>
                      </a:rPr>
                      <m:t>∈</m:t>
                    </m:r>
                  </m:oMath>
                </a14:m>
                <a:r>
                  <a:rPr lang="en-US" sz="1800" dirty="0">
                    <a:solidFill>
                      <a:schemeClr val="tx2"/>
                    </a:solidFill>
                    <a:latin typeface="Times New Roman" pitchFamily="18" charset="0"/>
                    <a:cs typeface="Times New Roman" pitchFamily="18" charset="0"/>
                  </a:rPr>
                  <a:t> V)</a:t>
                </a:r>
              </a:p>
              <a:p>
                <a:pPr>
                  <a:lnSpc>
                    <a:spcPct val="150000"/>
                  </a:lnSpc>
                </a:pPr>
                <a:endParaRPr lang="en-US" dirty="0"/>
              </a:p>
            </p:txBody>
          </p:sp>
        </mc:Choice>
        <mc:Fallback xmlns="">
          <p:sp>
            <p:nvSpPr>
              <p:cNvPr id="11" name="TextBox 10">
                <a:extLst>
                  <a:ext uri="{FF2B5EF4-FFF2-40B4-BE49-F238E27FC236}">
                    <a16:creationId xmlns:a16="http://schemas.microsoft.com/office/drawing/2014/main" id="{D0523132-9E6E-76BC-7F2A-7118EA384567}"/>
                  </a:ext>
                </a:extLst>
              </p:cNvPr>
              <p:cNvSpPr txBox="1">
                <a:spLocks noRot="1" noChangeAspect="1" noMove="1" noResize="1" noEditPoints="1" noAdjustHandles="1" noChangeArrowheads="1" noChangeShapeType="1" noTextEdit="1"/>
              </p:cNvSpPr>
              <p:nvPr/>
            </p:nvSpPr>
            <p:spPr>
              <a:xfrm>
                <a:off x="0" y="869220"/>
                <a:ext cx="9144000" cy="4204356"/>
              </a:xfrm>
              <a:prstGeom prst="rect">
                <a:avLst/>
              </a:prstGeom>
              <a:blipFill>
                <a:blip r:embed="rId4"/>
                <a:stretch>
                  <a:fillRect l="-533"/>
                </a:stretch>
              </a:blipFill>
            </p:spPr>
            <p:txBody>
              <a:bodyPr/>
              <a:lstStyle/>
              <a:p>
                <a:r>
                  <a:rPr lang="en-US">
                    <a:noFill/>
                  </a:rPr>
                  <a:t> </a:t>
                </a:r>
              </a:p>
            </p:txBody>
          </p:sp>
        </mc:Fallback>
      </mc:AlternateContent>
    </p:spTree>
    <p:extLst>
      <p:ext uri="{BB962C8B-B14F-4D97-AF65-F5344CB8AC3E}">
        <p14:creationId xmlns:p14="http://schemas.microsoft.com/office/powerpoint/2010/main" val="41035204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EBCCB1C8-76D6-23AB-296A-CD854961B0AE}"/>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FC877BE-4A50-285A-9F92-A9E5076AD47F}"/>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904E5511-D122-C786-F61A-F725002CA57A}"/>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sp>
        <p:nvSpPr>
          <p:cNvPr id="11" name="TextBox 10">
            <a:extLst>
              <a:ext uri="{FF2B5EF4-FFF2-40B4-BE49-F238E27FC236}">
                <a16:creationId xmlns:a16="http://schemas.microsoft.com/office/drawing/2014/main" id="{D0523132-9E6E-76BC-7F2A-7118EA384567}"/>
              </a:ext>
            </a:extLst>
          </p:cNvPr>
          <p:cNvSpPr txBox="1"/>
          <p:nvPr/>
        </p:nvSpPr>
        <p:spPr>
          <a:xfrm>
            <a:off x="0" y="869220"/>
            <a:ext cx="9144000" cy="364356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p>
          <a:p>
            <a:pPr marL="285750" indent="-285750">
              <a:lnSpc>
                <a:spcPct val="150000"/>
              </a:lnSpc>
              <a:buFont typeface="Wingdings" panose="05000000000000000000" pitchFamily="2" charset="2"/>
              <a:buChar char="§"/>
            </a:pPr>
            <a:r>
              <a:rPr lang="en-US" dirty="0">
                <a:solidFill>
                  <a:schemeClr val="tx2"/>
                </a:solidFill>
                <a:latin typeface="Times New Roman" pitchFamily="18" charset="0"/>
                <a:cs typeface="Times New Roman" pitchFamily="18" charset="0"/>
              </a:rPr>
              <a:t>Any planar graph can be colored by no more than 4 colors.</a:t>
            </a:r>
          </a:p>
          <a:p>
            <a:pPr marL="285750" indent="-285750">
              <a:lnSpc>
                <a:spcPct val="150000"/>
              </a:lnSpc>
              <a:buFont typeface="Wingdings" panose="05000000000000000000" pitchFamily="2" charset="2"/>
              <a:buChar char="§"/>
            </a:pPr>
            <a:r>
              <a:rPr lang="en-US" dirty="0">
                <a:solidFill>
                  <a:schemeClr val="tx2"/>
                </a:solidFill>
                <a:latin typeface="Times New Roman" pitchFamily="18" charset="0"/>
                <a:cs typeface="Times New Roman" pitchFamily="18" charset="0"/>
              </a:rPr>
              <a:t>The W-P algorithm is used to color a graph G</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Step 1: Arrange the vertices G in descending order.</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Step 2: Use an unpainted color to paint the first vertex in the list book and all non-adjacent vertices, k adjacent to the first vertex.</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Step 3: Remove colored vertices</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Step 4:- If you have finished coloring: finished</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	- If not done: go back to step 2</a:t>
            </a:r>
          </a:p>
        </p:txBody>
      </p:sp>
    </p:spTree>
    <p:extLst>
      <p:ext uri="{BB962C8B-B14F-4D97-AF65-F5344CB8AC3E}">
        <p14:creationId xmlns:p14="http://schemas.microsoft.com/office/powerpoint/2010/main" val="23376400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EBCCB1C8-76D6-23AB-296A-CD854961B0AE}"/>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FC877BE-4A50-285A-9F92-A9E5076AD47F}"/>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904E5511-D122-C786-F61A-F725002CA57A}"/>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sp>
        <p:nvSpPr>
          <p:cNvPr id="11" name="TextBox 10">
            <a:extLst>
              <a:ext uri="{FF2B5EF4-FFF2-40B4-BE49-F238E27FC236}">
                <a16:creationId xmlns:a16="http://schemas.microsoft.com/office/drawing/2014/main" id="{D0523132-9E6E-76BC-7F2A-7118EA384567}"/>
              </a:ext>
            </a:extLst>
          </p:cNvPr>
          <p:cNvSpPr txBox="1"/>
          <p:nvPr/>
        </p:nvSpPr>
        <p:spPr>
          <a:xfrm>
            <a:off x="0" y="869220"/>
            <a:ext cx="9144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p>
        </p:txBody>
      </p:sp>
      <p:pic>
        <p:nvPicPr>
          <p:cNvPr id="2" name="Picture 1">
            <a:extLst>
              <a:ext uri="{FF2B5EF4-FFF2-40B4-BE49-F238E27FC236}">
                <a16:creationId xmlns:a16="http://schemas.microsoft.com/office/drawing/2014/main" id="{E05A28A0-6E22-B1DE-0319-667435DF047C}"/>
              </a:ext>
            </a:extLst>
          </p:cNvPr>
          <p:cNvPicPr>
            <a:picLocks noChangeAspect="1"/>
          </p:cNvPicPr>
          <p:nvPr/>
        </p:nvPicPr>
        <p:blipFill>
          <a:blip r:embed="rId4"/>
          <a:stretch>
            <a:fillRect/>
          </a:stretch>
        </p:blipFill>
        <p:spPr>
          <a:xfrm>
            <a:off x="1143000" y="1267127"/>
            <a:ext cx="6248400" cy="4873480"/>
          </a:xfrm>
          <a:prstGeom prst="rect">
            <a:avLst/>
          </a:prstGeom>
        </p:spPr>
      </p:pic>
    </p:spTree>
    <p:extLst>
      <p:ext uri="{BB962C8B-B14F-4D97-AF65-F5344CB8AC3E}">
        <p14:creationId xmlns:p14="http://schemas.microsoft.com/office/powerpoint/2010/main" val="9471486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EBCCB1C8-76D6-23AB-296A-CD854961B0AE}"/>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FC877BE-4A50-285A-9F92-A9E5076AD47F}"/>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904E5511-D122-C786-F61A-F725002CA57A}"/>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sp>
        <p:nvSpPr>
          <p:cNvPr id="11" name="TextBox 10">
            <a:extLst>
              <a:ext uri="{FF2B5EF4-FFF2-40B4-BE49-F238E27FC236}">
                <a16:creationId xmlns:a16="http://schemas.microsoft.com/office/drawing/2014/main" id="{D0523132-9E6E-76BC-7F2A-7118EA384567}"/>
              </a:ext>
            </a:extLst>
          </p:cNvPr>
          <p:cNvSpPr txBox="1"/>
          <p:nvPr/>
        </p:nvSpPr>
        <p:spPr>
          <a:xfrm>
            <a:off x="0" y="869220"/>
            <a:ext cx="9144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p>
        </p:txBody>
      </p:sp>
      <p:graphicFrame>
        <p:nvGraphicFramePr>
          <p:cNvPr id="3" name="Table 6">
            <a:extLst>
              <a:ext uri="{FF2B5EF4-FFF2-40B4-BE49-F238E27FC236}">
                <a16:creationId xmlns:a16="http://schemas.microsoft.com/office/drawing/2014/main" id="{45897040-13FC-467A-D661-DBB834179BA8}"/>
              </a:ext>
            </a:extLst>
          </p:cNvPr>
          <p:cNvGraphicFramePr>
            <a:graphicFrameLocks noGrp="1"/>
          </p:cNvGraphicFramePr>
          <p:nvPr>
            <p:extLst>
              <p:ext uri="{D42A27DB-BD31-4B8C-83A1-F6EECF244321}">
                <p14:modId xmlns:p14="http://schemas.microsoft.com/office/powerpoint/2010/main" val="1926918024"/>
              </p:ext>
            </p:extLst>
          </p:nvPr>
        </p:nvGraphicFramePr>
        <p:xfrm>
          <a:off x="1120302" y="1557214"/>
          <a:ext cx="1898650" cy="4450080"/>
        </p:xfrm>
        <a:graphic>
          <a:graphicData uri="http://schemas.openxmlformats.org/drawingml/2006/table">
            <a:tbl>
              <a:tblPr firstRow="1" bandRow="1">
                <a:tableStyleId>{5C22544A-7EE6-4342-B048-85BDC9FD1C3A}</a:tableStyleId>
              </a:tblPr>
              <a:tblGrid>
                <a:gridCol w="984250">
                  <a:extLst>
                    <a:ext uri="{9D8B030D-6E8A-4147-A177-3AD203B41FA5}">
                      <a16:colId xmlns:a16="http://schemas.microsoft.com/office/drawing/2014/main" val="1998029932"/>
                    </a:ext>
                  </a:extLst>
                </a:gridCol>
                <a:gridCol w="914400">
                  <a:extLst>
                    <a:ext uri="{9D8B030D-6E8A-4147-A177-3AD203B41FA5}">
                      <a16:colId xmlns:a16="http://schemas.microsoft.com/office/drawing/2014/main" val="1706228639"/>
                    </a:ext>
                  </a:extLst>
                </a:gridCol>
              </a:tblGrid>
              <a:tr h="370840">
                <a:tc>
                  <a:txBody>
                    <a:bodyPr/>
                    <a:lstStyle/>
                    <a:p>
                      <a:r>
                        <a:rPr lang="en-US" dirty="0"/>
                        <a:t>Vertex</a:t>
                      </a:r>
                    </a:p>
                  </a:txBody>
                  <a:tcPr/>
                </a:tc>
                <a:tc>
                  <a:txBody>
                    <a:bodyPr/>
                    <a:lstStyle/>
                    <a:p>
                      <a:r>
                        <a:rPr lang="en-US" dirty="0"/>
                        <a:t>Deg</a:t>
                      </a:r>
                    </a:p>
                  </a:txBody>
                  <a:tcPr/>
                </a:tc>
                <a:extLst>
                  <a:ext uri="{0D108BD9-81ED-4DB2-BD59-A6C34878D82A}">
                    <a16:rowId xmlns:a16="http://schemas.microsoft.com/office/drawing/2014/main" val="1264112697"/>
                  </a:ext>
                </a:extLst>
              </a:tr>
              <a:tr h="370840">
                <a:tc>
                  <a:txBody>
                    <a:bodyPr/>
                    <a:lstStyle/>
                    <a:p>
                      <a:r>
                        <a:rPr lang="en-US" dirty="0"/>
                        <a:t>A</a:t>
                      </a:r>
                    </a:p>
                  </a:txBody>
                  <a:tcPr/>
                </a:tc>
                <a:tc>
                  <a:txBody>
                    <a:bodyPr/>
                    <a:lstStyle/>
                    <a:p>
                      <a:r>
                        <a:rPr lang="en-US" dirty="0"/>
                        <a:t>2</a:t>
                      </a:r>
                    </a:p>
                  </a:txBody>
                  <a:tcPr/>
                </a:tc>
                <a:extLst>
                  <a:ext uri="{0D108BD9-81ED-4DB2-BD59-A6C34878D82A}">
                    <a16:rowId xmlns:a16="http://schemas.microsoft.com/office/drawing/2014/main" val="452831107"/>
                  </a:ext>
                </a:extLst>
              </a:tr>
              <a:tr h="370840">
                <a:tc>
                  <a:txBody>
                    <a:bodyPr/>
                    <a:lstStyle/>
                    <a:p>
                      <a:r>
                        <a:rPr lang="en-US" dirty="0"/>
                        <a:t>B</a:t>
                      </a:r>
                    </a:p>
                  </a:txBody>
                  <a:tcPr/>
                </a:tc>
                <a:tc>
                  <a:txBody>
                    <a:bodyPr/>
                    <a:lstStyle/>
                    <a:p>
                      <a:r>
                        <a:rPr lang="en-US" dirty="0"/>
                        <a:t>5</a:t>
                      </a:r>
                    </a:p>
                  </a:txBody>
                  <a:tcPr/>
                </a:tc>
                <a:extLst>
                  <a:ext uri="{0D108BD9-81ED-4DB2-BD59-A6C34878D82A}">
                    <a16:rowId xmlns:a16="http://schemas.microsoft.com/office/drawing/2014/main" val="2565159732"/>
                  </a:ext>
                </a:extLst>
              </a:tr>
              <a:tr h="370840">
                <a:tc>
                  <a:txBody>
                    <a:bodyPr/>
                    <a:lstStyle/>
                    <a:p>
                      <a:r>
                        <a:rPr lang="en-US" dirty="0"/>
                        <a:t>C</a:t>
                      </a:r>
                    </a:p>
                  </a:txBody>
                  <a:tcPr/>
                </a:tc>
                <a:tc>
                  <a:txBody>
                    <a:bodyPr/>
                    <a:lstStyle/>
                    <a:p>
                      <a:r>
                        <a:rPr lang="en-US" dirty="0"/>
                        <a:t>3</a:t>
                      </a:r>
                    </a:p>
                  </a:txBody>
                  <a:tcPr/>
                </a:tc>
                <a:extLst>
                  <a:ext uri="{0D108BD9-81ED-4DB2-BD59-A6C34878D82A}">
                    <a16:rowId xmlns:a16="http://schemas.microsoft.com/office/drawing/2014/main" val="1668529909"/>
                  </a:ext>
                </a:extLst>
              </a:tr>
              <a:tr h="370840">
                <a:tc>
                  <a:txBody>
                    <a:bodyPr/>
                    <a:lstStyle/>
                    <a:p>
                      <a:r>
                        <a:rPr lang="en-US" dirty="0"/>
                        <a:t>D</a:t>
                      </a:r>
                    </a:p>
                  </a:txBody>
                  <a:tcPr/>
                </a:tc>
                <a:tc>
                  <a:txBody>
                    <a:bodyPr/>
                    <a:lstStyle/>
                    <a:p>
                      <a:r>
                        <a:rPr lang="en-US" dirty="0"/>
                        <a:t>2</a:t>
                      </a:r>
                    </a:p>
                  </a:txBody>
                  <a:tcPr/>
                </a:tc>
                <a:extLst>
                  <a:ext uri="{0D108BD9-81ED-4DB2-BD59-A6C34878D82A}">
                    <a16:rowId xmlns:a16="http://schemas.microsoft.com/office/drawing/2014/main" val="923922961"/>
                  </a:ext>
                </a:extLst>
              </a:tr>
              <a:tr h="370840">
                <a:tc>
                  <a:txBody>
                    <a:bodyPr/>
                    <a:lstStyle/>
                    <a:p>
                      <a:r>
                        <a:rPr lang="en-US" dirty="0"/>
                        <a:t>E</a:t>
                      </a:r>
                    </a:p>
                  </a:txBody>
                  <a:tcPr/>
                </a:tc>
                <a:tc>
                  <a:txBody>
                    <a:bodyPr/>
                    <a:lstStyle/>
                    <a:p>
                      <a:r>
                        <a:rPr lang="en-US" dirty="0"/>
                        <a:t>2</a:t>
                      </a:r>
                    </a:p>
                  </a:txBody>
                  <a:tcPr/>
                </a:tc>
                <a:extLst>
                  <a:ext uri="{0D108BD9-81ED-4DB2-BD59-A6C34878D82A}">
                    <a16:rowId xmlns:a16="http://schemas.microsoft.com/office/drawing/2014/main" val="3835340456"/>
                  </a:ext>
                </a:extLst>
              </a:tr>
              <a:tr h="370840">
                <a:tc>
                  <a:txBody>
                    <a:bodyPr/>
                    <a:lstStyle/>
                    <a:p>
                      <a:r>
                        <a:rPr lang="en-US" dirty="0"/>
                        <a:t>F</a:t>
                      </a:r>
                    </a:p>
                  </a:txBody>
                  <a:tcPr/>
                </a:tc>
                <a:tc>
                  <a:txBody>
                    <a:bodyPr/>
                    <a:lstStyle/>
                    <a:p>
                      <a:r>
                        <a:rPr lang="en-US" dirty="0"/>
                        <a:t>5</a:t>
                      </a:r>
                    </a:p>
                  </a:txBody>
                  <a:tcPr/>
                </a:tc>
                <a:extLst>
                  <a:ext uri="{0D108BD9-81ED-4DB2-BD59-A6C34878D82A}">
                    <a16:rowId xmlns:a16="http://schemas.microsoft.com/office/drawing/2014/main" val="3206711019"/>
                  </a:ext>
                </a:extLst>
              </a:tr>
              <a:tr h="370840">
                <a:tc>
                  <a:txBody>
                    <a:bodyPr/>
                    <a:lstStyle/>
                    <a:p>
                      <a:r>
                        <a:rPr lang="en-US" dirty="0"/>
                        <a:t>G</a:t>
                      </a:r>
                    </a:p>
                  </a:txBody>
                  <a:tcPr/>
                </a:tc>
                <a:tc>
                  <a:txBody>
                    <a:bodyPr/>
                    <a:lstStyle/>
                    <a:p>
                      <a:r>
                        <a:rPr lang="en-US" dirty="0"/>
                        <a:t>3</a:t>
                      </a:r>
                    </a:p>
                  </a:txBody>
                  <a:tcPr/>
                </a:tc>
                <a:extLst>
                  <a:ext uri="{0D108BD9-81ED-4DB2-BD59-A6C34878D82A}">
                    <a16:rowId xmlns:a16="http://schemas.microsoft.com/office/drawing/2014/main" val="3994386875"/>
                  </a:ext>
                </a:extLst>
              </a:tr>
              <a:tr h="370840">
                <a:tc>
                  <a:txBody>
                    <a:bodyPr/>
                    <a:lstStyle/>
                    <a:p>
                      <a:r>
                        <a:rPr lang="en-US" dirty="0"/>
                        <a:t>H</a:t>
                      </a:r>
                    </a:p>
                  </a:txBody>
                  <a:tcPr/>
                </a:tc>
                <a:tc>
                  <a:txBody>
                    <a:bodyPr/>
                    <a:lstStyle/>
                    <a:p>
                      <a:r>
                        <a:rPr lang="en-US" dirty="0"/>
                        <a:t>3</a:t>
                      </a:r>
                    </a:p>
                  </a:txBody>
                  <a:tcPr/>
                </a:tc>
                <a:extLst>
                  <a:ext uri="{0D108BD9-81ED-4DB2-BD59-A6C34878D82A}">
                    <a16:rowId xmlns:a16="http://schemas.microsoft.com/office/drawing/2014/main" val="3604942629"/>
                  </a:ext>
                </a:extLst>
              </a:tr>
              <a:tr h="370840">
                <a:tc>
                  <a:txBody>
                    <a:bodyPr/>
                    <a:lstStyle/>
                    <a:p>
                      <a:r>
                        <a:rPr lang="en-US" dirty="0"/>
                        <a:t>I</a:t>
                      </a:r>
                    </a:p>
                  </a:txBody>
                  <a:tcPr/>
                </a:tc>
                <a:tc>
                  <a:txBody>
                    <a:bodyPr/>
                    <a:lstStyle/>
                    <a:p>
                      <a:r>
                        <a:rPr lang="en-US" dirty="0"/>
                        <a:t>4</a:t>
                      </a:r>
                    </a:p>
                  </a:txBody>
                  <a:tcPr/>
                </a:tc>
                <a:extLst>
                  <a:ext uri="{0D108BD9-81ED-4DB2-BD59-A6C34878D82A}">
                    <a16:rowId xmlns:a16="http://schemas.microsoft.com/office/drawing/2014/main" val="3173890371"/>
                  </a:ext>
                </a:extLst>
              </a:tr>
              <a:tr h="370840">
                <a:tc>
                  <a:txBody>
                    <a:bodyPr/>
                    <a:lstStyle/>
                    <a:p>
                      <a:r>
                        <a:rPr lang="en-US" dirty="0"/>
                        <a:t>J</a:t>
                      </a:r>
                    </a:p>
                  </a:txBody>
                  <a:tcPr/>
                </a:tc>
                <a:tc>
                  <a:txBody>
                    <a:bodyPr/>
                    <a:lstStyle/>
                    <a:p>
                      <a:r>
                        <a:rPr lang="en-US" dirty="0"/>
                        <a:t>1</a:t>
                      </a:r>
                    </a:p>
                  </a:txBody>
                  <a:tcPr/>
                </a:tc>
                <a:extLst>
                  <a:ext uri="{0D108BD9-81ED-4DB2-BD59-A6C34878D82A}">
                    <a16:rowId xmlns:a16="http://schemas.microsoft.com/office/drawing/2014/main" val="2006883117"/>
                  </a:ext>
                </a:extLst>
              </a:tr>
              <a:tr h="370840">
                <a:tc>
                  <a:txBody>
                    <a:bodyPr/>
                    <a:lstStyle/>
                    <a:p>
                      <a:r>
                        <a:rPr lang="en-US" dirty="0"/>
                        <a:t>K</a:t>
                      </a:r>
                    </a:p>
                  </a:txBody>
                  <a:tcPr/>
                </a:tc>
                <a:tc>
                  <a:txBody>
                    <a:bodyPr/>
                    <a:lstStyle/>
                    <a:p>
                      <a:r>
                        <a:rPr lang="en-US" dirty="0"/>
                        <a:t>2</a:t>
                      </a:r>
                    </a:p>
                  </a:txBody>
                  <a:tcPr/>
                </a:tc>
                <a:extLst>
                  <a:ext uri="{0D108BD9-81ED-4DB2-BD59-A6C34878D82A}">
                    <a16:rowId xmlns:a16="http://schemas.microsoft.com/office/drawing/2014/main" val="4035350455"/>
                  </a:ext>
                </a:extLst>
              </a:tr>
            </a:tbl>
          </a:graphicData>
        </a:graphic>
      </p:graphicFrame>
      <p:pic>
        <p:nvPicPr>
          <p:cNvPr id="7" name="Picture 6">
            <a:extLst>
              <a:ext uri="{FF2B5EF4-FFF2-40B4-BE49-F238E27FC236}">
                <a16:creationId xmlns:a16="http://schemas.microsoft.com/office/drawing/2014/main" id="{17FD34ED-7DE0-79C2-0947-AC59DC1B9A5B}"/>
              </a:ext>
            </a:extLst>
          </p:cNvPr>
          <p:cNvPicPr>
            <a:picLocks noChangeAspect="1"/>
          </p:cNvPicPr>
          <p:nvPr/>
        </p:nvPicPr>
        <p:blipFill>
          <a:blip r:embed="rId4"/>
          <a:stretch>
            <a:fillRect/>
          </a:stretch>
        </p:blipFill>
        <p:spPr>
          <a:xfrm>
            <a:off x="4038600" y="2304258"/>
            <a:ext cx="3965102" cy="3092607"/>
          </a:xfrm>
          <a:prstGeom prst="rect">
            <a:avLst/>
          </a:prstGeom>
        </p:spPr>
      </p:pic>
    </p:spTree>
    <p:extLst>
      <p:ext uri="{BB962C8B-B14F-4D97-AF65-F5344CB8AC3E}">
        <p14:creationId xmlns:p14="http://schemas.microsoft.com/office/powerpoint/2010/main" val="274176792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a:extLst>
              <a:ext uri="{FF2B5EF4-FFF2-40B4-BE49-F238E27FC236}">
                <a16:creationId xmlns:a16="http://schemas.microsoft.com/office/drawing/2014/main" id="{EBCCB1C8-76D6-23AB-296A-CD854961B0AE}"/>
              </a:ext>
            </a:extLst>
          </p:cNvPr>
          <p:cNvPicPr>
            <a:picLocks noChangeAspect="1"/>
          </p:cNvPicPr>
          <p:nvPr/>
        </p:nvPicPr>
        <p:blipFill>
          <a:blip r:embed="rId3"/>
          <a:stretch>
            <a:fillRect/>
          </a:stretch>
        </p:blipFill>
        <p:spPr>
          <a:xfrm>
            <a:off x="0" y="0"/>
            <a:ext cx="9144000" cy="6857143"/>
          </a:xfrm>
          <a:prstGeom prst="rect">
            <a:avLst/>
          </a:prstGeom>
        </p:spPr>
      </p:pic>
      <p:sp>
        <p:nvSpPr>
          <p:cNvPr id="5" name="Rectangle 5">
            <a:extLst>
              <a:ext uri="{FF2B5EF4-FFF2-40B4-BE49-F238E27FC236}">
                <a16:creationId xmlns:a16="http://schemas.microsoft.com/office/drawing/2014/main" id="{8FC877BE-4A50-285A-9F92-A9E5076AD47F}"/>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6" name="Rectangle 5">
            <a:extLst>
              <a:ext uri="{FF2B5EF4-FFF2-40B4-BE49-F238E27FC236}">
                <a16:creationId xmlns:a16="http://schemas.microsoft.com/office/drawing/2014/main" id="{904E5511-D122-C786-F61A-F725002CA57A}"/>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sp>
        <p:nvSpPr>
          <p:cNvPr id="11" name="TextBox 10">
            <a:extLst>
              <a:ext uri="{FF2B5EF4-FFF2-40B4-BE49-F238E27FC236}">
                <a16:creationId xmlns:a16="http://schemas.microsoft.com/office/drawing/2014/main" id="{D0523132-9E6E-76BC-7F2A-7118EA384567}"/>
              </a:ext>
            </a:extLst>
          </p:cNvPr>
          <p:cNvSpPr txBox="1"/>
          <p:nvPr/>
        </p:nvSpPr>
        <p:spPr>
          <a:xfrm>
            <a:off x="0" y="869220"/>
            <a:ext cx="4114800" cy="4059060"/>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a:t>
            </a:r>
          </a:p>
          <a:p>
            <a:pPr marL="285750" indent="-285750">
              <a:lnSpc>
                <a:spcPct val="150000"/>
              </a:lnSpc>
              <a:buFont typeface="Arial" panose="020B0604020202020204" pitchFamily="34" charset="0"/>
              <a:buChar char="•"/>
            </a:pPr>
            <a:r>
              <a:rPr lang="en-US" sz="1800" dirty="0">
                <a:solidFill>
                  <a:schemeClr val="tx2"/>
                </a:solidFill>
                <a:latin typeface="Times New Roman" pitchFamily="18" charset="0"/>
                <a:cs typeface="Times New Roman" pitchFamily="18" charset="0"/>
              </a:rPr>
              <a:t>Use red to paint vertex B</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Paint k adjacent vertices B: D, I</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Remove vertices B, D, I</a:t>
            </a:r>
          </a:p>
          <a:p>
            <a:pPr marL="285750"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U</a:t>
            </a:r>
            <a:r>
              <a:rPr lang="en-US" sz="1800" dirty="0">
                <a:solidFill>
                  <a:schemeClr val="tx2"/>
                </a:solidFill>
                <a:latin typeface="Times New Roman" pitchFamily="18" charset="0"/>
                <a:cs typeface="Times New Roman" pitchFamily="18" charset="0"/>
              </a:rPr>
              <a:t>se blue color to fill the vertex F</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Paint the vertices H, A, K, J</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Remove vertices F, H, A, K, J</a:t>
            </a:r>
          </a:p>
          <a:p>
            <a:pPr marL="285750" indent="-285750">
              <a:lnSpc>
                <a:spcPct val="150000"/>
              </a:lnSpc>
              <a:buFont typeface="Arial" panose="020B0604020202020204" pitchFamily="34" charset="0"/>
              <a:buChar char="•"/>
            </a:pPr>
            <a:r>
              <a:rPr lang="en-US" sz="1800" dirty="0">
                <a:solidFill>
                  <a:schemeClr val="tx2"/>
                </a:solidFill>
                <a:latin typeface="Times New Roman" pitchFamily="18" charset="0"/>
                <a:cs typeface="Times New Roman" pitchFamily="18" charset="0"/>
              </a:rPr>
              <a:t>Use yellow to paint vertex C</a:t>
            </a:r>
          </a:p>
          <a:p>
            <a:pPr marL="742950" lvl="1" indent="-285750">
              <a:lnSpc>
                <a:spcPct val="150000"/>
              </a:lnSpc>
              <a:buFont typeface="Wingdings" panose="05000000000000000000" pitchFamily="2" charset="2"/>
              <a:buChar char="ü"/>
            </a:pPr>
            <a:r>
              <a:rPr lang="en-US" dirty="0">
                <a:solidFill>
                  <a:schemeClr val="tx2"/>
                </a:solidFill>
                <a:latin typeface="Times New Roman" pitchFamily="18" charset="0"/>
                <a:cs typeface="Times New Roman" pitchFamily="18" charset="0"/>
              </a:rPr>
              <a:t>Paint vertices E, G, K </a:t>
            </a:r>
          </a:p>
          <a:p>
            <a:pPr marL="285750" indent="-285750">
              <a:lnSpc>
                <a:spcPct val="150000"/>
              </a:lnSpc>
              <a:buFont typeface="Arial" panose="020B0604020202020204" pitchFamily="34" charset="0"/>
              <a:buChar char="•"/>
            </a:pPr>
            <a:r>
              <a:rPr lang="en-US" sz="1800" dirty="0">
                <a:solidFill>
                  <a:schemeClr val="tx2"/>
                </a:solidFill>
                <a:latin typeface="Times New Roman" pitchFamily="18" charset="0"/>
                <a:cs typeface="Times New Roman" pitchFamily="18" charset="0"/>
              </a:rPr>
              <a:t> Finished coloring =&gt; finished </a:t>
            </a:r>
          </a:p>
        </p:txBody>
      </p:sp>
      <p:pic>
        <p:nvPicPr>
          <p:cNvPr id="9" name="Picture 8">
            <a:extLst>
              <a:ext uri="{FF2B5EF4-FFF2-40B4-BE49-F238E27FC236}">
                <a16:creationId xmlns:a16="http://schemas.microsoft.com/office/drawing/2014/main" id="{78457A34-E211-20BC-CA19-020CD8F8A4A6}"/>
              </a:ext>
            </a:extLst>
          </p:cNvPr>
          <p:cNvPicPr>
            <a:picLocks noChangeAspect="1"/>
          </p:cNvPicPr>
          <p:nvPr/>
        </p:nvPicPr>
        <p:blipFill>
          <a:blip r:embed="rId4"/>
          <a:stretch>
            <a:fillRect/>
          </a:stretch>
        </p:blipFill>
        <p:spPr>
          <a:xfrm>
            <a:off x="5083295" y="2124988"/>
            <a:ext cx="3733800" cy="2607166"/>
          </a:xfrm>
          <a:prstGeom prst="rect">
            <a:avLst/>
          </a:prstGeom>
        </p:spPr>
      </p:pic>
    </p:spTree>
    <p:extLst>
      <p:ext uri="{BB962C8B-B14F-4D97-AF65-F5344CB8AC3E}">
        <p14:creationId xmlns:p14="http://schemas.microsoft.com/office/powerpoint/2010/main" val="9423627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3E1B6E23-0173-E426-11F5-EA5F35C0EBB6}"/>
              </a:ext>
            </a:extLst>
          </p:cNvPr>
          <p:cNvPicPr>
            <a:picLocks noChangeAspect="1"/>
          </p:cNvPicPr>
          <p:nvPr/>
        </p:nvPicPr>
        <p:blipFill>
          <a:blip r:embed="rId3"/>
          <a:stretch>
            <a:fillRect/>
          </a:stretch>
        </p:blipFill>
        <p:spPr>
          <a:xfrm>
            <a:off x="0" y="0"/>
            <a:ext cx="9144000" cy="6857143"/>
          </a:xfrm>
          <a:prstGeom prst="rect">
            <a:avLst/>
          </a:prstGeom>
        </p:spPr>
      </p:pic>
      <p:sp>
        <p:nvSpPr>
          <p:cNvPr id="3" name="Rectangle 5">
            <a:extLst>
              <a:ext uri="{FF2B5EF4-FFF2-40B4-BE49-F238E27FC236}">
                <a16:creationId xmlns:a16="http://schemas.microsoft.com/office/drawing/2014/main" id="{967A774E-EBF3-3BF0-D4F0-9AA15867D28A}"/>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4" name="Rectangle 3">
            <a:extLst>
              <a:ext uri="{FF2B5EF4-FFF2-40B4-BE49-F238E27FC236}">
                <a16:creationId xmlns:a16="http://schemas.microsoft.com/office/drawing/2014/main" id="{BB1CB5A7-1D29-6CAA-F5BE-755DE217B2BB}"/>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pic>
        <p:nvPicPr>
          <p:cNvPr id="7" name="Picture 8" descr="http://www2.math.uic.edu/~fields/comb_dic/petersen_graph_t.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676525"/>
            <a:ext cx="3048000" cy="292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Picture 2" descr="http://upload.wikimedia.org/wikipedia/commons/a/a0/Planar_no_subgraph_k33.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5397" y="1905000"/>
            <a:ext cx="4755074"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690F544-3C9F-2669-850B-14E8CD4A0EE1}"/>
              </a:ext>
            </a:extLst>
          </p:cNvPr>
          <p:cNvSpPr txBox="1"/>
          <p:nvPr/>
        </p:nvSpPr>
        <p:spPr>
          <a:xfrm>
            <a:off x="0" y="869220"/>
            <a:ext cx="4572000" cy="369332"/>
          </a:xfrm>
          <a:prstGeom prst="rect">
            <a:avLst/>
          </a:prstGeom>
          <a:noFill/>
        </p:spPr>
        <p:txBody>
          <a:bodyPr wrap="square">
            <a:spAutoFit/>
          </a:bodyPr>
          <a:lstStyle/>
          <a:p>
            <a:r>
              <a:rPr lang="en-US" sz="1800" b="1" dirty="0">
                <a:solidFill>
                  <a:schemeClr val="tx2"/>
                </a:solidFill>
                <a:latin typeface="Times New Roman" pitchFamily="18" charset="0"/>
                <a:cs typeface="Times New Roman" pitchFamily="18" charset="0"/>
              </a:rPr>
              <a:t>6.4.2 Graph coloring. </a:t>
            </a:r>
            <a:endParaRPr lang="en-US" dirty="0"/>
          </a:p>
        </p:txBody>
      </p:sp>
    </p:spTree>
    <p:extLst>
      <p:ext uri="{BB962C8B-B14F-4D97-AF65-F5344CB8AC3E}">
        <p14:creationId xmlns:p14="http://schemas.microsoft.com/office/powerpoint/2010/main" val="463707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i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Untitled.png">
            <a:extLst>
              <a:ext uri="{FF2B5EF4-FFF2-40B4-BE49-F238E27FC236}">
                <a16:creationId xmlns:a16="http://schemas.microsoft.com/office/drawing/2014/main" id="{3E1B6E23-0173-E426-11F5-EA5F35C0EBB6}"/>
              </a:ext>
            </a:extLst>
          </p:cNvPr>
          <p:cNvPicPr>
            <a:picLocks noChangeAspect="1"/>
          </p:cNvPicPr>
          <p:nvPr/>
        </p:nvPicPr>
        <p:blipFill>
          <a:blip r:embed="rId3"/>
          <a:stretch>
            <a:fillRect/>
          </a:stretch>
        </p:blipFill>
        <p:spPr>
          <a:xfrm>
            <a:off x="0" y="0"/>
            <a:ext cx="9144000" cy="6857143"/>
          </a:xfrm>
          <a:prstGeom prst="rect">
            <a:avLst/>
          </a:prstGeom>
        </p:spPr>
      </p:pic>
      <p:sp>
        <p:nvSpPr>
          <p:cNvPr id="3" name="Rectangle 5">
            <a:extLst>
              <a:ext uri="{FF2B5EF4-FFF2-40B4-BE49-F238E27FC236}">
                <a16:creationId xmlns:a16="http://schemas.microsoft.com/office/drawing/2014/main" id="{967A774E-EBF3-3BF0-D4F0-9AA15867D28A}"/>
              </a:ext>
            </a:extLst>
          </p:cNvPr>
          <p:cNvSpPr>
            <a:spLocks noChangeArrowheads="1"/>
          </p:cNvSpPr>
          <p:nvPr/>
        </p:nvSpPr>
        <p:spPr bwMode="auto">
          <a:xfrm>
            <a:off x="88900" y="150448"/>
            <a:ext cx="6692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6.3. MATH PROBLEMS</a:t>
            </a:r>
            <a:endPar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4" name="Rectangle 3">
            <a:extLst>
              <a:ext uri="{FF2B5EF4-FFF2-40B4-BE49-F238E27FC236}">
                <a16:creationId xmlns:a16="http://schemas.microsoft.com/office/drawing/2014/main" id="{BB1CB5A7-1D29-6CAA-F5BE-755DE217B2BB}"/>
              </a:ext>
            </a:extLst>
          </p:cNvPr>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77</a:t>
            </a:r>
            <a:endParaRPr lang="en-US" dirty="0"/>
          </a:p>
        </p:txBody>
      </p:sp>
      <p:sp>
        <p:nvSpPr>
          <p:cNvPr id="8" name="TextBox 7">
            <a:extLst>
              <a:ext uri="{FF2B5EF4-FFF2-40B4-BE49-F238E27FC236}">
                <a16:creationId xmlns:a16="http://schemas.microsoft.com/office/drawing/2014/main" id="{7690F544-3C9F-2669-850B-14E8CD4A0EE1}"/>
              </a:ext>
            </a:extLst>
          </p:cNvPr>
          <p:cNvSpPr txBox="1"/>
          <p:nvPr/>
        </p:nvSpPr>
        <p:spPr>
          <a:xfrm>
            <a:off x="0" y="869220"/>
            <a:ext cx="4572000" cy="3371885"/>
          </a:xfrm>
          <a:prstGeom prst="rect">
            <a:avLst/>
          </a:prstGeom>
          <a:noFill/>
        </p:spPr>
        <p:txBody>
          <a:bodyPr wrap="square">
            <a:spAutoFit/>
          </a:bodyPr>
          <a:lstStyle/>
          <a:p>
            <a:pPr>
              <a:lnSpc>
                <a:spcPct val="150000"/>
              </a:lnSpc>
            </a:pPr>
            <a:r>
              <a:rPr lang="en-US" sz="1800" b="1" dirty="0">
                <a:solidFill>
                  <a:schemeClr val="tx2"/>
                </a:solidFill>
                <a:latin typeface="Times New Roman" pitchFamily="18" charset="0"/>
                <a:cs typeface="Times New Roman" pitchFamily="18" charset="0"/>
              </a:rPr>
              <a:t>6.4.2 Graph coloring.</a:t>
            </a:r>
          </a:p>
          <a:p>
            <a:pPr>
              <a:lnSpc>
                <a:spcPct val="150000"/>
              </a:lnSpc>
            </a:pPr>
            <a:r>
              <a:rPr lang="en-US" sz="1800" b="1" dirty="0">
                <a:solidFill>
                  <a:schemeClr val="tx2"/>
                </a:solidFill>
                <a:latin typeface="Times New Roman" pitchFamily="18" charset="0"/>
                <a:cs typeface="Times New Roman" pitchFamily="18" charset="0"/>
              </a:rPr>
              <a:t>Applications:</a:t>
            </a:r>
          </a:p>
          <a:p>
            <a:pPr marL="742950" lvl="1"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pattern matching</a:t>
            </a:r>
          </a:p>
          <a:p>
            <a:pPr marL="742950" lvl="1"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sports scheduling, </a:t>
            </a:r>
          </a:p>
          <a:p>
            <a:pPr marL="742950" lvl="1"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designing seating plans, </a:t>
            </a:r>
          </a:p>
          <a:p>
            <a:pPr marL="742950" lvl="1"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exam timetabling, </a:t>
            </a:r>
          </a:p>
          <a:p>
            <a:pPr marL="742950" lvl="1"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the scheduling of taxis, </a:t>
            </a:r>
          </a:p>
          <a:p>
            <a:pPr marL="742950" lvl="1" indent="-285750">
              <a:lnSpc>
                <a:spcPct val="150000"/>
              </a:lnSpc>
              <a:buFont typeface="Arial" panose="020B0604020202020204" pitchFamily="34" charset="0"/>
              <a:buChar char="•"/>
            </a:pPr>
            <a:r>
              <a:rPr lang="en-US" dirty="0">
                <a:solidFill>
                  <a:schemeClr val="tx2"/>
                </a:solidFill>
                <a:latin typeface="Times New Roman" pitchFamily="18" charset="0"/>
                <a:cs typeface="Times New Roman" pitchFamily="18" charset="0"/>
              </a:rPr>
              <a:t>solving Sudoku puzzles</a:t>
            </a:r>
            <a:endParaRPr lang="en-US" dirty="0"/>
          </a:p>
        </p:txBody>
      </p:sp>
    </p:spTree>
    <p:extLst>
      <p:ext uri="{BB962C8B-B14F-4D97-AF65-F5344CB8AC3E}">
        <p14:creationId xmlns:p14="http://schemas.microsoft.com/office/powerpoint/2010/main" val="265928143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54868</TotalTime>
  <Words>6622</Words>
  <Application>Microsoft Office PowerPoint</Application>
  <PresentationFormat>On-screen Show (4:3)</PresentationFormat>
  <Paragraphs>1044</Paragraphs>
  <Slides>99</Slides>
  <Notes>99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99</vt:i4>
      </vt:variant>
    </vt:vector>
  </HeadingPairs>
  <TitlesOfParts>
    <vt:vector size="109" baseType="lpstr">
      <vt:lpstr>Arial</vt:lpstr>
      <vt:lpstr>Calibri</vt:lpstr>
      <vt:lpstr>Cambria Math</vt:lpstr>
      <vt:lpstr>KaTeX_Main</vt:lpstr>
      <vt:lpstr>Merriweather</vt:lpstr>
      <vt:lpstr>Times New Roman</vt:lpstr>
      <vt:lpstr>VNI-Times</vt:lpstr>
      <vt:lpstr>Wingdings</vt:lpstr>
      <vt:lpstr>Office Theme</vt:lpstr>
      <vt:lpstr>Equation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Nguyên  Lê Phú</cp:lastModifiedBy>
  <cp:revision>861</cp:revision>
  <cp:lastPrinted>2019-07-29T14:20:40Z</cp:lastPrinted>
  <dcterms:created xsi:type="dcterms:W3CDTF">2010-12-10T06:50:09Z</dcterms:created>
  <dcterms:modified xsi:type="dcterms:W3CDTF">2023-08-30T17:10:21Z</dcterms:modified>
</cp:coreProperties>
</file>