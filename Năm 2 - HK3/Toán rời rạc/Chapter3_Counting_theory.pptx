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24"/>
  </p:notesMasterIdLst>
  <p:handoutMasterIdLst>
    <p:handoutMasterId r:id="rId25"/>
  </p:handoutMasterIdLst>
  <p:sldIdLst>
    <p:sldId id="258" r:id="rId2"/>
    <p:sldId id="336" r:id="rId3"/>
    <p:sldId id="338" r:id="rId4"/>
    <p:sldId id="339" r:id="rId5"/>
    <p:sldId id="340" r:id="rId6"/>
    <p:sldId id="341" r:id="rId7"/>
    <p:sldId id="342" r:id="rId8"/>
    <p:sldId id="343" r:id="rId9"/>
    <p:sldId id="345" r:id="rId10"/>
    <p:sldId id="346" r:id="rId11"/>
    <p:sldId id="344" r:id="rId12"/>
    <p:sldId id="349" r:id="rId13"/>
    <p:sldId id="347" r:id="rId14"/>
    <p:sldId id="350" r:id="rId15"/>
    <p:sldId id="351" r:id="rId16"/>
    <p:sldId id="354" r:id="rId17"/>
    <p:sldId id="357" r:id="rId18"/>
    <p:sldId id="356" r:id="rId19"/>
    <p:sldId id="358" r:id="rId20"/>
    <p:sldId id="359" r:id="rId21"/>
    <p:sldId id="361" r:id="rId22"/>
    <p:sldId id="353" r:id="rId2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73112" autoAdjust="0"/>
  </p:normalViewPr>
  <p:slideViewPr>
    <p:cSldViewPr>
      <p:cViewPr varScale="1">
        <p:scale>
          <a:sx n="80" d="100"/>
          <a:sy n="80" d="100"/>
        </p:scale>
        <p:origin x="1104" y="66"/>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7/5/2023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7/5/2023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099475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3236675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383216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907886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683899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52355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3767877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2266099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3197145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2654578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43275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05659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Chinh hoop</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1192849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Chinh hoop</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362861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spcBef>
                <a:spcPct val="0"/>
              </a:spcBef>
              <a:buClrTx/>
              <a:buFontTx/>
              <a:buNone/>
            </a:pPr>
            <a:r>
              <a:rPr kumimoji="0" lang="en-US" altLang="en-US" sz="1200" b="1" dirty="0">
                <a:solidFill>
                  <a:schemeClr val="tx1"/>
                </a:solidFill>
              </a:rPr>
              <a:t>k pt </a:t>
            </a:r>
            <a:r>
              <a:rPr kumimoji="0" lang="en-US" altLang="en-US" sz="1200" b="1" dirty="0" err="1">
                <a:solidFill>
                  <a:schemeClr val="tx1"/>
                </a:solidFill>
              </a:rPr>
              <a:t>được</a:t>
            </a:r>
            <a:r>
              <a:rPr kumimoji="0" lang="en-US" altLang="en-US" sz="1200" b="1" dirty="0">
                <a:solidFill>
                  <a:schemeClr val="tx1"/>
                </a:solidFill>
              </a:rPr>
              <a:t> </a:t>
            </a:r>
            <a:r>
              <a:rPr kumimoji="0" lang="en-US" altLang="en-US" sz="1200" b="1" dirty="0" err="1">
                <a:solidFill>
                  <a:schemeClr val="tx1"/>
                </a:solidFill>
              </a:rPr>
              <a:t>chọn</a:t>
            </a:r>
            <a:r>
              <a:rPr kumimoji="0" lang="en-US" altLang="en-US" sz="1200" b="1" dirty="0">
                <a:solidFill>
                  <a:schemeClr val="tx1"/>
                </a:solidFill>
              </a:rPr>
              <a:t> </a:t>
            </a:r>
            <a:r>
              <a:rPr kumimoji="0" lang="en-US" altLang="en-US" sz="1200" b="1" dirty="0" err="1">
                <a:solidFill>
                  <a:schemeClr val="tx1"/>
                </a:solidFill>
              </a:rPr>
              <a:t>khác</a:t>
            </a:r>
            <a:r>
              <a:rPr kumimoji="0" lang="en-US" altLang="en-US" sz="1200" b="1" dirty="0">
                <a:solidFill>
                  <a:schemeClr val="tx1"/>
                </a:solidFill>
              </a:rPr>
              <a:t> </a:t>
            </a:r>
            <a:r>
              <a:rPr kumimoji="0" lang="en-US" altLang="en-US" sz="1200" b="1" dirty="0" err="1">
                <a:solidFill>
                  <a:schemeClr val="tx1"/>
                </a:solidFill>
              </a:rPr>
              <a:t>nhau</a:t>
            </a:r>
            <a:endParaRPr kumimoji="0" lang="en-US" altLang="en-US" sz="1200" b="1" dirty="0">
              <a:solidFill>
                <a:schemeClr val="tx1"/>
              </a:solidFill>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200" b="1" dirty="0">
                <a:solidFill>
                  <a:schemeClr val="tx1"/>
                </a:solidFill>
              </a:rPr>
              <a:t>k pt </a:t>
            </a:r>
            <a:r>
              <a:rPr kumimoji="0" lang="en-US" altLang="en-US" sz="1200" b="1" dirty="0" err="1">
                <a:solidFill>
                  <a:schemeClr val="tx1"/>
                </a:solidFill>
              </a:rPr>
              <a:t>được</a:t>
            </a:r>
            <a:r>
              <a:rPr kumimoji="0" lang="en-US" altLang="en-US" sz="1200" b="1" dirty="0">
                <a:solidFill>
                  <a:schemeClr val="tx1"/>
                </a:solidFill>
              </a:rPr>
              <a:t> </a:t>
            </a:r>
            <a:r>
              <a:rPr kumimoji="0" lang="en-US" altLang="en-US" sz="1200" b="1" dirty="0" err="1">
                <a:solidFill>
                  <a:schemeClr val="tx1"/>
                </a:solidFill>
              </a:rPr>
              <a:t>chọn</a:t>
            </a:r>
            <a:r>
              <a:rPr kumimoji="0" lang="en-US" altLang="en-US" sz="1200" b="1" dirty="0">
                <a:solidFill>
                  <a:schemeClr val="tx1"/>
                </a:solidFill>
              </a:rPr>
              <a:t> </a:t>
            </a:r>
            <a:r>
              <a:rPr kumimoji="0" lang="en-US" altLang="en-US" sz="1200" b="1" dirty="0" err="1">
                <a:solidFill>
                  <a:schemeClr val="tx1"/>
                </a:solidFill>
              </a:rPr>
              <a:t>có</a:t>
            </a:r>
            <a:r>
              <a:rPr kumimoji="0" lang="en-US" altLang="en-US" sz="1200" b="1" dirty="0">
                <a:solidFill>
                  <a:schemeClr val="tx1"/>
                </a:solidFill>
              </a:rPr>
              <a:t> </a:t>
            </a:r>
            <a:r>
              <a:rPr kumimoji="0" lang="en-US" altLang="en-US" sz="1200" b="1" dirty="0" err="1">
                <a:solidFill>
                  <a:schemeClr val="tx1"/>
                </a:solidFill>
              </a:rPr>
              <a:t>thể</a:t>
            </a:r>
            <a:r>
              <a:rPr kumimoji="0" lang="en-US" altLang="en-US" sz="1200" b="1" dirty="0">
                <a:solidFill>
                  <a:schemeClr val="tx1"/>
                </a:solidFill>
              </a:rPr>
              <a:t> </a:t>
            </a:r>
            <a:r>
              <a:rPr kumimoji="0" lang="en-US" altLang="en-US" sz="1200" b="1" dirty="0" err="1">
                <a:solidFill>
                  <a:schemeClr val="tx1"/>
                </a:solidFill>
              </a:rPr>
              <a:t>trùng</a:t>
            </a:r>
            <a:r>
              <a:rPr kumimoji="0" lang="en-US" altLang="en-US" sz="1200" b="1" dirty="0">
                <a:solidFill>
                  <a:schemeClr val="tx1"/>
                </a:solidFill>
              </a:rPr>
              <a:t> </a:t>
            </a:r>
            <a:r>
              <a:rPr kumimoji="0" lang="en-US" altLang="en-US" sz="1200" b="1" dirty="0" err="1">
                <a:solidFill>
                  <a:schemeClr val="tx1"/>
                </a:solidFill>
              </a:rPr>
              <a:t>nhau</a:t>
            </a:r>
            <a:endParaRPr kumimoji="0" lang="en-US" altLang="en-US" sz="1200" b="1" dirty="0">
              <a:solidFill>
                <a:schemeClr val="tx1"/>
              </a:solidFill>
            </a:endParaRPr>
          </a:p>
          <a:p>
            <a:pPr eaLnBrk="1" hangingPunct="1">
              <a:spcBef>
                <a:spcPct val="0"/>
              </a:spcBef>
              <a:buClrTx/>
              <a:buFontTx/>
              <a:buNone/>
            </a:pPr>
            <a:endParaRPr kumimoji="0" lang="en-US" altLang="en-US" sz="1200" b="1" dirty="0">
              <a:solidFill>
                <a:schemeClr val="tx1"/>
              </a:solidFill>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428637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b="0" dirty="0"/>
              <a:t>Using the pigeonhole principle (m = 2 socks, using one pigeonhole per color), you need to pull only three socks from the drawer (n = 3 items). Either you have three of one color, or you have two of one color and one of the other.</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4074634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b="0" dirty="0"/>
              <a:t>Using the pigeonhole principle (m = 2 socks, using one pigeonhole per color), you need to pull only three socks from the drawer (n = 3 items). Either you have three of one color, or you have two of one color and one of the other.</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522831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3382270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439393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7/5/2023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7/5/2023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7/5/2023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7/5/2023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6.wmf"/><Relationship Id="rId3" Type="http://schemas.openxmlformats.org/officeDocument/2006/relationships/image" Target="../media/image1.png"/><Relationship Id="rId7" Type="http://schemas.openxmlformats.org/officeDocument/2006/relationships/image" Target="../media/image3.wmf"/><Relationship Id="rId12"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oleObject" Target="../embeddings/oleObject2.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w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Chapter 3:</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COUNTING THEORY</a:t>
            </a:r>
            <a:endParaRPr lang="en-US" altLang="ko-KR" sz="2200" b="1" dirty="0">
              <a:solidFill>
                <a:schemeClr val="bg1"/>
              </a:solidFill>
              <a:effectLst>
                <a:outerShdw blurRad="38100" dist="38100" dir="2700000" algn="tl">
                  <a:srgbClr val="000000"/>
                </a:outerShdw>
              </a:effectLst>
              <a:latin typeface="Times New Roman" pitchFamily="18" charset="0"/>
              <a:ea typeface="HY견고딕" pitchFamily="18" charset="-127"/>
              <a:cs typeface="Times New Roman"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Chapter 3</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528851" y="637643"/>
            <a:ext cx="7772400" cy="529702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3.1. THE FUNDAMENTAL OF COUNTING. </a:t>
            </a:r>
          </a:p>
          <a:p>
            <a:pPr algn="just">
              <a:lnSpc>
                <a:spcPct val="200000"/>
              </a:lnSpc>
              <a:defRPr/>
            </a:pPr>
            <a:r>
              <a:rPr lang="en-US" sz="1900" b="1" dirty="0">
                <a:solidFill>
                  <a:schemeClr val="tx2"/>
                </a:solidFill>
                <a:latin typeface="Times New Roman" pitchFamily="18" charset="0"/>
                <a:cs typeface="Times New Roman" pitchFamily="18" charset="0"/>
              </a:rPr>
              <a:t>	3.1.1. Basic principles. </a:t>
            </a:r>
          </a:p>
          <a:p>
            <a:pPr algn="just">
              <a:lnSpc>
                <a:spcPct val="200000"/>
              </a:lnSpc>
              <a:defRPr/>
            </a:pPr>
            <a:r>
              <a:rPr lang="en-US" sz="1900" b="1" dirty="0">
                <a:solidFill>
                  <a:schemeClr val="tx2"/>
                </a:solidFill>
                <a:latin typeface="Times New Roman" pitchFamily="18" charset="0"/>
                <a:cs typeface="Times New Roman" pitchFamily="18" charset="0"/>
              </a:rPr>
              <a:t>	3.1.2. Compensation principle. </a:t>
            </a:r>
          </a:p>
          <a:p>
            <a:pPr algn="just">
              <a:lnSpc>
                <a:spcPct val="200000"/>
              </a:lnSpc>
              <a:defRPr/>
            </a:pPr>
            <a:r>
              <a:rPr lang="en-US" sz="1900" b="1" dirty="0">
                <a:solidFill>
                  <a:schemeClr val="tx2"/>
                </a:solidFill>
                <a:latin typeface="Times New Roman" pitchFamily="18" charset="0"/>
                <a:cs typeface="Times New Roman" pitchFamily="18" charset="0"/>
              </a:rPr>
              <a:t>	3.1.3 Combinations and Permutations. </a:t>
            </a:r>
            <a:endParaRPr lang="en-US" altLang="ko-KR"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r>
              <a:rPr lang="en-US" sz="1900" b="1" dirty="0">
                <a:solidFill>
                  <a:schemeClr val="tx2"/>
                </a:solidFill>
                <a:latin typeface="Times New Roman" pitchFamily="18" charset="0"/>
                <a:cs typeface="Times New Roman" pitchFamily="18" charset="0"/>
              </a:rPr>
              <a:t>3.2. THE PIGEONHOLE PRINCIPLE. </a:t>
            </a:r>
          </a:p>
          <a:p>
            <a:pPr algn="just">
              <a:lnSpc>
                <a:spcPct val="200000"/>
              </a:lnSpc>
              <a:defRPr/>
            </a:pPr>
            <a:r>
              <a:rPr lang="en-US" sz="1900" b="1" dirty="0">
                <a:solidFill>
                  <a:schemeClr val="tx2"/>
                </a:solidFill>
                <a:latin typeface="Times New Roman" pitchFamily="18" charset="0"/>
                <a:cs typeface="Times New Roman" pitchFamily="18" charset="0"/>
              </a:rPr>
              <a:t>	3.2.1 Introduction. </a:t>
            </a:r>
          </a:p>
          <a:p>
            <a:pPr algn="just">
              <a:lnSpc>
                <a:spcPct val="200000"/>
              </a:lnSpc>
              <a:defRPr/>
            </a:pPr>
            <a:r>
              <a:rPr lang="en-US" sz="1900" b="1" dirty="0">
                <a:solidFill>
                  <a:schemeClr val="tx2"/>
                </a:solidFill>
                <a:latin typeface="Times New Roman" pitchFamily="18" charset="0"/>
                <a:cs typeface="Times New Roman" pitchFamily="18" charset="0"/>
              </a:rPr>
              <a:t>	3.2.2. The Dirichlet Principle. .</a:t>
            </a:r>
          </a:p>
          <a:p>
            <a:pPr algn="just">
              <a:lnSpc>
                <a:spcPct val="200000"/>
              </a:lnSpc>
              <a:defRPr/>
            </a:pPr>
            <a:r>
              <a:rPr lang="en-US" sz="1900" b="1" dirty="0">
                <a:solidFill>
                  <a:schemeClr val="tx2"/>
                </a:solidFill>
                <a:latin typeface="Times New Roman" pitchFamily="18" charset="0"/>
                <a:cs typeface="Times New Roman" pitchFamily="18" charset="0"/>
              </a:rPr>
              <a:t>	3.2.3. Application.</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altLang="ko-KR" b="0" dirty="0"/>
              <a:t>A person goes from Ho Chi Minh City to Hanoi, there are 3 ways:</a:t>
            </a:r>
          </a:p>
          <a:p>
            <a:r>
              <a:rPr lang="en-US" altLang="ko-KR" b="0" dirty="0"/>
              <a:t>	By train: there are 3 ways (S train, E train or SE train)</a:t>
            </a:r>
          </a:p>
          <a:p>
            <a:r>
              <a:rPr lang="en-US" altLang="ko-KR" b="0" dirty="0"/>
              <a:t>	By plane: there are 2 ways (VN Airlines or Pacific Airlines)	</a:t>
            </a:r>
          </a:p>
          <a:p>
            <a:r>
              <a:rPr lang="en-US" altLang="ko-KR" b="0" dirty="0"/>
              <a:t>	By car: there are 2 ways (rent a car or take a bus).</a:t>
            </a:r>
          </a:p>
          <a:p>
            <a:r>
              <a:rPr lang="en-US" altLang="ko-KR" dirty="0"/>
              <a:t>	How many ways are there in total from HCMC to Hanoi?</a:t>
            </a:r>
          </a:p>
          <a:p>
            <a:pPr marL="342900" indent="-342900">
              <a:buFont typeface="Arial" panose="020B0604020202020204" pitchFamily="34" charset="0"/>
              <a:buChar char="•"/>
            </a:pPr>
            <a:r>
              <a:rPr lang="en-US" altLang="ko-KR" b="0" dirty="0"/>
              <a:t>A has 3 long sleeves and 5 short sleeves.</a:t>
            </a:r>
          </a:p>
          <a:p>
            <a:r>
              <a:rPr lang="en-US" altLang="ko-KR" dirty="0"/>
              <a:t>How many ways does A have to choose a shirt?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741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altLang="ko-KR" dirty="0"/>
                  <a:t>Additive principle:</a:t>
                </a:r>
              </a:p>
              <a:p>
                <a:r>
                  <a:rPr lang="en-US" b="0" dirty="0"/>
                  <a:t>The additive principle states that if event </a:t>
                </a:r>
                <a:r>
                  <a:rPr lang="en-US" b="0" i="1" dirty="0"/>
                  <a:t>A</a:t>
                </a:r>
                <a:r>
                  <a:rPr lang="en-US" b="0" dirty="0"/>
                  <a:t> can occur in </a:t>
                </a:r>
                <a:r>
                  <a:rPr lang="en-US" b="0" i="1" dirty="0"/>
                  <a:t>m</a:t>
                </a:r>
                <a:r>
                  <a:rPr lang="en-US" b="0" dirty="0"/>
                  <a:t> ways, and event B can occur in </a:t>
                </a:r>
                <a:r>
                  <a:rPr lang="en-US" b="0" i="1" dirty="0"/>
                  <a:t>n</a:t>
                </a:r>
                <a:r>
                  <a:rPr lang="en-US" b="0" dirty="0"/>
                  <a:t> disjoint ways, then the event “</a:t>
                </a:r>
                <a:r>
                  <a:rPr lang="en-US" b="0" i="1" dirty="0"/>
                  <a:t>A</a:t>
                </a:r>
                <a:r>
                  <a:rPr lang="en-US" b="0" dirty="0"/>
                  <a:t> or </a:t>
                </a:r>
                <a:r>
                  <a:rPr lang="en-US" b="0" i="1" dirty="0"/>
                  <a:t>B</a:t>
                </a:r>
                <a:r>
                  <a:rPr lang="en-US" b="0" dirty="0"/>
                  <a:t>” can occur in </a:t>
                </a:r>
                <a14:m>
                  <m:oMath xmlns:m="http://schemas.openxmlformats.org/officeDocument/2006/math">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r>
                  <a:rPr lang="en-US" b="0" dirty="0"/>
                  <a:t> ways.</a:t>
                </a:r>
                <a:endParaRPr lang="en-US" altLang="ko-KR" b="0" dirty="0"/>
              </a:p>
              <a:p>
                <a:pPr marL="342900" indent="-342900">
                  <a:buFont typeface="Arial" panose="020B0604020202020204" pitchFamily="34" charset="0"/>
                  <a:buChar char="•"/>
                </a:pPr>
                <a:r>
                  <a:rPr lang="en-US" altLang="ko-KR" dirty="0"/>
                  <a:t>NOTE:</a:t>
                </a:r>
              </a:p>
              <a:p>
                <a:pPr marL="342900" indent="-342900">
                  <a:buFont typeface="Arial" panose="020B0604020202020204" pitchFamily="34" charset="0"/>
                  <a:buChar char="•"/>
                </a:pPr>
                <a:r>
                  <a:rPr lang="en-US" b="0" dirty="0"/>
                  <a:t>It is important that the events be disjoint: i.e., that there is no way for A and B to both happen at the same time. </a:t>
                </a:r>
              </a:p>
              <a:p>
                <a:pPr marL="342900" indent="-342900">
                  <a:buFont typeface="Arial" panose="020B0604020202020204" pitchFamily="34" charset="0"/>
                  <a:buChar char="•"/>
                </a:pPr>
                <a:r>
                  <a:rPr lang="en-US" b="0" dirty="0"/>
                  <a:t>For example, a standard deck of 52 cards contains 26 red cards and 12 face cards. However, the number of ways to select a card which is either red or a face card is not 26+12=38. This is because there are 6 cards which are both red and face cards.</a:t>
                </a:r>
                <a:endParaRPr lang="en-US" altLang="ko-KR" b="0" dirty="0"/>
              </a:p>
              <a:p>
                <a:endParaRPr lang="en-US" altLang="ko-KR" dirty="0"/>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5115311"/>
              </a:xfrm>
              <a:prstGeom prst="rect">
                <a:avLst/>
              </a:prstGeom>
              <a:blipFill>
                <a:blip r:embed="rId4"/>
                <a:stretch>
                  <a:fillRect l="-746" r="-678"/>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063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r>
              <a:rPr lang="en-US" b="0" dirty="0"/>
              <a:t>How many two letter words start with one of the 5 vowels?</a:t>
            </a:r>
          </a:p>
          <a:p>
            <a:endParaRPr lang="en-US" b="0" dirty="0"/>
          </a:p>
          <a:p>
            <a:r>
              <a:rPr lang="en-US" b="0" dirty="0"/>
              <a:t>There are 26 two letter words starting with A, another 26 starting with E, and so on. We will have 5 groups of 26. So we add 26 to itself 5 times. Of course it would be easier to just multiply 5⋅26. We are really using the additive principle again, just using multiplication as a shortcut.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94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pPr algn="l"/>
            <a:r>
              <a:rPr lang="en-US" b="1" i="0" dirty="0">
                <a:solidFill>
                  <a:srgbClr val="000000"/>
                </a:solidFill>
                <a:effectLst/>
                <a:latin typeface="PT Serif" panose="020A0603040505020204" pitchFamily="18" charset="0"/>
              </a:rPr>
              <a:t> </a:t>
            </a:r>
          </a:p>
          <a:p>
            <a:pPr algn="l"/>
            <a:r>
              <a:rPr lang="en-US" b="0" dirty="0"/>
              <a:t>Suppose you are going for some fro-yo. You can pick one of 6 yogurt choices, and one of 4 toppings. How many choices do you have?</a:t>
            </a:r>
          </a:p>
          <a:p>
            <a:endParaRPr lang="en-US" b="0" dirty="0"/>
          </a:p>
          <a:p>
            <a:r>
              <a:rPr lang="en-US" b="0" dirty="0"/>
              <a:t>There are 26 two letter words starting with A, another 26 starting with E, and so on. We will have 5 groups of 26. So we add 26 to itself 5 times. Of course it would be easier to just multiply 5⋅26. We are really using the additive principle again, just using multiplication as a shortcut.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4394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pPr algn="l"/>
                <a:r>
                  <a:rPr lang="en-US" b="1" i="0" dirty="0">
                    <a:solidFill>
                      <a:srgbClr val="000000"/>
                    </a:solidFill>
                    <a:effectLst/>
                    <a:latin typeface="PT Serif" panose="020A0603040505020204" pitchFamily="18" charset="0"/>
                  </a:rPr>
                  <a:t> </a:t>
                </a:r>
              </a:p>
              <a:p>
                <a:pPr algn="l"/>
                <a:r>
                  <a:rPr lang="en-US" b="0" dirty="0"/>
                  <a:t>The multiplicative principle states that if event A can occur in m ways, and each possibility for A allows for exactly n ways for event B, then the event “A and B” can occur in </a:t>
                </a:r>
                <a14:m>
                  <m:oMath xmlns:m="http://schemas.openxmlformats.org/officeDocument/2006/math">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r>
                  <a:rPr lang="en-US" b="0" dirty="0"/>
                  <a:t> ways.</a:t>
                </a:r>
              </a:p>
              <a:p>
                <a:r>
                  <a:rPr lang="en-US" altLang="ko-KR" dirty="0"/>
                  <a:t>EX:?</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3268652"/>
              </a:xfrm>
              <a:prstGeom prst="rect">
                <a:avLst/>
              </a:prstGeom>
              <a:blipFill>
                <a:blip r:embed="rId4"/>
                <a:stretch>
                  <a:fillRect l="-746" b="-2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164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A person goes from Ho Chi Minh City to Hanoi, but has to stop by Hue:</a:t>
            </a:r>
          </a:p>
          <a:p>
            <a:pPr algn="l"/>
            <a:r>
              <a:rPr lang="en-US" b="0" dirty="0"/>
              <a:t>Ho Chi Minh City - Hue: there are 3 ways (airplane, train, car)</a:t>
            </a:r>
          </a:p>
          <a:p>
            <a:pPr algn="l"/>
            <a:r>
              <a:rPr lang="en-US" b="0" dirty="0"/>
              <a:t>Hue - Hanoi: there are 3 ways (airplane, train, car)</a:t>
            </a:r>
          </a:p>
          <a:p>
            <a:pPr algn="l"/>
            <a:r>
              <a:rPr lang="en-US" b="0" dirty="0"/>
              <a:t>How many ways are there in total from Ho Chi Minh City - Hue - Hanoi?</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102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A person has 3 shirts, 4 trousers and 2 pairs of shoes. </a:t>
            </a:r>
          </a:p>
          <a:p>
            <a:pPr algn="l"/>
            <a:r>
              <a:rPr lang="en-US" b="0" dirty="0"/>
              <a:t>Ask this person how many different ways to choose a set (shirt – pants – shoes) to wear</a:t>
            </a:r>
          </a:p>
          <a:p>
            <a:pPr algn="l"/>
            <a:r>
              <a:rPr lang="en-US" b="0" dirty="0"/>
              <a:t>A 4-character cipher that is the letters of the English alphabet (26 characters). How many different codes are there if:</a:t>
            </a:r>
          </a:p>
          <a:p>
            <a:pPr algn="l"/>
            <a:r>
              <a:rPr lang="en-US" b="0" dirty="0"/>
              <a:t>There is no binding.</a:t>
            </a:r>
          </a:p>
          <a:p>
            <a:pPr algn="l"/>
            <a:r>
              <a:rPr lang="en-US" b="0" dirty="0"/>
              <a:t>The letters must be different.</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208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In a group of 50 people. In which, 30 people have bicycles, 25 people have cameras and 5 people have both bicycles and cameras.</a:t>
            </a:r>
          </a:p>
          <a:p>
            <a:pPr algn="l"/>
            <a:r>
              <a:rPr lang="en-US" b="0" dirty="0"/>
              <a:t>How many people have neither bicycles nor cameras?</a:t>
            </a:r>
          </a:p>
          <a:p>
            <a:pPr algn="l"/>
            <a:r>
              <a:rPr lang="en-US" b="0" dirty="0"/>
              <a:t>How many people have bicycles without cameras. </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551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603864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Counting With Sets </a:t>
            </a:r>
            <a:r>
              <a:rPr lang="en-US" altLang="ko-KR" dirty="0"/>
              <a:t>:</a:t>
            </a:r>
          </a:p>
          <a:p>
            <a:pPr marL="342900" indent="-342900">
              <a:buFont typeface="Arial" panose="020B0604020202020204" pitchFamily="34" charset="0"/>
              <a:buChar char="•"/>
            </a:pPr>
            <a:r>
              <a:rPr lang="en-US" dirty="0"/>
              <a:t>Additive Principle (with sets)</a:t>
            </a:r>
          </a:p>
          <a:p>
            <a:pPr algn="l"/>
            <a:r>
              <a:rPr lang="en-US" b="0" dirty="0"/>
              <a:t>Given two sets A and B, if A∩B=∅ (that is, if there is no element in common to both A and B), then</a:t>
            </a:r>
          </a:p>
          <a:p>
            <a:pPr algn="ctr"/>
            <a:r>
              <a:rPr lang="en-US" b="0" dirty="0"/>
              <a:t>|A∪B|=|A|+|B|.</a:t>
            </a:r>
          </a:p>
          <a:p>
            <a:pPr marL="342900" indent="-342900" algn="l">
              <a:buFont typeface="Arial" panose="020B0604020202020204" pitchFamily="34" charset="0"/>
              <a:buChar char="•"/>
            </a:pPr>
            <a:r>
              <a:rPr lang="en-US" dirty="0"/>
              <a:t>Cartesian Product</a:t>
            </a:r>
          </a:p>
          <a:p>
            <a:pPr algn="l"/>
            <a:r>
              <a:rPr lang="en-US" b="0" dirty="0"/>
              <a:t>Given sets A and B, we can form the set A×B={(x, y):</a:t>
            </a:r>
            <a:r>
              <a:rPr lang="en-US" b="0" dirty="0" err="1"/>
              <a:t>x∈A∧y∈B</a:t>
            </a:r>
            <a:r>
              <a:rPr lang="en-US" b="0" dirty="0"/>
              <a:t>} to be the set of all ordered pairs (x, y) where x is an element of A and y is an element of B. We call A×B the Cartesian product of A and B.</a:t>
            </a:r>
          </a:p>
          <a:p>
            <a:pPr algn="l"/>
            <a:endParaRPr lang="en-US" b="0" dirty="0"/>
          </a:p>
          <a:p>
            <a:pPr algn="ctr"/>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3975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Counting With Sets </a:t>
            </a:r>
            <a:r>
              <a:rPr lang="en-US" altLang="ko-KR" dirty="0"/>
              <a:t>:</a:t>
            </a:r>
          </a:p>
          <a:p>
            <a:pPr marL="342900" indent="-342900">
              <a:buFont typeface="Arial" panose="020B0604020202020204" pitchFamily="34" charset="0"/>
              <a:buChar char="•"/>
            </a:pPr>
            <a:r>
              <a:rPr lang="en-US" dirty="0"/>
              <a:t>Multiplicative Principle (with sets)</a:t>
            </a:r>
          </a:p>
          <a:p>
            <a:pPr algn="l"/>
            <a:r>
              <a:rPr lang="en-US" b="0" dirty="0"/>
              <a:t>Given two sets A and B, we have </a:t>
            </a:r>
          </a:p>
          <a:p>
            <a:pPr algn="ctr"/>
            <a:r>
              <a:rPr lang="en-US" b="0" dirty="0"/>
              <a:t>|A×B|=|A|⋅|B|.</a:t>
            </a:r>
          </a:p>
          <a:p>
            <a:pPr algn="l"/>
            <a:endParaRPr lang="en-US" b="0" dirty="0"/>
          </a:p>
          <a:p>
            <a:pPr algn="ctr"/>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5298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3.1.2. Compensation principle. </a:t>
            </a:r>
            <a:endParaRPr lang="en-US" altLang="ko-KR" dirty="0"/>
          </a:p>
          <a:p>
            <a:pPr marL="342900" indent="-342900" algn="l">
              <a:buFont typeface="Arial" panose="020B0604020202020204" pitchFamily="34" charset="0"/>
              <a:buChar char="•"/>
            </a:pPr>
            <a:r>
              <a:rPr lang="en-US" dirty="0"/>
              <a:t>Cardinality of a union (2 sets)</a:t>
            </a:r>
          </a:p>
          <a:p>
            <a:pPr algn="l"/>
            <a:r>
              <a:rPr lang="en-US" b="0" dirty="0"/>
              <a:t>For any finite sets A and B,</a:t>
            </a:r>
          </a:p>
          <a:p>
            <a:pPr algn="ctr"/>
            <a:r>
              <a:rPr lang="en-US" b="0" dirty="0"/>
              <a:t>|A∪B|=|A|+|B|−|A∩B|.</a:t>
            </a:r>
          </a:p>
          <a:p>
            <a:pPr marL="342900" indent="-342900" algn="l">
              <a:buFont typeface="Arial" panose="020B0604020202020204" pitchFamily="34" charset="0"/>
              <a:buChar char="•"/>
            </a:pPr>
            <a:r>
              <a:rPr lang="en-US" dirty="0"/>
              <a:t>Cardinality of a union (3 sets)</a:t>
            </a:r>
          </a:p>
          <a:p>
            <a:pPr algn="l"/>
            <a:r>
              <a:rPr lang="en-US" b="0" dirty="0"/>
              <a:t>For any finite sets A, B, and C</a:t>
            </a:r>
          </a:p>
          <a:p>
            <a:pPr algn="ctr"/>
            <a:r>
              <a:rPr lang="en-US" b="0" dirty="0"/>
              <a:t>|A∪B∪C|=|A|+|B|+|C|−|A∩B|−|A∩C|−|B∩C|+|A∩B∩C|</a:t>
            </a:r>
          </a:p>
          <a:p>
            <a:pPr algn="l"/>
            <a:br>
              <a:rPr lang="en-US" dirty="0"/>
            </a:br>
            <a:r>
              <a:rPr lang="en-US" b="0" dirty="0"/>
              <a:t>In a French English class. There are 24 students studying French, 26 students learn English. 15 students learn English and French. How many people are there in the class?</a:t>
            </a:r>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954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4706930"/>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Arrangements and Permutations. </a:t>
                </a:r>
              </a:p>
              <a:p>
                <a:r>
                  <a:rPr lang="en-US" dirty="0"/>
                  <a:t>Combinations</a:t>
                </a:r>
              </a:p>
              <a:p>
                <a:r>
                  <a:rPr lang="en-US" b="0" dirty="0"/>
                  <a:t>A combination is a selection of k items from a set n items that has distinct members, such that the order of selection does not matter</a:t>
                </a:r>
              </a:p>
              <a:p>
                <a:pPr algn="l"/>
                <a:r>
                  <a:rPr lang="en-US" dirty="0"/>
                  <a:t>k-different items</a:t>
                </a:r>
              </a:p>
              <a:p>
                <a:pPr algn="l"/>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sub>
                        <m:sup>
                          <m:r>
                            <a:rPr lang="en-US" b="0" i="1" dirty="0" smtClean="0">
                              <a:latin typeface="Cambria Math" panose="02040503050406030204" pitchFamily="18" charset="0"/>
                            </a:rPr>
                            <m:t>𝑘</m:t>
                          </m:r>
                        </m:sup>
                      </m:sSub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a:latin typeface="Cambria Math" panose="02040503050406030204" pitchFamily="18" charset="0"/>
                            </a:rPr>
                            <m:t>𝑛</m:t>
                          </m:r>
                          <m:r>
                            <a:rPr lang="en-US" b="0" i="1" dirty="0">
                              <a:latin typeface="Cambria Math" panose="02040503050406030204" pitchFamily="18" charset="0"/>
                            </a:rPr>
                            <m:t>!</m:t>
                          </m:r>
                        </m:num>
                        <m:den>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a:latin typeface="Cambria Math" panose="02040503050406030204" pitchFamily="18" charset="0"/>
                            </a:rPr>
                            <m:t>𝑛</m:t>
                          </m:r>
                          <m:r>
                            <a:rPr lang="en-US" b="0" i="1" dirty="0">
                              <a:latin typeface="Cambria Math" panose="02040503050406030204" pitchFamily="18" charset="0"/>
                            </a:rPr>
                            <m:t>−</m:t>
                          </m:r>
                          <m:r>
                            <a:rPr lang="en-US" b="0" i="1" dirty="0">
                              <a:latin typeface="Cambria Math" panose="02040503050406030204" pitchFamily="18" charset="0"/>
                            </a:rPr>
                            <m:t>𝑘</m:t>
                          </m:r>
                          <m:r>
                            <a:rPr lang="en-US" b="0" i="1" dirty="0">
                              <a:latin typeface="Cambria Math" panose="02040503050406030204" pitchFamily="18" charset="0"/>
                            </a:rPr>
                            <m:t>)!</m:t>
                          </m:r>
                        </m:den>
                      </m:f>
                    </m:oMath>
                  </m:oMathPara>
                </a14:m>
                <a:endParaRPr lang="en-US" dirty="0"/>
              </a:p>
              <a:p>
                <a:pPr algn="l"/>
                <a:r>
                  <a:rPr lang="en-US" dirty="0"/>
                  <a:t>k- items without biding</a:t>
                </a:r>
              </a:p>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up>
                          <m:r>
                            <a:rPr lang="en-US" b="0" i="1" dirty="0" smtClean="0">
                              <a:latin typeface="Cambria Math" panose="02040503050406030204" pitchFamily="18" charset="0"/>
                            </a:rPr>
                            <m:t>𝑘</m:t>
                          </m:r>
                        </m:sup>
                      </m:sSubSup>
                    </m:oMath>
                  </m:oMathPara>
                </a14:m>
                <a:endParaRPr lang="en-US" b="0" dirty="0"/>
              </a:p>
              <a:p>
                <a:pPr algn="ctr"/>
                <a:r>
                  <a:rPr lang="en-US" altLang="ko-KR" b="0" dirty="0"/>
                  <a:t>A class has 30 students. How many ways are there to choose 10 students?</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41275" y="818502"/>
                <a:ext cx="9036050" cy="4706930"/>
              </a:xfrm>
              <a:prstGeom prst="rect">
                <a:avLst/>
              </a:prstGeom>
              <a:blipFill>
                <a:blip r:embed="rId4"/>
                <a:stretch>
                  <a:fillRect l="-742" r="-675" b="-1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111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46473"/>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r>
                  <a:rPr lang="en-US" dirty="0"/>
                  <a:t>Partial permutation (Arrangements)</a:t>
                </a:r>
              </a:p>
              <a:p>
                <a:r>
                  <a:rPr lang="en-US" b="0" dirty="0"/>
                  <a:t>A </a:t>
                </a:r>
                <a:r>
                  <a:rPr lang="en-US" dirty="0"/>
                  <a:t> Partial permutation </a:t>
                </a:r>
                <a:r>
                  <a:rPr lang="en-US" b="0" dirty="0"/>
                  <a:t> is a selection of k items from a set n items that has distinct members, such that the order of selection matter</a:t>
                </a:r>
              </a:p>
              <a:p>
                <a:pPr algn="l"/>
                <a:r>
                  <a:rPr lang="en-US" dirty="0"/>
                  <a:t>k-different items</a:t>
                </a:r>
              </a:p>
              <a:p>
                <a:pPr algn="l"/>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𝐴</m:t>
                          </m:r>
                        </m:e>
                        <m:sub>
                          <m:r>
                            <a:rPr lang="en-US" b="0" i="1" dirty="0" smtClean="0">
                              <a:latin typeface="Cambria Math" panose="02040503050406030204" pitchFamily="18" charset="0"/>
                            </a:rPr>
                            <m:t>𝑛</m:t>
                          </m:r>
                        </m:sub>
                        <m:sup>
                          <m:r>
                            <a:rPr lang="en-US" b="0" i="1" dirty="0" smtClean="0">
                              <a:latin typeface="Cambria Math" panose="02040503050406030204" pitchFamily="18" charset="0"/>
                            </a:rPr>
                            <m:t>𝑘</m:t>
                          </m:r>
                        </m:sup>
                      </m:sSub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a:latin typeface="Cambria Math" panose="02040503050406030204" pitchFamily="18" charset="0"/>
                            </a:rPr>
                            <m:t>𝑛</m:t>
                          </m:r>
                          <m:r>
                            <a:rPr lang="en-US" b="0" i="1" dirty="0">
                              <a:latin typeface="Cambria Math" panose="02040503050406030204" pitchFamily="18" charset="0"/>
                            </a:rPr>
                            <m:t>!</m:t>
                          </m:r>
                        </m:num>
                        <m:den>
                          <m:r>
                            <a:rPr lang="en-US" b="0" i="1" dirty="0" smtClean="0">
                              <a:latin typeface="Cambria Math" panose="02040503050406030204" pitchFamily="18" charset="0"/>
                            </a:rPr>
                            <m:t>(</m:t>
                          </m:r>
                          <m:r>
                            <a:rPr lang="en-US" b="0" i="1" dirty="0">
                              <a:latin typeface="Cambria Math" panose="02040503050406030204" pitchFamily="18" charset="0"/>
                            </a:rPr>
                            <m:t>𝑛</m:t>
                          </m:r>
                          <m:r>
                            <a:rPr lang="en-US" b="0" i="1" dirty="0">
                              <a:latin typeface="Cambria Math" panose="02040503050406030204" pitchFamily="18" charset="0"/>
                            </a:rPr>
                            <m:t>−</m:t>
                          </m:r>
                          <m:r>
                            <a:rPr lang="en-US" b="0" i="1" dirty="0">
                              <a:latin typeface="Cambria Math" panose="02040503050406030204" pitchFamily="18" charset="0"/>
                            </a:rPr>
                            <m:t>𝑘</m:t>
                          </m:r>
                          <m:r>
                            <a:rPr lang="en-US" b="0" i="1" dirty="0">
                              <a:latin typeface="Cambria Math" panose="02040503050406030204" pitchFamily="18" charset="0"/>
                            </a:rPr>
                            <m:t>)!</m:t>
                          </m:r>
                        </m:den>
                      </m:f>
                    </m:oMath>
                  </m:oMathPara>
                </a14:m>
                <a:endParaRPr lang="en-US" dirty="0"/>
              </a:p>
              <a:p>
                <a:pPr algn="l"/>
                <a:r>
                  <a:rPr lang="en-US" dirty="0"/>
                  <a:t>k- items without biding</a:t>
                </a:r>
              </a:p>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𝑘</m:t>
                          </m:r>
                        </m:sup>
                      </m:sSup>
                    </m:oMath>
                  </m:oMathPara>
                </a14:m>
                <a:endParaRPr lang="en-US" b="0" dirty="0"/>
              </a:p>
              <a:p>
                <a:r>
                  <a:rPr lang="en-US" b="0" dirty="0"/>
                  <a:t>How many 3-digit natural numbers are </a:t>
                </a:r>
                <a:r>
                  <a:rPr lang="en-US" b="0" dirty="0" err="1"/>
                  <a:t>generated?from</a:t>
                </a:r>
                <a:r>
                  <a:rPr lang="en-US" b="0" dirty="0"/>
                  <a:t> 1,2,3,4,5,6.</a:t>
                </a:r>
              </a:p>
              <a:p>
                <a:pPr algn="ctr"/>
                <a:endParaRPr lang="en-US" altLang="ko-KR" b="0" dirty="0"/>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41275" y="818502"/>
                <a:ext cx="9036050" cy="5146473"/>
              </a:xfrm>
              <a:prstGeom prst="rect">
                <a:avLst/>
              </a:prstGeom>
              <a:blipFill>
                <a:blip r:embed="rId4"/>
                <a:stretch>
                  <a:fillRect l="-742" r="-67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6026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r>
              <a:rPr lang="en-US" dirty="0"/>
              <a:t>Permutations </a:t>
            </a:r>
          </a:p>
          <a:p>
            <a:pPr algn="l"/>
            <a:r>
              <a:rPr lang="en-US" b="0" dirty="0"/>
              <a:t>A permutation is a (possible) rearrangement of objects. For example, there are 6 permutations of the letters a, b, c:</a:t>
            </a:r>
          </a:p>
          <a:p>
            <a:r>
              <a:rPr lang="en-US" b="0" dirty="0" err="1"/>
              <a:t>abc</a:t>
            </a:r>
            <a:r>
              <a:rPr lang="en-US" b="0" dirty="0"/>
              <a:t>,  </a:t>
            </a:r>
            <a:r>
              <a:rPr lang="en-US" b="0" dirty="0" err="1"/>
              <a:t>acb</a:t>
            </a:r>
            <a:r>
              <a:rPr lang="en-US" b="0" dirty="0"/>
              <a:t>,  bac,  </a:t>
            </a:r>
            <a:r>
              <a:rPr lang="en-US" b="0" dirty="0" err="1"/>
              <a:t>bca</a:t>
            </a:r>
            <a:r>
              <a:rPr lang="en-US" b="0" dirty="0"/>
              <a:t>,  cab,  cba. </a:t>
            </a:r>
          </a:p>
          <a:p>
            <a:pPr algn="l"/>
            <a:r>
              <a:rPr lang="en-US" dirty="0"/>
              <a:t>Permutations of n elements</a:t>
            </a:r>
          </a:p>
          <a:p>
            <a:pPr algn="l"/>
            <a:r>
              <a:rPr lang="en-US" b="0" dirty="0"/>
              <a:t>There are n!=n⋅(n−1)⋅(n−2)⋅⋯⋅2⋅1permutations of n (distinct) elements</a:t>
            </a:r>
            <a:r>
              <a:rPr lang="en-US" b="0" i="0" dirty="0">
                <a:solidFill>
                  <a:srgbClr val="000000"/>
                </a:solidFill>
                <a:effectLst/>
                <a:latin typeface="Open Sans" panose="020B0606030504020204" pitchFamily="34" charset="0"/>
              </a:rPr>
              <a:t>.</a:t>
            </a:r>
          </a:p>
          <a:p>
            <a:pPr algn="l"/>
            <a:r>
              <a:rPr lang="en-US" dirty="0"/>
              <a:t>Let X ={1,2,3,4,5}.How many distinct 5-digit natural numbers are generated from the set X</a:t>
            </a:r>
          </a:p>
          <a:p>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72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142199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ounded Rectangle 6">
            <a:extLst>
              <a:ext uri="{FF2B5EF4-FFF2-40B4-BE49-F238E27FC236}">
                <a16:creationId xmlns:a16="http://schemas.microsoft.com/office/drawing/2014/main" id="{0F96B547-AD04-EA9B-BA73-11DEF01C8854}"/>
              </a:ext>
            </a:extLst>
          </p:cNvPr>
          <p:cNvSpPr>
            <a:spLocks noChangeArrowheads="1"/>
          </p:cNvSpPr>
          <p:nvPr/>
        </p:nvSpPr>
        <p:spPr bwMode="auto">
          <a:xfrm>
            <a:off x="3460750" y="1344533"/>
            <a:ext cx="1633347" cy="510778"/>
          </a:xfrm>
          <a:prstGeom prst="roundRect">
            <a:avLst>
              <a:gd name="adj" fmla="val 16667"/>
            </a:avLst>
          </a:prstGeom>
          <a:solidFill>
            <a:srgbClr val="FFFF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400" b="1" dirty="0">
                <a:solidFill>
                  <a:srgbClr val="FF0000"/>
                </a:solidFill>
              </a:rPr>
              <a:t>Problems</a:t>
            </a:r>
          </a:p>
        </p:txBody>
      </p:sp>
      <p:cxnSp>
        <p:nvCxnSpPr>
          <p:cNvPr id="10" name="Straight Arrow Connector 9">
            <a:extLst>
              <a:ext uri="{FF2B5EF4-FFF2-40B4-BE49-F238E27FC236}">
                <a16:creationId xmlns:a16="http://schemas.microsoft.com/office/drawing/2014/main" id="{31991117-5EC5-7AC8-5CBF-A8DB042F524B}"/>
              </a:ext>
            </a:extLst>
          </p:cNvPr>
          <p:cNvCxnSpPr>
            <a:cxnSpLocks noChangeShapeType="1"/>
            <a:stCxn id="9" idx="2"/>
            <a:endCxn id="16" idx="0"/>
          </p:cNvCxnSpPr>
          <p:nvPr/>
        </p:nvCxnSpPr>
        <p:spPr bwMode="auto">
          <a:xfrm flipH="1">
            <a:off x="3253057" y="1855311"/>
            <a:ext cx="1024367" cy="607754"/>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4657D618-1D72-44FD-E714-AC33D77ADE3B}"/>
              </a:ext>
            </a:extLst>
          </p:cNvPr>
          <p:cNvCxnSpPr>
            <a:cxnSpLocks noChangeShapeType="1"/>
            <a:stCxn id="9" idx="2"/>
            <a:endCxn id="17" idx="0"/>
          </p:cNvCxnSpPr>
          <p:nvPr/>
        </p:nvCxnSpPr>
        <p:spPr bwMode="auto">
          <a:xfrm>
            <a:off x="4277424" y="1855311"/>
            <a:ext cx="1940851" cy="79198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16" name="Oval 15">
            <a:extLst>
              <a:ext uri="{FF2B5EF4-FFF2-40B4-BE49-F238E27FC236}">
                <a16:creationId xmlns:a16="http://schemas.microsoft.com/office/drawing/2014/main" id="{5AF63B8A-6B8E-531A-9EEF-FC53DFF95FFB}"/>
              </a:ext>
            </a:extLst>
          </p:cNvPr>
          <p:cNvSpPr>
            <a:spLocks noChangeArrowheads="1"/>
          </p:cNvSpPr>
          <p:nvPr/>
        </p:nvSpPr>
        <p:spPr bwMode="auto">
          <a:xfrm>
            <a:off x="1733550" y="2463065"/>
            <a:ext cx="3039013"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Order of n items</a:t>
            </a:r>
          </a:p>
        </p:txBody>
      </p:sp>
      <p:sp>
        <p:nvSpPr>
          <p:cNvPr id="17" name="Oval 16">
            <a:extLst>
              <a:ext uri="{FF2B5EF4-FFF2-40B4-BE49-F238E27FC236}">
                <a16:creationId xmlns:a16="http://schemas.microsoft.com/office/drawing/2014/main" id="{C3F498BC-8C36-8595-3CD1-9E2708051CDC}"/>
              </a:ext>
            </a:extLst>
          </p:cNvPr>
          <p:cNvSpPr>
            <a:spLocks noChangeArrowheads="1"/>
          </p:cNvSpPr>
          <p:nvPr/>
        </p:nvSpPr>
        <p:spPr bwMode="auto">
          <a:xfrm>
            <a:off x="4758503" y="2647297"/>
            <a:ext cx="2919544"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K in set n items</a:t>
            </a:r>
          </a:p>
        </p:txBody>
      </p:sp>
      <p:cxnSp>
        <p:nvCxnSpPr>
          <p:cNvPr id="18" name="Straight Arrow Connector 17">
            <a:extLst>
              <a:ext uri="{FF2B5EF4-FFF2-40B4-BE49-F238E27FC236}">
                <a16:creationId xmlns:a16="http://schemas.microsoft.com/office/drawing/2014/main" id="{05A06776-B01D-6E1B-2CFC-ACD22A71C567}"/>
              </a:ext>
            </a:extLst>
          </p:cNvPr>
          <p:cNvCxnSpPr>
            <a:cxnSpLocks noChangeShapeType="1"/>
            <a:stCxn id="16" idx="4"/>
            <a:endCxn id="21" idx="0"/>
          </p:cNvCxnSpPr>
          <p:nvPr/>
        </p:nvCxnSpPr>
        <p:spPr bwMode="auto">
          <a:xfrm flipH="1">
            <a:off x="1995907" y="3025695"/>
            <a:ext cx="1257150" cy="354259"/>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7F74B24E-1E5F-9C9F-2163-EE4C115F8480}"/>
              </a:ext>
            </a:extLst>
          </p:cNvPr>
          <p:cNvSpPr>
            <a:spLocks noChangeArrowheads="1"/>
          </p:cNvSpPr>
          <p:nvPr/>
        </p:nvSpPr>
        <p:spPr bwMode="auto">
          <a:xfrm>
            <a:off x="1230313" y="3379954"/>
            <a:ext cx="1531188"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1800" b="1" dirty="0">
                <a:solidFill>
                  <a:srgbClr val="FFFF00"/>
                </a:solidFill>
              </a:rPr>
              <a:t>Permutation</a:t>
            </a:r>
          </a:p>
        </p:txBody>
      </p:sp>
      <p:cxnSp>
        <p:nvCxnSpPr>
          <p:cNvPr id="24" name="Straight Arrow Connector 23">
            <a:extLst>
              <a:ext uri="{FF2B5EF4-FFF2-40B4-BE49-F238E27FC236}">
                <a16:creationId xmlns:a16="http://schemas.microsoft.com/office/drawing/2014/main" id="{6196F5A7-3EBA-58C8-DBEC-317CC566C008}"/>
              </a:ext>
            </a:extLst>
          </p:cNvPr>
          <p:cNvCxnSpPr>
            <a:cxnSpLocks noChangeShapeType="1"/>
            <a:stCxn id="17" idx="4"/>
            <a:endCxn id="28" idx="0"/>
          </p:cNvCxnSpPr>
          <p:nvPr/>
        </p:nvCxnSpPr>
        <p:spPr bwMode="auto">
          <a:xfrm flipH="1">
            <a:off x="4063887" y="3209927"/>
            <a:ext cx="2154388" cy="1009642"/>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C158EB2B-BCFE-C6CF-DF6E-E57C2A487852}"/>
              </a:ext>
            </a:extLst>
          </p:cNvPr>
          <p:cNvCxnSpPr>
            <a:cxnSpLocks noChangeShapeType="1"/>
            <a:stCxn id="17" idx="4"/>
            <a:endCxn id="29" idx="0"/>
          </p:cNvCxnSpPr>
          <p:nvPr/>
        </p:nvCxnSpPr>
        <p:spPr bwMode="auto">
          <a:xfrm>
            <a:off x="6218275" y="3209927"/>
            <a:ext cx="997323" cy="104357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26" name="TextBox 25">
            <a:extLst>
              <a:ext uri="{FF2B5EF4-FFF2-40B4-BE49-F238E27FC236}">
                <a16:creationId xmlns:a16="http://schemas.microsoft.com/office/drawing/2014/main" id="{5EC78BE5-D293-B3A4-A2E4-CDD06A252FC3}"/>
              </a:ext>
            </a:extLst>
          </p:cNvPr>
          <p:cNvSpPr txBox="1">
            <a:spLocks noChangeArrowheads="1"/>
          </p:cNvSpPr>
          <p:nvPr/>
        </p:nvSpPr>
        <p:spPr bwMode="auto">
          <a:xfrm>
            <a:off x="3622562" y="3656317"/>
            <a:ext cx="15818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With order</a:t>
            </a:r>
          </a:p>
        </p:txBody>
      </p:sp>
      <p:sp>
        <p:nvSpPr>
          <p:cNvPr id="27" name="TextBox 26">
            <a:extLst>
              <a:ext uri="{FF2B5EF4-FFF2-40B4-BE49-F238E27FC236}">
                <a16:creationId xmlns:a16="http://schemas.microsoft.com/office/drawing/2014/main" id="{7DEC5F88-1B2A-CCE4-0A5D-377C90A190F2}"/>
              </a:ext>
            </a:extLst>
          </p:cNvPr>
          <p:cNvSpPr txBox="1">
            <a:spLocks noChangeArrowheads="1"/>
          </p:cNvSpPr>
          <p:nvPr/>
        </p:nvSpPr>
        <p:spPr bwMode="auto">
          <a:xfrm>
            <a:off x="7018338" y="3659769"/>
            <a:ext cx="152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No order</a:t>
            </a:r>
          </a:p>
        </p:txBody>
      </p:sp>
      <p:sp>
        <p:nvSpPr>
          <p:cNvPr id="28" name="Oval 27">
            <a:extLst>
              <a:ext uri="{FF2B5EF4-FFF2-40B4-BE49-F238E27FC236}">
                <a16:creationId xmlns:a16="http://schemas.microsoft.com/office/drawing/2014/main" id="{C1C3DA02-D82F-B892-9933-C6F30A83C9EB}"/>
              </a:ext>
            </a:extLst>
          </p:cNvPr>
          <p:cNvSpPr>
            <a:spLocks noChangeArrowheads="1"/>
          </p:cNvSpPr>
          <p:nvPr/>
        </p:nvSpPr>
        <p:spPr bwMode="auto">
          <a:xfrm>
            <a:off x="2802478" y="4219569"/>
            <a:ext cx="2522818"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2000" dirty="0"/>
              <a:t>Arrangements</a:t>
            </a:r>
            <a:endParaRPr kumimoji="0" lang="en-US" altLang="en-US" sz="2000" b="1" dirty="0">
              <a:solidFill>
                <a:schemeClr val="tx1"/>
              </a:solidFill>
            </a:endParaRPr>
          </a:p>
        </p:txBody>
      </p:sp>
      <p:sp>
        <p:nvSpPr>
          <p:cNvPr id="29" name="Oval 28">
            <a:extLst>
              <a:ext uri="{FF2B5EF4-FFF2-40B4-BE49-F238E27FC236}">
                <a16:creationId xmlns:a16="http://schemas.microsoft.com/office/drawing/2014/main" id="{AC2D87DB-7D72-91FF-69E6-770B65C7DF01}"/>
              </a:ext>
            </a:extLst>
          </p:cNvPr>
          <p:cNvSpPr>
            <a:spLocks noChangeArrowheads="1"/>
          </p:cNvSpPr>
          <p:nvPr/>
        </p:nvSpPr>
        <p:spPr bwMode="auto">
          <a:xfrm>
            <a:off x="5983492" y="4253503"/>
            <a:ext cx="2464211"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Combination</a:t>
            </a:r>
          </a:p>
        </p:txBody>
      </p:sp>
      <p:cxnSp>
        <p:nvCxnSpPr>
          <p:cNvPr id="30" name="Straight Arrow Connector 29">
            <a:extLst>
              <a:ext uri="{FF2B5EF4-FFF2-40B4-BE49-F238E27FC236}">
                <a16:creationId xmlns:a16="http://schemas.microsoft.com/office/drawing/2014/main" id="{6D095416-6E16-7482-206B-25A69F924C01}"/>
              </a:ext>
            </a:extLst>
          </p:cNvPr>
          <p:cNvCxnSpPr>
            <a:cxnSpLocks noChangeShapeType="1"/>
            <a:stCxn id="28" idx="4"/>
            <a:endCxn id="33" idx="0"/>
          </p:cNvCxnSpPr>
          <p:nvPr/>
        </p:nvCxnSpPr>
        <p:spPr bwMode="auto">
          <a:xfrm flipH="1">
            <a:off x="1603613" y="4782199"/>
            <a:ext cx="2460274" cy="50388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C77A7D16-29F5-8D15-4EF5-57A131C7B7DB}"/>
              </a:ext>
            </a:extLst>
          </p:cNvPr>
          <p:cNvCxnSpPr>
            <a:cxnSpLocks noChangeShapeType="1"/>
            <a:stCxn id="28" idx="4"/>
            <a:endCxn id="35" idx="0"/>
          </p:cNvCxnSpPr>
          <p:nvPr/>
        </p:nvCxnSpPr>
        <p:spPr bwMode="auto">
          <a:xfrm flipH="1">
            <a:off x="3427008" y="4782199"/>
            <a:ext cx="636879" cy="475879"/>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33" name="Rectangle 32">
            <a:extLst>
              <a:ext uri="{FF2B5EF4-FFF2-40B4-BE49-F238E27FC236}">
                <a16:creationId xmlns:a16="http://schemas.microsoft.com/office/drawing/2014/main" id="{F77BACD2-044E-BE6B-89AC-9FB63D8D8498}"/>
              </a:ext>
            </a:extLst>
          </p:cNvPr>
          <p:cNvSpPr>
            <a:spLocks noChangeArrowheads="1"/>
          </p:cNvSpPr>
          <p:nvPr/>
        </p:nvSpPr>
        <p:spPr bwMode="auto">
          <a:xfrm>
            <a:off x="692626" y="5286085"/>
            <a:ext cx="1821974"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1800" dirty="0"/>
              <a:t>k-different items</a:t>
            </a:r>
          </a:p>
        </p:txBody>
      </p:sp>
      <p:sp>
        <p:nvSpPr>
          <p:cNvPr id="35" name="Rectangle 34">
            <a:extLst>
              <a:ext uri="{FF2B5EF4-FFF2-40B4-BE49-F238E27FC236}">
                <a16:creationId xmlns:a16="http://schemas.microsoft.com/office/drawing/2014/main" id="{B637F68D-6B50-FEDA-F164-2C07C701B79A}"/>
              </a:ext>
            </a:extLst>
          </p:cNvPr>
          <p:cNvSpPr>
            <a:spLocks noChangeArrowheads="1"/>
          </p:cNvSpPr>
          <p:nvPr/>
        </p:nvSpPr>
        <p:spPr bwMode="auto">
          <a:xfrm>
            <a:off x="2802478" y="5258078"/>
            <a:ext cx="1249060"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1800" b="1" dirty="0">
                <a:solidFill>
                  <a:srgbClr val="FFFF00"/>
                </a:solidFill>
              </a:rPr>
              <a:t>No biding</a:t>
            </a:r>
          </a:p>
        </p:txBody>
      </p:sp>
      <p:cxnSp>
        <p:nvCxnSpPr>
          <p:cNvPr id="36" name="Straight Arrow Connector 35">
            <a:extLst>
              <a:ext uri="{FF2B5EF4-FFF2-40B4-BE49-F238E27FC236}">
                <a16:creationId xmlns:a16="http://schemas.microsoft.com/office/drawing/2014/main" id="{28C4552D-7307-0ABE-9804-9327B22180AE}"/>
              </a:ext>
            </a:extLst>
          </p:cNvPr>
          <p:cNvCxnSpPr>
            <a:cxnSpLocks noChangeShapeType="1"/>
            <a:stCxn id="29" idx="4"/>
            <a:endCxn id="39" idx="0"/>
          </p:cNvCxnSpPr>
          <p:nvPr/>
        </p:nvCxnSpPr>
        <p:spPr bwMode="auto">
          <a:xfrm flipH="1">
            <a:off x="5887484" y="4816133"/>
            <a:ext cx="1328114" cy="422882"/>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37" name="Straight Arrow Connector 36">
            <a:extLst>
              <a:ext uri="{FF2B5EF4-FFF2-40B4-BE49-F238E27FC236}">
                <a16:creationId xmlns:a16="http://schemas.microsoft.com/office/drawing/2014/main" id="{6D65D824-FAB2-F64C-070B-BB812F175A58}"/>
              </a:ext>
            </a:extLst>
          </p:cNvPr>
          <p:cNvCxnSpPr>
            <a:cxnSpLocks noChangeShapeType="1"/>
            <a:stCxn id="29" idx="4"/>
            <a:endCxn id="41" idx="0"/>
          </p:cNvCxnSpPr>
          <p:nvPr/>
        </p:nvCxnSpPr>
        <p:spPr bwMode="auto">
          <a:xfrm>
            <a:off x="7215598" y="4816133"/>
            <a:ext cx="806682" cy="441945"/>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551BD67F-63B3-EABD-FE77-2C2A1A2D0BB1}"/>
              </a:ext>
            </a:extLst>
          </p:cNvPr>
          <p:cNvSpPr>
            <a:spLocks noChangeArrowheads="1"/>
          </p:cNvSpPr>
          <p:nvPr/>
        </p:nvSpPr>
        <p:spPr bwMode="auto">
          <a:xfrm>
            <a:off x="4976497" y="5239015"/>
            <a:ext cx="1821974"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1800" dirty="0"/>
              <a:t>k-different items</a:t>
            </a:r>
          </a:p>
        </p:txBody>
      </p:sp>
      <p:sp>
        <p:nvSpPr>
          <p:cNvPr id="41" name="Rectangle 40">
            <a:extLst>
              <a:ext uri="{FF2B5EF4-FFF2-40B4-BE49-F238E27FC236}">
                <a16:creationId xmlns:a16="http://schemas.microsoft.com/office/drawing/2014/main" id="{526EB44D-F7DB-FAC8-B525-7EA96EFF8C9E}"/>
              </a:ext>
            </a:extLst>
          </p:cNvPr>
          <p:cNvSpPr>
            <a:spLocks noChangeArrowheads="1"/>
          </p:cNvSpPr>
          <p:nvPr/>
        </p:nvSpPr>
        <p:spPr bwMode="auto">
          <a:xfrm>
            <a:off x="7397750" y="5258078"/>
            <a:ext cx="1249060"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kumimoji="0" lang="en-US" altLang="en-US" sz="1800" b="1" dirty="0">
                <a:solidFill>
                  <a:srgbClr val="FFFF00"/>
                </a:solidFill>
              </a:rPr>
              <a:t>No biding</a:t>
            </a:r>
          </a:p>
        </p:txBody>
      </p:sp>
      <p:graphicFrame>
        <p:nvGraphicFramePr>
          <p:cNvPr id="42" name="Object 2">
            <a:extLst>
              <a:ext uri="{FF2B5EF4-FFF2-40B4-BE49-F238E27FC236}">
                <a16:creationId xmlns:a16="http://schemas.microsoft.com/office/drawing/2014/main" id="{127FDB1E-E3FA-59A1-D06F-218EEFFC0DAB}"/>
              </a:ext>
            </a:extLst>
          </p:cNvPr>
          <p:cNvGraphicFramePr>
            <a:graphicFrameLocks noChangeAspect="1"/>
          </p:cNvGraphicFramePr>
          <p:nvPr>
            <p:extLst>
              <p:ext uri="{D42A27DB-BD31-4B8C-83A1-F6EECF244321}">
                <p14:modId xmlns:p14="http://schemas.microsoft.com/office/powerpoint/2010/main" val="796432532"/>
              </p:ext>
            </p:extLst>
          </p:nvPr>
        </p:nvGraphicFramePr>
        <p:xfrm>
          <a:off x="622300" y="5609286"/>
          <a:ext cx="1825625" cy="925513"/>
        </p:xfrm>
        <a:graphic>
          <a:graphicData uri="http://schemas.openxmlformats.org/presentationml/2006/ole">
            <mc:AlternateContent xmlns:mc="http://schemas.openxmlformats.org/markup-compatibility/2006">
              <mc:Choice xmlns:v="urn:schemas-microsoft-com:vml" Requires="v">
                <p:oleObj name="Equation" r:id="rId4" imgW="825500" imgH="419100" progId="Equation.DSMT4">
                  <p:embed/>
                </p:oleObj>
              </mc:Choice>
              <mc:Fallback>
                <p:oleObj name="Equation" r:id="rId4" imgW="825500" imgH="419100" progId="Equation.DSMT4">
                  <p:embed/>
                  <p:pic>
                    <p:nvPicPr>
                      <p:cNvPr id="84994" name="Object 2">
                        <a:extLst>
                          <a:ext uri="{FF2B5EF4-FFF2-40B4-BE49-F238E27FC236}">
                            <a16:creationId xmlns:a16="http://schemas.microsoft.com/office/drawing/2014/main" id="{AC1FE4F3-72E2-05B2-966A-26B224CEFC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5609286"/>
                        <a:ext cx="1825625" cy="92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
            <a:extLst>
              <a:ext uri="{FF2B5EF4-FFF2-40B4-BE49-F238E27FC236}">
                <a16:creationId xmlns:a16="http://schemas.microsoft.com/office/drawing/2014/main" id="{49F5EB6B-23C6-49D6-6FBE-7A42A59A92F6}"/>
              </a:ext>
            </a:extLst>
          </p:cNvPr>
          <p:cNvGraphicFramePr>
            <a:graphicFrameLocks noChangeAspect="1"/>
          </p:cNvGraphicFramePr>
          <p:nvPr>
            <p:extLst>
              <p:ext uri="{D42A27DB-BD31-4B8C-83A1-F6EECF244321}">
                <p14:modId xmlns:p14="http://schemas.microsoft.com/office/powerpoint/2010/main" val="313286668"/>
              </p:ext>
            </p:extLst>
          </p:nvPr>
        </p:nvGraphicFramePr>
        <p:xfrm>
          <a:off x="4791077" y="5597896"/>
          <a:ext cx="2133600" cy="925512"/>
        </p:xfrm>
        <a:graphic>
          <a:graphicData uri="http://schemas.openxmlformats.org/presentationml/2006/ole">
            <mc:AlternateContent xmlns:mc="http://schemas.openxmlformats.org/markup-compatibility/2006">
              <mc:Choice xmlns:v="urn:schemas-microsoft-com:vml" Requires="v">
                <p:oleObj name="Equation" r:id="rId6" imgW="965200" imgH="419100" progId="Equation.DSMT4">
                  <p:embed/>
                </p:oleObj>
              </mc:Choice>
              <mc:Fallback>
                <p:oleObj name="Equation" r:id="rId6" imgW="965200" imgH="419100" progId="Equation.DSMT4">
                  <p:embed/>
                  <p:pic>
                    <p:nvPicPr>
                      <p:cNvPr id="79" name="Object 3">
                        <a:extLst>
                          <a:ext uri="{FF2B5EF4-FFF2-40B4-BE49-F238E27FC236}">
                            <a16:creationId xmlns:a16="http://schemas.microsoft.com/office/drawing/2014/main" id="{E57A337E-3272-24B0-BEE6-76E841333A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1077" y="5597896"/>
                        <a:ext cx="2133600" cy="92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4">
            <a:extLst>
              <a:ext uri="{FF2B5EF4-FFF2-40B4-BE49-F238E27FC236}">
                <a16:creationId xmlns:a16="http://schemas.microsoft.com/office/drawing/2014/main" id="{9ED13BF4-ADE2-0AEE-2033-59AA1EAA1799}"/>
              </a:ext>
            </a:extLst>
          </p:cNvPr>
          <p:cNvGraphicFramePr>
            <a:graphicFrameLocks noChangeAspect="1"/>
          </p:cNvGraphicFramePr>
          <p:nvPr>
            <p:extLst>
              <p:ext uri="{D42A27DB-BD31-4B8C-83A1-F6EECF244321}">
                <p14:modId xmlns:p14="http://schemas.microsoft.com/office/powerpoint/2010/main" val="2254406174"/>
              </p:ext>
            </p:extLst>
          </p:nvPr>
        </p:nvGraphicFramePr>
        <p:xfrm>
          <a:off x="3179072" y="5800076"/>
          <a:ext cx="393700" cy="449263"/>
        </p:xfrm>
        <a:graphic>
          <a:graphicData uri="http://schemas.openxmlformats.org/presentationml/2006/ole">
            <mc:AlternateContent xmlns:mc="http://schemas.openxmlformats.org/markup-compatibility/2006">
              <mc:Choice xmlns:v="urn:schemas-microsoft-com:vml" Requires="v">
                <p:oleObj name="Equation" r:id="rId8" imgW="177569" imgH="202936" progId="Equation.DSMT4">
                  <p:embed/>
                </p:oleObj>
              </mc:Choice>
              <mc:Fallback>
                <p:oleObj name="Equation" r:id="rId8" imgW="177569" imgH="202936" progId="Equation.DSMT4">
                  <p:embed/>
                  <p:pic>
                    <p:nvPicPr>
                      <p:cNvPr id="80" name="Object 4">
                        <a:extLst>
                          <a:ext uri="{FF2B5EF4-FFF2-40B4-BE49-F238E27FC236}">
                            <a16:creationId xmlns:a16="http://schemas.microsoft.com/office/drawing/2014/main" id="{A3B9A96D-DA04-7070-C687-8DCBF50EC7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9072" y="5800076"/>
                        <a:ext cx="393700"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5">
            <a:extLst>
              <a:ext uri="{FF2B5EF4-FFF2-40B4-BE49-F238E27FC236}">
                <a16:creationId xmlns:a16="http://schemas.microsoft.com/office/drawing/2014/main" id="{532AE24B-A17F-AEFE-9187-7265455AFD0F}"/>
              </a:ext>
            </a:extLst>
          </p:cNvPr>
          <p:cNvGraphicFramePr>
            <a:graphicFrameLocks noChangeAspect="1"/>
          </p:cNvGraphicFramePr>
          <p:nvPr/>
        </p:nvGraphicFramePr>
        <p:xfrm>
          <a:off x="7473950" y="5562600"/>
          <a:ext cx="1517650" cy="960438"/>
        </p:xfrm>
        <a:graphic>
          <a:graphicData uri="http://schemas.openxmlformats.org/presentationml/2006/ole">
            <mc:AlternateContent xmlns:mc="http://schemas.openxmlformats.org/markup-compatibility/2006">
              <mc:Choice xmlns:v="urn:schemas-microsoft-com:vml" Requires="v">
                <p:oleObj name="Equation" r:id="rId10" imgW="380835" imgH="241195" progId="Equation.DSMT4">
                  <p:embed/>
                </p:oleObj>
              </mc:Choice>
              <mc:Fallback>
                <p:oleObj name="Equation" r:id="rId10" imgW="380835" imgH="241195" progId="Equation.DSMT4">
                  <p:embed/>
                  <p:pic>
                    <p:nvPicPr>
                      <p:cNvPr id="84997" name="Object 5">
                        <a:extLst>
                          <a:ext uri="{FF2B5EF4-FFF2-40B4-BE49-F238E27FC236}">
                            <a16:creationId xmlns:a16="http://schemas.microsoft.com/office/drawing/2014/main" id="{FA798B83-FFD6-1204-0F88-1189068A8BB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3950" y="5562600"/>
                        <a:ext cx="1517650" cy="96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7">
            <a:extLst>
              <a:ext uri="{FF2B5EF4-FFF2-40B4-BE49-F238E27FC236}">
                <a16:creationId xmlns:a16="http://schemas.microsoft.com/office/drawing/2014/main" id="{64F12E5A-E6E7-7E0C-8C72-2AEFF14FDFA2}"/>
              </a:ext>
            </a:extLst>
          </p:cNvPr>
          <p:cNvGraphicFramePr>
            <a:graphicFrameLocks noChangeAspect="1"/>
          </p:cNvGraphicFramePr>
          <p:nvPr>
            <p:extLst>
              <p:ext uri="{D42A27DB-BD31-4B8C-83A1-F6EECF244321}">
                <p14:modId xmlns:p14="http://schemas.microsoft.com/office/powerpoint/2010/main" val="1134761137"/>
              </p:ext>
            </p:extLst>
          </p:nvPr>
        </p:nvGraphicFramePr>
        <p:xfrm>
          <a:off x="1628775" y="3764327"/>
          <a:ext cx="544513" cy="584200"/>
        </p:xfrm>
        <a:graphic>
          <a:graphicData uri="http://schemas.openxmlformats.org/presentationml/2006/ole">
            <mc:AlternateContent xmlns:mc="http://schemas.openxmlformats.org/markup-compatibility/2006">
              <mc:Choice xmlns:v="urn:schemas-microsoft-com:vml" Requires="v">
                <p:oleObj name="Equation" r:id="rId12" imgW="164814" imgH="177492" progId="Equation.DSMT4">
                  <p:embed/>
                </p:oleObj>
              </mc:Choice>
              <mc:Fallback>
                <p:oleObj name="Equation" r:id="rId12" imgW="164814" imgH="177492" progId="Equation.DSMT4">
                  <p:embed/>
                  <p:pic>
                    <p:nvPicPr>
                      <p:cNvPr id="83" name="Object 7">
                        <a:extLst>
                          <a:ext uri="{FF2B5EF4-FFF2-40B4-BE49-F238E27FC236}">
                            <a16:creationId xmlns:a16="http://schemas.microsoft.com/office/drawing/2014/main" id="{4AF9C4C5-9DE1-9E93-0841-07E7F3C64A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8775" y="3764327"/>
                        <a:ext cx="544513"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985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par>
                                <p:cTn id="8" presetID="4" presetClass="entr" presetSubtype="1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ox(i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ox(in)">
                                      <p:cBhvr>
                                        <p:cTn id="15" dur="500"/>
                                        <p:tgtEl>
                                          <p:spTgt spid="16"/>
                                        </p:tgtEl>
                                      </p:cBhvr>
                                    </p:animEffect>
                                  </p:childTnLst>
                                </p:cTn>
                              </p:par>
                              <p:par>
                                <p:cTn id="16" presetID="4" presetClass="entr" presetSubtype="16"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ox(i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ox(in)">
                                      <p:cBhvr>
                                        <p:cTn id="23" dur="500"/>
                                        <p:tgtEl>
                                          <p:spTgt spid="21"/>
                                        </p:tgtEl>
                                      </p:cBhvr>
                                    </p:animEffect>
                                  </p:childTnLst>
                                </p:cTn>
                              </p:par>
                              <p:par>
                                <p:cTn id="24" presetID="4" presetClass="entr" presetSubtype="16"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box(in)">
                                      <p:cBhvr>
                                        <p:cTn id="26" dur="500"/>
                                        <p:tgtEl>
                                          <p:spTgt spid="47"/>
                                        </p:tgtEl>
                                      </p:cBhvr>
                                    </p:animEffect>
                                  </p:childTnLst>
                                </p:cTn>
                              </p:par>
                              <p:par>
                                <p:cTn id="27" presetID="4"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ox(in)">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ox(in)">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ox(in)">
                                      <p:cBhvr>
                                        <p:cTn id="39" dur="500"/>
                                        <p:tgtEl>
                                          <p:spTgt spid="26"/>
                                        </p:tgtEl>
                                      </p:cBhvr>
                                    </p:animEffect>
                                  </p:childTnLst>
                                </p:cTn>
                              </p:par>
                              <p:par>
                                <p:cTn id="40" presetID="4" presetClass="entr" presetSubtype="16"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box(in)">
                                      <p:cBhvr>
                                        <p:cTn id="42" dur="500"/>
                                        <p:tgtEl>
                                          <p:spTgt spid="24"/>
                                        </p:tgtEl>
                                      </p:cBhvr>
                                    </p:animEffect>
                                  </p:childTnLst>
                                </p:cTn>
                              </p:par>
                              <p:par>
                                <p:cTn id="43" presetID="4" presetClass="entr" presetSubtype="16"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box(in)">
                                      <p:cBhvr>
                                        <p:cTn id="45" dur="500"/>
                                        <p:tgtEl>
                                          <p:spTgt spid="25"/>
                                        </p:tgtEl>
                                      </p:cBhvr>
                                    </p:animEffect>
                                  </p:childTnLst>
                                </p:cTn>
                              </p:par>
                              <p:par>
                                <p:cTn id="46" presetID="4" presetClass="entr" presetSubtype="16"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box(in)">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box(in)">
                                      <p:cBhvr>
                                        <p:cTn id="53" dur="500"/>
                                        <p:tgtEl>
                                          <p:spTgt spid="28"/>
                                        </p:tgtEl>
                                      </p:cBhvr>
                                    </p:animEffect>
                                  </p:childTnLst>
                                </p:cTn>
                              </p:par>
                              <p:par>
                                <p:cTn id="54" presetID="4" presetClass="entr" presetSubtype="16" fill="hold"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box(in)">
                                      <p:cBhvr>
                                        <p:cTn id="56" dur="500"/>
                                        <p:tgtEl>
                                          <p:spTgt spid="30"/>
                                        </p:tgtEl>
                                      </p:cBhvr>
                                    </p:animEffect>
                                  </p:childTnLst>
                                </p:cTn>
                              </p:par>
                              <p:par>
                                <p:cTn id="57" presetID="4" presetClass="entr" presetSubtype="16"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box(in)">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box(in)">
                                      <p:cBhvr>
                                        <p:cTn id="64" dur="500"/>
                                        <p:tgtEl>
                                          <p:spTgt spid="33"/>
                                        </p:tgtEl>
                                      </p:cBhvr>
                                    </p:animEffect>
                                  </p:childTnLst>
                                </p:cTn>
                              </p:par>
                              <p:par>
                                <p:cTn id="65" presetID="4" presetClass="entr" presetSubtype="16" fill="hold"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ox(in)">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box(in)">
                                      <p:cBhvr>
                                        <p:cTn id="72" dur="500"/>
                                        <p:tgtEl>
                                          <p:spTgt spid="35"/>
                                        </p:tgtEl>
                                      </p:cBhvr>
                                    </p:animEffect>
                                  </p:childTnLst>
                                </p:cTn>
                              </p:par>
                              <p:par>
                                <p:cTn id="73" presetID="4" presetClass="entr" presetSubtype="16" fill="hold"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box(in)">
                                      <p:cBhvr>
                                        <p:cTn id="75" dur="500"/>
                                        <p:tgtEl>
                                          <p:spTgt spid="44"/>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nodeType="click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box(in)">
                                      <p:cBhvr>
                                        <p:cTn id="80" dur="500"/>
                                        <p:tgtEl>
                                          <p:spTgt spid="29"/>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box(in)">
                                      <p:cBhvr>
                                        <p:cTn id="85" dur="500"/>
                                        <p:tgtEl>
                                          <p:spTgt spid="36"/>
                                        </p:tgtEl>
                                      </p:cBhvr>
                                    </p:animEffect>
                                  </p:childTnLst>
                                </p:cTn>
                              </p:par>
                              <p:par>
                                <p:cTn id="86" presetID="4" presetClass="entr" presetSubtype="16"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box(in)">
                                      <p:cBhvr>
                                        <p:cTn id="88" dur="500"/>
                                        <p:tgtEl>
                                          <p:spTgt spid="37"/>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16" fill="hold" nodeType="click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box(in)">
                                      <p:cBhvr>
                                        <p:cTn id="93" dur="500"/>
                                        <p:tgtEl>
                                          <p:spTgt spid="39"/>
                                        </p:tgtEl>
                                      </p:cBhvr>
                                    </p:animEffect>
                                  </p:childTnLst>
                                </p:cTn>
                              </p:par>
                              <p:par>
                                <p:cTn id="94" presetID="4" presetClass="entr" presetSubtype="16" fill="hold"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box(in)">
                                      <p:cBhvr>
                                        <p:cTn id="96" dur="500"/>
                                        <p:tgtEl>
                                          <p:spTgt spid="43"/>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box(in)">
                                      <p:cBhvr>
                                        <p:cTn id="101" dur="500"/>
                                        <p:tgtEl>
                                          <p:spTgt spid="41"/>
                                        </p:tgtEl>
                                      </p:cBhvr>
                                    </p:animEffect>
                                  </p:childTnLst>
                                </p:cTn>
                              </p:par>
                              <p:par>
                                <p:cTn id="102" presetID="4" presetClass="entr" presetSubtype="16" fill="hold"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box(in)">
                                      <p:cBhvr>
                                        <p:cTn id="10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17" grpId="0" animBg="1"/>
      <p:bldP spid="21" grpId="0" animBg="1"/>
      <p:bldP spid="26" grpId="0"/>
      <p:bldP spid="27" grpId="0"/>
      <p:bldP spid="28" grpId="0" animBg="1"/>
      <p:bldP spid="29" grpId="0" animBg="1"/>
      <p:bldP spid="33" grpId="0" animBg="1"/>
      <p:bldP spid="35" grpId="0" animBg="1"/>
      <p:bldP spid="39" grpId="0" animBg="1"/>
      <p:bldP spid="4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3.2.1. Introduction </a:t>
            </a:r>
          </a:p>
          <a:p>
            <a:r>
              <a:rPr lang="en-US" b="0" dirty="0"/>
              <a:t>In mathematics, the pigeonhole principle states that if n items are put into m containers, with n &gt; m, then at least one container must contain more than one item</a:t>
            </a:r>
          </a:p>
          <a:p>
            <a:r>
              <a:rPr lang="en-US" b="0" dirty="0"/>
              <a:t>EX: </a:t>
            </a:r>
          </a:p>
          <a:p>
            <a:pPr algn="l"/>
            <a:r>
              <a:rPr lang="en-US" b="0" dirty="0"/>
              <a:t>Sock picking</a:t>
            </a:r>
          </a:p>
          <a:p>
            <a:pPr algn="l"/>
            <a:r>
              <a:rPr lang="en-US" b="0" dirty="0"/>
              <a:t>Assume a drawer contains a mixture of black socks and blue socks, each of which can be worn on either foot, and that you are pulling a number of socks from the drawer without looking. What is the minimum number of pulled socks required to guarantee a pair of the same color? </a:t>
            </a:r>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5909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3.2.1. Introduction </a:t>
            </a:r>
          </a:p>
          <a:p>
            <a:r>
              <a:rPr lang="en-US" b="0" dirty="0"/>
              <a:t>In a group of 3 people, there is bound to be 2 people of the same gender.</a:t>
            </a:r>
          </a:p>
          <a:p>
            <a:r>
              <a:rPr lang="en-US" b="0" dirty="0"/>
              <a:t>Of any 6 natural numbers, there are always 2 whose difference is divisible by 5 .</a:t>
            </a:r>
          </a:p>
          <a:p>
            <a:r>
              <a:rPr lang="en-US" b="0" dirty="0"/>
              <a:t>Q.</a:t>
            </a:r>
          </a:p>
          <a:p>
            <a:r>
              <a:rPr lang="en-US" b="0" dirty="0"/>
              <a:t>How many times do you need to roll the dice to make sure that a certain face appears twice?</a:t>
            </a: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354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3.2.2. Dirichlet principle </a:t>
            </a:r>
          </a:p>
          <a:p>
            <a:r>
              <a:rPr lang="en-US" b="0" dirty="0"/>
              <a:t>General principle: If n pigeons are put in k doors, there is bound to be a door containing no less than n/k birds.</a:t>
            </a:r>
          </a:p>
          <a:p>
            <a:r>
              <a:rPr lang="en-US" b="0" dirty="0"/>
              <a:t>VD:</a:t>
            </a:r>
          </a:p>
          <a:p>
            <a:r>
              <a:rPr lang="en-US" b="0" dirty="0"/>
              <a:t> Prove that in a class of 100 people, there are at least 9 people with birthdays in the same month.</a:t>
            </a:r>
          </a:p>
          <a:p>
            <a:r>
              <a:rPr lang="en-US" b="0" dirty="0"/>
              <a:t>Prove that in any conference with n participants, there are always 2 participants with the same number of acquaintances in the conference.</a:t>
            </a: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879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3.2.3. Application</a:t>
            </a:r>
          </a:p>
          <a:p>
            <a:pPr marL="342900" indent="-342900" algn="l">
              <a:buFont typeface="Arial" panose="020B0604020202020204" pitchFamily="34" charset="0"/>
              <a:buChar char="•"/>
            </a:pPr>
            <a:r>
              <a:rPr lang="en-US" b="0" dirty="0"/>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marL="342900" indent="-342900" algn="l">
              <a:buFont typeface="Arial" panose="020B0604020202020204" pitchFamily="34" charset="0"/>
              <a:buChar char="•"/>
            </a:pPr>
            <a:r>
              <a:rPr lang="en-US" b="0" dirty="0"/>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2206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51327</TotalTime>
  <Words>2671</Words>
  <Application>Microsoft Office PowerPoint</Application>
  <PresentationFormat>On-screen Show (4:3)</PresentationFormat>
  <Paragraphs>246</Paragraphs>
  <Slides>22</Slides>
  <Notes>22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3" baseType="lpstr">
      <vt:lpstr>Arial</vt:lpstr>
      <vt:lpstr>Arial</vt:lpstr>
      <vt:lpstr>Calibri</vt:lpstr>
      <vt:lpstr>Cambria Math</vt:lpstr>
      <vt:lpstr>Open Sans</vt:lpstr>
      <vt:lpstr>PT Serif</vt:lpstr>
      <vt:lpstr>Söhne</vt:lpstr>
      <vt:lpstr>Times New Roman</vt:lpstr>
      <vt:lpstr>Wingdings</vt:lpstr>
      <vt:lpstr>Office Theme</vt:lpstr>
      <vt:lpstr>Equation</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Nguyen Van Cuong (FE FPTU HCM)</cp:lastModifiedBy>
  <cp:revision>799</cp:revision>
  <cp:lastPrinted>2019-07-29T14:20:40Z</cp:lastPrinted>
  <dcterms:created xsi:type="dcterms:W3CDTF">2010-12-10T06:50:09Z</dcterms:created>
  <dcterms:modified xsi:type="dcterms:W3CDTF">2023-07-04T19:06:46Z</dcterms:modified>
</cp:coreProperties>
</file>