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28"/>
  </p:notesMasterIdLst>
  <p:handoutMasterIdLst>
    <p:handoutMasterId r:id="rId29"/>
  </p:handoutMasterIdLst>
  <p:sldIdLst>
    <p:sldId id="258" r:id="rId2"/>
    <p:sldId id="336" r:id="rId3"/>
    <p:sldId id="372" r:id="rId4"/>
    <p:sldId id="488" r:id="rId5"/>
    <p:sldId id="489" r:id="rId6"/>
    <p:sldId id="490" r:id="rId7"/>
    <p:sldId id="491" r:id="rId8"/>
    <p:sldId id="481" r:id="rId9"/>
    <p:sldId id="480" r:id="rId10"/>
    <p:sldId id="492" r:id="rId11"/>
    <p:sldId id="493" r:id="rId12"/>
    <p:sldId id="494" r:id="rId13"/>
    <p:sldId id="495" r:id="rId14"/>
    <p:sldId id="496" r:id="rId15"/>
    <p:sldId id="497" r:id="rId16"/>
    <p:sldId id="505" r:id="rId17"/>
    <p:sldId id="500" r:id="rId18"/>
    <p:sldId id="502" r:id="rId19"/>
    <p:sldId id="501" r:id="rId20"/>
    <p:sldId id="503" r:id="rId21"/>
    <p:sldId id="504" r:id="rId22"/>
    <p:sldId id="506" r:id="rId23"/>
    <p:sldId id="539" r:id="rId24"/>
    <p:sldId id="540" r:id="rId25"/>
    <p:sldId id="541" r:id="rId26"/>
    <p:sldId id="353" r:id="rId2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u-Nguyen Le" initials="Nguyen" lastIdx="1" clrIdx="0">
    <p:extLst>
      <p:ext uri="{19B8F6BF-5375-455C-9EA6-DF929625EA0E}">
        <p15:presenceInfo xmlns:p15="http://schemas.microsoft.com/office/powerpoint/2012/main" userId="Phu-Nguyen Le" providerId="None"/>
      </p:ext>
    </p:extLst>
  </p:cmAuthor>
  <p:cmAuthor id="2" name="Le Phu Nguyen 9 (FE FPTU HCM)" initials="LPN9(FH" lastIdx="1" clrIdx="1">
    <p:extLst>
      <p:ext uri="{19B8F6BF-5375-455C-9EA6-DF929625EA0E}">
        <p15:presenceInfo xmlns:p15="http://schemas.microsoft.com/office/powerpoint/2012/main" userId="S::NguyenLP9@fe.edu.vn::bbb81211-4ff1-43ef-ac74-d6c9e8530c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73762" autoAdjust="0"/>
  </p:normalViewPr>
  <p:slideViewPr>
    <p:cSldViewPr>
      <p:cViewPr varScale="1">
        <p:scale>
          <a:sx n="49" d="100"/>
          <a:sy n="49" d="100"/>
        </p:scale>
        <p:origin x="788" y="52"/>
      </p:cViewPr>
      <p:guideLst>
        <p:guide orient="horz" pos="2160"/>
        <p:guide pos="2880"/>
      </p:guideLst>
    </p:cSldViewPr>
  </p:slideViewPr>
  <p:outlineViewPr>
    <p:cViewPr>
      <p:scale>
        <a:sx n="100" d="100"/>
        <a:sy n="100" d="100"/>
      </p:scale>
      <p:origin x="0" y="-174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6FB7F59-6753-4196-822E-EC8E52288DF6}" type="datetimeFigureOut">
              <a:rPr lang="en-US" smtClean="0"/>
              <a:t>8/22/2023</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BEA5F6A-FB32-4B7D-8C78-661A7CCB1CD7}" type="slidenum">
              <a:rPr lang="en-US" smtClean="0"/>
              <a:t>‹#›</a:t>
            </a:fld>
            <a:endParaRPr lang="en-US"/>
          </a:p>
        </p:txBody>
      </p:sp>
    </p:spTree>
    <p:extLst>
      <p:ext uri="{BB962C8B-B14F-4D97-AF65-F5344CB8AC3E}">
        <p14:creationId xmlns:p14="http://schemas.microsoft.com/office/powerpoint/2010/main" val="2926490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B20E61B-F2E8-4F3A-8F1B-F054E0560D27}" type="datetimeFigureOut">
              <a:rPr lang="en-US" smtClean="0"/>
              <a:pPr/>
              <a:t>8/22/2023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D95EC57-C814-4592-A4AB-B8F918BE7C9B}" type="slidenum">
              <a:rPr lang="en-US" smtClean="0"/>
              <a:pPr/>
              <a:t>‹#›</a:t>
            </a:fld>
            <a:endParaRPr lang="en-US"/>
          </a:p>
        </p:txBody>
      </p:sp>
    </p:spTree>
    <p:extLst>
      <p:ext uri="{BB962C8B-B14F-4D97-AF65-F5344CB8AC3E}">
        <p14:creationId xmlns:p14="http://schemas.microsoft.com/office/powerpoint/2010/main" val="40543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a:t>
            </a:fld>
            <a:endParaRPr lang="en-US"/>
          </a:p>
        </p:txBody>
      </p:sp>
    </p:spTree>
    <p:extLst>
      <p:ext uri="{BB962C8B-B14F-4D97-AF65-F5344CB8AC3E}">
        <p14:creationId xmlns:p14="http://schemas.microsoft.com/office/powerpoint/2010/main" val="272185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a:t>
            </a:fld>
            <a:endParaRPr lang="en-US"/>
          </a:p>
        </p:txBody>
      </p:sp>
    </p:spTree>
    <p:extLst>
      <p:ext uri="{BB962C8B-B14F-4D97-AF65-F5344CB8AC3E}">
        <p14:creationId xmlns:p14="http://schemas.microsoft.com/office/powerpoint/2010/main" val="137082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a:t>
            </a:fld>
            <a:endParaRPr lang="en-US"/>
          </a:p>
        </p:txBody>
      </p:sp>
    </p:spTree>
    <p:extLst>
      <p:ext uri="{BB962C8B-B14F-4D97-AF65-F5344CB8AC3E}">
        <p14:creationId xmlns:p14="http://schemas.microsoft.com/office/powerpoint/2010/main" val="219887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4</a:t>
            </a:fld>
            <a:endParaRPr lang="en-US"/>
          </a:p>
        </p:txBody>
      </p:sp>
    </p:spTree>
    <p:extLst>
      <p:ext uri="{BB962C8B-B14F-4D97-AF65-F5344CB8AC3E}">
        <p14:creationId xmlns:p14="http://schemas.microsoft.com/office/powerpoint/2010/main" val="110743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a:t>
            </a:fld>
            <a:endParaRPr lang="en-US"/>
          </a:p>
        </p:txBody>
      </p:sp>
    </p:spTree>
    <p:extLst>
      <p:ext uri="{BB962C8B-B14F-4D97-AF65-F5344CB8AC3E}">
        <p14:creationId xmlns:p14="http://schemas.microsoft.com/office/powerpoint/2010/main" val="629079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6</a:t>
            </a:fld>
            <a:endParaRPr lang="en-US"/>
          </a:p>
        </p:txBody>
      </p:sp>
    </p:spTree>
    <p:extLst>
      <p:ext uri="{BB962C8B-B14F-4D97-AF65-F5344CB8AC3E}">
        <p14:creationId xmlns:p14="http://schemas.microsoft.com/office/powerpoint/2010/main" val="413667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7</a:t>
            </a:fld>
            <a:endParaRPr lang="en-US"/>
          </a:p>
        </p:txBody>
      </p:sp>
    </p:spTree>
    <p:extLst>
      <p:ext uri="{BB962C8B-B14F-4D97-AF65-F5344CB8AC3E}">
        <p14:creationId xmlns:p14="http://schemas.microsoft.com/office/powerpoint/2010/main" val="1756659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8</a:t>
            </a:fld>
            <a:endParaRPr lang="en-US"/>
          </a:p>
        </p:txBody>
      </p:sp>
    </p:spTree>
    <p:extLst>
      <p:ext uri="{BB962C8B-B14F-4D97-AF65-F5344CB8AC3E}">
        <p14:creationId xmlns:p14="http://schemas.microsoft.com/office/powerpoint/2010/main" val="2021967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a:t>
            </a:fld>
            <a:endParaRPr lang="en-US"/>
          </a:p>
        </p:txBody>
      </p:sp>
    </p:spTree>
    <p:extLst>
      <p:ext uri="{BB962C8B-B14F-4D97-AF65-F5344CB8AC3E}">
        <p14:creationId xmlns:p14="http://schemas.microsoft.com/office/powerpoint/2010/main" val="2308665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10</a:t>
            </a:fld>
            <a:endParaRPr lang="en-US"/>
          </a:p>
        </p:txBody>
      </p:sp>
    </p:spTree>
    <p:extLst>
      <p:ext uri="{BB962C8B-B14F-4D97-AF65-F5344CB8AC3E}">
        <p14:creationId xmlns:p14="http://schemas.microsoft.com/office/powerpoint/2010/main" val="3743969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11</a:t>
            </a:fld>
            <a:endParaRPr lang="en-US"/>
          </a:p>
        </p:txBody>
      </p:sp>
    </p:spTree>
    <p:extLst>
      <p:ext uri="{BB962C8B-B14F-4D97-AF65-F5344CB8AC3E}">
        <p14:creationId xmlns:p14="http://schemas.microsoft.com/office/powerpoint/2010/main" val="2025107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12</a:t>
            </a:fld>
            <a:endParaRPr lang="en-US"/>
          </a:p>
        </p:txBody>
      </p:sp>
    </p:spTree>
    <p:extLst>
      <p:ext uri="{BB962C8B-B14F-4D97-AF65-F5344CB8AC3E}">
        <p14:creationId xmlns:p14="http://schemas.microsoft.com/office/powerpoint/2010/main" val="1031589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13</a:t>
            </a:fld>
            <a:endParaRPr lang="en-US"/>
          </a:p>
        </p:txBody>
      </p:sp>
    </p:spTree>
    <p:extLst>
      <p:ext uri="{BB962C8B-B14F-4D97-AF65-F5344CB8AC3E}">
        <p14:creationId xmlns:p14="http://schemas.microsoft.com/office/powerpoint/2010/main" val="3272413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14</a:t>
            </a:fld>
            <a:endParaRPr lang="en-US"/>
          </a:p>
        </p:txBody>
      </p:sp>
    </p:spTree>
    <p:extLst>
      <p:ext uri="{BB962C8B-B14F-4D97-AF65-F5344CB8AC3E}">
        <p14:creationId xmlns:p14="http://schemas.microsoft.com/office/powerpoint/2010/main" val="3099466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err="1"/>
              <a:t>Tại</a:t>
            </a:r>
            <a:r>
              <a:rPr lang="en-US" altLang="en-US" dirty="0"/>
              <a:t> </a:t>
            </a:r>
            <a:r>
              <a:rPr lang="en-US" altLang="en-US" dirty="0" err="1"/>
              <a:t>sao</a:t>
            </a:r>
            <a:r>
              <a:rPr lang="en-US" altLang="en-US" dirty="0"/>
              <a:t> </a:t>
            </a:r>
            <a:r>
              <a:rPr lang="en-US" altLang="en-US" dirty="0" err="1"/>
              <a:t>phải</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a:t>
            </a:r>
          </a:p>
          <a:p>
            <a:pPr lvl="1"/>
            <a:r>
              <a:rPr lang="en-US" altLang="en-US" dirty="0"/>
              <a:t>Lý </a:t>
            </a:r>
            <a:r>
              <a:rPr lang="en-US" altLang="en-US" dirty="0" err="1"/>
              <a:t>thuyết</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ngày</a:t>
            </a:r>
            <a:r>
              <a:rPr lang="en-US" altLang="en-US" dirty="0"/>
              <a:t> </a:t>
            </a:r>
            <a:r>
              <a:rPr lang="en-US" altLang="en-US" dirty="0" err="1"/>
              <a:t>càng</a:t>
            </a:r>
            <a:r>
              <a:rPr lang="en-US" altLang="en-US" dirty="0"/>
              <a:t> </a:t>
            </a:r>
            <a:r>
              <a:rPr lang="en-US" altLang="en-US" dirty="0" err="1"/>
              <a:t>được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rộng</a:t>
            </a:r>
            <a:r>
              <a:rPr lang="en-US" altLang="en-US" dirty="0"/>
              <a:t> </a:t>
            </a:r>
            <a:r>
              <a:rPr lang="en-US" altLang="en-US" dirty="0" err="1"/>
              <a:t>rãi</a:t>
            </a:r>
            <a:r>
              <a:rPr lang="en-US" altLang="en-US" dirty="0"/>
              <a:t>.</a:t>
            </a:r>
          </a:p>
          <a:p>
            <a:pPr lvl="1"/>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thì</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tìm</a:t>
            </a:r>
            <a:r>
              <a:rPr lang="en-US" altLang="en-US" dirty="0"/>
              <a:t> </a:t>
            </a:r>
            <a:r>
              <a:rPr lang="en-US" altLang="en-US" dirty="0" err="1"/>
              <a:t>cách</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thích</a:t>
            </a:r>
            <a:r>
              <a:rPr lang="en-US" altLang="en-US" dirty="0"/>
              <a:t> </a:t>
            </a:r>
            <a:r>
              <a:rPr lang="en-US" altLang="en-US" dirty="0" err="1"/>
              <a:t>hợp</a:t>
            </a:r>
            <a:r>
              <a:rPr lang="en-US" altLang="en-US" dirty="0"/>
              <a:t>.</a:t>
            </a:r>
          </a:p>
          <a:p>
            <a:pPr lvl="1"/>
            <a:r>
              <a:rPr lang="en-US" altLang="en-US" dirty="0" err="1"/>
              <a:t>Máy</a:t>
            </a:r>
            <a:r>
              <a:rPr lang="en-US" altLang="en-US" dirty="0"/>
              <a:t> </a:t>
            </a:r>
            <a:r>
              <a:rPr lang="en-US" altLang="en-US" dirty="0" err="1"/>
              <a:t>tính</a:t>
            </a:r>
            <a:r>
              <a:rPr lang="en-US" altLang="en-US" dirty="0"/>
              <a:t> </a:t>
            </a:r>
            <a:r>
              <a:rPr lang="en-US" altLang="en-US" dirty="0" err="1"/>
              <a:t>không</a:t>
            </a:r>
            <a:r>
              <a:rPr lang="en-US" altLang="en-US" dirty="0"/>
              <a:t> </a:t>
            </a:r>
            <a:r>
              <a:rPr lang="en-US" altLang="en-US" dirty="0" err="1"/>
              <a:t>thể</a:t>
            </a:r>
            <a:r>
              <a:rPr lang="en-US" altLang="en-US" dirty="0"/>
              <a:t> </a:t>
            </a:r>
            <a:r>
              <a:rPr lang="en-US" altLang="en-US" dirty="0" err="1"/>
              <a:t>hiểu</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hình</a:t>
            </a:r>
            <a:r>
              <a:rPr lang="en-US" altLang="en-US" dirty="0"/>
              <a:t> </a:t>
            </a:r>
            <a:r>
              <a:rPr lang="en-US" altLang="en-US" dirty="0" err="1"/>
              <a:t>vẽ</a:t>
            </a:r>
            <a:r>
              <a:rPr lang="en-US" altLang="en-US" dirty="0"/>
              <a:t> </a:t>
            </a:r>
            <a:r>
              <a:rPr lang="en-US" altLang="en-US" dirty="0" err="1"/>
              <a:t>thông</a:t>
            </a:r>
            <a:r>
              <a:rPr lang="en-US" altLang="en-US" dirty="0"/>
              <a:t> </a:t>
            </a:r>
            <a:r>
              <a:rPr lang="en-US" altLang="en-US" dirty="0" err="1"/>
              <a:t>thường</a:t>
            </a:r>
            <a:r>
              <a:rPr lang="en-US" altLang="en-US" dirty="0"/>
              <a:t>.</a:t>
            </a:r>
          </a:p>
          <a:p>
            <a:r>
              <a:rPr lang="en-US" altLang="en-US" dirty="0" err="1"/>
              <a:t>Tiêu</a:t>
            </a:r>
            <a:r>
              <a:rPr lang="en-US" altLang="en-US" dirty="0"/>
              <a:t> </a:t>
            </a:r>
            <a:r>
              <a:rPr lang="en-US" altLang="en-US" dirty="0" err="1"/>
              <a:t>chuẩn</a:t>
            </a:r>
            <a:r>
              <a:rPr lang="en-US" altLang="en-US" dirty="0"/>
              <a:t> </a:t>
            </a:r>
            <a:r>
              <a:rPr lang="en-US" altLang="en-US" dirty="0" err="1"/>
              <a:t>để</a:t>
            </a:r>
            <a:r>
              <a:rPr lang="en-US" altLang="en-US" dirty="0"/>
              <a:t> </a:t>
            </a:r>
            <a:r>
              <a:rPr lang="en-US" altLang="en-US" dirty="0" err="1"/>
              <a:t>lựa</a:t>
            </a:r>
            <a:r>
              <a:rPr lang="en-US" altLang="en-US" dirty="0"/>
              <a:t> </a:t>
            </a:r>
            <a:r>
              <a:rPr lang="en-US" altLang="en-US" dirty="0" err="1"/>
              <a:t>chọn</a:t>
            </a:r>
            <a:r>
              <a:rPr lang="en-US" altLang="en-US" dirty="0"/>
              <a:t> </a:t>
            </a:r>
            <a:r>
              <a:rPr lang="en-US" altLang="en-US" dirty="0" err="1"/>
              <a:t>cách</a:t>
            </a:r>
            <a:r>
              <a:rPr lang="en-US" altLang="en-US" dirty="0"/>
              <a:t> </a:t>
            </a:r>
            <a:r>
              <a:rPr lang="en-US" altLang="en-US" dirty="0" err="1"/>
              <a:t>thức</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p>
          <a:p>
            <a:pPr lvl="1"/>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phải</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phù</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từng</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ứng</a:t>
            </a:r>
            <a:r>
              <a:rPr lang="en-US" altLang="en-US" dirty="0"/>
              <a:t> </a:t>
            </a:r>
            <a:r>
              <a:rPr lang="en-US" altLang="en-US" dirty="0" err="1"/>
              <a:t>dụng</a:t>
            </a:r>
            <a:r>
              <a:rPr lang="en-US" altLang="en-US" dirty="0"/>
              <a:t>.</a:t>
            </a:r>
          </a:p>
          <a:p>
            <a:pPr lvl="1"/>
            <a:r>
              <a:rPr lang="en-US" altLang="en-US" dirty="0" err="1"/>
              <a:t>Dễ</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dễ</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trên</a:t>
            </a:r>
            <a:r>
              <a:rPr lang="en-US" altLang="en-US" dirty="0"/>
              <a:t> </a:t>
            </a:r>
            <a:r>
              <a:rPr lang="en-US" altLang="en-US" dirty="0" err="1"/>
              <a:t>đó</a:t>
            </a:r>
            <a:r>
              <a:rPr lang="en-US" altLang="en-US" dirty="0"/>
              <a:t>.</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Ưu điểm lớn nhất của phương pháp biểu diễn đồ thị bằng ma trận kề là để trả lời câu hỏi: Hai đỉnh u,v có kề nhau trên đồ thị hay không, chúng ta chỉ phải thực hiện một phép so sánh.</a:t>
            </a:r>
          </a:p>
          <a:p>
            <a:pPr algn="l">
              <a:buFont typeface="Arial" panose="020B0604020202020204" pitchFamily="34" charset="0"/>
              <a:buChar char="•"/>
            </a:pPr>
            <a:r>
              <a:rPr lang="vi-VN" b="0" i="0" dirty="0">
                <a:solidFill>
                  <a:srgbClr val="202122"/>
                </a:solidFill>
                <a:effectLst/>
                <a:latin typeface="Arial" panose="020B0604020202020204" pitchFamily="34" charset="0"/>
              </a:rPr>
              <a:t>Nhược điểm lớn nhất của phương pháp này là: không phụ thuộc vào số cạnh của đồ thị, ta luôn phải sử dụng n^2 đơn vị bộ nhớ để lưu trữ ma trận kề của nó.</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15</a:t>
            </a:fld>
            <a:endParaRPr lang="en-US"/>
          </a:p>
        </p:txBody>
      </p:sp>
    </p:spTree>
    <p:extLst>
      <p:ext uri="{BB962C8B-B14F-4D97-AF65-F5344CB8AC3E}">
        <p14:creationId xmlns:p14="http://schemas.microsoft.com/office/powerpoint/2010/main" val="2678709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err="1"/>
              <a:t>Tại</a:t>
            </a:r>
            <a:r>
              <a:rPr lang="en-US" altLang="en-US" dirty="0"/>
              <a:t> </a:t>
            </a:r>
            <a:r>
              <a:rPr lang="en-US" altLang="en-US" dirty="0" err="1"/>
              <a:t>sao</a:t>
            </a:r>
            <a:r>
              <a:rPr lang="en-US" altLang="en-US" dirty="0"/>
              <a:t> </a:t>
            </a:r>
            <a:r>
              <a:rPr lang="en-US" altLang="en-US" dirty="0" err="1"/>
              <a:t>phải</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a:t>
            </a:r>
          </a:p>
          <a:p>
            <a:pPr lvl="1"/>
            <a:r>
              <a:rPr lang="en-US" altLang="en-US" dirty="0"/>
              <a:t>Lý </a:t>
            </a:r>
            <a:r>
              <a:rPr lang="en-US" altLang="en-US" dirty="0" err="1"/>
              <a:t>thuyết</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ngày</a:t>
            </a:r>
            <a:r>
              <a:rPr lang="en-US" altLang="en-US" dirty="0"/>
              <a:t> </a:t>
            </a:r>
            <a:r>
              <a:rPr lang="en-US" altLang="en-US" dirty="0" err="1"/>
              <a:t>càng</a:t>
            </a:r>
            <a:r>
              <a:rPr lang="en-US" altLang="en-US" dirty="0"/>
              <a:t> </a:t>
            </a:r>
            <a:r>
              <a:rPr lang="en-US" altLang="en-US" dirty="0" err="1"/>
              <a:t>được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rộng</a:t>
            </a:r>
            <a:r>
              <a:rPr lang="en-US" altLang="en-US" dirty="0"/>
              <a:t> </a:t>
            </a:r>
            <a:r>
              <a:rPr lang="en-US" altLang="en-US" dirty="0" err="1"/>
              <a:t>rãi</a:t>
            </a:r>
            <a:r>
              <a:rPr lang="en-US" altLang="en-US" dirty="0"/>
              <a:t>.</a:t>
            </a:r>
          </a:p>
          <a:p>
            <a:pPr lvl="1"/>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thì</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tìm</a:t>
            </a:r>
            <a:r>
              <a:rPr lang="en-US" altLang="en-US" dirty="0"/>
              <a:t> </a:t>
            </a:r>
            <a:r>
              <a:rPr lang="en-US" altLang="en-US" dirty="0" err="1"/>
              <a:t>cách</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thích</a:t>
            </a:r>
            <a:r>
              <a:rPr lang="en-US" altLang="en-US" dirty="0"/>
              <a:t> </a:t>
            </a:r>
            <a:r>
              <a:rPr lang="en-US" altLang="en-US" dirty="0" err="1"/>
              <a:t>hợp</a:t>
            </a:r>
            <a:r>
              <a:rPr lang="en-US" altLang="en-US" dirty="0"/>
              <a:t>.</a:t>
            </a:r>
          </a:p>
          <a:p>
            <a:pPr lvl="1"/>
            <a:r>
              <a:rPr lang="en-US" altLang="en-US" dirty="0" err="1"/>
              <a:t>Máy</a:t>
            </a:r>
            <a:r>
              <a:rPr lang="en-US" altLang="en-US" dirty="0"/>
              <a:t> </a:t>
            </a:r>
            <a:r>
              <a:rPr lang="en-US" altLang="en-US" dirty="0" err="1"/>
              <a:t>tính</a:t>
            </a:r>
            <a:r>
              <a:rPr lang="en-US" altLang="en-US" dirty="0"/>
              <a:t> </a:t>
            </a:r>
            <a:r>
              <a:rPr lang="en-US" altLang="en-US" dirty="0" err="1"/>
              <a:t>không</a:t>
            </a:r>
            <a:r>
              <a:rPr lang="en-US" altLang="en-US" dirty="0"/>
              <a:t> </a:t>
            </a:r>
            <a:r>
              <a:rPr lang="en-US" altLang="en-US" dirty="0" err="1"/>
              <a:t>thể</a:t>
            </a:r>
            <a:r>
              <a:rPr lang="en-US" altLang="en-US" dirty="0"/>
              <a:t> </a:t>
            </a:r>
            <a:r>
              <a:rPr lang="en-US" altLang="en-US" dirty="0" err="1"/>
              <a:t>hiểu</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hình</a:t>
            </a:r>
            <a:r>
              <a:rPr lang="en-US" altLang="en-US" dirty="0"/>
              <a:t> </a:t>
            </a:r>
            <a:r>
              <a:rPr lang="en-US" altLang="en-US" dirty="0" err="1"/>
              <a:t>vẽ</a:t>
            </a:r>
            <a:r>
              <a:rPr lang="en-US" altLang="en-US" dirty="0"/>
              <a:t> </a:t>
            </a:r>
            <a:r>
              <a:rPr lang="en-US" altLang="en-US" dirty="0" err="1"/>
              <a:t>thông</a:t>
            </a:r>
            <a:r>
              <a:rPr lang="en-US" altLang="en-US" dirty="0"/>
              <a:t> </a:t>
            </a:r>
            <a:r>
              <a:rPr lang="en-US" altLang="en-US" dirty="0" err="1"/>
              <a:t>thường</a:t>
            </a:r>
            <a:r>
              <a:rPr lang="en-US" altLang="en-US" dirty="0"/>
              <a:t>.</a:t>
            </a:r>
          </a:p>
          <a:p>
            <a:r>
              <a:rPr lang="en-US" altLang="en-US" dirty="0" err="1"/>
              <a:t>Tiêu</a:t>
            </a:r>
            <a:r>
              <a:rPr lang="en-US" altLang="en-US" dirty="0"/>
              <a:t> </a:t>
            </a:r>
            <a:r>
              <a:rPr lang="en-US" altLang="en-US" dirty="0" err="1"/>
              <a:t>chuẩn</a:t>
            </a:r>
            <a:r>
              <a:rPr lang="en-US" altLang="en-US" dirty="0"/>
              <a:t> </a:t>
            </a:r>
            <a:r>
              <a:rPr lang="en-US" altLang="en-US" dirty="0" err="1"/>
              <a:t>để</a:t>
            </a:r>
            <a:r>
              <a:rPr lang="en-US" altLang="en-US" dirty="0"/>
              <a:t> </a:t>
            </a:r>
            <a:r>
              <a:rPr lang="en-US" altLang="en-US" dirty="0" err="1"/>
              <a:t>lựa</a:t>
            </a:r>
            <a:r>
              <a:rPr lang="en-US" altLang="en-US" dirty="0"/>
              <a:t> </a:t>
            </a:r>
            <a:r>
              <a:rPr lang="en-US" altLang="en-US" dirty="0" err="1"/>
              <a:t>chọn</a:t>
            </a:r>
            <a:r>
              <a:rPr lang="en-US" altLang="en-US" dirty="0"/>
              <a:t> </a:t>
            </a:r>
            <a:r>
              <a:rPr lang="en-US" altLang="en-US" dirty="0" err="1"/>
              <a:t>cách</a:t>
            </a:r>
            <a:r>
              <a:rPr lang="en-US" altLang="en-US" dirty="0"/>
              <a:t> </a:t>
            </a:r>
            <a:r>
              <a:rPr lang="en-US" altLang="en-US" dirty="0" err="1"/>
              <a:t>thức</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p>
          <a:p>
            <a:pPr lvl="1"/>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phải</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phù</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từng</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ứng</a:t>
            </a:r>
            <a:r>
              <a:rPr lang="en-US" altLang="en-US" dirty="0"/>
              <a:t> </a:t>
            </a:r>
            <a:r>
              <a:rPr lang="en-US" altLang="en-US" dirty="0" err="1"/>
              <a:t>dụng</a:t>
            </a:r>
            <a:r>
              <a:rPr lang="en-US" altLang="en-US" dirty="0"/>
              <a:t>.</a:t>
            </a:r>
          </a:p>
          <a:p>
            <a:pPr lvl="1"/>
            <a:r>
              <a:rPr lang="en-US" altLang="en-US" dirty="0" err="1"/>
              <a:t>Dễ</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dễ</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trên</a:t>
            </a:r>
            <a:r>
              <a:rPr lang="en-US" altLang="en-US" dirty="0"/>
              <a:t> </a:t>
            </a:r>
            <a:r>
              <a:rPr lang="en-US" altLang="en-US" dirty="0" err="1"/>
              <a:t>đó</a:t>
            </a:r>
            <a:r>
              <a:rPr lang="en-US" altLang="en-US" dirty="0"/>
              <a:t>.</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Ưu điểm lớn nhất của phương pháp biểu diễn đồ thị bằng ma trận kề là để trả lời câu hỏi: Hai đỉnh u,v có kề nhau trên đồ thị hay không, chúng ta chỉ phải thực hiện một phép so sánh.</a:t>
            </a:r>
          </a:p>
          <a:p>
            <a:pPr algn="l">
              <a:buFont typeface="Arial" panose="020B0604020202020204" pitchFamily="34" charset="0"/>
              <a:buChar char="•"/>
            </a:pPr>
            <a:r>
              <a:rPr lang="vi-VN" b="0" i="0" dirty="0">
                <a:solidFill>
                  <a:srgbClr val="202122"/>
                </a:solidFill>
                <a:effectLst/>
                <a:latin typeface="Arial" panose="020B0604020202020204" pitchFamily="34" charset="0"/>
              </a:rPr>
              <a:t>Nhược điểm lớn nhất của phương pháp này là: không phụ thuộc vào số cạnh của đồ thị, ta luôn phải sử dụng n^2 đơn vị bộ nhớ để lưu trữ ma trận kề của nó.</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16</a:t>
            </a:fld>
            <a:endParaRPr lang="en-US"/>
          </a:p>
        </p:txBody>
      </p:sp>
    </p:spTree>
    <p:extLst>
      <p:ext uri="{BB962C8B-B14F-4D97-AF65-F5344CB8AC3E}">
        <p14:creationId xmlns:p14="http://schemas.microsoft.com/office/powerpoint/2010/main" val="3289699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17</a:t>
            </a:fld>
            <a:endParaRPr lang="en-US"/>
          </a:p>
        </p:txBody>
      </p:sp>
    </p:spTree>
    <p:extLst>
      <p:ext uri="{BB962C8B-B14F-4D97-AF65-F5344CB8AC3E}">
        <p14:creationId xmlns:p14="http://schemas.microsoft.com/office/powerpoint/2010/main" val="3783323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vi-VN" b="0" i="0" dirty="0">
                <a:solidFill>
                  <a:srgbClr val="202122"/>
                </a:solidFill>
                <a:effectLst/>
                <a:latin typeface="Arial" panose="020B0604020202020204" pitchFamily="34" charset="0"/>
              </a:rPr>
              <a:t>Trong ma trận của đồ thị có hướng tổng bậc ra của các đỉnh = Tổng bậc vào của các đỉnh = Đỉnh.</a:t>
            </a:r>
          </a:p>
          <a:p>
            <a:pPr algn="l">
              <a:buFont typeface="Arial" panose="020B0604020202020204" pitchFamily="34" charset="0"/>
              <a:buChar char="•"/>
            </a:pPr>
            <a:r>
              <a:rPr lang="vi-VN" b="0" i="0" dirty="0">
                <a:solidFill>
                  <a:srgbClr val="202122"/>
                </a:solidFill>
                <a:effectLst/>
                <a:latin typeface="Arial" panose="020B0604020202020204" pitchFamily="34" charset="0"/>
              </a:rPr>
              <a:t>Trong ma trận của đồ thị vô hướng tổng bậc của tất cả các đỉnh = 2 lần số cạnh.</a:t>
            </a:r>
          </a:p>
          <a:p>
            <a:pPr algn="l">
              <a:buFont typeface="Arial" panose="020B0604020202020204" pitchFamily="34" charset="0"/>
              <a:buChar char="•"/>
            </a:pPr>
            <a:r>
              <a:rPr lang="vi-VN" b="1" i="0" dirty="0">
                <a:solidFill>
                  <a:srgbClr val="202122"/>
                </a:solidFill>
                <a:effectLst/>
                <a:latin typeface="Arial" panose="020B0604020202020204" pitchFamily="34" charset="0"/>
              </a:rPr>
              <a:t>Ưu điểm:</a:t>
            </a:r>
            <a:endParaRPr lang="vi-VN" b="0" i="0" dirty="0">
              <a:solidFill>
                <a:srgbClr val="202122"/>
              </a:solidFill>
              <a:effectLst/>
              <a:latin typeface="Arial" panose="020B0604020202020204" pitchFamily="34" charset="0"/>
            </a:endParaRP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Ma trận liên thuộc đỉnh-cạnh sẽ tiết kiệm bộ nhớ hơn khi đồ thị có ít cạnh/cung.</a:t>
            </a:r>
          </a:p>
          <a:p>
            <a:pPr algn="l">
              <a:buFont typeface="Arial" panose="020B0604020202020204" pitchFamily="34" charset="0"/>
              <a:buChar char="•"/>
            </a:pPr>
            <a:r>
              <a:rPr lang="vi-VN" b="1" i="0" dirty="0">
                <a:solidFill>
                  <a:srgbClr val="202122"/>
                </a:solidFill>
                <a:effectLst/>
                <a:latin typeface="Arial" panose="020B0604020202020204" pitchFamily="34" charset="0"/>
              </a:rPr>
              <a:t>Khuyết điểm:</a:t>
            </a:r>
            <a:endParaRPr lang="vi-VN" b="0" i="0" dirty="0">
              <a:solidFill>
                <a:srgbClr val="202122"/>
              </a:solidFill>
              <a:effectLst/>
              <a:latin typeface="Arial" panose="020B0604020202020204" pitchFamily="34" charset="0"/>
            </a:endParaRP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Biểu diễn phức tạp</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18</a:t>
            </a:fld>
            <a:endParaRPr lang="en-US"/>
          </a:p>
        </p:txBody>
      </p:sp>
    </p:spTree>
    <p:extLst>
      <p:ext uri="{BB962C8B-B14F-4D97-AF65-F5344CB8AC3E}">
        <p14:creationId xmlns:p14="http://schemas.microsoft.com/office/powerpoint/2010/main" val="3899949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19</a:t>
            </a:fld>
            <a:endParaRPr lang="en-US"/>
          </a:p>
        </p:txBody>
      </p:sp>
    </p:spTree>
    <p:extLst>
      <p:ext uri="{BB962C8B-B14F-4D97-AF65-F5344CB8AC3E}">
        <p14:creationId xmlns:p14="http://schemas.microsoft.com/office/powerpoint/2010/main" val="3047209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20</a:t>
            </a:fld>
            <a:endParaRPr lang="en-US"/>
          </a:p>
        </p:txBody>
      </p:sp>
    </p:spTree>
    <p:extLst>
      <p:ext uri="{BB962C8B-B14F-4D97-AF65-F5344CB8AC3E}">
        <p14:creationId xmlns:p14="http://schemas.microsoft.com/office/powerpoint/2010/main" val="985660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có thể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khuyên</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21</a:t>
            </a:fld>
            <a:endParaRPr lang="en-US"/>
          </a:p>
        </p:txBody>
      </p:sp>
    </p:spTree>
    <p:extLst>
      <p:ext uri="{BB962C8B-B14F-4D97-AF65-F5344CB8AC3E}">
        <p14:creationId xmlns:p14="http://schemas.microsoft.com/office/powerpoint/2010/main" val="1933576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22</a:t>
            </a:fld>
            <a:endParaRPr lang="en-US"/>
          </a:p>
        </p:txBody>
      </p:sp>
    </p:spTree>
    <p:extLst>
      <p:ext uri="{BB962C8B-B14F-4D97-AF65-F5344CB8AC3E}">
        <p14:creationId xmlns:p14="http://schemas.microsoft.com/office/powerpoint/2010/main" val="1425286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649121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2054149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491151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26</a:t>
            </a:fld>
            <a:endParaRPr lang="en-US"/>
          </a:p>
        </p:txBody>
      </p:sp>
    </p:spTree>
    <p:extLst>
      <p:ext uri="{BB962C8B-B14F-4D97-AF65-F5344CB8AC3E}">
        <p14:creationId xmlns:p14="http://schemas.microsoft.com/office/powerpoint/2010/main" val="25158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C21E6B-3A2F-473C-89AA-FC2BCE914454}" type="datetimeFigureOut">
              <a:rPr lang="en-US" smtClean="0"/>
              <a:pPr/>
              <a:t>8/22/2023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C21E6B-3A2F-473C-89AA-FC2BCE914454}" type="datetimeFigureOut">
              <a:rPr lang="en-US" smtClean="0"/>
              <a:pPr/>
              <a:t>8/22/2023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C21E6B-3A2F-473C-89AA-FC2BCE914454}" type="datetimeFigureOut">
              <a:rPr lang="en-US" smtClean="0"/>
              <a:pPr/>
              <a:t>8/22/2023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C21E6B-3A2F-473C-89AA-FC2BCE914454}" type="datetimeFigureOut">
              <a:rPr lang="en-US" smtClean="0"/>
              <a:pPr/>
              <a:t>8/22/2023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C21E6B-3A2F-473C-89AA-FC2BCE914454}" type="datetimeFigureOut">
              <a:rPr lang="en-US" smtClean="0"/>
              <a:pPr/>
              <a:t>8/22/2023</a:t>
            </a:fld>
            <a:endParaRPr lang="en-US"/>
          </a:p>
        </p:txBody>
      </p:sp>
      <p:sp>
        <p:nvSpPr>
          <p:cNvPr id="4" name="Footer Placeholder 3"/>
          <p:cNvSpPr>
            <a:spLocks noGrp="1"/>
          </p:cNvSpPr>
          <p:nvPr>
            <p:ph type="ftr" sz="quarter" idx="11"/>
          </p:nvPr>
        </p:nvSpPr>
        <p:spPr/>
        <p:txBody>
          <a:bodyPr/>
          <a:lstStyle/>
          <a:p>
            <a:fld id="{E3CCC214-B8F5-409F-9C63-0C47CCF096B5}" type="slidenum">
              <a:rPr lang="en-US" smtClean="0"/>
              <a:pPr/>
              <a:t>‹#›</a:t>
            </a:fld>
            <a:endParaRPr lang="en-US" dirty="0"/>
          </a:p>
        </p:txBody>
      </p:sp>
      <p:sp>
        <p:nvSpPr>
          <p:cNvPr id="5" name="Slide Number Placeholder 4"/>
          <p:cNvSpPr>
            <a:spLocks noGrp="1"/>
          </p:cNvSpPr>
          <p:nvPr>
            <p:ph type="sldNum" sz="quarter" idx="12"/>
          </p:nvPr>
        </p:nvSpPr>
        <p:spPr/>
        <p:txBody>
          <a:bodyPr/>
          <a:lstStyle/>
          <a:p>
            <a:r>
              <a:rPr lang="en-US" dirty="0"/>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C21E6B-3A2F-473C-89AA-FC2BCE914454}" type="datetimeFigureOut">
              <a:rPr lang="en-US" smtClean="0"/>
              <a:pPr/>
              <a:t>8/22/2023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8/22/2023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8/22/2023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21E6B-3A2F-473C-89AA-FC2BCE914454}" type="datetimeFigureOut">
              <a:rPr lang="en-US" smtClean="0"/>
              <a:pPr/>
              <a:t>8/22/2023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3CCC214-B8F5-409F-9C63-0C47CCF096B5}" type="slidenum">
              <a:rPr lang="en-US" smtClean="0"/>
              <a:pPr/>
              <a:t>‹#›</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9.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png"/><Relationship Id="rId7" Type="http://schemas.openxmlformats.org/officeDocument/2006/relationships/oleObject" Target="../embeddings/oleObject6.bin"/><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wmf"/><Relationship Id="rId5" Type="http://schemas.openxmlformats.org/officeDocument/2006/relationships/oleObject" Target="../embeddings/oleObject5.bin"/><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png"/><Relationship Id="rId7" Type="http://schemas.openxmlformats.org/officeDocument/2006/relationships/oleObject" Target="../embeddings/oleObject8.bin"/><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wmf"/><Relationship Id="rId4"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a:t>
            </a:r>
            <a:endParaRPr lang="en-US" dirty="0"/>
          </a:p>
        </p:txBody>
      </p:sp>
      <p:sp>
        <p:nvSpPr>
          <p:cNvPr id="13" name="Rectangle 4">
            <a:extLst>
              <a:ext uri="{FF2B5EF4-FFF2-40B4-BE49-F238E27FC236}">
                <a16:creationId xmlns:a16="http://schemas.microsoft.com/office/drawing/2014/main" id="{5FBB59F0-8E3C-4F5A-961F-C6A90C66C622}"/>
              </a:ext>
            </a:extLst>
          </p:cNvPr>
          <p:cNvSpPr>
            <a:spLocks noChangeArrowheads="1"/>
          </p:cNvSpPr>
          <p:nvPr/>
        </p:nvSpPr>
        <p:spPr bwMode="auto">
          <a:xfrm>
            <a:off x="392113" y="1500188"/>
            <a:ext cx="8359775" cy="2071687"/>
          </a:xfrm>
          <a:prstGeom prst="rect">
            <a:avLst/>
          </a:prstGeom>
          <a:solidFill>
            <a:srgbClr val="0066FF"/>
          </a:solidFill>
          <a:ln w="9525">
            <a:noFill/>
            <a:miter lim="800000"/>
            <a:headEnd/>
            <a:tailEnd/>
          </a:ln>
          <a:effectLst>
            <a:outerShdw blurRad="50800" dist="50800" dir="5400000" algn="ctr" rotWithShape="0">
              <a:schemeClr val="accent2"/>
            </a:outerShdw>
          </a:effectLst>
        </p:spPr>
        <p:txBody>
          <a:bodyPr anchor="ctr"/>
          <a:lstStyle/>
          <a:p>
            <a:pPr algn="ctr" eaLnBrk="0" hangingPunct="0">
              <a:lnSpc>
                <a:spcPct val="150000"/>
              </a:lnSpc>
              <a:defRPr/>
            </a:pPr>
            <a:r>
              <a:rPr lang="en-US" sz="2200" b="1" dirty="0">
                <a:solidFill>
                  <a:schemeClr val="bg1"/>
                </a:solidFill>
                <a:effectLst/>
                <a:latin typeface="Times New Roman" panose="02020603050405020304" pitchFamily="18" charset="0"/>
                <a:ea typeface="Times New Roman" panose="02020603050405020304" pitchFamily="18" charset="0"/>
              </a:rPr>
              <a:t>DISCRETE MATHEMATICS</a:t>
            </a:r>
          </a:p>
          <a:p>
            <a:pPr algn="ctr" eaLnBrk="0" hangingPunct="0">
              <a:lnSpc>
                <a:spcPct val="150000"/>
              </a:lnSpc>
              <a:defRPr/>
            </a:pPr>
            <a:r>
              <a:rPr lang="en-US" sz="2200" b="1" dirty="0">
                <a:solidFill>
                  <a:schemeClr val="bg1"/>
                </a:solidFill>
                <a:latin typeface="Times New Roman" panose="02020603050405020304" pitchFamily="18" charset="0"/>
              </a:rPr>
              <a:t>Chapter 6: </a:t>
            </a:r>
          </a:p>
          <a:p>
            <a:pPr algn="ctr" eaLnBrk="0" hangingPunct="0">
              <a:lnSpc>
                <a:spcPct val="150000"/>
              </a:lnSpc>
              <a:defRPr/>
            </a:pPr>
            <a:r>
              <a:rPr lang="en-US" sz="2200" b="1" dirty="0">
                <a:solidFill>
                  <a:schemeClr val="bg1"/>
                </a:solidFill>
                <a:latin typeface="Times New Roman" panose="02020603050405020304" pitchFamily="18" charset="0"/>
              </a:rPr>
              <a:t>GRAPH THEORY</a:t>
            </a:r>
            <a:endParaRPr lang="en-US" altLang="ko-KR" sz="2200" b="1" dirty="0">
              <a:solidFill>
                <a:schemeClr val="bg1"/>
              </a:solidFill>
              <a:latin typeface="Times New Roman" panose="02020603050405020304" pitchFamily="18" charset="0"/>
            </a:endParaRPr>
          </a:p>
        </p:txBody>
      </p:sp>
      <p:sp>
        <p:nvSpPr>
          <p:cNvPr id="17" name="Rectangle 5">
            <a:extLst>
              <a:ext uri="{FF2B5EF4-FFF2-40B4-BE49-F238E27FC236}">
                <a16:creationId xmlns:a16="http://schemas.microsoft.com/office/drawing/2014/main" id="{FD5832E7-EF07-450C-B1CF-432F81602748}"/>
              </a:ext>
            </a:extLst>
          </p:cNvPr>
          <p:cNvSpPr>
            <a:spLocks noGrp="1" noChangeArrowheads="1"/>
          </p:cNvSpPr>
          <p:nvPr>
            <p:ph type="subTitle" idx="1"/>
          </p:nvPr>
        </p:nvSpPr>
        <p:spPr bwMode="auto">
          <a:xfrm>
            <a:off x="1371600" y="38862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Presenter: Ph.D. </a:t>
            </a:r>
            <a:r>
              <a:rPr lang="en-US" altLang="ko-KR" sz="2000" b="1" dirty="0">
                <a:latin typeface="Times New Roman" panose="02020603050405020304" pitchFamily="18" charset="0"/>
                <a:ea typeface="HY견고딕" panose="02020500000000000000" pitchFamily="18" charset="-127"/>
                <a:cs typeface="Times New Roman" panose="02020603050405020304" pitchFamily="18" charset="0"/>
              </a:rPr>
              <a:t>Phu-Nguyen Le</a:t>
            </a: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June 7th,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Introduction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 BASIC CONCEPTS OF GRAPHS. </a:t>
            </a:r>
          </a:p>
          <a:p>
            <a:pPr lvl="2" algn="just">
              <a:lnSpc>
                <a:spcPct val="200000"/>
              </a:lnSpc>
              <a:defRPr/>
            </a:pPr>
            <a:r>
              <a:rPr lang="en-US" sz="1900" b="1" dirty="0">
                <a:solidFill>
                  <a:schemeClr val="tx2"/>
                </a:solidFill>
                <a:latin typeface="Times New Roman" pitchFamily="18" charset="0"/>
                <a:cs typeface="Times New Roman" pitchFamily="18" charset="0"/>
              </a:rPr>
              <a:t> 6.1.1. Undirected &amp; directed graph. </a:t>
            </a:r>
          </a:p>
          <a:p>
            <a:pPr lvl="2" algn="just">
              <a:lnSpc>
                <a:spcPct val="200000"/>
              </a:lnSpc>
              <a:defRPr/>
            </a:pPr>
            <a:r>
              <a:rPr lang="en-US" sz="1900" b="1" dirty="0">
                <a:solidFill>
                  <a:schemeClr val="tx2"/>
                </a:solidFill>
                <a:latin typeface="Times New Roman" pitchFamily="18" charset="0"/>
                <a:cs typeface="Times New Roman" pitchFamily="18" charset="0"/>
              </a:rPr>
              <a:t> 6.1.2. Graphical representation. </a:t>
            </a:r>
          </a:p>
          <a:p>
            <a:pPr lvl="2" algn="just">
              <a:lnSpc>
                <a:spcPct val="200000"/>
              </a:lnSpc>
              <a:defRPr/>
            </a:pPr>
            <a:r>
              <a:rPr lang="en-US" sz="1900" b="1" dirty="0">
                <a:solidFill>
                  <a:schemeClr val="tx2"/>
                </a:solidFill>
                <a:latin typeface="Times New Roman" pitchFamily="18" charset="0"/>
                <a:cs typeface="Times New Roman" pitchFamily="18" charset="0"/>
              </a:rPr>
              <a:t> 6.1.3.Some special graphs. </a:t>
            </a:r>
          </a:p>
          <a:p>
            <a:pPr algn="just">
              <a:lnSpc>
                <a:spcPct val="200000"/>
              </a:lnSpc>
              <a:defRPr/>
            </a:pPr>
            <a:r>
              <a:rPr lang="en-US" sz="1900" b="1" dirty="0">
                <a:solidFill>
                  <a:schemeClr val="tx2"/>
                </a:solidFill>
                <a:latin typeface="Times New Roman" pitchFamily="18" charset="0"/>
                <a:cs typeface="Times New Roman" pitchFamily="18" charset="0"/>
              </a:rPr>
              <a:t>6.2. PLANAR GRAPH, AND NOT FLAT. </a:t>
            </a:r>
          </a:p>
          <a:p>
            <a:pPr algn="just">
              <a:lnSpc>
                <a:spcPct val="200000"/>
              </a:lnSpc>
              <a:defRPr/>
            </a:pPr>
            <a:r>
              <a:rPr lang="en-US" sz="1900" b="1" dirty="0">
                <a:solidFill>
                  <a:schemeClr val="tx2"/>
                </a:solidFill>
                <a:latin typeface="Times New Roman" pitchFamily="18" charset="0"/>
                <a:cs typeface="Times New Roman" pitchFamily="18" charset="0"/>
              </a:rPr>
              <a:t>	6.2.1. Subgraph. </a:t>
            </a:r>
          </a:p>
          <a:p>
            <a:pPr algn="just">
              <a:lnSpc>
                <a:spcPct val="200000"/>
              </a:lnSpc>
              <a:defRPr/>
            </a:pPr>
            <a:r>
              <a:rPr lang="en-US" sz="1900" b="1" dirty="0">
                <a:solidFill>
                  <a:schemeClr val="tx2"/>
                </a:solidFill>
                <a:latin typeface="Times New Roman" pitchFamily="18" charset="0"/>
                <a:cs typeface="Times New Roman" pitchFamily="18" charset="0"/>
              </a:rPr>
              <a:t>	6.2.2. Planar graph and properties.</a:t>
            </a:r>
          </a:p>
          <a:p>
            <a:pPr algn="just">
              <a:lnSpc>
                <a:spcPct val="200000"/>
              </a:lnSpc>
              <a:defRPr/>
            </a:pPr>
            <a:r>
              <a:rPr lang="en-US" sz="1900" b="1" dirty="0">
                <a:solidFill>
                  <a:schemeClr val="tx2"/>
                </a:solidFill>
                <a:latin typeface="Times New Roman" pitchFamily="18" charset="0"/>
                <a:cs typeface="Times New Roman" pitchFamily="18" charset="0"/>
              </a:rPr>
              <a:t>	6.2.3. Euler's cycle and Hamiltonian cycle.</a:t>
            </a:r>
          </a:p>
          <a:p>
            <a:pPr algn="just">
              <a:lnSpc>
                <a:spcPct val="200000"/>
              </a:lnSpc>
              <a:defRPr/>
            </a:pPr>
            <a:r>
              <a:rPr lang="en-US" sz="1900" b="1" dirty="0">
                <a:solidFill>
                  <a:schemeClr val="tx2"/>
                </a:solidFill>
                <a:latin typeface="Times New Roman" pitchFamily="18" charset="0"/>
                <a:cs typeface="Times New Roman" pitchFamily="18" charset="0"/>
              </a:rPr>
              <a:t> </a:t>
            </a:r>
          </a:p>
        </p:txBody>
      </p:sp>
    </p:spTree>
    <p:extLst>
      <p:ext uri="{BB962C8B-B14F-4D97-AF65-F5344CB8AC3E}">
        <p14:creationId xmlns:p14="http://schemas.microsoft.com/office/powerpoint/2010/main" val="3181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3" name="Picture 2" descr="7_cau_Konigberg.jpg">
            <a:extLst>
              <a:ext uri="{FF2B5EF4-FFF2-40B4-BE49-F238E27FC236}">
                <a16:creationId xmlns:a16="http://schemas.microsoft.com/office/drawing/2014/main" id="{D9234F37-AA3D-81C8-C96B-89019DC06D5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78992" y="1288135"/>
            <a:ext cx="6172200" cy="4937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821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nodeType="clickEffect">
                                  <p:stCondLst>
                                    <p:cond delay="0"/>
                                  </p:stCondLst>
                                  <p:childTnLst>
                                    <p:animEffect transition="out" filter="box(i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7" name="Picture 6">
            <a:extLst>
              <a:ext uri="{FF2B5EF4-FFF2-40B4-BE49-F238E27FC236}">
                <a16:creationId xmlns:a16="http://schemas.microsoft.com/office/drawing/2014/main" id="{6BD59090-2414-8031-D7A3-B056EDE55421}"/>
              </a:ext>
            </a:extLst>
          </p:cNvPr>
          <p:cNvPicPr>
            <a:picLocks noChangeAspect="1"/>
          </p:cNvPicPr>
          <p:nvPr/>
        </p:nvPicPr>
        <p:blipFill>
          <a:blip r:embed="rId4"/>
          <a:stretch>
            <a:fillRect/>
          </a:stretch>
        </p:blipFill>
        <p:spPr>
          <a:xfrm>
            <a:off x="745567" y="1230670"/>
            <a:ext cx="7639050" cy="5040789"/>
          </a:xfrm>
          <a:prstGeom prst="rect">
            <a:avLst/>
          </a:prstGeom>
        </p:spPr>
      </p:pic>
    </p:spTree>
    <p:extLst>
      <p:ext uri="{BB962C8B-B14F-4D97-AF65-F5344CB8AC3E}">
        <p14:creationId xmlns:p14="http://schemas.microsoft.com/office/powerpoint/2010/main" val="2661932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3" name="Content Placeholder 7" descr="optimap_tsp_solver.jpg">
            <a:extLst>
              <a:ext uri="{FF2B5EF4-FFF2-40B4-BE49-F238E27FC236}">
                <a16:creationId xmlns:a16="http://schemas.microsoft.com/office/drawing/2014/main" id="{710C8BB3-D9F5-3157-0ED1-3FCDF5EB8B96}"/>
              </a:ext>
            </a:extLst>
          </p:cNvPr>
          <p:cNvPicPr>
            <a:picLocks noChangeAspect="1"/>
          </p:cNvPicPr>
          <p:nvPr/>
        </p:nvPicPr>
        <p:blipFill rotWithShape="1">
          <a:blip r:embed="rId4">
            <a:extLst>
              <a:ext uri="{28A0092B-C50C-407E-A947-70E740481C1C}">
                <a14:useLocalDpi xmlns:a14="http://schemas.microsoft.com/office/drawing/2010/main" val="0"/>
              </a:ext>
            </a:extLst>
          </a:blip>
          <a:srcRect l="2242" t="7842" r="1227" b="3352"/>
          <a:stretch/>
        </p:blipFill>
        <p:spPr>
          <a:xfrm>
            <a:off x="945592" y="1472209"/>
            <a:ext cx="7239000" cy="4557711"/>
          </a:xfrm>
          <a:prstGeom prst="rect">
            <a:avLst/>
          </a:prstGeom>
        </p:spPr>
      </p:pic>
    </p:spTree>
    <p:extLst>
      <p:ext uri="{BB962C8B-B14F-4D97-AF65-F5344CB8AC3E}">
        <p14:creationId xmlns:p14="http://schemas.microsoft.com/office/powerpoint/2010/main" val="1967358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nSpc>
                <a:spcPct val="200000"/>
              </a:lnSpc>
              <a:defRPr/>
            </a:pPr>
            <a:r>
              <a:rPr lang="en-US" sz="1900" dirty="0">
                <a:solidFill>
                  <a:schemeClr val="tx2"/>
                </a:solidFill>
                <a:latin typeface="Times New Roman" pitchFamily="18" charset="0"/>
                <a:cs typeface="Times New Roman" pitchFamily="18" charset="0"/>
              </a:rPr>
              <a:t>Let's assume there are 6 tasks that need to be done: A, B, C, D, E, F. </a:t>
            </a:r>
          </a:p>
          <a:p>
            <a:pPr algn="l">
              <a:lnSpc>
                <a:spcPct val="200000"/>
              </a:lnSpc>
            </a:pPr>
            <a:r>
              <a:rPr lang="en-US" sz="1900" dirty="0">
                <a:solidFill>
                  <a:schemeClr val="tx2"/>
                </a:solidFill>
                <a:latin typeface="Times New Roman" pitchFamily="18" charset="0"/>
                <a:cs typeface="Times New Roman" pitchFamily="18" charset="0"/>
              </a:rPr>
              <a:t>Task A: Must be done before tasks B, D. </a:t>
            </a:r>
          </a:p>
          <a:p>
            <a:pPr algn="l">
              <a:lnSpc>
                <a:spcPct val="200000"/>
              </a:lnSpc>
            </a:pPr>
            <a:r>
              <a:rPr lang="en-US" sz="1900" dirty="0">
                <a:solidFill>
                  <a:schemeClr val="tx2"/>
                </a:solidFill>
                <a:latin typeface="Times New Roman" pitchFamily="18" charset="0"/>
                <a:cs typeface="Times New Roman" pitchFamily="18" charset="0"/>
              </a:rPr>
              <a:t>Task B: Must be done before task D. </a:t>
            </a:r>
          </a:p>
          <a:p>
            <a:pPr algn="l">
              <a:lnSpc>
                <a:spcPct val="200000"/>
              </a:lnSpc>
            </a:pPr>
            <a:r>
              <a:rPr lang="en-US" sz="1900" dirty="0">
                <a:solidFill>
                  <a:schemeClr val="tx2"/>
                </a:solidFill>
                <a:latin typeface="Times New Roman" pitchFamily="18" charset="0"/>
                <a:cs typeface="Times New Roman" pitchFamily="18" charset="0"/>
              </a:rPr>
              <a:t>Task C: Must be done after task F. </a:t>
            </a:r>
          </a:p>
          <a:p>
            <a:pPr algn="l">
              <a:lnSpc>
                <a:spcPct val="200000"/>
              </a:lnSpc>
            </a:pPr>
            <a:r>
              <a:rPr lang="en-US" sz="1900" dirty="0">
                <a:solidFill>
                  <a:schemeClr val="tx2"/>
                </a:solidFill>
                <a:latin typeface="Times New Roman" pitchFamily="18" charset="0"/>
                <a:cs typeface="Times New Roman" pitchFamily="18" charset="0"/>
              </a:rPr>
              <a:t>Task D: Must be done after tasks A, B, E. </a:t>
            </a:r>
          </a:p>
          <a:p>
            <a:pPr algn="l">
              <a:lnSpc>
                <a:spcPct val="200000"/>
              </a:lnSpc>
            </a:pPr>
            <a:r>
              <a:rPr lang="en-US" sz="1900" dirty="0">
                <a:solidFill>
                  <a:schemeClr val="tx2"/>
                </a:solidFill>
                <a:latin typeface="Times New Roman" pitchFamily="18" charset="0"/>
                <a:cs typeface="Times New Roman" pitchFamily="18" charset="0"/>
              </a:rPr>
              <a:t>Task E: Must be done before tasks B, D, F.</a:t>
            </a:r>
          </a:p>
          <a:p>
            <a:pPr algn="l">
              <a:lnSpc>
                <a:spcPct val="200000"/>
              </a:lnSpc>
            </a:pPr>
            <a:r>
              <a:rPr lang="en-US" sz="1900" dirty="0">
                <a:solidFill>
                  <a:schemeClr val="tx2"/>
                </a:solidFill>
                <a:latin typeface="Times New Roman" pitchFamily="18" charset="0"/>
                <a:cs typeface="Times New Roman" pitchFamily="18" charset="0"/>
              </a:rPr>
              <a:t>Please find a sequence to perform the tasks that satisfies the given requirements.</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118116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17282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4707DC95-81B7-8567-1D67-842CD3CE6857}"/>
              </a:ext>
            </a:extLst>
          </p:cNvPr>
          <p:cNvPicPr>
            <a:picLocks noChangeAspect="1"/>
          </p:cNvPicPr>
          <p:nvPr/>
        </p:nvPicPr>
        <p:blipFill>
          <a:blip r:embed="rId4"/>
          <a:stretch>
            <a:fillRect/>
          </a:stretch>
        </p:blipFill>
        <p:spPr>
          <a:xfrm>
            <a:off x="2057400" y="1747718"/>
            <a:ext cx="5410200" cy="4581763"/>
          </a:xfrm>
          <a:prstGeom prst="rect">
            <a:avLst/>
          </a:prstGeom>
        </p:spPr>
      </p:pic>
    </p:spTree>
    <p:extLst>
      <p:ext uri="{BB962C8B-B14F-4D97-AF65-F5344CB8AC3E}">
        <p14:creationId xmlns:p14="http://schemas.microsoft.com/office/powerpoint/2010/main" val="3694019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sz="1900" dirty="0">
                <a:solidFill>
                  <a:schemeClr val="tx2"/>
                </a:solidFill>
                <a:latin typeface="Times New Roman" pitchFamily="18" charset="0"/>
                <a:cs typeface="Times New Roman" pitchFamily="18" charset="0"/>
              </a:rPr>
              <a:t>	Graph theory was initiated in 1736 by Leonard Euler when he wrote a paper on the Seven Bridges of Königsberg problem. </a:t>
            </a:r>
          </a:p>
          <a:p>
            <a:pPr algn="just">
              <a:lnSpc>
                <a:spcPct val="200000"/>
              </a:lnSpc>
              <a:defRPr/>
            </a:pPr>
            <a:r>
              <a:rPr lang="en-US" sz="1900" dirty="0">
                <a:solidFill>
                  <a:schemeClr val="tx2"/>
                </a:solidFill>
                <a:latin typeface="Times New Roman" pitchFamily="18" charset="0"/>
                <a:cs typeface="Times New Roman" pitchFamily="18" charset="0"/>
              </a:rPr>
              <a:t>Some notable scientists and their important contributions: </a:t>
            </a:r>
          </a:p>
          <a:p>
            <a:pPr algn="just">
              <a:lnSpc>
                <a:spcPct val="200000"/>
              </a:lnSpc>
              <a:defRPr/>
            </a:pPr>
            <a:r>
              <a:rPr lang="en-US" sz="1900" dirty="0">
                <a:solidFill>
                  <a:schemeClr val="tx2"/>
                </a:solidFill>
                <a:latin typeface="Times New Roman" pitchFamily="18" charset="0"/>
                <a:cs typeface="Times New Roman" pitchFamily="18" charset="0"/>
              </a:rPr>
              <a:t>	Hamilton: Hamiltonian graphs and related problems. </a:t>
            </a:r>
          </a:p>
          <a:p>
            <a:pPr algn="just">
              <a:lnSpc>
                <a:spcPct val="200000"/>
              </a:lnSpc>
              <a:defRPr/>
            </a:pPr>
            <a:r>
              <a:rPr lang="en-US" sz="1900" dirty="0">
                <a:solidFill>
                  <a:schemeClr val="tx2"/>
                </a:solidFill>
                <a:latin typeface="Times New Roman" pitchFamily="18" charset="0"/>
                <a:cs typeface="Times New Roman" pitchFamily="18" charset="0"/>
              </a:rPr>
              <a:t>	Dijkstra, Floyd, </a:t>
            </a:r>
            <a:r>
              <a:rPr lang="en-US" sz="1900" dirty="0" err="1">
                <a:solidFill>
                  <a:schemeClr val="tx2"/>
                </a:solidFill>
                <a:latin typeface="Times New Roman" pitchFamily="18" charset="0"/>
                <a:cs typeface="Times New Roman" pitchFamily="18" charset="0"/>
              </a:rPr>
              <a:t>Warshall</a:t>
            </a:r>
            <a:r>
              <a:rPr lang="en-US" sz="1900" dirty="0">
                <a:solidFill>
                  <a:schemeClr val="tx2"/>
                </a:solidFill>
                <a:latin typeface="Times New Roman" pitchFamily="18" charset="0"/>
                <a:cs typeface="Times New Roman" pitchFamily="18" charset="0"/>
              </a:rPr>
              <a:t>, Bellman: Algorithms for finding shortest paths. </a:t>
            </a:r>
          </a:p>
          <a:p>
            <a:pPr algn="just">
              <a:lnSpc>
                <a:spcPct val="200000"/>
              </a:lnSpc>
              <a:defRPr/>
            </a:pPr>
            <a:r>
              <a:rPr lang="en-US" sz="1900" dirty="0">
                <a:solidFill>
                  <a:schemeClr val="tx2"/>
                </a:solidFill>
                <a:latin typeface="Times New Roman" pitchFamily="18" charset="0"/>
                <a:cs typeface="Times New Roman" pitchFamily="18" charset="0"/>
              </a:rPr>
              <a:t>	Prim, Kruskal: Algorithms for finding minimum spanning trees.</a:t>
            </a:r>
          </a:p>
        </p:txBody>
      </p:sp>
    </p:spTree>
    <p:extLst>
      <p:ext uri="{BB962C8B-B14F-4D97-AF65-F5344CB8AC3E}">
        <p14:creationId xmlns:p14="http://schemas.microsoft.com/office/powerpoint/2010/main" val="1891495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31376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In mathematics, graph theory is the study of graphs, which are mathematical structures used to model pairwise relations between objects. </a:t>
            </a:r>
          </a:p>
          <a:p>
            <a:pPr algn="just">
              <a:lnSpc>
                <a:spcPct val="200000"/>
              </a:lnSpc>
              <a:defRPr/>
            </a:pPr>
            <a:r>
              <a:rPr lang="en-US" altLang="en-US" sz="2200" dirty="0">
                <a:solidFill>
                  <a:schemeClr val="tx2"/>
                </a:solidFill>
                <a:latin typeface="Times New Roman" pitchFamily="18" charset="0"/>
                <a:cs typeface="Times New Roman" pitchFamily="18" charset="0"/>
              </a:rPr>
              <a:t>A graph in this context is made up of vertices (also called nodes or points) which are connected by edges (also called links or lines). </a:t>
            </a:r>
          </a:p>
          <a:p>
            <a:pPr algn="just">
              <a:lnSpc>
                <a:spcPct val="200000"/>
              </a:lnSpc>
              <a:defRPr/>
            </a:pPr>
            <a:r>
              <a:rPr lang="en-US" altLang="en-US" sz="2200" dirty="0">
                <a:solidFill>
                  <a:schemeClr val="tx2"/>
                </a:solidFill>
                <a:latin typeface="Times New Roman" pitchFamily="18" charset="0"/>
                <a:cs typeface="Times New Roman" pitchFamily="18" charset="0"/>
              </a:rPr>
              <a:t>A distinction is made between undirected graphs, where edges link two vertices symmetrically, and directed graphs, where edges link two vertices asymmetrically..</a:t>
            </a:r>
          </a:p>
        </p:txBody>
      </p:sp>
    </p:spTree>
    <p:extLst>
      <p:ext uri="{BB962C8B-B14F-4D97-AF65-F5344CB8AC3E}">
        <p14:creationId xmlns:p14="http://schemas.microsoft.com/office/powerpoint/2010/main" val="3010946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95954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An undirected graph is an ordered pair G=(V,E) comprising:</a:t>
            </a:r>
          </a:p>
          <a:p>
            <a:pPr algn="just">
              <a:lnSpc>
                <a:spcPct val="200000"/>
              </a:lnSpc>
              <a:defRPr/>
            </a:pPr>
            <a:r>
              <a:rPr lang="en-US" altLang="en-US" sz="2200" dirty="0">
                <a:solidFill>
                  <a:schemeClr val="tx2"/>
                </a:solidFill>
                <a:latin typeface="Times New Roman" pitchFamily="18" charset="0"/>
                <a:cs typeface="Times New Roman" pitchFamily="18" charset="0"/>
              </a:rPr>
              <a:t>	V, a set of vertices (also called nodes or points);</a:t>
            </a:r>
          </a:p>
          <a:p>
            <a:pPr algn="just">
              <a:lnSpc>
                <a:spcPct val="200000"/>
              </a:lnSpc>
              <a:defRPr/>
            </a:pPr>
            <a:r>
              <a:rPr lang="en-US" altLang="en-US" sz="2200" dirty="0">
                <a:solidFill>
                  <a:schemeClr val="tx2"/>
                </a:solidFill>
                <a:latin typeface="Times New Roman" pitchFamily="18" charset="0"/>
                <a:cs typeface="Times New Roman" pitchFamily="18" charset="0"/>
              </a:rPr>
              <a:t>	E⊆{{</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}∣x,y∈V</a:t>
            </a:r>
            <a:r>
              <a:rPr lang="en-US" altLang="en-US" sz="2200" baseline="30000" dirty="0">
                <a:solidFill>
                  <a:schemeClr val="tx2"/>
                </a:solidFill>
                <a:latin typeface="Times New Roman" pitchFamily="18" charset="0"/>
                <a:cs typeface="Times New Roman" pitchFamily="18" charset="0"/>
              </a:rPr>
              <a:t>2</a:t>
            </a:r>
            <a:r>
              <a:rPr lang="en-US" altLang="en-US" sz="2200" dirty="0">
                <a:solidFill>
                  <a:schemeClr val="tx2"/>
                </a:solidFill>
                <a:latin typeface="Times New Roman" pitchFamily="18" charset="0"/>
                <a:cs typeface="Times New Roman" pitchFamily="18" charset="0"/>
              </a:rPr>
              <a:t> and </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 a set of edges (also called links or lines), which are unordered pairs of vertices (that is, an edge is associated with two distinct vertices).</a:t>
            </a:r>
          </a:p>
        </p:txBody>
      </p:sp>
      <p:pic>
        <p:nvPicPr>
          <p:cNvPr id="1035" name="Picture 11">
            <a:extLst>
              <a:ext uri="{FF2B5EF4-FFF2-40B4-BE49-F238E27FC236}">
                <a16:creationId xmlns:a16="http://schemas.microsoft.com/office/drawing/2014/main" id="{FF85E280-C92A-C9F6-229C-27EA9991C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4250" y="4199545"/>
            <a:ext cx="2095500" cy="20955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6A9AF74-80B8-21F4-AE3A-1D153299B2E9}"/>
              </a:ext>
            </a:extLst>
          </p:cNvPr>
          <p:cNvSpPr txBox="1"/>
          <p:nvPr/>
        </p:nvSpPr>
        <p:spPr>
          <a:xfrm>
            <a:off x="2189743" y="6088559"/>
            <a:ext cx="5281612" cy="769441"/>
          </a:xfrm>
          <a:prstGeom prst="rect">
            <a:avLst/>
          </a:prstGeom>
          <a:noFill/>
        </p:spPr>
        <p:txBody>
          <a:bodyPr wrap="square">
            <a:spAutoFit/>
          </a:bodyPr>
          <a:lstStyle/>
          <a:p>
            <a:r>
              <a:rPr lang="en-US" sz="2200" dirty="0">
                <a:solidFill>
                  <a:schemeClr val="tx2"/>
                </a:solidFill>
                <a:latin typeface="Times New Roman" pitchFamily="18" charset="0"/>
                <a:cs typeface="Times New Roman" pitchFamily="18" charset="0"/>
              </a:rPr>
              <a:t>A graph with three vertices and three edges.</a:t>
            </a:r>
            <a:br>
              <a:rPr lang="en-US" sz="2200" dirty="0">
                <a:solidFill>
                  <a:schemeClr val="tx2"/>
                </a:solidFill>
                <a:latin typeface="Times New Roman" pitchFamily="18" charset="0"/>
                <a:cs typeface="Times New Roman" pitchFamily="18" charset="0"/>
              </a:rPr>
            </a:br>
            <a:endParaRPr 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1099611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06906"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31376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In the edge {</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 the vertices x and y are called the endpoints of the edge. The edge is said to join x and y and to be incident on x and on y.</a:t>
            </a:r>
          </a:p>
          <a:p>
            <a:pPr algn="just">
              <a:lnSpc>
                <a:spcPct val="200000"/>
              </a:lnSpc>
              <a:defRPr/>
            </a:pPr>
            <a:r>
              <a:rPr lang="en-US" altLang="en-US" sz="2200" dirty="0">
                <a:solidFill>
                  <a:schemeClr val="tx2"/>
                </a:solidFill>
                <a:latin typeface="Times New Roman" pitchFamily="18" charset="0"/>
                <a:cs typeface="Times New Roman" pitchFamily="18" charset="0"/>
              </a:rPr>
              <a:t> A vertex may exist in a graph and not belong to an edge. </a:t>
            </a:r>
          </a:p>
          <a:p>
            <a:pPr algn="just">
              <a:lnSpc>
                <a:spcPct val="200000"/>
              </a:lnSpc>
              <a:defRPr/>
            </a:pPr>
            <a:r>
              <a:rPr lang="en-US" altLang="en-US" sz="2200" dirty="0">
                <a:solidFill>
                  <a:schemeClr val="tx2"/>
                </a:solidFill>
                <a:latin typeface="Times New Roman" pitchFamily="18" charset="0"/>
                <a:cs typeface="Times New Roman" pitchFamily="18" charset="0"/>
              </a:rPr>
              <a:t>Multiple edges are two or more edges that join the same two vertices</a:t>
            </a:r>
          </a:p>
          <a:p>
            <a:pPr algn="just">
              <a:lnSpc>
                <a:spcPct val="200000"/>
              </a:lnSpc>
              <a:defRPr/>
            </a:pPr>
            <a:r>
              <a:rPr lang="en-US" altLang="en-US" sz="2200" dirty="0">
                <a:solidFill>
                  <a:schemeClr val="tx2"/>
                </a:solidFill>
                <a:latin typeface="Times New Roman" pitchFamily="18" charset="0"/>
                <a:cs typeface="Times New Roman" pitchFamily="18" charset="0"/>
              </a:rPr>
              <a:t>A loop is an edge that joins a vertex to itself</a:t>
            </a:r>
          </a:p>
          <a:p>
            <a:pPr algn="just">
              <a:lnSpc>
                <a:spcPct val="200000"/>
              </a:lnSpc>
              <a:defRPr/>
            </a:pPr>
            <a:r>
              <a:rPr lang="en-US" altLang="en-US" sz="2200" dirty="0">
                <a:solidFill>
                  <a:schemeClr val="tx2"/>
                </a:solidFill>
                <a:latin typeface="Times New Roman" pitchFamily="18" charset="0"/>
                <a:cs typeface="Times New Roman" pitchFamily="18" charset="0"/>
              </a:rPr>
              <a:t>Degree of vertex X are the number of edges connected to X</a:t>
            </a:r>
          </a:p>
          <a:p>
            <a:pPr algn="just">
              <a:lnSpc>
                <a:spcPct val="200000"/>
              </a:lnSpc>
              <a:defRPr/>
            </a:pPr>
            <a:endParaRPr lang="en-US" alt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215171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990871"/>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b="1" dirty="0">
                <a:solidFill>
                  <a:schemeClr val="tx2"/>
                </a:solidFill>
                <a:latin typeface="Times New Roman" pitchFamily="18" charset="0"/>
                <a:cs typeface="Times New Roman" pitchFamily="18" charset="0"/>
              </a:rPr>
              <a:t>Simple 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no loop, no multiple edges </a:t>
            </a:r>
            <a:endParaRPr lang="en-US" sz="2200" b="1" dirty="0">
              <a:solidFill>
                <a:schemeClr val="tx2"/>
              </a:solidFill>
              <a:latin typeface="Times New Roman" pitchFamily="18" charset="0"/>
              <a:cs typeface="Times New Roman" pitchFamily="18" charset="0"/>
            </a:endParaRPr>
          </a:p>
          <a:p>
            <a:pPr algn="just">
              <a:lnSpc>
                <a:spcPct val="200000"/>
              </a:lnSpc>
              <a:defRPr/>
            </a:pPr>
            <a:r>
              <a:rPr lang="en-US" altLang="en-US" sz="2200" b="1" dirty="0">
                <a:solidFill>
                  <a:schemeClr val="tx2"/>
                </a:solidFill>
                <a:latin typeface="Times New Roman" pitchFamily="18" charset="0"/>
                <a:cs typeface="Times New Roman" pitchFamily="18" charset="0"/>
              </a:rPr>
              <a:t>Multi-graph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is permitted to have multiple edges (also called parallel edges, that is, edges that have the same end nodes, or. Thus two vertices may be connected by more than one edge.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loop(s)</a:t>
            </a:r>
          </a:p>
          <a:p>
            <a:pPr algn="just">
              <a:lnSpc>
                <a:spcPct val="200000"/>
              </a:lnSpc>
              <a:defRPr/>
            </a:pPr>
            <a:endParaRPr lang="en-US" alt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2566888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95954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Directed graph: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single directed graph is a set G=&lt;V,E&gt;,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V is a finite set of vertices of the 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E is the set of ordered pairs of two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different elements of V called arcs.</a:t>
            </a:r>
          </a:p>
        </p:txBody>
      </p:sp>
      <p:sp>
        <p:nvSpPr>
          <p:cNvPr id="3" name="AutoShape 2">
            <a:extLst>
              <a:ext uri="{FF2B5EF4-FFF2-40B4-BE49-F238E27FC236}">
                <a16:creationId xmlns:a16="http://schemas.microsoft.com/office/drawing/2014/main" id="{A3C76A66-D767-DD79-5501-EAF59C084BE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9AA5167-A12B-1D13-227A-61871CF407F9}"/>
              </a:ext>
            </a:extLst>
          </p:cNvPr>
          <p:cNvPicPr>
            <a:picLocks noChangeAspect="1"/>
          </p:cNvPicPr>
          <p:nvPr/>
        </p:nvPicPr>
        <p:blipFill>
          <a:blip r:embed="rId4"/>
          <a:stretch>
            <a:fillRect/>
          </a:stretch>
        </p:blipFill>
        <p:spPr>
          <a:xfrm>
            <a:off x="5638800" y="2166937"/>
            <a:ext cx="3143250" cy="2828925"/>
          </a:xfrm>
          <a:prstGeom prst="rect">
            <a:avLst/>
          </a:prstGeom>
        </p:spPr>
      </p:pic>
    </p:spTree>
    <p:extLst>
      <p:ext uri="{BB962C8B-B14F-4D97-AF65-F5344CB8AC3E}">
        <p14:creationId xmlns:p14="http://schemas.microsoft.com/office/powerpoint/2010/main" val="2691129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92822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Directed graph:	</a:t>
            </a:r>
          </a:p>
          <a:p>
            <a:pPr marL="342900" indent="-342900" algn="just">
              <a:lnSpc>
                <a:spcPct val="200000"/>
              </a:lnSpc>
              <a:buFont typeface="Arial" panose="020B0604020202020204" pitchFamily="34" charset="0"/>
              <a:buChar char="•"/>
              <a:defRPr/>
            </a:pPr>
            <a:endParaRPr lang="en-US" altLang="en-US" sz="2200" dirty="0">
              <a:solidFill>
                <a:schemeClr val="tx2"/>
              </a:solidFill>
              <a:latin typeface="Times New Roman" pitchFamily="18" charset="0"/>
              <a:cs typeface="Times New Roman" pitchFamily="18" charset="0"/>
            </a:endParaRPr>
          </a:p>
        </p:txBody>
      </p:sp>
      <p:sp>
        <p:nvSpPr>
          <p:cNvPr id="3" name="AutoShape 2">
            <a:extLst>
              <a:ext uri="{FF2B5EF4-FFF2-40B4-BE49-F238E27FC236}">
                <a16:creationId xmlns:a16="http://schemas.microsoft.com/office/drawing/2014/main" id="{A3C76A66-D767-DD79-5501-EAF59C084BE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2">
            <a:extLst>
              <a:ext uri="{FF2B5EF4-FFF2-40B4-BE49-F238E27FC236}">
                <a16:creationId xmlns:a16="http://schemas.microsoft.com/office/drawing/2014/main" id="{6F8319D8-EEE7-FEE3-B318-0D49A744F52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4112" b="46875"/>
          <a:stretch/>
        </p:blipFill>
        <p:spPr bwMode="auto">
          <a:xfrm>
            <a:off x="1729001" y="2171700"/>
            <a:ext cx="53721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a:extLst>
              <a:ext uri="{FF2B5EF4-FFF2-40B4-BE49-F238E27FC236}">
                <a16:creationId xmlns:a16="http://schemas.microsoft.com/office/drawing/2014/main" id="{CB910768-5572-56F8-E47C-4EE55FFD3B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766" r="9346" b="37500"/>
          <a:stretch/>
        </p:blipFill>
        <p:spPr bwMode="auto">
          <a:xfrm>
            <a:off x="3535148" y="3962399"/>
            <a:ext cx="1822357"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641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matrix: </a:t>
            </a:r>
          </a:p>
          <a:p>
            <a:pPr algn="just">
              <a:lnSpc>
                <a:spcPct val="200000"/>
              </a:lnSpc>
              <a:defRPr/>
            </a:pPr>
            <a:r>
              <a:rPr lang="en-US" sz="1900" dirty="0">
                <a:solidFill>
                  <a:schemeClr val="tx2"/>
                </a:solidFill>
                <a:latin typeface="Times New Roman" pitchFamily="18" charset="0"/>
                <a:cs typeface="Times New Roman" pitchFamily="18" charset="0"/>
              </a:rPr>
              <a:t>Let the graph G = &lt;V, E&gt;, with V = {v</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v</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 </a:t>
            </a:r>
            <a:r>
              <a:rPr lang="en-US" sz="1900" dirty="0" err="1">
                <a:solidFill>
                  <a:schemeClr val="tx2"/>
                </a:solidFill>
                <a:latin typeface="Times New Roman" pitchFamily="18" charset="0"/>
                <a:cs typeface="Times New Roman" pitchFamily="18" charset="0"/>
              </a:rPr>
              <a:t>v</a:t>
            </a:r>
            <a:r>
              <a:rPr lang="en-US" sz="1900" baseline="-25000" dirty="0" err="1">
                <a:solidFill>
                  <a:schemeClr val="tx2"/>
                </a:solidFill>
                <a:latin typeface="Times New Roman" pitchFamily="18" charset="0"/>
                <a:cs typeface="Times New Roman" pitchFamily="18" charset="0"/>
              </a:rPr>
              <a:t>n</a:t>
            </a:r>
            <a:r>
              <a:rPr lang="en-US" sz="1900" dirty="0">
                <a:solidFill>
                  <a:schemeClr val="tx2"/>
                </a:solidFill>
                <a:latin typeface="Times New Roman" pitchFamily="18" charset="0"/>
                <a:cs typeface="Times New Roman" pitchFamily="18" charset="0"/>
              </a:rPr>
              <a:t>}. The adjacency matrix representing G is a square matrix A, size </a:t>
            </a:r>
            <a:r>
              <a:rPr lang="en-US" sz="1900" dirty="0" err="1">
                <a:solidFill>
                  <a:schemeClr val="tx2"/>
                </a:solidFill>
                <a:latin typeface="Times New Roman" pitchFamily="18" charset="0"/>
                <a:cs typeface="Times New Roman" pitchFamily="18" charset="0"/>
              </a:rPr>
              <a:t>nxn</a:t>
            </a:r>
            <a:r>
              <a:rPr lang="en-US" sz="1900" dirty="0">
                <a:solidFill>
                  <a:schemeClr val="tx2"/>
                </a:solidFill>
                <a:latin typeface="Times New Roman" pitchFamily="18" charset="0"/>
                <a:cs typeface="Times New Roman" pitchFamily="18" charset="0"/>
              </a:rPr>
              <a:t>, defined as follows:</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5" name="Object 3">
            <a:extLst>
              <a:ext uri="{FF2B5EF4-FFF2-40B4-BE49-F238E27FC236}">
                <a16:creationId xmlns:a16="http://schemas.microsoft.com/office/drawing/2014/main" id="{35866A94-C15A-4A2F-416F-3873CBD6D9A7}"/>
              </a:ext>
            </a:extLst>
          </p:cNvPr>
          <p:cNvGraphicFramePr>
            <a:graphicFrameLocks noChangeAspect="1"/>
          </p:cNvGraphicFramePr>
          <p:nvPr>
            <p:extLst>
              <p:ext uri="{D42A27DB-BD31-4B8C-83A1-F6EECF244321}">
                <p14:modId xmlns:p14="http://schemas.microsoft.com/office/powerpoint/2010/main" val="4124009719"/>
              </p:ext>
            </p:extLst>
          </p:nvPr>
        </p:nvGraphicFramePr>
        <p:xfrm>
          <a:off x="2776751" y="3192230"/>
          <a:ext cx="3276600" cy="1106488"/>
        </p:xfrm>
        <a:graphic>
          <a:graphicData uri="http://schemas.openxmlformats.org/presentationml/2006/ole">
            <mc:AlternateContent xmlns:mc="http://schemas.openxmlformats.org/markup-compatibility/2006">
              <mc:Choice xmlns:v="urn:schemas-microsoft-com:vml" Requires="v">
                <p:oleObj name="Equation" r:id="rId4" imgW="1435100" imgH="482600" progId="Equation.DSMT4">
                  <p:embed/>
                </p:oleObj>
              </mc:Choice>
              <mc:Fallback>
                <p:oleObj name="Equation" r:id="rId4" imgW="1435100" imgH="482600" progId="Equation.DSMT4">
                  <p:embed/>
                  <p:pic>
                    <p:nvPicPr>
                      <p:cNvPr id="102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6751" y="3192230"/>
                        <a:ext cx="3276600" cy="110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20">
            <a:extLst>
              <a:ext uri="{FF2B5EF4-FFF2-40B4-BE49-F238E27FC236}">
                <a16:creationId xmlns:a16="http://schemas.microsoft.com/office/drawing/2014/main" id="{D3203DB3-A88D-654D-A2DF-415DE9B52F6F}"/>
              </a:ext>
            </a:extLst>
          </p:cNvPr>
          <p:cNvGraphicFramePr>
            <a:graphicFrameLocks noChangeAspect="1"/>
          </p:cNvGraphicFramePr>
          <p:nvPr>
            <p:extLst>
              <p:ext uri="{D42A27DB-BD31-4B8C-83A1-F6EECF244321}">
                <p14:modId xmlns:p14="http://schemas.microsoft.com/office/powerpoint/2010/main" val="2472560215"/>
              </p:ext>
            </p:extLst>
          </p:nvPr>
        </p:nvGraphicFramePr>
        <p:xfrm>
          <a:off x="5715000" y="3834530"/>
          <a:ext cx="2909888" cy="2617788"/>
        </p:xfrm>
        <a:graphic>
          <a:graphicData uri="http://schemas.openxmlformats.org/presentationml/2006/ole">
            <mc:AlternateContent xmlns:mc="http://schemas.openxmlformats.org/markup-compatibility/2006">
              <mc:Choice xmlns:v="urn:schemas-microsoft-com:vml" Requires="v">
                <p:oleObj name="Equation" r:id="rId6" imgW="1269720" imgH="1143000" progId="Equation.DSMT4">
                  <p:embed/>
                </p:oleObj>
              </mc:Choice>
              <mc:Fallback>
                <p:oleObj name="Equation" r:id="rId6" imgW="1269720" imgH="1143000" progId="Equation.DSMT4">
                  <p:embed/>
                  <p:pic>
                    <p:nvPicPr>
                      <p:cNvPr id="8194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0" y="3834530"/>
                        <a:ext cx="2909888" cy="2617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22">
            <a:extLst>
              <a:ext uri="{FF2B5EF4-FFF2-40B4-BE49-F238E27FC236}">
                <a16:creationId xmlns:a16="http://schemas.microsoft.com/office/drawing/2014/main" id="{1240A66D-6244-AE71-650F-F5705CEA6B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490168"/>
            <a:ext cx="297180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ight Arrow 28">
            <a:extLst>
              <a:ext uri="{FF2B5EF4-FFF2-40B4-BE49-F238E27FC236}">
                <a16:creationId xmlns:a16="http://schemas.microsoft.com/office/drawing/2014/main" id="{815532ED-E6EC-B44F-A4F4-F623F520316B}"/>
              </a:ext>
            </a:extLst>
          </p:cNvPr>
          <p:cNvSpPr>
            <a:spLocks noChangeArrowheads="1"/>
          </p:cNvSpPr>
          <p:nvPr/>
        </p:nvSpPr>
        <p:spPr bwMode="auto">
          <a:xfrm>
            <a:off x="4470400" y="5142630"/>
            <a:ext cx="1066800" cy="457200"/>
          </a:xfrm>
          <a:prstGeom prst="rightArrow">
            <a:avLst>
              <a:gd name="adj1" fmla="val 50000"/>
              <a:gd name="adj2" fmla="val 50005"/>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388894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ox(i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matrix: </a:t>
            </a:r>
          </a:p>
          <a:p>
            <a:pPr algn="just">
              <a:lnSpc>
                <a:spcPct val="200000"/>
              </a:lnSpc>
              <a:defRPr/>
            </a:pPr>
            <a:r>
              <a:rPr lang="en-US" sz="1900" b="1" dirty="0">
                <a:solidFill>
                  <a:schemeClr val="tx2"/>
                </a:solidFill>
                <a:latin typeface="Times New Roman" pitchFamily="18" charset="0"/>
                <a:cs typeface="Times New Roman" pitchFamily="18" charset="0"/>
              </a:rPr>
              <a:t>Ex:?</a:t>
            </a:r>
          </a:p>
        </p:txBody>
      </p:sp>
    </p:spTree>
    <p:extLst>
      <p:ext uri="{BB962C8B-B14F-4D97-AF65-F5344CB8AC3E}">
        <p14:creationId xmlns:p14="http://schemas.microsoft.com/office/powerpoint/2010/main" val="350563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r>
              <a:rPr lang="en-US" sz="1900" b="1" dirty="0">
                <a:solidFill>
                  <a:schemeClr val="tx2"/>
                </a:solidFill>
                <a:latin typeface="Times New Roman" pitchFamily="18" charset="0"/>
                <a:cs typeface="Times New Roman" pitchFamily="18" charset="0"/>
              </a:rPr>
              <a:t>Undirected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pSp>
        <p:nvGrpSpPr>
          <p:cNvPr id="3" name="Group 9">
            <a:extLst>
              <a:ext uri="{FF2B5EF4-FFF2-40B4-BE49-F238E27FC236}">
                <a16:creationId xmlns:a16="http://schemas.microsoft.com/office/drawing/2014/main" id="{6BF47DEA-5627-C428-BA77-C4CA4F732635}"/>
              </a:ext>
            </a:extLst>
          </p:cNvPr>
          <p:cNvGrpSpPr>
            <a:grpSpLocks/>
          </p:cNvGrpSpPr>
          <p:nvPr/>
        </p:nvGrpSpPr>
        <p:grpSpPr bwMode="auto">
          <a:xfrm>
            <a:off x="1172949" y="2857500"/>
            <a:ext cx="7315200" cy="1143000"/>
            <a:chOff x="1981200" y="3048000"/>
            <a:chExt cx="5369668" cy="1047750"/>
          </a:xfrm>
        </p:grpSpPr>
        <p:graphicFrame>
          <p:nvGraphicFramePr>
            <p:cNvPr id="5" name="Object 2">
              <a:extLst>
                <a:ext uri="{FF2B5EF4-FFF2-40B4-BE49-F238E27FC236}">
                  <a16:creationId xmlns:a16="http://schemas.microsoft.com/office/drawing/2014/main" id="{4641138B-0143-FB40-3CC4-14A9C46B2163}"/>
                </a:ext>
              </a:extLst>
            </p:cNvPr>
            <p:cNvGraphicFramePr>
              <a:graphicFrameLocks noChangeAspect="1"/>
            </p:cNvGraphicFramePr>
            <p:nvPr/>
          </p:nvGraphicFramePr>
          <p:xfrm>
            <a:off x="1981200" y="3048000"/>
            <a:ext cx="1247775" cy="1047750"/>
          </p:xfrm>
          <a:graphic>
            <a:graphicData uri="http://schemas.openxmlformats.org/presentationml/2006/ole">
              <mc:AlternateContent xmlns:mc="http://schemas.openxmlformats.org/markup-compatibility/2006">
                <mc:Choice xmlns:v="urn:schemas-microsoft-com:vml" Requires="v">
                  <p:oleObj name="Equation" r:id="rId4" imgW="545760" imgH="457200" progId="Equation.DSMT4">
                    <p:embed/>
                  </p:oleObj>
                </mc:Choice>
                <mc:Fallback>
                  <p:oleObj name="Equation" r:id="rId4" imgW="545760" imgH="457200" progId="Equation.DSMT4">
                    <p:embed/>
                    <p:pic>
                      <p:nvPicPr>
                        <p:cNvPr id="307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048000"/>
                          <a:ext cx="1247775"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7">
              <a:extLst>
                <a:ext uri="{FF2B5EF4-FFF2-40B4-BE49-F238E27FC236}">
                  <a16:creationId xmlns:a16="http://schemas.microsoft.com/office/drawing/2014/main" id="{0536C7CF-9629-EBD6-0910-1875796D6E08}"/>
                </a:ext>
              </a:extLst>
            </p:cNvPr>
            <p:cNvSpPr txBox="1">
              <a:spLocks noChangeArrowheads="1"/>
            </p:cNvSpPr>
            <p:nvPr/>
          </p:nvSpPr>
          <p:spPr bwMode="auto">
            <a:xfrm>
              <a:off x="3194726" y="3073400"/>
              <a:ext cx="3429000"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vertices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8" name="TextBox 8">
              <a:extLst>
                <a:ext uri="{FF2B5EF4-FFF2-40B4-BE49-F238E27FC236}">
                  <a16:creationId xmlns:a16="http://schemas.microsoft.com/office/drawing/2014/main" id="{3E89CB97-21D8-64D2-C1CD-30A1550937A8}"/>
                </a:ext>
              </a:extLst>
            </p:cNvPr>
            <p:cNvSpPr txBox="1">
              <a:spLocks noChangeArrowheads="1"/>
            </p:cNvSpPr>
            <p:nvPr/>
          </p:nvSpPr>
          <p:spPr bwMode="auto">
            <a:xfrm>
              <a:off x="3236068" y="3695640"/>
              <a:ext cx="4114800"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not vertices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grpSp>
    </p:spTree>
    <p:extLst>
      <p:ext uri="{BB962C8B-B14F-4D97-AF65-F5344CB8AC3E}">
        <p14:creationId xmlns:p14="http://schemas.microsoft.com/office/powerpoint/2010/main" val="197794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r>
              <a:rPr lang="en-US" sz="1900" b="1" dirty="0">
                <a:solidFill>
                  <a:schemeClr val="tx2"/>
                </a:solidFill>
                <a:latin typeface="Times New Roman" pitchFamily="18" charset="0"/>
                <a:cs typeface="Times New Roman" pitchFamily="18" charset="0"/>
              </a:rPr>
              <a:t>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9" name="Object 2">
            <a:extLst>
              <a:ext uri="{FF2B5EF4-FFF2-40B4-BE49-F238E27FC236}">
                <a16:creationId xmlns:a16="http://schemas.microsoft.com/office/drawing/2014/main" id="{37C73E80-22A2-ACB2-2195-9FD8DF669AA2}"/>
              </a:ext>
            </a:extLst>
          </p:cNvPr>
          <p:cNvGraphicFramePr>
            <a:graphicFrameLocks noChangeAspect="1"/>
          </p:cNvGraphicFramePr>
          <p:nvPr>
            <p:extLst>
              <p:ext uri="{D42A27DB-BD31-4B8C-83A1-F6EECF244321}">
                <p14:modId xmlns:p14="http://schemas.microsoft.com/office/powerpoint/2010/main" val="3250436672"/>
              </p:ext>
            </p:extLst>
          </p:nvPr>
        </p:nvGraphicFramePr>
        <p:xfrm>
          <a:off x="1219200" y="2833434"/>
          <a:ext cx="1335087" cy="1628775"/>
        </p:xfrm>
        <a:graphic>
          <a:graphicData uri="http://schemas.openxmlformats.org/presentationml/2006/ole">
            <mc:AlternateContent xmlns:mc="http://schemas.openxmlformats.org/markup-compatibility/2006">
              <mc:Choice xmlns:v="urn:schemas-microsoft-com:vml" Requires="v">
                <p:oleObj name="Equation" r:id="rId4" imgW="583920" imgH="711000" progId="Equation.DSMT4">
                  <p:embed/>
                </p:oleObj>
              </mc:Choice>
              <mc:Fallback>
                <p:oleObj name="Equation" r:id="rId4" imgW="583920" imgH="711000" progId="Equation.DSMT4">
                  <p:embed/>
                  <p:pic>
                    <p:nvPicPr>
                      <p:cNvPr id="512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2833434"/>
                        <a:ext cx="1335087" cy="162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7">
            <a:extLst>
              <a:ext uri="{FF2B5EF4-FFF2-40B4-BE49-F238E27FC236}">
                <a16:creationId xmlns:a16="http://schemas.microsoft.com/office/drawing/2014/main" id="{32604E71-F3CD-41F8-8919-F8039C3344FB}"/>
              </a:ext>
            </a:extLst>
          </p:cNvPr>
          <p:cNvSpPr txBox="1">
            <a:spLocks noChangeArrowheads="1"/>
          </p:cNvSpPr>
          <p:nvPr/>
        </p:nvSpPr>
        <p:spPr bwMode="auto">
          <a:xfrm>
            <a:off x="2630487" y="2909634"/>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start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12" name="TextBox 8">
            <a:extLst>
              <a:ext uri="{FF2B5EF4-FFF2-40B4-BE49-F238E27FC236}">
                <a16:creationId xmlns:a16="http://schemas.microsoft.com/office/drawing/2014/main" id="{24A1DFBC-CB83-E01C-ABD7-BFC8522B3A79}"/>
              </a:ext>
            </a:extLst>
          </p:cNvPr>
          <p:cNvSpPr txBox="1">
            <a:spLocks noChangeArrowheads="1"/>
          </p:cNvSpPr>
          <p:nvPr/>
        </p:nvSpPr>
        <p:spPr bwMode="auto">
          <a:xfrm>
            <a:off x="2706687" y="3900234"/>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a:t>
            </a:r>
            <a:r>
              <a:rPr kumimoji="0" lang="en-US" altLang="en-US" sz="2000" b="1" i="0" u="none" strike="noStrike" kern="1200" cap="none" spc="0" normalizeH="0" baseline="0" noProof="0" dirty="0">
                <a:ln>
                  <a:noFill/>
                </a:ln>
                <a:solidFill>
                  <a:srgbClr val="FF0000"/>
                </a:solidFill>
                <a:effectLst/>
                <a:uLnTx/>
                <a:uFillTx/>
                <a:latin typeface="Arial" charset="0"/>
                <a:cs typeface="Arial" charset="0"/>
              </a:rPr>
              <a:t>not </a:t>
            </a:r>
            <a:r>
              <a:rPr lang="en-US" altLang="en-US" sz="2000" b="1" dirty="0">
                <a:solidFill>
                  <a:srgbClr val="FF0000"/>
                </a:solidFill>
              </a:rPr>
              <a:t>a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13" name="TextBox 7">
            <a:extLst>
              <a:ext uri="{FF2B5EF4-FFF2-40B4-BE49-F238E27FC236}">
                <a16:creationId xmlns:a16="http://schemas.microsoft.com/office/drawing/2014/main" id="{71D97F8F-23FC-B8D8-64FF-EDE05E84BF4A}"/>
              </a:ext>
            </a:extLst>
          </p:cNvPr>
          <p:cNvSpPr txBox="1">
            <a:spLocks noChangeArrowheads="1"/>
          </p:cNvSpPr>
          <p:nvPr/>
        </p:nvSpPr>
        <p:spPr bwMode="auto">
          <a:xfrm>
            <a:off x="2630487" y="3443034"/>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end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12311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pSp>
        <p:nvGrpSpPr>
          <p:cNvPr id="9" name="Group 30">
            <a:extLst>
              <a:ext uri="{FF2B5EF4-FFF2-40B4-BE49-F238E27FC236}">
                <a16:creationId xmlns:a16="http://schemas.microsoft.com/office/drawing/2014/main" id="{6910345F-FD46-393E-B6B0-42D32D9D4A3A}"/>
              </a:ext>
            </a:extLst>
          </p:cNvPr>
          <p:cNvGrpSpPr>
            <a:grpSpLocks/>
          </p:cNvGrpSpPr>
          <p:nvPr/>
        </p:nvGrpSpPr>
        <p:grpSpPr bwMode="auto">
          <a:xfrm>
            <a:off x="315913" y="2505075"/>
            <a:ext cx="3036887" cy="2295525"/>
            <a:chOff x="316523" y="2504609"/>
            <a:chExt cx="3036277" cy="2295991"/>
          </a:xfrm>
        </p:grpSpPr>
        <p:sp>
          <p:nvSpPr>
            <p:cNvPr id="10" name="Line 6">
              <a:extLst>
                <a:ext uri="{FF2B5EF4-FFF2-40B4-BE49-F238E27FC236}">
                  <a16:creationId xmlns:a16="http://schemas.microsoft.com/office/drawing/2014/main" id="{A3510F01-5CB3-4A54-84A8-EA054A66D3DE}"/>
                </a:ext>
              </a:extLst>
            </p:cNvPr>
            <p:cNvSpPr>
              <a:spLocks noChangeShapeType="1"/>
            </p:cNvSpPr>
            <p:nvPr/>
          </p:nvSpPr>
          <p:spPr bwMode="auto">
            <a:xfrm>
              <a:off x="1744394" y="3016664"/>
              <a:ext cx="0"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Line 7">
              <a:extLst>
                <a:ext uri="{FF2B5EF4-FFF2-40B4-BE49-F238E27FC236}">
                  <a16:creationId xmlns:a16="http://schemas.microsoft.com/office/drawing/2014/main" id="{3B8EC39F-4BB7-5A00-35C4-F1A57073AEBC}"/>
                </a:ext>
              </a:extLst>
            </p:cNvPr>
            <p:cNvSpPr>
              <a:spLocks noChangeShapeType="1"/>
            </p:cNvSpPr>
            <p:nvPr/>
          </p:nvSpPr>
          <p:spPr bwMode="auto">
            <a:xfrm>
              <a:off x="562708" y="3016664"/>
              <a:ext cx="0"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Line 8">
              <a:extLst>
                <a:ext uri="{FF2B5EF4-FFF2-40B4-BE49-F238E27FC236}">
                  <a16:creationId xmlns:a16="http://schemas.microsoft.com/office/drawing/2014/main" id="{E4724CD2-9241-F2FA-6DBB-07CBCB4E7EA8}"/>
                </a:ext>
              </a:extLst>
            </p:cNvPr>
            <p:cNvSpPr>
              <a:spLocks noChangeShapeType="1"/>
            </p:cNvSpPr>
            <p:nvPr/>
          </p:nvSpPr>
          <p:spPr bwMode="auto">
            <a:xfrm>
              <a:off x="562708" y="3016664"/>
              <a:ext cx="1181686"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Line 9">
              <a:extLst>
                <a:ext uri="{FF2B5EF4-FFF2-40B4-BE49-F238E27FC236}">
                  <a16:creationId xmlns:a16="http://schemas.microsoft.com/office/drawing/2014/main" id="{B221D17B-69A4-3A65-68DA-AFA927F839BA}"/>
                </a:ext>
              </a:extLst>
            </p:cNvPr>
            <p:cNvSpPr>
              <a:spLocks noChangeShapeType="1"/>
            </p:cNvSpPr>
            <p:nvPr/>
          </p:nvSpPr>
          <p:spPr bwMode="auto">
            <a:xfrm flipH="1">
              <a:off x="562708" y="3016664"/>
              <a:ext cx="1181686"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Line 10">
              <a:extLst>
                <a:ext uri="{FF2B5EF4-FFF2-40B4-BE49-F238E27FC236}">
                  <a16:creationId xmlns:a16="http://schemas.microsoft.com/office/drawing/2014/main" id="{5049DA31-C9C3-6176-F64F-9B326DCB373E}"/>
                </a:ext>
              </a:extLst>
            </p:cNvPr>
            <p:cNvSpPr>
              <a:spLocks noChangeShapeType="1"/>
            </p:cNvSpPr>
            <p:nvPr/>
          </p:nvSpPr>
          <p:spPr bwMode="auto">
            <a:xfrm flipH="1">
              <a:off x="562708" y="301666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Line 11">
              <a:extLst>
                <a:ext uri="{FF2B5EF4-FFF2-40B4-BE49-F238E27FC236}">
                  <a16:creationId xmlns:a16="http://schemas.microsoft.com/office/drawing/2014/main" id="{7FDC11CA-EF1E-1DB3-D992-1C9334BB2F7D}"/>
                </a:ext>
              </a:extLst>
            </p:cNvPr>
            <p:cNvSpPr>
              <a:spLocks noChangeShapeType="1"/>
            </p:cNvSpPr>
            <p:nvPr/>
          </p:nvSpPr>
          <p:spPr bwMode="auto">
            <a:xfrm flipH="1">
              <a:off x="562708" y="420595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Line 12">
              <a:extLst>
                <a:ext uri="{FF2B5EF4-FFF2-40B4-BE49-F238E27FC236}">
                  <a16:creationId xmlns:a16="http://schemas.microsoft.com/office/drawing/2014/main" id="{CD390CF2-6914-F5F6-3C15-6B140AFEBFBB}"/>
                </a:ext>
              </a:extLst>
            </p:cNvPr>
            <p:cNvSpPr>
              <a:spLocks noChangeShapeType="1"/>
            </p:cNvSpPr>
            <p:nvPr/>
          </p:nvSpPr>
          <p:spPr bwMode="auto">
            <a:xfrm flipH="1">
              <a:off x="1744394" y="301666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Picture 13">
              <a:extLst>
                <a:ext uri="{FF2B5EF4-FFF2-40B4-BE49-F238E27FC236}">
                  <a16:creationId xmlns:a16="http://schemas.microsoft.com/office/drawing/2014/main" id="{F96967FA-65D0-38B5-1DE6-4E57043DC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6843" y="4024257"/>
              <a:ext cx="246185" cy="297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4">
              <a:extLst>
                <a:ext uri="{FF2B5EF4-FFF2-40B4-BE49-F238E27FC236}">
                  <a16:creationId xmlns:a16="http://schemas.microsoft.com/office/drawing/2014/main" id="{D44290EE-C108-538A-FD61-ECFB5A8A6322}"/>
                </a:ext>
              </a:extLst>
            </p:cNvPr>
            <p:cNvSpPr txBox="1">
              <a:spLocks noChangeArrowheads="1"/>
            </p:cNvSpPr>
            <p:nvPr/>
          </p:nvSpPr>
          <p:spPr bwMode="auto">
            <a:xfrm>
              <a:off x="316523" y="2521126"/>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1</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1" name="Text Box 15">
              <a:extLst>
                <a:ext uri="{FF2B5EF4-FFF2-40B4-BE49-F238E27FC236}">
                  <a16:creationId xmlns:a16="http://schemas.microsoft.com/office/drawing/2014/main" id="{EDE25579-486F-E794-970A-64FA137EB733}"/>
                </a:ext>
              </a:extLst>
            </p:cNvPr>
            <p:cNvSpPr txBox="1">
              <a:spLocks noChangeArrowheads="1"/>
            </p:cNvSpPr>
            <p:nvPr/>
          </p:nvSpPr>
          <p:spPr bwMode="auto">
            <a:xfrm>
              <a:off x="1432560" y="2504609"/>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2</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2" name="Text Box 16">
              <a:extLst>
                <a:ext uri="{FF2B5EF4-FFF2-40B4-BE49-F238E27FC236}">
                  <a16:creationId xmlns:a16="http://schemas.microsoft.com/office/drawing/2014/main" id="{AD277AC6-2802-2D90-A5BD-CBF308D867A5}"/>
                </a:ext>
              </a:extLst>
            </p:cNvPr>
            <p:cNvSpPr txBox="1">
              <a:spLocks noChangeArrowheads="1"/>
            </p:cNvSpPr>
            <p:nvPr/>
          </p:nvSpPr>
          <p:spPr bwMode="auto">
            <a:xfrm>
              <a:off x="2614246" y="2521126"/>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3</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3" name="Text Box 17">
              <a:extLst>
                <a:ext uri="{FF2B5EF4-FFF2-40B4-BE49-F238E27FC236}">
                  <a16:creationId xmlns:a16="http://schemas.microsoft.com/office/drawing/2014/main" id="{6BA054DD-3631-70B0-B936-B87021059086}"/>
                </a:ext>
              </a:extLst>
            </p:cNvPr>
            <p:cNvSpPr txBox="1">
              <a:spLocks noChangeArrowheads="1"/>
            </p:cNvSpPr>
            <p:nvPr/>
          </p:nvSpPr>
          <p:spPr bwMode="auto">
            <a:xfrm>
              <a:off x="365760" y="4205954"/>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4</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4" name="Text Box 18">
              <a:extLst>
                <a:ext uri="{FF2B5EF4-FFF2-40B4-BE49-F238E27FC236}">
                  <a16:creationId xmlns:a16="http://schemas.microsoft.com/office/drawing/2014/main" id="{21527A86-0224-9A73-022A-58BB24574293}"/>
                </a:ext>
              </a:extLst>
            </p:cNvPr>
            <p:cNvSpPr txBox="1">
              <a:spLocks noChangeArrowheads="1"/>
            </p:cNvSpPr>
            <p:nvPr/>
          </p:nvSpPr>
          <p:spPr bwMode="auto">
            <a:xfrm>
              <a:off x="1547446" y="4205954"/>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5</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5" name="Text Box 19">
              <a:extLst>
                <a:ext uri="{FF2B5EF4-FFF2-40B4-BE49-F238E27FC236}">
                  <a16:creationId xmlns:a16="http://schemas.microsoft.com/office/drawing/2014/main" id="{53D910D6-2195-5ECE-3075-6CB18F8CE88A}"/>
                </a:ext>
              </a:extLst>
            </p:cNvPr>
            <p:cNvSpPr txBox="1">
              <a:spLocks noChangeArrowheads="1"/>
            </p:cNvSpPr>
            <p:nvPr/>
          </p:nvSpPr>
          <p:spPr bwMode="auto">
            <a:xfrm>
              <a:off x="2761956" y="4189437"/>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6</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grpSp>
      <p:graphicFrame>
        <p:nvGraphicFramePr>
          <p:cNvPr id="26" name="Object 2">
            <a:extLst>
              <a:ext uri="{FF2B5EF4-FFF2-40B4-BE49-F238E27FC236}">
                <a16:creationId xmlns:a16="http://schemas.microsoft.com/office/drawing/2014/main" id="{1332BA1B-8CF3-AAD4-3744-A1B672A8F6BD}"/>
              </a:ext>
            </a:extLst>
          </p:cNvPr>
          <p:cNvGraphicFramePr>
            <a:graphicFrameLocks noChangeAspect="1"/>
          </p:cNvGraphicFramePr>
          <p:nvPr/>
        </p:nvGraphicFramePr>
        <p:xfrm>
          <a:off x="4267200" y="1978025"/>
          <a:ext cx="4768850" cy="3279775"/>
        </p:xfrm>
        <a:graphic>
          <a:graphicData uri="http://schemas.openxmlformats.org/presentationml/2006/ole">
            <mc:AlternateContent xmlns:mc="http://schemas.openxmlformats.org/markup-compatibility/2006">
              <mc:Choice xmlns:v="urn:schemas-microsoft-com:vml" Requires="v">
                <p:oleObj name="Equation" r:id="rId5" imgW="1993680" imgH="1371600" progId="Equation.DSMT4">
                  <p:embed/>
                </p:oleObj>
              </mc:Choice>
              <mc:Fallback>
                <p:oleObj name="Equation" r:id="rId5" imgW="1993680" imgH="1371600" progId="Equation.DSMT4">
                  <p:embed/>
                  <p:pic>
                    <p:nvPicPr>
                      <p:cNvPr id="22"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1978025"/>
                        <a:ext cx="4768850" cy="327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ight Arrow 22">
            <a:extLst>
              <a:ext uri="{FF2B5EF4-FFF2-40B4-BE49-F238E27FC236}">
                <a16:creationId xmlns:a16="http://schemas.microsoft.com/office/drawing/2014/main" id="{F98A0D5D-8750-F634-A193-E29E70762B03}"/>
              </a:ext>
            </a:extLst>
          </p:cNvPr>
          <p:cNvSpPr>
            <a:spLocks noChangeArrowheads="1"/>
          </p:cNvSpPr>
          <p:nvPr/>
        </p:nvSpPr>
        <p:spPr bwMode="auto">
          <a:xfrm>
            <a:off x="3048000" y="3352800"/>
            <a:ext cx="1066800" cy="457200"/>
          </a:xfrm>
          <a:prstGeom prst="rightArrow">
            <a:avLst>
              <a:gd name="adj1" fmla="val 50000"/>
              <a:gd name="adj2" fmla="val 50005"/>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8" name="Text Box 14">
            <a:extLst>
              <a:ext uri="{FF2B5EF4-FFF2-40B4-BE49-F238E27FC236}">
                <a16:creationId xmlns:a16="http://schemas.microsoft.com/office/drawing/2014/main" id="{E8692699-7289-8CF6-09F8-4C50CB265F03}"/>
              </a:ext>
            </a:extLst>
          </p:cNvPr>
          <p:cNvSpPr txBox="1">
            <a:spLocks noChangeArrowheads="1"/>
          </p:cNvSpPr>
          <p:nvPr/>
        </p:nvSpPr>
        <p:spPr bwMode="auto">
          <a:xfrm>
            <a:off x="857250" y="2514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9" name="Text Box 14">
            <a:extLst>
              <a:ext uri="{FF2B5EF4-FFF2-40B4-BE49-F238E27FC236}">
                <a16:creationId xmlns:a16="http://schemas.microsoft.com/office/drawing/2014/main" id="{9C487C11-D641-FE64-4583-F751D2BC0ACE}"/>
              </a:ext>
            </a:extLst>
          </p:cNvPr>
          <p:cNvSpPr txBox="1">
            <a:spLocks noChangeArrowheads="1"/>
          </p:cNvSpPr>
          <p:nvPr/>
        </p:nvSpPr>
        <p:spPr bwMode="auto">
          <a:xfrm>
            <a:off x="2152650" y="2514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0" name="Text Box 14">
            <a:extLst>
              <a:ext uri="{FF2B5EF4-FFF2-40B4-BE49-F238E27FC236}">
                <a16:creationId xmlns:a16="http://schemas.microsoft.com/office/drawing/2014/main" id="{C06067FE-C05D-EEE5-E6B4-A24B5BF59303}"/>
              </a:ext>
            </a:extLst>
          </p:cNvPr>
          <p:cNvSpPr txBox="1">
            <a:spLocks noChangeArrowheads="1"/>
          </p:cNvSpPr>
          <p:nvPr/>
        </p:nvSpPr>
        <p:spPr bwMode="auto">
          <a:xfrm>
            <a:off x="95250" y="32146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1" name="Text Box 14">
            <a:extLst>
              <a:ext uri="{FF2B5EF4-FFF2-40B4-BE49-F238E27FC236}">
                <a16:creationId xmlns:a16="http://schemas.microsoft.com/office/drawing/2014/main" id="{0D9F35E5-D3A1-905D-8AA3-D7E0CE96D35C}"/>
              </a:ext>
            </a:extLst>
          </p:cNvPr>
          <p:cNvSpPr txBox="1">
            <a:spLocks noChangeArrowheads="1"/>
          </p:cNvSpPr>
          <p:nvPr/>
        </p:nvSpPr>
        <p:spPr bwMode="auto">
          <a:xfrm>
            <a:off x="806450" y="29987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2" name="Text Box 14">
            <a:extLst>
              <a:ext uri="{FF2B5EF4-FFF2-40B4-BE49-F238E27FC236}">
                <a16:creationId xmlns:a16="http://schemas.microsoft.com/office/drawing/2014/main" id="{3DD50CC0-3D7E-229E-42CE-EFBA95133888}"/>
              </a:ext>
            </a:extLst>
          </p:cNvPr>
          <p:cNvSpPr txBox="1">
            <a:spLocks noChangeArrowheads="1"/>
          </p:cNvSpPr>
          <p:nvPr/>
        </p:nvSpPr>
        <p:spPr bwMode="auto">
          <a:xfrm>
            <a:off x="857250" y="35956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3" name="Text Box 14">
            <a:extLst>
              <a:ext uri="{FF2B5EF4-FFF2-40B4-BE49-F238E27FC236}">
                <a16:creationId xmlns:a16="http://schemas.microsoft.com/office/drawing/2014/main" id="{C8F3BBB9-FD6B-90A1-9400-99631F5EF03A}"/>
              </a:ext>
            </a:extLst>
          </p:cNvPr>
          <p:cNvSpPr txBox="1">
            <a:spLocks noChangeArrowheads="1"/>
          </p:cNvSpPr>
          <p:nvPr/>
        </p:nvSpPr>
        <p:spPr bwMode="auto">
          <a:xfrm>
            <a:off x="914400" y="41148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6</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4" name="Text Box 14">
            <a:extLst>
              <a:ext uri="{FF2B5EF4-FFF2-40B4-BE49-F238E27FC236}">
                <a16:creationId xmlns:a16="http://schemas.microsoft.com/office/drawing/2014/main" id="{DFB3E644-FBAF-8EFB-F107-15224873956F}"/>
              </a:ext>
            </a:extLst>
          </p:cNvPr>
          <p:cNvSpPr txBox="1">
            <a:spLocks noChangeArrowheads="1"/>
          </p:cNvSpPr>
          <p:nvPr/>
        </p:nvSpPr>
        <p:spPr bwMode="auto">
          <a:xfrm>
            <a:off x="1695450" y="3276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7</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35" name="Object 3">
            <a:extLst>
              <a:ext uri="{FF2B5EF4-FFF2-40B4-BE49-F238E27FC236}">
                <a16:creationId xmlns:a16="http://schemas.microsoft.com/office/drawing/2014/main" id="{5FA7A009-AA56-1E64-1450-1DA7D6BFE683}"/>
              </a:ext>
            </a:extLst>
          </p:cNvPr>
          <p:cNvGraphicFramePr>
            <a:graphicFrameLocks noChangeAspect="1"/>
          </p:cNvGraphicFramePr>
          <p:nvPr/>
        </p:nvGraphicFramePr>
        <p:xfrm>
          <a:off x="5308600" y="1562100"/>
          <a:ext cx="3657600" cy="495300"/>
        </p:xfrm>
        <a:graphic>
          <a:graphicData uri="http://schemas.openxmlformats.org/presentationml/2006/ole">
            <mc:AlternateContent xmlns:mc="http://schemas.openxmlformats.org/markup-compatibility/2006">
              <mc:Choice xmlns:v="urn:schemas-microsoft-com:vml" Requires="v">
                <p:oleObj name="Equation" r:id="rId7" imgW="1688760" imgH="228600" progId="Equation.DSMT4">
                  <p:embed/>
                </p:oleObj>
              </mc:Choice>
              <mc:Fallback>
                <p:oleObj name="Equation" r:id="rId7" imgW="1688760" imgH="228600" progId="Equation.DSMT4">
                  <p:embed/>
                  <p:pic>
                    <p:nvPicPr>
                      <p:cNvPr id="931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08600" y="1562100"/>
                        <a:ext cx="3657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43036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ox(in)">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ox(in)">
                                      <p:cBhvr>
                                        <p:cTn id="16" dur="500"/>
                                        <p:tgtEl>
                                          <p:spTgt spid="30"/>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box(in)">
                                      <p:cBhvr>
                                        <p:cTn id="19" dur="500"/>
                                        <p:tgtEl>
                                          <p:spTgt spid="28"/>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ox(in)">
                                      <p:cBhvr>
                                        <p:cTn id="22" dur="500"/>
                                        <p:tgtEl>
                                          <p:spTgt spid="29"/>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ox(in)">
                                      <p:cBhvr>
                                        <p:cTn id="25" dur="500"/>
                                        <p:tgtEl>
                                          <p:spTgt spid="31"/>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ox(in)">
                                      <p:cBhvr>
                                        <p:cTn id="28" dur="500"/>
                                        <p:tgtEl>
                                          <p:spTgt spid="34"/>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ox(in)">
                                      <p:cBhvr>
                                        <p:cTn id="31" dur="500"/>
                                        <p:tgtEl>
                                          <p:spTgt spid="32"/>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box(in)">
                                      <p:cBhvr>
                                        <p:cTn id="34" dur="500"/>
                                        <p:tgtEl>
                                          <p:spTgt spid="33"/>
                                        </p:tgtEl>
                                      </p:cBhvr>
                                    </p:animEffect>
                                  </p:childTnLst>
                                </p:cTn>
                              </p:par>
                              <p:par>
                                <p:cTn id="35" presetID="4" presetClass="entr" presetSubtype="16"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ox(in)">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P spid="30" grpId="0"/>
      <p:bldP spid="31" grpId="0"/>
      <p:bldP spid="32" grpId="0"/>
      <p:bldP spid="33"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3" name="Picture 22">
            <a:extLst>
              <a:ext uri="{FF2B5EF4-FFF2-40B4-BE49-F238E27FC236}">
                <a16:creationId xmlns:a16="http://schemas.microsoft.com/office/drawing/2014/main" id="{F1DA4C46-47D6-968B-8F0E-55BDEE43F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86000"/>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ight Arrow 7">
            <a:extLst>
              <a:ext uri="{FF2B5EF4-FFF2-40B4-BE49-F238E27FC236}">
                <a16:creationId xmlns:a16="http://schemas.microsoft.com/office/drawing/2014/main" id="{02603129-B350-C138-9B88-F01CBDCF2FDB}"/>
              </a:ext>
            </a:extLst>
          </p:cNvPr>
          <p:cNvSpPr>
            <a:spLocks noChangeArrowheads="1"/>
          </p:cNvSpPr>
          <p:nvPr/>
        </p:nvSpPr>
        <p:spPr bwMode="auto">
          <a:xfrm>
            <a:off x="3708400" y="2938463"/>
            <a:ext cx="711200" cy="611187"/>
          </a:xfrm>
          <a:prstGeom prst="rightArrow">
            <a:avLst>
              <a:gd name="adj1" fmla="val 50000"/>
              <a:gd name="adj2" fmla="val 50020"/>
            </a:avLst>
          </a:prstGeom>
          <a:solidFill>
            <a:srgbClr val="FF0000"/>
          </a:solidFill>
          <a:ln w="9525">
            <a:solidFill>
              <a:schemeClr val="tx1"/>
            </a:solidFill>
            <a:round/>
            <a:headEnd/>
            <a:tailEnd/>
          </a:ln>
        </p:spPr>
        <p:txBody>
          <a:bodyPr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graphicFrame>
        <p:nvGraphicFramePr>
          <p:cNvPr id="7" name="Object 2">
            <a:extLst>
              <a:ext uri="{FF2B5EF4-FFF2-40B4-BE49-F238E27FC236}">
                <a16:creationId xmlns:a16="http://schemas.microsoft.com/office/drawing/2014/main" id="{F45B812A-41C5-804F-C8DA-56EFA6E1A313}"/>
              </a:ext>
            </a:extLst>
          </p:cNvPr>
          <p:cNvGraphicFramePr>
            <a:graphicFrameLocks noChangeAspect="1"/>
          </p:cNvGraphicFramePr>
          <p:nvPr/>
        </p:nvGraphicFramePr>
        <p:xfrm>
          <a:off x="4557713" y="2438400"/>
          <a:ext cx="4586287" cy="2200275"/>
        </p:xfrm>
        <a:graphic>
          <a:graphicData uri="http://schemas.openxmlformats.org/presentationml/2006/ole">
            <mc:AlternateContent xmlns:mc="http://schemas.openxmlformats.org/markup-compatibility/2006">
              <mc:Choice xmlns:v="urn:schemas-microsoft-com:vml" Requires="v">
                <p:oleObj name="Equation" r:id="rId5" imgW="1904760" imgH="914400" progId="Equation.DSMT4">
                  <p:embed/>
                </p:oleObj>
              </mc:Choice>
              <mc:Fallback>
                <p:oleObj name="Equation" r:id="rId5" imgW="1904760" imgH="914400" progId="Equation.DSMT4">
                  <p:embed/>
                  <p:pic>
                    <p:nvPicPr>
                      <p:cNvPr id="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7713" y="2438400"/>
                        <a:ext cx="4586287" cy="220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4">
            <a:extLst>
              <a:ext uri="{FF2B5EF4-FFF2-40B4-BE49-F238E27FC236}">
                <a16:creationId xmlns:a16="http://schemas.microsoft.com/office/drawing/2014/main" id="{53F745EF-0128-1A56-818E-A1C7B863CE78}"/>
              </a:ext>
            </a:extLst>
          </p:cNvPr>
          <p:cNvSpPr txBox="1">
            <a:spLocks noChangeArrowheads="1"/>
          </p:cNvSpPr>
          <p:nvPr/>
        </p:nvSpPr>
        <p:spPr bwMode="auto">
          <a:xfrm>
            <a:off x="609600" y="26812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6" name="Text Box 14">
            <a:extLst>
              <a:ext uri="{FF2B5EF4-FFF2-40B4-BE49-F238E27FC236}">
                <a16:creationId xmlns:a16="http://schemas.microsoft.com/office/drawing/2014/main" id="{6E670E33-B6AF-47BE-4F48-B497B441DCA1}"/>
              </a:ext>
            </a:extLst>
          </p:cNvPr>
          <p:cNvSpPr txBox="1">
            <a:spLocks noChangeArrowheads="1"/>
          </p:cNvSpPr>
          <p:nvPr/>
        </p:nvSpPr>
        <p:spPr bwMode="auto">
          <a:xfrm>
            <a:off x="1600200" y="2895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7" name="Text Box 14">
            <a:extLst>
              <a:ext uri="{FF2B5EF4-FFF2-40B4-BE49-F238E27FC236}">
                <a16:creationId xmlns:a16="http://schemas.microsoft.com/office/drawing/2014/main" id="{AB40215C-C07A-80EE-2009-0B579F9B59B6}"/>
              </a:ext>
            </a:extLst>
          </p:cNvPr>
          <p:cNvSpPr txBox="1">
            <a:spLocks noChangeArrowheads="1"/>
          </p:cNvSpPr>
          <p:nvPr/>
        </p:nvSpPr>
        <p:spPr bwMode="auto">
          <a:xfrm>
            <a:off x="1295400" y="36718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8" name="Text Box 14">
            <a:extLst>
              <a:ext uri="{FF2B5EF4-FFF2-40B4-BE49-F238E27FC236}">
                <a16:creationId xmlns:a16="http://schemas.microsoft.com/office/drawing/2014/main" id="{CD43F489-A128-A81A-31ED-9EAABF874DBA}"/>
              </a:ext>
            </a:extLst>
          </p:cNvPr>
          <p:cNvSpPr txBox="1">
            <a:spLocks noChangeArrowheads="1"/>
          </p:cNvSpPr>
          <p:nvPr/>
        </p:nvSpPr>
        <p:spPr bwMode="auto">
          <a:xfrm>
            <a:off x="2381250" y="27432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9" name="Text Box 14">
            <a:extLst>
              <a:ext uri="{FF2B5EF4-FFF2-40B4-BE49-F238E27FC236}">
                <a16:creationId xmlns:a16="http://schemas.microsoft.com/office/drawing/2014/main" id="{0EA943FA-AED1-176C-F51A-C2244256873D}"/>
              </a:ext>
            </a:extLst>
          </p:cNvPr>
          <p:cNvSpPr txBox="1">
            <a:spLocks noChangeArrowheads="1"/>
          </p:cNvSpPr>
          <p:nvPr/>
        </p:nvSpPr>
        <p:spPr bwMode="auto">
          <a:xfrm>
            <a:off x="2990850" y="29718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40" name="Object 3">
            <a:extLst>
              <a:ext uri="{FF2B5EF4-FFF2-40B4-BE49-F238E27FC236}">
                <a16:creationId xmlns:a16="http://schemas.microsoft.com/office/drawing/2014/main" id="{677C582A-EE03-72CD-38E4-81DAF2BFA17C}"/>
              </a:ext>
            </a:extLst>
          </p:cNvPr>
          <p:cNvGraphicFramePr>
            <a:graphicFrameLocks noChangeAspect="1"/>
          </p:cNvGraphicFramePr>
          <p:nvPr/>
        </p:nvGraphicFramePr>
        <p:xfrm>
          <a:off x="5802313" y="1905000"/>
          <a:ext cx="3738562" cy="495300"/>
        </p:xfrm>
        <a:graphic>
          <a:graphicData uri="http://schemas.openxmlformats.org/presentationml/2006/ole">
            <mc:AlternateContent xmlns:mc="http://schemas.openxmlformats.org/markup-compatibility/2006">
              <mc:Choice xmlns:v="urn:schemas-microsoft-com:vml" Requires="v">
                <p:oleObj name="Equation" r:id="rId7" imgW="1726920" imgH="228600" progId="Equation.DSMT4">
                  <p:embed/>
                </p:oleObj>
              </mc:Choice>
              <mc:Fallback>
                <p:oleObj name="Equation" r:id="rId7" imgW="1726920" imgH="228600" progId="Equation.DSMT4">
                  <p:embed/>
                  <p:pic>
                    <p:nvPicPr>
                      <p:cNvPr id="931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02313" y="1905000"/>
                        <a:ext cx="373856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68239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ox(in)">
                                      <p:cBhvr>
                                        <p:cTn id="7" dur="500"/>
                                        <p:tgtEl>
                                          <p:spTgt spid="37"/>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ox(in)">
                                      <p:cBhvr>
                                        <p:cTn id="13" dur="500"/>
                                        <p:tgtEl>
                                          <p:spTgt spid="3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box(in)">
                                      <p:cBhvr>
                                        <p:cTn id="16" dur="500"/>
                                        <p:tgtEl>
                                          <p:spTgt spid="38"/>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box(in)">
                                      <p:cBhvr>
                                        <p:cTn id="19" dur="500"/>
                                        <p:tgtEl>
                                          <p:spTgt spid="39"/>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ox(in)">
                                      <p:cBhvr>
                                        <p:cTn id="24" dur="500"/>
                                        <p:tgtEl>
                                          <p:spTgt spid="5"/>
                                        </p:tgtEl>
                                      </p:cBhvr>
                                    </p:animEffect>
                                  </p:childTnLst>
                                </p:cTn>
                              </p:par>
                            </p:childTnLst>
                          </p:cTn>
                        </p:par>
                        <p:par>
                          <p:cTn id="25" fill="hold">
                            <p:stCondLst>
                              <p:cond delay="500"/>
                            </p:stCondLst>
                            <p:childTnLst>
                              <p:par>
                                <p:cTn id="26" presetID="4" presetClass="entr" presetSubtype="16"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ox(in)">
                                      <p:cBhvr>
                                        <p:cTn id="28" dur="500"/>
                                        <p:tgtEl>
                                          <p:spTgt spid="7"/>
                                        </p:tgtEl>
                                      </p:cBhvr>
                                    </p:animEffect>
                                  </p:childTnLst>
                                </p:cTn>
                              </p:par>
                              <p:par>
                                <p:cTn id="29" presetID="4" presetClass="entr" presetSubtype="16"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box(in)">
                                      <p:cBhvr>
                                        <p:cTn id="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36" grpId="0"/>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weight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9" name="Object 3">
            <a:extLst>
              <a:ext uri="{FF2B5EF4-FFF2-40B4-BE49-F238E27FC236}">
                <a16:creationId xmlns:a16="http://schemas.microsoft.com/office/drawing/2014/main" id="{5E97D109-FB58-C761-4434-5993396B3433}"/>
              </a:ext>
            </a:extLst>
          </p:cNvPr>
          <p:cNvGraphicFramePr>
            <a:graphicFrameLocks noChangeAspect="1"/>
          </p:cNvGraphicFramePr>
          <p:nvPr>
            <p:extLst>
              <p:ext uri="{D42A27DB-BD31-4B8C-83A1-F6EECF244321}">
                <p14:modId xmlns:p14="http://schemas.microsoft.com/office/powerpoint/2010/main" val="1421999372"/>
              </p:ext>
            </p:extLst>
          </p:nvPr>
        </p:nvGraphicFramePr>
        <p:xfrm>
          <a:off x="2057400" y="2123399"/>
          <a:ext cx="4232275" cy="1106488"/>
        </p:xfrm>
        <a:graphic>
          <a:graphicData uri="http://schemas.openxmlformats.org/presentationml/2006/ole">
            <mc:AlternateContent xmlns:mc="http://schemas.openxmlformats.org/markup-compatibility/2006">
              <mc:Choice xmlns:v="urn:schemas-microsoft-com:vml" Requires="v">
                <p:oleObj name="Equation" r:id="rId4" imgW="1854200" imgH="482600" progId="Equation.DSMT4">
                  <p:embed/>
                </p:oleObj>
              </mc:Choice>
              <mc:Fallback>
                <p:oleObj name="Equation" r:id="rId4" imgW="1854200" imgH="482600" progId="Equation.DSMT4">
                  <p:embed/>
                  <p:pic>
                    <p:nvPicPr>
                      <p:cNvPr id="3789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123399"/>
                        <a:ext cx="423227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Picture 11">
            <a:extLst>
              <a:ext uri="{FF2B5EF4-FFF2-40B4-BE49-F238E27FC236}">
                <a16:creationId xmlns:a16="http://schemas.microsoft.com/office/drawing/2014/main" id="{3A3A6EC4-D01C-DFC6-76DC-8524541CEC19}"/>
              </a:ext>
            </a:extLst>
          </p:cNvPr>
          <p:cNvPicPr>
            <a:picLocks noChangeAspect="1"/>
          </p:cNvPicPr>
          <p:nvPr/>
        </p:nvPicPr>
        <p:blipFill>
          <a:blip r:embed="rId6"/>
          <a:stretch>
            <a:fillRect/>
          </a:stretch>
        </p:blipFill>
        <p:spPr>
          <a:xfrm>
            <a:off x="917575" y="3419175"/>
            <a:ext cx="7410450" cy="2895600"/>
          </a:xfrm>
          <a:prstGeom prst="rect">
            <a:avLst/>
          </a:prstGeom>
        </p:spPr>
      </p:pic>
    </p:spTree>
    <p:extLst>
      <p:ext uri="{BB962C8B-B14F-4D97-AF65-F5344CB8AC3E}">
        <p14:creationId xmlns:p14="http://schemas.microsoft.com/office/powerpoint/2010/main" val="3227082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edge list</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19" name="Picture 22">
            <a:extLst>
              <a:ext uri="{FF2B5EF4-FFF2-40B4-BE49-F238E27FC236}">
                <a16:creationId xmlns:a16="http://schemas.microsoft.com/office/drawing/2014/main" id="{C22F8737-312C-7F17-292D-47842423EB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605603"/>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4">
            <a:extLst>
              <a:ext uri="{FF2B5EF4-FFF2-40B4-BE49-F238E27FC236}">
                <a16:creationId xmlns:a16="http://schemas.microsoft.com/office/drawing/2014/main" id="{C97AA692-3D1C-2FFC-009A-0EC995DB2D10}"/>
              </a:ext>
            </a:extLst>
          </p:cNvPr>
          <p:cNvSpPr txBox="1">
            <a:spLocks noChangeArrowheads="1"/>
          </p:cNvSpPr>
          <p:nvPr/>
        </p:nvSpPr>
        <p:spPr bwMode="auto">
          <a:xfrm>
            <a:off x="1447800" y="3000891"/>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1" name="Text Box 14">
            <a:extLst>
              <a:ext uri="{FF2B5EF4-FFF2-40B4-BE49-F238E27FC236}">
                <a16:creationId xmlns:a16="http://schemas.microsoft.com/office/drawing/2014/main" id="{EB964451-9E40-D635-C5E3-C95BC94C9C7A}"/>
              </a:ext>
            </a:extLst>
          </p:cNvPr>
          <p:cNvSpPr txBox="1">
            <a:spLocks noChangeArrowheads="1"/>
          </p:cNvSpPr>
          <p:nvPr/>
        </p:nvSpPr>
        <p:spPr bwMode="auto">
          <a:xfrm>
            <a:off x="2438400" y="32152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2" name="Text Box 14">
            <a:extLst>
              <a:ext uri="{FF2B5EF4-FFF2-40B4-BE49-F238E27FC236}">
                <a16:creationId xmlns:a16="http://schemas.microsoft.com/office/drawing/2014/main" id="{5CCB4FFB-5D14-A32C-5278-4B1242DF4DAC}"/>
              </a:ext>
            </a:extLst>
          </p:cNvPr>
          <p:cNvSpPr txBox="1">
            <a:spLocks noChangeArrowheads="1"/>
          </p:cNvSpPr>
          <p:nvPr/>
        </p:nvSpPr>
        <p:spPr bwMode="auto">
          <a:xfrm>
            <a:off x="2133600" y="3991491"/>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3" name="Text Box 14">
            <a:extLst>
              <a:ext uri="{FF2B5EF4-FFF2-40B4-BE49-F238E27FC236}">
                <a16:creationId xmlns:a16="http://schemas.microsoft.com/office/drawing/2014/main" id="{1EE9F689-53FB-1446-1F43-27A58FC62BB4}"/>
              </a:ext>
            </a:extLst>
          </p:cNvPr>
          <p:cNvSpPr txBox="1">
            <a:spLocks noChangeArrowheads="1"/>
          </p:cNvSpPr>
          <p:nvPr/>
        </p:nvSpPr>
        <p:spPr bwMode="auto">
          <a:xfrm>
            <a:off x="3219450" y="30628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4" name="Text Box 14">
            <a:extLst>
              <a:ext uri="{FF2B5EF4-FFF2-40B4-BE49-F238E27FC236}">
                <a16:creationId xmlns:a16="http://schemas.microsoft.com/office/drawing/2014/main" id="{4EA7C4DD-30D0-1238-F3CF-96FE8A7FCC4D}"/>
              </a:ext>
            </a:extLst>
          </p:cNvPr>
          <p:cNvSpPr txBox="1">
            <a:spLocks noChangeArrowheads="1"/>
          </p:cNvSpPr>
          <p:nvPr/>
        </p:nvSpPr>
        <p:spPr bwMode="auto">
          <a:xfrm>
            <a:off x="3829050" y="32914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25" name="Table 24">
            <a:extLst>
              <a:ext uri="{FF2B5EF4-FFF2-40B4-BE49-F238E27FC236}">
                <a16:creationId xmlns:a16="http://schemas.microsoft.com/office/drawing/2014/main" id="{FC059D80-953A-06F7-858E-DF83A6F3DF7E}"/>
              </a:ext>
            </a:extLst>
          </p:cNvPr>
          <p:cNvGraphicFramePr>
            <a:graphicFrameLocks noGrp="1"/>
          </p:cNvGraphicFramePr>
          <p:nvPr>
            <p:extLst>
              <p:ext uri="{D42A27DB-BD31-4B8C-83A1-F6EECF244321}">
                <p14:modId xmlns:p14="http://schemas.microsoft.com/office/powerpoint/2010/main" val="3953050970"/>
              </p:ext>
            </p:extLst>
          </p:nvPr>
        </p:nvGraphicFramePr>
        <p:xfrm>
          <a:off x="5715000" y="2286000"/>
          <a:ext cx="1981200" cy="280404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518043">
                <a:tc>
                  <a:txBody>
                    <a:bodyPr/>
                    <a:lstStyle/>
                    <a:p>
                      <a:pPr algn="ctr"/>
                      <a:r>
                        <a:rPr lang="en-US" sz="2800" b="1" dirty="0">
                          <a:solidFill>
                            <a:srgbClr val="0000CC"/>
                          </a:solidFill>
                        </a:rPr>
                        <a:t>Start</a:t>
                      </a:r>
                    </a:p>
                  </a:txBody>
                  <a:tcPr marT="45710" marB="45710"/>
                </a:tc>
                <a:tc>
                  <a:txBody>
                    <a:bodyPr/>
                    <a:lstStyle/>
                    <a:p>
                      <a:pPr algn="ctr"/>
                      <a:r>
                        <a:rPr lang="en-US" sz="2800" b="1" dirty="0">
                          <a:solidFill>
                            <a:srgbClr val="0000CC"/>
                          </a:solidFill>
                        </a:rPr>
                        <a:t>End</a:t>
                      </a:r>
                    </a:p>
                  </a:txBody>
                  <a:tcPr marT="45710" marB="45710"/>
                </a:tc>
                <a:extLst>
                  <a:ext uri="{0D108BD9-81ED-4DB2-BD59-A6C34878D82A}">
                    <a16:rowId xmlns:a16="http://schemas.microsoft.com/office/drawing/2014/main" val="10000"/>
                  </a:ext>
                </a:extLst>
              </a:tr>
              <a:tr h="457096">
                <a:tc>
                  <a:txBody>
                    <a:bodyPr/>
                    <a:lstStyle/>
                    <a:p>
                      <a:pPr algn="ctr"/>
                      <a:r>
                        <a:rPr lang="en-US" sz="2400" b="1"/>
                        <a:t>1</a:t>
                      </a:r>
                    </a:p>
                  </a:txBody>
                  <a:tcPr marT="45710" marB="45710"/>
                </a:tc>
                <a:tc>
                  <a:txBody>
                    <a:bodyPr/>
                    <a:lstStyle/>
                    <a:p>
                      <a:pPr algn="ctr"/>
                      <a:r>
                        <a:rPr lang="en-US" sz="2400" b="1"/>
                        <a:t>3</a:t>
                      </a:r>
                    </a:p>
                  </a:txBody>
                  <a:tcPr marT="45710" marB="45710"/>
                </a:tc>
                <a:extLst>
                  <a:ext uri="{0D108BD9-81ED-4DB2-BD59-A6C34878D82A}">
                    <a16:rowId xmlns:a16="http://schemas.microsoft.com/office/drawing/2014/main" val="10001"/>
                  </a:ext>
                </a:extLst>
              </a:tr>
              <a:tr h="457096">
                <a:tc>
                  <a:txBody>
                    <a:bodyPr/>
                    <a:lstStyle/>
                    <a:p>
                      <a:pPr algn="ctr"/>
                      <a:r>
                        <a:rPr lang="en-US" sz="2400" b="1"/>
                        <a:t>4</a:t>
                      </a:r>
                    </a:p>
                  </a:txBody>
                  <a:tcPr marT="45710" marB="45710"/>
                </a:tc>
                <a:tc>
                  <a:txBody>
                    <a:bodyPr/>
                    <a:lstStyle/>
                    <a:p>
                      <a:pPr algn="ctr"/>
                      <a:r>
                        <a:rPr lang="en-US" sz="2400" b="1"/>
                        <a:t>1</a:t>
                      </a:r>
                    </a:p>
                  </a:txBody>
                  <a:tcPr marT="45710" marB="45710"/>
                </a:tc>
                <a:extLst>
                  <a:ext uri="{0D108BD9-81ED-4DB2-BD59-A6C34878D82A}">
                    <a16:rowId xmlns:a16="http://schemas.microsoft.com/office/drawing/2014/main" val="10002"/>
                  </a:ext>
                </a:extLst>
              </a:tr>
              <a:tr h="457096">
                <a:tc>
                  <a:txBody>
                    <a:bodyPr/>
                    <a:lstStyle/>
                    <a:p>
                      <a:pPr algn="ctr"/>
                      <a:r>
                        <a:rPr lang="en-US" sz="2400" b="1"/>
                        <a:t>3</a:t>
                      </a:r>
                    </a:p>
                  </a:txBody>
                  <a:tcPr marT="45710" marB="45710"/>
                </a:tc>
                <a:tc>
                  <a:txBody>
                    <a:bodyPr/>
                    <a:lstStyle/>
                    <a:p>
                      <a:pPr algn="ctr"/>
                      <a:r>
                        <a:rPr lang="en-US" sz="2400" b="1"/>
                        <a:t>4</a:t>
                      </a:r>
                    </a:p>
                  </a:txBody>
                  <a:tcPr marT="45710" marB="45710"/>
                </a:tc>
                <a:extLst>
                  <a:ext uri="{0D108BD9-81ED-4DB2-BD59-A6C34878D82A}">
                    <a16:rowId xmlns:a16="http://schemas.microsoft.com/office/drawing/2014/main" val="10003"/>
                  </a:ext>
                </a:extLst>
              </a:tr>
              <a:tr h="457096">
                <a:tc>
                  <a:txBody>
                    <a:bodyPr/>
                    <a:lstStyle/>
                    <a:p>
                      <a:pPr algn="ctr"/>
                      <a:r>
                        <a:rPr lang="en-US" sz="2400" b="1"/>
                        <a:t>4</a:t>
                      </a:r>
                    </a:p>
                  </a:txBody>
                  <a:tcPr marT="45710" marB="45710"/>
                </a:tc>
                <a:tc>
                  <a:txBody>
                    <a:bodyPr/>
                    <a:lstStyle/>
                    <a:p>
                      <a:pPr algn="ctr"/>
                      <a:r>
                        <a:rPr lang="en-US" sz="2400" b="1"/>
                        <a:t>2</a:t>
                      </a:r>
                    </a:p>
                  </a:txBody>
                  <a:tcPr marT="45710" marB="45710"/>
                </a:tc>
                <a:extLst>
                  <a:ext uri="{0D108BD9-81ED-4DB2-BD59-A6C34878D82A}">
                    <a16:rowId xmlns:a16="http://schemas.microsoft.com/office/drawing/2014/main" val="10004"/>
                  </a:ext>
                </a:extLst>
              </a:tr>
              <a:tr h="457096">
                <a:tc>
                  <a:txBody>
                    <a:bodyPr/>
                    <a:lstStyle/>
                    <a:p>
                      <a:pPr algn="ctr"/>
                      <a:r>
                        <a:rPr lang="en-US" sz="2400" b="1"/>
                        <a:t>2</a:t>
                      </a:r>
                    </a:p>
                  </a:txBody>
                  <a:tcPr marT="45710" marB="45710"/>
                </a:tc>
                <a:tc>
                  <a:txBody>
                    <a:bodyPr/>
                    <a:lstStyle/>
                    <a:p>
                      <a:pPr algn="ctr"/>
                      <a:r>
                        <a:rPr lang="en-US" sz="2400" b="1" dirty="0"/>
                        <a:t>4</a:t>
                      </a:r>
                    </a:p>
                  </a:txBody>
                  <a:tcPr marT="45710" marB="45710"/>
                </a:tc>
                <a:extLst>
                  <a:ext uri="{0D108BD9-81ED-4DB2-BD59-A6C34878D82A}">
                    <a16:rowId xmlns:a16="http://schemas.microsoft.com/office/drawing/2014/main" val="10005"/>
                  </a:ext>
                </a:extLst>
              </a:tr>
            </a:tbl>
          </a:graphicData>
        </a:graphic>
      </p:graphicFrame>
      <p:sp>
        <p:nvSpPr>
          <p:cNvPr id="26" name="Right Arrow 13">
            <a:extLst>
              <a:ext uri="{FF2B5EF4-FFF2-40B4-BE49-F238E27FC236}">
                <a16:creationId xmlns:a16="http://schemas.microsoft.com/office/drawing/2014/main" id="{78E3B277-A52A-382A-32DD-D48B827D11F8}"/>
              </a:ext>
            </a:extLst>
          </p:cNvPr>
          <p:cNvSpPr>
            <a:spLocks noChangeArrowheads="1"/>
          </p:cNvSpPr>
          <p:nvPr/>
        </p:nvSpPr>
        <p:spPr bwMode="auto">
          <a:xfrm>
            <a:off x="4572000" y="3367603"/>
            <a:ext cx="990600" cy="533400"/>
          </a:xfrm>
          <a:prstGeom prst="rightArrow">
            <a:avLst>
              <a:gd name="adj1" fmla="val 50000"/>
              <a:gd name="adj2" fmla="val 49997"/>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303122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ox(in)">
                                      <p:cBhvr>
                                        <p:cTn id="7" dur="500"/>
                                        <p:tgtEl>
                                          <p:spTgt spid="26"/>
                                        </p:tgtEl>
                                      </p:cBhvr>
                                    </p:animEffect>
                                  </p:childTnLst>
                                </p:cTn>
                              </p:par>
                              <p:par>
                                <p:cTn id="8" presetID="4" presetClass="entr" presetSubtype="16"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ox(in)">
                                      <p:cBhvr>
                                        <p:cTn id="1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857"/>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list</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8"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74" y="2263786"/>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a:spLocks noChangeArrowheads="1"/>
          </p:cNvSpPr>
          <p:nvPr/>
        </p:nvSpPr>
        <p:spPr bwMode="auto">
          <a:xfrm>
            <a:off x="6413500" y="41148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3</a:t>
            </a:r>
          </a:p>
        </p:txBody>
      </p:sp>
      <p:sp>
        <p:nvSpPr>
          <p:cNvPr id="10" name="Rectangle 9"/>
          <p:cNvSpPr>
            <a:spLocks noChangeArrowheads="1"/>
          </p:cNvSpPr>
          <p:nvPr/>
        </p:nvSpPr>
        <p:spPr bwMode="auto">
          <a:xfrm>
            <a:off x="6794500" y="41148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2" name="Straight Arrow Connector 11"/>
          <p:cNvCxnSpPr>
            <a:cxnSpLocks noChangeShapeType="1"/>
          </p:cNvCxnSpPr>
          <p:nvPr/>
        </p:nvCxnSpPr>
        <p:spPr bwMode="auto">
          <a:xfrm>
            <a:off x="6946900" y="42672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13" name="TextBox 12"/>
          <p:cNvSpPr txBox="1">
            <a:spLocks noChangeArrowheads="1"/>
          </p:cNvSpPr>
          <p:nvPr/>
        </p:nvSpPr>
        <p:spPr bwMode="auto">
          <a:xfrm>
            <a:off x="7391400" y="40941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15" name="Rectangle 14"/>
          <p:cNvSpPr>
            <a:spLocks noChangeArrowheads="1"/>
          </p:cNvSpPr>
          <p:nvPr/>
        </p:nvSpPr>
        <p:spPr bwMode="auto">
          <a:xfrm>
            <a:off x="6413500" y="45720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4</a:t>
            </a:r>
          </a:p>
        </p:txBody>
      </p:sp>
      <p:sp>
        <p:nvSpPr>
          <p:cNvPr id="16" name="Rectangle 15"/>
          <p:cNvSpPr>
            <a:spLocks noChangeArrowheads="1"/>
          </p:cNvSpPr>
          <p:nvPr/>
        </p:nvSpPr>
        <p:spPr bwMode="auto">
          <a:xfrm>
            <a:off x="6794500" y="45720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7" name="Straight Arrow Connector 16"/>
          <p:cNvCxnSpPr>
            <a:cxnSpLocks noChangeShapeType="1"/>
          </p:cNvCxnSpPr>
          <p:nvPr/>
        </p:nvCxnSpPr>
        <p:spPr bwMode="auto">
          <a:xfrm>
            <a:off x="6946900" y="47244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18" name="TextBox 17"/>
          <p:cNvSpPr txBox="1">
            <a:spLocks noChangeArrowheads="1"/>
          </p:cNvSpPr>
          <p:nvPr/>
        </p:nvSpPr>
        <p:spPr bwMode="auto">
          <a:xfrm>
            <a:off x="7391400" y="45513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20" name="Rectangle 19"/>
          <p:cNvSpPr>
            <a:spLocks noChangeArrowheads="1"/>
          </p:cNvSpPr>
          <p:nvPr/>
        </p:nvSpPr>
        <p:spPr bwMode="auto">
          <a:xfrm>
            <a:off x="6413500" y="50292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4</a:t>
            </a:r>
          </a:p>
        </p:txBody>
      </p:sp>
      <p:sp>
        <p:nvSpPr>
          <p:cNvPr id="21" name="Rectangle 20"/>
          <p:cNvSpPr>
            <a:spLocks noChangeArrowheads="1"/>
          </p:cNvSpPr>
          <p:nvPr/>
        </p:nvSpPr>
        <p:spPr bwMode="auto">
          <a:xfrm>
            <a:off x="6794500" y="50292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22" name="Straight Arrow Connector 21"/>
          <p:cNvCxnSpPr>
            <a:cxnSpLocks noChangeShapeType="1"/>
          </p:cNvCxnSpPr>
          <p:nvPr/>
        </p:nvCxnSpPr>
        <p:spPr bwMode="auto">
          <a:xfrm>
            <a:off x="6946900" y="51816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23" name="TextBox 22"/>
          <p:cNvSpPr txBox="1">
            <a:spLocks noChangeArrowheads="1"/>
          </p:cNvSpPr>
          <p:nvPr/>
        </p:nvSpPr>
        <p:spPr bwMode="auto">
          <a:xfrm>
            <a:off x="7391400" y="50085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25" name="Rectangle 24"/>
          <p:cNvSpPr>
            <a:spLocks noChangeArrowheads="1"/>
          </p:cNvSpPr>
          <p:nvPr/>
        </p:nvSpPr>
        <p:spPr bwMode="auto">
          <a:xfrm>
            <a:off x="64135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1</a:t>
            </a:r>
          </a:p>
        </p:txBody>
      </p:sp>
      <p:sp>
        <p:nvSpPr>
          <p:cNvPr id="26" name="Rectangle 25"/>
          <p:cNvSpPr>
            <a:spLocks noChangeArrowheads="1"/>
          </p:cNvSpPr>
          <p:nvPr/>
        </p:nvSpPr>
        <p:spPr bwMode="auto">
          <a:xfrm>
            <a:off x="67945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27" name="Straight Arrow Connector 26"/>
          <p:cNvCxnSpPr>
            <a:cxnSpLocks noChangeShapeType="1"/>
          </p:cNvCxnSpPr>
          <p:nvPr/>
        </p:nvCxnSpPr>
        <p:spPr bwMode="auto">
          <a:xfrm>
            <a:off x="69469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28" name="TextBox 27"/>
          <p:cNvSpPr txBox="1">
            <a:spLocks noChangeArrowheads="1"/>
          </p:cNvSpPr>
          <p:nvPr/>
        </p:nvSpPr>
        <p:spPr bwMode="auto">
          <a:xfrm>
            <a:off x="8458200" y="54530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33" name="Rectangle 32"/>
          <p:cNvSpPr>
            <a:spLocks noChangeArrowheads="1"/>
          </p:cNvSpPr>
          <p:nvPr/>
        </p:nvSpPr>
        <p:spPr bwMode="auto">
          <a:xfrm>
            <a:off x="74676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2</a:t>
            </a:r>
          </a:p>
        </p:txBody>
      </p:sp>
      <p:sp>
        <p:nvSpPr>
          <p:cNvPr id="34" name="Rectangle 33"/>
          <p:cNvSpPr>
            <a:spLocks noChangeArrowheads="1"/>
          </p:cNvSpPr>
          <p:nvPr/>
        </p:nvSpPr>
        <p:spPr bwMode="auto">
          <a:xfrm>
            <a:off x="78486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35" name="Straight Arrow Connector 34"/>
          <p:cNvCxnSpPr>
            <a:cxnSpLocks noChangeShapeType="1"/>
          </p:cNvCxnSpPr>
          <p:nvPr/>
        </p:nvCxnSpPr>
        <p:spPr bwMode="auto">
          <a:xfrm>
            <a:off x="80010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36" name="Rectangle 35"/>
          <p:cNvSpPr>
            <a:spLocks noChangeArrowheads="1"/>
          </p:cNvSpPr>
          <p:nvPr/>
        </p:nvSpPr>
        <p:spPr bwMode="auto">
          <a:xfrm>
            <a:off x="5715000" y="40386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7" name="Rectangle 36"/>
          <p:cNvSpPr>
            <a:spLocks noChangeArrowheads="1"/>
          </p:cNvSpPr>
          <p:nvPr/>
        </p:nvSpPr>
        <p:spPr bwMode="auto">
          <a:xfrm>
            <a:off x="5715000" y="44958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8" name="Rectangle 37"/>
          <p:cNvSpPr>
            <a:spLocks noChangeArrowheads="1"/>
          </p:cNvSpPr>
          <p:nvPr/>
        </p:nvSpPr>
        <p:spPr bwMode="auto">
          <a:xfrm>
            <a:off x="5715000" y="49530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9" name="Rectangle 38"/>
          <p:cNvSpPr>
            <a:spLocks noChangeArrowheads="1"/>
          </p:cNvSpPr>
          <p:nvPr/>
        </p:nvSpPr>
        <p:spPr bwMode="auto">
          <a:xfrm>
            <a:off x="5715000" y="54102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40" name="TextBox 39"/>
          <p:cNvSpPr txBox="1">
            <a:spLocks noChangeArrowheads="1"/>
          </p:cNvSpPr>
          <p:nvPr/>
        </p:nvSpPr>
        <p:spPr bwMode="auto">
          <a:xfrm>
            <a:off x="5181600" y="41148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1</a:t>
            </a:r>
          </a:p>
        </p:txBody>
      </p:sp>
      <p:sp>
        <p:nvSpPr>
          <p:cNvPr id="41" name="TextBox 40"/>
          <p:cNvSpPr txBox="1">
            <a:spLocks noChangeArrowheads="1"/>
          </p:cNvSpPr>
          <p:nvPr/>
        </p:nvSpPr>
        <p:spPr bwMode="auto">
          <a:xfrm>
            <a:off x="5181600" y="45720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2</a:t>
            </a:r>
          </a:p>
        </p:txBody>
      </p:sp>
      <p:sp>
        <p:nvSpPr>
          <p:cNvPr id="42" name="TextBox 41"/>
          <p:cNvSpPr txBox="1">
            <a:spLocks noChangeArrowheads="1"/>
          </p:cNvSpPr>
          <p:nvPr/>
        </p:nvSpPr>
        <p:spPr bwMode="auto">
          <a:xfrm>
            <a:off x="5181600" y="50292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3</a:t>
            </a:r>
          </a:p>
        </p:txBody>
      </p:sp>
      <p:sp>
        <p:nvSpPr>
          <p:cNvPr id="43" name="TextBox 42"/>
          <p:cNvSpPr txBox="1">
            <a:spLocks noChangeArrowheads="1"/>
          </p:cNvSpPr>
          <p:nvPr/>
        </p:nvSpPr>
        <p:spPr bwMode="auto">
          <a:xfrm>
            <a:off x="5181600" y="54864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FF0000"/>
                </a:solidFill>
                <a:effectLst/>
                <a:uLnTx/>
                <a:uFillTx/>
                <a:latin typeface="Arial" charset="0"/>
                <a:cs typeface="Arial" charset="0"/>
              </a:rPr>
              <a:t>4</a:t>
            </a:r>
          </a:p>
        </p:txBody>
      </p:sp>
      <p:sp>
        <p:nvSpPr>
          <p:cNvPr id="44" name="Right Arrow 43"/>
          <p:cNvSpPr>
            <a:spLocks noChangeArrowheads="1"/>
          </p:cNvSpPr>
          <p:nvPr/>
        </p:nvSpPr>
        <p:spPr bwMode="auto">
          <a:xfrm rot="1521604">
            <a:off x="3773451" y="4061536"/>
            <a:ext cx="990600" cy="533400"/>
          </a:xfrm>
          <a:prstGeom prst="rightArrow">
            <a:avLst>
              <a:gd name="adj1" fmla="val 50000"/>
              <a:gd name="adj2" fmla="val 47548"/>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4" name="Straight Arrow Connector 13"/>
          <p:cNvCxnSpPr>
            <a:cxnSpLocks noChangeShapeType="1"/>
          </p:cNvCxnSpPr>
          <p:nvPr/>
        </p:nvCxnSpPr>
        <p:spPr bwMode="auto">
          <a:xfrm>
            <a:off x="5867400" y="42672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19" name="Straight Arrow Connector 18"/>
          <p:cNvCxnSpPr>
            <a:cxnSpLocks noChangeShapeType="1"/>
          </p:cNvCxnSpPr>
          <p:nvPr/>
        </p:nvCxnSpPr>
        <p:spPr bwMode="auto">
          <a:xfrm>
            <a:off x="5867400" y="47244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24" name="Straight Arrow Connector 23"/>
          <p:cNvCxnSpPr>
            <a:cxnSpLocks noChangeShapeType="1"/>
          </p:cNvCxnSpPr>
          <p:nvPr/>
        </p:nvCxnSpPr>
        <p:spPr bwMode="auto">
          <a:xfrm>
            <a:off x="5867400" y="51816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29" name="Straight Arrow Connector 28"/>
          <p:cNvCxnSpPr>
            <a:cxnSpLocks noChangeShapeType="1"/>
          </p:cNvCxnSpPr>
          <p:nvPr/>
        </p:nvCxnSpPr>
        <p:spPr bwMode="auto">
          <a:xfrm>
            <a:off x="58674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07939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ox(in)">
                                      <p:cBhvr>
                                        <p:cTn id="12" dur="500"/>
                                        <p:tgtEl>
                                          <p:spTgt spid="36"/>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box(in)">
                                      <p:cBhvr>
                                        <p:cTn id="15" dur="500"/>
                                        <p:tgtEl>
                                          <p:spTgt spid="37"/>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box(in)">
                                      <p:cBhvr>
                                        <p:cTn id="18" dur="500"/>
                                        <p:tgtEl>
                                          <p:spTgt spid="38"/>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box(in)">
                                      <p:cBhvr>
                                        <p:cTn id="21" dur="500"/>
                                        <p:tgtEl>
                                          <p:spTgt spid="39"/>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box(in)">
                                      <p:cBhvr>
                                        <p:cTn id="24" dur="500"/>
                                        <p:tgtEl>
                                          <p:spTgt spid="44"/>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box(in)">
                                      <p:cBhvr>
                                        <p:cTn id="27" dur="500"/>
                                        <p:tgtEl>
                                          <p:spTgt spid="40"/>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box(in)">
                                      <p:cBhvr>
                                        <p:cTn id="30" dur="500"/>
                                        <p:tgtEl>
                                          <p:spTgt spid="41"/>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box(in)">
                                      <p:cBhvr>
                                        <p:cTn id="33" dur="500"/>
                                        <p:tgtEl>
                                          <p:spTgt spid="42"/>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box(in)">
                                      <p:cBhvr>
                                        <p:cTn id="36" dur="500"/>
                                        <p:tgtEl>
                                          <p:spTgt spid="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ox(in)">
                                      <p:cBhvr>
                                        <p:cTn id="41" dur="500"/>
                                        <p:tgtEl>
                                          <p:spTgt spid="9"/>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box(in)">
                                      <p:cBhvr>
                                        <p:cTn id="44" dur="500"/>
                                        <p:tgtEl>
                                          <p:spTgt spid="10"/>
                                        </p:tgtEl>
                                      </p:cBhvr>
                                    </p:animEffect>
                                  </p:childTnLst>
                                </p:cTn>
                              </p:par>
                              <p:par>
                                <p:cTn id="45" presetID="4" presetClass="entr" presetSubtype="16"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ox(in)">
                                      <p:cBhvr>
                                        <p:cTn id="47" dur="500"/>
                                        <p:tgtEl>
                                          <p:spTgt spid="12"/>
                                        </p:tgtEl>
                                      </p:cBhvr>
                                    </p:animEffect>
                                  </p:childTnLst>
                                </p:cTn>
                              </p:par>
                              <p:par>
                                <p:cTn id="48" presetID="4" presetClass="entr" presetSubtype="16"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ox(in)">
                                      <p:cBhvr>
                                        <p:cTn id="50" dur="500"/>
                                        <p:tgtEl>
                                          <p:spTgt spid="14"/>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box(in)">
                                      <p:cBhvr>
                                        <p:cTn id="53" dur="500"/>
                                        <p:tgtEl>
                                          <p:spTgt spid="1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box(in)">
                                      <p:cBhvr>
                                        <p:cTn id="58" dur="500"/>
                                        <p:tgtEl>
                                          <p:spTgt spid="15"/>
                                        </p:tgtEl>
                                      </p:cBhvr>
                                    </p:animEffect>
                                  </p:childTnLst>
                                </p:cTn>
                              </p:par>
                              <p:par>
                                <p:cTn id="59" presetID="4" presetClass="entr" presetSubtype="16"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box(in)">
                                      <p:cBhvr>
                                        <p:cTn id="61" dur="500"/>
                                        <p:tgtEl>
                                          <p:spTgt spid="16"/>
                                        </p:tgtEl>
                                      </p:cBhvr>
                                    </p:animEffect>
                                  </p:childTnLst>
                                </p:cTn>
                              </p:par>
                              <p:par>
                                <p:cTn id="62" presetID="4" presetClass="entr" presetSubtype="16"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box(in)">
                                      <p:cBhvr>
                                        <p:cTn id="64" dur="500"/>
                                        <p:tgtEl>
                                          <p:spTgt spid="17"/>
                                        </p:tgtEl>
                                      </p:cBhvr>
                                    </p:animEffect>
                                  </p:childTnLst>
                                </p:cTn>
                              </p:par>
                              <p:par>
                                <p:cTn id="65" presetID="4" presetClass="entr" presetSubtype="16"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ox(in)">
                                      <p:cBhvr>
                                        <p:cTn id="67" dur="500"/>
                                        <p:tgtEl>
                                          <p:spTgt spid="19"/>
                                        </p:tgtEl>
                                      </p:cBhvr>
                                    </p:animEffect>
                                  </p:childTnLst>
                                </p:cTn>
                              </p:par>
                              <p:par>
                                <p:cTn id="68" presetID="4" presetClass="entr" presetSubtype="16"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box(in)">
                                      <p:cBhvr>
                                        <p:cTn id="70" dur="500"/>
                                        <p:tgtEl>
                                          <p:spTgt spid="1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box(in)">
                                      <p:cBhvr>
                                        <p:cTn id="75" dur="500"/>
                                        <p:tgtEl>
                                          <p:spTgt spid="20"/>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box(in)">
                                      <p:cBhvr>
                                        <p:cTn id="78" dur="500"/>
                                        <p:tgtEl>
                                          <p:spTgt spid="21"/>
                                        </p:tgtEl>
                                      </p:cBhvr>
                                    </p:animEffect>
                                  </p:childTnLst>
                                </p:cTn>
                              </p:par>
                              <p:par>
                                <p:cTn id="79" presetID="4" presetClass="entr" presetSubtype="16"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box(in)">
                                      <p:cBhvr>
                                        <p:cTn id="81" dur="500"/>
                                        <p:tgtEl>
                                          <p:spTgt spid="22"/>
                                        </p:tgtEl>
                                      </p:cBhvr>
                                    </p:animEffect>
                                  </p:childTnLst>
                                </p:cTn>
                              </p:par>
                              <p:par>
                                <p:cTn id="82" presetID="4" presetClass="entr" presetSubtype="16"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box(in)">
                                      <p:cBhvr>
                                        <p:cTn id="84" dur="500"/>
                                        <p:tgtEl>
                                          <p:spTgt spid="23"/>
                                        </p:tgtEl>
                                      </p:cBhvr>
                                    </p:animEffect>
                                  </p:childTnLst>
                                </p:cTn>
                              </p:par>
                              <p:par>
                                <p:cTn id="85" presetID="4" presetClass="entr" presetSubtype="16"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box(in)">
                                      <p:cBhvr>
                                        <p:cTn id="87" dur="500"/>
                                        <p:tgtEl>
                                          <p:spTgt spid="2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box(in)">
                                      <p:cBhvr>
                                        <p:cTn id="92" dur="500"/>
                                        <p:tgtEl>
                                          <p:spTgt spid="25"/>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box(in)">
                                      <p:cBhvr>
                                        <p:cTn id="95" dur="500"/>
                                        <p:tgtEl>
                                          <p:spTgt spid="26"/>
                                        </p:tgtEl>
                                      </p:cBhvr>
                                    </p:animEffect>
                                  </p:childTnLst>
                                </p:cTn>
                              </p:par>
                              <p:par>
                                <p:cTn id="96" presetID="4" presetClass="entr" presetSubtype="16" fill="hold"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box(in)">
                                      <p:cBhvr>
                                        <p:cTn id="98" dur="500"/>
                                        <p:tgtEl>
                                          <p:spTgt spid="27"/>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box(in)">
                                      <p:cBhvr>
                                        <p:cTn id="101" dur="500"/>
                                        <p:tgtEl>
                                          <p:spTgt spid="33"/>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box(in)">
                                      <p:cBhvr>
                                        <p:cTn id="104" dur="500"/>
                                        <p:tgtEl>
                                          <p:spTgt spid="34"/>
                                        </p:tgtEl>
                                      </p:cBhvr>
                                    </p:animEffect>
                                  </p:childTnLst>
                                </p:cTn>
                              </p:par>
                              <p:par>
                                <p:cTn id="105" presetID="4" presetClass="entr" presetSubtype="16" fill="hold"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box(in)">
                                      <p:cBhvr>
                                        <p:cTn id="107" dur="500"/>
                                        <p:tgtEl>
                                          <p:spTgt spid="35"/>
                                        </p:tgtEl>
                                      </p:cBhvr>
                                    </p:animEffect>
                                  </p:childTnLst>
                                </p:cTn>
                              </p:par>
                              <p:par>
                                <p:cTn id="108" presetID="4" presetClass="entr" presetSubtype="16" fill="hold" nodeType="with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box(in)">
                                      <p:cBhvr>
                                        <p:cTn id="110" dur="500"/>
                                        <p:tgtEl>
                                          <p:spTgt spid="29"/>
                                        </p:tgtEl>
                                      </p:cBhvr>
                                    </p:animEffect>
                                  </p:childTnLst>
                                </p:cTn>
                              </p:par>
                              <p:par>
                                <p:cTn id="111" presetID="4" presetClass="entr" presetSubtype="16" fill="hold" grpId="0" nodeType="with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box(in)">
                                      <p:cBhvr>
                                        <p:cTn id="1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p:bldP spid="15" grpId="0" animBg="1"/>
      <p:bldP spid="16" grpId="0" animBg="1"/>
      <p:bldP spid="18" grpId="0"/>
      <p:bldP spid="20" grpId="0" animBg="1"/>
      <p:bldP spid="21" grpId="0" animBg="1"/>
      <p:bldP spid="23" grpId="0"/>
      <p:bldP spid="25" grpId="0" animBg="1"/>
      <p:bldP spid="26" grpId="0" animBg="1"/>
      <p:bldP spid="28" grpId="0"/>
      <p:bldP spid="33" grpId="0" animBg="1"/>
      <p:bldP spid="34" grpId="0" animBg="1"/>
      <p:bldP spid="36" grpId="0" animBg="1"/>
      <p:bldP spid="37" grpId="0" animBg="1"/>
      <p:bldP spid="38" grpId="0" animBg="1"/>
      <p:bldP spid="39" grpId="0" animBg="1"/>
      <p:bldP spid="40" grpId="0"/>
      <p:bldP spid="41" grpId="0"/>
      <p:bldP spid="42" grpId="0"/>
      <p:bldP spid="43" grpId="0"/>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6.1.3.Some special graphs.</a:t>
            </a:r>
          </a:p>
          <a:p>
            <a:pPr algn="just">
              <a:lnSpc>
                <a:spcPct val="200000"/>
              </a:lnSpc>
              <a:defRPr/>
            </a:pPr>
            <a:r>
              <a:rPr lang="en-US" sz="1900" b="1" dirty="0">
                <a:solidFill>
                  <a:schemeClr val="tx2"/>
                </a:solidFill>
                <a:latin typeface="Times New Roman" pitchFamily="18" charset="0"/>
                <a:cs typeface="Times New Roman" pitchFamily="18" charset="0"/>
              </a:rPr>
              <a:t>A complete graph </a:t>
            </a:r>
            <a:r>
              <a:rPr lang="en-US" sz="1900" dirty="0">
                <a:solidFill>
                  <a:schemeClr val="tx2"/>
                </a:solidFill>
                <a:latin typeface="Times New Roman" pitchFamily="18" charset="0"/>
                <a:cs typeface="Times New Roman" pitchFamily="18" charset="0"/>
              </a:rPr>
              <a:t>is a simple undirected graph in which every pair of distinct vertices is connected by a unique edge. A complete digraph is a directed graph in which every pair of distinct vertices is connected by a pair of unique edges</a:t>
            </a:r>
          </a:p>
        </p:txBody>
      </p:sp>
      <p:pic>
        <p:nvPicPr>
          <p:cNvPr id="1026" name="Picture 2" descr="Complete Graph -- from Wolfram MathWorld">
            <a:extLst>
              <a:ext uri="{FF2B5EF4-FFF2-40B4-BE49-F238E27FC236}">
                <a16:creationId xmlns:a16="http://schemas.microsoft.com/office/drawing/2014/main" id="{4E572E08-E0E0-874A-2843-4BA7149455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0549" y="3287444"/>
            <a:ext cx="4008651" cy="30847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C5D2659-5F5D-593A-E145-E966A2BF407F}"/>
              </a:ext>
            </a:extLst>
          </p:cNvPr>
          <p:cNvPicPr>
            <a:picLocks noChangeAspect="1"/>
          </p:cNvPicPr>
          <p:nvPr/>
        </p:nvPicPr>
        <p:blipFill rotWithShape="1">
          <a:blip r:embed="rId5"/>
          <a:srcRect r="28388"/>
          <a:stretch/>
        </p:blipFill>
        <p:spPr>
          <a:xfrm>
            <a:off x="304800" y="3759312"/>
            <a:ext cx="4008651" cy="1504979"/>
          </a:xfrm>
          <a:prstGeom prst="rect">
            <a:avLst/>
          </a:prstGeom>
        </p:spPr>
      </p:pic>
    </p:spTree>
    <p:extLst>
      <p:ext uri="{BB962C8B-B14F-4D97-AF65-F5344CB8AC3E}">
        <p14:creationId xmlns:p14="http://schemas.microsoft.com/office/powerpoint/2010/main" val="1852111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4102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6.1.3.Some special graphs.</a:t>
            </a:r>
          </a:p>
          <a:p>
            <a:pPr algn="just">
              <a:lnSpc>
                <a:spcPct val="200000"/>
              </a:lnSpc>
              <a:defRPr/>
            </a:pPr>
            <a:r>
              <a:rPr lang="en-US" sz="1900" b="1" dirty="0">
                <a:solidFill>
                  <a:schemeClr val="tx2"/>
                </a:solidFill>
                <a:latin typeface="Times New Roman" pitchFamily="18" charset="0"/>
                <a:cs typeface="Times New Roman" pitchFamily="18" charset="0"/>
              </a:rPr>
              <a:t>a bipartite graph (or </a:t>
            </a:r>
            <a:r>
              <a:rPr lang="en-US" sz="1900" b="1" dirty="0" err="1">
                <a:solidFill>
                  <a:schemeClr val="tx2"/>
                </a:solidFill>
                <a:latin typeface="Times New Roman" pitchFamily="18" charset="0"/>
                <a:cs typeface="Times New Roman" pitchFamily="18" charset="0"/>
              </a:rPr>
              <a:t>bigraph</a:t>
            </a:r>
            <a:r>
              <a:rPr lang="en-US" sz="1900" b="1"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is a graph whose vertices can be divided into two disjoint and independent sets U and V, that is, every edge connects a vertex in U to one in </a:t>
            </a:r>
          </a:p>
          <a:p>
            <a:pPr algn="just">
              <a:lnSpc>
                <a:spcPct val="200000"/>
              </a:lnSpc>
              <a:defRPr/>
            </a:pPr>
            <a:r>
              <a:rPr lang="en-US" sz="1900" dirty="0">
                <a:solidFill>
                  <a:schemeClr val="tx2"/>
                </a:solidFill>
                <a:latin typeface="Times New Roman" pitchFamily="18" charset="0"/>
                <a:cs typeface="Times New Roman" pitchFamily="18" charset="0"/>
              </a:rPr>
              <a:t>V. Vertex sets U and V are usually called the parts of the graph.</a:t>
            </a:r>
          </a:p>
        </p:txBody>
      </p:sp>
      <p:pic>
        <p:nvPicPr>
          <p:cNvPr id="9226" name="Picture 10" descr="Giải Thuật Lập Trình · Một số ứng dụng của cặp ghép trong đồ thị hai phía —  Applications of Bipartite Matching">
            <a:extLst>
              <a:ext uri="{FF2B5EF4-FFF2-40B4-BE49-F238E27FC236}">
                <a16:creationId xmlns:a16="http://schemas.microsoft.com/office/drawing/2014/main" id="{F96AC420-2C94-BFB8-8B56-78DFD8326C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275896"/>
            <a:ext cx="6400800" cy="3130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628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15" name="Title 1"/>
          <p:cNvSpPr txBox="1">
            <a:spLocks/>
          </p:cNvSpPr>
          <p:nvPr/>
        </p:nvSpPr>
        <p:spPr>
          <a:xfrm>
            <a:off x="528851" y="2450665"/>
            <a:ext cx="7772400" cy="68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sz="3200" dirty="0">
                <a:solidFill>
                  <a:schemeClr val="tx2"/>
                </a:solidFill>
                <a:latin typeface="Times New Roman" panose="02020603050405020304" pitchFamily="18" charset="0"/>
                <a:ea typeface="굴림" pitchFamily="34" charset="-127"/>
                <a:cs typeface="Times New Roman" panose="02020603050405020304" pitchFamily="18" charset="0"/>
              </a:rPr>
              <a:t>THANK YOU!</a:t>
            </a:r>
          </a:p>
        </p:txBody>
      </p:sp>
      <p:sp>
        <p:nvSpPr>
          <p:cNvPr id="9" name="Rectangle 2">
            <a:extLst>
              <a:ext uri="{FF2B5EF4-FFF2-40B4-BE49-F238E27FC236}">
                <a16:creationId xmlns:a16="http://schemas.microsoft.com/office/drawing/2014/main" id="{6BE994F5-821C-499E-8BCE-89F9FB45EF5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67807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54093</TotalTime>
  <Words>1905</Words>
  <Application>Microsoft Office PowerPoint</Application>
  <PresentationFormat>On-screen Show (4:3)</PresentationFormat>
  <Paragraphs>277</Paragraphs>
  <Slides>26</Slides>
  <Notes>26</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1" baseType="lpstr">
      <vt:lpstr>Arial</vt:lpstr>
      <vt:lpstr>Calibri</vt:lpstr>
      <vt:lpstr>Times New Roman</vt:lpstr>
      <vt:lpstr>Office Theme</vt:lpstr>
      <vt:lpstr>Equation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HNBach</dc:creator>
  <cp:lastModifiedBy>Nguyen Le Phu</cp:lastModifiedBy>
  <cp:revision>845</cp:revision>
  <cp:lastPrinted>2019-07-29T14:20:40Z</cp:lastPrinted>
  <dcterms:created xsi:type="dcterms:W3CDTF">2010-12-10T06:50:09Z</dcterms:created>
  <dcterms:modified xsi:type="dcterms:W3CDTF">2023-08-22T07:23:02Z</dcterms:modified>
</cp:coreProperties>
</file>