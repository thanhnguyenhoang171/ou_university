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5">
  <p:sldMasterIdLst>
    <p:sldMasterId id="2147483720" r:id="rId1"/>
  </p:sldMasterIdLst>
  <p:notesMasterIdLst>
    <p:notesMasterId r:id="rId36"/>
  </p:notesMasterIdLst>
  <p:handoutMasterIdLst>
    <p:handoutMasterId r:id="rId37"/>
  </p:handoutMasterIdLst>
  <p:sldIdLst>
    <p:sldId id="258" r:id="rId2"/>
    <p:sldId id="336" r:id="rId3"/>
    <p:sldId id="338" r:id="rId4"/>
    <p:sldId id="339" r:id="rId5"/>
    <p:sldId id="341" r:id="rId6"/>
    <p:sldId id="342" r:id="rId7"/>
    <p:sldId id="344" r:id="rId8"/>
    <p:sldId id="345" r:id="rId9"/>
    <p:sldId id="346" r:id="rId10"/>
    <p:sldId id="347" r:id="rId11"/>
    <p:sldId id="348" r:id="rId12"/>
    <p:sldId id="349" r:id="rId13"/>
    <p:sldId id="350" r:id="rId14"/>
    <p:sldId id="351" r:id="rId15"/>
    <p:sldId id="352" r:id="rId16"/>
    <p:sldId id="353" r:id="rId17"/>
    <p:sldId id="354" r:id="rId18"/>
    <p:sldId id="355" r:id="rId19"/>
    <p:sldId id="356" r:id="rId20"/>
    <p:sldId id="357" r:id="rId21"/>
    <p:sldId id="358" r:id="rId22"/>
    <p:sldId id="359" r:id="rId23"/>
    <p:sldId id="360" r:id="rId24"/>
    <p:sldId id="361" r:id="rId25"/>
    <p:sldId id="362" r:id="rId26"/>
    <p:sldId id="363" r:id="rId27"/>
    <p:sldId id="364" r:id="rId28"/>
    <p:sldId id="365" r:id="rId29"/>
    <p:sldId id="366" r:id="rId30"/>
    <p:sldId id="367" r:id="rId31"/>
    <p:sldId id="368" r:id="rId32"/>
    <p:sldId id="369" r:id="rId33"/>
    <p:sldId id="370" r:id="rId34"/>
    <p:sldId id="330" r:id="rId3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hu-Nguyen Le" initials="Nguyen" lastIdx="1" clrIdx="0">
    <p:extLst>
      <p:ext uri="{19B8F6BF-5375-455C-9EA6-DF929625EA0E}">
        <p15:presenceInfo xmlns:p15="http://schemas.microsoft.com/office/powerpoint/2012/main" userId="Phu-Nguyen Le" providerId="None"/>
      </p:ext>
    </p:extLst>
  </p:cmAuthor>
  <p:cmAuthor id="2" name="Le Phu Nguyen 9 (FE FPTU HCM)" initials="LPN9(FH" lastIdx="1" clrIdx="1">
    <p:extLst>
      <p:ext uri="{19B8F6BF-5375-455C-9EA6-DF929625EA0E}">
        <p15:presenceInfo xmlns:p15="http://schemas.microsoft.com/office/powerpoint/2012/main" userId="S::NguyenLP9@fe.edu.vn::bbb81211-4ff1-43ef-ac74-d6c9e8530ca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81053" autoAdjust="0"/>
  </p:normalViewPr>
  <p:slideViewPr>
    <p:cSldViewPr>
      <p:cViewPr varScale="1">
        <p:scale>
          <a:sx n="70" d="100"/>
          <a:sy n="70" d="100"/>
        </p:scale>
        <p:origin x="197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B7F59-6753-4196-822E-EC8E52288DF6}" type="datetimeFigureOut">
              <a:rPr lang="en-US" smtClean="0"/>
              <a:t>6/14/2023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EA5F6A-FB32-4B7D-8C78-661A7CCB1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4906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3-06-14T06:03:13.0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6032 12947 0,'0'35'78,"0"0"-63,0 18 1,0 36 0,0-72-16,0 71 15,0-17 1,0-18-1,0 70 1,0-87 0,0-19 31,0 19-32</inkml:trace>
  <inkml:trace contextRef="#ctx0" brushRef="#br0" timeOffset="1855.78">6350 12876 0,'-18'0'16,"-17"0"15,17 0-15,-52 18-1,52-18-15,-52 18 16,52-1 0,-17 36-16,-36 35 15,-17 1 1,35-36 0,35 17-1,18 1 1,-17 17 15,17-18-15,-18-34-1,36-19 1,35 54 0,-18-18-1,18 35 1,17 0-1,-17-70 1,0-18 0,53-18-1,-35 18 1,-54-17-16,72-19 16,-37-17-1,-16-35 1,17-35-1,-53 34 17,0-34-17,0 17 1,-18 36 0,-17-19-1,-1 36 1,-16-17-1,-1 52 1,17-35 0</inkml:trace>
  <inkml:trace contextRef="#ctx0" brushRef="#br0" timeOffset="4189.22">6826 12947 0,'0'0'16,"0"53"-16,0-36 0,-35 142 16,35-88-1,0-18 1,0 35 15,0-18-15,0-52-1,0 17 17,0 1-17,-18-36 63,-17-36-78,35 19 16,-18-1-16,18-123 16,0-71-1,18 36 1,0 105-1,-18 54-15</inkml:trace>
  <inkml:trace contextRef="#ctx0" brushRef="#br0" timeOffset="4704.43">6826 12788 0,'0'0'0,"88"18"15,-52 17 1,17 53 0,-53 0-1,0 1 1,-89 52 0,54-53-1,-35-70 1,34-18 15,-17 0-15,-17 0-1,87 17 63,1 1-62,0-18 0,17 35-16,0-17 15,54-18 1,-37 0 0,-34 0-1</inkml:trace>
  <inkml:trace contextRef="#ctx0" brushRef="#br0" timeOffset="6705.69">7267 13406 0,'0'0'16,"18"0"-16,88-89 15,-36-16 1,18-37 0,-88 37-1,0 34 1,-17 36-1,-18 17 17,-36 18-17,-35 0 1,0 88 0,18-70-1,88 35 1,0 35-1,0-53 1,0 18 0,53-53-1,-35 0 1,70 0 0,35 0-1,-34 0 1,-1-17-1,-35-19 1</inkml:trace>
  <inkml:trace contextRef="#ctx0" brushRef="#br0" timeOffset="7270.61">7708 12665 0,'0'70'125,"0"-52"-125,0 35 16,-35 176-1,35-176-15,-18 123 16,18-17 0,0-71-1,0-70 1,0 0-1,18-18 32,35-36-47,53 19 16,-89 17 0,-17 17 15,0 1-31,0 0 15,0 35 1,0-36-16,-17 18 31</inkml:trace>
  <inkml:trace contextRef="#ctx0" brushRef="#br0" timeOffset="7721.04">8026 13370 0,'53'0'0,"-106"0"0,123 18 0,-52-18 0,52 0 31,1 0-15,-71 35 31,0 18-32,-35 106 1,-1 0 0,1-71-1,35-18 1,0-52 0,18-18-1,-1 0 1,125-123-1,52-54 1,-89 71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B20E61B-F2E8-4F3A-8F1B-F054E0560D27}" type="datetimeFigureOut">
              <a:rPr lang="en-US" smtClean="0"/>
              <a:pPr/>
              <a:t>6/14/2023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D95EC57-C814-4592-A4AB-B8F918BE7C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1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54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8203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example, f(2; 3; 1/ 2) g is a set with exactly three members: the integers 2 and 3, and the rational number 1/ 2 .</a:t>
            </a:r>
          </a:p>
          <a:p>
            <a:r>
              <a:rPr lang="en-US" dirty="0"/>
              <a:t> No other objects are in this set</a:t>
            </a:r>
          </a:p>
          <a:p>
            <a:r>
              <a:rPr lang="en-US" dirty="0"/>
              <a:t>. All of the following sets are the same: f2; 3; 1 2 g f3; 1 2 ; 2g f2; 2; 3; 1 2 g: </a:t>
            </a:r>
          </a:p>
          <a:p>
            <a:r>
              <a:rPr lang="en-US" dirty="0"/>
              <a:t>It does not matter in what order we list the objects, nor does it matter if we repeat an object. </a:t>
            </a:r>
          </a:p>
          <a:p>
            <a:r>
              <a:rPr lang="en-US" dirty="0"/>
              <a:t>All that matters is what objects are members of the set and what objects are not. </a:t>
            </a:r>
          </a:p>
          <a:p>
            <a:r>
              <a:rPr lang="en-US" dirty="0"/>
              <a:t>In this example, exactly three objects are members of the set; no other objects are members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475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notation x </a:t>
                </a: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means that the object x is a member of the set A. </a:t>
                </a:r>
              </a:p>
              <a:p>
                <a:endParaRPr lang="en-US" sz="12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example, 2 2 f2; 3; 1 2 g is true, but 5 2 f2; 3; 1 2 g is false.</a:t>
                </a: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the latter case, we can write 5 … f2; 3; 1 2 g; </a:t>
                </a: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notation x … A means x is not an element of A. </a:t>
                </a: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read aloud, 2 is pronounced “is a member of” or “is an element of” or “is in.”</a:t>
                </a: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Often mathematicians write, “If x 2 Z, then. . . .” </a:t>
                </a: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means exactly the same thing as “If x is an integer, then. . . .”</a:t>
                </a: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However, the 2 symbol can also stand for “be a member of” or “be in.” </a:t>
                </a: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example, if we write “Let x 2 Z,” we mean “Let x be a member of Z” or, more prosaically, “Let x be an integer.”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(The cardinality of A )is simply the stand for the cardinality or size of the set (i.e., the number of elements in that set). An alternative notation for the cardinality of a set is #A. number of objects in the set. The cardinality of the set f2; 3; 1 2 g is 3. The cardinality of Z is infinite. We also call </a:t>
                </a:r>
                <a:r>
                  <a:rPr lang="en-US" sz="1200" dirty="0" err="1"/>
                  <a:t>jAj</a:t>
                </a:r>
                <a:r>
                  <a:rPr lang="en-US" sz="1200" dirty="0"/>
                  <a:t> the size of the set A.</a:t>
                </a:r>
                <a:endParaRPr lang="en-US" sz="12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notation x </a:t>
                </a:r>
                <a:r>
                  <a:rPr lang="en-US" sz="1200" i="0" dirty="0">
                    <a:solidFill>
                      <a:schemeClr val="tx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∈</a:t>
                </a:r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means that the object x is a member of the set A. </a:t>
                </a:r>
              </a:p>
              <a:p>
                <a:endParaRPr lang="en-US" sz="12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example, 2 2 f2; 3; 1 2 g is true, but 5 2 f2; 3; 1 2 g is false.</a:t>
                </a: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the latter case, we can write 5 … f2; 3; 1 2 g; </a:t>
                </a: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notation x … A means x is not an element of A. </a:t>
                </a: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read aloud, 2 is pronounced “is a member of” or “is an element of” or “is in.”</a:t>
                </a: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Often mathematicians write, “If x 2 Z, then. . . .” </a:t>
                </a: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means exactly the same thing as “If x is an integer, then. . . .”</a:t>
                </a: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However, the 2 symbol can also stand for “be a member of” or “be in.” </a:t>
                </a: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example, if we write “Let x 2 Z,” we mean “Let x be a member of Z” or, more prosaically, “Let x be an integer.”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(The cardinality of A )is simply the stand for the cardinality or size of the set (i.e., the number of elements in that set). An alternative notation for the cardinality of a set is #A. number of objects in the set. The cardinality of the set f2; 3; 1 2 g is 3. The cardinality of Z is infinite. We also call </a:t>
                </a:r>
                <a:r>
                  <a:rPr lang="en-US" sz="1200" dirty="0" err="1"/>
                  <a:t>jAj</a:t>
                </a:r>
                <a:r>
                  <a:rPr lang="en-US" sz="1200" dirty="0"/>
                  <a:t> the size of the set A.</a:t>
                </a:r>
                <a:endParaRPr lang="en-US" sz="12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62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elements are appropriate for small Set-builder notation. sets. More often, set-builder notation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211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77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317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8652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19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579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1316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A D f1; 2; 3; 4g and B D f3; 4; 5; 6g. Then A [ B D f1; 2; 3; 4; 5; 6g and A \ B D f3; 4g.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6758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5797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3484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9695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6484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6631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7591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0500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concept of function is central to mathematics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5321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concept of function is central to mathematics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879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3595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495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1396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4025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4819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749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409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092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610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8863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282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9903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17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6/14/2023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6/14/2023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6/14/2023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6/14/2023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6/14/2023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6/14/2023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6/14/2023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6/14/2023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6/14/2023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6/14/2023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6/14/2023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21E6B-3A2F-473C-89AA-FC2BCE914454}" type="datetimeFigureOut">
              <a:rPr lang="en-US" smtClean="0"/>
              <a:pPr/>
              <a:t>6/14/2023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CC214-B8F5-409F-9C63-0C47CCF096B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g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5FBB59F0-8E3C-4F5A-961F-C6A90C66C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3" y="1500188"/>
            <a:ext cx="8359775" cy="2071687"/>
          </a:xfrm>
          <a:prstGeom prst="rect">
            <a:avLst/>
          </a:prstGeom>
          <a:solidFill>
            <a:srgbClr val="0066FF"/>
          </a:solidFill>
          <a:ln w="9525">
            <a:noFill/>
            <a:miter lim="800000"/>
            <a:headEnd/>
            <a:tailEnd/>
          </a:ln>
          <a:effectLst>
            <a:outerShdw blurRad="50800" dist="50800" dir="5400000" algn="ctr" rotWithShape="0">
              <a:schemeClr val="accent2"/>
            </a:outerShdw>
          </a:effectLst>
        </p:spPr>
        <p:txBody>
          <a:bodyPr anchor="ctr"/>
          <a:lstStyle/>
          <a:p>
            <a:pPr algn="ctr" eaLnBrk="0" hangingPunct="0">
              <a:lnSpc>
                <a:spcPct val="150000"/>
              </a:lnSpc>
              <a:defRPr/>
            </a:pPr>
            <a:r>
              <a:rPr lang="en-US" sz="2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DISCRETE MATHEMATICS</a:t>
            </a:r>
          </a:p>
          <a:p>
            <a:pPr algn="ctr" eaLnBrk="0" hangingPunct="0">
              <a:lnSpc>
                <a:spcPct val="150000"/>
              </a:lnSpc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itchFamily="18" charset="-127"/>
                <a:cs typeface="Times New Roman" pitchFamily="18" charset="0"/>
              </a:rPr>
              <a:t>Chapter 1:</a:t>
            </a:r>
          </a:p>
          <a:p>
            <a:pPr algn="ctr" eaLnBrk="0" hangingPunct="0">
              <a:lnSpc>
                <a:spcPct val="150000"/>
              </a:lnSpc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itchFamily="18" charset="-127"/>
                <a:cs typeface="Times New Roman" pitchFamily="18" charset="0"/>
              </a:rPr>
              <a:t>COLLECTION, MAPPING, AND RELATIONS </a:t>
            </a:r>
            <a:endParaRPr lang="en-US" altLang="ko-KR" sz="2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HY견고딕" pitchFamily="18" charset="-127"/>
              <a:cs typeface="Times New Roman" pitchFamily="18" charset="0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D5832E7-EF07-450C-B1CF-432F8160274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2000" dirty="0"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Presenter: Ph.D. </a:t>
            </a:r>
            <a:r>
              <a:rPr lang="en-US" altLang="ko-KR" sz="2000" b="1" dirty="0"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Phu-Nguyen Le</a:t>
            </a:r>
          </a:p>
          <a:p>
            <a:pPr algn="ctr" eaLnBrk="1" hangingPunct="1">
              <a:spcBef>
                <a:spcPct val="50000"/>
              </a:spcBef>
            </a:pPr>
            <a:endParaRPr lang="en-US" altLang="ko-KR" sz="2000" dirty="0"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endParaRPr lang="en-US" altLang="ko-KR" sz="2000" dirty="0"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en-US" altLang="ko-KR" sz="2000" dirty="0"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June 7th,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851" y="637643"/>
            <a:ext cx="7772400" cy="585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altLang="ko-KR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1.1. INTRODUCTION TO SET THEORY.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ko-KR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1.1.1 Definition.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ko-KR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1.1.2 Subset.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ko-KR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1.1.3. Set operation.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ko-KR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1.2. MAPPING.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ko-KR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1.2.1. Definition.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ko-KR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1.2.2 </a:t>
            </a: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Domain and Image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ko-KR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1.2.3. </a:t>
            </a: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Pictures of Functions</a:t>
            </a:r>
            <a:r>
              <a:rPr lang="en-US" altLang="ko-KR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ko-KR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1.2.4 C</a:t>
            </a: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ounting Functions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ko-KR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1.2.5. Inverse function.</a:t>
            </a:r>
            <a:endParaRPr lang="en-US" sz="19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98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1.1 Introduction to set theory.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99" y="803195"/>
            <a:ext cx="8988425" cy="5576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1.1.1</a:t>
            </a:r>
            <a:r>
              <a:rPr lang="en-US" altLang="ko-KR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Definition</a:t>
            </a:r>
            <a:r>
              <a:rPr lang="en-US" altLang="ko-KR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ko-KR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set is a repetition-free, unordered collection of objects. A given object either is a member of a set or it is not—an object cannot be in a set “more than once.” There is no order to the members of a set. The simplest way to specify a set is to list its elements between curly braces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S= {1/2, 2, 3}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A= {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1,2,3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B= {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e,2,j,l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C= {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car, motorbike, plane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(the integers), N (the natural numbers), Q (the rational numbers), and R (the real number). 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ko-KR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41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1.1 Introduction to set theory.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899" y="803195"/>
                <a:ext cx="8988425" cy="55769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defRPr/>
                </a:pPr>
                <a:r>
                  <a:rPr lang="en-US" altLang="ko-KR" sz="20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1.1.1</a:t>
                </a:r>
                <a:r>
                  <a:rPr lang="en-US" altLang="ko-KR" sz="2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ko-KR" sz="20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Definition</a:t>
                </a:r>
                <a:r>
                  <a:rPr lang="en-US" altLang="ko-KR" sz="2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object that belongs to a set is called an element of the set. 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Membership in a set is denoted with the symbol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lvl="1" algn="just">
                  <a:lnSpc>
                    <a:spcPct val="15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x </a:t>
                </a:r>
                <a14:m>
                  <m:oMath xmlns:m="http://schemas.openxmlformats.org/officeDocument/2006/math">
                    <m: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 membership in a set is denoted with the symbol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∉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lvl="1" algn="just">
                  <a:lnSpc>
                    <a:spcPct val="15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x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∉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A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number of elements in a set A is denoted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cardinality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A: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#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the cardinality or size of the set A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Finite and infinite set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800100" lvl="1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Finite set: cardinality is an integer</a:t>
                </a:r>
              </a:p>
              <a:p>
                <a:pPr marL="800100" lvl="1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Infinite set: cardinality is not an integer</a:t>
                </a:r>
              </a:p>
              <a:p>
                <a:pPr lvl="1" algn="just">
                  <a:lnSpc>
                    <a:spcPct val="15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endParaRPr lang="en-US" altLang="ko-KR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899" y="803195"/>
                <a:ext cx="8988425" cy="5576976"/>
              </a:xfrm>
              <a:prstGeom prst="rect">
                <a:avLst/>
              </a:prstGeom>
              <a:blipFill>
                <a:blip r:embed="rId4"/>
                <a:stretch>
                  <a:fillRect l="-74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2157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1.1 Introduction to set theory.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899" y="803195"/>
                <a:ext cx="8988425" cy="60386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defRPr sz="2000" b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800100" lvl="1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lvl="2" algn="just">
                  <a:lnSpc>
                    <a:spcPct val="150000"/>
                  </a:lnSpc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</a:lstStyle>
              <a:p>
                <a:r>
                  <a:rPr lang="en-US" altLang="ko-KR" dirty="0"/>
                  <a:t>1.1.1 Definition.</a:t>
                </a:r>
              </a:p>
              <a:p>
                <a:pPr lvl="1"/>
                <a:r>
                  <a:rPr lang="en-US" dirty="0"/>
                  <a:t>The empty set is the set with no members</a:t>
                </a:r>
              </a:p>
              <a:p>
                <a:pPr lvl="1"/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/>
                  <a:t>, {}</a:t>
                </a:r>
              </a:p>
              <a:p>
                <a:pPr lvl="1"/>
                <a:r>
                  <a:rPr lang="en-US" dirty="0"/>
                  <a:t>	Q/A: The cardinality of the empty set?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How to specifying a set: </a:t>
                </a:r>
              </a:p>
              <a:p>
                <a:pPr lvl="2"/>
                <a:r>
                  <a:rPr lang="en-US" dirty="0"/>
                  <a:t>+ List elements of the set between curly braces: {1,2,3}</a:t>
                </a:r>
              </a:p>
              <a:p>
                <a:pPr lvl="2"/>
                <a:r>
                  <a:rPr lang="en-US" dirty="0"/>
                  <a:t>+ Set builder notation </a:t>
                </a:r>
              </a:p>
              <a:p>
                <a:pPr lvl="2"/>
                <a:r>
                  <a:rPr lang="en-US" dirty="0"/>
                  <a:t>	{dummy variable : conditions} :  {x: x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R, x&gt;3}</a:t>
                </a:r>
              </a:p>
              <a:p>
                <a:pPr lvl="2"/>
                <a:r>
                  <a:rPr lang="en-US" dirty="0"/>
                  <a:t>	{dummy variable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set : conditions} :  {x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R: x&gt;3}</a:t>
                </a:r>
              </a:p>
              <a:p>
                <a:pPr lvl="2"/>
                <a:r>
                  <a:rPr lang="en-US" dirty="0"/>
                  <a:t>Q/A: Give examples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		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899" y="803195"/>
                <a:ext cx="8988425" cy="6038641"/>
              </a:xfrm>
              <a:prstGeom prst="rect">
                <a:avLst/>
              </a:prstGeom>
              <a:blipFill>
                <a:blip r:embed="rId4"/>
                <a:stretch>
                  <a:fillRect l="-746" b="-60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1727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1.1 Introduction to set theory.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899" y="803195"/>
                <a:ext cx="8988425" cy="46536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defRPr sz="2000" b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800100" lvl="1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lvl="2" algn="just">
                  <a:lnSpc>
                    <a:spcPct val="150000"/>
                  </a:lnSpc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</a:lstStyle>
              <a:p>
                <a:r>
                  <a:rPr lang="en-US" altLang="ko-KR" dirty="0"/>
                  <a:t>1.1.1 Definition.</a:t>
                </a:r>
              </a:p>
              <a:p>
                <a:pPr lvl="1"/>
                <a:r>
                  <a:rPr lang="en-US" dirty="0"/>
                  <a:t>Proving two sets are equal.</a:t>
                </a:r>
              </a:p>
              <a:p>
                <a:pPr lvl="2">
                  <a:buFont typeface="Wingdings" panose="05000000000000000000" pitchFamily="2" charset="2"/>
                  <a:buChar char="ü"/>
                </a:pPr>
                <a:r>
                  <a:rPr lang="en-US" dirty="0"/>
                  <a:t> Let A and B be the sets. </a:t>
                </a:r>
              </a:p>
              <a:p>
                <a:pPr marL="1257300" lvl="2" indent="-342900">
                  <a:buFont typeface="Wingdings" panose="05000000000000000000" pitchFamily="2" charset="2"/>
                  <a:buChar char="ü"/>
                </a:pPr>
                <a:r>
                  <a:rPr lang="en-US" dirty="0"/>
                  <a:t>To show A = B, </a:t>
                </a:r>
              </a:p>
              <a:p>
                <a:pPr marL="1257300" lvl="2" indent="-342900">
                  <a:buFont typeface="Wingdings" panose="05000000000000000000" pitchFamily="2" charset="2"/>
                  <a:buChar char="ü"/>
                </a:pPr>
                <a:r>
                  <a:rPr lang="en-US" dirty="0"/>
                  <a:t>Suppose x </a:t>
                </a:r>
                <a14:m>
                  <m:oMath xmlns:m="http://schemas.openxmlformats.org/officeDocument/2006/math">
                    <m:r>
                      <a:rPr lang="en-US" sz="2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A. . . . Therefore x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B.  </a:t>
                </a:r>
              </a:p>
              <a:p>
                <a:pPr marL="1257300" lvl="2" indent="-342900">
                  <a:buFont typeface="Wingdings" panose="05000000000000000000" pitchFamily="2" charset="2"/>
                  <a:buChar char="ü"/>
                </a:pPr>
                <a:r>
                  <a:rPr lang="en-US" dirty="0"/>
                  <a:t>Suppose x </a:t>
                </a:r>
                <a14:m>
                  <m:oMath xmlns:m="http://schemas.openxmlformats.org/officeDocument/2006/math">
                    <m:r>
                      <a:rPr lang="en-US" sz="2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B. . . . Therefore x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A. </a:t>
                </a:r>
              </a:p>
              <a:p>
                <a:pPr marL="1257300" lvl="2" indent="-342900">
                  <a:buFont typeface="Wingdings" panose="05000000000000000000" pitchFamily="2" charset="2"/>
                  <a:buChar char="ü"/>
                </a:pPr>
                <a:r>
                  <a:rPr lang="en-US" dirty="0"/>
                  <a:t>Therefore A = B.</a:t>
                </a:r>
              </a:p>
              <a:p>
                <a:pPr marL="1143000" lvl="1"/>
                <a:r>
                  <a:rPr lang="en-US" dirty="0"/>
                  <a:t>Using three dots (. . . ) to indicate that the pattern continues</a:t>
                </a:r>
              </a:p>
              <a:p>
                <a:pPr marL="1257300" lvl="2"/>
                <a:r>
                  <a:rPr lang="en-US" dirty="0"/>
                  <a:t>A= {1,2,3, . . .,400}</a:t>
                </a:r>
              </a:p>
              <a:p>
                <a:pPr marL="1257300" lvl="2"/>
                <a:endParaRPr lang="en-US" dirty="0"/>
              </a:p>
            </p:txBody>
          </p:sp>
        </mc:Choice>
        <mc:Fallback xmlns="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899" y="803195"/>
                <a:ext cx="8988425" cy="4653646"/>
              </a:xfrm>
              <a:prstGeom prst="rect">
                <a:avLst/>
              </a:prstGeom>
              <a:blipFill>
                <a:blip r:embed="rId4"/>
                <a:stretch>
                  <a:fillRect l="-74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A54ACF8-B638-4B3C-F451-2FA19E5548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063" y="5091830"/>
            <a:ext cx="665797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653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1.1 Introduction to set theory.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899" y="803195"/>
                <a:ext cx="8988425" cy="60386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defRPr sz="2000" b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800100" lvl="1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lvl="2" algn="just">
                  <a:lnSpc>
                    <a:spcPct val="150000"/>
                  </a:lnSpc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</a:lstStyle>
              <a:p>
                <a:r>
                  <a:rPr lang="en-US" altLang="ko-KR" dirty="0"/>
                  <a:t>1.1.2 Subset.</a:t>
                </a:r>
              </a:p>
              <a:p>
                <a:pPr lvl="1"/>
                <a:r>
                  <a:rPr lang="en-US" dirty="0"/>
                  <a:t>Suppose A and B are sets. We say that A is a </a:t>
                </a:r>
                <a:r>
                  <a:rPr lang="en-US" b="1" dirty="0"/>
                  <a:t>subset</a:t>
                </a:r>
                <a:r>
                  <a:rPr lang="en-US" dirty="0"/>
                  <a:t> of B provided every element of A is also an element of B. The notation 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dirty="0"/>
                  <a:t> B means A is a subset of B.</a:t>
                </a:r>
              </a:p>
              <a:p>
                <a:pPr lvl="1"/>
                <a:r>
                  <a:rPr lang="en-US" i="1" dirty="0"/>
                  <a:t>Example:</a:t>
                </a:r>
              </a:p>
              <a:p>
                <a:pPr lvl="2"/>
                <a:r>
                  <a:rPr lang="en-US" i="1" dirty="0"/>
                  <a:t>A={1,2,3}</a:t>
                </a:r>
              </a:p>
              <a:p>
                <a:pPr lvl="2"/>
                <a:r>
                  <a:rPr lang="en-US" i="1" dirty="0"/>
                  <a:t>B={1,2,3,4}</a:t>
                </a:r>
              </a:p>
              <a:p>
                <a:pPr lvl="2"/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dirty="0"/>
                  <a:t> B </a:t>
                </a:r>
              </a:p>
              <a:p>
                <a:pPr lvl="1"/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dirty="0"/>
                  <a:t> A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dirty="0"/>
                  <a:t> A </a:t>
                </a:r>
              </a:p>
              <a:p>
                <a:pPr lvl="1"/>
                <a:r>
                  <a:rPr lang="en-US" dirty="0"/>
                  <a:t>Let x be anything and let A be a set; then 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</a:t>
                </a:r>
                <a:r>
                  <a:rPr lang="en-US" dirty="0"/>
                  <a:t>if and only if {x}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dirty="0"/>
                  <a:t>  A.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899" y="803195"/>
                <a:ext cx="8988425" cy="6038641"/>
              </a:xfrm>
              <a:prstGeom prst="rect">
                <a:avLst/>
              </a:prstGeom>
              <a:blipFill>
                <a:blip r:embed="rId4"/>
                <a:stretch>
                  <a:fillRect l="-746" r="-67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094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1.1 Introduction to set theory.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899" y="803195"/>
                <a:ext cx="8988425" cy="28065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defRPr sz="2000" b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800100" lvl="1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lvl="2" algn="just">
                  <a:lnSpc>
                    <a:spcPct val="150000"/>
                  </a:lnSpc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</a:lstStyle>
              <a:p>
                <a:r>
                  <a:rPr lang="en-US" altLang="ko-KR" dirty="0"/>
                  <a:t>1.1.2 Subset.</a:t>
                </a:r>
              </a:p>
              <a:p>
                <a:pPr lvl="1"/>
                <a:r>
                  <a:rPr lang="en-US" b="1" dirty="0"/>
                  <a:t>Proving one set is a subset of another. To show 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 </m:t>
                    </m:r>
                  </m:oMath>
                </a14:m>
                <a:r>
                  <a:rPr lang="en-US" b="1" dirty="0"/>
                  <a:t>B:</a:t>
                </a:r>
              </a:p>
              <a:p>
                <a:pPr lvl="2"/>
                <a:r>
                  <a:rPr lang="en-US" b="1" dirty="0"/>
                  <a:t> Let x </a:t>
                </a:r>
                <a14:m>
                  <m:oMath xmlns:m="http://schemas.openxmlformats.org/officeDocument/2006/math">
                    <m:r>
                      <a:rPr lang="en-US" sz="2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en-US" b="1" dirty="0"/>
                  <a:t> A. . . . Therefore x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b="1" dirty="0"/>
                  <a:t> B. Therefore 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 </m:t>
                    </m:r>
                  </m:oMath>
                </a14:m>
                <a:r>
                  <a:rPr lang="en-US" b="1" dirty="0"/>
                  <a:t>B..</a:t>
                </a:r>
              </a:p>
              <a:p>
                <a:pPr lvl="1"/>
                <a:r>
                  <a:rPr lang="en-US" i="1" dirty="0"/>
                  <a:t>Example:</a:t>
                </a:r>
              </a:p>
              <a:p>
                <a:pPr lvl="2"/>
                <a:r>
                  <a:rPr lang="en-US" dirty="0"/>
                  <a:t>Pythagorean Triple: A list of three integers (a; b; c) is called a Pythagorean triple provided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899" y="803195"/>
                <a:ext cx="8988425" cy="2806538"/>
              </a:xfrm>
              <a:prstGeom prst="rect">
                <a:avLst/>
              </a:prstGeom>
              <a:blipFill>
                <a:blip r:embed="rId4"/>
                <a:stretch>
                  <a:fillRect l="-746" r="-678" b="-304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F87A267-B7A1-DAEF-1E3D-DA72870B47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79" y="3906965"/>
            <a:ext cx="7743825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95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1.1 Introduction to set theory.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99" y="803195"/>
            <a:ext cx="8988425" cy="1421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  <a:defRPr sz="20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defRPr>
            </a:lvl1pPr>
            <a:lvl2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lvl="2" algn="just">
              <a:lnSpc>
                <a:spcPct val="150000"/>
              </a:lnSpc>
              <a:defRPr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</a:lstStyle>
          <a:p>
            <a:r>
              <a:rPr lang="en-US" altLang="ko-KR" dirty="0"/>
              <a:t>1.1.2 Subset.</a:t>
            </a:r>
          </a:p>
          <a:p>
            <a:pPr lvl="1"/>
            <a:r>
              <a:rPr lang="en-US" b="1" dirty="0"/>
              <a:t>Counting subsets:</a:t>
            </a:r>
          </a:p>
          <a:p>
            <a:pPr lvl="2"/>
            <a:r>
              <a:rPr lang="en-US" b="1" dirty="0"/>
              <a:t> </a:t>
            </a:r>
            <a:r>
              <a:rPr lang="en-US" dirty="0"/>
              <a:t>How many subsets does A ={1; 2; 3} have?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6">
                <a:extLst>
                  <a:ext uri="{FF2B5EF4-FFF2-40B4-BE49-F238E27FC236}">
                    <a16:creationId xmlns:a16="http://schemas.microsoft.com/office/drawing/2014/main" id="{8289E3D7-E651-B5B9-AC74-B0BA71DC7C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2694717"/>
                  </p:ext>
                </p:extLst>
              </p:nvPr>
            </p:nvGraphicFramePr>
            <p:xfrm>
              <a:off x="1517092" y="2548052"/>
              <a:ext cx="6096000" cy="24201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36254821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184770569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8456585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No. of elements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Subsets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Number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47244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kern="120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US" sz="2000" kern="1200" dirty="0">
                            <a:solidFill>
                              <a:schemeClr val="tx2"/>
                            </a:solidFill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78907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{1},{2},{3}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36342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{1,2},{2,3},{3,1}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2756518"/>
                      </a:ext>
                    </a:extLst>
                  </a:tr>
                  <a:tr h="4643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{1; 2; 3}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1623851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Total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49280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6">
                <a:extLst>
                  <a:ext uri="{FF2B5EF4-FFF2-40B4-BE49-F238E27FC236}">
                    <a16:creationId xmlns:a16="http://schemas.microsoft.com/office/drawing/2014/main" id="{8289E3D7-E651-B5B9-AC74-B0BA71DC7C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2694717"/>
                  </p:ext>
                </p:extLst>
              </p:nvPr>
            </p:nvGraphicFramePr>
            <p:xfrm>
              <a:off x="1517092" y="2548052"/>
              <a:ext cx="6096000" cy="24201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36254821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184770569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8456585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No. of elements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Subsets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Number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472449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601" t="-101538" r="-101802" b="-4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789078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{1},{2},{3}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36342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{1,2},{2,3},{3,1}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2756518"/>
                      </a:ext>
                    </a:extLst>
                  </a:tr>
                  <a:tr h="4643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{1; 2; 3}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1623851"/>
                      </a:ext>
                    </a:extLst>
                  </a:tr>
                  <a:tr h="3962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Total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1200" dirty="0">
                              <a:solidFill>
                                <a:schemeClr val="tx2"/>
                              </a:solidFill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492806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13589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1.1 Introduction to set theory.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99" y="803195"/>
            <a:ext cx="8988425" cy="1421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  <a:defRPr sz="20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defRPr>
            </a:lvl1pPr>
            <a:lvl2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lvl="2" algn="just">
              <a:lnSpc>
                <a:spcPct val="150000"/>
              </a:lnSpc>
              <a:defRPr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</a:lstStyle>
          <a:p>
            <a:r>
              <a:rPr lang="en-US" altLang="ko-KR" dirty="0"/>
              <a:t>1.1.2 Subset.</a:t>
            </a:r>
          </a:p>
          <a:p>
            <a:pPr lvl="1"/>
            <a:r>
              <a:rPr lang="en-US" b="1" dirty="0"/>
              <a:t>Counting subsets:</a:t>
            </a:r>
          </a:p>
          <a:p>
            <a:pPr lvl="2"/>
            <a:r>
              <a:rPr lang="en-US" b="1" dirty="0"/>
              <a:t> </a:t>
            </a:r>
            <a:r>
              <a:rPr lang="en-US" dirty="0"/>
              <a:t>How many subsets does A ={1; 2; 3} have?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21EC97-D614-5950-CD4B-3CBA1E624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280" y="2251857"/>
            <a:ext cx="3135542" cy="28614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E2F1FE-DA5C-E497-F1A0-DDF6353F2F2F}"/>
                  </a:ext>
                </a:extLst>
              </p:cNvPr>
              <p:cNvSpPr txBox="1"/>
              <p:nvPr/>
            </p:nvSpPr>
            <p:spPr>
              <a:xfrm>
                <a:off x="1524000" y="5426817"/>
                <a:ext cx="6781799" cy="4193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A be a finite set. The number of subsets of A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sz="2000" b="1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𝐀</m:t>
                            </m:r>
                          </m:e>
                        </m:d>
                      </m:sup>
                    </m:sSup>
                  </m:oMath>
                </a14:m>
                <a:endParaRPr lang="en-US" sz="2000" b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E2F1FE-DA5C-E497-F1A0-DDF6353F2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5426817"/>
                <a:ext cx="6781799" cy="419346"/>
              </a:xfrm>
              <a:prstGeom prst="rect">
                <a:avLst/>
              </a:prstGeom>
              <a:blipFill>
                <a:blip r:embed="rId5"/>
                <a:stretch>
                  <a:fillRect l="-899" t="-2899" b="-24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7176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06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11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1.1 Introduction to set theory.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899" y="803195"/>
                <a:ext cx="8988425" cy="37303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defRPr sz="2000" b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800100" lvl="1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lvl="2" algn="just">
                  <a:lnSpc>
                    <a:spcPct val="150000"/>
                  </a:lnSpc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</a:lstStyle>
              <a:p>
                <a:r>
                  <a:rPr lang="en-US" altLang="ko-KR" dirty="0"/>
                  <a:t>1.1.2 Subset.</a:t>
                </a:r>
              </a:p>
              <a:p>
                <a:pPr lvl="2"/>
                <a:r>
                  <a:rPr lang="en-US" b="1" dirty="0"/>
                  <a:t>Power set</a:t>
                </a:r>
              </a:p>
              <a:p>
                <a:pPr lvl="2"/>
                <a:r>
                  <a:rPr lang="en-US" dirty="0"/>
                  <a:t>Let A be a set. The power set of A is the set of all subsets of A</a:t>
                </a:r>
              </a:p>
              <a:p>
                <a:pPr lvl="2"/>
                <a:r>
                  <a:rPr lang="en-US" dirty="0"/>
                  <a:t>For example,</a:t>
                </a:r>
              </a:p>
              <a:p>
                <a:pPr lvl="2"/>
                <a:r>
                  <a:rPr lang="en-US" dirty="0"/>
                  <a:t>The power set of {1; 2; 3} is the set</a:t>
                </a:r>
              </a:p>
              <a:p>
                <a:pPr lvl="2"/>
                <a:r>
                  <a:rPr lang="en-US" dirty="0"/>
                  <a:t>	 {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/>
                  <a:t>, {1},{2},{3}, {1,2},{2,3},{3,1}, {1; 2; 3} }</a:t>
                </a:r>
              </a:p>
              <a:p>
                <a:pPr lvl="2"/>
                <a:r>
                  <a:rPr lang="en-US" b="1" dirty="0"/>
                  <a:t>Exercises: 10.1,10.2,…,10.15</a:t>
                </a:r>
                <a:endParaRPr lang="en-US" dirty="0"/>
              </a:p>
              <a:p>
                <a:pPr lvl="2"/>
                <a:endParaRPr lang="en-US" b="1" dirty="0"/>
              </a:p>
            </p:txBody>
          </p:sp>
        </mc:Choice>
        <mc:Fallback xmlns="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899" y="803195"/>
                <a:ext cx="8988425" cy="3730317"/>
              </a:xfrm>
              <a:prstGeom prst="rect">
                <a:avLst/>
              </a:prstGeom>
              <a:blipFill>
                <a:blip r:embed="rId4"/>
                <a:stretch>
                  <a:fillRect l="-74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341F5E9-AA16-8223-10C7-7A68108774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1" y="4061684"/>
            <a:ext cx="9144000" cy="198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900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1.1 Introduction to set theory.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899" y="803195"/>
                <a:ext cx="8988425" cy="51153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defRPr sz="2000" b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800100" lvl="1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lvl="2" algn="just">
                  <a:lnSpc>
                    <a:spcPct val="150000"/>
                  </a:lnSpc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</a:lstStyle>
              <a:p>
                <a:r>
                  <a:rPr lang="en-US" altLang="ko-KR" dirty="0"/>
                  <a:t>1.1.3 Set operation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Union and Intersection</a:t>
                </a:r>
              </a:p>
              <a:p>
                <a:r>
                  <a:rPr lang="en-US" b="0" dirty="0"/>
                  <a:t>	Let A and B be sets. </a:t>
                </a:r>
              </a:p>
              <a:p>
                <a:r>
                  <a:rPr lang="en-US" b="0" dirty="0"/>
                  <a:t>	The </a:t>
                </a:r>
                <a:r>
                  <a:rPr lang="en-US" b="0" i="1" dirty="0"/>
                  <a:t>union</a:t>
                </a:r>
                <a:r>
                  <a:rPr lang="en-US" b="0" dirty="0"/>
                  <a:t> of A and B is the set of all elements that are in A or B (or both). 	The </a:t>
                </a:r>
                <a:r>
                  <a:rPr lang="en-US" b="0" i="1" dirty="0"/>
                  <a:t>union</a:t>
                </a:r>
                <a:r>
                  <a:rPr lang="en-US" b="0" dirty="0"/>
                  <a:t> of A and B is denoted A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b="0" dirty="0"/>
                  <a:t> B.</a:t>
                </a:r>
              </a:p>
              <a:p>
                <a:r>
                  <a:rPr lang="en-US" b="0" dirty="0"/>
                  <a:t> 	The </a:t>
                </a:r>
                <a:r>
                  <a:rPr lang="en-US" b="0" i="1" dirty="0"/>
                  <a:t>intersection</a:t>
                </a:r>
                <a:r>
                  <a:rPr lang="en-US" b="0" dirty="0"/>
                  <a:t> of A and B is the set of all elements that are in both A and B. 	The </a:t>
                </a:r>
                <a:r>
                  <a:rPr lang="en-US" b="0" i="1" dirty="0"/>
                  <a:t>intersection</a:t>
                </a:r>
                <a:r>
                  <a:rPr lang="en-US" b="0" dirty="0"/>
                  <a:t> of A and B is denoted A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0" dirty="0"/>
                  <a:t>B</a:t>
                </a:r>
              </a:p>
              <a:p>
                <a:r>
                  <a:rPr lang="en-US" dirty="0"/>
                  <a:t>In symbols, we can write this as follows:</a:t>
                </a:r>
              </a:p>
              <a:p>
                <a:r>
                  <a:rPr lang="en-US" dirty="0"/>
                  <a:t> 		A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dirty="0"/>
                  <a:t> B={ x:x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 or x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B} </a:t>
                </a:r>
              </a:p>
              <a:p>
                <a:r>
                  <a:rPr lang="en-US" dirty="0"/>
                  <a:t> 		A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/>
                  <a:t>B ={ x:x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 and x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B} </a:t>
                </a:r>
              </a:p>
              <a:p>
                <a:r>
                  <a:rPr lang="en-US" b="0" i="1" dirty="0"/>
                  <a:t>Example:?</a:t>
                </a:r>
              </a:p>
            </p:txBody>
          </p:sp>
        </mc:Choice>
        <mc:Fallback xmlns="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899" y="803195"/>
                <a:ext cx="8988425" cy="5115311"/>
              </a:xfrm>
              <a:prstGeom prst="rect">
                <a:avLst/>
              </a:prstGeom>
              <a:blipFill>
                <a:blip r:embed="rId4"/>
                <a:stretch>
                  <a:fillRect l="-746" r="-678" b="-1192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1085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13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1.1 Introduction to set theory.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899" y="803195"/>
                <a:ext cx="8988425" cy="41919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defRPr sz="2000" b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800100" lvl="1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lvl="2" algn="just">
                  <a:lnSpc>
                    <a:spcPct val="150000"/>
                  </a:lnSpc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</a:lstStyle>
              <a:p>
                <a:r>
                  <a:rPr lang="en-US" altLang="ko-KR" dirty="0"/>
                  <a:t>1.1.3 Set operation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Union and Intersection</a:t>
                </a:r>
              </a:p>
              <a:p>
                <a:r>
                  <a:rPr lang="en-US" b="0" dirty="0"/>
                  <a:t>	Let A, B, and C denote sets. The following are true: </a:t>
                </a:r>
              </a:p>
              <a:p>
                <a:r>
                  <a:rPr lang="en-US" b="0" dirty="0"/>
                  <a:t>	 A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b="0" dirty="0"/>
                  <a:t> B = B </a:t>
                </a:r>
                <a14:m>
                  <m:oMath xmlns:m="http://schemas.openxmlformats.org/officeDocument/2006/math">
                    <m:r>
                      <a:rPr 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b="0" dirty="0"/>
                  <a:t> A and A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 </m:t>
                    </m:r>
                  </m:oMath>
                </a14:m>
                <a:r>
                  <a:rPr lang="en-US" b="0" dirty="0"/>
                  <a:t>B = B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 </m:t>
                    </m:r>
                  </m:oMath>
                </a14:m>
                <a:r>
                  <a:rPr lang="en-US" b="0" dirty="0"/>
                  <a:t>A. (Commutative properties) </a:t>
                </a:r>
              </a:p>
              <a:p>
                <a:r>
                  <a:rPr lang="en-US" b="0" dirty="0"/>
                  <a:t>	 A</a:t>
                </a:r>
                <a14:m>
                  <m:oMath xmlns:m="http://schemas.openxmlformats.org/officeDocument/2006/math">
                    <m:r>
                      <a:rPr 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b="0" dirty="0"/>
                  <a:t>B </a:t>
                </a:r>
                <a14:m>
                  <m:oMath xmlns:m="http://schemas.openxmlformats.org/officeDocument/2006/math">
                    <m:r>
                      <a:rPr 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 </m:t>
                    </m:r>
                  </m:oMath>
                </a14:m>
                <a:r>
                  <a:rPr lang="en-US" b="0" dirty="0"/>
                  <a:t>C) = (A</a:t>
                </a:r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 </m:t>
                    </m:r>
                  </m:oMath>
                </a14:m>
                <a:r>
                  <a:rPr lang="en-US" b="0" dirty="0"/>
                  <a:t>B)</a:t>
                </a:r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 </m:t>
                    </m:r>
                  </m:oMath>
                </a14:m>
                <a:r>
                  <a:rPr lang="en-US" b="0" dirty="0"/>
                  <a:t>C and A</a:t>
                </a:r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 </m:t>
                    </m:r>
                  </m:oMath>
                </a14:m>
                <a:r>
                  <a:rPr lang="en-US" b="0" dirty="0"/>
                  <a:t>(B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 </m:t>
                    </m:r>
                  </m:oMath>
                </a14:m>
                <a:r>
                  <a:rPr lang="en-US" b="0" dirty="0"/>
                  <a:t>C) = (A</a:t>
                </a:r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 </m:t>
                    </m:r>
                  </m:oMath>
                </a14:m>
                <a:r>
                  <a:rPr lang="en-US" b="0" dirty="0"/>
                  <a:t>B)</a:t>
                </a:r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 </m:t>
                    </m:r>
                  </m:oMath>
                </a14:m>
                <a:r>
                  <a:rPr lang="en-US" b="0" dirty="0"/>
                  <a:t>C. </a:t>
                </a:r>
              </a:p>
              <a:p>
                <a:r>
                  <a:rPr lang="en-US" b="0" dirty="0"/>
                  <a:t>	(Associative properties)  </a:t>
                </a:r>
              </a:p>
              <a:p>
                <a:r>
                  <a:rPr lang="en-US" b="0" dirty="0"/>
                  <a:t>	A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/>
                  <a:t>=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b="0" dirty="0"/>
                  <a:t> and A </a:t>
                </a:r>
                <a14:m>
                  <m:oMath xmlns:m="http://schemas.openxmlformats.org/officeDocument/2006/math">
                    <m:r>
                      <a:rPr 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/>
                  <a:t>=A ;  </a:t>
                </a:r>
              </a:p>
              <a:p>
                <a:r>
                  <a:rPr lang="en-US" b="0" dirty="0"/>
                  <a:t>	 A</a:t>
                </a:r>
                <a14:m>
                  <m:oMath xmlns:m="http://schemas.openxmlformats.org/officeDocument/2006/math">
                    <m:r>
                      <a:rPr 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b="0" dirty="0"/>
                  <a:t>B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0" dirty="0"/>
                  <a:t>C) = (A</a:t>
                </a:r>
                <a14:m>
                  <m:oMath xmlns:m="http://schemas.openxmlformats.org/officeDocument/2006/math">
                    <m:r>
                      <a:rPr 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b="0" dirty="0"/>
                  <a:t>B)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b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b="0" dirty="0"/>
                  <a:t>A</a:t>
                </a:r>
                <a14:m>
                  <m:oMath xmlns:m="http://schemas.openxmlformats.org/officeDocument/2006/math">
                    <m:r>
                      <a:rPr 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b="0" dirty="0"/>
                  <a:t>C) </a:t>
                </a:r>
              </a:p>
              <a:p>
                <a:r>
                  <a:rPr lang="en-US" b="0" dirty="0"/>
                  <a:t>	and A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b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b="0" dirty="0"/>
                  <a:t>B</a:t>
                </a:r>
                <a14:m>
                  <m:oMath xmlns:m="http://schemas.openxmlformats.org/officeDocument/2006/math">
                    <m:r>
                      <a:rPr 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b="0" dirty="0"/>
                  <a:t>C) = (A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0" dirty="0"/>
                  <a:t>B)</a:t>
                </a:r>
                <a14:m>
                  <m:oMath xmlns:m="http://schemas.openxmlformats.org/officeDocument/2006/math">
                    <m:r>
                      <a:rPr 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b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b="0" dirty="0"/>
                  <a:t>A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b="0" dirty="0"/>
                  <a:t>C) (Distributive properties)</a:t>
                </a:r>
                <a:endParaRPr lang="en-US" b="0" i="1" dirty="0"/>
              </a:p>
            </p:txBody>
          </p:sp>
        </mc:Choice>
        <mc:Fallback xmlns="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899" y="803195"/>
                <a:ext cx="8988425" cy="4191981"/>
              </a:xfrm>
              <a:prstGeom prst="rect">
                <a:avLst/>
              </a:prstGeom>
              <a:blipFill>
                <a:blip r:embed="rId4"/>
                <a:stretch>
                  <a:fillRect l="-746" b="-174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7751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14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1.1 Introduction to set theory.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99" y="803195"/>
            <a:ext cx="8988425" cy="1421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  <a:defRPr sz="20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defRPr>
            </a:lvl1pPr>
            <a:lvl2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lvl="2" algn="just">
              <a:lnSpc>
                <a:spcPct val="150000"/>
              </a:lnSpc>
              <a:defRPr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</a:lstStyle>
          <a:p>
            <a:r>
              <a:rPr lang="en-US" altLang="ko-KR" dirty="0"/>
              <a:t>1.1.3 Set operation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Union and Intersection</a:t>
            </a:r>
          </a:p>
          <a:p>
            <a:r>
              <a:rPr lang="en-US" b="0" dirty="0"/>
              <a:t>	</a:t>
            </a:r>
            <a:endParaRPr lang="en-US" b="0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49B8F4-4E56-FE89-AD11-297C420A3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0650" y="1983343"/>
            <a:ext cx="6362700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025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15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1.1 Introduction to set theory.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899" y="803195"/>
                <a:ext cx="8988425" cy="32686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defRPr sz="2000" b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800100" lvl="1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lvl="2" algn="just">
                  <a:lnSpc>
                    <a:spcPct val="150000"/>
                  </a:lnSpc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</a:lstStyle>
              <a:p>
                <a:r>
                  <a:rPr lang="en-US" altLang="ko-KR" dirty="0"/>
                  <a:t>1.1.3 Set operation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 Size of a Union (cardinality of a Union)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2"/>
                    </a:solidFill>
                    <a:ea typeface="Cambria Math" panose="02040503050406030204" pitchFamily="18" charset="0"/>
                    <a:cs typeface="Times New Roman" pitchFamily="18" charset="0"/>
                  </a:rPr>
                  <a:t>Suppose A and B are finite sets. There is a simple relationship between the quantities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𝐴</m:t>
                        </m:r>
                      </m:e>
                    </m:d>
                    <m:r>
                      <a:rPr lang="en-US" sz="2000" b="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𝐵</m:t>
                        </m:r>
                      </m:e>
                    </m:d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𝐴</m:t>
                        </m:r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∪</m:t>
                        </m:r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𝐵</m:t>
                        </m:r>
                      </m:e>
                    </m:d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𝑎𝑛𝑑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𝐴</m:t>
                        </m:r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∩</m:t>
                        </m:r>
                        <m:r>
                          <a:rPr lang="en-US" sz="2000" b="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sz="2000" b="0" dirty="0">
                    <a:solidFill>
                      <a:schemeClr val="tx2"/>
                    </a:solidFill>
                    <a:ea typeface="Cambria Math" panose="02040503050406030204" pitchFamily="18" charset="0"/>
                    <a:cs typeface="Times New Roman" pitchFamily="18" charset="0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0" dirty="0"/>
                  <a:t>	</a:t>
                </a:r>
                <a:endParaRPr lang="en-US" b="0" i="1" dirty="0"/>
              </a:p>
            </p:txBody>
          </p:sp>
        </mc:Choice>
        <mc:Fallback xmlns="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899" y="803195"/>
                <a:ext cx="8988425" cy="3268652"/>
              </a:xfrm>
              <a:prstGeom prst="rect">
                <a:avLst/>
              </a:prstGeom>
              <a:blipFill>
                <a:blip r:embed="rId4"/>
                <a:stretch>
                  <a:fillRect l="-746" r="-678" b="-186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A7D24D4-3955-9943-D4CA-BDC6A52370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2823" y="2781300"/>
            <a:ext cx="4600575" cy="647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C2528F-1FFB-E27E-6172-3F28150AD7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448373"/>
            <a:ext cx="9077324" cy="14994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7F3682-3EB8-600F-0261-577976357E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600742"/>
            <a:ext cx="9077324" cy="62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416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16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1.1 Introduction to set theory.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99" y="803195"/>
            <a:ext cx="8988425" cy="4191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  <a:defRPr sz="20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defRPr>
            </a:lvl1pPr>
            <a:lvl2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lvl="2" algn="just">
              <a:lnSpc>
                <a:spcPct val="150000"/>
              </a:lnSpc>
              <a:defRPr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</a:lstStyle>
          <a:p>
            <a:r>
              <a:rPr lang="en-US" altLang="ko-KR" dirty="0"/>
              <a:t>1.1.3 Set operation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Example: Draw Vein graph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B8F246-67C6-347B-DC6E-6FC85DC00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7" y="1447800"/>
            <a:ext cx="8988425" cy="280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389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17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1.1 Introduction to set theory.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99" y="803195"/>
            <a:ext cx="8988425" cy="4191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  <a:defRPr sz="20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defRPr>
            </a:lvl1pPr>
            <a:lvl2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lvl="2" algn="just">
              <a:lnSpc>
                <a:spcPct val="150000"/>
              </a:lnSpc>
              <a:defRPr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</a:lstStyle>
          <a:p>
            <a:r>
              <a:rPr lang="en-US" altLang="ko-KR" dirty="0"/>
              <a:t>1.1.3 Set operation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Example: Draw Venn graph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B8F246-67C6-347B-DC6E-6FC85DC00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7" y="1447800"/>
            <a:ext cx="8988425" cy="280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571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18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1.1 Introduction to set theory.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99" y="803195"/>
            <a:ext cx="8988425" cy="498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  <a:defRPr sz="20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defRPr>
            </a:lvl1pPr>
            <a:lvl2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lvl="2" algn="just">
              <a:lnSpc>
                <a:spcPct val="150000"/>
              </a:lnSpc>
              <a:defRPr sz="2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</a:lstStyle>
          <a:p>
            <a:r>
              <a:rPr lang="en-US" altLang="ko-KR" dirty="0"/>
              <a:t>1.1.3 Set operation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FF700A-B342-C391-164A-3FA296E258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12018"/>
            <a:ext cx="9077324" cy="15843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34A0D3-4A5D-DF65-B3F3-0ED2CFACAD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212" y="3175293"/>
            <a:ext cx="8724900" cy="14382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BB7F159-2B3A-4B92-235C-6CA35CD184B9}"/>
                  </a:ext>
                </a:extLst>
              </p14:cNvPr>
              <p14:cNvContentPartPr/>
              <p14:nvPr/>
            </p14:nvContentPartPr>
            <p14:xfrm>
              <a:off x="2089080" y="4559400"/>
              <a:ext cx="1016280" cy="470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BB7F159-2B3A-4B92-235C-6CA35CD184B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79720" y="4550040"/>
                <a:ext cx="1035000" cy="48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1964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19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1.1 Introduction to set theory.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C5E571-9229-861B-A467-C65512B7B3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" y="1447800"/>
            <a:ext cx="8988425" cy="27908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109441-941E-DA34-5B50-9A31A23C705D}"/>
              </a:ext>
            </a:extLst>
          </p:cNvPr>
          <p:cNvSpPr txBox="1"/>
          <p:nvPr/>
        </p:nvSpPr>
        <p:spPr>
          <a:xfrm>
            <a:off x="381000" y="4212000"/>
            <a:ext cx="465201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Exercises: 12.1-12.30</a:t>
            </a:r>
          </a:p>
        </p:txBody>
      </p:sp>
    </p:spTree>
    <p:extLst>
      <p:ext uri="{BB962C8B-B14F-4D97-AF65-F5344CB8AC3E}">
        <p14:creationId xmlns:p14="http://schemas.microsoft.com/office/powerpoint/2010/main" val="1190914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20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1.2 Mapping.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6D4537C7-F259-6091-9A23-08E0ED491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99" y="803195"/>
            <a:ext cx="8988425" cy="1883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1.2.1</a:t>
            </a:r>
            <a:r>
              <a:rPr lang="en-US" altLang="ko-KR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Definition</a:t>
            </a:r>
            <a:r>
              <a:rPr lang="en-US" altLang="ko-KR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ko-KR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Intuitively, a function is a “rule” or “mechanism” that transforms one quantity into another</a:t>
            </a:r>
          </a:p>
          <a:p>
            <a:pPr algn="just">
              <a:lnSpc>
                <a:spcPct val="150000"/>
              </a:lnSpc>
              <a:defRPr/>
            </a:pPr>
            <a:endParaRPr lang="en-US" altLang="ko-KR" sz="2000" dirty="0">
              <a:solidFill>
                <a:schemeClr val="tx2"/>
              </a:solidFill>
              <a:latin typeface="Times New Roman" pitchFamily="18" charset="0"/>
              <a:ea typeface="Cambria Math" panose="020405030504060302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26B616-5EE1-AACA-67D1-B9325D2513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9" y="2355961"/>
            <a:ext cx="9026525" cy="5817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F9C17D-60F3-280B-268C-AC2FDF1CFD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48" y="3176171"/>
            <a:ext cx="9026525" cy="294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912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21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1.2 Mapping.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8">
                <a:extLst>
                  <a:ext uri="{FF2B5EF4-FFF2-40B4-BE49-F238E27FC236}">
                    <a16:creationId xmlns:a16="http://schemas.microsoft.com/office/drawing/2014/main" id="{6D4537C7-F259-6091-9A23-08E0ED491F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899" y="803195"/>
                <a:ext cx="8988425" cy="28069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defRPr/>
                </a:pPr>
                <a:r>
                  <a:rPr lang="en-US" altLang="ko-KR" sz="20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1.2.1</a:t>
                </a:r>
                <a:r>
                  <a:rPr lang="en-US" altLang="ko-KR" sz="2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ko-KR" sz="20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Definition</a:t>
                </a:r>
                <a:r>
                  <a:rPr lang="en-US" altLang="ko-KR" sz="2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 algn="just">
                  <a:lnSpc>
                    <a:spcPct val="150000"/>
                  </a:lnSpc>
                  <a:defRPr/>
                </a:pPr>
                <a:r>
                  <a:rPr lang="en-US" sz="2000" b="1" dirty="0"/>
                  <a:t>(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Function notation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) Let </a:t>
                </a:r>
                <a:r>
                  <a:rPr lang="en-US" sz="2000" i="1" dirty="0">
                    <a:solidFill>
                      <a:schemeClr val="tx2"/>
                    </a:solidFill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f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 be a function and let </a:t>
                </a:r>
                <a:r>
                  <a:rPr lang="en-US" sz="2000" i="1" dirty="0">
                    <a:solidFill>
                      <a:schemeClr val="tx2"/>
                    </a:solidFill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a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 be an object. The notation </a:t>
                </a:r>
                <a:r>
                  <a:rPr lang="en-US" sz="2000" i="1" dirty="0">
                    <a:solidFill>
                      <a:schemeClr val="tx2"/>
                    </a:solidFill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f (a)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 is defined provided there exists an object </a:t>
                </a:r>
                <a:r>
                  <a:rPr lang="en-US" sz="2000" i="1" dirty="0">
                    <a:solidFill>
                      <a:schemeClr val="tx2"/>
                    </a:solidFill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b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 such that </a:t>
                </a:r>
                <a:r>
                  <a:rPr lang="en-US" sz="2000" i="1" dirty="0">
                    <a:solidFill>
                      <a:schemeClr val="tx2"/>
                    </a:solidFill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(a ,b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)</a:t>
                </a:r>
                <a:r>
                  <a:rPr lang="en-US" sz="2000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 f . In this case, </a:t>
                </a:r>
                <a:r>
                  <a:rPr lang="en-US" sz="2000" i="1" dirty="0">
                    <a:solidFill>
                      <a:schemeClr val="tx2"/>
                    </a:solidFill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f (a) 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equals </a:t>
                </a:r>
                <a:r>
                  <a:rPr lang="en-US" sz="2000" i="1" dirty="0">
                    <a:solidFill>
                      <a:schemeClr val="tx2"/>
                    </a:solidFill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b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. Otherwise [there is no ordered pair of the form </a:t>
                </a:r>
                <a:r>
                  <a:rPr lang="en-US" sz="2000" i="1" dirty="0">
                    <a:solidFill>
                      <a:schemeClr val="tx2"/>
                    </a:solidFill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(a ,_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)</a:t>
                </a:r>
                <a:r>
                  <a:rPr lang="en-US" sz="2000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 f ], the notation , </a:t>
                </a:r>
                <a:r>
                  <a:rPr lang="en-US" sz="2000" i="1" dirty="0">
                    <a:solidFill>
                      <a:schemeClr val="tx2"/>
                    </a:solidFill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f (a)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 is undefined. The symbols , </a:t>
                </a:r>
                <a:r>
                  <a:rPr lang="en-US" sz="2000" i="1" dirty="0">
                    <a:solidFill>
                      <a:schemeClr val="tx2"/>
                    </a:solidFill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f (a)  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itchFamily="18" charset="0"/>
                    <a:ea typeface="Cambria Math" panose="02040503050406030204" pitchFamily="18" charset="0"/>
                    <a:cs typeface="Times New Roman" pitchFamily="18" charset="0"/>
                  </a:rPr>
                  <a:t>are pronounced “f of a.”</a:t>
                </a:r>
                <a:endParaRPr lang="en-US" altLang="ko-KR" sz="2000" dirty="0">
                  <a:solidFill>
                    <a:schemeClr val="tx2"/>
                  </a:solidFill>
                  <a:latin typeface="Times New Roman" pitchFamily="18" charset="0"/>
                  <a:ea typeface="Cambria Math" panose="02040503050406030204" pitchFamily="18" charset="0"/>
                  <a:cs typeface="Times New Roman" pitchFamily="18" charset="0"/>
                </a:endParaRPr>
              </a:p>
              <a:p>
                <a:pPr algn="just">
                  <a:lnSpc>
                    <a:spcPct val="150000"/>
                  </a:lnSpc>
                  <a:defRPr/>
                </a:pPr>
                <a:r>
                  <a:rPr lang="en-US" altLang="ko-KR" sz="2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	</a:t>
                </a:r>
                <a:endParaRPr lang="en-US" altLang="ko-KR" sz="2000" dirty="0">
                  <a:solidFill>
                    <a:schemeClr val="tx2"/>
                  </a:solidFill>
                  <a:latin typeface="Times New Roman" pitchFamily="18" charset="0"/>
                  <a:ea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TextBox 8">
                <a:extLst>
                  <a:ext uri="{FF2B5EF4-FFF2-40B4-BE49-F238E27FC236}">
                    <a16:creationId xmlns:a16="http://schemas.microsoft.com/office/drawing/2014/main" id="{6D4537C7-F259-6091-9A23-08E0ED491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899" y="803195"/>
                <a:ext cx="8988425" cy="2806987"/>
              </a:xfrm>
              <a:prstGeom prst="rect">
                <a:avLst/>
              </a:prstGeom>
              <a:blipFill>
                <a:blip r:embed="rId4"/>
                <a:stretch>
                  <a:fillRect l="-746" r="-67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F6375BC-E6DA-C41C-8A81-E48A74F163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525" y="3507644"/>
            <a:ext cx="8992076" cy="190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602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22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1.2 Mapping.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6D4537C7-F259-6091-9A23-08E0ED491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99" y="803195"/>
            <a:ext cx="8988425" cy="966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1.2.1</a:t>
            </a:r>
            <a:r>
              <a:rPr lang="en-US" altLang="ko-KR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Definition</a:t>
            </a:r>
            <a:r>
              <a:rPr lang="en-US" altLang="ko-KR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ko-KR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altLang="ko-KR" sz="2000" dirty="0">
              <a:solidFill>
                <a:schemeClr val="tx2"/>
              </a:solidFill>
              <a:latin typeface="Times New Roman" pitchFamily="18" charset="0"/>
              <a:ea typeface="Cambria Math" panose="020405030504060302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B50161-B8BE-651A-ACB1-87B711E76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913" y="1476448"/>
            <a:ext cx="8296275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7159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23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1.2 Mapping.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6D4537C7-F259-6091-9A23-08E0ED491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99" y="803195"/>
            <a:ext cx="8988425" cy="280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1.2.2</a:t>
            </a:r>
            <a:r>
              <a:rPr lang="en-US" altLang="ko-KR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Domain and Image </a:t>
            </a: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(Domain, image) </a:t>
            </a: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Let </a:t>
            </a:r>
            <a:r>
              <a:rPr lang="en-US" sz="2000" i="1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f</a:t>
            </a: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 be a function. The set of all possible first elements of the ordered pairs in </a:t>
            </a:r>
            <a:r>
              <a:rPr lang="en-US" sz="2000" i="1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f</a:t>
            </a: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 is called the domain of </a:t>
            </a:r>
            <a:r>
              <a:rPr lang="en-US" sz="2000" i="1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f</a:t>
            </a: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 and is denoted </a:t>
            </a:r>
            <a:r>
              <a:rPr lang="en-US" sz="2000" dirty="0" err="1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dom</a:t>
            </a: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f</a:t>
            </a: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 . The set of all possible second elements of the ordered pairs in f is called the </a:t>
            </a:r>
            <a:r>
              <a:rPr lang="en-US" sz="2000" i="1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image</a:t>
            </a: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 of </a:t>
            </a:r>
            <a:r>
              <a:rPr lang="en-US" sz="2000" i="1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f</a:t>
            </a: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 and is denoted </a:t>
            </a:r>
            <a:r>
              <a:rPr lang="en-US" sz="2000" dirty="0" err="1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im</a:t>
            </a: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f</a:t>
            </a: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 .</a:t>
            </a:r>
            <a:endParaRPr lang="en-US" altLang="ko-KR" sz="2000" dirty="0">
              <a:solidFill>
                <a:schemeClr val="tx2"/>
              </a:solidFill>
              <a:latin typeface="Times New Roman" pitchFamily="18" charset="0"/>
              <a:ea typeface="Cambria Math" panose="02040503050406030204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ko-KR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altLang="ko-KR" sz="2000" dirty="0">
              <a:solidFill>
                <a:schemeClr val="tx2"/>
              </a:solidFill>
              <a:latin typeface="Times New Roman" pitchFamily="18" charset="0"/>
              <a:ea typeface="Cambria Math" panose="02040503050406030204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8DAC75-8E4A-866B-6CFE-D22C436C1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96" y="3610182"/>
            <a:ext cx="8905875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8153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23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1.2 Mapping.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6D4537C7-F259-6091-9A23-08E0ED491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99" y="803195"/>
            <a:ext cx="8988425" cy="96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1.2.2</a:t>
            </a:r>
            <a:r>
              <a:rPr lang="en-US" altLang="ko-KR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Domain and Image </a:t>
            </a: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ko-KR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altLang="ko-KR" sz="2000" dirty="0">
              <a:solidFill>
                <a:schemeClr val="tx2"/>
              </a:solidFill>
              <a:latin typeface="Times New Roman" pitchFamily="18" charset="0"/>
              <a:ea typeface="Cambria Math" panose="02040503050406030204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C9D41B-011C-E260-4DAC-A9C77F872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29" y="1750653"/>
            <a:ext cx="8954772" cy="221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43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25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1.2 Mapping.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6D4537C7-F259-6091-9A23-08E0ED491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99" y="803195"/>
            <a:ext cx="8988425" cy="96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1.2.2</a:t>
            </a:r>
            <a:r>
              <a:rPr lang="en-US" altLang="ko-KR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Domain and Image </a:t>
            </a: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ko-KR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altLang="ko-KR" sz="2000" dirty="0">
              <a:solidFill>
                <a:schemeClr val="tx2"/>
              </a:solidFill>
              <a:latin typeface="Times New Roman" pitchFamily="18" charset="0"/>
              <a:ea typeface="Cambria Math" panose="02040503050406030204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C9D41B-011C-E260-4DAC-A9C77F872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29" y="1750653"/>
            <a:ext cx="8954772" cy="22164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3F047F-C56A-5910-E725-4F3D76601B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9225" y="3986158"/>
            <a:ext cx="630555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0723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26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1.2 Mapping.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6D4537C7-F259-6091-9A23-08E0ED491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99" y="803195"/>
            <a:ext cx="8988425" cy="498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1.2.3</a:t>
            </a:r>
            <a:r>
              <a:rPr lang="en-US" altLang="ko-KR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Pictures of Functions</a:t>
            </a: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AA7AFC-1E88-58CD-FA11-E97AE2DB0B58}"/>
              </a:ext>
            </a:extLst>
          </p:cNvPr>
          <p:cNvSpPr txBox="1"/>
          <p:nvPr/>
        </p:nvSpPr>
        <p:spPr>
          <a:xfrm>
            <a:off x="96518" y="1444780"/>
            <a:ext cx="8818881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Graphs provide an excellent way to visualize functions whose inputs and outputs are real numbers.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Example:</a:t>
            </a:r>
          </a:p>
        </p:txBody>
      </p:sp>
      <p:pic>
        <p:nvPicPr>
          <p:cNvPr id="1026" name="Picture 2" descr="Graphing Cosine Function">
            <a:extLst>
              <a:ext uri="{FF2B5EF4-FFF2-40B4-BE49-F238E27FC236}">
                <a16:creationId xmlns:a16="http://schemas.microsoft.com/office/drawing/2014/main" id="{1B0146D1-84B9-6143-6810-CBBFC5DBE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361" y="3255401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85664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27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1.2 Mapping.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6D4537C7-F259-6091-9A23-08E0ED491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99" y="803195"/>
            <a:ext cx="8988425" cy="50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1.2.4</a:t>
            </a:r>
            <a:r>
              <a:rPr lang="en-US" altLang="ko-KR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ounting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Functions</a:t>
            </a: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AA7AFC-1E88-58CD-FA11-E97AE2DB0B58}"/>
              </a:ext>
            </a:extLst>
          </p:cNvPr>
          <p:cNvSpPr txBox="1"/>
          <p:nvPr/>
        </p:nvSpPr>
        <p:spPr>
          <a:xfrm>
            <a:off x="96518" y="1444780"/>
            <a:ext cx="8818881" cy="504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Let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A and B be finite sets. How many functions from A to B are there?.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F2BF3A-8B69-A073-753E-325183444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99" y="2110158"/>
            <a:ext cx="8904288" cy="6472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4E0481-1FFD-48AB-9D8E-D34C9D748B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473" y="3245329"/>
            <a:ext cx="867727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0164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28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1.2 Mapping.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6D4537C7-F259-6091-9A23-08E0ED491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99" y="803195"/>
            <a:ext cx="8988425" cy="50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1.2.5</a:t>
            </a:r>
            <a:r>
              <a:rPr lang="en-US" altLang="ko-KR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Inverse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Functions</a:t>
            </a: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AA7AFC-1E88-58CD-FA11-E97AE2DB0B58}"/>
              </a:ext>
            </a:extLst>
          </p:cNvPr>
          <p:cNvSpPr txBox="1"/>
          <p:nvPr/>
        </p:nvSpPr>
        <p:spPr>
          <a:xfrm>
            <a:off x="96518" y="1444780"/>
            <a:ext cx="8818881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The problem we consider here is: If f is a function from A to B, is f^-1 a function from B to A?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1007CC-3417-A224-C506-24C3CAD51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99" y="2492836"/>
            <a:ext cx="8915399" cy="290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897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29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1.2 Mapping.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6D4537C7-F259-6091-9A23-08E0ED491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99" y="803195"/>
            <a:ext cx="8988425" cy="50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1.2.5</a:t>
            </a:r>
            <a:r>
              <a:rPr lang="en-US" altLang="ko-KR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Inverse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Functions</a:t>
            </a: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AA7AFC-1E88-58CD-FA11-E97AE2DB0B58}"/>
              </a:ext>
            </a:extLst>
          </p:cNvPr>
          <p:cNvSpPr txBox="1"/>
          <p:nvPr/>
        </p:nvSpPr>
        <p:spPr>
          <a:xfrm>
            <a:off x="96518" y="1444780"/>
            <a:ext cx="8818881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AE1388-DDFF-4493-8FF4-D054911C8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99" y="1444780"/>
            <a:ext cx="9047482" cy="6356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F47481-884A-F294-E4E7-1704F492B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59" y="2277588"/>
            <a:ext cx="9047482" cy="3571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4A4C68-ACC3-9A8D-9C58-0FFC232175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42" y="2736592"/>
            <a:ext cx="9047482" cy="6271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49B38E-7CDB-BD5A-AE17-BA55C54F1D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11" y="3474721"/>
            <a:ext cx="9047482" cy="64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3189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30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1.2 Mapping.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6D4537C7-F259-6091-9A23-08E0ED491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99" y="803195"/>
            <a:ext cx="8988425" cy="50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1.2.5</a:t>
            </a:r>
            <a:r>
              <a:rPr lang="en-US" altLang="ko-KR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Inverse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Functions</a:t>
            </a: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AA7AFC-1E88-58CD-FA11-E97AE2DB0B58}"/>
              </a:ext>
            </a:extLst>
          </p:cNvPr>
          <p:cNvSpPr txBox="1"/>
          <p:nvPr/>
        </p:nvSpPr>
        <p:spPr>
          <a:xfrm>
            <a:off x="96518" y="1444780"/>
            <a:ext cx="8818881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A14C45-FD34-F210-C476-DBBB96F52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807" y="1456210"/>
            <a:ext cx="9095331" cy="364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2905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31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1.2 Mapping.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6D4537C7-F259-6091-9A23-08E0ED491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99" y="803195"/>
            <a:ext cx="8988425" cy="50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1.2.5</a:t>
            </a:r>
            <a:r>
              <a:rPr lang="en-US" altLang="ko-KR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Inverse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Functions</a:t>
            </a: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AA7AFC-1E88-58CD-FA11-E97AE2DB0B58}"/>
              </a:ext>
            </a:extLst>
          </p:cNvPr>
          <p:cNvSpPr txBox="1"/>
          <p:nvPr/>
        </p:nvSpPr>
        <p:spPr>
          <a:xfrm>
            <a:off x="96518" y="1444780"/>
            <a:ext cx="8818881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0ADA6C-4326-490D-887C-A28593E79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7" y="1573886"/>
            <a:ext cx="8988425" cy="25090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0DDFEE-2D3A-AC0C-BF35-EDC41A4E8F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" y="4212016"/>
            <a:ext cx="8988425" cy="6415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7B0C1E-D5AA-15F5-6989-A475056A22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86" y="5057962"/>
            <a:ext cx="9016365" cy="33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6493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32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1.2 Mapping.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6D4537C7-F259-6091-9A23-08E0ED491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99" y="803195"/>
            <a:ext cx="8988425" cy="50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1.2.5</a:t>
            </a:r>
            <a:r>
              <a:rPr lang="en-US" altLang="ko-KR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Inverse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Functions</a:t>
            </a:r>
            <a:r>
              <a:rPr lang="en-US" altLang="ko-KR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AA7AFC-1E88-58CD-FA11-E97AE2DB0B58}"/>
              </a:ext>
            </a:extLst>
          </p:cNvPr>
          <p:cNvSpPr txBox="1"/>
          <p:nvPr/>
        </p:nvSpPr>
        <p:spPr>
          <a:xfrm>
            <a:off x="96518" y="1444780"/>
            <a:ext cx="8818881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CDCB19-3DA7-4100-1999-87B9F84E0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" y="1438598"/>
            <a:ext cx="8854618" cy="442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0511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33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41783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1.2 Mapping.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6D4537C7-F259-6091-9A23-08E0ED491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336" y="3105563"/>
            <a:ext cx="8988425" cy="1421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Exercises :24.1-24.24</a:t>
            </a:r>
            <a:endParaRPr lang="en-US" altLang="ko-KR" sz="20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ko-KR" sz="20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ko-KR" sz="20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AA7AFC-1E88-58CD-FA11-E97AE2DB0B58}"/>
              </a:ext>
            </a:extLst>
          </p:cNvPr>
          <p:cNvSpPr txBox="1"/>
          <p:nvPr/>
        </p:nvSpPr>
        <p:spPr>
          <a:xfrm>
            <a:off x="96518" y="1444780"/>
            <a:ext cx="8818881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ea typeface="Cambria Math" panose="02040503050406030204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34D16B-2935-A1DE-0C7E-A2DB8B27E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23" y="1444780"/>
            <a:ext cx="9032878" cy="154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237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15" name="Title 1"/>
          <p:cNvSpPr txBox="1">
            <a:spLocks/>
          </p:cNvSpPr>
          <p:nvPr/>
        </p:nvSpPr>
        <p:spPr>
          <a:xfrm>
            <a:off x="528851" y="2450665"/>
            <a:ext cx="7772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solidFill>
                  <a:schemeClr val="tx2"/>
                </a:solidFill>
                <a:latin typeface="Times New Roman" panose="02020603050405020304" pitchFamily="18" charset="0"/>
                <a:ea typeface="굴림" pitchFamily="34" charset="-127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BE994F5-821C-499E-8BCE-89F9FB45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61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50182</TotalTime>
  <Words>2226</Words>
  <Application>Microsoft Office PowerPoint</Application>
  <PresentationFormat>On-screen Show (4:3)</PresentationFormat>
  <Paragraphs>317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Cambria Math</vt:lpstr>
      <vt:lpstr>Times New Roman</vt:lpstr>
      <vt:lpstr>Wingdings</vt:lpstr>
      <vt:lpstr>Office Theme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HNBach</dc:creator>
  <cp:lastModifiedBy>NGUYỄN HOÀNG THANH</cp:lastModifiedBy>
  <cp:revision>777</cp:revision>
  <cp:lastPrinted>2019-07-29T14:20:40Z</cp:lastPrinted>
  <dcterms:created xsi:type="dcterms:W3CDTF">2010-12-10T06:50:09Z</dcterms:created>
  <dcterms:modified xsi:type="dcterms:W3CDTF">2023-06-14T06:11:21Z</dcterms:modified>
</cp:coreProperties>
</file>