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42"/>
  </p:notesMasterIdLst>
  <p:handoutMasterIdLst>
    <p:handoutMasterId r:id="rId43"/>
  </p:handoutMasterIdLst>
  <p:sldIdLst>
    <p:sldId id="258" r:id="rId2"/>
    <p:sldId id="336" r:id="rId3"/>
    <p:sldId id="401" r:id="rId4"/>
    <p:sldId id="338" r:id="rId5"/>
    <p:sldId id="403" r:id="rId6"/>
    <p:sldId id="404" r:id="rId7"/>
    <p:sldId id="405" r:id="rId8"/>
    <p:sldId id="406" r:id="rId9"/>
    <p:sldId id="407"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2" r:id="rId23"/>
    <p:sldId id="423" r:id="rId24"/>
    <p:sldId id="424" r:id="rId25"/>
    <p:sldId id="425" r:id="rId26"/>
    <p:sldId id="426" r:id="rId27"/>
    <p:sldId id="427" r:id="rId28"/>
    <p:sldId id="428" r:id="rId29"/>
    <p:sldId id="429" r:id="rId30"/>
    <p:sldId id="430" r:id="rId31"/>
    <p:sldId id="431" r:id="rId32"/>
    <p:sldId id="432" r:id="rId33"/>
    <p:sldId id="433" r:id="rId34"/>
    <p:sldId id="434" r:id="rId35"/>
    <p:sldId id="435" r:id="rId36"/>
    <p:sldId id="436" r:id="rId37"/>
    <p:sldId id="437" r:id="rId38"/>
    <p:sldId id="438" r:id="rId39"/>
    <p:sldId id="439" r:id="rId40"/>
    <p:sldId id="330" r:id="rId4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81053" autoAdjust="0"/>
  </p:normalViewPr>
  <p:slideViewPr>
    <p:cSldViewPr>
      <p:cViewPr varScale="1">
        <p:scale>
          <a:sx n="54" d="100"/>
          <a:sy n="54" d="100"/>
        </p:scale>
        <p:origin x="1372" y="52"/>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6/26/2023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6/26/2023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3342732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Là một nhánh của triết học và toán học nghiên cứu về nguyên tắc, phương pháp và tiêu chuẩn hình thức cho sự hợp lệ của suy luận, và kiến thức</a:t>
            </a:r>
            <a:endParaRPr lang="en-US" dirty="0"/>
          </a:p>
          <a:p>
            <a:r>
              <a:rPr lang="en-US" dirty="0"/>
              <a:t>Logic (from the Greek) is the formal systematic study (</a:t>
            </a:r>
            <a:r>
              <a:rPr lang="en-US" dirty="0" err="1"/>
              <a:t>sự</a:t>
            </a:r>
            <a:r>
              <a:rPr lang="en-US" dirty="0"/>
              <a:t> </a:t>
            </a:r>
            <a:r>
              <a:rPr lang="en-US" dirty="0" err="1"/>
              <a:t>nghiên</a:t>
            </a:r>
            <a:r>
              <a:rPr lang="en-US" dirty="0"/>
              <a:t> </a:t>
            </a:r>
            <a:r>
              <a:rPr lang="en-US" dirty="0" err="1"/>
              <a:t>cứu</a:t>
            </a:r>
            <a:r>
              <a:rPr lang="en-US" dirty="0"/>
              <a:t> </a:t>
            </a:r>
            <a:r>
              <a:rPr lang="en-US" dirty="0" err="1"/>
              <a:t>có</a:t>
            </a:r>
            <a:r>
              <a:rPr lang="en-US" dirty="0"/>
              <a:t> </a:t>
            </a:r>
            <a:r>
              <a:rPr lang="en-US" dirty="0" err="1"/>
              <a:t>tính</a:t>
            </a:r>
            <a:r>
              <a:rPr lang="en-US" dirty="0"/>
              <a:t> </a:t>
            </a:r>
            <a:r>
              <a:rPr lang="en-US" dirty="0" err="1"/>
              <a:t>hệ</a:t>
            </a:r>
            <a:r>
              <a:rPr lang="en-US" dirty="0"/>
              <a:t> </a:t>
            </a:r>
            <a:r>
              <a:rPr lang="en-US" dirty="0" err="1"/>
              <a:t>thống</a:t>
            </a:r>
            <a:r>
              <a:rPr lang="en-US" dirty="0"/>
              <a:t>) of the principles (</a:t>
            </a:r>
            <a:r>
              <a:rPr lang="en-US" dirty="0" err="1"/>
              <a:t>quy</a:t>
            </a:r>
            <a:r>
              <a:rPr lang="en-US" dirty="0"/>
              <a:t> </a:t>
            </a:r>
            <a:r>
              <a:rPr lang="en-US" dirty="0" err="1"/>
              <a:t>tắc</a:t>
            </a:r>
            <a:r>
              <a:rPr lang="en-US" dirty="0"/>
              <a:t>) of valid inference and correct reasoning (</a:t>
            </a:r>
            <a:r>
              <a:rPr lang="en-US" dirty="0" err="1"/>
              <a:t>lập</a:t>
            </a:r>
            <a:r>
              <a:rPr lang="en-US" dirty="0"/>
              <a:t> </a:t>
            </a:r>
            <a:r>
              <a:rPr lang="en-US" dirty="0" err="1"/>
              <a:t>luận</a:t>
            </a:r>
            <a:r>
              <a:rPr lang="en-US" dirty="0"/>
              <a:t> </a:t>
            </a:r>
            <a:r>
              <a:rPr lang="en-US" dirty="0" err="1"/>
              <a:t>có</a:t>
            </a:r>
            <a:r>
              <a:rPr lang="en-US" dirty="0"/>
              <a:t> </a:t>
            </a:r>
            <a:r>
              <a:rPr lang="en-US" dirty="0" err="1"/>
              <a:t>căn</a:t>
            </a:r>
            <a:r>
              <a:rPr lang="en-US" dirty="0"/>
              <a:t> </a:t>
            </a:r>
            <a:r>
              <a:rPr lang="en-US" dirty="0" err="1"/>
              <a:t>cứ</a:t>
            </a:r>
            <a:r>
              <a:rPr lang="en-US" dirty="0"/>
              <a:t> </a:t>
            </a:r>
            <a:r>
              <a:rPr lang="en-US" dirty="0" err="1"/>
              <a:t>và</a:t>
            </a:r>
            <a:r>
              <a:rPr lang="en-US" dirty="0"/>
              <a:t> </a:t>
            </a:r>
            <a:r>
              <a:rPr lang="en-US" dirty="0" err="1"/>
              <a:t>suy</a:t>
            </a:r>
            <a:r>
              <a:rPr lang="en-US" dirty="0"/>
              <a:t> </a:t>
            </a:r>
            <a:r>
              <a:rPr lang="en-US" dirty="0" err="1"/>
              <a:t>luận</a:t>
            </a:r>
            <a:r>
              <a:rPr lang="en-US" dirty="0"/>
              <a:t> </a:t>
            </a:r>
            <a:r>
              <a:rPr lang="en-US" dirty="0" err="1"/>
              <a:t>đúng</a:t>
            </a:r>
            <a:r>
              <a:rPr lang="en-US" dirty="0"/>
              <a:t>)</a:t>
            </a:r>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2099475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2945737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1291862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Giả</a:t>
            </a:r>
            <a:r>
              <a:rPr lang="en-US" dirty="0"/>
              <a:t> </a:t>
            </a:r>
            <a:r>
              <a:rPr lang="en-US" dirty="0" err="1"/>
              <a:t>thiết</a:t>
            </a:r>
            <a:r>
              <a:rPr lang="en-US" dirty="0"/>
              <a:t> </a:t>
            </a:r>
            <a:r>
              <a:rPr lang="en-US" dirty="0" err="1"/>
              <a:t>p,q</a:t>
            </a:r>
            <a:r>
              <a:rPr lang="en-US" dirty="0"/>
              <a:t> </a:t>
            </a:r>
            <a:r>
              <a:rPr lang="en-US" dirty="0" err="1"/>
              <a:t>là</a:t>
            </a:r>
            <a:r>
              <a:rPr lang="en-US" dirty="0"/>
              <a:t> </a:t>
            </a:r>
            <a:r>
              <a:rPr lang="en-US" dirty="0" err="1"/>
              <a:t>mệnh</a:t>
            </a:r>
            <a:r>
              <a:rPr lang="en-US" dirty="0"/>
              <a:t> </a:t>
            </a:r>
            <a:r>
              <a:rPr lang="en-US" dirty="0" err="1"/>
              <a:t>đề</a:t>
            </a:r>
            <a:r>
              <a:rPr lang="en-US" dirty="0"/>
              <a:t> ☞ ¬p: </a:t>
            </a:r>
            <a:r>
              <a:rPr lang="en-US" dirty="0" err="1"/>
              <a:t>phủ</a:t>
            </a:r>
            <a:r>
              <a:rPr lang="en-US" dirty="0"/>
              <a:t> </a:t>
            </a:r>
            <a:r>
              <a:rPr lang="en-US" dirty="0" err="1"/>
              <a:t>định</a:t>
            </a:r>
            <a:r>
              <a:rPr lang="en-US" dirty="0"/>
              <a:t> (negation) ☞ p ∧ q: </a:t>
            </a:r>
            <a:r>
              <a:rPr lang="en-US" dirty="0" err="1"/>
              <a:t>toán</a:t>
            </a:r>
            <a:r>
              <a:rPr lang="en-US" dirty="0"/>
              <a:t> </a:t>
            </a:r>
            <a:r>
              <a:rPr lang="en-US" dirty="0" err="1"/>
              <a:t>tử</a:t>
            </a:r>
            <a:r>
              <a:rPr lang="en-US" dirty="0"/>
              <a:t> </a:t>
            </a:r>
            <a:r>
              <a:rPr lang="en-US" dirty="0" err="1"/>
              <a:t>hội</a:t>
            </a:r>
            <a:r>
              <a:rPr lang="en-US" dirty="0"/>
              <a:t> (conjunction) ☞ p ∨ q: </a:t>
            </a:r>
            <a:r>
              <a:rPr lang="en-US" dirty="0" err="1"/>
              <a:t>toán</a:t>
            </a:r>
            <a:r>
              <a:rPr lang="en-US" dirty="0"/>
              <a:t> </a:t>
            </a:r>
            <a:r>
              <a:rPr lang="en-US" dirty="0" err="1"/>
              <a:t>tử</a:t>
            </a:r>
            <a:r>
              <a:rPr lang="en-US" dirty="0"/>
              <a:t> </a:t>
            </a:r>
            <a:r>
              <a:rPr lang="en-US" dirty="0" err="1"/>
              <a:t>tuyển</a:t>
            </a:r>
            <a:r>
              <a:rPr lang="en-US" dirty="0"/>
              <a:t> (disjunction) ☞ p ⊕ q: </a:t>
            </a:r>
            <a:r>
              <a:rPr lang="en-US" dirty="0" err="1"/>
              <a:t>toán</a:t>
            </a:r>
            <a:r>
              <a:rPr lang="en-US" dirty="0"/>
              <a:t> </a:t>
            </a:r>
            <a:r>
              <a:rPr lang="en-US" dirty="0" err="1"/>
              <a:t>tử</a:t>
            </a:r>
            <a:r>
              <a:rPr lang="en-US" dirty="0"/>
              <a:t> </a:t>
            </a:r>
            <a:r>
              <a:rPr lang="en-US" dirty="0" err="1"/>
              <a:t>tuyển</a:t>
            </a:r>
            <a:r>
              <a:rPr lang="en-US" dirty="0"/>
              <a:t> </a:t>
            </a:r>
            <a:r>
              <a:rPr lang="en-US" dirty="0" err="1"/>
              <a:t>loại</a:t>
            </a:r>
            <a:r>
              <a:rPr lang="en-US" dirty="0"/>
              <a:t> (exclusive-OR) ☞ p → q: </a:t>
            </a:r>
            <a:r>
              <a:rPr lang="en-US" dirty="0" err="1"/>
              <a:t>toán</a:t>
            </a:r>
            <a:r>
              <a:rPr lang="en-US" dirty="0"/>
              <a:t> </a:t>
            </a:r>
            <a:r>
              <a:rPr lang="en-US" dirty="0" err="1"/>
              <a:t>tử</a:t>
            </a:r>
            <a:r>
              <a:rPr lang="en-US" dirty="0"/>
              <a:t> </a:t>
            </a:r>
            <a:r>
              <a:rPr lang="en-US" dirty="0" err="1"/>
              <a:t>kéo</a:t>
            </a:r>
            <a:r>
              <a:rPr lang="en-US" dirty="0"/>
              <a:t> </a:t>
            </a:r>
            <a:r>
              <a:rPr lang="en-US" dirty="0" err="1"/>
              <a:t>theo</a:t>
            </a:r>
            <a:r>
              <a:rPr lang="en-US" dirty="0"/>
              <a:t> (implication)</a:t>
            </a:r>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864136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 Câu “Nếu A thì B” trong tiếng Việt thường biểu thị một mối liên hệ giữa A và B về nội dung. Chẳng hạn, A là điều kiện, B là hệ quả (vì vậy mệnh đề loại này còn được gọi là mệnh đề điều kiện), hay A là nguyên nhân, B là kết quả. Nhưng trong logic mệnh đề chúng ta không quan tâm đến mối liên hệ về mặt nội dung đó, mà chỉ quan tâm đến mối liên hệ về giá trị chân lý của chúng mà thôi. Cụ thể là ta sẽ coi là “Nếu A thì B” chỉ sai khi A đúng mà B sai. Trong tất cả các trường hợp khác “Nếu A thì B” đúng. </a:t>
            </a:r>
            <a:endParaRPr lang="en-US" dirty="0"/>
          </a:p>
          <a:p>
            <a:r>
              <a:rPr lang="en-US" dirty="0"/>
              <a:t>Noi </a:t>
            </a:r>
            <a:r>
              <a:rPr lang="en-US" dirty="0" err="1"/>
              <a:t>cach</a:t>
            </a:r>
            <a:r>
              <a:rPr lang="en-US" dirty="0"/>
              <a:t> </a:t>
            </a:r>
            <a:r>
              <a:rPr lang="en-US" dirty="0" err="1"/>
              <a:t>khac</a:t>
            </a:r>
            <a:r>
              <a:rPr lang="en-US" dirty="0"/>
              <a:t> </a:t>
            </a:r>
            <a:r>
              <a:rPr lang="vi-VN" dirty="0"/>
              <a:t>Chỉ sai khi giả thiết (hypothesis) p là đúng nhưng kết luận (conclusion) q là sai </a:t>
            </a: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4031113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p → q ☞ q → p được gọi là mệnh đề đảo (converse) ☞ ¬q → ¬p được gọi là mệnh đề phản đảo (contrapositive)</a:t>
            </a: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3507934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127158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2167220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2898540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3957015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p → q ☞ q → p được gọi là mệnh đề đảo (converse) ☞ ¬q → ¬p được gọi là mệnh đề phản đảo (contrapositive)</a:t>
            </a:r>
            <a:endParaRPr 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2320106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p → q ☞ q → p được gọi là mệnh đề đảo (converse) ☞ ¬q → ¬p được gọi là mệnh đề phản đảo (contrapositive)</a:t>
            </a:r>
            <a:endParaRPr 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3475625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2952961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1641922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583386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3769049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b="0" i="0" dirty="0">
                <a:solidFill>
                  <a:srgbClr val="343541"/>
                </a:solidFill>
                <a:effectLst/>
                <a:latin typeface="Söhne"/>
              </a:rPr>
              <a:t>Predicate (vị từ) là một hàm mệnh đề mô tả thuộc tính của các đối tượng và mối quan hệ giữa chúng</a:t>
            </a: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1546526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b="0" i="0" dirty="0">
                <a:solidFill>
                  <a:srgbClr val="343541"/>
                </a:solidFill>
                <a:effectLst/>
                <a:latin typeface="Söhne"/>
              </a:rPr>
              <a:t>Predicate (vị từ) là một hàm mệnh đề mô tả thuộc tính của các đối tượng và mối quan hệ giữa chúng</a:t>
            </a: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2490207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791761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23</a:t>
            </a:fld>
            <a:endParaRPr lang="en-US"/>
          </a:p>
        </p:txBody>
      </p:sp>
    </p:spTree>
    <p:extLst>
      <p:ext uri="{BB962C8B-B14F-4D97-AF65-F5344CB8AC3E}">
        <p14:creationId xmlns:p14="http://schemas.microsoft.com/office/powerpoint/2010/main" val="635642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Domain (universe) of discourse</a:t>
            </a:r>
          </a:p>
          <a:p>
            <a:r>
              <a:rPr lang="en-US" dirty="0"/>
              <a:t> la vu </a:t>
            </a:r>
            <a:r>
              <a:rPr lang="en-US" dirty="0" err="1"/>
              <a:t>tru</a:t>
            </a:r>
            <a:r>
              <a:rPr lang="en-US" dirty="0"/>
              <a:t> bien </a:t>
            </a:r>
            <a:r>
              <a:rPr lang="en-US" dirty="0" err="1"/>
              <a:t>luan</a:t>
            </a:r>
            <a:endParaRPr lang="en-US" dirty="0"/>
          </a:p>
          <a:p>
            <a:r>
              <a:rPr lang="en-US" dirty="0"/>
              <a:t>Mien ma </a:t>
            </a:r>
            <a:r>
              <a:rPr lang="en-US" dirty="0" err="1"/>
              <a:t>moi</a:t>
            </a:r>
            <a:r>
              <a:rPr lang="en-US" dirty="0"/>
              <a:t> </a:t>
            </a:r>
            <a:r>
              <a:rPr lang="en-US" dirty="0" err="1"/>
              <a:t>gia</a:t>
            </a:r>
            <a:r>
              <a:rPr lang="en-US" dirty="0"/>
              <a:t> tri </a:t>
            </a:r>
            <a:r>
              <a:rPr lang="en-US" dirty="0" err="1"/>
              <a:t>cua</a:t>
            </a:r>
            <a:r>
              <a:rPr lang="en-US" dirty="0"/>
              <a:t> bien dung </a:t>
            </a:r>
            <a:r>
              <a:rPr lang="en-US" dirty="0" err="1"/>
              <a:t>voi</a:t>
            </a:r>
            <a:r>
              <a:rPr lang="en-US" dirty="0"/>
              <a:t> </a:t>
            </a:r>
            <a:r>
              <a:rPr lang="en-US" dirty="0" err="1"/>
              <a:t>tinh</a:t>
            </a:r>
            <a:r>
              <a:rPr lang="en-US" dirty="0"/>
              <a:t> chat </a:t>
            </a:r>
            <a:r>
              <a:rPr lang="en-US" dirty="0" err="1"/>
              <a:t>nao</a:t>
            </a:r>
            <a:r>
              <a:rPr lang="en-US" dirty="0"/>
              <a:t> do</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24</a:t>
            </a:fld>
            <a:endParaRPr lang="en-US"/>
          </a:p>
        </p:txBody>
      </p:sp>
    </p:spTree>
    <p:extLst>
      <p:ext uri="{BB962C8B-B14F-4D97-AF65-F5344CB8AC3E}">
        <p14:creationId xmlns:p14="http://schemas.microsoft.com/office/powerpoint/2010/main" val="712262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Domain (universe) of discourse</a:t>
            </a:r>
          </a:p>
          <a:p>
            <a:r>
              <a:rPr lang="en-US" dirty="0"/>
              <a:t> la vu </a:t>
            </a:r>
            <a:r>
              <a:rPr lang="en-US" dirty="0" err="1"/>
              <a:t>tru</a:t>
            </a:r>
            <a:r>
              <a:rPr lang="en-US" dirty="0"/>
              <a:t> bien </a:t>
            </a:r>
            <a:r>
              <a:rPr lang="en-US" dirty="0" err="1"/>
              <a:t>luan</a:t>
            </a:r>
            <a:endParaRPr lang="en-US" dirty="0"/>
          </a:p>
          <a:p>
            <a:r>
              <a:rPr lang="en-US" dirty="0"/>
              <a:t>Mien ma </a:t>
            </a:r>
            <a:r>
              <a:rPr lang="en-US" dirty="0" err="1"/>
              <a:t>moi</a:t>
            </a:r>
            <a:r>
              <a:rPr lang="en-US" dirty="0"/>
              <a:t> </a:t>
            </a:r>
            <a:r>
              <a:rPr lang="en-US" dirty="0" err="1"/>
              <a:t>gia</a:t>
            </a:r>
            <a:r>
              <a:rPr lang="en-US" dirty="0"/>
              <a:t> tri </a:t>
            </a:r>
            <a:r>
              <a:rPr lang="en-US" dirty="0" err="1"/>
              <a:t>cua</a:t>
            </a:r>
            <a:r>
              <a:rPr lang="en-US" dirty="0"/>
              <a:t> bien dung </a:t>
            </a:r>
            <a:r>
              <a:rPr lang="en-US" dirty="0" err="1"/>
              <a:t>voi</a:t>
            </a:r>
            <a:r>
              <a:rPr lang="en-US" dirty="0"/>
              <a:t> </a:t>
            </a:r>
            <a:r>
              <a:rPr lang="en-US" dirty="0" err="1"/>
              <a:t>tinh</a:t>
            </a:r>
            <a:r>
              <a:rPr lang="en-US" dirty="0"/>
              <a:t> chat </a:t>
            </a:r>
            <a:r>
              <a:rPr lang="en-US" dirty="0" err="1"/>
              <a:t>nao</a:t>
            </a:r>
            <a:r>
              <a:rPr lang="en-US" dirty="0"/>
              <a:t> do</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25</a:t>
            </a:fld>
            <a:endParaRPr lang="en-US"/>
          </a:p>
        </p:txBody>
      </p:sp>
    </p:spTree>
    <p:extLst>
      <p:ext uri="{BB962C8B-B14F-4D97-AF65-F5344CB8AC3E}">
        <p14:creationId xmlns:p14="http://schemas.microsoft.com/office/powerpoint/2010/main" val="42692681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Domain (universe) of discourse</a:t>
            </a:r>
          </a:p>
          <a:p>
            <a:r>
              <a:rPr lang="en-US" dirty="0"/>
              <a:t> la vu </a:t>
            </a:r>
            <a:r>
              <a:rPr lang="en-US" dirty="0" err="1"/>
              <a:t>tru</a:t>
            </a:r>
            <a:r>
              <a:rPr lang="en-US" dirty="0"/>
              <a:t> bien </a:t>
            </a:r>
            <a:r>
              <a:rPr lang="en-US" dirty="0" err="1"/>
              <a:t>luan</a:t>
            </a:r>
            <a:endParaRPr lang="en-US" dirty="0"/>
          </a:p>
          <a:p>
            <a:r>
              <a:rPr lang="en-US" dirty="0"/>
              <a:t>Mien ma </a:t>
            </a:r>
            <a:r>
              <a:rPr lang="en-US" dirty="0" err="1"/>
              <a:t>moi</a:t>
            </a:r>
            <a:r>
              <a:rPr lang="en-US" dirty="0"/>
              <a:t> </a:t>
            </a:r>
            <a:r>
              <a:rPr lang="en-US" dirty="0" err="1"/>
              <a:t>gia</a:t>
            </a:r>
            <a:r>
              <a:rPr lang="en-US" dirty="0"/>
              <a:t> tri </a:t>
            </a:r>
            <a:r>
              <a:rPr lang="en-US" dirty="0" err="1"/>
              <a:t>cua</a:t>
            </a:r>
            <a:r>
              <a:rPr lang="en-US" dirty="0"/>
              <a:t> bien dung </a:t>
            </a:r>
            <a:r>
              <a:rPr lang="en-US" dirty="0" err="1"/>
              <a:t>voi</a:t>
            </a:r>
            <a:r>
              <a:rPr lang="en-US" dirty="0"/>
              <a:t> </a:t>
            </a:r>
            <a:r>
              <a:rPr lang="en-US" dirty="0" err="1"/>
              <a:t>tinh</a:t>
            </a:r>
            <a:r>
              <a:rPr lang="en-US" dirty="0"/>
              <a:t> chat </a:t>
            </a:r>
            <a:r>
              <a:rPr lang="en-US" dirty="0" err="1"/>
              <a:t>nao</a:t>
            </a:r>
            <a:r>
              <a:rPr lang="en-US" dirty="0"/>
              <a:t> do</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26</a:t>
            </a:fld>
            <a:endParaRPr lang="en-US"/>
          </a:p>
        </p:txBody>
      </p:sp>
    </p:spTree>
    <p:extLst>
      <p:ext uri="{BB962C8B-B14F-4D97-AF65-F5344CB8AC3E}">
        <p14:creationId xmlns:p14="http://schemas.microsoft.com/office/powerpoint/2010/main" val="35335878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27</a:t>
            </a:fld>
            <a:endParaRPr lang="en-US"/>
          </a:p>
        </p:txBody>
      </p:sp>
    </p:spTree>
    <p:extLst>
      <p:ext uri="{BB962C8B-B14F-4D97-AF65-F5344CB8AC3E}">
        <p14:creationId xmlns:p14="http://schemas.microsoft.com/office/powerpoint/2010/main" val="25677407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28</a:t>
            </a:fld>
            <a:endParaRPr lang="en-US"/>
          </a:p>
        </p:txBody>
      </p:sp>
    </p:spTree>
    <p:extLst>
      <p:ext uri="{BB962C8B-B14F-4D97-AF65-F5344CB8AC3E}">
        <p14:creationId xmlns:p14="http://schemas.microsoft.com/office/powerpoint/2010/main" val="1344025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29</a:t>
            </a:fld>
            <a:endParaRPr lang="en-US"/>
          </a:p>
        </p:txBody>
      </p:sp>
    </p:spTree>
    <p:extLst>
      <p:ext uri="{BB962C8B-B14F-4D97-AF65-F5344CB8AC3E}">
        <p14:creationId xmlns:p14="http://schemas.microsoft.com/office/powerpoint/2010/main" val="21651031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30</a:t>
            </a:fld>
            <a:endParaRPr lang="en-US"/>
          </a:p>
        </p:txBody>
      </p:sp>
    </p:spTree>
    <p:extLst>
      <p:ext uri="{BB962C8B-B14F-4D97-AF65-F5344CB8AC3E}">
        <p14:creationId xmlns:p14="http://schemas.microsoft.com/office/powerpoint/2010/main" val="35842608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31</a:t>
            </a:fld>
            <a:endParaRPr lang="en-US"/>
          </a:p>
        </p:txBody>
      </p:sp>
    </p:spTree>
    <p:extLst>
      <p:ext uri="{BB962C8B-B14F-4D97-AF65-F5344CB8AC3E}">
        <p14:creationId xmlns:p14="http://schemas.microsoft.com/office/powerpoint/2010/main" val="3807648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32</a:t>
            </a:fld>
            <a:endParaRPr lang="en-US"/>
          </a:p>
        </p:txBody>
      </p:sp>
    </p:spTree>
    <p:extLst>
      <p:ext uri="{BB962C8B-B14F-4D97-AF65-F5344CB8AC3E}">
        <p14:creationId xmlns:p14="http://schemas.microsoft.com/office/powerpoint/2010/main" val="6794092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33</a:t>
            </a:fld>
            <a:endParaRPr lang="en-US"/>
          </a:p>
        </p:txBody>
      </p:sp>
    </p:spTree>
    <p:extLst>
      <p:ext uri="{BB962C8B-B14F-4D97-AF65-F5344CB8AC3E}">
        <p14:creationId xmlns:p14="http://schemas.microsoft.com/office/powerpoint/2010/main" val="3730249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34</a:t>
            </a:fld>
            <a:endParaRPr lang="en-US"/>
          </a:p>
        </p:txBody>
      </p:sp>
    </p:spTree>
    <p:extLst>
      <p:ext uri="{BB962C8B-B14F-4D97-AF65-F5344CB8AC3E}">
        <p14:creationId xmlns:p14="http://schemas.microsoft.com/office/powerpoint/2010/main" val="3692014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35</a:t>
            </a:fld>
            <a:endParaRPr lang="en-US"/>
          </a:p>
        </p:txBody>
      </p:sp>
    </p:spTree>
    <p:extLst>
      <p:ext uri="{BB962C8B-B14F-4D97-AF65-F5344CB8AC3E}">
        <p14:creationId xmlns:p14="http://schemas.microsoft.com/office/powerpoint/2010/main" val="37019266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36</a:t>
            </a:fld>
            <a:endParaRPr lang="en-US"/>
          </a:p>
        </p:txBody>
      </p:sp>
    </p:spTree>
    <p:extLst>
      <p:ext uri="{BB962C8B-B14F-4D97-AF65-F5344CB8AC3E}">
        <p14:creationId xmlns:p14="http://schemas.microsoft.com/office/powerpoint/2010/main" val="1438434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37</a:t>
            </a:fld>
            <a:endParaRPr lang="en-US"/>
          </a:p>
        </p:txBody>
      </p:sp>
    </p:spTree>
    <p:extLst>
      <p:ext uri="{BB962C8B-B14F-4D97-AF65-F5344CB8AC3E}">
        <p14:creationId xmlns:p14="http://schemas.microsoft.com/office/powerpoint/2010/main" val="8298399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38</a:t>
            </a:fld>
            <a:endParaRPr lang="en-US"/>
          </a:p>
        </p:txBody>
      </p:sp>
    </p:spTree>
    <p:extLst>
      <p:ext uri="{BB962C8B-B14F-4D97-AF65-F5344CB8AC3E}">
        <p14:creationId xmlns:p14="http://schemas.microsoft.com/office/powerpoint/2010/main" val="5774307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39</a:t>
            </a:fld>
            <a:endParaRPr lang="en-US"/>
          </a:p>
        </p:txBody>
      </p:sp>
    </p:spTree>
    <p:extLst>
      <p:ext uri="{BB962C8B-B14F-4D97-AF65-F5344CB8AC3E}">
        <p14:creationId xmlns:p14="http://schemas.microsoft.com/office/powerpoint/2010/main" val="25758701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40</a:t>
            </a:fld>
            <a:endParaRPr lang="en-US"/>
          </a:p>
        </p:txBody>
      </p:sp>
    </p:spTree>
    <p:extLst>
      <p:ext uri="{BB962C8B-B14F-4D97-AF65-F5344CB8AC3E}">
        <p14:creationId xmlns:p14="http://schemas.microsoft.com/office/powerpoint/2010/main" val="645517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6/26/2023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6/26/2023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altLang="ko-KR" sz="2200" b="1" dirty="0">
                <a:solidFill>
                  <a:schemeClr val="bg1"/>
                </a:solidFill>
                <a:latin typeface="Times New Roman" panose="02020603050405020304" pitchFamily="18" charset="0"/>
                <a:ea typeface="HY견고딕" pitchFamily="18" charset="-127"/>
                <a:cs typeface="Times New Roman" pitchFamily="18" charset="0"/>
              </a:rPr>
              <a:t>Chapter 2:</a:t>
            </a:r>
          </a:p>
          <a:p>
            <a:pPr algn="ctr" eaLnBrk="0" hangingPunct="0">
              <a:lnSpc>
                <a:spcPct val="150000"/>
              </a:lnSpc>
              <a:defRPr/>
            </a:pPr>
            <a:r>
              <a:rPr lang="en-US" altLang="ko-KR" sz="2200" b="1" dirty="0">
                <a:solidFill>
                  <a:schemeClr val="bg1"/>
                </a:solidFill>
                <a:latin typeface="Times New Roman" panose="02020603050405020304" pitchFamily="18" charset="0"/>
                <a:ea typeface="HY견고딕" pitchFamily="18" charset="-127"/>
                <a:cs typeface="Times New Roman" pitchFamily="18" charset="0"/>
              </a:rPr>
              <a:t>LOGIC</a:t>
            </a:r>
            <a:endParaRPr lang="en-US" altLang="ko-KR" sz="2200" b="1" dirty="0">
              <a:solidFill>
                <a:schemeClr val="bg1"/>
              </a:solidFill>
              <a:effectLst>
                <a:outerShdw blurRad="38100" dist="38100" dir="2700000" algn="tl">
                  <a:srgbClr val="000000"/>
                </a:outerShdw>
              </a:effectLst>
              <a:latin typeface="Times New Roman" pitchFamily="18" charset="0"/>
              <a:ea typeface="HY견고딕" pitchFamily="18" charset="-127"/>
              <a:cs typeface="Times New Roman"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Chapter 2</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528851" y="637643"/>
            <a:ext cx="7772400" cy="468147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2.1. PROPOSITIONAL LOGIC. </a:t>
            </a:r>
          </a:p>
          <a:p>
            <a:pPr algn="just">
              <a:lnSpc>
                <a:spcPct val="200000"/>
              </a:lnSpc>
              <a:defRPr/>
            </a:pPr>
            <a:r>
              <a:rPr lang="en-US" sz="1900" b="1" dirty="0">
                <a:solidFill>
                  <a:schemeClr val="tx2"/>
                </a:solidFill>
                <a:latin typeface="Times New Roman" pitchFamily="18" charset="0"/>
                <a:cs typeface="Times New Roman" pitchFamily="18" charset="0"/>
              </a:rPr>
              <a:t>	2.1.1. Definition. </a:t>
            </a:r>
          </a:p>
          <a:p>
            <a:pPr algn="just">
              <a:lnSpc>
                <a:spcPct val="200000"/>
              </a:lnSpc>
              <a:defRPr/>
            </a:pPr>
            <a:r>
              <a:rPr lang="en-US" sz="1900" b="1" dirty="0">
                <a:solidFill>
                  <a:schemeClr val="tx2"/>
                </a:solidFill>
                <a:latin typeface="Times New Roman" pitchFamily="18" charset="0"/>
                <a:cs typeface="Times New Roman" pitchFamily="18" charset="0"/>
              </a:rPr>
              <a:t>	2.1.2. Operations. </a:t>
            </a:r>
          </a:p>
          <a:p>
            <a:pPr algn="just">
              <a:lnSpc>
                <a:spcPct val="200000"/>
              </a:lnSpc>
              <a:defRPr/>
            </a:pPr>
            <a:r>
              <a:rPr lang="en-US" sz="1900" b="1" dirty="0">
                <a:solidFill>
                  <a:schemeClr val="tx2"/>
                </a:solidFill>
                <a:latin typeface="Times New Roman" pitchFamily="18" charset="0"/>
                <a:cs typeface="Times New Roman" pitchFamily="18" charset="0"/>
              </a:rPr>
              <a:t>	2.1.3. Rules of deduction </a:t>
            </a:r>
          </a:p>
          <a:p>
            <a:pPr algn="just">
              <a:lnSpc>
                <a:spcPct val="200000"/>
              </a:lnSpc>
              <a:defRPr/>
            </a:pPr>
            <a:r>
              <a:rPr lang="en-US" sz="1900" b="1" dirty="0">
                <a:solidFill>
                  <a:schemeClr val="tx2"/>
                </a:solidFill>
                <a:latin typeface="Times New Roman" pitchFamily="18" charset="0"/>
                <a:cs typeface="Times New Roman" pitchFamily="18" charset="0"/>
              </a:rPr>
              <a:t>2.2. PREDICATE LOGIC. </a:t>
            </a:r>
          </a:p>
          <a:p>
            <a:pPr algn="just">
              <a:lnSpc>
                <a:spcPct val="200000"/>
              </a:lnSpc>
              <a:defRPr/>
            </a:pPr>
            <a:r>
              <a:rPr lang="en-US" sz="1900" b="1" dirty="0">
                <a:solidFill>
                  <a:schemeClr val="tx2"/>
                </a:solidFill>
                <a:latin typeface="Times New Roman" pitchFamily="18" charset="0"/>
                <a:cs typeface="Times New Roman" pitchFamily="18" charset="0"/>
              </a:rPr>
              <a:t>	2.2.1. Definition </a:t>
            </a:r>
          </a:p>
          <a:p>
            <a:pPr algn="just">
              <a:lnSpc>
                <a:spcPct val="200000"/>
              </a:lnSpc>
              <a:defRPr/>
            </a:pPr>
            <a:r>
              <a:rPr lang="en-US" sz="1900" b="1" dirty="0">
                <a:solidFill>
                  <a:schemeClr val="tx2"/>
                </a:solidFill>
                <a:latin typeface="Times New Roman" pitchFamily="18" charset="0"/>
                <a:cs typeface="Times New Roman" pitchFamily="18" charset="0"/>
              </a:rPr>
              <a:t>	2.2.2. Amount of words </a:t>
            </a:r>
          </a:p>
          <a:p>
            <a:pPr algn="just">
              <a:lnSpc>
                <a:spcPct val="200000"/>
              </a:lnSpc>
              <a:defRPr/>
            </a:pPr>
            <a:r>
              <a:rPr lang="en-US" sz="1900" b="1" dirty="0">
                <a:solidFill>
                  <a:schemeClr val="tx2"/>
                </a:solidFill>
                <a:latin typeface="Times New Roman" pitchFamily="18" charset="0"/>
                <a:cs typeface="Times New Roman" pitchFamily="18" charset="0"/>
              </a:rPr>
              <a:t>	2.2.3. Rules of inference with word quantity </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Chapter 2</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528851" y="637643"/>
            <a:ext cx="77724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2.3. PROOF. </a:t>
            </a:r>
          </a:p>
          <a:p>
            <a:pPr algn="just">
              <a:lnSpc>
                <a:spcPct val="200000"/>
              </a:lnSpc>
              <a:defRPr/>
            </a:pPr>
            <a:r>
              <a:rPr lang="en-US" sz="1900" b="1" dirty="0">
                <a:solidFill>
                  <a:schemeClr val="tx2"/>
                </a:solidFill>
                <a:latin typeface="Times New Roman" pitchFamily="18" charset="0"/>
                <a:cs typeface="Times New Roman" pitchFamily="18" charset="0"/>
              </a:rPr>
              <a:t>	2.3.1. Prove directly</a:t>
            </a:r>
          </a:p>
          <a:p>
            <a:pPr algn="just">
              <a:lnSpc>
                <a:spcPct val="200000"/>
              </a:lnSpc>
              <a:defRPr/>
            </a:pPr>
            <a:r>
              <a:rPr lang="en-US" sz="1900" b="1" dirty="0">
                <a:solidFill>
                  <a:schemeClr val="tx2"/>
                </a:solidFill>
                <a:latin typeface="Times New Roman" pitchFamily="18" charset="0"/>
                <a:cs typeface="Times New Roman" pitchFamily="18" charset="0"/>
              </a:rPr>
              <a:t>	2.3.2. Indirect proof</a:t>
            </a:r>
          </a:p>
        </p:txBody>
      </p:sp>
    </p:spTree>
    <p:extLst>
      <p:ext uri="{BB962C8B-B14F-4D97-AF65-F5344CB8AC3E}">
        <p14:creationId xmlns:p14="http://schemas.microsoft.com/office/powerpoint/2010/main" val="1223364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2.1.1 Definition.</a:t>
            </a:r>
          </a:p>
          <a:p>
            <a:r>
              <a:rPr lang="en-US" altLang="ko-KR" dirty="0"/>
              <a:t>	</a:t>
            </a:r>
            <a:r>
              <a:rPr lang="en-US" b="0" dirty="0"/>
              <a:t> </a:t>
            </a:r>
            <a:r>
              <a:rPr lang="en-US" dirty="0"/>
              <a:t>Logic:</a:t>
            </a:r>
            <a:r>
              <a:rPr lang="en-US" b="0" dirty="0"/>
              <a:t> (from the Greek) is the formal systematic study of the principles of valid inference and correct reasoning </a:t>
            </a:r>
            <a:r>
              <a:rPr lang="en-US" dirty="0"/>
              <a:t>	</a:t>
            </a:r>
          </a:p>
          <a:p>
            <a:r>
              <a:rPr lang="en-US" altLang="ko-KR" dirty="0"/>
              <a:t>What does logic use for?</a:t>
            </a:r>
          </a:p>
          <a:p>
            <a:r>
              <a:rPr lang="en-US" altLang="en-US" b="0" dirty="0"/>
              <a:t>Mathematical reasoning </a:t>
            </a:r>
          </a:p>
          <a:p>
            <a:r>
              <a:rPr lang="en-US" altLang="en-US" b="0" dirty="0"/>
              <a:t> Computer science:</a:t>
            </a:r>
          </a:p>
          <a:p>
            <a:r>
              <a:rPr lang="en-US" altLang="en-US" b="0" dirty="0"/>
              <a:t>	Building programs</a:t>
            </a:r>
          </a:p>
          <a:p>
            <a:r>
              <a:rPr lang="en-US" altLang="en-US" b="0" dirty="0"/>
              <a:t>	Testing program</a:t>
            </a:r>
          </a:p>
          <a:p>
            <a:r>
              <a:rPr lang="en-US" altLang="en-US" b="0" dirty="0"/>
              <a:t>	Artificial intelligence</a:t>
            </a:r>
          </a:p>
          <a:p>
            <a:endParaRPr lang="en-US" altLang="ko-KR" dirty="0"/>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7415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73031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2.1.1 Definition.</a:t>
            </a:r>
          </a:p>
          <a:p>
            <a:r>
              <a:rPr lang="en-US" altLang="ko-KR" dirty="0"/>
              <a:t>	</a:t>
            </a:r>
            <a:r>
              <a:rPr lang="en-US" dirty="0"/>
              <a:t> Proposition:  </a:t>
            </a:r>
            <a:r>
              <a:rPr lang="en-US" b="0" dirty="0"/>
              <a:t>a sentence that expresses an idea about how something is</a:t>
            </a:r>
          </a:p>
          <a:p>
            <a:r>
              <a:rPr lang="en-US" b="0" dirty="0"/>
              <a:t>	Example: It’s going to rain tomorrow</a:t>
            </a:r>
          </a:p>
          <a:p>
            <a:r>
              <a:rPr lang="en-US" dirty="0"/>
              <a:t>Statements fall into three categories:  </a:t>
            </a:r>
          </a:p>
          <a:p>
            <a:pPr marL="1257300" lvl="2"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Statements we know to be true because we can prove them—theorems.  </a:t>
            </a:r>
          </a:p>
          <a:p>
            <a:pPr marL="1257300" lvl="2"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Statements whose truth we cannot ascertain—conjectures.  </a:t>
            </a:r>
          </a:p>
          <a:p>
            <a:pPr marL="1257300" lvl="2"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Statements that are false—mistakes!</a:t>
            </a:r>
            <a:endParaRPr lang="en-US" altLang="ko-KR" sz="2000" dirty="0">
              <a:solidFill>
                <a:schemeClr val="tx2"/>
              </a:solidFill>
              <a:latin typeface="Times New Roman" pitchFamily="18" charset="0"/>
              <a:cs typeface="Times New Roman" pitchFamily="18" charset="0"/>
            </a:endParaRPr>
          </a:p>
          <a:p>
            <a:r>
              <a:rPr lang="en-US" altLang="ko-KR" dirty="0"/>
              <a:t>Team works: Give examples about statement</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5060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57697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2.1.1 Definition.</a:t>
            </a:r>
          </a:p>
          <a:p>
            <a:pPr marL="342900" indent="-342900">
              <a:buFont typeface="Arial" panose="020B0604020202020204" pitchFamily="34" charset="0"/>
              <a:buChar char="•"/>
            </a:pPr>
            <a:r>
              <a:rPr lang="en-US" b="0" i="1" dirty="0"/>
              <a:t> </a:t>
            </a:r>
            <a:r>
              <a:rPr lang="en-US" b="0" i="1" dirty="0" err="1"/>
              <a:t>p,q,r</a:t>
            </a:r>
            <a:r>
              <a:rPr lang="en-US" b="0" i="1" dirty="0"/>
              <a:t> </a:t>
            </a:r>
            <a:r>
              <a:rPr lang="en-US" b="0" dirty="0"/>
              <a:t>for statement notations</a:t>
            </a:r>
          </a:p>
          <a:p>
            <a:pPr marL="342900" indent="-342900">
              <a:buFont typeface="Arial" panose="020B0604020202020204" pitchFamily="34" charset="0"/>
              <a:buChar char="•"/>
            </a:pPr>
            <a:r>
              <a:rPr lang="en-US" sz="2000" b="0" dirty="0">
                <a:solidFill>
                  <a:schemeClr val="tx2"/>
                </a:solidFill>
                <a:latin typeface="Times New Roman" pitchFamily="18" charset="0"/>
                <a:cs typeface="Times New Roman" pitchFamily="18" charset="0"/>
              </a:rPr>
              <a:t>A statements is True, T</a:t>
            </a:r>
          </a:p>
          <a:p>
            <a:pPr marL="342900" indent="-342900">
              <a:buFont typeface="Arial" panose="020B0604020202020204" pitchFamily="34" charset="0"/>
              <a:buChar char="•"/>
            </a:pPr>
            <a:r>
              <a:rPr lang="en-US" sz="2000" b="0" dirty="0">
                <a:solidFill>
                  <a:schemeClr val="tx2"/>
                </a:solidFill>
                <a:latin typeface="Times New Roman" pitchFamily="18" charset="0"/>
                <a:cs typeface="Times New Roman" pitchFamily="18" charset="0"/>
              </a:rPr>
              <a:t>A statements is False, F</a:t>
            </a:r>
          </a:p>
          <a:p>
            <a:pPr marL="342900" indent="-342900">
              <a:buFont typeface="Arial" panose="020B0604020202020204" pitchFamily="34" charset="0"/>
              <a:buChar char="•"/>
            </a:pPr>
            <a:r>
              <a:rPr lang="en-US" b="0" dirty="0"/>
              <a:t>A truth table represents the relationship between the truth values of propositions</a:t>
            </a:r>
          </a:p>
          <a:p>
            <a:pPr marL="342900" indent="-342900">
              <a:buFont typeface="Arial" panose="020B0604020202020204" pitchFamily="34" charset="0"/>
              <a:buChar char="•"/>
            </a:pPr>
            <a:r>
              <a:rPr lang="en-US" b="0" dirty="0"/>
              <a:t>Example:</a:t>
            </a:r>
          </a:p>
          <a:p>
            <a:pPr marL="342900" indent="-342900">
              <a:buFont typeface="Arial" panose="020B0604020202020204" pitchFamily="34" charset="0"/>
              <a:buChar char="•"/>
            </a:pPr>
            <a:endParaRPr lang="en-US" b="0" dirty="0"/>
          </a:p>
          <a:p>
            <a:pPr marL="342900" indent="-342900">
              <a:buFont typeface="Arial" panose="020B0604020202020204" pitchFamily="34" charset="0"/>
              <a:buChar char="•"/>
            </a:pPr>
            <a:endParaRPr lang="en-US" b="0" dirty="0"/>
          </a:p>
          <a:p>
            <a:pPr marL="342900" indent="-342900">
              <a:buFont typeface="Arial" panose="020B0604020202020204" pitchFamily="34" charset="0"/>
              <a:buChar char="•"/>
            </a:pPr>
            <a:endParaRPr lang="en-US" b="0" dirty="0"/>
          </a:p>
          <a:p>
            <a:pPr marL="342900" indent="-342900">
              <a:buFont typeface="Arial" panose="020B0604020202020204" pitchFamily="34" charset="0"/>
              <a:buChar char="•"/>
            </a:pPr>
            <a:endParaRPr lang="en-US" b="0" dirty="0"/>
          </a:p>
          <a:p>
            <a:pPr marL="342900" indent="-342900">
              <a:buFont typeface="Arial" panose="020B0604020202020204" pitchFamily="34" charset="0"/>
              <a:buChar char="•"/>
            </a:pPr>
            <a:r>
              <a:rPr lang="en-US" b="0" dirty="0"/>
              <a:t>A compound proposition is formed by combining existing propositions with logical operators.</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397E1E91-C084-4BC5-23E2-BF11A4491BCB}"/>
                  </a:ext>
                </a:extLst>
              </p:cNvPr>
              <p:cNvGraphicFramePr>
                <a:graphicFrameLocks noGrp="1"/>
              </p:cNvGraphicFramePr>
              <p:nvPr/>
            </p:nvGraphicFramePr>
            <p:xfrm>
              <a:off x="1535111" y="4196561"/>
              <a:ext cx="6096000" cy="11633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62410646"/>
                        </a:ext>
                      </a:extLst>
                    </a:gridCol>
                    <a:gridCol w="3048000">
                      <a:extLst>
                        <a:ext uri="{9D8B030D-6E8A-4147-A177-3AD203B41FA5}">
                          <a16:colId xmlns:a16="http://schemas.microsoft.com/office/drawing/2014/main" val="2365697786"/>
                        </a:ext>
                      </a:extLst>
                    </a:gridCol>
                  </a:tblGrid>
                  <a:tr h="370840">
                    <a:tc>
                      <a:txBody>
                        <a:bodyPr/>
                        <a:lstStyle/>
                        <a:p>
                          <a:pPr algn="ctr"/>
                          <a:r>
                            <a:rPr lang="en-US" i="1" dirty="0"/>
                            <a:t>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i="1" dirty="0"/>
                            <a:t>p</a:t>
                          </a:r>
                        </a:p>
                      </a:txBody>
                      <a:tcPr/>
                    </a:tc>
                    <a:extLst>
                      <a:ext uri="{0D108BD9-81ED-4DB2-BD59-A6C34878D82A}">
                        <a16:rowId xmlns:a16="http://schemas.microsoft.com/office/drawing/2014/main" val="4124910907"/>
                      </a:ext>
                    </a:extLst>
                  </a:tr>
                  <a:tr h="370840">
                    <a:tc>
                      <a:txBody>
                        <a:bodyPr/>
                        <a:lstStyle/>
                        <a:p>
                          <a:pPr algn="ctr"/>
                          <a:r>
                            <a:rPr lang="en-US" sz="2000" b="0" kern="1200" dirty="0">
                              <a:solidFill>
                                <a:schemeClr val="tx2"/>
                              </a:solidFill>
                              <a:latin typeface="Times New Roman" pitchFamily="18" charset="0"/>
                              <a:ea typeface="+mn-ea"/>
                              <a:cs typeface="Times New Roman" pitchFamily="18" charset="0"/>
                            </a:rPr>
                            <a:t>T</a:t>
                          </a:r>
                        </a:p>
                      </a:txBody>
                      <a:tcPr/>
                    </a:tc>
                    <a:tc>
                      <a:txBody>
                        <a:bodyPr/>
                        <a:lstStyle/>
                        <a:p>
                          <a:pPr algn="ctr"/>
                          <a:r>
                            <a:rPr lang="en-US" sz="2000" b="0" kern="1200" dirty="0">
                              <a:solidFill>
                                <a:schemeClr val="tx2"/>
                              </a:solidFill>
                              <a:latin typeface="Times New Roman" pitchFamily="18" charset="0"/>
                              <a:ea typeface="+mn-ea"/>
                              <a:cs typeface="Times New Roman" pitchFamily="18" charset="0"/>
                            </a:rPr>
                            <a:t>F</a:t>
                          </a:r>
                        </a:p>
                      </a:txBody>
                      <a:tcPr/>
                    </a:tc>
                    <a:extLst>
                      <a:ext uri="{0D108BD9-81ED-4DB2-BD59-A6C34878D82A}">
                        <a16:rowId xmlns:a16="http://schemas.microsoft.com/office/drawing/2014/main" val="1719372556"/>
                      </a:ext>
                    </a:extLst>
                  </a:tr>
                  <a:tr h="370840">
                    <a:tc>
                      <a:txBody>
                        <a:bodyPr/>
                        <a:lstStyle/>
                        <a:p>
                          <a:pPr algn="ctr"/>
                          <a:r>
                            <a:rPr lang="en-US" sz="2000" b="0" kern="1200" dirty="0">
                              <a:solidFill>
                                <a:schemeClr val="tx2"/>
                              </a:solidFill>
                              <a:latin typeface="Times New Roman" pitchFamily="18" charset="0"/>
                              <a:ea typeface="+mn-ea"/>
                              <a:cs typeface="Times New Roman" pitchFamily="18" charset="0"/>
                            </a:rPr>
                            <a:t>F</a:t>
                          </a:r>
                        </a:p>
                      </a:txBody>
                      <a:tcPr/>
                    </a:tc>
                    <a:tc>
                      <a:txBody>
                        <a:bodyPr/>
                        <a:lstStyle/>
                        <a:p>
                          <a:pPr algn="ctr"/>
                          <a:r>
                            <a:rPr lang="en-US" sz="2000" b="0" kern="1200" dirty="0">
                              <a:solidFill>
                                <a:schemeClr val="tx2"/>
                              </a:solidFill>
                              <a:latin typeface="Times New Roman" pitchFamily="18" charset="0"/>
                              <a:ea typeface="+mn-ea"/>
                              <a:cs typeface="Times New Roman" pitchFamily="18" charset="0"/>
                            </a:rPr>
                            <a:t>T</a:t>
                          </a:r>
                        </a:p>
                      </a:txBody>
                      <a:tcPr/>
                    </a:tc>
                    <a:extLst>
                      <a:ext uri="{0D108BD9-81ED-4DB2-BD59-A6C34878D82A}">
                        <a16:rowId xmlns:a16="http://schemas.microsoft.com/office/drawing/2014/main" val="3947197885"/>
                      </a:ext>
                    </a:extLst>
                  </a:tr>
                </a:tbl>
              </a:graphicData>
            </a:graphic>
          </p:graphicFrame>
        </mc:Choice>
        <mc:Fallback xmlns="">
          <p:graphicFrame>
            <p:nvGraphicFramePr>
              <p:cNvPr id="3" name="Table 6">
                <a:extLst>
                  <a:ext uri="{FF2B5EF4-FFF2-40B4-BE49-F238E27FC236}">
                    <a16:creationId xmlns:a16="http://schemas.microsoft.com/office/drawing/2014/main" id="{397E1E91-C084-4BC5-23E2-BF11A4491BCB}"/>
                  </a:ext>
                </a:extLst>
              </p:cNvPr>
              <p:cNvGraphicFramePr>
                <a:graphicFrameLocks noGrp="1"/>
              </p:cNvGraphicFramePr>
              <p:nvPr/>
            </p:nvGraphicFramePr>
            <p:xfrm>
              <a:off x="1535111" y="4196561"/>
              <a:ext cx="6096000" cy="11633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62410646"/>
                        </a:ext>
                      </a:extLst>
                    </a:gridCol>
                    <a:gridCol w="3048000">
                      <a:extLst>
                        <a:ext uri="{9D8B030D-6E8A-4147-A177-3AD203B41FA5}">
                          <a16:colId xmlns:a16="http://schemas.microsoft.com/office/drawing/2014/main" val="2365697786"/>
                        </a:ext>
                      </a:extLst>
                    </a:gridCol>
                  </a:tblGrid>
                  <a:tr h="370840">
                    <a:tc>
                      <a:txBody>
                        <a:bodyPr/>
                        <a:lstStyle/>
                        <a:p>
                          <a:pPr algn="ctr"/>
                          <a:r>
                            <a:rPr lang="en-US" i="1" dirty="0"/>
                            <a:t>p</a:t>
                          </a:r>
                        </a:p>
                      </a:txBody>
                      <a:tcPr/>
                    </a:tc>
                    <a:tc>
                      <a:txBody>
                        <a:bodyPr/>
                        <a:lstStyle/>
                        <a:p>
                          <a:endParaRPr lang="en-US"/>
                        </a:p>
                      </a:txBody>
                      <a:tcPr>
                        <a:blipFill>
                          <a:blip r:embed="rId4"/>
                          <a:stretch>
                            <a:fillRect l="-100400" t="-8197" r="-800" b="-242623"/>
                          </a:stretch>
                        </a:blipFill>
                      </a:tcPr>
                    </a:tc>
                    <a:extLst>
                      <a:ext uri="{0D108BD9-81ED-4DB2-BD59-A6C34878D82A}">
                        <a16:rowId xmlns:a16="http://schemas.microsoft.com/office/drawing/2014/main" val="4124910907"/>
                      </a:ext>
                    </a:extLst>
                  </a:tr>
                  <a:tr h="396240">
                    <a:tc>
                      <a:txBody>
                        <a:bodyPr/>
                        <a:lstStyle/>
                        <a:p>
                          <a:pPr algn="ctr"/>
                          <a:r>
                            <a:rPr lang="en-US" sz="2000" b="0" kern="1200" dirty="0">
                              <a:solidFill>
                                <a:schemeClr val="tx2"/>
                              </a:solidFill>
                              <a:latin typeface="Times New Roman" pitchFamily="18" charset="0"/>
                              <a:ea typeface="+mn-ea"/>
                              <a:cs typeface="Times New Roman" pitchFamily="18" charset="0"/>
                            </a:rPr>
                            <a:t>T</a:t>
                          </a:r>
                        </a:p>
                      </a:txBody>
                      <a:tcPr/>
                    </a:tc>
                    <a:tc>
                      <a:txBody>
                        <a:bodyPr/>
                        <a:lstStyle/>
                        <a:p>
                          <a:pPr algn="ctr"/>
                          <a:r>
                            <a:rPr lang="en-US" sz="2000" b="0" kern="1200" dirty="0">
                              <a:solidFill>
                                <a:schemeClr val="tx2"/>
                              </a:solidFill>
                              <a:latin typeface="Times New Roman" pitchFamily="18" charset="0"/>
                              <a:ea typeface="+mn-ea"/>
                              <a:cs typeface="Times New Roman" pitchFamily="18" charset="0"/>
                            </a:rPr>
                            <a:t>F</a:t>
                          </a:r>
                        </a:p>
                      </a:txBody>
                      <a:tcPr/>
                    </a:tc>
                    <a:extLst>
                      <a:ext uri="{0D108BD9-81ED-4DB2-BD59-A6C34878D82A}">
                        <a16:rowId xmlns:a16="http://schemas.microsoft.com/office/drawing/2014/main" val="1719372556"/>
                      </a:ext>
                    </a:extLst>
                  </a:tr>
                  <a:tr h="396240">
                    <a:tc>
                      <a:txBody>
                        <a:bodyPr/>
                        <a:lstStyle/>
                        <a:p>
                          <a:pPr algn="ctr"/>
                          <a:r>
                            <a:rPr lang="en-US" sz="2000" b="0" kern="1200" dirty="0">
                              <a:solidFill>
                                <a:schemeClr val="tx2"/>
                              </a:solidFill>
                              <a:latin typeface="Times New Roman" pitchFamily="18" charset="0"/>
                              <a:ea typeface="+mn-ea"/>
                              <a:cs typeface="Times New Roman" pitchFamily="18" charset="0"/>
                            </a:rPr>
                            <a:t>F</a:t>
                          </a:r>
                        </a:p>
                      </a:txBody>
                      <a:tcPr/>
                    </a:tc>
                    <a:tc>
                      <a:txBody>
                        <a:bodyPr/>
                        <a:lstStyle/>
                        <a:p>
                          <a:pPr algn="ctr"/>
                          <a:r>
                            <a:rPr lang="en-US" sz="2000" b="0" kern="1200" dirty="0">
                              <a:solidFill>
                                <a:schemeClr val="tx2"/>
                              </a:solidFill>
                              <a:latin typeface="Times New Roman" pitchFamily="18" charset="0"/>
                              <a:ea typeface="+mn-ea"/>
                              <a:cs typeface="Times New Roman" pitchFamily="18" charset="0"/>
                            </a:rPr>
                            <a:t>T</a:t>
                          </a:r>
                        </a:p>
                      </a:txBody>
                      <a:tcPr/>
                    </a:tc>
                    <a:extLst>
                      <a:ext uri="{0D108BD9-81ED-4DB2-BD59-A6C34878D82A}">
                        <a16:rowId xmlns:a16="http://schemas.microsoft.com/office/drawing/2014/main" val="3947197885"/>
                      </a:ext>
                    </a:extLst>
                  </a:tr>
                </a:tbl>
              </a:graphicData>
            </a:graphic>
          </p:graphicFrame>
        </mc:Fallback>
      </mc:AlternateContent>
    </p:spTree>
    <p:extLst>
      <p:ext uri="{BB962C8B-B14F-4D97-AF65-F5344CB8AC3E}">
        <p14:creationId xmlns:p14="http://schemas.microsoft.com/office/powerpoint/2010/main" val="2447267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093428"/>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2.1.2. Operations</a:t>
            </a:r>
            <a:r>
              <a:rPr lang="en-US" altLang="ko-KR" dirty="0"/>
              <a:t>.</a:t>
            </a:r>
          </a:p>
          <a:p>
            <a:pPr marL="342900" indent="-342900">
              <a:buFont typeface="Arial" panose="020B0604020202020204" pitchFamily="34" charset="0"/>
              <a:buChar char="•"/>
            </a:pPr>
            <a:r>
              <a:rPr lang="en-US" b="0" i="1" dirty="0"/>
              <a:t> </a:t>
            </a:r>
            <a:r>
              <a:rPr lang="en-US" b="0" dirty="0"/>
              <a:t>Assume that </a:t>
            </a:r>
            <a:r>
              <a:rPr lang="en-US" b="0" i="1" dirty="0"/>
              <a:t>p, q </a:t>
            </a:r>
            <a:r>
              <a:rPr lang="en-US" b="0" dirty="0"/>
              <a:t>are statements</a:t>
            </a:r>
          </a:p>
          <a:p>
            <a:pPr marL="800100" lvl="1" indent="-342900">
              <a:lnSpc>
                <a:spcPct val="150000"/>
              </a:lnSpc>
              <a:buFont typeface="Wingdings" panose="05000000000000000000" pitchFamily="2" charset="2"/>
              <a:buChar char="ü"/>
            </a:pPr>
            <a:r>
              <a:rPr lang="en-US" sz="2000" dirty="0">
                <a:solidFill>
                  <a:schemeClr val="tx2"/>
                </a:solidFill>
                <a:latin typeface="Times New Roman" pitchFamily="18" charset="0"/>
                <a:cs typeface="Times New Roman" pitchFamily="18" charset="0"/>
              </a:rPr>
              <a:t>¬</a:t>
            </a:r>
            <a:r>
              <a:rPr lang="en-US" sz="2000" i="1" dirty="0">
                <a:solidFill>
                  <a:schemeClr val="tx2"/>
                </a:solidFill>
                <a:latin typeface="Times New Roman" pitchFamily="18" charset="0"/>
                <a:cs typeface="Times New Roman" pitchFamily="18" charset="0"/>
              </a:rPr>
              <a:t>p</a:t>
            </a:r>
            <a:r>
              <a:rPr lang="en-US" sz="2000" dirty="0">
                <a:solidFill>
                  <a:schemeClr val="tx2"/>
                </a:solidFill>
                <a:latin typeface="Times New Roman" pitchFamily="18" charset="0"/>
                <a:cs typeface="Times New Roman" pitchFamily="18" charset="0"/>
              </a:rPr>
              <a:t>: negation </a:t>
            </a:r>
          </a:p>
          <a:p>
            <a:pPr marL="800100" lvl="1" indent="-342900">
              <a:lnSpc>
                <a:spcPct val="150000"/>
              </a:lnSpc>
              <a:buFont typeface="Wingdings" panose="05000000000000000000" pitchFamily="2" charset="2"/>
              <a:buChar char="ü"/>
            </a:pPr>
            <a:r>
              <a:rPr lang="en-US" sz="2000" dirty="0">
                <a:solidFill>
                  <a:schemeClr val="tx2"/>
                </a:solidFill>
                <a:latin typeface="Times New Roman" pitchFamily="18" charset="0"/>
                <a:cs typeface="Times New Roman" pitchFamily="18" charset="0"/>
              </a:rPr>
              <a:t> </a:t>
            </a:r>
            <a:r>
              <a:rPr lang="en-US" sz="2000" i="1" dirty="0">
                <a:solidFill>
                  <a:schemeClr val="tx2"/>
                </a:solidFill>
                <a:latin typeface="Times New Roman" pitchFamily="18" charset="0"/>
                <a:cs typeface="Times New Roman" pitchFamily="18" charset="0"/>
              </a:rPr>
              <a:t>p</a:t>
            </a:r>
            <a:r>
              <a:rPr lang="en-US" sz="2000" dirty="0">
                <a:solidFill>
                  <a:schemeClr val="tx2"/>
                </a:solidFill>
                <a:latin typeface="Times New Roman" pitchFamily="18" charset="0"/>
                <a:cs typeface="Times New Roman" pitchFamily="18" charset="0"/>
              </a:rPr>
              <a:t> ∧ </a:t>
            </a:r>
            <a:r>
              <a:rPr lang="en-US" sz="2000" i="1" dirty="0">
                <a:solidFill>
                  <a:schemeClr val="tx2"/>
                </a:solidFill>
                <a:latin typeface="Times New Roman" pitchFamily="18" charset="0"/>
                <a:cs typeface="Times New Roman" pitchFamily="18" charset="0"/>
              </a:rPr>
              <a:t>q</a:t>
            </a:r>
            <a:r>
              <a:rPr lang="en-US" sz="2000" dirty="0">
                <a:solidFill>
                  <a:schemeClr val="tx2"/>
                </a:solidFill>
                <a:latin typeface="Times New Roman" pitchFamily="18" charset="0"/>
                <a:cs typeface="Times New Roman" pitchFamily="18" charset="0"/>
              </a:rPr>
              <a:t>: conjunction</a:t>
            </a:r>
          </a:p>
          <a:p>
            <a:pPr marL="800100" lvl="1" indent="-342900">
              <a:lnSpc>
                <a:spcPct val="150000"/>
              </a:lnSpc>
              <a:buFont typeface="Wingdings" panose="05000000000000000000" pitchFamily="2" charset="2"/>
              <a:buChar char="ü"/>
            </a:pPr>
            <a:r>
              <a:rPr lang="en-US" sz="2000" i="1" dirty="0">
                <a:solidFill>
                  <a:schemeClr val="tx2"/>
                </a:solidFill>
                <a:latin typeface="Times New Roman" pitchFamily="18" charset="0"/>
                <a:cs typeface="Times New Roman" pitchFamily="18" charset="0"/>
              </a:rPr>
              <a:t> p</a:t>
            </a:r>
            <a:r>
              <a:rPr lang="en-US" sz="2000" dirty="0">
                <a:solidFill>
                  <a:schemeClr val="tx2"/>
                </a:solidFill>
                <a:latin typeface="Times New Roman" pitchFamily="18" charset="0"/>
                <a:cs typeface="Times New Roman" pitchFamily="18" charset="0"/>
              </a:rPr>
              <a:t> ∨ </a:t>
            </a:r>
            <a:r>
              <a:rPr lang="en-US" sz="2000" i="1" dirty="0">
                <a:solidFill>
                  <a:schemeClr val="tx2"/>
                </a:solidFill>
                <a:latin typeface="Times New Roman" pitchFamily="18" charset="0"/>
                <a:cs typeface="Times New Roman" pitchFamily="18" charset="0"/>
              </a:rPr>
              <a:t>q</a:t>
            </a:r>
            <a:r>
              <a:rPr lang="en-US" sz="2000" dirty="0">
                <a:solidFill>
                  <a:schemeClr val="tx2"/>
                </a:solidFill>
                <a:latin typeface="Times New Roman" pitchFamily="18" charset="0"/>
                <a:cs typeface="Times New Roman" pitchFamily="18" charset="0"/>
              </a:rPr>
              <a:t>: disjunction</a:t>
            </a:r>
          </a:p>
          <a:p>
            <a:pPr marL="800100" lvl="1" indent="-342900">
              <a:lnSpc>
                <a:spcPct val="150000"/>
              </a:lnSpc>
              <a:buFont typeface="Wingdings" panose="05000000000000000000" pitchFamily="2" charset="2"/>
              <a:buChar char="ü"/>
            </a:pPr>
            <a:r>
              <a:rPr lang="en-US" sz="2000" dirty="0">
                <a:solidFill>
                  <a:schemeClr val="tx2"/>
                </a:solidFill>
                <a:latin typeface="Times New Roman" pitchFamily="18" charset="0"/>
                <a:cs typeface="Times New Roman" pitchFamily="18" charset="0"/>
              </a:rPr>
              <a:t> </a:t>
            </a:r>
            <a:r>
              <a:rPr lang="en-US" sz="2000" i="1" dirty="0">
                <a:solidFill>
                  <a:schemeClr val="tx2"/>
                </a:solidFill>
                <a:latin typeface="Times New Roman" pitchFamily="18" charset="0"/>
                <a:cs typeface="Times New Roman" pitchFamily="18" charset="0"/>
              </a:rPr>
              <a:t>p</a:t>
            </a:r>
            <a:r>
              <a:rPr lang="en-US" sz="2000" dirty="0">
                <a:solidFill>
                  <a:schemeClr val="tx2"/>
                </a:solidFill>
                <a:latin typeface="Times New Roman" pitchFamily="18" charset="0"/>
                <a:cs typeface="Times New Roman" pitchFamily="18" charset="0"/>
              </a:rPr>
              <a:t> ⊕ </a:t>
            </a:r>
            <a:r>
              <a:rPr lang="en-US" sz="2000" i="1" dirty="0">
                <a:solidFill>
                  <a:schemeClr val="tx2"/>
                </a:solidFill>
                <a:latin typeface="Times New Roman" pitchFamily="18" charset="0"/>
                <a:cs typeface="Times New Roman" pitchFamily="18" charset="0"/>
              </a:rPr>
              <a:t>q</a:t>
            </a:r>
            <a:r>
              <a:rPr lang="en-US" sz="2000" dirty="0">
                <a:solidFill>
                  <a:schemeClr val="tx2"/>
                </a:solidFill>
                <a:latin typeface="Times New Roman" pitchFamily="18" charset="0"/>
                <a:cs typeface="Times New Roman" pitchFamily="18" charset="0"/>
              </a:rPr>
              <a:t>: exclusive-OR</a:t>
            </a:r>
          </a:p>
          <a:p>
            <a:pPr marL="800100" lvl="1" indent="-342900">
              <a:lnSpc>
                <a:spcPct val="150000"/>
              </a:lnSpc>
              <a:buFont typeface="Wingdings" panose="05000000000000000000" pitchFamily="2" charset="2"/>
              <a:buChar char="ü"/>
            </a:pPr>
            <a:r>
              <a:rPr lang="en-US" sz="2000" i="1" dirty="0">
                <a:solidFill>
                  <a:schemeClr val="tx2"/>
                </a:solidFill>
                <a:latin typeface="Times New Roman" pitchFamily="18" charset="0"/>
                <a:cs typeface="Times New Roman" pitchFamily="18" charset="0"/>
              </a:rPr>
              <a:t>p</a:t>
            </a:r>
            <a:r>
              <a:rPr lang="en-US" sz="2000" dirty="0">
                <a:solidFill>
                  <a:schemeClr val="tx2"/>
                </a:solidFill>
                <a:latin typeface="Times New Roman" pitchFamily="18" charset="0"/>
                <a:cs typeface="Times New Roman" pitchFamily="18" charset="0"/>
              </a:rPr>
              <a:t> → </a:t>
            </a:r>
            <a:r>
              <a:rPr lang="en-US" sz="2000" i="1" dirty="0">
                <a:solidFill>
                  <a:schemeClr val="tx2"/>
                </a:solidFill>
                <a:latin typeface="Times New Roman" pitchFamily="18" charset="0"/>
                <a:cs typeface="Times New Roman" pitchFamily="18" charset="0"/>
              </a:rPr>
              <a:t>q</a:t>
            </a:r>
            <a:r>
              <a:rPr lang="en-US" sz="2000" dirty="0">
                <a:solidFill>
                  <a:schemeClr val="tx2"/>
                </a:solidFill>
                <a:latin typeface="Times New Roman" pitchFamily="18" charset="0"/>
                <a:cs typeface="Times New Roman" pitchFamily="18" charset="0"/>
              </a:rPr>
              <a:t>: implication</a:t>
            </a:r>
          </a:p>
          <a:p>
            <a:pPr marL="800100" lvl="1" indent="-342900">
              <a:lnSpc>
                <a:spcPct val="150000"/>
              </a:lnSpc>
              <a:buFont typeface="Wingdings" panose="05000000000000000000" pitchFamily="2" charset="2"/>
              <a:buChar char="ü"/>
            </a:pPr>
            <a:r>
              <a:rPr lang="en-US" sz="2000" i="1" dirty="0">
                <a:solidFill>
                  <a:schemeClr val="tx2"/>
                </a:solidFill>
                <a:latin typeface="Times New Roman" pitchFamily="18" charset="0"/>
                <a:cs typeface="Times New Roman" pitchFamily="18" charset="0"/>
              </a:rPr>
              <a:t>p</a:t>
            </a:r>
            <a:r>
              <a:rPr lang="en-US" sz="2000" dirty="0">
                <a:solidFill>
                  <a:schemeClr val="tx2"/>
                </a:solidFill>
                <a:latin typeface="Times New Roman" pitchFamily="18" charset="0"/>
                <a:cs typeface="Times New Roman" pitchFamily="18" charset="0"/>
              </a:rPr>
              <a:t> ↔ </a:t>
            </a:r>
            <a:r>
              <a:rPr lang="en-US" sz="2000" i="1" dirty="0">
                <a:solidFill>
                  <a:schemeClr val="tx2"/>
                </a:solidFill>
                <a:latin typeface="Times New Roman" pitchFamily="18" charset="0"/>
                <a:cs typeface="Times New Roman" pitchFamily="18" charset="0"/>
              </a:rPr>
              <a:t>q</a:t>
            </a:r>
            <a:r>
              <a:rPr lang="en-US" sz="2000" dirty="0">
                <a:solidFill>
                  <a:schemeClr val="tx2"/>
                </a:solidFill>
                <a:latin typeface="Times New Roman" pitchFamily="18" charset="0"/>
                <a:cs typeface="Times New Roman" pitchFamily="18" charset="0"/>
              </a:rPr>
              <a:t>: bi-implications</a:t>
            </a:r>
          </a:p>
          <a:p>
            <a:pPr marL="800100" lvl="1" indent="-342900">
              <a:buFont typeface="Wingdings" panose="05000000000000000000" pitchFamily="2" charset="2"/>
              <a:buChar char="ü"/>
            </a:pPr>
            <a:endParaRPr lang="en-US" sz="200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9332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98663"/>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2.1.2. Operations</a:t>
            </a:r>
            <a:r>
              <a:rPr lang="en-US" altLang="ko-KR" dirty="0"/>
              <a:t>.</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7">
            <a:extLst>
              <a:ext uri="{FF2B5EF4-FFF2-40B4-BE49-F238E27FC236}">
                <a16:creationId xmlns:a16="http://schemas.microsoft.com/office/drawing/2014/main" id="{1BB8544D-68EA-AC8B-A970-53439FABA8E9}"/>
              </a:ext>
            </a:extLst>
          </p:cNvPr>
          <p:cNvGraphicFramePr>
            <a:graphicFrameLocks noGrp="1"/>
          </p:cNvGraphicFramePr>
          <p:nvPr>
            <p:extLst>
              <p:ext uri="{D42A27DB-BD31-4B8C-83A1-F6EECF244321}">
                <p14:modId xmlns:p14="http://schemas.microsoft.com/office/powerpoint/2010/main" val="3953681677"/>
              </p:ext>
            </p:extLst>
          </p:nvPr>
        </p:nvGraphicFramePr>
        <p:xfrm>
          <a:off x="705482" y="1905000"/>
          <a:ext cx="7600320" cy="4145280"/>
        </p:xfrm>
        <a:graphic>
          <a:graphicData uri="http://schemas.openxmlformats.org/drawingml/2006/table">
            <a:tbl>
              <a:tblPr firstRow="1" bandRow="1">
                <a:tableStyleId>{5C22544A-7EE6-4342-B048-85BDC9FD1C3A}</a:tableStyleId>
              </a:tblPr>
              <a:tblGrid>
                <a:gridCol w="950040">
                  <a:extLst>
                    <a:ext uri="{9D8B030D-6E8A-4147-A177-3AD203B41FA5}">
                      <a16:colId xmlns:a16="http://schemas.microsoft.com/office/drawing/2014/main" val="3390494113"/>
                    </a:ext>
                  </a:extLst>
                </a:gridCol>
                <a:gridCol w="950040">
                  <a:extLst>
                    <a:ext uri="{9D8B030D-6E8A-4147-A177-3AD203B41FA5}">
                      <a16:colId xmlns:a16="http://schemas.microsoft.com/office/drawing/2014/main" val="295257083"/>
                    </a:ext>
                  </a:extLst>
                </a:gridCol>
                <a:gridCol w="950040">
                  <a:extLst>
                    <a:ext uri="{9D8B030D-6E8A-4147-A177-3AD203B41FA5}">
                      <a16:colId xmlns:a16="http://schemas.microsoft.com/office/drawing/2014/main" val="1996211818"/>
                    </a:ext>
                  </a:extLst>
                </a:gridCol>
                <a:gridCol w="950040">
                  <a:extLst>
                    <a:ext uri="{9D8B030D-6E8A-4147-A177-3AD203B41FA5}">
                      <a16:colId xmlns:a16="http://schemas.microsoft.com/office/drawing/2014/main" val="2616706976"/>
                    </a:ext>
                  </a:extLst>
                </a:gridCol>
                <a:gridCol w="950040">
                  <a:extLst>
                    <a:ext uri="{9D8B030D-6E8A-4147-A177-3AD203B41FA5}">
                      <a16:colId xmlns:a16="http://schemas.microsoft.com/office/drawing/2014/main" val="2393156831"/>
                    </a:ext>
                  </a:extLst>
                </a:gridCol>
                <a:gridCol w="950040">
                  <a:extLst>
                    <a:ext uri="{9D8B030D-6E8A-4147-A177-3AD203B41FA5}">
                      <a16:colId xmlns:a16="http://schemas.microsoft.com/office/drawing/2014/main" val="2760842333"/>
                    </a:ext>
                  </a:extLst>
                </a:gridCol>
                <a:gridCol w="950040">
                  <a:extLst>
                    <a:ext uri="{9D8B030D-6E8A-4147-A177-3AD203B41FA5}">
                      <a16:colId xmlns:a16="http://schemas.microsoft.com/office/drawing/2014/main" val="2240540131"/>
                    </a:ext>
                  </a:extLst>
                </a:gridCol>
                <a:gridCol w="950040">
                  <a:extLst>
                    <a:ext uri="{9D8B030D-6E8A-4147-A177-3AD203B41FA5}">
                      <a16:colId xmlns:a16="http://schemas.microsoft.com/office/drawing/2014/main" val="3385913693"/>
                    </a:ext>
                  </a:extLst>
                </a:gridCol>
              </a:tblGrid>
              <a:tr h="807720">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a:t>
                      </a: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q</a:t>
                      </a: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a:t>
                      </a: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 ∧ q</a:t>
                      </a: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 ∨ q</a:t>
                      </a: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 ⊕ q</a:t>
                      </a: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 → q</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1" kern="1200" dirty="0">
                          <a:solidFill>
                            <a:schemeClr val="lt1"/>
                          </a:solidFill>
                          <a:latin typeface="Times New Roman" panose="02020603050405020304" pitchFamily="18" charset="0"/>
                          <a:ea typeface="+mn-ea"/>
                          <a:cs typeface="Times New Roman" panose="02020603050405020304" pitchFamily="18" charset="0"/>
                        </a:rPr>
                        <a:t>(p ⸧ q)</a:t>
                      </a:r>
                    </a:p>
                    <a:p>
                      <a:pPr algn="ctr"/>
                      <a:endParaRPr lang="en-US" sz="1800" b="1" i="1" kern="1200" dirty="0">
                        <a:solidFill>
                          <a:schemeClr val="lt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sz="1800" b="1" i="1" kern="1200" dirty="0">
                          <a:solidFill>
                            <a:schemeClr val="lt1"/>
                          </a:solidFill>
                          <a:latin typeface="Times New Roman" panose="02020603050405020304" pitchFamily="18" charset="0"/>
                          <a:ea typeface="+mn-ea"/>
                          <a:cs typeface="Times New Roman" panose="02020603050405020304" pitchFamily="18" charset="0"/>
                        </a:rPr>
                        <a:t>p ↔ q</a:t>
                      </a:r>
                    </a:p>
                  </a:txBody>
                  <a:tcPr/>
                </a:tc>
                <a:extLst>
                  <a:ext uri="{0D108BD9-81ED-4DB2-BD59-A6C34878D82A}">
                    <a16:rowId xmlns:a16="http://schemas.microsoft.com/office/drawing/2014/main" val="835915145"/>
                  </a:ext>
                </a:extLst>
              </a:tr>
              <a:tr h="807720">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extLst>
                  <a:ext uri="{0D108BD9-81ED-4DB2-BD59-A6C34878D82A}">
                    <a16:rowId xmlns:a16="http://schemas.microsoft.com/office/drawing/2014/main" val="1183634409"/>
                  </a:ext>
                </a:extLst>
              </a:tr>
              <a:tr h="807720">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extLst>
                  <a:ext uri="{0D108BD9-81ED-4DB2-BD59-A6C34878D82A}">
                    <a16:rowId xmlns:a16="http://schemas.microsoft.com/office/drawing/2014/main" val="4137792930"/>
                  </a:ext>
                </a:extLst>
              </a:tr>
              <a:tr h="807720">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extLst>
                  <a:ext uri="{0D108BD9-81ED-4DB2-BD59-A6C34878D82A}">
                    <a16:rowId xmlns:a16="http://schemas.microsoft.com/office/drawing/2014/main" val="1080338243"/>
                  </a:ext>
                </a:extLst>
              </a:tr>
              <a:tr h="807720">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F</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tc>
                  <a:txBody>
                    <a:bodyPr/>
                    <a:lstStyle/>
                    <a:p>
                      <a:pPr algn="ctr"/>
                      <a:r>
                        <a:rPr lang="en-US" sz="2400" dirty="0">
                          <a:latin typeface="Times New Roman" panose="02020603050405020304" pitchFamily="18" charset="0"/>
                          <a:cs typeface="Times New Roman" panose="02020603050405020304" pitchFamily="18" charset="0"/>
                        </a:rPr>
                        <a:t>T</a:t>
                      </a:r>
                    </a:p>
                  </a:txBody>
                  <a:tcPr/>
                </a:tc>
                <a:extLst>
                  <a:ext uri="{0D108BD9-81ED-4DB2-BD59-A6C34878D82A}">
                    <a16:rowId xmlns:a16="http://schemas.microsoft.com/office/drawing/2014/main" val="4134449409"/>
                  </a:ext>
                </a:extLst>
              </a:tr>
            </a:tbl>
          </a:graphicData>
        </a:graphic>
      </p:graphicFrame>
    </p:spTree>
    <p:extLst>
      <p:ext uri="{BB962C8B-B14F-4D97-AF65-F5344CB8AC3E}">
        <p14:creationId xmlns:p14="http://schemas.microsoft.com/office/powerpoint/2010/main" val="2988089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21599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2.1.2. Operations</a:t>
            </a:r>
            <a:r>
              <a:rPr lang="en-US" altLang="ko-KR" dirty="0"/>
              <a:t>.</a:t>
            </a:r>
          </a:p>
          <a:p>
            <a:pPr marL="342900" indent="-342900">
              <a:buFont typeface="Arial" panose="020B0604020202020204" pitchFamily="34" charset="0"/>
              <a:buChar char="•"/>
            </a:pPr>
            <a:r>
              <a:rPr lang="en-US" b="0" dirty="0"/>
              <a:t>The combined propositions are called 'equivalent logic' if they have the same truth table</a:t>
            </a:r>
          </a:p>
          <a:p>
            <a:pPr marL="800100" lvl="1" indent="-342900">
              <a:lnSpc>
                <a:spcPct val="150000"/>
              </a:lnSpc>
              <a:buFont typeface="Arial" panose="020B0604020202020204" pitchFamily="34" charset="0"/>
              <a:buChar char="•"/>
            </a:pPr>
            <a:endParaRPr lang="en-US" altLang="ko-KR" sz="2000" dirty="0">
              <a:solidFill>
                <a:schemeClr val="tx2"/>
              </a:solidFill>
              <a:latin typeface="Times New Roman" pitchFamily="18" charset="0"/>
              <a:cs typeface="Times New Roman" pitchFamily="18" charset="0"/>
            </a:endParaRPr>
          </a:p>
          <a:p>
            <a:pPr marL="800100" lvl="1" indent="-342900">
              <a:buFont typeface="Arial" panose="020B0604020202020204" pitchFamily="34" charset="0"/>
              <a:buChar char="•"/>
            </a:pPr>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2399D10-6A92-0DFA-70AB-79198DDCF419}"/>
              </a:ext>
            </a:extLst>
          </p:cNvPr>
          <p:cNvPicPr>
            <a:picLocks noChangeAspect="1"/>
          </p:cNvPicPr>
          <p:nvPr/>
        </p:nvPicPr>
        <p:blipFill>
          <a:blip r:embed="rId4"/>
          <a:stretch>
            <a:fillRect/>
          </a:stretch>
        </p:blipFill>
        <p:spPr>
          <a:xfrm>
            <a:off x="1223918" y="2192049"/>
            <a:ext cx="7029986" cy="4262001"/>
          </a:xfrm>
          <a:prstGeom prst="rect">
            <a:avLst/>
          </a:prstGeom>
        </p:spPr>
      </p:pic>
    </p:spTree>
    <p:extLst>
      <p:ext uri="{BB962C8B-B14F-4D97-AF65-F5344CB8AC3E}">
        <p14:creationId xmlns:p14="http://schemas.microsoft.com/office/powerpoint/2010/main" val="3255431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98663"/>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2.1.2. Operations</a:t>
            </a:r>
            <a:r>
              <a:rPr lang="en-US" altLang="ko-KR" dirty="0"/>
              <a:t>.</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7">
            <a:extLst>
              <a:ext uri="{FF2B5EF4-FFF2-40B4-BE49-F238E27FC236}">
                <a16:creationId xmlns:a16="http://schemas.microsoft.com/office/drawing/2014/main" id="{21834A48-B6C6-A7F7-112A-52C5F0D761E4}"/>
              </a:ext>
            </a:extLst>
          </p:cNvPr>
          <p:cNvGraphicFramePr>
            <a:graphicFrameLocks noGrp="1"/>
          </p:cNvGraphicFramePr>
          <p:nvPr>
            <p:extLst>
              <p:ext uri="{D42A27DB-BD31-4B8C-83A1-F6EECF244321}">
                <p14:modId xmlns:p14="http://schemas.microsoft.com/office/powerpoint/2010/main" val="2354846898"/>
              </p:ext>
            </p:extLst>
          </p:nvPr>
        </p:nvGraphicFramePr>
        <p:xfrm>
          <a:off x="66675" y="1730097"/>
          <a:ext cx="9010649" cy="2804160"/>
        </p:xfrm>
        <a:graphic>
          <a:graphicData uri="http://schemas.openxmlformats.org/drawingml/2006/table">
            <a:tbl>
              <a:tblPr firstRow="1" bandRow="1">
                <a:tableStyleId>{5C22544A-7EE6-4342-B048-85BDC9FD1C3A}</a:tableStyleId>
              </a:tblPr>
              <a:tblGrid>
                <a:gridCol w="1457325">
                  <a:extLst>
                    <a:ext uri="{9D8B030D-6E8A-4147-A177-3AD203B41FA5}">
                      <a16:colId xmlns:a16="http://schemas.microsoft.com/office/drawing/2014/main" val="1160089173"/>
                    </a:ext>
                  </a:extLst>
                </a:gridCol>
                <a:gridCol w="1905000">
                  <a:extLst>
                    <a:ext uri="{9D8B030D-6E8A-4147-A177-3AD203B41FA5}">
                      <a16:colId xmlns:a16="http://schemas.microsoft.com/office/drawing/2014/main" val="3926793917"/>
                    </a:ext>
                  </a:extLst>
                </a:gridCol>
                <a:gridCol w="3435183">
                  <a:extLst>
                    <a:ext uri="{9D8B030D-6E8A-4147-A177-3AD203B41FA5}">
                      <a16:colId xmlns:a16="http://schemas.microsoft.com/office/drawing/2014/main" val="2867315432"/>
                    </a:ext>
                  </a:extLst>
                </a:gridCol>
                <a:gridCol w="2213141">
                  <a:extLst>
                    <a:ext uri="{9D8B030D-6E8A-4147-A177-3AD203B41FA5}">
                      <a16:colId xmlns:a16="http://schemas.microsoft.com/office/drawing/2014/main" val="2824367572"/>
                    </a:ext>
                  </a:extLst>
                </a:gridCol>
              </a:tblGrid>
              <a:tr h="370840">
                <a:tc>
                  <a:txBody>
                    <a:bodyPr/>
                    <a:lstStyle/>
                    <a:p>
                      <a:r>
                        <a:rPr lang="en-US" sz="2000" dirty="0">
                          <a:latin typeface="Times New Roman" panose="02020603050405020304" pitchFamily="18" charset="0"/>
                          <a:cs typeface="Times New Roman" panose="02020603050405020304" pitchFamily="18" charset="0"/>
                        </a:rPr>
                        <a:t>p ∧ T ⇔ p</a:t>
                      </a:r>
                    </a:p>
                    <a:p>
                      <a:r>
                        <a:rPr lang="en-US" sz="2000" dirty="0">
                          <a:latin typeface="Times New Roman" panose="02020603050405020304" pitchFamily="18" charset="0"/>
                          <a:cs typeface="Times New Roman" panose="02020603050405020304" pitchFamily="18" charset="0"/>
                        </a:rPr>
                        <a:t>p ∨ F ⇔ p</a:t>
                      </a:r>
                    </a:p>
                  </a:txBody>
                  <a:tcPr/>
                </a:tc>
                <a:tc>
                  <a:txBody>
                    <a:bodyPr/>
                    <a:lstStyle/>
                    <a:p>
                      <a:r>
                        <a:rPr lang="en-US" sz="2000" dirty="0">
                          <a:latin typeface="Times New Roman" panose="02020603050405020304" pitchFamily="18" charset="0"/>
                          <a:cs typeface="Times New Roman" panose="02020603050405020304" pitchFamily="18" charset="0"/>
                        </a:rPr>
                        <a:t>Identity laws</a:t>
                      </a:r>
                    </a:p>
                  </a:txBody>
                  <a:tcPr/>
                </a:tc>
                <a:tc>
                  <a:txBody>
                    <a:bodyPr/>
                    <a:lstStyle/>
                    <a:p>
                      <a:r>
                        <a:rPr lang="en-US" sz="2000" dirty="0">
                          <a:latin typeface="Times New Roman" panose="02020603050405020304" pitchFamily="18" charset="0"/>
                          <a:cs typeface="Times New Roman" panose="02020603050405020304" pitchFamily="18" charset="0"/>
                        </a:rPr>
                        <a:t>p ∨ q ⇔ q ∨ p </a:t>
                      </a:r>
                    </a:p>
                    <a:p>
                      <a:r>
                        <a:rPr lang="en-US" sz="2000" dirty="0">
                          <a:latin typeface="Times New Roman" panose="02020603050405020304" pitchFamily="18" charset="0"/>
                          <a:cs typeface="Times New Roman" panose="02020603050405020304" pitchFamily="18" charset="0"/>
                        </a:rPr>
                        <a:t>p ∧ q ⇔ q ∧ p</a:t>
                      </a:r>
                    </a:p>
                  </a:txBody>
                  <a:tcPr/>
                </a:tc>
                <a:tc>
                  <a:txBody>
                    <a:bodyPr/>
                    <a:lstStyle/>
                    <a:p>
                      <a:r>
                        <a:rPr lang="en-US" sz="2000" dirty="0">
                          <a:latin typeface="Times New Roman" panose="02020603050405020304" pitchFamily="18" charset="0"/>
                          <a:cs typeface="Times New Roman" panose="02020603050405020304" pitchFamily="18" charset="0"/>
                        </a:rPr>
                        <a:t>Commutative laws</a:t>
                      </a:r>
                    </a:p>
                  </a:txBody>
                  <a:tcPr/>
                </a:tc>
                <a:extLst>
                  <a:ext uri="{0D108BD9-81ED-4DB2-BD59-A6C34878D82A}">
                    <a16:rowId xmlns:a16="http://schemas.microsoft.com/office/drawing/2014/main" val="3189249352"/>
                  </a:ext>
                </a:extLst>
              </a:tr>
              <a:tr h="370840">
                <a:tc>
                  <a:txBody>
                    <a:bodyPr/>
                    <a:lstStyle/>
                    <a:p>
                      <a:r>
                        <a:rPr lang="en-US" sz="2000" dirty="0">
                          <a:latin typeface="Times New Roman" panose="02020603050405020304" pitchFamily="18" charset="0"/>
                          <a:cs typeface="Times New Roman" panose="02020603050405020304" pitchFamily="18" charset="0"/>
                        </a:rPr>
                        <a:t>p ∨ T ⇔ T </a:t>
                      </a:r>
                    </a:p>
                    <a:p>
                      <a:r>
                        <a:rPr lang="en-US" sz="2000" dirty="0">
                          <a:latin typeface="Times New Roman" panose="02020603050405020304" pitchFamily="18" charset="0"/>
                          <a:cs typeface="Times New Roman" panose="02020603050405020304" pitchFamily="18" charset="0"/>
                        </a:rPr>
                        <a:t>p ∧ F ⇔ F </a:t>
                      </a:r>
                    </a:p>
                  </a:txBody>
                  <a:tcPr/>
                </a:tc>
                <a:tc>
                  <a:txBody>
                    <a:bodyPr/>
                    <a:lstStyle/>
                    <a:p>
                      <a:r>
                        <a:rPr lang="en-US" sz="2000" dirty="0">
                          <a:latin typeface="Times New Roman" panose="02020603050405020304" pitchFamily="18" charset="0"/>
                          <a:cs typeface="Times New Roman" panose="02020603050405020304" pitchFamily="18" charset="0"/>
                        </a:rPr>
                        <a:t>Domination laws</a:t>
                      </a:r>
                    </a:p>
                  </a:txBody>
                  <a:tcPr/>
                </a:tc>
                <a:tc>
                  <a:txBody>
                    <a:bodyPr/>
                    <a:lstStyle/>
                    <a:p>
                      <a:r>
                        <a:rPr lang="en-US" sz="2000" dirty="0">
                          <a:latin typeface="Times New Roman" panose="02020603050405020304" pitchFamily="18" charset="0"/>
                          <a:cs typeface="Times New Roman" panose="02020603050405020304" pitchFamily="18" charset="0"/>
                        </a:rPr>
                        <a:t>(p ∨ q) ∨ r ⇔ p ∨ (q ∨ r)</a:t>
                      </a:r>
                    </a:p>
                    <a:p>
                      <a:r>
                        <a:rPr lang="en-US" sz="2000" dirty="0">
                          <a:latin typeface="Times New Roman" panose="02020603050405020304" pitchFamily="18" charset="0"/>
                          <a:cs typeface="Times New Roman" panose="02020603050405020304" pitchFamily="18" charset="0"/>
                        </a:rPr>
                        <a:t>(p ∧ q) ∧ r ⇔ p ∧ (q ∧ r) </a:t>
                      </a:r>
                    </a:p>
                  </a:txBody>
                  <a:tcPr/>
                </a:tc>
                <a:tc>
                  <a:txBody>
                    <a:bodyPr/>
                    <a:lstStyle/>
                    <a:p>
                      <a:r>
                        <a:rPr lang="en-US" sz="2000" dirty="0">
                          <a:latin typeface="Times New Roman" panose="02020603050405020304" pitchFamily="18" charset="0"/>
                          <a:cs typeface="Times New Roman" panose="02020603050405020304" pitchFamily="18" charset="0"/>
                        </a:rPr>
                        <a:t>Associative laws</a:t>
                      </a:r>
                    </a:p>
                  </a:txBody>
                  <a:tcPr/>
                </a:tc>
                <a:extLst>
                  <a:ext uri="{0D108BD9-81ED-4DB2-BD59-A6C34878D82A}">
                    <a16:rowId xmlns:a16="http://schemas.microsoft.com/office/drawing/2014/main" val="1879178732"/>
                  </a:ext>
                </a:extLst>
              </a:tr>
              <a:tr h="370840">
                <a:tc>
                  <a:txBody>
                    <a:bodyPr/>
                    <a:lstStyle/>
                    <a:p>
                      <a:r>
                        <a:rPr lang="en-US" sz="2000" dirty="0">
                          <a:latin typeface="Times New Roman" panose="02020603050405020304" pitchFamily="18" charset="0"/>
                          <a:cs typeface="Times New Roman" panose="02020603050405020304" pitchFamily="18" charset="0"/>
                        </a:rPr>
                        <a:t>p ∨ p ⇔ p </a:t>
                      </a:r>
                    </a:p>
                    <a:p>
                      <a:r>
                        <a:rPr lang="en-US" sz="2000" dirty="0">
                          <a:latin typeface="Times New Roman" panose="02020603050405020304" pitchFamily="18" charset="0"/>
                          <a:cs typeface="Times New Roman" panose="02020603050405020304" pitchFamily="18" charset="0"/>
                        </a:rPr>
                        <a:t>p ∧ p ⇔ p</a:t>
                      </a:r>
                    </a:p>
                  </a:txBody>
                  <a:tcPr/>
                </a:tc>
                <a:tc>
                  <a:txBody>
                    <a:bodyPr/>
                    <a:lstStyle/>
                    <a:p>
                      <a:r>
                        <a:rPr lang="en-US" sz="2000" dirty="0">
                          <a:latin typeface="Times New Roman" panose="02020603050405020304" pitchFamily="18" charset="0"/>
                          <a:cs typeface="Times New Roman" panose="02020603050405020304" pitchFamily="18" charset="0"/>
                        </a:rPr>
                        <a:t>Idempotent laws</a:t>
                      </a:r>
                    </a:p>
                  </a:txBody>
                  <a:tcPr/>
                </a:tc>
                <a:tc>
                  <a:txBody>
                    <a:bodyPr/>
                    <a:lstStyle/>
                    <a:p>
                      <a:r>
                        <a:rPr lang="en-US" sz="2000" dirty="0">
                          <a:latin typeface="Times New Roman" panose="02020603050405020304" pitchFamily="18" charset="0"/>
                          <a:cs typeface="Times New Roman" panose="02020603050405020304" pitchFamily="18" charset="0"/>
                        </a:rPr>
                        <a:t>p ∨ (q ∧ r) ⇔ (p ∨ q) ∧ (p ∨ r) </a:t>
                      </a:r>
                    </a:p>
                    <a:p>
                      <a:r>
                        <a:rPr lang="en-US" sz="2000" dirty="0">
                          <a:latin typeface="Times New Roman" panose="02020603050405020304" pitchFamily="18" charset="0"/>
                          <a:cs typeface="Times New Roman" panose="02020603050405020304" pitchFamily="18" charset="0"/>
                        </a:rPr>
                        <a:t>p ∧ (q ∨ r) ⇔ (p ∧ q) ∨ (p ∧ r)</a:t>
                      </a:r>
                    </a:p>
                  </a:txBody>
                  <a:tcPr/>
                </a:tc>
                <a:tc>
                  <a:txBody>
                    <a:bodyPr/>
                    <a:lstStyle/>
                    <a:p>
                      <a:r>
                        <a:rPr lang="en-US" sz="2000" dirty="0">
                          <a:latin typeface="Times New Roman" panose="02020603050405020304" pitchFamily="18" charset="0"/>
                          <a:cs typeface="Times New Roman" panose="02020603050405020304" pitchFamily="18" charset="0"/>
                        </a:rPr>
                        <a:t>Distribute laws</a:t>
                      </a:r>
                    </a:p>
                  </a:txBody>
                  <a:tcPr/>
                </a:tc>
                <a:extLst>
                  <a:ext uri="{0D108BD9-81ED-4DB2-BD59-A6C34878D82A}">
                    <a16:rowId xmlns:a16="http://schemas.microsoft.com/office/drawing/2014/main" val="202245061"/>
                  </a:ext>
                </a:extLst>
              </a:tr>
              <a:tr h="370840">
                <a:tc>
                  <a:txBody>
                    <a:bodyPr/>
                    <a:lstStyle/>
                    <a:p>
                      <a:r>
                        <a:rPr lang="en-US" sz="2000" dirty="0">
                          <a:latin typeface="Times New Roman" panose="02020603050405020304" pitchFamily="18" charset="0"/>
                          <a:cs typeface="Times New Roman" panose="02020603050405020304" pitchFamily="18" charset="0"/>
                        </a:rPr>
                        <a:t>¬(¬p) ⇔ p</a:t>
                      </a:r>
                    </a:p>
                  </a:txBody>
                  <a:tcPr/>
                </a:tc>
                <a:tc>
                  <a:txBody>
                    <a:bodyPr/>
                    <a:lstStyle/>
                    <a:p>
                      <a:r>
                        <a:rPr lang="en-US" sz="2000" dirty="0">
                          <a:latin typeface="Times New Roman" panose="02020603050405020304" pitchFamily="18" charset="0"/>
                          <a:cs typeface="Times New Roman" panose="02020603050405020304" pitchFamily="18" charset="0"/>
                        </a:rPr>
                        <a:t>Double negation law</a:t>
                      </a:r>
                    </a:p>
                  </a:txBody>
                  <a:tcPr/>
                </a:tc>
                <a:tc>
                  <a:txBody>
                    <a:bodyPr/>
                    <a:lstStyle/>
                    <a:p>
                      <a:r>
                        <a:rPr lang="en-US" sz="2000" dirty="0">
                          <a:latin typeface="Times New Roman" panose="02020603050405020304" pitchFamily="18" charset="0"/>
                          <a:cs typeface="Times New Roman" panose="02020603050405020304" pitchFamily="18" charset="0"/>
                        </a:rPr>
                        <a:t>¬(p ∧ q) ⇔ ¬p ∨ ¬q </a:t>
                      </a:r>
                    </a:p>
                    <a:p>
                      <a:r>
                        <a:rPr lang="en-US" sz="2000" dirty="0">
                          <a:latin typeface="Times New Roman" panose="02020603050405020304" pitchFamily="18" charset="0"/>
                          <a:cs typeface="Times New Roman" panose="02020603050405020304" pitchFamily="18" charset="0"/>
                        </a:rPr>
                        <a:t>¬(p ∨ q) ⇔ ¬p ∧ ¬q</a:t>
                      </a:r>
                    </a:p>
                  </a:txBody>
                  <a:tcPr/>
                </a:tc>
                <a:tc>
                  <a:txBody>
                    <a:bodyPr/>
                    <a:lstStyle/>
                    <a:p>
                      <a:r>
                        <a:rPr lang="en-US" sz="2000" dirty="0">
                          <a:latin typeface="Times New Roman" panose="02020603050405020304" pitchFamily="18" charset="0"/>
                          <a:cs typeface="Times New Roman" panose="02020603050405020304" pitchFamily="18" charset="0"/>
                        </a:rPr>
                        <a:t>De Morgan’s laws</a:t>
                      </a:r>
                    </a:p>
                  </a:txBody>
                  <a:tcPr/>
                </a:tc>
                <a:extLst>
                  <a:ext uri="{0D108BD9-81ED-4DB2-BD59-A6C34878D82A}">
                    <a16:rowId xmlns:a16="http://schemas.microsoft.com/office/drawing/2014/main" val="3068387415"/>
                  </a:ext>
                </a:extLst>
              </a:tr>
            </a:tbl>
          </a:graphicData>
        </a:graphic>
      </p:graphicFrame>
    </p:spTree>
    <p:extLst>
      <p:ext uri="{BB962C8B-B14F-4D97-AF65-F5344CB8AC3E}">
        <p14:creationId xmlns:p14="http://schemas.microsoft.com/office/powerpoint/2010/main" val="152318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2.1.2. Operations</a:t>
            </a:r>
            <a:r>
              <a:rPr lang="en-US" altLang="ko-KR" dirty="0"/>
              <a:t>.</a:t>
            </a:r>
          </a:p>
          <a:p>
            <a:endParaRPr lang="en-US" altLang="ko-KR" dirty="0"/>
          </a:p>
          <a:p>
            <a:endParaRPr lang="en-US" altLang="ko-KR" dirty="0"/>
          </a:p>
          <a:p>
            <a:endParaRPr lang="en-US" altLang="ko-KR" dirty="0"/>
          </a:p>
          <a:p>
            <a:endParaRPr lang="en-US" altLang="ko-KR" dirty="0"/>
          </a:p>
          <a:p>
            <a:r>
              <a:rPr lang="en-US" altLang="ko-KR" b="0" dirty="0"/>
              <a:t>Proof : </a:t>
            </a:r>
            <a:r>
              <a:rPr lang="en-US" b="0" dirty="0"/>
              <a:t>¬(p ∨ (¬p ∧ q)) ⇔ ¬p ∧ ¬q</a:t>
            </a: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647084D7-16E7-C138-27FA-EABB436859CD}"/>
              </a:ext>
            </a:extLst>
          </p:cNvPr>
          <p:cNvPicPr>
            <a:picLocks noChangeAspect="1"/>
          </p:cNvPicPr>
          <p:nvPr/>
        </p:nvPicPr>
        <p:blipFill>
          <a:blip r:embed="rId4"/>
          <a:stretch>
            <a:fillRect/>
          </a:stretch>
        </p:blipFill>
        <p:spPr>
          <a:xfrm>
            <a:off x="609600" y="1352896"/>
            <a:ext cx="2266950" cy="1609725"/>
          </a:xfrm>
          <a:prstGeom prst="rect">
            <a:avLst/>
          </a:prstGeom>
        </p:spPr>
      </p:pic>
    </p:spTree>
    <p:extLst>
      <p:ext uri="{BB962C8B-B14F-4D97-AF65-F5344CB8AC3E}">
        <p14:creationId xmlns:p14="http://schemas.microsoft.com/office/powerpoint/2010/main" val="3648465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2.1.3. Rules of deduction(</a:t>
            </a:r>
            <a:r>
              <a:rPr lang="en-US" sz="2000" dirty="0">
                <a:solidFill>
                  <a:schemeClr val="tx2"/>
                </a:solidFill>
                <a:latin typeface="Times New Roman" pitchFamily="18" charset="0"/>
                <a:cs typeface="Times New Roman" pitchFamily="18" charset="0"/>
              </a:rPr>
              <a:t>implication</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i="1" dirty="0"/>
              <a:t>Given </a:t>
            </a:r>
            <a:r>
              <a:rPr lang="vi-VN" i="1" dirty="0"/>
              <a:t>p → q </a:t>
            </a:r>
            <a:endParaRPr lang="en-US" i="1" dirty="0"/>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p: (hypothesis).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q: (conclusion).</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What does this mean?</a:t>
            </a:r>
          </a:p>
          <a:p>
            <a:pPr marL="1257300" lvl="2"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If …then</a:t>
            </a:r>
          </a:p>
          <a:p>
            <a:r>
              <a:rPr lang="en-US" sz="2000" b="1" dirty="0">
                <a:solidFill>
                  <a:schemeClr val="tx2"/>
                </a:solidFill>
                <a:latin typeface="Times New Roman" pitchFamily="18" charset="0"/>
                <a:cs typeface="Times New Roman" pitchFamily="18" charset="0"/>
              </a:rPr>
              <a:t> </a:t>
            </a:r>
          </a:p>
          <a:p>
            <a:endParaRPr lang="en-US" altLang="ko-KR" dirty="0"/>
          </a:p>
          <a:p>
            <a:endParaRPr lang="en-US" altLang="ko-KR" dirty="0"/>
          </a:p>
          <a:p>
            <a:endParaRPr lang="en-US" altLang="ko-KR" dirty="0"/>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01F854C-0CF4-58F6-ECBD-513EA68E1818}"/>
              </a:ext>
            </a:extLst>
          </p:cNvPr>
          <p:cNvPicPr>
            <a:picLocks noChangeAspect="1"/>
          </p:cNvPicPr>
          <p:nvPr/>
        </p:nvPicPr>
        <p:blipFill>
          <a:blip r:embed="rId4"/>
          <a:stretch>
            <a:fillRect/>
          </a:stretch>
        </p:blipFill>
        <p:spPr>
          <a:xfrm>
            <a:off x="3176587" y="3625930"/>
            <a:ext cx="2790825" cy="2428875"/>
          </a:xfrm>
          <a:prstGeom prst="rect">
            <a:avLst/>
          </a:prstGeom>
        </p:spPr>
      </p:pic>
    </p:spTree>
    <p:extLst>
      <p:ext uri="{BB962C8B-B14F-4D97-AF65-F5344CB8AC3E}">
        <p14:creationId xmlns:p14="http://schemas.microsoft.com/office/powerpoint/2010/main" val="4244579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65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2.1.3. Rules of deduction(</a:t>
            </a:r>
            <a:r>
              <a:rPr lang="en-US" sz="2000" dirty="0">
                <a:solidFill>
                  <a:schemeClr val="tx2"/>
                </a:solidFill>
                <a:latin typeface="Times New Roman" pitchFamily="18" charset="0"/>
                <a:cs typeface="Times New Roman" pitchFamily="18" charset="0"/>
              </a:rPr>
              <a:t>implication</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i="1" dirty="0"/>
              <a:t>Give Examples?</a:t>
            </a:r>
          </a:p>
          <a:p>
            <a:pPr marL="342900" indent="-342900">
              <a:buFont typeface="Arial" panose="020B0604020202020204" pitchFamily="34" charset="0"/>
              <a:buChar char="•"/>
            </a:pPr>
            <a:endParaRPr lang="en-US" sz="2000" b="1" dirty="0">
              <a:solidFill>
                <a:schemeClr val="tx2"/>
              </a:solidFill>
              <a:latin typeface="Times New Roman" pitchFamily="18" charset="0"/>
              <a:cs typeface="Times New Roman" pitchFamily="18" charset="0"/>
            </a:endParaRPr>
          </a:p>
          <a:p>
            <a:endParaRPr lang="en-US" altLang="ko-KR" dirty="0"/>
          </a:p>
          <a:p>
            <a:endParaRPr lang="en-US" altLang="ko-KR" dirty="0"/>
          </a:p>
          <a:p>
            <a:endParaRPr lang="en-US" altLang="ko-KR" dirty="0"/>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2897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6192529"/>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2.1.3. Rules of deduction(</a:t>
            </a:r>
            <a:r>
              <a:rPr lang="en-US" sz="2000" dirty="0">
                <a:solidFill>
                  <a:schemeClr val="tx2"/>
                </a:solidFill>
                <a:latin typeface="Times New Roman" pitchFamily="18" charset="0"/>
                <a:cs typeface="Times New Roman" pitchFamily="18" charset="0"/>
              </a:rPr>
              <a:t>implication</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b="0" i="1" dirty="0"/>
              <a:t>Why does r = p</a:t>
            </a:r>
            <a:r>
              <a:rPr lang="vi-VN" b="0" i="1" dirty="0"/>
              <a:t> → </a:t>
            </a:r>
            <a:r>
              <a:rPr lang="en-US" b="0" i="1" dirty="0"/>
              <a:t>q</a:t>
            </a:r>
            <a:r>
              <a:rPr lang="vi-VN" b="0" i="1" dirty="0"/>
              <a:t> </a:t>
            </a:r>
            <a:r>
              <a:rPr lang="en-US" b="0" i="1" dirty="0"/>
              <a:t>=True</a:t>
            </a:r>
            <a:r>
              <a:rPr lang="vi-VN" b="0" i="1" dirty="0"/>
              <a:t> → </a:t>
            </a:r>
            <a:r>
              <a:rPr lang="en-US" b="0" i="1" dirty="0"/>
              <a:t>Fales</a:t>
            </a:r>
            <a:r>
              <a:rPr lang="vi-VN" b="0" i="1" dirty="0"/>
              <a:t> </a:t>
            </a:r>
            <a:r>
              <a:rPr lang="en-US" b="0" i="1" dirty="0"/>
              <a:t>is False</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Hypothesis p is true</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Conclusion q is false</a:t>
            </a:r>
          </a:p>
          <a:p>
            <a:pPr marL="342900" indent="-342900">
              <a:buFont typeface="Arial" panose="020B0604020202020204" pitchFamily="34" charset="0"/>
              <a:buChar char="•"/>
            </a:pPr>
            <a:r>
              <a:rPr lang="vi-VN" dirty="0"/>
              <a:t>p → q </a:t>
            </a:r>
            <a:endParaRPr lang="en-US" dirty="0"/>
          </a:p>
          <a:p>
            <a:pPr marL="800100" lvl="1" indent="-342900">
              <a:buFont typeface="Arial" panose="020B0604020202020204" pitchFamily="34" charset="0"/>
              <a:buChar char="•"/>
            </a:pPr>
            <a:r>
              <a:rPr lang="vi-VN" sz="2000" dirty="0">
                <a:solidFill>
                  <a:schemeClr val="tx2"/>
                </a:solidFill>
                <a:latin typeface="Times New Roman" pitchFamily="18" charset="0"/>
                <a:cs typeface="Times New Roman" pitchFamily="18" charset="0"/>
              </a:rPr>
              <a:t> q → p (converse)</a:t>
            </a:r>
            <a:endParaRPr lang="en-US" sz="2000" dirty="0">
              <a:solidFill>
                <a:schemeClr val="tx2"/>
              </a:solidFill>
              <a:latin typeface="Times New Roman" pitchFamily="18" charset="0"/>
              <a:cs typeface="Times New Roman" pitchFamily="18" charset="0"/>
            </a:endParaRPr>
          </a:p>
          <a:p>
            <a:pPr marL="800100" lvl="1" indent="-342900">
              <a:buFont typeface="Arial" panose="020B0604020202020204" pitchFamily="34" charset="0"/>
              <a:buChar char="•"/>
            </a:pPr>
            <a:r>
              <a:rPr lang="vi-VN" sz="2000" dirty="0">
                <a:solidFill>
                  <a:schemeClr val="tx2"/>
                </a:solidFill>
                <a:latin typeface="Times New Roman" pitchFamily="18" charset="0"/>
                <a:cs typeface="Times New Roman" pitchFamily="18" charset="0"/>
              </a:rPr>
              <a:t>  ¬q → ¬p (contrapositive)</a:t>
            </a:r>
            <a:endParaRPr lang="en-US" sz="2000"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r>
              <a:rPr lang="en-US" i="1" dirty="0"/>
              <a:t>Give Examples?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sz="2000" b="0" i="1" dirty="0">
              <a:solidFill>
                <a:schemeClr val="tx2"/>
              </a:solidFill>
              <a:latin typeface="Times New Roman" pitchFamily="18" charset="0"/>
              <a:cs typeface="Times New Roman" pitchFamily="18" charset="0"/>
            </a:endParaRPr>
          </a:p>
          <a:p>
            <a:endParaRPr lang="en-US" altLang="ko-KR" dirty="0"/>
          </a:p>
          <a:p>
            <a:endParaRPr lang="en-US" altLang="ko-KR" dirty="0"/>
          </a:p>
          <a:p>
            <a:endParaRPr lang="en-US" altLang="ko-KR" dirty="0"/>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2194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188365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2.1.3. Rules of deduction(</a:t>
            </a:r>
            <a:r>
              <a:rPr lang="en-US" sz="2000" dirty="0">
                <a:solidFill>
                  <a:schemeClr val="tx2"/>
                </a:solidFill>
                <a:latin typeface="Times New Roman" pitchFamily="18" charset="0"/>
                <a:cs typeface="Times New Roman" pitchFamily="18" charset="0"/>
              </a:rPr>
              <a:t>implication</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endParaRPr lang="en-US" sz="2000" b="0" i="1" dirty="0">
              <a:solidFill>
                <a:schemeClr val="tx2"/>
              </a:solidFill>
              <a:latin typeface="Times New Roman" pitchFamily="18" charset="0"/>
              <a:cs typeface="Times New Roman" pitchFamily="18" charset="0"/>
            </a:endParaRPr>
          </a:p>
          <a:p>
            <a:endParaRPr lang="en-US" altLang="ko-KR" dirty="0"/>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4DD47A75-768D-7730-C3F0-D52127D8D979}"/>
              </a:ext>
            </a:extLst>
          </p:cNvPr>
          <p:cNvPicPr>
            <a:picLocks noChangeAspect="1"/>
          </p:cNvPicPr>
          <p:nvPr/>
        </p:nvPicPr>
        <p:blipFill>
          <a:blip r:embed="rId4"/>
          <a:stretch>
            <a:fillRect/>
          </a:stretch>
        </p:blipFill>
        <p:spPr>
          <a:xfrm>
            <a:off x="404812" y="1745023"/>
            <a:ext cx="7724775" cy="3895725"/>
          </a:xfrm>
          <a:prstGeom prst="rect">
            <a:avLst/>
          </a:prstGeom>
        </p:spPr>
      </p:pic>
    </p:spTree>
    <p:extLst>
      <p:ext uri="{BB962C8B-B14F-4D97-AF65-F5344CB8AC3E}">
        <p14:creationId xmlns:p14="http://schemas.microsoft.com/office/powerpoint/2010/main" val="1644857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PROPOSITIONAL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73031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2.1.3. Rules of deduction(</a:t>
            </a:r>
            <a:r>
              <a:rPr lang="en-US" sz="2000" dirty="0">
                <a:solidFill>
                  <a:schemeClr val="tx2"/>
                </a:solidFill>
                <a:latin typeface="Times New Roman" pitchFamily="18" charset="0"/>
                <a:cs typeface="Times New Roman" pitchFamily="18" charset="0"/>
              </a:rPr>
              <a:t>implication</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sz="2000" b="0" i="1" dirty="0">
                <a:solidFill>
                  <a:schemeClr val="tx2"/>
                </a:solidFill>
                <a:latin typeface="Times New Roman" pitchFamily="18" charset="0"/>
                <a:cs typeface="Times New Roman" pitchFamily="18" charset="0"/>
              </a:rPr>
              <a:t>Prove:</a:t>
            </a:r>
          </a:p>
          <a:p>
            <a:pPr marL="342900" indent="-342900">
              <a:buFont typeface="Arial" panose="020B0604020202020204" pitchFamily="34" charset="0"/>
              <a:buChar char="•"/>
            </a:pPr>
            <a:endParaRPr lang="en-US" b="0" i="1" dirty="0"/>
          </a:p>
          <a:p>
            <a:pPr marL="342900" indent="-342900">
              <a:buFont typeface="Arial" panose="020B0604020202020204" pitchFamily="34" charset="0"/>
              <a:buChar char="•"/>
            </a:pPr>
            <a:endParaRPr lang="en-US" sz="2000" b="0" i="1"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r>
              <a:rPr lang="en-US" b="0" i="1" dirty="0"/>
              <a:t>Truth table for:</a:t>
            </a:r>
          </a:p>
          <a:p>
            <a:pPr marL="342900" indent="-342900">
              <a:buFont typeface="Arial" panose="020B0604020202020204" pitchFamily="34" charset="0"/>
              <a:buChar char="•"/>
            </a:pPr>
            <a:endParaRPr lang="en-US" sz="2000" b="0" i="1" dirty="0">
              <a:solidFill>
                <a:schemeClr val="tx2"/>
              </a:solidFill>
              <a:latin typeface="Times New Roman" pitchFamily="18" charset="0"/>
              <a:cs typeface="Times New Roman" pitchFamily="18" charset="0"/>
            </a:endParaRPr>
          </a:p>
          <a:p>
            <a:endParaRPr lang="en-US" altLang="ko-KR" dirty="0"/>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1E61F937-4E37-D1B6-F5D9-09C5444FD8A8}"/>
              </a:ext>
            </a:extLst>
          </p:cNvPr>
          <p:cNvPicPr>
            <a:picLocks noChangeAspect="1"/>
          </p:cNvPicPr>
          <p:nvPr/>
        </p:nvPicPr>
        <p:blipFill>
          <a:blip r:embed="rId4"/>
          <a:stretch>
            <a:fillRect/>
          </a:stretch>
        </p:blipFill>
        <p:spPr>
          <a:xfrm>
            <a:off x="515937" y="1905000"/>
            <a:ext cx="3324225" cy="438150"/>
          </a:xfrm>
          <a:prstGeom prst="rect">
            <a:avLst/>
          </a:prstGeom>
        </p:spPr>
      </p:pic>
      <p:pic>
        <p:nvPicPr>
          <p:cNvPr id="8" name="Picture 7">
            <a:extLst>
              <a:ext uri="{FF2B5EF4-FFF2-40B4-BE49-F238E27FC236}">
                <a16:creationId xmlns:a16="http://schemas.microsoft.com/office/drawing/2014/main" id="{8B7AC578-675D-91B3-829A-B506BCA894D5}"/>
              </a:ext>
            </a:extLst>
          </p:cNvPr>
          <p:cNvPicPr>
            <a:picLocks noChangeAspect="1"/>
          </p:cNvPicPr>
          <p:nvPr/>
        </p:nvPicPr>
        <p:blipFill>
          <a:blip r:embed="rId5"/>
          <a:stretch>
            <a:fillRect/>
          </a:stretch>
        </p:blipFill>
        <p:spPr>
          <a:xfrm>
            <a:off x="849311" y="3419087"/>
            <a:ext cx="2657475" cy="2228850"/>
          </a:xfrm>
          <a:prstGeom prst="rect">
            <a:avLst/>
          </a:prstGeom>
        </p:spPr>
      </p:pic>
    </p:spTree>
    <p:extLst>
      <p:ext uri="{BB962C8B-B14F-4D97-AF65-F5344CB8AC3E}">
        <p14:creationId xmlns:p14="http://schemas.microsoft.com/office/powerpoint/2010/main" val="3215650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57697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Definition:</a:t>
            </a:r>
          </a:p>
          <a:p>
            <a:r>
              <a:rPr lang="en-US" sz="2000" b="0" dirty="0">
                <a:solidFill>
                  <a:schemeClr val="tx2"/>
                </a:solidFill>
                <a:latin typeface="Times New Roman" pitchFamily="18" charset="0"/>
                <a:cs typeface="Times New Roman" pitchFamily="18" charset="0"/>
              </a:rPr>
              <a:t>Why do we use predicate logic?</a:t>
            </a:r>
          </a:p>
          <a:p>
            <a:r>
              <a:rPr lang="en-US" b="0" dirty="0"/>
              <a:t>	</a:t>
            </a:r>
            <a:r>
              <a:rPr lang="vi-VN" b="0" dirty="0"/>
              <a:t> </a:t>
            </a:r>
            <a:r>
              <a:rPr lang="en-US" b="0" dirty="0"/>
              <a:t>Constructing inference chains or proofs in propositional logic, the logic itself does not consider the internal structure. </a:t>
            </a:r>
          </a:p>
          <a:p>
            <a:r>
              <a:rPr lang="en-US" b="0" dirty="0"/>
              <a:t>For example, </a:t>
            </a:r>
          </a:p>
          <a:p>
            <a:r>
              <a:rPr lang="en-US" b="0" dirty="0"/>
              <a:t>	p="All birds can fly," </a:t>
            </a:r>
          </a:p>
          <a:p>
            <a:r>
              <a:rPr lang="en-US" b="0" dirty="0"/>
              <a:t>	we can symbolize this proposition with a letter, say p, and then treat p as having no internal structure. </a:t>
            </a:r>
          </a:p>
          <a:p>
            <a:r>
              <a:rPr lang="en-US" b="0" dirty="0"/>
              <a:t>This means that we do not investigate the internal structure of p and, of course, do not use any information contained in that structure. </a:t>
            </a:r>
          </a:p>
          <a:p>
            <a:r>
              <a:rPr lang="en-US" b="0" dirty="0"/>
              <a:t>However, there are certain inferences that necessitate the use of the internal structure of propositions. 	</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8758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Definition:</a:t>
            </a:r>
          </a:p>
          <a:p>
            <a:r>
              <a:rPr lang="en-US" b="0" dirty="0"/>
              <a:t>For example, </a:t>
            </a:r>
          </a:p>
          <a:p>
            <a:r>
              <a:rPr lang="en-US" b="0" dirty="0"/>
              <a:t>	p="All birds can fly," </a:t>
            </a:r>
          </a:p>
          <a:p>
            <a:r>
              <a:rPr lang="en-US" b="0" dirty="0"/>
              <a:t>	q= “Eagles are bird" </a:t>
            </a:r>
          </a:p>
          <a:p>
            <a:r>
              <a:rPr lang="en-US" b="0" dirty="0"/>
              <a:t>	There is no law to state: r= “a grey eagles can fly" </a:t>
            </a:r>
          </a:p>
          <a:p>
            <a:r>
              <a:rPr lang="en-US" b="0" dirty="0"/>
              <a:t>For example,</a:t>
            </a:r>
          </a:p>
          <a:p>
            <a:r>
              <a:rPr lang="vi-VN" b="0" dirty="0"/>
              <a:t>“x &gt; 3” </a:t>
            </a:r>
            <a:endParaRPr lang="en-US" b="0" dirty="0"/>
          </a:p>
          <a:p>
            <a:r>
              <a:rPr lang="vi-VN" b="0" dirty="0"/>
              <a:t>“x”: </a:t>
            </a:r>
            <a:r>
              <a:rPr lang="en-US" b="0" dirty="0"/>
              <a:t>Subject </a:t>
            </a:r>
          </a:p>
          <a:p>
            <a:r>
              <a:rPr lang="vi-VN" b="0" dirty="0"/>
              <a:t>“&gt; 3”: </a:t>
            </a:r>
            <a:r>
              <a:rPr lang="en-US" b="0" dirty="0"/>
              <a:t>Predicate</a:t>
            </a:r>
          </a:p>
          <a:p>
            <a:r>
              <a:rPr lang="vi-VN" b="0" dirty="0"/>
              <a:t>P(x): x &gt; 3 (P </a:t>
            </a:r>
            <a:r>
              <a:rPr lang="en-US" b="0" dirty="0"/>
              <a:t>is the predicate</a:t>
            </a:r>
            <a:r>
              <a:rPr lang="vi-VN" b="0" dirty="0"/>
              <a:t> “</a:t>
            </a:r>
            <a:r>
              <a:rPr lang="en-US" b="0" dirty="0"/>
              <a:t>more than </a:t>
            </a:r>
            <a:r>
              <a:rPr lang="vi-VN" b="0" dirty="0"/>
              <a:t>3”)</a:t>
            </a:r>
            <a:endParaRPr lang="en-US" b="0" dirty="0"/>
          </a:p>
          <a:p>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619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Definition:</a:t>
            </a:r>
          </a:p>
          <a:p>
            <a:r>
              <a:rPr lang="en-US" b="0" dirty="0"/>
              <a:t>For example, </a:t>
            </a:r>
          </a:p>
          <a:p>
            <a:r>
              <a:rPr lang="en-US" b="0" dirty="0"/>
              <a:t>	p="All birds can fly," </a:t>
            </a:r>
          </a:p>
          <a:p>
            <a:r>
              <a:rPr lang="en-US" b="0" dirty="0"/>
              <a:t>	q= “Eagles are bird" </a:t>
            </a:r>
          </a:p>
          <a:p>
            <a:r>
              <a:rPr lang="en-US" b="0" dirty="0"/>
              <a:t>	There is no law to state: r= “a grey eagles can fly" </a:t>
            </a:r>
          </a:p>
          <a:p>
            <a:r>
              <a:rPr lang="en-US" b="0" dirty="0"/>
              <a:t>For example,</a:t>
            </a:r>
          </a:p>
          <a:p>
            <a:r>
              <a:rPr lang="en-US" b="0" dirty="0"/>
              <a:t>	</a:t>
            </a:r>
            <a:r>
              <a:rPr lang="vi-VN" b="0" dirty="0"/>
              <a:t>“x &gt; 3” </a:t>
            </a:r>
            <a:endParaRPr lang="en-US" b="0" dirty="0"/>
          </a:p>
          <a:p>
            <a:r>
              <a:rPr lang="en-US" b="0" dirty="0"/>
              <a:t>	</a:t>
            </a:r>
            <a:r>
              <a:rPr lang="vi-VN" b="0" dirty="0"/>
              <a:t>“x”: </a:t>
            </a:r>
            <a:r>
              <a:rPr lang="en-US" b="0" dirty="0"/>
              <a:t>Subject </a:t>
            </a:r>
          </a:p>
          <a:p>
            <a:r>
              <a:rPr lang="en-US" b="0" dirty="0"/>
              <a:t>	</a:t>
            </a:r>
            <a:r>
              <a:rPr lang="vi-VN" b="0" dirty="0"/>
              <a:t>“&gt; 3”: </a:t>
            </a:r>
            <a:r>
              <a:rPr lang="en-US" b="0" dirty="0"/>
              <a:t>Predicate</a:t>
            </a:r>
          </a:p>
          <a:p>
            <a:r>
              <a:rPr lang="en-US" b="0" dirty="0"/>
              <a:t>	</a:t>
            </a:r>
            <a:r>
              <a:rPr lang="vi-VN" b="0" dirty="0"/>
              <a:t>P(x): x &gt; 3 (P </a:t>
            </a:r>
            <a:r>
              <a:rPr lang="en-US" b="0" dirty="0"/>
              <a:t>is the predicate</a:t>
            </a:r>
            <a:r>
              <a:rPr lang="vi-VN" b="0" dirty="0"/>
              <a:t> “</a:t>
            </a:r>
            <a:r>
              <a:rPr lang="en-US" b="0" dirty="0"/>
              <a:t>more than </a:t>
            </a:r>
            <a:r>
              <a:rPr lang="vi-VN" b="0" dirty="0"/>
              <a:t>3”)</a:t>
            </a:r>
            <a:endParaRPr lang="en-US" b="0" dirty="0"/>
          </a:p>
          <a:p>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0148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Definition:</a:t>
            </a:r>
          </a:p>
          <a:p>
            <a:r>
              <a:rPr lang="vi-VN" b="0" dirty="0"/>
              <a:t>P(x): x &gt; 3 </a:t>
            </a:r>
            <a:endParaRPr lang="en-US" b="0" dirty="0"/>
          </a:p>
          <a:p>
            <a:r>
              <a:rPr lang="en-US" b="0" dirty="0"/>
              <a:t>	P(4)=True</a:t>
            </a:r>
          </a:p>
          <a:p>
            <a:r>
              <a:rPr lang="en-US" b="0" dirty="0"/>
              <a:t>	P(2)=False</a:t>
            </a:r>
          </a:p>
          <a:p>
            <a:r>
              <a:rPr lang="en-US" b="0" dirty="0"/>
              <a:t>P(x) is the proposition function of P at x</a:t>
            </a:r>
          </a:p>
          <a:p>
            <a:r>
              <a:rPr lang="es-ES" dirty="0"/>
              <a:t>Q(</a:t>
            </a:r>
            <a:r>
              <a:rPr lang="es-ES" dirty="0" err="1"/>
              <a:t>x,y</a:t>
            </a:r>
            <a:r>
              <a:rPr lang="es-ES" dirty="0"/>
              <a:t>): x = y +3</a:t>
            </a:r>
            <a:endParaRPr lang="en-US" b="0" dirty="0"/>
          </a:p>
          <a:p>
            <a:r>
              <a:rPr lang="es-ES" b="0" dirty="0"/>
              <a:t>Q(1,2)</a:t>
            </a:r>
          </a:p>
          <a:p>
            <a:r>
              <a:rPr lang="es-ES" b="0" dirty="0"/>
              <a:t>Q(3,0)</a:t>
            </a:r>
            <a:endParaRPr lang="en-US" b="0" dirty="0"/>
          </a:p>
          <a:p>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617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Definition:</a:t>
                </a:r>
              </a:p>
              <a:p>
                <a:r>
                  <a:rPr lang="en-US" b="0" dirty="0"/>
                  <a:t>Predicate is a proposition function that describes the attributes of objects and the relationships between them.</a:t>
                </a:r>
              </a:p>
              <a:p>
                <a:r>
                  <a:rPr lang="vi-VN" dirty="0"/>
                  <a:t>Statement “x &gt; 1” is not a proposition. </a:t>
                </a:r>
                <a:endParaRPr lang="en-US" dirty="0"/>
              </a:p>
              <a:p>
                <a:r>
                  <a:rPr lang="vi-VN" dirty="0"/>
                  <a:t>How to make it to be a proposition? </a:t>
                </a:r>
                <a:endParaRPr lang="en-US" dirty="0"/>
              </a:p>
              <a:p>
                <a:r>
                  <a:rPr lang="vi-VN" dirty="0"/>
                  <a:t>1: 0 &gt; 1.</a:t>
                </a:r>
                <a:endParaRPr lang="en-US" dirty="0"/>
              </a:p>
              <a:p>
                <a:r>
                  <a:rPr lang="vi-VN" dirty="0"/>
                  <a:t>2: </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𝑵</m:t>
                    </m:r>
                    <m:r>
                      <a:rPr lang="en-US" b="1" i="1" smtClean="0">
                        <a:latin typeface="Cambria Math" panose="02040503050406030204" pitchFamily="18" charset="0"/>
                        <a:ea typeface="Cambria Math" panose="02040503050406030204" pitchFamily="18" charset="0"/>
                      </a:rPr>
                      <m:t>: </m:t>
                    </m:r>
                  </m:oMath>
                </a14:m>
                <a:r>
                  <a:rPr lang="vi-VN" dirty="0"/>
                  <a:t>x &gt; 1 </a:t>
                </a:r>
                <a:endParaRPr lang="en-US" dirty="0"/>
              </a:p>
              <a:p>
                <a:r>
                  <a:rPr lang="en-US" dirty="0"/>
                  <a:t>	</a:t>
                </a:r>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𝑵</m:t>
                    </m:r>
                    <m:r>
                      <a:rPr lang="en-US" b="1" i="1" smtClean="0">
                        <a:latin typeface="Cambria Math" panose="02040503050406030204" pitchFamily="18" charset="0"/>
                        <a:ea typeface="Cambria Math" panose="02040503050406030204" pitchFamily="18" charset="0"/>
                      </a:rPr>
                      <m:t>: </m:t>
                    </m:r>
                  </m:oMath>
                </a14:m>
                <a:r>
                  <a:rPr lang="vi-VN" dirty="0"/>
                  <a:t>x &gt; 1</a:t>
                </a:r>
                <a:endParaRPr lang="en-US" dirty="0"/>
              </a:p>
              <a:p>
                <a:endParaRPr lang="en-US" b="0" dirty="0"/>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4191981"/>
              </a:xfrm>
              <a:prstGeom prst="rect">
                <a:avLst/>
              </a:prstGeom>
              <a:blipFill>
                <a:blip r:embed="rId4"/>
                <a:stretch>
                  <a:fillRect l="-746" r="-678"/>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1373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65364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Definition:</a:t>
                </a:r>
              </a:p>
              <a:p>
                <a:r>
                  <a:rPr lang="en-US" b="0" dirty="0"/>
                  <a:t>Predicate is a proposition function that describes the attributes of objects and the relationships between them.</a:t>
                </a:r>
              </a:p>
              <a:p>
                <a:r>
                  <a:rPr lang="vi-VN" dirty="0"/>
                  <a:t>Statement “x &gt; 1” is not a proposition. </a:t>
                </a:r>
                <a:endParaRPr lang="en-US" dirty="0"/>
              </a:p>
              <a:p>
                <a:r>
                  <a:rPr lang="vi-VN" dirty="0"/>
                  <a:t>How to make it to be a proposition? </a:t>
                </a:r>
                <a:endParaRPr lang="en-US" dirty="0"/>
              </a:p>
              <a:p>
                <a:r>
                  <a:rPr lang="vi-VN" dirty="0"/>
                  <a:t>1: 0 &gt; 1.</a:t>
                </a:r>
                <a:endParaRPr lang="en-US" dirty="0"/>
              </a:p>
              <a:p>
                <a:r>
                  <a:rPr lang="vi-VN" dirty="0"/>
                  <a:t>2: </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𝑵</m:t>
                    </m:r>
                    <m:r>
                      <a:rPr lang="en-US" b="1" i="1" smtClean="0">
                        <a:latin typeface="Cambria Math" panose="02040503050406030204" pitchFamily="18" charset="0"/>
                        <a:ea typeface="Cambria Math" panose="02040503050406030204" pitchFamily="18" charset="0"/>
                      </a:rPr>
                      <m:t>: </m:t>
                    </m:r>
                  </m:oMath>
                </a14:m>
                <a:r>
                  <a:rPr lang="vi-VN" dirty="0"/>
                  <a:t>x &gt; 1 </a:t>
                </a:r>
                <a:endParaRPr lang="en-US" dirty="0"/>
              </a:p>
              <a:p>
                <a:r>
                  <a:rPr lang="en-US" dirty="0"/>
                  <a:t>	</a:t>
                </a:r>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𝑵</m:t>
                    </m:r>
                    <m:r>
                      <a:rPr lang="en-US" b="1" i="1" smtClean="0">
                        <a:latin typeface="Cambria Math" panose="02040503050406030204" pitchFamily="18" charset="0"/>
                        <a:ea typeface="Cambria Math" panose="02040503050406030204" pitchFamily="18" charset="0"/>
                      </a:rPr>
                      <m:t>: </m:t>
                    </m:r>
                  </m:oMath>
                </a14:m>
                <a:r>
                  <a:rPr lang="vi-VN" dirty="0"/>
                  <a:t>x &gt; 1</a:t>
                </a:r>
                <a:endParaRPr lang="en-US" dirty="0"/>
              </a:p>
              <a:p>
                <a:r>
                  <a:rPr lang="en-US" b="0" dirty="0"/>
                  <a:t>Related to </a:t>
                </a:r>
                <a:r>
                  <a:rPr lang="en-US" sz="2000" b="1" dirty="0">
                    <a:solidFill>
                      <a:schemeClr val="tx2"/>
                    </a:solidFill>
                    <a:latin typeface="Times New Roman" pitchFamily="18" charset="0"/>
                    <a:cs typeface="Times New Roman" pitchFamily="18" charset="0"/>
                  </a:rPr>
                  <a:t>Amount</a:t>
                </a:r>
                <a:endParaRPr lang="en-US" b="0" dirty="0"/>
              </a:p>
              <a:p>
                <a:endParaRPr lang="en-US" b="0" dirty="0"/>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4653646"/>
              </a:xfrm>
              <a:prstGeom prst="rect">
                <a:avLst/>
              </a:prstGeom>
              <a:blipFill>
                <a:blip r:embed="rId4"/>
                <a:stretch>
                  <a:fillRect l="-746" r="-678"/>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9197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65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2.2.2. Q</a:t>
                </a:r>
                <a:r>
                  <a:rPr lang="en-US" dirty="0"/>
                  <a:t>uantifier- Amount of word </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14:m>
                  <m:oMath xmlns:m="http://schemas.openxmlformats.org/officeDocument/2006/math">
                    <m:r>
                      <a:rPr lang="en-US" b="0">
                        <a:latin typeface="Cambria Math" panose="02040503050406030204" pitchFamily="18" charset="0"/>
                      </a:rPr>
                      <m:t>∀ </m:t>
                    </m:r>
                  </m:oMath>
                </a14:m>
                <a:r>
                  <a:rPr lang="vi-VN" b="0" dirty="0"/>
                  <a:t>: for-all </a:t>
                </a:r>
                <a:endParaRPr lang="en-US" b="0" dirty="0"/>
              </a:p>
              <a:p>
                <a:pPr marL="342900" indent="-342900">
                  <a:buFont typeface="Arial" panose="020B0604020202020204" pitchFamily="34" charset="0"/>
                  <a:buChar char="•"/>
                </a:pPr>
                <a:r>
                  <a:rPr lang="vi-VN" b="0" dirty="0"/>
                  <a:t>∀xP(x) = “P(x) is T for all x” </a:t>
                </a:r>
                <a:endParaRPr lang="en-US" b="0" dirty="0"/>
              </a:p>
              <a:p>
                <a:pPr marL="342900" indent="-342900">
                  <a:buFont typeface="Arial" panose="020B0604020202020204" pitchFamily="34" charset="0"/>
                  <a:buChar char="•"/>
                </a:pPr>
                <a:r>
                  <a:rPr lang="vi-VN" b="0" dirty="0"/>
                  <a:t>∃ : exists (tồn tại) </a:t>
                </a:r>
                <a:endParaRPr lang="en-US" b="0" dirty="0"/>
              </a:p>
              <a:p>
                <a:pPr marL="342900" indent="-342900">
                  <a:buFont typeface="Arial" panose="020B0604020202020204" pitchFamily="34" charset="0"/>
                  <a:buChar char="•"/>
                </a:pPr>
                <a:r>
                  <a:rPr lang="vi-VN" b="0" dirty="0"/>
                  <a:t>∃xP(x) = “There exists x such that P(x) is T”</a:t>
                </a:r>
                <a:endParaRPr lang="en-US" b="0" dirty="0"/>
              </a:p>
              <a:p>
                <a:pPr marL="342900" indent="-342900">
                  <a:buFont typeface="Arial" panose="020B0604020202020204" pitchFamily="34" charset="0"/>
                  <a:buChar char="•"/>
                </a:pPr>
                <a:r>
                  <a:rPr lang="en-US" b="0" dirty="0"/>
                  <a:t>Domain</a:t>
                </a:r>
              </a:p>
              <a:p>
                <a:pPr marL="342900" indent="-342900">
                  <a:buFont typeface="Arial" panose="020B0604020202020204" pitchFamily="34" charset="0"/>
                  <a:buChar char="•"/>
                </a:pPr>
                <a:r>
                  <a:rPr lang="en-US" b="0" dirty="0"/>
                  <a:t>Image</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3268652"/>
              </a:xfrm>
              <a:prstGeom prst="rect">
                <a:avLst/>
              </a:prstGeom>
              <a:blipFill>
                <a:blip r:embed="rId4"/>
                <a:stretch>
                  <a:fillRect l="-746" b="-2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779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2.2.2. Q</a:t>
                </a:r>
                <a:r>
                  <a:rPr lang="en-US" dirty="0"/>
                  <a:t>uantifier- Amount of word </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14:m>
                  <m:oMath xmlns:m="http://schemas.openxmlformats.org/officeDocument/2006/math">
                    <m:r>
                      <a:rPr lang="en-US" b="0">
                        <a:latin typeface="Cambria Math" panose="02040503050406030204" pitchFamily="18" charset="0"/>
                      </a:rPr>
                      <m:t>∀ </m:t>
                    </m:r>
                  </m:oMath>
                </a14:m>
                <a:r>
                  <a:rPr lang="vi-VN" b="0" dirty="0"/>
                  <a:t>: for-all </a:t>
                </a:r>
                <a:endParaRPr lang="en-US" b="0" dirty="0"/>
              </a:p>
              <a:p>
                <a:pPr marL="342900" indent="-342900">
                  <a:buFont typeface="Arial" panose="020B0604020202020204" pitchFamily="34" charset="0"/>
                  <a:buChar char="•"/>
                </a:pPr>
                <a:r>
                  <a:rPr lang="vi-VN" b="0" dirty="0"/>
                  <a:t>∀xP(x) = “P(x) is T for all x” </a:t>
                </a:r>
                <a:endParaRPr lang="en-US" b="0" dirty="0"/>
              </a:p>
              <a:p>
                <a:pPr marL="342900" indent="-342900">
                  <a:buFont typeface="Arial" panose="020B0604020202020204" pitchFamily="34" charset="0"/>
                  <a:buChar char="•"/>
                </a:pPr>
                <a:r>
                  <a:rPr lang="vi-VN" b="0" dirty="0"/>
                  <a:t>∃ : exists (tồn tại) </a:t>
                </a:r>
                <a:endParaRPr lang="en-US" b="0" dirty="0"/>
              </a:p>
              <a:p>
                <a:pPr marL="342900" indent="-342900">
                  <a:buFont typeface="Arial" panose="020B0604020202020204" pitchFamily="34" charset="0"/>
                  <a:buChar char="•"/>
                </a:pPr>
                <a:r>
                  <a:rPr lang="vi-VN" b="0" dirty="0"/>
                  <a:t>∃xP(x) = “There exists x such that P(x) is T”</a:t>
                </a:r>
                <a:endParaRPr lang="en-US" b="0" dirty="0"/>
              </a:p>
              <a:p>
                <a:pPr marL="342900" indent="-342900">
                  <a:buFont typeface="Arial" panose="020B0604020202020204" pitchFamily="34" charset="0"/>
                  <a:buChar char="•"/>
                </a:pPr>
                <a:r>
                  <a:rPr lang="en-US" b="0" dirty="0"/>
                  <a:t>Domain (universe) of discourse</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2806987"/>
              </a:xfrm>
              <a:prstGeom prst="rect">
                <a:avLst/>
              </a:prstGeom>
              <a:blipFill>
                <a:blip r:embed="rId4"/>
                <a:stretch>
                  <a:fillRect l="-746" b="-3043"/>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9451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732770"/>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2.2.1. Q</a:t>
                </a:r>
                <a:r>
                  <a:rPr lang="en-US" dirty="0"/>
                  <a:t>uantifier- Amount of word </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b="0" dirty="0"/>
                  <a:t>Example 1: “All IT students must study discrete </a:t>
                </a:r>
                <a:r>
                  <a:rPr lang="en-US" b="0" dirty="0" err="1"/>
                  <a:t>maths</a:t>
                </a:r>
                <a:r>
                  <a:rPr lang="en-US" b="0" dirty="0"/>
                  <a:t>”</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a:t>
                </a:r>
                <a14:m>
                  <m:oMath xmlns:m="http://schemas.openxmlformats.org/officeDocument/2006/math">
                    <m:r>
                      <a:rPr lang="en-US" sz="2000">
                        <a:solidFill>
                          <a:schemeClr val="tx2"/>
                        </a:solidFill>
                        <a:latin typeface="Cambria Math" panose="02040503050406030204" pitchFamily="18" charset="0"/>
                        <a:cs typeface="Times New Roman" pitchFamily="18" charset="0"/>
                      </a:rPr>
                      <m:t>∀ </m:t>
                    </m:r>
                  </m:oMath>
                </a14:m>
                <a:r>
                  <a:rPr lang="en-US" sz="2000" dirty="0">
                    <a:solidFill>
                      <a:schemeClr val="tx2"/>
                    </a:solidFill>
                    <a:latin typeface="Times New Roman" pitchFamily="18" charset="0"/>
                    <a:cs typeface="Times New Roman" pitchFamily="18" charset="0"/>
                  </a:rPr>
                  <a:t>P(x) = “x must study discrete </a:t>
                </a:r>
                <a:r>
                  <a:rPr lang="en-US" sz="2000" dirty="0" err="1">
                    <a:solidFill>
                      <a:schemeClr val="tx2"/>
                    </a:solidFill>
                    <a:latin typeface="Times New Roman" pitchFamily="18" charset="0"/>
                    <a:cs typeface="Times New Roman" pitchFamily="18" charset="0"/>
                  </a:rPr>
                  <a:t>maths</a:t>
                </a:r>
                <a:r>
                  <a:rPr lang="en-US" sz="2000" dirty="0">
                    <a:solidFill>
                      <a:schemeClr val="tx2"/>
                    </a:solidFill>
                    <a:latin typeface="Times New Roman" pitchFamily="18" charset="0"/>
                    <a:cs typeface="Times New Roman" pitchFamily="18" charset="0"/>
                  </a:rPr>
                  <a:t>”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a:t>
                </a:r>
                <a14:m>
                  <m:oMath xmlns:m="http://schemas.openxmlformats.org/officeDocument/2006/math">
                    <m:r>
                      <a:rPr lang="en-US" sz="2000">
                        <a:solidFill>
                          <a:schemeClr val="tx2"/>
                        </a:solidFill>
                        <a:latin typeface="Cambria Math" panose="02040503050406030204" pitchFamily="18" charset="0"/>
                        <a:cs typeface="Times New Roman" pitchFamily="18" charset="0"/>
                      </a:rPr>
                      <m:t>∀ </m:t>
                    </m:r>
                  </m:oMath>
                </a14:m>
                <a:r>
                  <a:rPr lang="en-US" sz="2000" dirty="0">
                    <a:solidFill>
                      <a:schemeClr val="tx2"/>
                    </a:solidFill>
                    <a:latin typeface="Times New Roman" pitchFamily="18" charset="0"/>
                    <a:cs typeface="Times New Roman" pitchFamily="18" charset="0"/>
                  </a:rPr>
                  <a:t>Proposition: </a:t>
                </a:r>
                <a14:m>
                  <m:oMath xmlns:m="http://schemas.openxmlformats.org/officeDocument/2006/math">
                    <m:r>
                      <a:rPr lang="en-US" sz="2000">
                        <a:solidFill>
                          <a:schemeClr val="tx2"/>
                        </a:solidFill>
                        <a:latin typeface="Cambria Math" panose="02040503050406030204" pitchFamily="18" charset="0"/>
                        <a:cs typeface="Times New Roman" pitchFamily="18" charset="0"/>
                      </a:rPr>
                      <m:t>∀ </m:t>
                    </m:r>
                  </m:oMath>
                </a14:m>
                <a:r>
                  <a:rPr lang="en-US" sz="2000" dirty="0" err="1">
                    <a:solidFill>
                      <a:schemeClr val="tx2"/>
                    </a:solidFill>
                    <a:latin typeface="Times New Roman" pitchFamily="18" charset="0"/>
                    <a:cs typeface="Times New Roman" pitchFamily="18" charset="0"/>
                  </a:rPr>
                  <a:t>xP</a:t>
                </a:r>
                <a:r>
                  <a:rPr lang="en-US" sz="2000" dirty="0">
                    <a:solidFill>
                      <a:schemeClr val="tx2"/>
                    </a:solidFill>
                    <a:latin typeface="Times New Roman" pitchFamily="18" charset="0"/>
                    <a:cs typeface="Times New Roman" pitchFamily="18" charset="0"/>
                  </a:rPr>
                  <a:t>(x)</a:t>
                </a:r>
              </a:p>
              <a:p>
                <a:pPr marL="342900" indent="-342900">
                  <a:buFont typeface="Arial" panose="020B0604020202020204" pitchFamily="34" charset="0"/>
                  <a:buChar char="•"/>
                </a:pPr>
                <a:r>
                  <a:rPr lang="en-US" b="0" dirty="0"/>
                  <a:t>For more details: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S(x) = “x is an IT student”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P(x) = “x must study discrete </a:t>
                </a:r>
                <a:r>
                  <a:rPr lang="en-US" sz="2000" dirty="0" err="1">
                    <a:solidFill>
                      <a:schemeClr val="tx2"/>
                    </a:solidFill>
                    <a:latin typeface="Times New Roman" pitchFamily="18" charset="0"/>
                    <a:cs typeface="Times New Roman" pitchFamily="18" charset="0"/>
                  </a:rPr>
                  <a:t>maths</a:t>
                </a:r>
                <a:r>
                  <a:rPr lang="en-US" sz="2000" dirty="0">
                    <a:solidFill>
                      <a:schemeClr val="tx2"/>
                    </a:solidFill>
                    <a:latin typeface="Times New Roman" pitchFamily="18" charset="0"/>
                    <a:cs typeface="Times New Roman" pitchFamily="18" charset="0"/>
                  </a:rPr>
                  <a:t>”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Proposition: </a:t>
                </a:r>
                <a14:m>
                  <m:oMath xmlns:m="http://schemas.openxmlformats.org/officeDocument/2006/math">
                    <m:r>
                      <a:rPr lang="en-US" sz="2000" smtClean="0">
                        <a:solidFill>
                          <a:schemeClr val="tx2"/>
                        </a:solidFill>
                        <a:latin typeface="Cambria Math" panose="02040503050406030204" pitchFamily="18" charset="0"/>
                        <a:cs typeface="Times New Roman" pitchFamily="18" charset="0"/>
                      </a:rPr>
                      <m:t>∀</m:t>
                    </m:r>
                    <m:r>
                      <a:rPr lang="en-US" sz="2000" i="1">
                        <a:solidFill>
                          <a:schemeClr val="tx2"/>
                        </a:solidFill>
                        <a:latin typeface="Cambria Math" panose="02040503050406030204" pitchFamily="18" charset="0"/>
                        <a:cs typeface="Times New Roman" pitchFamily="18" charset="0"/>
                      </a:rPr>
                      <m:t> </m:t>
                    </m:r>
                  </m:oMath>
                </a14:m>
                <a:r>
                  <a:rPr lang="en-US" sz="2000" dirty="0">
                    <a:solidFill>
                      <a:schemeClr val="tx2"/>
                    </a:solidFill>
                    <a:latin typeface="Times New Roman" pitchFamily="18" charset="0"/>
                    <a:cs typeface="Times New Roman" pitchFamily="18" charset="0"/>
                  </a:rPr>
                  <a:t>x(S(x) → P(x))</a:t>
                </a:r>
              </a:p>
              <a:p>
                <a:pPr marL="800100" lvl="1" indent="-342900">
                  <a:lnSpc>
                    <a:spcPct val="150000"/>
                  </a:lnSpc>
                  <a:buFont typeface="Arial" panose="020B0604020202020204" pitchFamily="34" charset="0"/>
                  <a:buChar char="•"/>
                </a:pPr>
                <a:endParaRPr lang="en-US" sz="2000" b="1"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r>
                  <a:rPr lang="en-US" sz="2200" b="1" dirty="0">
                    <a:solidFill>
                      <a:schemeClr val="tx2"/>
                    </a:solidFill>
                    <a:latin typeface="Times New Roman" pitchFamily="18" charset="0"/>
                    <a:cs typeface="Times New Roman" pitchFamily="18" charset="0"/>
                  </a:rPr>
                  <a:t>Today’s Big question: Why not </a:t>
                </a:r>
                <a14:m>
                  <m:oMath xmlns:m="http://schemas.openxmlformats.org/officeDocument/2006/math">
                    <m:r>
                      <a:rPr lang="en-US" sz="2400" smtClean="0">
                        <a:solidFill>
                          <a:schemeClr val="tx2"/>
                        </a:solidFill>
                        <a:latin typeface="Cambria Math" panose="02040503050406030204" pitchFamily="18" charset="0"/>
                        <a:cs typeface="Times New Roman" pitchFamily="18" charset="0"/>
                      </a:rPr>
                      <m:t>∀</m:t>
                    </m:r>
                    <m:r>
                      <a:rPr lang="en-US" sz="2400" i="1">
                        <a:solidFill>
                          <a:schemeClr val="tx2"/>
                        </a:solidFill>
                        <a:latin typeface="Cambria Math" panose="02040503050406030204" pitchFamily="18" charset="0"/>
                        <a:cs typeface="Times New Roman" pitchFamily="18" charset="0"/>
                      </a:rPr>
                      <m:t> </m:t>
                    </m:r>
                  </m:oMath>
                </a14:m>
                <a:r>
                  <a:rPr lang="en-US" sz="2200" b="1" dirty="0">
                    <a:solidFill>
                      <a:schemeClr val="tx2"/>
                    </a:solidFill>
                    <a:latin typeface="Times New Roman" pitchFamily="18" charset="0"/>
                    <a:cs typeface="Times New Roman" pitchFamily="18" charset="0"/>
                  </a:rPr>
                  <a:t>x(S(x) </a:t>
                </a:r>
                <a:r>
                  <a:rPr lang="en-US" sz="2400" dirty="0"/>
                  <a:t>∧</a:t>
                </a:r>
                <a:r>
                  <a:rPr lang="en-US" sz="2200" b="1" dirty="0">
                    <a:solidFill>
                      <a:schemeClr val="tx2"/>
                    </a:solidFill>
                    <a:latin typeface="Times New Roman" pitchFamily="18" charset="0"/>
                    <a:cs typeface="Times New Roman" pitchFamily="18" charset="0"/>
                  </a:rPr>
                  <a:t> P(x))?</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4732770"/>
              </a:xfrm>
              <a:prstGeom prst="rect">
                <a:avLst/>
              </a:prstGeom>
              <a:blipFill>
                <a:blip r:embed="rId4"/>
                <a:stretch>
                  <a:fillRect l="-814" b="-2062"/>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4855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33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2.2.2. Q</a:t>
                </a:r>
                <a:r>
                  <a:rPr lang="en-US" dirty="0"/>
                  <a:t>uantifier- Amount of word </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b="0" dirty="0"/>
                  <a:t>Example 2: P(x) = “x &gt; 3”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Domain: x </a:t>
                </a:r>
                <a14:m>
                  <m:oMath xmlns:m="http://schemas.openxmlformats.org/officeDocument/2006/math">
                    <m:r>
                      <a:rPr lang="en-US" sz="2000" i="1" dirty="0"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2000" b="0" i="1" dirty="0" smtClean="0">
                        <a:solidFill>
                          <a:schemeClr val="tx2"/>
                        </a:solidFill>
                        <a:latin typeface="Cambria Math" panose="02040503050406030204" pitchFamily="18" charset="0"/>
                        <a:ea typeface="Cambria Math" panose="02040503050406030204" pitchFamily="18" charset="0"/>
                        <a:cs typeface="Times New Roman" pitchFamily="18" charset="0"/>
                      </a:rPr>
                      <m:t>𝑅</m:t>
                    </m:r>
                  </m:oMath>
                </a14:m>
                <a:endParaRPr lang="en-US" sz="2000" dirty="0">
                  <a:solidFill>
                    <a:schemeClr val="tx2"/>
                  </a:solidFill>
                  <a:latin typeface="Times New Roman" pitchFamily="18" charset="0"/>
                  <a:cs typeface="Times New Roman" pitchFamily="18" charset="0"/>
                </a:endParaRP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Proposition: </a:t>
                </a:r>
                <a:r>
                  <a:rPr lang="vi-VN" sz="2000" b="0" dirty="0"/>
                  <a:t>∃ </a:t>
                </a:r>
                <a:r>
                  <a:rPr lang="en-US" sz="2000" dirty="0" err="1">
                    <a:solidFill>
                      <a:schemeClr val="tx2"/>
                    </a:solidFill>
                    <a:latin typeface="Times New Roman" pitchFamily="18" charset="0"/>
                    <a:cs typeface="Times New Roman" pitchFamily="18" charset="0"/>
                  </a:rPr>
                  <a:t>xP</a:t>
                </a:r>
                <a:r>
                  <a:rPr lang="en-US" sz="2000" dirty="0">
                    <a:solidFill>
                      <a:schemeClr val="tx2"/>
                    </a:solidFill>
                    <a:latin typeface="Times New Roman" pitchFamily="18" charset="0"/>
                    <a:cs typeface="Times New Roman" pitchFamily="18" charset="0"/>
                  </a:rPr>
                  <a:t>(x)  TRUE or FALSE? </a:t>
                </a:r>
              </a:p>
              <a:p>
                <a:pPr marL="342900" indent="-342900">
                  <a:buFont typeface="Arial" panose="020B0604020202020204" pitchFamily="34" charset="0"/>
                  <a:buChar char="•"/>
                </a:pPr>
                <a:r>
                  <a:rPr lang="en-US" b="0" dirty="0"/>
                  <a:t>Example 3: Q(x) = “x=x+ 1”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Domain:  x </a:t>
                </a:r>
                <a14:m>
                  <m:oMath xmlns:m="http://schemas.openxmlformats.org/officeDocument/2006/math">
                    <m:r>
                      <a:rPr lang="en-US" sz="2000" i="1" dirty="0"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2000" b="0" i="1" dirty="0" smtClean="0">
                        <a:solidFill>
                          <a:schemeClr val="tx2"/>
                        </a:solidFill>
                        <a:latin typeface="Cambria Math" panose="02040503050406030204" pitchFamily="18" charset="0"/>
                        <a:ea typeface="Cambria Math" panose="02040503050406030204" pitchFamily="18" charset="0"/>
                        <a:cs typeface="Times New Roman" pitchFamily="18" charset="0"/>
                      </a:rPr>
                      <m:t>𝑅</m:t>
                    </m:r>
                  </m:oMath>
                </a14:m>
                <a:endParaRPr lang="en-US" sz="2000" dirty="0">
                  <a:solidFill>
                    <a:schemeClr val="tx2"/>
                  </a:solidFill>
                  <a:latin typeface="Times New Roman" pitchFamily="18" charset="0"/>
                  <a:cs typeface="Times New Roman" pitchFamily="18" charset="0"/>
                </a:endParaRP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Proposition: ∃</a:t>
                </a:r>
                <a:r>
                  <a:rPr lang="en-US" sz="2000" dirty="0" err="1">
                    <a:solidFill>
                      <a:schemeClr val="tx2"/>
                    </a:solidFill>
                    <a:latin typeface="Times New Roman" pitchFamily="18" charset="0"/>
                    <a:cs typeface="Times New Roman" pitchFamily="18" charset="0"/>
                  </a:rPr>
                  <a:t>xQ</a:t>
                </a:r>
                <a:r>
                  <a:rPr lang="en-US" sz="2000" dirty="0">
                    <a:solidFill>
                      <a:schemeClr val="tx2"/>
                    </a:solidFill>
                    <a:latin typeface="Times New Roman" pitchFamily="18" charset="0"/>
                    <a:cs typeface="Times New Roman" pitchFamily="18" charset="0"/>
                  </a:rPr>
                  <a:t>(x)  TRUE or FALSE?</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3268331"/>
              </a:xfrm>
              <a:prstGeom prst="rect">
                <a:avLst/>
              </a:prstGeom>
              <a:blipFill>
                <a:blip r:embed="rId4"/>
                <a:stretch>
                  <a:fillRect l="-746" b="-2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6066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33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2.2.2. Q</a:t>
                </a:r>
                <a:r>
                  <a:rPr lang="en-US" dirty="0"/>
                  <a:t>uantifier- Amount of word </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b="0" dirty="0"/>
                  <a:t>Example 2: P(x) = “x &gt; 3”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Domain: x </a:t>
                </a:r>
                <a14:m>
                  <m:oMath xmlns:m="http://schemas.openxmlformats.org/officeDocument/2006/math">
                    <m:r>
                      <a:rPr lang="en-US" sz="2000" i="1" dirty="0"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2000" b="0" i="1" dirty="0" smtClean="0">
                        <a:solidFill>
                          <a:schemeClr val="tx2"/>
                        </a:solidFill>
                        <a:latin typeface="Cambria Math" panose="02040503050406030204" pitchFamily="18" charset="0"/>
                        <a:ea typeface="Cambria Math" panose="02040503050406030204" pitchFamily="18" charset="0"/>
                        <a:cs typeface="Times New Roman" pitchFamily="18" charset="0"/>
                      </a:rPr>
                      <m:t>𝑅</m:t>
                    </m:r>
                  </m:oMath>
                </a14:m>
                <a:endParaRPr lang="en-US" sz="2000" dirty="0">
                  <a:solidFill>
                    <a:schemeClr val="tx2"/>
                  </a:solidFill>
                  <a:latin typeface="Times New Roman" pitchFamily="18" charset="0"/>
                  <a:cs typeface="Times New Roman" pitchFamily="18" charset="0"/>
                </a:endParaRP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Proposition: </a:t>
                </a:r>
                <a:r>
                  <a:rPr lang="vi-VN" sz="2000" b="0" dirty="0"/>
                  <a:t>∃ </a:t>
                </a:r>
                <a:r>
                  <a:rPr lang="en-US" sz="2000" dirty="0" err="1">
                    <a:solidFill>
                      <a:schemeClr val="tx2"/>
                    </a:solidFill>
                    <a:latin typeface="Times New Roman" pitchFamily="18" charset="0"/>
                    <a:cs typeface="Times New Roman" pitchFamily="18" charset="0"/>
                  </a:rPr>
                  <a:t>xP</a:t>
                </a:r>
                <a:r>
                  <a:rPr lang="en-US" sz="2000" dirty="0">
                    <a:solidFill>
                      <a:schemeClr val="tx2"/>
                    </a:solidFill>
                    <a:latin typeface="Times New Roman" pitchFamily="18" charset="0"/>
                    <a:cs typeface="Times New Roman" pitchFamily="18" charset="0"/>
                  </a:rPr>
                  <a:t>(x)  TRUE or FALSE? </a:t>
                </a:r>
              </a:p>
              <a:p>
                <a:pPr marL="342900" indent="-342900">
                  <a:buFont typeface="Arial" panose="020B0604020202020204" pitchFamily="34" charset="0"/>
                  <a:buChar char="•"/>
                </a:pPr>
                <a:r>
                  <a:rPr lang="en-US" b="0" dirty="0"/>
                  <a:t>Example 3: Q(x) = “x=x+ 1”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Domain:  x </a:t>
                </a:r>
                <a14:m>
                  <m:oMath xmlns:m="http://schemas.openxmlformats.org/officeDocument/2006/math">
                    <m:r>
                      <a:rPr lang="en-US" sz="2000" i="1" dirty="0"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2000" b="0" i="1" dirty="0" smtClean="0">
                        <a:solidFill>
                          <a:schemeClr val="tx2"/>
                        </a:solidFill>
                        <a:latin typeface="Cambria Math" panose="02040503050406030204" pitchFamily="18" charset="0"/>
                        <a:ea typeface="Cambria Math" panose="02040503050406030204" pitchFamily="18" charset="0"/>
                        <a:cs typeface="Times New Roman" pitchFamily="18" charset="0"/>
                      </a:rPr>
                      <m:t>𝑅</m:t>
                    </m:r>
                  </m:oMath>
                </a14:m>
                <a:endParaRPr lang="en-US" sz="2000" dirty="0">
                  <a:solidFill>
                    <a:schemeClr val="tx2"/>
                  </a:solidFill>
                  <a:latin typeface="Times New Roman" pitchFamily="18" charset="0"/>
                  <a:cs typeface="Times New Roman" pitchFamily="18" charset="0"/>
                </a:endParaRP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Proposition: ∃</a:t>
                </a:r>
                <a:r>
                  <a:rPr lang="en-US" sz="2000" dirty="0" err="1">
                    <a:solidFill>
                      <a:schemeClr val="tx2"/>
                    </a:solidFill>
                    <a:latin typeface="Times New Roman" pitchFamily="18" charset="0"/>
                    <a:cs typeface="Times New Roman" pitchFamily="18" charset="0"/>
                  </a:rPr>
                  <a:t>xQ</a:t>
                </a:r>
                <a:r>
                  <a:rPr lang="en-US" sz="2000" dirty="0">
                    <a:solidFill>
                      <a:schemeClr val="tx2"/>
                    </a:solidFill>
                    <a:latin typeface="Times New Roman" pitchFamily="18" charset="0"/>
                    <a:cs typeface="Times New Roman" pitchFamily="18" charset="0"/>
                  </a:rPr>
                  <a:t>(x)  TRUE or FALSE?</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3268331"/>
              </a:xfrm>
              <a:prstGeom prst="rect">
                <a:avLst/>
              </a:prstGeom>
              <a:blipFill>
                <a:blip r:embed="rId4"/>
                <a:stretch>
                  <a:fillRect l="-746" b="-2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1916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57697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2.2.2. Q</a:t>
            </a:r>
            <a:r>
              <a:rPr lang="en-US" dirty="0"/>
              <a:t>uantifier- Amount of word </a:t>
            </a:r>
            <a:r>
              <a:rPr lang="en-US" sz="2000" b="1" dirty="0">
                <a:solidFill>
                  <a:schemeClr val="tx2"/>
                </a:solidFill>
                <a:latin typeface="Times New Roman" pitchFamily="18" charset="0"/>
                <a:cs typeface="Times New Roman" pitchFamily="18" charset="0"/>
              </a:rPr>
              <a:t>:</a:t>
            </a:r>
          </a:p>
          <a:p>
            <a:pPr marL="342900" indent="-342900">
              <a:buFont typeface="Arial" panose="020B0604020202020204" pitchFamily="34" charset="0"/>
              <a:buChar char="•"/>
            </a:pPr>
            <a:r>
              <a:rPr lang="en-US" b="0" dirty="0"/>
              <a:t>∀</a:t>
            </a:r>
            <a:r>
              <a:rPr lang="en-US" b="0" dirty="0" err="1"/>
              <a:t>xP</a:t>
            </a:r>
            <a:r>
              <a:rPr lang="en-US" b="0" dirty="0"/>
              <a:t>(x) =P(x</a:t>
            </a:r>
            <a:r>
              <a:rPr lang="en-US" b="0" baseline="-25000" dirty="0"/>
              <a:t>1</a:t>
            </a:r>
            <a:r>
              <a:rPr lang="en-US" b="0" dirty="0"/>
              <a:t> ) ∧ P(x</a:t>
            </a:r>
            <a:r>
              <a:rPr lang="en-US" b="0" baseline="-25000" dirty="0"/>
              <a:t>2</a:t>
            </a:r>
            <a:r>
              <a:rPr lang="en-US" b="0" dirty="0"/>
              <a:t> ) ∧ . . . ∧ P(</a:t>
            </a:r>
            <a:r>
              <a:rPr lang="en-US" b="0" dirty="0" err="1"/>
              <a:t>x</a:t>
            </a:r>
            <a:r>
              <a:rPr lang="en-US" b="0" baseline="-25000" dirty="0" err="1"/>
              <a:t>n</a:t>
            </a:r>
            <a:r>
              <a:rPr lang="en-US" b="0" dirty="0"/>
              <a:t> ) </a:t>
            </a:r>
          </a:p>
          <a:p>
            <a:pPr marL="342900" indent="-342900">
              <a:buFont typeface="Arial" panose="020B0604020202020204" pitchFamily="34" charset="0"/>
              <a:buChar char="•"/>
            </a:pPr>
            <a:r>
              <a:rPr lang="en-US" b="0" dirty="0"/>
              <a:t> ∃</a:t>
            </a:r>
            <a:r>
              <a:rPr lang="en-US" b="0" dirty="0" err="1"/>
              <a:t>xP</a:t>
            </a:r>
            <a:r>
              <a:rPr lang="en-US" b="0" dirty="0"/>
              <a:t>(x) =P(x</a:t>
            </a:r>
            <a:r>
              <a:rPr lang="en-US" b="0" baseline="-25000" dirty="0"/>
              <a:t>1</a:t>
            </a:r>
            <a:r>
              <a:rPr lang="en-US" b="0" dirty="0"/>
              <a:t> ) ∨ P(x</a:t>
            </a:r>
            <a:r>
              <a:rPr lang="en-US" b="0" baseline="-25000" dirty="0"/>
              <a:t>2</a:t>
            </a:r>
            <a:r>
              <a:rPr lang="en-US" b="0" dirty="0"/>
              <a:t> ) ∨ . . . ∨ P(</a:t>
            </a:r>
            <a:r>
              <a:rPr lang="en-US" b="0" dirty="0" err="1"/>
              <a:t>x</a:t>
            </a:r>
            <a:r>
              <a:rPr lang="en-US" b="0" baseline="-25000" dirty="0" err="1"/>
              <a:t>n</a:t>
            </a:r>
            <a:r>
              <a:rPr lang="en-US" b="0" dirty="0"/>
              <a:t> )</a:t>
            </a:r>
          </a:p>
          <a:p>
            <a:pPr marL="342900" indent="-342900">
              <a:buFont typeface="Arial" panose="020B0604020202020204" pitchFamily="34" charset="0"/>
              <a:buChar char="•"/>
            </a:pPr>
            <a:r>
              <a:rPr lang="en-US" sz="2000" b="0" dirty="0">
                <a:solidFill>
                  <a:schemeClr val="tx2"/>
                </a:solidFill>
                <a:latin typeface="Times New Roman" pitchFamily="18" charset="0"/>
                <a:cs typeface="Times New Roman" pitchFamily="18" charset="0"/>
              </a:rPr>
              <a:t>How to determine that the statement is true or false?</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check for all xi  to be true to determine the statement is true</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 find out a true xi  to determine the statement is true</a:t>
            </a:r>
          </a:p>
          <a:p>
            <a:pPr marL="800100" lvl="1" indent="-342900">
              <a:lnSpc>
                <a:spcPct val="150000"/>
              </a:lnSpc>
              <a:buFont typeface="Arial" panose="020B0604020202020204" pitchFamily="34" charset="0"/>
              <a:buChar char="•"/>
            </a:pPr>
            <a:endParaRPr lang="en-US" sz="2000"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r>
              <a:rPr lang="en-US" sz="2200" dirty="0">
                <a:solidFill>
                  <a:schemeClr val="tx2"/>
                </a:solidFill>
                <a:latin typeface="Times New Roman" pitchFamily="18" charset="0"/>
                <a:cs typeface="Times New Roman" pitchFamily="18" charset="0"/>
              </a:rPr>
              <a:t>Order of Amount of word is importance (except ∀, ∃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Left to right</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In to out</a:t>
            </a:r>
          </a:p>
          <a:p>
            <a:pPr lvl="1">
              <a:lnSpc>
                <a:spcPct val="150000"/>
              </a:lnSpc>
            </a:pPr>
            <a:endParaRPr lang="en-US" sz="2000"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369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Modus Ponens (Rule of Detachment):</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implies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And the proposition "A"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"B" is true.</a:t>
            </a:r>
          </a:p>
          <a:p>
            <a:pPr marL="342900" indent="-342900">
              <a:buFont typeface="Arial" panose="020B0604020202020204" pitchFamily="34" charset="0"/>
              <a:buChar char="•"/>
            </a:pPr>
            <a:r>
              <a:rPr lang="en-US" sz="2000" b="0" dirty="0">
                <a:solidFill>
                  <a:schemeClr val="tx2"/>
                </a:solidFill>
                <a:latin typeface="Times New Roman" pitchFamily="18" charset="0"/>
                <a:cs typeface="Times New Roman" pitchFamily="18" charset="0"/>
              </a:rPr>
              <a:t>The hypothesis is true, then the conclusion is true</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1545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Modus Tollens (Rule of Contrapositive):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implies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And the proposition "not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"not A" is true</a:t>
            </a:r>
            <a:r>
              <a:rPr lang="en-US" b="0" i="0" dirty="0">
                <a:solidFill>
                  <a:srgbClr val="374151"/>
                </a:solidFill>
                <a:effectLst/>
                <a:latin typeface="Söhne"/>
              </a:rPr>
              <a:t>.</a:t>
            </a:r>
          </a:p>
          <a:p>
            <a:pPr marL="342900" indent="-342900">
              <a:buFont typeface="Arial" panose="020B0604020202020204" pitchFamily="34" charset="0"/>
              <a:buChar char="•"/>
            </a:pPr>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72523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Hypothetical Syllogism:</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implies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And the proposition "B implies C"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"A implies C" is true.</a:t>
            </a:r>
          </a:p>
          <a:p>
            <a:pPr marL="342900" indent="-342900">
              <a:buFont typeface="Arial" panose="020B0604020202020204" pitchFamily="34" charset="0"/>
              <a:buChar char="•"/>
            </a:pPr>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8537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65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Disjunctive Syllogism:</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or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And the proposition "not A"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"B" is true.</a:t>
            </a:r>
          </a:p>
          <a:p>
            <a:pPr lvl="1">
              <a:lnSpc>
                <a:spcPct val="150000"/>
              </a:lnSpc>
            </a:pPr>
            <a:endParaRPr lang="en-US" sz="2000"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5873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34532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Simplification:</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and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"A" and "B" individually are true.</a:t>
            </a:r>
          </a:p>
          <a:p>
            <a:pPr marL="342900" indent="-342900">
              <a:buFont typeface="Arial" panose="020B0604020202020204" pitchFamily="34" charset="0"/>
              <a:buChar char="•"/>
            </a:pPr>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87996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Conjunction:</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And the proposition "B"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"A and B" is true.</a:t>
            </a:r>
          </a:p>
          <a:p>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723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2.2 PREDICATE</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 LOGIC.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2.2.3. Rules of inference with word quantity :</a:t>
            </a:r>
          </a:p>
          <a:p>
            <a:pPr algn="l"/>
            <a:r>
              <a:rPr lang="en-US" dirty="0"/>
              <a:t>Addition:</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If the proposition "A" is true.</a:t>
            </a:r>
          </a:p>
          <a:p>
            <a:pPr marL="742950" lvl="1" indent="-285750" algn="l">
              <a:lnSpc>
                <a:spcPct val="150000"/>
              </a:lnSpc>
              <a:buFont typeface="+mj-lt"/>
              <a:buAutoNum type="arabicPeriod"/>
            </a:pPr>
            <a:r>
              <a:rPr lang="en-US" sz="2000" dirty="0">
                <a:solidFill>
                  <a:schemeClr val="tx2"/>
                </a:solidFill>
                <a:latin typeface="Times New Roman" pitchFamily="18" charset="0"/>
                <a:cs typeface="Times New Roman" pitchFamily="18" charset="0"/>
              </a:rPr>
              <a:t>Then we can infer that "A or B" is true.</a:t>
            </a:r>
          </a:p>
          <a:p>
            <a:pPr lvl="1">
              <a:lnSpc>
                <a:spcPct val="150000"/>
              </a:lnSpc>
            </a:pPr>
            <a:endParaRPr lang="en-US" sz="2000" dirty="0">
              <a:solidFill>
                <a:schemeClr val="tx2"/>
              </a:solidFill>
              <a:latin typeface="Times New Roman" pitchFamily="18" charset="0"/>
              <a:cs typeface="Times New Roman" pitchFamily="18" charset="0"/>
            </a:endParaRPr>
          </a:p>
          <a:p>
            <a:pPr marL="342900" indent="-342900">
              <a:buFont typeface="Arial" panose="020B0604020202020204" pitchFamily="34" charset="0"/>
              <a:buChar char="•"/>
            </a:pPr>
            <a:endParaRPr lang="en-US" sz="2000" b="0"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8573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2.3 PROOF</a:t>
            </a: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807535"/>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pPr algn="just">
                  <a:lnSpc>
                    <a:spcPct val="200000"/>
                  </a:lnSpc>
                  <a:defRPr/>
                </a:pPr>
                <a:r>
                  <a:rPr lang="en-US" sz="2000" b="1" dirty="0">
                    <a:solidFill>
                      <a:schemeClr val="tx2"/>
                    </a:solidFill>
                    <a:latin typeface="Times New Roman" pitchFamily="18" charset="0"/>
                    <a:cs typeface="Times New Roman" pitchFamily="18" charset="0"/>
                  </a:rPr>
                  <a:t>2.3.1. Prove directly proof</a:t>
                </a:r>
              </a:p>
              <a:p>
                <a:pPr lvl="1">
                  <a:lnSpc>
                    <a:spcPct val="150000"/>
                  </a:lnSpc>
                </a:pPr>
                <a:r>
                  <a:rPr lang="en-US" sz="2000" dirty="0">
                    <a:solidFill>
                      <a:schemeClr val="tx2"/>
                    </a:solidFill>
                    <a:latin typeface="Times New Roman" pitchFamily="18" charset="0"/>
                    <a:cs typeface="Times New Roman" pitchFamily="18" charset="0"/>
                  </a:rPr>
                  <a:t>What is a proof ?</a:t>
                </a:r>
              </a:p>
              <a:p>
                <a:pPr lvl="1">
                  <a:lnSpc>
                    <a:spcPct val="150000"/>
                  </a:lnSpc>
                </a:pPr>
                <a:r>
                  <a:rPr lang="en-US" sz="2000" dirty="0">
                    <a:solidFill>
                      <a:schemeClr val="tx2"/>
                    </a:solidFill>
                    <a:latin typeface="Times New Roman" pitchFamily="18" charset="0"/>
                    <a:cs typeface="Times New Roman" pitchFamily="18" charset="0"/>
                  </a:rPr>
                  <a:t>A proof is an essay that incontrovertibly shows that a statement is true.</a:t>
                </a:r>
              </a:p>
              <a:p>
                <a:pPr marL="342900" indent="-342900">
                  <a:buFont typeface="Arial" panose="020B0604020202020204" pitchFamily="34" charset="0"/>
                  <a:buChar char="•"/>
                </a:pPr>
                <a:r>
                  <a:rPr lang="en-US" b="0" dirty="0"/>
                  <a:t>Direct proof of an if-then theorem.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Prove  p </a:t>
                </a:r>
                <a14:m>
                  <m:oMath xmlns:m="http://schemas.openxmlformats.org/officeDocument/2006/math">
                    <m:r>
                      <a:rPr lang="en-US" sz="2000" dirty="0">
                        <a:solidFill>
                          <a:schemeClr val="tx2"/>
                        </a:solidFill>
                        <a:latin typeface="Cambria Math" panose="02040503050406030204" pitchFamily="18" charset="0"/>
                        <a:cs typeface="Times New Roman" pitchFamily="18" charset="0"/>
                      </a:rPr>
                      <m:t>→</m:t>
                    </m:r>
                  </m:oMath>
                </a14:m>
                <a:r>
                  <a:rPr lang="en-US" sz="2000" dirty="0">
                    <a:solidFill>
                      <a:schemeClr val="tx2"/>
                    </a:solidFill>
                    <a:latin typeface="Times New Roman" pitchFamily="18" charset="0"/>
                    <a:cs typeface="Times New Roman" pitchFamily="18" charset="0"/>
                  </a:rPr>
                  <a:t>q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Show: “If p is true then q have to be true”. </a:t>
                </a:r>
              </a:p>
              <a:p>
                <a:pPr marL="342900" indent="-342900">
                  <a:buFont typeface="Arial" panose="020B0604020202020204" pitchFamily="34" charset="0"/>
                  <a:buChar char="•"/>
                </a:pPr>
                <a:r>
                  <a:rPr lang="en-US" sz="2200" b="0" dirty="0">
                    <a:solidFill>
                      <a:schemeClr val="tx2"/>
                    </a:solidFill>
                    <a:latin typeface="Times New Roman" pitchFamily="18" charset="0"/>
                    <a:cs typeface="Times New Roman" pitchFamily="18" charset="0"/>
                  </a:rPr>
                  <a:t>Example: “If n is an odd number then n</a:t>
                </a:r>
                <a:r>
                  <a:rPr lang="en-US" sz="2200" b="0" baseline="30000" dirty="0">
                    <a:solidFill>
                      <a:schemeClr val="tx2"/>
                    </a:solidFill>
                    <a:latin typeface="Times New Roman" pitchFamily="18" charset="0"/>
                    <a:cs typeface="Times New Roman" pitchFamily="18" charset="0"/>
                  </a:rPr>
                  <a:t>2</a:t>
                </a:r>
                <a:r>
                  <a:rPr lang="en-US" sz="2200" b="0" dirty="0">
                    <a:solidFill>
                      <a:schemeClr val="tx2"/>
                    </a:solidFill>
                    <a:latin typeface="Times New Roman" pitchFamily="18" charset="0"/>
                    <a:cs typeface="Times New Roman" pitchFamily="18" charset="0"/>
                  </a:rPr>
                  <a:t> is an odd number”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Proof: Assume that n is an odd number </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n = 2k + 1</a:t>
                </a:r>
              </a:p>
              <a:p>
                <a:pPr marL="800100" lvl="1" indent="-342900">
                  <a:lnSpc>
                    <a:spcPct val="150000"/>
                  </a:lnSpc>
                  <a:buFont typeface="Arial" panose="020B0604020202020204" pitchFamily="34" charset="0"/>
                  <a:buChar char="•"/>
                </a:pPr>
                <a:r>
                  <a:rPr lang="en-US" sz="2000" dirty="0">
                    <a:solidFill>
                      <a:schemeClr val="tx2"/>
                    </a:solidFill>
                    <a:latin typeface="Times New Roman" pitchFamily="18" charset="0"/>
                    <a:cs typeface="Times New Roman" pitchFamily="18" charset="0"/>
                  </a:rPr>
                  <a:t> n</a:t>
                </a:r>
                <a:r>
                  <a:rPr lang="en-US" sz="2000" baseline="30000" dirty="0">
                    <a:solidFill>
                      <a:schemeClr val="tx2"/>
                    </a:solidFill>
                    <a:latin typeface="Times New Roman" pitchFamily="18" charset="0"/>
                    <a:cs typeface="Times New Roman" pitchFamily="18" charset="0"/>
                  </a:rPr>
                  <a:t>2</a:t>
                </a:r>
                <a:r>
                  <a:rPr lang="en-US" sz="2000" dirty="0">
                    <a:solidFill>
                      <a:schemeClr val="tx2"/>
                    </a:solidFill>
                    <a:latin typeface="Times New Roman" pitchFamily="18" charset="0"/>
                    <a:cs typeface="Times New Roman" pitchFamily="18" charset="0"/>
                  </a:rPr>
                  <a:t> = (2k + 1)</a:t>
                </a:r>
                <a:r>
                  <a:rPr lang="en-US" sz="2000" baseline="30000" dirty="0">
                    <a:solidFill>
                      <a:schemeClr val="tx2"/>
                    </a:solidFill>
                    <a:latin typeface="Times New Roman" pitchFamily="18" charset="0"/>
                    <a:cs typeface="Times New Roman" pitchFamily="18" charset="0"/>
                  </a:rPr>
                  <a:t>2</a:t>
                </a:r>
                <a:r>
                  <a:rPr lang="en-US" sz="2000" dirty="0">
                    <a:solidFill>
                      <a:schemeClr val="tx2"/>
                    </a:solidFill>
                    <a:latin typeface="Times New Roman" pitchFamily="18" charset="0"/>
                    <a:cs typeface="Times New Roman" pitchFamily="18" charset="0"/>
                  </a:rPr>
                  <a:t> = 4k</a:t>
                </a:r>
                <a:r>
                  <a:rPr lang="en-US" sz="2000" baseline="30000" dirty="0">
                    <a:solidFill>
                      <a:schemeClr val="tx2"/>
                    </a:solidFill>
                    <a:latin typeface="Times New Roman" pitchFamily="18" charset="0"/>
                    <a:cs typeface="Times New Roman" pitchFamily="18" charset="0"/>
                  </a:rPr>
                  <a:t>2</a:t>
                </a:r>
                <a:r>
                  <a:rPr lang="en-US" sz="2000" dirty="0">
                    <a:solidFill>
                      <a:schemeClr val="tx2"/>
                    </a:solidFill>
                    <a:latin typeface="Times New Roman" pitchFamily="18" charset="0"/>
                    <a:cs typeface="Times New Roman" pitchFamily="18" charset="0"/>
                  </a:rPr>
                  <a:t> + 4k + 1 = 2(k</a:t>
                </a:r>
                <a:r>
                  <a:rPr lang="en-US" sz="2000" baseline="30000" dirty="0">
                    <a:solidFill>
                      <a:schemeClr val="tx2"/>
                    </a:solidFill>
                    <a:latin typeface="Times New Roman" pitchFamily="18" charset="0"/>
                    <a:cs typeface="Times New Roman" pitchFamily="18" charset="0"/>
                  </a:rPr>
                  <a:t>2</a:t>
                </a:r>
                <a:r>
                  <a:rPr lang="en-US" sz="2000" dirty="0">
                    <a:solidFill>
                      <a:schemeClr val="tx2"/>
                    </a:solidFill>
                    <a:latin typeface="Times New Roman" pitchFamily="18" charset="0"/>
                    <a:cs typeface="Times New Roman" pitchFamily="18" charset="0"/>
                  </a:rPr>
                  <a:t>+2k) + 1 (odd number)</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4807535"/>
              </a:xfrm>
              <a:prstGeom prst="rect">
                <a:avLst/>
              </a:prstGeom>
              <a:blipFill>
                <a:blip r:embed="rId4"/>
                <a:stretch>
                  <a:fillRect l="-814" b="-2411"/>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4491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2.3 PROOF</a:t>
            </a: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807535"/>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pPr algn="just">
                  <a:lnSpc>
                    <a:spcPct val="200000"/>
                  </a:lnSpc>
                  <a:defRPr/>
                </a:pPr>
                <a:r>
                  <a:rPr lang="en-US" sz="2000" b="1" dirty="0">
                    <a:solidFill>
                      <a:schemeClr val="tx2"/>
                    </a:solidFill>
                    <a:latin typeface="Times New Roman" pitchFamily="18" charset="0"/>
                    <a:cs typeface="Times New Roman" pitchFamily="18" charset="0"/>
                  </a:rPr>
                  <a:t>2.3.2. Prove Indirect proof</a:t>
                </a:r>
              </a:p>
              <a:p>
                <a:pPr marL="342900" indent="-342900">
                  <a:buFont typeface="Arial" panose="020B0604020202020204" pitchFamily="34" charset="0"/>
                  <a:buChar char="•"/>
                </a:pPr>
                <a:r>
                  <a:rPr lang="en-US" b="0" dirty="0"/>
                  <a:t>Prove  p </a:t>
                </a:r>
                <a14:m>
                  <m:oMath xmlns:m="http://schemas.openxmlformats.org/officeDocument/2006/math">
                    <m:r>
                      <a:rPr lang="en-US" b="0" i="1" dirty="0" smtClean="0">
                        <a:latin typeface="Cambria Math" panose="02040503050406030204" pitchFamily="18" charset="0"/>
                        <a:ea typeface="Cambria Math" panose="02040503050406030204" pitchFamily="18" charset="0"/>
                      </a:rPr>
                      <m:t>→</m:t>
                    </m:r>
                  </m:oMath>
                </a14:m>
                <a:r>
                  <a:rPr lang="en-US" b="0" dirty="0"/>
                  <a:t>q </a:t>
                </a:r>
              </a:p>
              <a:p>
                <a:pPr marL="342900" indent="-342900">
                  <a:buFont typeface="Arial" panose="020B0604020202020204" pitchFamily="34" charset="0"/>
                  <a:buChar char="•"/>
                </a:pPr>
                <a:r>
                  <a:rPr lang="en-US" b="0" dirty="0"/>
                  <a:t>Show: “</a:t>
                </a:r>
                <a:r>
                  <a:rPr lang="en-US" dirty="0"/>
                  <a:t>¬q </a:t>
                </a:r>
                <a14:m>
                  <m:oMath xmlns:m="http://schemas.openxmlformats.org/officeDocument/2006/math">
                    <m:r>
                      <a:rPr lang="en-US" sz="2000" dirty="0" smtClean="0">
                        <a:solidFill>
                          <a:schemeClr val="tx2"/>
                        </a:solidFill>
                        <a:latin typeface="Cambria Math" panose="02040503050406030204" pitchFamily="18" charset="0"/>
                        <a:cs typeface="Times New Roman" pitchFamily="18" charset="0"/>
                      </a:rPr>
                      <m:t>→</m:t>
                    </m:r>
                  </m:oMath>
                </a14:m>
                <a:r>
                  <a:rPr lang="en-US" dirty="0"/>
                  <a:t> ¬p</a:t>
                </a:r>
                <a:r>
                  <a:rPr lang="en-US" b="0" dirty="0"/>
                  <a:t>”. </a:t>
                </a:r>
              </a:p>
              <a:p>
                <a:pPr marL="342900" indent="-342900">
                  <a:buFont typeface="Arial" panose="020B0604020202020204" pitchFamily="34" charset="0"/>
                  <a:buChar char="•"/>
                </a:pPr>
                <a:r>
                  <a:rPr lang="en-US" dirty="0"/>
                  <a:t>(p → q) ⇔ (¬q → ¬p).</a:t>
                </a:r>
                <a:endParaRPr lang="en-US" b="0" dirty="0"/>
              </a:p>
              <a:p>
                <a:pPr marL="342900" indent="-342900">
                  <a:buFont typeface="Arial" panose="020B0604020202020204" pitchFamily="34" charset="0"/>
                  <a:buChar char="•"/>
                </a:pPr>
                <a:r>
                  <a:rPr lang="en-US" b="0" dirty="0"/>
                  <a:t>Example</a:t>
                </a:r>
                <a:r>
                  <a:rPr lang="vi-VN" dirty="0"/>
                  <a:t> </a:t>
                </a:r>
                <a:endParaRPr lang="en-US" dirty="0"/>
              </a:p>
              <a:p>
                <a:pPr marL="342900" indent="-342900">
                  <a:buFont typeface="Arial" panose="020B0604020202020204" pitchFamily="34" charset="0"/>
                  <a:buChar char="•"/>
                </a:pPr>
                <a:r>
                  <a:rPr lang="vi-VN" b="0" dirty="0"/>
                  <a:t>“</a:t>
                </a:r>
                <a:r>
                  <a:rPr lang="en-US" b="0" dirty="0"/>
                  <a:t>IF</a:t>
                </a:r>
                <a:r>
                  <a:rPr lang="vi-VN" b="0" dirty="0"/>
                  <a:t> 3n+2 </a:t>
                </a:r>
                <a:r>
                  <a:rPr lang="en-US" b="0" dirty="0"/>
                  <a:t>is a</a:t>
                </a:r>
                <a:r>
                  <a:rPr lang="vi-VN" b="0" dirty="0"/>
                  <a:t>n</a:t>
                </a:r>
                <a:r>
                  <a:rPr lang="en-US" b="0" dirty="0"/>
                  <a:t> odd number then n is an odd number</a:t>
                </a:r>
                <a:r>
                  <a:rPr lang="vi-VN" b="0" dirty="0"/>
                  <a:t>” </a:t>
                </a:r>
                <a:endParaRPr lang="en-US" b="0" dirty="0"/>
              </a:p>
              <a:p>
                <a:pPr marL="342900" indent="-342900">
                  <a:buFont typeface="Arial" panose="020B0604020202020204" pitchFamily="34" charset="0"/>
                  <a:buChar char="•"/>
                </a:pPr>
                <a:r>
                  <a:rPr lang="en-US" b="0" dirty="0"/>
                  <a:t>Proof</a:t>
                </a:r>
                <a:r>
                  <a:rPr lang="vi-VN" b="0" dirty="0"/>
                  <a:t>: </a:t>
                </a:r>
                <a:r>
                  <a:rPr lang="en-US" b="0" dirty="0"/>
                  <a:t>Assume n is an even number </a:t>
                </a:r>
              </a:p>
              <a:p>
                <a:pPr marL="342900" indent="-342900">
                  <a:buFont typeface="Arial" panose="020B0604020202020204" pitchFamily="34" charset="0"/>
                  <a:buChar char="•"/>
                </a:pPr>
                <a:r>
                  <a:rPr lang="vi-VN" b="0" dirty="0"/>
                  <a:t>n = 2k</a:t>
                </a:r>
                <a:endParaRPr lang="en-US" b="0" dirty="0"/>
              </a:p>
              <a:p>
                <a:pPr marL="342900" indent="-342900">
                  <a:buFont typeface="Arial" panose="020B0604020202020204" pitchFamily="34" charset="0"/>
                  <a:buChar char="•"/>
                </a:pPr>
                <a:r>
                  <a:rPr lang="vi-VN" b="0" dirty="0"/>
                  <a:t> 3n + 2 = 6k + 2 = 2(3k + 1) (</a:t>
                </a:r>
                <a:r>
                  <a:rPr lang="en-US" b="0" dirty="0"/>
                  <a:t>even</a:t>
                </a:r>
                <a:r>
                  <a:rPr lang="vi-VN" b="0" dirty="0"/>
                  <a:t>) </a:t>
                </a:r>
                <a:endParaRPr lang="en-US" b="0" dirty="0"/>
              </a:p>
              <a:p>
                <a:pPr marL="342900" indent="-342900">
                  <a:buFont typeface="Arial" panose="020B0604020202020204" pitchFamily="34" charset="0"/>
                  <a:buChar char="•"/>
                </a:pPr>
                <a:r>
                  <a:rPr lang="en-US" b="0" dirty="0"/>
                  <a:t>Then the hypothesis is </a:t>
                </a:r>
                <a:r>
                  <a:rPr lang="vi-VN" b="0" dirty="0"/>
                  <a:t>FALSE. </a:t>
                </a:r>
                <a:endParaRPr lang="en-US" b="0" dirty="0"/>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4807535"/>
              </a:xfrm>
              <a:prstGeom prst="rect">
                <a:avLst/>
              </a:prstGeom>
              <a:blipFill>
                <a:blip r:embed="rId4"/>
                <a:stretch>
                  <a:fillRect l="-746" b="-1396"/>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5233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2.3 PROOF</a:t>
            </a: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307398"/>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pPr algn="just">
              <a:lnSpc>
                <a:spcPct val="200000"/>
              </a:lnSpc>
              <a:defRPr/>
            </a:pPr>
            <a:r>
              <a:rPr lang="en-US" sz="2000" b="1" dirty="0">
                <a:solidFill>
                  <a:schemeClr val="tx2"/>
                </a:solidFill>
                <a:latin typeface="Times New Roman" pitchFamily="18" charset="0"/>
                <a:cs typeface="Times New Roman" pitchFamily="18" charset="0"/>
              </a:rPr>
              <a:t>2.3.2. P</a:t>
            </a:r>
            <a:r>
              <a:rPr lang="en-US" dirty="0"/>
              <a:t>roof by contradiction </a:t>
            </a:r>
          </a:p>
          <a:p>
            <a:pPr algn="just">
              <a:lnSpc>
                <a:spcPct val="200000"/>
              </a:lnSpc>
              <a:defRPr/>
            </a:pPr>
            <a:r>
              <a:rPr lang="en-US" b="0" dirty="0"/>
              <a:t>Assume that a statement is not true </a:t>
            </a:r>
          </a:p>
          <a:p>
            <a:pPr algn="just">
              <a:lnSpc>
                <a:spcPct val="200000"/>
              </a:lnSpc>
              <a:defRPr/>
            </a:pPr>
            <a:r>
              <a:rPr lang="en-US" b="0" dirty="0"/>
              <a:t>Show that assumption leads to a contradiction. </a:t>
            </a:r>
          </a:p>
          <a:p>
            <a:pPr algn="just">
              <a:lnSpc>
                <a:spcPct val="200000"/>
              </a:lnSpc>
              <a:defRPr/>
            </a:pPr>
            <a:r>
              <a:rPr lang="en-US" dirty="0"/>
              <a:t>Prove </a:t>
            </a:r>
            <a:r>
              <a:rPr lang="vi-VN" dirty="0"/>
              <a:t>p </a:t>
            </a:r>
            <a:r>
              <a:rPr lang="en-US" dirty="0"/>
              <a:t>is</a:t>
            </a:r>
            <a:r>
              <a:rPr lang="vi-VN" dirty="0"/>
              <a:t> T. </a:t>
            </a:r>
            <a:endParaRPr lang="en-US" dirty="0"/>
          </a:p>
          <a:p>
            <a:pPr algn="just">
              <a:lnSpc>
                <a:spcPct val="200000"/>
              </a:lnSpc>
              <a:defRPr/>
            </a:pPr>
            <a:r>
              <a:rPr lang="en-US" b="0" dirty="0"/>
              <a:t>Find out </a:t>
            </a:r>
            <a:r>
              <a:rPr lang="vi-VN" b="0" dirty="0"/>
              <a:t>q </a:t>
            </a:r>
            <a:r>
              <a:rPr lang="en-US" b="0" dirty="0"/>
              <a:t>for </a:t>
            </a:r>
            <a:r>
              <a:rPr lang="vi-VN" b="0" dirty="0"/>
              <a:t>¬p → q </a:t>
            </a:r>
            <a:r>
              <a:rPr lang="en-US" b="0" dirty="0"/>
              <a:t>is</a:t>
            </a:r>
            <a:r>
              <a:rPr lang="vi-VN" b="0" dirty="0"/>
              <a:t> T. </a:t>
            </a:r>
            <a:endParaRPr lang="en-US" b="0" dirty="0"/>
          </a:p>
          <a:p>
            <a:pPr algn="just">
              <a:lnSpc>
                <a:spcPct val="200000"/>
              </a:lnSpc>
              <a:defRPr/>
            </a:pPr>
            <a:r>
              <a:rPr lang="en-US" b="0" dirty="0"/>
              <a:t>Therefore</a:t>
            </a:r>
            <a:r>
              <a:rPr lang="vi-VN" b="0" dirty="0"/>
              <a:t> (¬p → F) </a:t>
            </a:r>
            <a:r>
              <a:rPr lang="en-US" b="0" dirty="0"/>
              <a:t>is</a:t>
            </a:r>
            <a:r>
              <a:rPr lang="vi-VN" b="0" dirty="0"/>
              <a:t> T. </a:t>
            </a:r>
            <a:endParaRPr lang="en-US" b="0" dirty="0"/>
          </a:p>
          <a:p>
            <a:pPr algn="just">
              <a:lnSpc>
                <a:spcPct val="200000"/>
              </a:lnSpc>
              <a:defRPr/>
            </a:pPr>
            <a:r>
              <a:rPr lang="en-US" b="0" dirty="0"/>
              <a:t>Then</a:t>
            </a:r>
            <a:r>
              <a:rPr lang="vi-VN" b="0" dirty="0"/>
              <a:t> ¬p </a:t>
            </a:r>
            <a:r>
              <a:rPr lang="en-US" b="0" dirty="0"/>
              <a:t>is</a:t>
            </a:r>
            <a:r>
              <a:rPr lang="vi-VN" b="0" dirty="0"/>
              <a:t> F </a:t>
            </a:r>
            <a:r>
              <a:rPr lang="en-US" b="0" dirty="0"/>
              <a:t>. This leads to </a:t>
            </a:r>
            <a:r>
              <a:rPr lang="vi-VN" b="0" dirty="0"/>
              <a:t>p </a:t>
            </a:r>
            <a:r>
              <a:rPr lang="en-US" b="0" dirty="0"/>
              <a:t>is</a:t>
            </a:r>
            <a:r>
              <a:rPr lang="vi-VN" b="0" dirty="0"/>
              <a:t> T.</a:t>
            </a:r>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1421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2.3 PROOF</a:t>
            </a: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275209"/>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pPr algn="l"/>
                <a:r>
                  <a:rPr lang="en-US" sz="2000" b="1" dirty="0">
                    <a:solidFill>
                      <a:schemeClr val="tx2"/>
                    </a:solidFill>
                    <a:latin typeface="Times New Roman" pitchFamily="18" charset="0"/>
                    <a:cs typeface="Times New Roman" pitchFamily="18" charset="0"/>
                  </a:rPr>
                  <a:t>2.3.2. Prove by </a:t>
                </a:r>
                <a:r>
                  <a:rPr lang="en-US" dirty="0"/>
                  <a:t>Induction</a:t>
                </a:r>
                <a:r>
                  <a:rPr lang="en-US" b="0" i="0" dirty="0">
                    <a:solidFill>
                      <a:srgbClr val="202122"/>
                    </a:solidFill>
                    <a:effectLst/>
                    <a:latin typeface="Arial" panose="020B0604020202020204" pitchFamily="34" charset="0"/>
                  </a:rPr>
                  <a:t> :</a:t>
                </a:r>
              </a:p>
              <a:p>
                <a:pPr algn="l">
                  <a:buFont typeface="+mj-lt"/>
                  <a:buAutoNum type="arabicPeriod"/>
                </a:pPr>
                <a:r>
                  <a:rPr lang="en-US" b="0" dirty="0"/>
                  <a:t>The Base Case (in the domino analogy, this shows the first domino will fall)</a:t>
                </a:r>
              </a:p>
              <a:p>
                <a:pPr algn="l">
                  <a:buFont typeface="+mj-lt"/>
                  <a:buAutoNum type="arabicPeriod"/>
                </a:pPr>
                <a:r>
                  <a:rPr lang="en-US" b="0" dirty="0"/>
                  <a:t>The Induction Hypothesis (in the domino analogy, we assume that a particular domino will fall)</a:t>
                </a:r>
              </a:p>
              <a:p>
                <a:pPr algn="l">
                  <a:buFont typeface="+mj-lt"/>
                  <a:buAutoNum type="arabicPeriod"/>
                </a:pPr>
                <a:r>
                  <a:rPr lang="en-US" b="0" dirty="0"/>
                  <a:t>The Inductive Step (in the domino analogy, we prove that the domino we assume will fall will cause the next domino to fall)</a:t>
                </a:r>
              </a:p>
              <a:p>
                <a:pPr algn="l"/>
                <a:r>
                  <a:rPr lang="en-US" b="0" dirty="0"/>
                  <a:t>Induction:</a:t>
                </a:r>
              </a:p>
              <a:p>
                <a:pPr algn="l"/>
                <a:r>
                  <a:rPr lang="en-US" b="0" dirty="0"/>
                  <a:t>1</a:t>
                </a:r>
                <a:r>
                  <a:rPr lang="vi-VN" b="0" dirty="0"/>
                  <a:t>: </a:t>
                </a:r>
                <a:r>
                  <a:rPr lang="en-US" b="0" dirty="0"/>
                  <a:t>Prove P(1) is </a:t>
                </a:r>
                <a:r>
                  <a:rPr lang="vi-VN" b="0" dirty="0"/>
                  <a:t>TRUE. </a:t>
                </a:r>
                <a:endParaRPr lang="en-US" b="0" dirty="0"/>
              </a:p>
              <a:p>
                <a:pPr algn="l"/>
                <a:r>
                  <a:rPr lang="vi-VN" b="0" dirty="0"/>
                  <a:t>2</a:t>
                </a:r>
                <a:r>
                  <a:rPr lang="en-US" b="0" dirty="0"/>
                  <a:t>:</a:t>
                </a:r>
                <a:r>
                  <a:rPr lang="vi-VN" b="0" dirty="0"/>
                  <a:t> </a:t>
                </a:r>
                <a:r>
                  <a:rPr lang="en-US" b="0" dirty="0"/>
                  <a:t>Prove P(n)</a:t>
                </a:r>
                <a:r>
                  <a:rPr lang="vi-VN" b="0" dirty="0"/>
                  <a:t> →</a:t>
                </a:r>
                <a:r>
                  <a:rPr lang="en-US" b="0" dirty="0"/>
                  <a:t> P(n+1)</a:t>
                </a:r>
                <a:r>
                  <a:rPr lang="vi-VN" b="0" dirty="0"/>
                  <a:t> </a:t>
                </a:r>
                <a:r>
                  <a:rPr lang="en-US" b="0" dirty="0"/>
                  <a:t>is </a:t>
                </a:r>
                <a:r>
                  <a:rPr lang="vi-VN" b="0" dirty="0"/>
                  <a:t>TRUE</a:t>
                </a:r>
                <a:r>
                  <a:rPr lang="en-US" b="0" dirty="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endParaRPr lang="en-US" b="0" dirty="0"/>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4275209"/>
              </a:xfrm>
              <a:prstGeom prst="rect">
                <a:avLst/>
              </a:prstGeom>
              <a:blipFill>
                <a:blip r:embed="rId4"/>
                <a:stretch>
                  <a:fillRect l="-746"/>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3984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86661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51062</TotalTime>
  <Words>3112</Words>
  <Application>Microsoft Office PowerPoint</Application>
  <PresentationFormat>On-screen Show (4:3)</PresentationFormat>
  <Paragraphs>494</Paragraphs>
  <Slides>40</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Cambria Math</vt:lpstr>
      <vt:lpstr>Söhne</vt:lpstr>
      <vt:lpstr>Times New Roman</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Le Phu Nguyen 9 (FE FPTU HCM)</cp:lastModifiedBy>
  <cp:revision>795</cp:revision>
  <cp:lastPrinted>2019-07-29T14:20:40Z</cp:lastPrinted>
  <dcterms:created xsi:type="dcterms:W3CDTF">2010-12-10T06:50:09Z</dcterms:created>
  <dcterms:modified xsi:type="dcterms:W3CDTF">2023-06-26T06:54:42Z</dcterms:modified>
</cp:coreProperties>
</file>