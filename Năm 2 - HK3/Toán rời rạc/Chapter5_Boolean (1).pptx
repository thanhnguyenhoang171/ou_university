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720" r:id="rId1"/>
  </p:sldMasterIdLst>
  <p:notesMasterIdLst>
    <p:notesMasterId r:id="rId23"/>
  </p:notesMasterIdLst>
  <p:handoutMasterIdLst>
    <p:handoutMasterId r:id="rId24"/>
  </p:handoutMasterIdLst>
  <p:sldIdLst>
    <p:sldId id="258" r:id="rId2"/>
    <p:sldId id="336" r:id="rId3"/>
    <p:sldId id="372" r:id="rId4"/>
    <p:sldId id="373" r:id="rId5"/>
    <p:sldId id="374" r:id="rId6"/>
    <p:sldId id="375" r:id="rId7"/>
    <p:sldId id="377" r:id="rId8"/>
    <p:sldId id="376" r:id="rId9"/>
    <p:sldId id="379" r:id="rId10"/>
    <p:sldId id="386" r:id="rId11"/>
    <p:sldId id="378" r:id="rId12"/>
    <p:sldId id="380" r:id="rId13"/>
    <p:sldId id="381" r:id="rId14"/>
    <p:sldId id="382" r:id="rId15"/>
    <p:sldId id="383" r:id="rId16"/>
    <p:sldId id="384" r:id="rId17"/>
    <p:sldId id="387" r:id="rId18"/>
    <p:sldId id="388" r:id="rId19"/>
    <p:sldId id="389" r:id="rId20"/>
    <p:sldId id="390" r:id="rId21"/>
    <p:sldId id="353" r:id="rId2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u-Nguyen Le" initials="Nguyen" lastIdx="1" clrIdx="0">
    <p:extLst>
      <p:ext uri="{19B8F6BF-5375-455C-9EA6-DF929625EA0E}">
        <p15:presenceInfo xmlns:p15="http://schemas.microsoft.com/office/powerpoint/2012/main" userId="Phu-Nguyen Le" providerId="None"/>
      </p:ext>
    </p:extLst>
  </p:cmAuthor>
  <p:cmAuthor id="2" name="Le Phu Nguyen 9 (FE FPTU HCM)" initials="LPN9(FH" lastIdx="1" clrIdx="1">
    <p:extLst>
      <p:ext uri="{19B8F6BF-5375-455C-9EA6-DF929625EA0E}">
        <p15:presenceInfo xmlns:p15="http://schemas.microsoft.com/office/powerpoint/2012/main" userId="S::NguyenLP9@fe.edu.vn::bbb81211-4ff1-43ef-ac74-d6c9e8530c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3842" autoAdjust="0"/>
  </p:normalViewPr>
  <p:slideViewPr>
    <p:cSldViewPr>
      <p:cViewPr>
        <p:scale>
          <a:sx n="66" d="100"/>
          <a:sy n="66" d="100"/>
        </p:scale>
        <p:origin x="1304" y="64"/>
      </p:cViewPr>
      <p:guideLst>
        <p:guide orient="horz" pos="2160"/>
        <p:guide pos="2880"/>
      </p:guideLst>
    </p:cSldViewPr>
  </p:slideViewPr>
  <p:outlineViewPr>
    <p:cViewPr>
      <p:scale>
        <a:sx n="100" d="100"/>
        <a:sy n="100" d="100"/>
      </p:scale>
      <p:origin x="0" y="-1749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B7F59-6753-4196-822E-EC8E52288DF6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A5F6A-FB32-4B7D-8C78-661A7CCB1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90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B20E61B-F2E8-4F3A-8F1B-F054E0560D27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D95EC57-C814-4592-A4AB-B8F918BE7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54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20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76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65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5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8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84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99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05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02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22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30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39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613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30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673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622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62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809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82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21E6B-3A2F-473C-89AA-FC2BCE914454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CC214-B8F5-409F-9C63-0C47CCF096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5FBB59F0-8E3C-4F5A-961F-C6A90C66C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500188"/>
            <a:ext cx="8359775" cy="2071687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chemeClr val="accent2"/>
            </a:outerShdw>
          </a:effectLst>
        </p:spPr>
        <p:txBody>
          <a:bodyPr anchor="ctr"/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en-US" sz="2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DISCRETE MATHEMATICS</a:t>
            </a:r>
          </a:p>
          <a:p>
            <a:pPr algn="ctr" eaLnBrk="0" hangingPunct="0">
              <a:lnSpc>
                <a:spcPct val="150000"/>
              </a:lnSpc>
              <a:defRPr/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Chapter 5: </a:t>
            </a:r>
          </a:p>
          <a:p>
            <a:pPr algn="ctr" eaLnBrk="0" hangingPunct="0">
              <a:lnSpc>
                <a:spcPct val="150000"/>
              </a:lnSpc>
              <a:defRPr/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BOOLEAN ALGEBRA</a:t>
            </a:r>
            <a:endParaRPr lang="en-US" altLang="ko-KR" sz="22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D5832E7-EF07-450C-B1CF-432F816027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Presenter: Ph.D. </a:t>
            </a:r>
            <a:r>
              <a:rPr lang="en-US" altLang="ko-KR" sz="2000" b="1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Phu-Nguyen Le</a:t>
            </a:r>
          </a:p>
          <a:p>
            <a:pPr algn="ctr" eaLnBrk="1" hangingPunct="1">
              <a:spcBef>
                <a:spcPct val="50000"/>
              </a:spcBef>
            </a:pPr>
            <a:endParaRPr lang="en-US" altLang="ko-KR" sz="2000" dirty="0"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ko-KR" sz="2000" dirty="0"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June 7th,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4096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5.1. DEFINITION.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5.1.1 Definition of Boolean algebra.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5.1.2. Properties.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5.2. BOOLEAN FUNCTION.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 5.2.1. Definition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5.2.2. Performance.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5.2.3. Logic gates </a:t>
            </a:r>
          </a:p>
        </p:txBody>
      </p:sp>
    </p:spTree>
    <p:extLst>
      <p:ext uri="{BB962C8B-B14F-4D97-AF65-F5344CB8AC3E}">
        <p14:creationId xmlns:p14="http://schemas.microsoft.com/office/powerpoint/2010/main" val="318198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700089"/>
                <a:ext cx="9144000" cy="4638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defRPr/>
                </a:pPr>
                <a:r>
                  <a:rPr 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5.1.1 Definition of Boolean algebra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22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In Boolean algebra, a variable is a symbol used to represent an action, a condition, or data. A single variable can only have a value of 1 or 0.  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22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The complement represents the inverse of a variable and is indicated with an overbar. Thus, the complement of A 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22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en-US" sz="22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en-US" sz="22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22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The complement represents the inverse of a variable and is indicated with an overbar. Thus, the complement of A is A.</a:t>
                </a:r>
              </a:p>
            </p:txBody>
          </p:sp>
        </mc:Choice>
        <mc:Fallback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700089"/>
                <a:ext cx="9144000" cy="4638193"/>
              </a:xfrm>
              <a:prstGeom prst="rect">
                <a:avLst/>
              </a:prstGeom>
              <a:blipFill>
                <a:blip r:embed="rId4"/>
                <a:stretch>
                  <a:fillRect l="-867" r="-867" b="-170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21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700089"/>
                <a:ext cx="9144000" cy="3282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defRPr/>
                </a:pPr>
                <a:r>
                  <a:rPr 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5.1.1 Definition of Boolean algebra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22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Addition is equivalent to the OR operation. The sum term is 1 if one or more if the literals are 1. The sum term is zero only if each literal is 0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22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Determine the values of A, B, and C that make the sum term of the expression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2200" dirty="0">
                            <a:solidFill>
                              <a:schemeClr val="tx2"/>
                            </a:solidFill>
                          </a:rPr>
                        </m:ctrlPr>
                      </m:accPr>
                      <m:e>
                        <m:r>
                          <a:rPr lang="en-US" altLang="en-US" sz="2200" dirty="0">
                            <a:solidFill>
                              <a:schemeClr val="tx2"/>
                            </a:solidFill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en-US" sz="22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+ B + C = 0?</a:t>
                </a:r>
              </a:p>
            </p:txBody>
          </p:sp>
        </mc:Choice>
        <mc:Fallback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700089"/>
                <a:ext cx="9144000" cy="3282950"/>
              </a:xfrm>
              <a:prstGeom prst="rect">
                <a:avLst/>
              </a:prstGeom>
              <a:blipFill>
                <a:blip r:embed="rId4"/>
                <a:stretch>
                  <a:fillRect l="-867" r="-867" b="-297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85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700089"/>
                <a:ext cx="9144000" cy="29789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defRPr/>
                </a:pPr>
                <a:r>
                  <a:rPr 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5.1.1 Definition of Boolean algebra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In Boolean algebra, multiplication is equivalent to the AND operation. The product of literals forms a product term. The product term will be 1 only if all of the literals are 1.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What are the values of the A, B and C if the product term of A.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19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en-US" sz="19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.C = 1?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endParaRPr lang="en-US" altLang="en-US" sz="19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700089"/>
                <a:ext cx="9144000" cy="2978957"/>
              </a:xfrm>
              <a:prstGeom prst="rect">
                <a:avLst/>
              </a:prstGeom>
              <a:blipFill>
                <a:blip r:embed="rId4"/>
                <a:stretch>
                  <a:fillRect l="-600" r="-6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4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5.1.2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PROPERTIES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585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Commutative Laws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The commutative laws are applied to addition and multiplication.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For addition, the commutative law states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 terms of the result, the order in which variables are 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ORed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makes no difference.</a:t>
            </a:r>
          </a:p>
          <a:p>
            <a:pPr algn="ctr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A+B=B+A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For multiplication, the commutative law states</a:t>
            </a: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 terms of the result, the order in which variables are ANDed makes no difference.</a:t>
            </a:r>
          </a:p>
          <a:p>
            <a:pPr algn="ctr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A+B=B+A</a:t>
            </a: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34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5.1.2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PROPERTIES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61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Associate Laws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The associative laws are also applied to addition and multiplication.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For addition, the associative law states.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ORing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more than two variables, the result is the same regardless of the grouping of the variables.</a:t>
            </a:r>
          </a:p>
          <a:p>
            <a:pPr algn="ctr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(A+B)+C=A+(B+C)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For multiplication, the associative law states</a:t>
            </a: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When ANDing more than two variables, the result is the same regardless of the grouping of the variables.</a:t>
            </a:r>
          </a:p>
          <a:p>
            <a:pPr algn="ctr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A+B=B+A</a:t>
            </a: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01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5.1.2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PROPERTIES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3511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Distributive Law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The distributive law is the factoring law. A common variable can be factored from an expression just as in ordinary algebra. That is</a:t>
            </a:r>
          </a:p>
          <a:p>
            <a:pPr algn="ctr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(A+B)C=AC+BC</a:t>
            </a: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20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2577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5.2.1 Definition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Given a set B={0,1}, and a function f=f(x</a:t>
            </a:r>
            <a:r>
              <a:rPr lang="en-US" altLang="en-US" sz="1900" b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,x</a:t>
            </a:r>
            <a:r>
              <a:rPr lang="en-US" altLang="en-US" sz="1900" b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,…,</a:t>
            </a:r>
            <a:r>
              <a:rPr lang="en-US" altLang="en-US" sz="19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="1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that has value of B. Boolean function of n variable is defined:</a:t>
            </a:r>
          </a:p>
          <a:p>
            <a:pPr algn="ctr">
              <a:lnSpc>
                <a:spcPct val="200000"/>
              </a:lnSpc>
              <a:defRPr/>
            </a:pPr>
            <a:r>
              <a:rPr lang="en-US" alt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f= B</a:t>
            </a:r>
            <a:r>
              <a:rPr lang="en-US" altLang="en-US" sz="28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-&gt;B, for B={0,1}</a:t>
            </a:r>
          </a:p>
        </p:txBody>
      </p:sp>
    </p:spTree>
    <p:extLst>
      <p:ext uri="{BB962C8B-B14F-4D97-AF65-F5344CB8AC3E}">
        <p14:creationId xmlns:p14="http://schemas.microsoft.com/office/powerpoint/2010/main" val="251090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700089"/>
                <a:ext cx="9144000" cy="54394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5.2.2 Performance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Rules of Boolean Algebra</a:t>
                </a:r>
              </a:p>
              <a:p>
                <a:pPr lvl="2" algn="just">
                  <a:lnSpc>
                    <a:spcPct val="200000"/>
                  </a:lnSpc>
                  <a:defRPr/>
                </a:pPr>
                <a:r>
                  <a:rPr 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1.	 A+0=A                            6. 	A+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=1</a:t>
                </a:r>
              </a:p>
              <a:p>
                <a:pPr lvl="2" algn="just">
                  <a:lnSpc>
                    <a:spcPct val="200000"/>
                  </a:lnSpc>
                  <a:defRPr/>
                </a:pPr>
                <a:r>
                  <a:rPr 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2. 	A+1=1</a:t>
                </a:r>
              </a:p>
              <a:p>
                <a:pPr lvl="2" algn="just">
                  <a:lnSpc>
                    <a:spcPct val="200000"/>
                  </a:lnSpc>
                  <a:defRPr/>
                </a:pPr>
                <a:r>
                  <a:rPr 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3. 	A.0=0</a:t>
                </a:r>
              </a:p>
              <a:p>
                <a:pPr lvl="2" algn="just">
                  <a:lnSpc>
                    <a:spcPct val="200000"/>
                  </a:lnSpc>
                  <a:defRPr/>
                </a:pPr>
                <a:r>
                  <a:rPr 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4. 	A.1=A</a:t>
                </a:r>
              </a:p>
              <a:p>
                <a:pPr lvl="2" algn="just">
                  <a:lnSpc>
                    <a:spcPct val="200000"/>
                  </a:lnSpc>
                  <a:defRPr/>
                </a:pPr>
                <a:r>
                  <a:rPr 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5. 	A+A=A</a:t>
                </a:r>
              </a:p>
            </p:txBody>
          </p:sp>
        </mc:Choice>
        <mc:Fallback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700089"/>
                <a:ext cx="9144000" cy="5439438"/>
              </a:xfrm>
              <a:prstGeom prst="rect">
                <a:avLst/>
              </a:prstGeom>
              <a:blipFill>
                <a:blip r:embed="rId4"/>
                <a:stretch>
                  <a:fillRect l="-600" b="-224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14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700089"/>
                <a:ext cx="9144000" cy="5975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Rules of Boolean Algebra</a:t>
                </a:r>
              </a:p>
              <a:p>
                <a:pPr marL="1428750" lvl="2" indent="-514350" algn="just">
                  <a:lnSpc>
                    <a:spcPct val="200000"/>
                  </a:lnSpc>
                  <a:buAutoNum type="arabicPeriod" startAt="7"/>
                  <a:defRPr/>
                </a:pPr>
                <a:r>
                  <a:rPr 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    A.A=A</a:t>
                </a:r>
              </a:p>
              <a:p>
                <a:pPr marL="1428750" lvl="2" indent="-514350" algn="just">
                  <a:lnSpc>
                    <a:spcPct val="200000"/>
                  </a:lnSpc>
                  <a:buAutoNum type="arabicPeriod" startAt="7"/>
                  <a:defRPr/>
                </a:pPr>
                <a:r>
                  <a:rPr 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	A.</a:t>
                </a:r>
                <a:r>
                  <a:rPr lang="en-US" sz="2800" b="1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=0</a:t>
                </a:r>
              </a:p>
              <a:p>
                <a:pPr marL="1428750" lvl="2" indent="-514350" algn="just">
                  <a:lnSpc>
                    <a:spcPct val="200000"/>
                  </a:lnSpc>
                  <a:buAutoNum type="arabicPeriod" startAt="7"/>
                  <a:defRPr/>
                </a:pPr>
                <a:r>
                  <a:rPr 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	A=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sz="2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𝑨</m:t>
                        </m:r>
                      </m:e>
                    </m:acc>
                  </m:oMath>
                </a14:m>
                <a:endParaRPr lang="en-US" altLang="en-US" sz="2800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1428750" lvl="2" indent="-514350" algn="just">
                  <a:lnSpc>
                    <a:spcPct val="200000"/>
                  </a:lnSpc>
                  <a:buAutoNum type="arabicPeriod" startAt="7"/>
                  <a:defRPr/>
                </a:pPr>
                <a:r>
                  <a:rPr lang="en-US" alt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	A + AB = A</a:t>
                </a:r>
              </a:p>
              <a:p>
                <a:pPr marL="1428750" lvl="2" indent="-514350" algn="just">
                  <a:lnSpc>
                    <a:spcPct val="200000"/>
                  </a:lnSpc>
                  <a:buAutoNum type="arabicPeriod" startAt="7"/>
                  <a:defRPr/>
                </a:pPr>
                <a:r>
                  <a:rPr lang="en-US" alt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	A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𝑨</m:t>
                        </m:r>
                      </m:e>
                    </m:acc>
                    <m:r>
                      <a:rPr lang="en-US" sz="2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alt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B = A + B</a:t>
                </a:r>
              </a:p>
              <a:p>
                <a:pPr marL="1428750" lvl="2" indent="-514350" algn="just">
                  <a:lnSpc>
                    <a:spcPct val="200000"/>
                  </a:lnSpc>
                  <a:buAutoNum type="arabicPeriod" startAt="7"/>
                  <a:defRPr/>
                </a:pPr>
                <a:r>
                  <a:rPr lang="en-US" altLang="en-US" sz="28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	(A + B)(A + C) = A + BC</a:t>
                </a:r>
              </a:p>
            </p:txBody>
          </p:sp>
        </mc:Choice>
        <mc:Fallback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700089"/>
                <a:ext cx="9144000" cy="5975610"/>
              </a:xfrm>
              <a:prstGeom prst="rect">
                <a:avLst/>
              </a:prstGeom>
              <a:blipFill>
                <a:blip r:embed="rId4"/>
                <a:stretch>
                  <a:fillRect l="-6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030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06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1992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Illustrate the rules</a:t>
            </a:r>
          </a:p>
          <a:p>
            <a:pPr algn="just">
              <a:lnSpc>
                <a:spcPct val="200000"/>
              </a:lnSpc>
              <a:defRPr/>
            </a:pPr>
            <a:endParaRPr lang="en-US" alt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28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38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700089"/>
                <a:ext cx="9144000" cy="34388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De Morgan’s 1st Theorem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The complement of a product of variables is equal to the sum of the complemented variables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800" b="1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8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𝑩</m:t>
                        </m:r>
                      </m:e>
                    </m:acc>
                    <m:r>
                      <a:rPr lang="en-US" sz="28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8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𝑨</m:t>
                        </m:r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en-US" altLang="en-US" sz="2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lnSpc>
                    <a:spcPct val="200000"/>
                  </a:lnSpc>
                  <a:defRPr/>
                </a:pPr>
                <a:endParaRPr lang="en-US" altLang="en-US" sz="2800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700089"/>
                <a:ext cx="9144000" cy="3438890"/>
              </a:xfrm>
              <a:prstGeom prst="rect">
                <a:avLst/>
              </a:prstGeom>
              <a:blipFill>
                <a:blip r:embed="rId4"/>
                <a:stretch>
                  <a:fillRect l="-600" r="-6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076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700089"/>
                <a:ext cx="9144000" cy="34388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De Morgan’s 2nd Theorem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The complement of a sum of variables is equal to the product of the complemented variables.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800" b="1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sz="28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𝑩</m:t>
                        </m:r>
                      </m:e>
                    </m:acc>
                    <m:r>
                      <a:rPr lang="en-US" sz="28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8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𝑨</m:t>
                        </m:r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en-US" altLang="en-US" sz="2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lnSpc>
                    <a:spcPct val="200000"/>
                  </a:lnSpc>
                  <a:defRPr/>
                </a:pPr>
                <a:endParaRPr lang="en-US" altLang="en-US" sz="2800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700089"/>
                <a:ext cx="9144000" cy="3438890"/>
              </a:xfrm>
              <a:prstGeom prst="rect">
                <a:avLst/>
              </a:prstGeom>
              <a:blipFill>
                <a:blip r:embed="rId4"/>
                <a:stretch>
                  <a:fillRect l="-600" r="-6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043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700089"/>
                <a:ext cx="9144000" cy="34388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De Morgan’s 2nd Theorem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alt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The complement of a sum of variables is equal to the product of the complemented variables.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800" b="1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sz="28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𝑩</m:t>
                        </m:r>
                      </m:e>
                    </m:acc>
                    <m:r>
                      <a:rPr lang="en-US" sz="28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8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𝑨</m:t>
                        </m:r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a:rPr lang="en-US" sz="2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en-US" altLang="en-US" sz="2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lnSpc>
                    <a:spcPct val="200000"/>
                  </a:lnSpc>
                  <a:defRPr/>
                </a:pPr>
                <a:endParaRPr lang="en-US" altLang="en-US" sz="2800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700089"/>
                <a:ext cx="9144000" cy="3438890"/>
              </a:xfrm>
              <a:prstGeom prst="rect">
                <a:avLst/>
              </a:prstGeom>
              <a:blipFill>
                <a:blip r:embed="rId4"/>
                <a:stretch>
                  <a:fillRect l="-600" r="-6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748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526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SOP and POS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Boolean expressions can be written in the sum-of-products form (SOP) or in the product-of-sums form (POS). These forms can simplify the implementation of combinational logic, particularly with PLDs. In both forms, an overbar cannot extend over more than one variable.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An expression is in SOP form when two or more product terms are summed as in the following examples:</a:t>
            </a:r>
          </a:p>
          <a:p>
            <a:pPr algn="just">
              <a:lnSpc>
                <a:spcPct val="200000"/>
              </a:lnSpc>
              <a:defRPr/>
            </a:pPr>
            <a:endParaRPr lang="en-US" alt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Group 28">
            <a:extLst>
              <a:ext uri="{FF2B5EF4-FFF2-40B4-BE49-F238E27FC236}">
                <a16:creationId xmlns:a16="http://schemas.microsoft.com/office/drawing/2014/main" id="{F8F778AD-8AFE-41B2-9C06-4E2D65A680F8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5249862"/>
            <a:ext cx="7696200" cy="396875"/>
            <a:chOff x="672" y="2736"/>
            <a:chExt cx="4848" cy="250"/>
          </a:xfrm>
        </p:grpSpPr>
        <p:sp>
          <p:nvSpPr>
            <p:cNvPr id="7" name="Text Box 13">
              <a:extLst>
                <a:ext uri="{FF2B5EF4-FFF2-40B4-BE49-F238E27FC236}">
                  <a16:creationId xmlns:a16="http://schemas.microsoft.com/office/drawing/2014/main" id="{27FB68FE-C6EA-EA8C-DE09-6D7EE0EEE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736"/>
              <a:ext cx="48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9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A B C + A B                            A B C + C D		  C D + E</a:t>
              </a:r>
            </a:p>
          </p:txBody>
        </p:sp>
        <p:sp>
          <p:nvSpPr>
            <p:cNvPr id="8" name="Line 18">
              <a:extLst>
                <a:ext uri="{FF2B5EF4-FFF2-40B4-BE49-F238E27FC236}">
                  <a16:creationId xmlns:a16="http://schemas.microsoft.com/office/drawing/2014/main" id="{E2299C77-A21A-6554-8930-FAED39EEE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9">
              <a:extLst>
                <a:ext uri="{FF2B5EF4-FFF2-40B4-BE49-F238E27FC236}">
                  <a16:creationId xmlns:a16="http://schemas.microsoft.com/office/drawing/2014/main" id="{907456CA-8498-7866-623C-9C893A0F1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0">
              <a:extLst>
                <a:ext uri="{FF2B5EF4-FFF2-40B4-BE49-F238E27FC236}">
                  <a16:creationId xmlns:a16="http://schemas.microsoft.com/office/drawing/2014/main" id="{B2E10BC4-8FD1-A7C7-9757-997FAEA85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7CD2C736-5824-B84F-7CFD-E820EFECF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65F087AC-C3E7-0FA0-22DE-ADB2AA663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1" y="2769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3">
              <a:extLst>
                <a:ext uri="{FF2B5EF4-FFF2-40B4-BE49-F238E27FC236}">
                  <a16:creationId xmlns:a16="http://schemas.microsoft.com/office/drawing/2014/main" id="{695D0B65-2C81-51C6-4314-F6EBFB77E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69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9867349F-D4FB-C088-D6EE-06D469496E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29">
            <a:extLst>
              <a:ext uri="{FF2B5EF4-FFF2-40B4-BE49-F238E27FC236}">
                <a16:creationId xmlns:a16="http://schemas.microsoft.com/office/drawing/2014/main" id="{56BDBB76-6CB3-0BC5-5805-C6AB693AEF17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484"/>
            <a:ext cx="4930775" cy="0"/>
            <a:chOff x="1248" y="3484"/>
            <a:chExt cx="3106" cy="0"/>
          </a:xfrm>
        </p:grpSpPr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6C937EF9-B6FD-0914-EB87-41E7163AC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6365072A-B383-50BA-673A-9E69581C7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BDACEB4B-65B3-6347-F98F-68C8496A9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182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17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3511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SOP and POS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An expression is in POS form when two or more sum terms are multiplied as in the following examples:</a:t>
            </a:r>
          </a:p>
          <a:p>
            <a:pPr algn="just">
              <a:lnSpc>
                <a:spcPct val="200000"/>
              </a:lnSpc>
              <a:defRPr/>
            </a:pPr>
            <a:endParaRPr lang="en-US" alt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Group 28">
            <a:extLst>
              <a:ext uri="{FF2B5EF4-FFF2-40B4-BE49-F238E27FC236}">
                <a16:creationId xmlns:a16="http://schemas.microsoft.com/office/drawing/2014/main" id="{F8F778AD-8AFE-41B2-9C06-4E2D65A680F8}"/>
              </a:ext>
            </a:extLst>
          </p:cNvPr>
          <p:cNvGrpSpPr>
            <a:grpSpLocks/>
          </p:cNvGrpSpPr>
          <p:nvPr/>
        </p:nvGrpSpPr>
        <p:grpSpPr bwMode="auto">
          <a:xfrm>
            <a:off x="1179513" y="2768"/>
            <a:ext cx="6364288" cy="0"/>
            <a:chOff x="743" y="2768"/>
            <a:chExt cx="4009" cy="0"/>
          </a:xfrm>
        </p:grpSpPr>
        <p:sp>
          <p:nvSpPr>
            <p:cNvPr id="8" name="Line 18">
              <a:extLst>
                <a:ext uri="{FF2B5EF4-FFF2-40B4-BE49-F238E27FC236}">
                  <a16:creationId xmlns:a16="http://schemas.microsoft.com/office/drawing/2014/main" id="{E2299C77-A21A-6554-8930-FAED39EEE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9">
              <a:extLst>
                <a:ext uri="{FF2B5EF4-FFF2-40B4-BE49-F238E27FC236}">
                  <a16:creationId xmlns:a16="http://schemas.microsoft.com/office/drawing/2014/main" id="{907456CA-8498-7866-623C-9C893A0F1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0">
              <a:extLst>
                <a:ext uri="{FF2B5EF4-FFF2-40B4-BE49-F238E27FC236}">
                  <a16:creationId xmlns:a16="http://schemas.microsoft.com/office/drawing/2014/main" id="{B2E10BC4-8FD1-A7C7-9757-997FAEA85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7CD2C736-5824-B84F-7CFD-E820EFECF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9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65F087AC-C3E7-0FA0-22DE-ADB2AA663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3">
              <a:extLst>
                <a:ext uri="{FF2B5EF4-FFF2-40B4-BE49-F238E27FC236}">
                  <a16:creationId xmlns:a16="http://schemas.microsoft.com/office/drawing/2014/main" id="{695D0B65-2C81-51C6-4314-F6EBFB77E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9867349F-D4FB-C088-D6EE-06D469496E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29">
            <a:extLst>
              <a:ext uri="{FF2B5EF4-FFF2-40B4-BE49-F238E27FC236}">
                <a16:creationId xmlns:a16="http://schemas.microsoft.com/office/drawing/2014/main" id="{56BDBB76-6CB3-0BC5-5805-C6AB693AEF17}"/>
              </a:ext>
            </a:extLst>
          </p:cNvPr>
          <p:cNvGrpSpPr>
            <a:grpSpLocks/>
          </p:cNvGrpSpPr>
          <p:nvPr/>
        </p:nvGrpSpPr>
        <p:grpSpPr bwMode="auto">
          <a:xfrm>
            <a:off x="982449" y="2897733"/>
            <a:ext cx="7696200" cy="396875"/>
            <a:chOff x="624" y="3456"/>
            <a:chExt cx="4848" cy="250"/>
          </a:xfrm>
        </p:grpSpPr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FA97CD44-1442-8B16-83C0-F7A79E0F5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456"/>
              <a:ext cx="48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9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(A + B)(A + C)          	  (A + B + C)(B + D) 	  (A + B)C</a:t>
              </a:r>
            </a:p>
          </p:txBody>
        </p: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6C937EF9-B6FD-0914-EB87-41E7163AC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6365072A-B383-50BA-673A-9E69581C7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BDACEB4B-65B3-6347-F98F-68C8496A9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241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18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3511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SOP and POS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An expression is in POS form when two or more sum terms are multiplied as in the following examples:</a:t>
            </a:r>
          </a:p>
          <a:p>
            <a:pPr algn="just">
              <a:lnSpc>
                <a:spcPct val="200000"/>
              </a:lnSpc>
              <a:defRPr/>
            </a:pPr>
            <a:endParaRPr lang="en-US" alt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Group 28">
            <a:extLst>
              <a:ext uri="{FF2B5EF4-FFF2-40B4-BE49-F238E27FC236}">
                <a16:creationId xmlns:a16="http://schemas.microsoft.com/office/drawing/2014/main" id="{F8F778AD-8AFE-41B2-9C06-4E2D65A680F8}"/>
              </a:ext>
            </a:extLst>
          </p:cNvPr>
          <p:cNvGrpSpPr>
            <a:grpSpLocks/>
          </p:cNvGrpSpPr>
          <p:nvPr/>
        </p:nvGrpSpPr>
        <p:grpSpPr bwMode="auto">
          <a:xfrm>
            <a:off x="1179513" y="2768"/>
            <a:ext cx="6364288" cy="0"/>
            <a:chOff x="743" y="2768"/>
            <a:chExt cx="4009" cy="0"/>
          </a:xfrm>
        </p:grpSpPr>
        <p:sp>
          <p:nvSpPr>
            <p:cNvPr id="8" name="Line 18">
              <a:extLst>
                <a:ext uri="{FF2B5EF4-FFF2-40B4-BE49-F238E27FC236}">
                  <a16:creationId xmlns:a16="http://schemas.microsoft.com/office/drawing/2014/main" id="{E2299C77-A21A-6554-8930-FAED39EEE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9">
              <a:extLst>
                <a:ext uri="{FF2B5EF4-FFF2-40B4-BE49-F238E27FC236}">
                  <a16:creationId xmlns:a16="http://schemas.microsoft.com/office/drawing/2014/main" id="{907456CA-8498-7866-623C-9C893A0F1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0">
              <a:extLst>
                <a:ext uri="{FF2B5EF4-FFF2-40B4-BE49-F238E27FC236}">
                  <a16:creationId xmlns:a16="http://schemas.microsoft.com/office/drawing/2014/main" id="{B2E10BC4-8FD1-A7C7-9757-997FAEA85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7CD2C736-5824-B84F-7CFD-E820EFECF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9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65F087AC-C3E7-0FA0-22DE-ADB2AA663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3">
              <a:extLst>
                <a:ext uri="{FF2B5EF4-FFF2-40B4-BE49-F238E27FC236}">
                  <a16:creationId xmlns:a16="http://schemas.microsoft.com/office/drawing/2014/main" id="{695D0B65-2C81-51C6-4314-F6EBFB77E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9867349F-D4FB-C088-D6EE-06D469496E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29">
            <a:extLst>
              <a:ext uri="{FF2B5EF4-FFF2-40B4-BE49-F238E27FC236}">
                <a16:creationId xmlns:a16="http://schemas.microsoft.com/office/drawing/2014/main" id="{56BDBB76-6CB3-0BC5-5805-C6AB693AEF17}"/>
              </a:ext>
            </a:extLst>
          </p:cNvPr>
          <p:cNvGrpSpPr>
            <a:grpSpLocks/>
          </p:cNvGrpSpPr>
          <p:nvPr/>
        </p:nvGrpSpPr>
        <p:grpSpPr bwMode="auto">
          <a:xfrm>
            <a:off x="982449" y="2897733"/>
            <a:ext cx="7696200" cy="396875"/>
            <a:chOff x="624" y="3456"/>
            <a:chExt cx="4848" cy="250"/>
          </a:xfrm>
        </p:grpSpPr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FA97CD44-1442-8B16-83C0-F7A79E0F5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456"/>
              <a:ext cx="48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9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(A + B)(A + C)          	  (A + B + C)(B + D) 	  (A + B)C</a:t>
              </a:r>
            </a:p>
          </p:txBody>
        </p: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6C937EF9-B6FD-0914-EB87-41E7163AC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6365072A-B383-50BA-673A-9E69581C7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BDACEB4B-65B3-6347-F98F-68C8496A9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65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19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6435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SOP and POS standard form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 SOP standard form, every variable in the domain must appear in each term. You can expand a nonstandard term to standard form by multiplying the term by a term consisting of the sum of the missing variable and its complement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 POS standard form, every variable in the domain must appear in each sum term of the expression. You can expand a nonstandard POS expression to standard form by adding the product of the missing variable and its complement and applying rule 12, </a:t>
            </a:r>
          </a:p>
          <a:p>
            <a:pPr algn="just">
              <a:lnSpc>
                <a:spcPct val="200000"/>
              </a:lnSpc>
              <a:defRPr/>
            </a:pPr>
            <a:endParaRPr lang="en-US" alt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7" name="Group 29">
            <a:extLst>
              <a:ext uri="{FF2B5EF4-FFF2-40B4-BE49-F238E27FC236}">
                <a16:creationId xmlns:a16="http://schemas.microsoft.com/office/drawing/2014/main" id="{56BDBB76-6CB3-0BC5-5805-C6AB693AEF17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484"/>
            <a:ext cx="4930775" cy="0"/>
            <a:chOff x="1248" y="3484"/>
            <a:chExt cx="3106" cy="0"/>
          </a:xfrm>
        </p:grpSpPr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6C937EF9-B6FD-0914-EB87-41E7163AC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6365072A-B383-50BA-673A-9E69581C7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BDACEB4B-65B3-6347-F98F-68C8496A9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095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19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5.2 BOOLEAN FUNCTION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1172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5.2.3 </a:t>
            </a: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Logic gates</a:t>
            </a:r>
            <a:endParaRPr lang="en-US" alt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7" name="Group 29">
            <a:extLst>
              <a:ext uri="{FF2B5EF4-FFF2-40B4-BE49-F238E27FC236}">
                <a16:creationId xmlns:a16="http://schemas.microsoft.com/office/drawing/2014/main" id="{56BDBB76-6CB3-0BC5-5805-C6AB693AEF17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484"/>
            <a:ext cx="4930775" cy="0"/>
            <a:chOff x="1248" y="3484"/>
            <a:chExt cx="3106" cy="0"/>
          </a:xfrm>
        </p:grpSpPr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6C937EF9-B6FD-0914-EB87-41E7163AC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6365072A-B383-50BA-673A-9E69581C7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BDACEB4B-65B3-6347-F98F-68C8496A9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AC1617C-2B55-2B4C-FE06-736D9E9BC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525" y="1371600"/>
            <a:ext cx="5924550" cy="441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7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528851" y="2450665"/>
            <a:ext cx="7772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chemeClr val="tx2"/>
                </a:solidFill>
                <a:latin typeface="Times New Roman" panose="02020603050405020304" pitchFamily="18" charset="0"/>
                <a:ea typeface="굴림" pitchFamily="34" charset="-127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BE994F5-821C-499E-8BCE-89F9FB45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07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53726</TotalTime>
  <Words>1193</Words>
  <Application>Microsoft Office PowerPoint</Application>
  <PresentationFormat>On-screen Show (4:3)</PresentationFormat>
  <Paragraphs>169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Times New Roman</vt:lpstr>
      <vt:lpstr>Office Theme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HNBach</dc:creator>
  <cp:lastModifiedBy>Nguyen Le Phu</cp:lastModifiedBy>
  <cp:revision>839</cp:revision>
  <cp:lastPrinted>2019-07-29T14:20:40Z</cp:lastPrinted>
  <dcterms:created xsi:type="dcterms:W3CDTF">2010-12-10T06:50:09Z</dcterms:created>
  <dcterms:modified xsi:type="dcterms:W3CDTF">2023-08-08T07:11:29Z</dcterms:modified>
</cp:coreProperties>
</file>