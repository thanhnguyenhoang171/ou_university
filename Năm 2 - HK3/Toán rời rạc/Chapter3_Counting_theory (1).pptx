
<file path=[Content_Types].xml><?xml version="1.0" encoding="utf-8"?>
<Types xmlns="http://schemas.openxmlformats.org/package/2006/content-types">
  <Default Extension="bin" ContentType="application/vnd.openxmlformats-officedocument.oleObject"/>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5">
  <p:sldMasterIdLst>
    <p:sldMasterId id="2147483720" r:id="rId1"/>
  </p:sldMasterIdLst>
  <p:notesMasterIdLst>
    <p:notesMasterId r:id="rId32"/>
  </p:notesMasterIdLst>
  <p:handoutMasterIdLst>
    <p:handoutMasterId r:id="rId33"/>
  </p:handoutMasterIdLst>
  <p:sldIdLst>
    <p:sldId id="258" r:id="rId2"/>
    <p:sldId id="336" r:id="rId3"/>
    <p:sldId id="338" r:id="rId4"/>
    <p:sldId id="339" r:id="rId5"/>
    <p:sldId id="340" r:id="rId6"/>
    <p:sldId id="341" r:id="rId7"/>
    <p:sldId id="342" r:id="rId8"/>
    <p:sldId id="343" r:id="rId9"/>
    <p:sldId id="345" r:id="rId10"/>
    <p:sldId id="346" r:id="rId11"/>
    <p:sldId id="344" r:id="rId12"/>
    <p:sldId id="349" r:id="rId13"/>
    <p:sldId id="347" r:id="rId14"/>
    <p:sldId id="350" r:id="rId15"/>
    <p:sldId id="351" r:id="rId16"/>
    <p:sldId id="354" r:id="rId17"/>
    <p:sldId id="357" r:id="rId18"/>
    <p:sldId id="356" r:id="rId19"/>
    <p:sldId id="358" r:id="rId20"/>
    <p:sldId id="359" r:id="rId21"/>
    <p:sldId id="361" r:id="rId22"/>
    <p:sldId id="362" r:id="rId23"/>
    <p:sldId id="363" r:id="rId24"/>
    <p:sldId id="364" r:id="rId25"/>
    <p:sldId id="367" r:id="rId26"/>
    <p:sldId id="368" r:id="rId27"/>
    <p:sldId id="369" r:id="rId28"/>
    <p:sldId id="370" r:id="rId29"/>
    <p:sldId id="371" r:id="rId30"/>
    <p:sldId id="353" r:id="rId31"/>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hu-Nguyen Le" initials="Nguyen" lastIdx="1" clrIdx="0">
    <p:extLst>
      <p:ext uri="{19B8F6BF-5375-455C-9EA6-DF929625EA0E}">
        <p15:presenceInfo xmlns:p15="http://schemas.microsoft.com/office/powerpoint/2012/main" userId="Phu-Nguyen Le" providerId="None"/>
      </p:ext>
    </p:extLst>
  </p:cmAuthor>
  <p:cmAuthor id="2" name="Le Phu Nguyen 9 (FE FPTU HCM)" initials="LPN9(FH" lastIdx="1" clrIdx="1">
    <p:extLst>
      <p:ext uri="{19B8F6BF-5375-455C-9EA6-DF929625EA0E}">
        <p15:presenceInfo xmlns:p15="http://schemas.microsoft.com/office/powerpoint/2012/main" userId="S::NguyenLP9@fe.edu.vn::bbb81211-4ff1-43ef-ac74-d6c9e8530caa"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2623" autoAdjust="0"/>
    <p:restoredTop sz="73112" autoAdjust="0"/>
  </p:normalViewPr>
  <p:slideViewPr>
    <p:cSldViewPr>
      <p:cViewPr>
        <p:scale>
          <a:sx n="66" d="100"/>
          <a:sy n="66" d="100"/>
        </p:scale>
        <p:origin x="1122" y="-528"/>
      </p:cViewPr>
      <p:guideLst>
        <p:guide orient="horz" pos="2160"/>
        <p:guide pos="2880"/>
      </p:guideLst>
    </p:cSldViewPr>
  </p:slideViewPr>
  <p:outlineViewPr>
    <p:cViewPr>
      <p:scale>
        <a:sx n="100" d="100"/>
        <a:sy n="100" d="100"/>
      </p:scale>
      <p:origin x="0" y="-17496"/>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handoutMaster" Target="handoutMasters/handout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notesMaster" Target="notesMasters/notesMaster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8475" cy="46513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970338" y="0"/>
            <a:ext cx="3038475" cy="465138"/>
          </a:xfrm>
          <a:prstGeom prst="rect">
            <a:avLst/>
          </a:prstGeom>
        </p:spPr>
        <p:txBody>
          <a:bodyPr vert="horz" lIns="91440" tIns="45720" rIns="91440" bIns="45720" rtlCol="0"/>
          <a:lstStyle>
            <a:lvl1pPr algn="r">
              <a:defRPr sz="1200"/>
            </a:lvl1pPr>
          </a:lstStyle>
          <a:p>
            <a:fld id="{06FB7F59-6753-4196-822E-EC8E52288DF6}" type="datetimeFigureOut">
              <a:rPr lang="en-US" smtClean="0"/>
              <a:t>7/11/2023</a:t>
            </a:fld>
            <a:endParaRPr lang="en-US"/>
          </a:p>
        </p:txBody>
      </p:sp>
      <p:sp>
        <p:nvSpPr>
          <p:cNvPr id="4" name="Footer Placeholder 3"/>
          <p:cNvSpPr>
            <a:spLocks noGrp="1"/>
          </p:cNvSpPr>
          <p:nvPr>
            <p:ph type="ftr" sz="quarter" idx="2"/>
          </p:nvPr>
        </p:nvSpPr>
        <p:spPr>
          <a:xfrm>
            <a:off x="1" y="8829675"/>
            <a:ext cx="3038475" cy="465138"/>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970338" y="8829675"/>
            <a:ext cx="3038475" cy="465138"/>
          </a:xfrm>
          <a:prstGeom prst="rect">
            <a:avLst/>
          </a:prstGeom>
        </p:spPr>
        <p:txBody>
          <a:bodyPr vert="horz" lIns="91440" tIns="45720" rIns="91440" bIns="45720" rtlCol="0" anchor="b"/>
          <a:lstStyle>
            <a:lvl1pPr algn="r">
              <a:defRPr sz="1200"/>
            </a:lvl1pPr>
          </a:lstStyle>
          <a:p>
            <a:fld id="{4BEA5F6A-FB32-4B7D-8C78-661A7CCB1CD7}" type="slidenum">
              <a:rPr lang="en-US" smtClean="0"/>
              <a:t>‹#›</a:t>
            </a:fld>
            <a:endParaRPr lang="en-US"/>
          </a:p>
        </p:txBody>
      </p:sp>
    </p:spTree>
    <p:extLst>
      <p:ext uri="{BB962C8B-B14F-4D97-AF65-F5344CB8AC3E}">
        <p14:creationId xmlns:p14="http://schemas.microsoft.com/office/powerpoint/2010/main" val="292649061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idx="1"/>
          </p:nvPr>
        </p:nvSpPr>
        <p:spPr>
          <a:xfrm>
            <a:off x="3970938" y="0"/>
            <a:ext cx="3037840" cy="464820"/>
          </a:xfrm>
          <a:prstGeom prst="rect">
            <a:avLst/>
          </a:prstGeom>
        </p:spPr>
        <p:txBody>
          <a:bodyPr vert="horz" lIns="93177" tIns="46589" rIns="93177" bIns="46589" rtlCol="0"/>
          <a:lstStyle>
            <a:lvl1pPr algn="r">
              <a:defRPr sz="1200"/>
            </a:lvl1pPr>
          </a:lstStyle>
          <a:p>
            <a:fld id="{5B20E61B-F2E8-4F3A-8F1B-F054E0560D27}" type="datetimeFigureOut">
              <a:rPr lang="en-US" smtClean="0"/>
              <a:pPr/>
              <a:t>7/11/2023</a:t>
            </a:fld>
            <a:endParaRPr lang="en-US"/>
          </a:p>
        </p:txBody>
      </p:sp>
      <p:sp>
        <p:nvSpPr>
          <p:cNvPr id="4" name="Slide Image Placeholder 3"/>
          <p:cNvSpPr>
            <a:spLocks noGrp="1" noRot="1" noChangeAspect="1"/>
          </p:cNvSpPr>
          <p:nvPr>
            <p:ph type="sldImg" idx="2"/>
          </p:nvPr>
        </p:nvSpPr>
        <p:spPr>
          <a:xfrm>
            <a:off x="1181100" y="696913"/>
            <a:ext cx="4648200" cy="3486150"/>
          </a:xfrm>
          <a:prstGeom prst="rect">
            <a:avLst/>
          </a:prstGeom>
          <a:noFill/>
          <a:ln w="12700">
            <a:solidFill>
              <a:prstClr val="black"/>
            </a:solidFill>
          </a:ln>
        </p:spPr>
        <p:txBody>
          <a:bodyPr vert="horz" lIns="93177" tIns="46589" rIns="93177" bIns="46589" rtlCol="0" anchor="ctr"/>
          <a:lstStyle/>
          <a:p>
            <a:endParaRPr lang="en-US"/>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77" tIns="46589" rIns="93177" bIns="46589"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829967"/>
            <a:ext cx="3037840" cy="464820"/>
          </a:xfrm>
          <a:prstGeom prst="rect">
            <a:avLst/>
          </a:prstGeom>
        </p:spPr>
        <p:txBody>
          <a:bodyPr vert="horz" lIns="93177" tIns="46589" rIns="93177" bIns="46589" rtlCol="0" anchor="b"/>
          <a:lstStyle>
            <a:lvl1pPr algn="l">
              <a:defRPr sz="1200"/>
            </a:lvl1pPr>
          </a:lstStyle>
          <a:p>
            <a:endParaRPr lang="en-US"/>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77" tIns="46589" rIns="93177" bIns="46589" rtlCol="0" anchor="b"/>
          <a:lstStyle>
            <a:lvl1pPr algn="r">
              <a:defRPr sz="1200"/>
            </a:lvl1pPr>
          </a:lstStyle>
          <a:p>
            <a:fld id="{DD95EC57-C814-4592-A4AB-B8F918BE7C9B}" type="slidenum">
              <a:rPr lang="en-US" smtClean="0"/>
              <a:pPr/>
              <a:t>‹#›</a:t>
            </a:fld>
            <a:endParaRPr lang="en-US"/>
          </a:p>
        </p:txBody>
      </p:sp>
    </p:spTree>
    <p:extLst>
      <p:ext uri="{BB962C8B-B14F-4D97-AF65-F5344CB8AC3E}">
        <p14:creationId xmlns:p14="http://schemas.microsoft.com/office/powerpoint/2010/main" val="4054315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discrete.openmathbooks.org/dmoi2/sec_counting-addmult.html"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discrete.openmathbooks.org/dmoi2/sec_counting-addmult.html"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discrete.openmathbooks.org/dmoi2/sec_counting-addmult.html"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discrete.openmathbooks.org/dmoi2/sec_counting-addmult.html"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discrete.openmathbooks.org/dmoi2/sec_counting-addmult.html"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discrete.openmathbooks.org/dmoi2/sec_counting-addmult.html" TargetMode="External"/><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3" Type="http://schemas.openxmlformats.org/officeDocument/2006/relationships/hyperlink" Target="https://discrete.openmathbooks.org/dmoi2/sec_counting-addmult.html" TargetMode="External"/><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3" Type="http://schemas.openxmlformats.org/officeDocument/2006/relationships/hyperlink" Target="https://discrete.openmathbooks.org/dmoi2/sec_counting-addmult.html" TargetMode="External"/><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3" Type="http://schemas.openxmlformats.org/officeDocument/2006/relationships/hyperlink" Target="https://discrete.openmathbooks.org/dmoi2/sec_counting-addmult.html" TargetMode="External"/><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3" Type="http://schemas.openxmlformats.org/officeDocument/2006/relationships/hyperlink" Target="https://discrete.openmathbooks.org/dmoi2/sec_counting-addmult.html" TargetMode="External"/><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3" Type="http://schemas.openxmlformats.org/officeDocument/2006/relationships/hyperlink" Target="https://discrete.openmathbooks.org/dmoi2/sec_counting-addmult.html" TargetMode="External"/><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a:t>
            </a:fld>
            <a:endParaRPr lang="en-US"/>
          </a:p>
        </p:txBody>
      </p:sp>
    </p:spTree>
    <p:extLst>
      <p:ext uri="{BB962C8B-B14F-4D97-AF65-F5344CB8AC3E}">
        <p14:creationId xmlns:p14="http://schemas.microsoft.com/office/powerpoint/2010/main" val="272185448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2</a:t>
            </a:fld>
            <a:endParaRPr lang="en-US"/>
          </a:p>
        </p:txBody>
      </p:sp>
    </p:spTree>
    <p:extLst>
      <p:ext uri="{BB962C8B-B14F-4D97-AF65-F5344CB8AC3E}">
        <p14:creationId xmlns:p14="http://schemas.microsoft.com/office/powerpoint/2010/main" val="13708203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3</a:t>
            </a:fld>
            <a:endParaRPr lang="en-US"/>
          </a:p>
        </p:txBody>
      </p:sp>
    </p:spTree>
    <p:extLst>
      <p:ext uri="{BB962C8B-B14F-4D97-AF65-F5344CB8AC3E}">
        <p14:creationId xmlns:p14="http://schemas.microsoft.com/office/powerpoint/2010/main" val="20994756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dirty="0">
                <a:solidFill>
                  <a:srgbClr val="1A0DAB"/>
                </a:solidFill>
                <a:effectLst/>
                <a:latin typeface="arial" panose="020B0604020202020204" pitchFamily="34" charset="0"/>
                <a:hlinkClick r:id="rId3"/>
              </a:rPr>
              <a:t>Additive and Multiplicative Principles</a:t>
            </a:r>
          </a:p>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4</a:t>
            </a:fld>
            <a:endParaRPr lang="en-US"/>
          </a:p>
        </p:txBody>
      </p:sp>
    </p:spTree>
    <p:extLst>
      <p:ext uri="{BB962C8B-B14F-4D97-AF65-F5344CB8AC3E}">
        <p14:creationId xmlns:p14="http://schemas.microsoft.com/office/powerpoint/2010/main" val="323667535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dirty="0">
                <a:solidFill>
                  <a:srgbClr val="1A0DAB"/>
                </a:solidFill>
                <a:effectLst/>
                <a:latin typeface="arial" panose="020B0604020202020204" pitchFamily="34" charset="0"/>
                <a:hlinkClick r:id="rId3"/>
              </a:rPr>
              <a:t>Additive and Multiplicative Principles</a:t>
            </a:r>
          </a:p>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5</a:t>
            </a:fld>
            <a:endParaRPr lang="en-US"/>
          </a:p>
        </p:txBody>
      </p:sp>
    </p:spTree>
    <p:extLst>
      <p:ext uri="{BB962C8B-B14F-4D97-AF65-F5344CB8AC3E}">
        <p14:creationId xmlns:p14="http://schemas.microsoft.com/office/powerpoint/2010/main" val="38321683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dirty="0">
                <a:solidFill>
                  <a:srgbClr val="1A0DAB"/>
                </a:solidFill>
                <a:effectLst/>
                <a:latin typeface="arial" panose="020B0604020202020204" pitchFamily="34" charset="0"/>
                <a:hlinkClick r:id="rId3"/>
              </a:rPr>
              <a:t>Additive and Multiplicative Principles</a:t>
            </a:r>
          </a:p>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6</a:t>
            </a:fld>
            <a:endParaRPr lang="en-US"/>
          </a:p>
        </p:txBody>
      </p:sp>
    </p:spTree>
    <p:extLst>
      <p:ext uri="{BB962C8B-B14F-4D97-AF65-F5344CB8AC3E}">
        <p14:creationId xmlns:p14="http://schemas.microsoft.com/office/powerpoint/2010/main" val="9078860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dirty="0">
                <a:solidFill>
                  <a:srgbClr val="1A0DAB"/>
                </a:solidFill>
                <a:effectLst/>
                <a:latin typeface="arial" panose="020B0604020202020204" pitchFamily="34" charset="0"/>
                <a:hlinkClick r:id="rId3"/>
              </a:rPr>
              <a:t>Additive and Multiplicative Principles</a:t>
            </a:r>
          </a:p>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7</a:t>
            </a:fld>
            <a:endParaRPr lang="en-US"/>
          </a:p>
        </p:txBody>
      </p:sp>
    </p:spTree>
    <p:extLst>
      <p:ext uri="{BB962C8B-B14F-4D97-AF65-F5344CB8AC3E}">
        <p14:creationId xmlns:p14="http://schemas.microsoft.com/office/powerpoint/2010/main" val="16838992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dirty="0">
                <a:solidFill>
                  <a:srgbClr val="1A0DAB"/>
                </a:solidFill>
                <a:effectLst/>
                <a:latin typeface="arial" panose="020B0604020202020204" pitchFamily="34" charset="0"/>
                <a:hlinkClick r:id="rId3"/>
              </a:rPr>
              <a:t>Additive and Multiplicative Principles</a:t>
            </a:r>
          </a:p>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8</a:t>
            </a:fld>
            <a:endParaRPr lang="en-US"/>
          </a:p>
        </p:txBody>
      </p:sp>
    </p:spTree>
    <p:extLst>
      <p:ext uri="{BB962C8B-B14F-4D97-AF65-F5344CB8AC3E}">
        <p14:creationId xmlns:p14="http://schemas.microsoft.com/office/powerpoint/2010/main" val="205235556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dirty="0">
                <a:solidFill>
                  <a:srgbClr val="1A0DAB"/>
                </a:solidFill>
                <a:effectLst/>
                <a:latin typeface="arial" panose="020B0604020202020204" pitchFamily="34" charset="0"/>
                <a:hlinkClick r:id="rId3"/>
              </a:rPr>
              <a:t>Additive and Multiplicative Principles</a:t>
            </a:r>
          </a:p>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9</a:t>
            </a:fld>
            <a:endParaRPr lang="en-US"/>
          </a:p>
        </p:txBody>
      </p:sp>
    </p:spTree>
    <p:extLst>
      <p:ext uri="{BB962C8B-B14F-4D97-AF65-F5344CB8AC3E}">
        <p14:creationId xmlns:p14="http://schemas.microsoft.com/office/powerpoint/2010/main" val="376787742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dirty="0">
                <a:solidFill>
                  <a:srgbClr val="1A0DAB"/>
                </a:solidFill>
                <a:effectLst/>
                <a:latin typeface="arial" panose="020B0604020202020204" pitchFamily="34" charset="0"/>
                <a:hlinkClick r:id="rId3"/>
              </a:rPr>
              <a:t>Additive and Multiplicative Principles</a:t>
            </a:r>
          </a:p>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10</a:t>
            </a:fld>
            <a:endParaRPr lang="en-US"/>
          </a:p>
        </p:txBody>
      </p:sp>
    </p:spTree>
    <p:extLst>
      <p:ext uri="{BB962C8B-B14F-4D97-AF65-F5344CB8AC3E}">
        <p14:creationId xmlns:p14="http://schemas.microsoft.com/office/powerpoint/2010/main" val="22660994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dirty="0">
                <a:solidFill>
                  <a:srgbClr val="1A0DAB"/>
                </a:solidFill>
                <a:effectLst/>
                <a:latin typeface="arial" panose="020B0604020202020204" pitchFamily="34" charset="0"/>
                <a:hlinkClick r:id="rId3"/>
              </a:rPr>
              <a:t>Additive and Multiplicative Principles</a:t>
            </a:r>
          </a:p>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11</a:t>
            </a:fld>
            <a:endParaRPr lang="en-US"/>
          </a:p>
        </p:txBody>
      </p:sp>
    </p:spTree>
    <p:extLst>
      <p:ext uri="{BB962C8B-B14F-4D97-AF65-F5344CB8AC3E}">
        <p14:creationId xmlns:p14="http://schemas.microsoft.com/office/powerpoint/2010/main" val="31971459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dirty="0">
                <a:solidFill>
                  <a:srgbClr val="1A0DAB"/>
                </a:solidFill>
                <a:effectLst/>
                <a:latin typeface="arial" panose="020B0604020202020204" pitchFamily="34" charset="0"/>
                <a:hlinkClick r:id="rId3"/>
              </a:rPr>
              <a:t>Additive and Multiplicative Principles</a:t>
            </a:r>
          </a:p>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12</a:t>
            </a:fld>
            <a:endParaRPr lang="en-US"/>
          </a:p>
        </p:txBody>
      </p:sp>
    </p:spTree>
    <p:extLst>
      <p:ext uri="{BB962C8B-B14F-4D97-AF65-F5344CB8AC3E}">
        <p14:creationId xmlns:p14="http://schemas.microsoft.com/office/powerpoint/2010/main" val="265457817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dirty="0">
                <a:solidFill>
                  <a:srgbClr val="1A0DAB"/>
                </a:solidFill>
                <a:effectLst/>
                <a:latin typeface="arial" panose="020B0604020202020204" pitchFamily="34" charset="0"/>
                <a:hlinkClick r:id="rId3"/>
              </a:rPr>
              <a:t>Additive and Multiplicative Principles</a:t>
            </a:r>
          </a:p>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13</a:t>
            </a:fld>
            <a:endParaRPr lang="en-US"/>
          </a:p>
        </p:txBody>
      </p:sp>
    </p:spTree>
    <p:extLst>
      <p:ext uri="{BB962C8B-B14F-4D97-AF65-F5344CB8AC3E}">
        <p14:creationId xmlns:p14="http://schemas.microsoft.com/office/powerpoint/2010/main" val="43275947"/>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0" i="0" u="none" strike="noStrike" dirty="0">
                <a:solidFill>
                  <a:srgbClr val="1A0DAB"/>
                </a:solidFill>
                <a:effectLst/>
                <a:latin typeface="arial" panose="020B0604020202020204" pitchFamily="34" charset="0"/>
                <a:hlinkClick r:id="rId3"/>
              </a:rPr>
              <a:t>Additive and Multiplicative Principles</a:t>
            </a:r>
          </a:p>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14</a:t>
            </a:fld>
            <a:endParaRPr lang="en-US"/>
          </a:p>
        </p:txBody>
      </p:sp>
    </p:spTree>
    <p:extLst>
      <p:ext uri="{BB962C8B-B14F-4D97-AF65-F5344CB8AC3E}">
        <p14:creationId xmlns:p14="http://schemas.microsoft.com/office/powerpoint/2010/main" val="30056592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Chinh hoop</a:t>
            </a:r>
          </a:p>
        </p:txBody>
      </p:sp>
      <p:sp>
        <p:nvSpPr>
          <p:cNvPr id="4" name="Slide Number Placeholder 3"/>
          <p:cNvSpPr>
            <a:spLocks noGrp="1"/>
          </p:cNvSpPr>
          <p:nvPr>
            <p:ph type="sldNum" sz="quarter" idx="10"/>
          </p:nvPr>
        </p:nvSpPr>
        <p:spPr/>
        <p:txBody>
          <a:bodyPr/>
          <a:lstStyle/>
          <a:p>
            <a:fld id="{DD95EC57-C814-4592-A4AB-B8F918BE7C9B}" type="slidenum">
              <a:rPr lang="en-US" smtClean="0"/>
              <a:pPr/>
              <a:t>15</a:t>
            </a:fld>
            <a:endParaRPr lang="en-US"/>
          </a:p>
        </p:txBody>
      </p:sp>
    </p:spTree>
    <p:extLst>
      <p:ext uri="{BB962C8B-B14F-4D97-AF65-F5344CB8AC3E}">
        <p14:creationId xmlns:p14="http://schemas.microsoft.com/office/powerpoint/2010/main" val="11928499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Chinh hoop</a:t>
            </a:r>
          </a:p>
        </p:txBody>
      </p:sp>
      <p:sp>
        <p:nvSpPr>
          <p:cNvPr id="4" name="Slide Number Placeholder 3"/>
          <p:cNvSpPr>
            <a:spLocks noGrp="1"/>
          </p:cNvSpPr>
          <p:nvPr>
            <p:ph type="sldNum" sz="quarter" idx="10"/>
          </p:nvPr>
        </p:nvSpPr>
        <p:spPr/>
        <p:txBody>
          <a:bodyPr/>
          <a:lstStyle/>
          <a:p>
            <a:fld id="{DD95EC57-C814-4592-A4AB-B8F918BE7C9B}" type="slidenum">
              <a:rPr lang="en-US" smtClean="0"/>
              <a:pPr/>
              <a:t>16</a:t>
            </a:fld>
            <a:endParaRPr lang="en-US"/>
          </a:p>
        </p:txBody>
      </p:sp>
    </p:spTree>
    <p:extLst>
      <p:ext uri="{BB962C8B-B14F-4D97-AF65-F5344CB8AC3E}">
        <p14:creationId xmlns:p14="http://schemas.microsoft.com/office/powerpoint/2010/main" val="336286167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eaLnBrk="1" hangingPunct="1">
              <a:spcBef>
                <a:spcPct val="0"/>
              </a:spcBef>
              <a:buClrTx/>
              <a:buFontTx/>
              <a:buNone/>
            </a:pPr>
            <a:r>
              <a:rPr kumimoji="0" lang="en-US" altLang="en-US" sz="1200" b="1" dirty="0">
                <a:solidFill>
                  <a:schemeClr val="tx1"/>
                </a:solidFill>
              </a:rPr>
              <a:t>k pt </a:t>
            </a:r>
            <a:r>
              <a:rPr kumimoji="0" lang="en-US" altLang="en-US" sz="1200" b="1" dirty="0" err="1">
                <a:solidFill>
                  <a:schemeClr val="tx1"/>
                </a:solidFill>
              </a:rPr>
              <a:t>được</a:t>
            </a:r>
            <a:r>
              <a:rPr kumimoji="0" lang="en-US" altLang="en-US" sz="1200" b="1" dirty="0">
                <a:solidFill>
                  <a:schemeClr val="tx1"/>
                </a:solidFill>
              </a:rPr>
              <a:t> </a:t>
            </a:r>
            <a:r>
              <a:rPr kumimoji="0" lang="en-US" altLang="en-US" sz="1200" b="1" dirty="0" err="1">
                <a:solidFill>
                  <a:schemeClr val="tx1"/>
                </a:solidFill>
              </a:rPr>
              <a:t>chọn</a:t>
            </a:r>
            <a:r>
              <a:rPr kumimoji="0" lang="en-US" altLang="en-US" sz="1200" b="1" dirty="0">
                <a:solidFill>
                  <a:schemeClr val="tx1"/>
                </a:solidFill>
              </a:rPr>
              <a:t> </a:t>
            </a:r>
            <a:r>
              <a:rPr kumimoji="0" lang="en-US" altLang="en-US" sz="1200" b="1" dirty="0" err="1">
                <a:solidFill>
                  <a:schemeClr val="tx1"/>
                </a:solidFill>
              </a:rPr>
              <a:t>khác</a:t>
            </a:r>
            <a:r>
              <a:rPr kumimoji="0" lang="en-US" altLang="en-US" sz="1200" b="1" dirty="0">
                <a:solidFill>
                  <a:schemeClr val="tx1"/>
                </a:solidFill>
              </a:rPr>
              <a:t> </a:t>
            </a:r>
            <a:r>
              <a:rPr kumimoji="0" lang="en-US" altLang="en-US" sz="1200" b="1" dirty="0" err="1">
                <a:solidFill>
                  <a:schemeClr val="tx1"/>
                </a:solidFill>
              </a:rPr>
              <a:t>nhau</a:t>
            </a:r>
            <a:endParaRPr kumimoji="0" lang="en-US" altLang="en-US" sz="1200" b="1" dirty="0">
              <a:solidFill>
                <a:schemeClr val="tx1"/>
              </a:solidFill>
            </a:endParaRP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1200" b="1" dirty="0">
                <a:solidFill>
                  <a:schemeClr val="tx1"/>
                </a:solidFill>
              </a:rPr>
              <a:t>k pt </a:t>
            </a:r>
            <a:r>
              <a:rPr kumimoji="0" lang="en-US" altLang="en-US" sz="1200" b="1" dirty="0" err="1">
                <a:solidFill>
                  <a:schemeClr val="tx1"/>
                </a:solidFill>
              </a:rPr>
              <a:t>được</a:t>
            </a:r>
            <a:r>
              <a:rPr kumimoji="0" lang="en-US" altLang="en-US" sz="1200" b="1" dirty="0">
                <a:solidFill>
                  <a:schemeClr val="tx1"/>
                </a:solidFill>
              </a:rPr>
              <a:t> </a:t>
            </a:r>
            <a:r>
              <a:rPr kumimoji="0" lang="en-US" altLang="en-US" sz="1200" b="1" dirty="0" err="1">
                <a:solidFill>
                  <a:schemeClr val="tx1"/>
                </a:solidFill>
              </a:rPr>
              <a:t>chọn</a:t>
            </a:r>
            <a:r>
              <a:rPr kumimoji="0" lang="en-US" altLang="en-US" sz="1200" b="1" dirty="0">
                <a:solidFill>
                  <a:schemeClr val="tx1"/>
                </a:solidFill>
              </a:rPr>
              <a:t> </a:t>
            </a:r>
            <a:r>
              <a:rPr kumimoji="0" lang="en-US" altLang="en-US" sz="1200" b="1" dirty="0" err="1">
                <a:solidFill>
                  <a:schemeClr val="tx1"/>
                </a:solidFill>
              </a:rPr>
              <a:t>có</a:t>
            </a:r>
            <a:r>
              <a:rPr kumimoji="0" lang="en-US" altLang="en-US" sz="1200" b="1" dirty="0">
                <a:solidFill>
                  <a:schemeClr val="tx1"/>
                </a:solidFill>
              </a:rPr>
              <a:t> </a:t>
            </a:r>
            <a:r>
              <a:rPr kumimoji="0" lang="en-US" altLang="en-US" sz="1200" b="1" dirty="0" err="1">
                <a:solidFill>
                  <a:schemeClr val="tx1"/>
                </a:solidFill>
              </a:rPr>
              <a:t>thể</a:t>
            </a:r>
            <a:r>
              <a:rPr kumimoji="0" lang="en-US" altLang="en-US" sz="1200" b="1" dirty="0">
                <a:solidFill>
                  <a:schemeClr val="tx1"/>
                </a:solidFill>
              </a:rPr>
              <a:t> </a:t>
            </a:r>
            <a:r>
              <a:rPr kumimoji="0" lang="en-US" altLang="en-US" sz="1200" b="1" dirty="0" err="1">
                <a:solidFill>
                  <a:schemeClr val="tx1"/>
                </a:solidFill>
              </a:rPr>
              <a:t>trùng</a:t>
            </a:r>
            <a:r>
              <a:rPr kumimoji="0" lang="en-US" altLang="en-US" sz="1200" b="1" dirty="0">
                <a:solidFill>
                  <a:schemeClr val="tx1"/>
                </a:solidFill>
              </a:rPr>
              <a:t> </a:t>
            </a:r>
            <a:r>
              <a:rPr kumimoji="0" lang="en-US" altLang="en-US" sz="1200" b="1" dirty="0" err="1">
                <a:solidFill>
                  <a:schemeClr val="tx1"/>
                </a:solidFill>
              </a:rPr>
              <a:t>nhau</a:t>
            </a:r>
            <a:endParaRPr kumimoji="0" lang="en-US" altLang="en-US" sz="1200" b="1" dirty="0">
              <a:solidFill>
                <a:schemeClr val="tx1"/>
              </a:solidFill>
            </a:endParaRPr>
          </a:p>
          <a:p>
            <a:pPr eaLnBrk="1" hangingPunct="1">
              <a:spcBef>
                <a:spcPct val="0"/>
              </a:spcBef>
              <a:buClrTx/>
              <a:buFontTx/>
              <a:buNone/>
            </a:pPr>
            <a:endParaRPr kumimoji="0" lang="en-US" altLang="en-US" sz="1200" b="1" dirty="0">
              <a:solidFill>
                <a:schemeClr val="tx1"/>
              </a:solidFill>
            </a:endParaRPr>
          </a:p>
        </p:txBody>
      </p:sp>
      <p:sp>
        <p:nvSpPr>
          <p:cNvPr id="4" name="Slide Number Placeholder 3"/>
          <p:cNvSpPr>
            <a:spLocks noGrp="1"/>
          </p:cNvSpPr>
          <p:nvPr>
            <p:ph type="sldNum" sz="quarter" idx="10"/>
          </p:nvPr>
        </p:nvSpPr>
        <p:spPr/>
        <p:txBody>
          <a:bodyPr/>
          <a:lstStyle/>
          <a:p>
            <a:fld id="{DD95EC57-C814-4592-A4AB-B8F918BE7C9B}" type="slidenum">
              <a:rPr lang="en-US" smtClean="0"/>
              <a:pPr/>
              <a:t>17</a:t>
            </a:fld>
            <a:endParaRPr lang="en-US"/>
          </a:p>
        </p:txBody>
      </p:sp>
    </p:spTree>
    <p:extLst>
      <p:ext uri="{BB962C8B-B14F-4D97-AF65-F5344CB8AC3E}">
        <p14:creationId xmlns:p14="http://schemas.microsoft.com/office/powerpoint/2010/main" val="428637357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l"/>
            <a:r>
              <a:rPr lang="en-US" b="0" dirty="0"/>
              <a:t>Using the pigeonhole principle (m = 2 socks, using one pigeonhole per color), you need to pull only three socks from the drawer (n = 3 items). Either you have three of one color, or you have two of one color and one of the other.</a:t>
            </a:r>
          </a:p>
        </p:txBody>
      </p:sp>
      <p:sp>
        <p:nvSpPr>
          <p:cNvPr id="4" name="Slide Number Placeholder 3"/>
          <p:cNvSpPr>
            <a:spLocks noGrp="1"/>
          </p:cNvSpPr>
          <p:nvPr>
            <p:ph type="sldNum" sz="quarter" idx="10"/>
          </p:nvPr>
        </p:nvSpPr>
        <p:spPr/>
        <p:txBody>
          <a:bodyPr/>
          <a:lstStyle/>
          <a:p>
            <a:fld id="{DD95EC57-C814-4592-A4AB-B8F918BE7C9B}" type="slidenum">
              <a:rPr lang="en-US" smtClean="0"/>
              <a:pPr/>
              <a:t>18</a:t>
            </a:fld>
            <a:endParaRPr lang="en-US"/>
          </a:p>
        </p:txBody>
      </p:sp>
    </p:spTree>
    <p:extLst>
      <p:ext uri="{BB962C8B-B14F-4D97-AF65-F5344CB8AC3E}">
        <p14:creationId xmlns:p14="http://schemas.microsoft.com/office/powerpoint/2010/main" val="407463463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l"/>
            <a:r>
              <a:rPr lang="en-US" b="0" dirty="0"/>
              <a:t>Using the pigeonhole principle (m = 2 socks, using one pigeonhole per color), you need to pull only three socks from the drawer (n = 3 items). Either you have three of one color, or you have two of one color and one of the other.</a:t>
            </a:r>
          </a:p>
        </p:txBody>
      </p:sp>
      <p:sp>
        <p:nvSpPr>
          <p:cNvPr id="4" name="Slide Number Placeholder 3"/>
          <p:cNvSpPr>
            <a:spLocks noGrp="1"/>
          </p:cNvSpPr>
          <p:nvPr>
            <p:ph type="sldNum" sz="quarter" idx="10"/>
          </p:nvPr>
        </p:nvSpPr>
        <p:spPr/>
        <p:txBody>
          <a:bodyPr/>
          <a:lstStyle/>
          <a:p>
            <a:fld id="{DD95EC57-C814-4592-A4AB-B8F918BE7C9B}" type="slidenum">
              <a:rPr lang="en-US" smtClean="0"/>
              <a:pPr/>
              <a:t>19</a:t>
            </a:fld>
            <a:endParaRPr lang="en-US"/>
          </a:p>
        </p:txBody>
      </p:sp>
    </p:spTree>
    <p:extLst>
      <p:ext uri="{BB962C8B-B14F-4D97-AF65-F5344CB8AC3E}">
        <p14:creationId xmlns:p14="http://schemas.microsoft.com/office/powerpoint/2010/main" val="5228316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pPr algn="l"/>
            <a:br>
              <a:rPr lang="en-US" b="0" i="0" dirty="0">
                <a:solidFill>
                  <a:srgbClr val="374151"/>
                </a:solidFill>
                <a:effectLst/>
                <a:latin typeface="Söhne"/>
              </a:rPr>
            </a:br>
            <a:r>
              <a:rPr lang="en-US" b="0" i="0" dirty="0">
                <a:solidFill>
                  <a:srgbClr val="374151"/>
                </a:solidFill>
                <a:effectLst/>
                <a:latin typeface="Söhne"/>
              </a:rPr>
              <a:t>The Dirichlet principle, also known as the Dirichlet's principle of the pigeonhole principle, is a fundamental concept in mathematics that has numerous applications across various fields. The principle states that if you distribute more objects into fewer containers, at least one of the containers must contain more than one object. Here are a few applications of the Dirichlet principle:</a:t>
            </a:r>
          </a:p>
          <a:p>
            <a:pPr algn="l">
              <a:buFont typeface="+mj-lt"/>
              <a:buAutoNum type="arabicPeriod"/>
            </a:pPr>
            <a:r>
              <a:rPr lang="en-US" b="0" i="0" dirty="0">
                <a:solidFill>
                  <a:srgbClr val="374151"/>
                </a:solidFill>
                <a:effectLst/>
                <a:latin typeface="Söhne"/>
              </a:rPr>
              <a:t>Number theory: The Dirichlet principle is often used in number theory to prove the existence of prime numbers in certain arithmetic progressions. This is known as Dirichlet's theorem on arithmetic progressions, which states that for any two positive coprime integers a and d, there are infinitely many primes of the form a + </a:t>
            </a:r>
            <a:r>
              <a:rPr lang="en-US" b="0" i="0" dirty="0" err="1">
                <a:solidFill>
                  <a:srgbClr val="374151"/>
                </a:solidFill>
                <a:effectLst/>
                <a:latin typeface="Söhne"/>
              </a:rPr>
              <a:t>nd</a:t>
            </a:r>
            <a:r>
              <a:rPr lang="en-US" b="0" i="0" dirty="0">
                <a:solidFill>
                  <a:srgbClr val="374151"/>
                </a:solidFill>
                <a:effectLst/>
                <a:latin typeface="Söhne"/>
              </a:rPr>
              <a:t>, where n is a non-negative integer.</a:t>
            </a:r>
          </a:p>
          <a:p>
            <a:pPr algn="l">
              <a:buFont typeface="+mj-lt"/>
              <a:buAutoNum type="arabicPeriod"/>
            </a:pPr>
            <a:r>
              <a:rPr lang="en-US" b="0" i="0" dirty="0">
                <a:solidFill>
                  <a:srgbClr val="374151"/>
                </a:solidFill>
                <a:effectLst/>
                <a:latin typeface="Söhne"/>
              </a:rPr>
              <a:t>Combinatorics: In combinatorics, the Dirichlet principle is applied to prove various results related to counting and pigeonhole problems. It helps establish the existence of certain combinatorial structures, such as combinatorial designs, Latin squares, and Hamiltonian cycles.</a:t>
            </a:r>
          </a:p>
          <a:p>
            <a:pPr algn="l">
              <a:buFont typeface="+mj-lt"/>
              <a:buAutoNum type="arabicPeriod"/>
            </a:pPr>
            <a:r>
              <a:rPr lang="en-US" b="0" i="0" dirty="0">
                <a:solidFill>
                  <a:srgbClr val="374151"/>
                </a:solidFill>
                <a:effectLst/>
                <a:latin typeface="Söhne"/>
              </a:rPr>
              <a:t>Optimization: The Dirichlet principle finds applications in optimization problems. It is used to show the existence of optimal solutions or to prove properties of optimal solutions. For example, in calculus of variations, the principle is used to establish the existence of functions that minimize certain functionals.</a:t>
            </a:r>
          </a:p>
          <a:p>
            <a:pPr algn="l">
              <a:buFont typeface="+mj-lt"/>
              <a:buAutoNum type="arabicPeriod"/>
            </a:pPr>
            <a:r>
              <a:rPr lang="en-US" b="0" i="0" dirty="0">
                <a:solidFill>
                  <a:srgbClr val="374151"/>
                </a:solidFill>
                <a:effectLst/>
                <a:latin typeface="Söhne"/>
              </a:rPr>
              <a:t>Probability theory: The Dirichlet principle has applications in probability theory, especially in problems related to the pigeonhole principle. It is used to prove results like the existence of a pair of matching birthdays in a group of people, known as the birthday paradox.</a:t>
            </a:r>
          </a:p>
          <a:p>
            <a:pPr algn="l">
              <a:buFont typeface="+mj-lt"/>
              <a:buAutoNum type="arabicPeriod"/>
            </a:pPr>
            <a:r>
              <a:rPr lang="en-US" b="0" i="0" dirty="0">
                <a:solidFill>
                  <a:srgbClr val="374151"/>
                </a:solidFill>
                <a:effectLst/>
                <a:latin typeface="Söhne"/>
              </a:rPr>
              <a:t>Physics: In physics, the Dirichlet principle is employed to solve problems related to the equilibrium state of physical systems. For example, it can be used to determine the shape of a suspended chain or the electric potential distribution in a conductive material.</a:t>
            </a:r>
          </a:p>
        </p:txBody>
      </p:sp>
      <p:sp>
        <p:nvSpPr>
          <p:cNvPr id="4" name="Slide Number Placeholder 3"/>
          <p:cNvSpPr>
            <a:spLocks noGrp="1"/>
          </p:cNvSpPr>
          <p:nvPr>
            <p:ph type="sldNum" sz="quarter" idx="10"/>
          </p:nvPr>
        </p:nvSpPr>
        <p:spPr/>
        <p:txBody>
          <a:bodyPr/>
          <a:lstStyle/>
          <a:p>
            <a:fld id="{DD95EC57-C814-4592-A4AB-B8F918BE7C9B}" type="slidenum">
              <a:rPr lang="en-US" smtClean="0"/>
              <a:pPr/>
              <a:t>20</a:t>
            </a:fld>
            <a:endParaRPr lang="en-US"/>
          </a:p>
        </p:txBody>
      </p:sp>
    </p:spTree>
    <p:extLst>
      <p:ext uri="{BB962C8B-B14F-4D97-AF65-F5344CB8AC3E}">
        <p14:creationId xmlns:p14="http://schemas.microsoft.com/office/powerpoint/2010/main" val="33822707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pPr algn="l"/>
            <a:br>
              <a:rPr lang="en-US" b="0" i="0" dirty="0">
                <a:solidFill>
                  <a:srgbClr val="374151"/>
                </a:solidFill>
                <a:effectLst/>
                <a:latin typeface="Söhne"/>
              </a:rPr>
            </a:br>
            <a:r>
              <a:rPr lang="en-US" b="0" i="0" dirty="0">
                <a:solidFill>
                  <a:srgbClr val="374151"/>
                </a:solidFill>
                <a:effectLst/>
                <a:latin typeface="Söhne"/>
              </a:rPr>
              <a:t>The Dirichlet principle, also known as the Dirichlet's principle of the pigeonhole principle, is a fundamental concept in mathematics that has numerous applications across various fields. The principle states that if you distribute more objects into fewer containers, at least one of the containers must contain more than one object. Here are a few applications of the Dirichlet principle:</a:t>
            </a:r>
          </a:p>
          <a:p>
            <a:pPr algn="l">
              <a:buFont typeface="+mj-lt"/>
              <a:buAutoNum type="arabicPeriod"/>
            </a:pPr>
            <a:r>
              <a:rPr lang="en-US" b="0" i="0" dirty="0">
                <a:solidFill>
                  <a:srgbClr val="374151"/>
                </a:solidFill>
                <a:effectLst/>
                <a:latin typeface="Söhne"/>
              </a:rPr>
              <a:t>Number theory: The Dirichlet principle is often used in number theory to prove the existence of prime numbers in certain arithmetic progressions. This is known as Dirichlet's theorem on arithmetic progressions, which states that for any two positive coprime integers a and d, there are infinitely many primes of the form a + </a:t>
            </a:r>
            <a:r>
              <a:rPr lang="en-US" b="0" i="0" dirty="0" err="1">
                <a:solidFill>
                  <a:srgbClr val="374151"/>
                </a:solidFill>
                <a:effectLst/>
                <a:latin typeface="Söhne"/>
              </a:rPr>
              <a:t>nd</a:t>
            </a:r>
            <a:r>
              <a:rPr lang="en-US" b="0" i="0" dirty="0">
                <a:solidFill>
                  <a:srgbClr val="374151"/>
                </a:solidFill>
                <a:effectLst/>
                <a:latin typeface="Söhne"/>
              </a:rPr>
              <a:t>, where n is a non-negative integer.</a:t>
            </a:r>
          </a:p>
          <a:p>
            <a:pPr algn="l">
              <a:buFont typeface="+mj-lt"/>
              <a:buAutoNum type="arabicPeriod"/>
            </a:pPr>
            <a:r>
              <a:rPr lang="en-US" b="0" i="0" dirty="0">
                <a:solidFill>
                  <a:srgbClr val="374151"/>
                </a:solidFill>
                <a:effectLst/>
                <a:latin typeface="Söhne"/>
              </a:rPr>
              <a:t>Combinatorics: In combinatorics, the Dirichlet principle is applied to prove various results related to counting and pigeonhole problems. It helps establish the existence of certain combinatorial structures, such as combinatorial designs, Latin squares, and Hamiltonian cycles.</a:t>
            </a:r>
          </a:p>
          <a:p>
            <a:pPr algn="l">
              <a:buFont typeface="+mj-lt"/>
              <a:buAutoNum type="arabicPeriod"/>
            </a:pPr>
            <a:r>
              <a:rPr lang="en-US" b="0" i="0" dirty="0">
                <a:solidFill>
                  <a:srgbClr val="374151"/>
                </a:solidFill>
                <a:effectLst/>
                <a:latin typeface="Söhne"/>
              </a:rPr>
              <a:t>Optimization: The Dirichlet principle finds applications in optimization problems. It is used to show the existence of optimal solutions or to prove properties of optimal solutions. For example, in calculus of variations, the principle is used to establish the existence of functions that minimize certain functionals.</a:t>
            </a:r>
          </a:p>
          <a:p>
            <a:pPr algn="l">
              <a:buFont typeface="+mj-lt"/>
              <a:buAutoNum type="arabicPeriod"/>
            </a:pPr>
            <a:r>
              <a:rPr lang="en-US" b="0" i="0" dirty="0">
                <a:solidFill>
                  <a:srgbClr val="374151"/>
                </a:solidFill>
                <a:effectLst/>
                <a:latin typeface="Söhne"/>
              </a:rPr>
              <a:t>Probability theory: The Dirichlet principle has applications in probability theory, especially in problems related to the pigeonhole principle. It is used to prove results like the existence of a pair of matching birthdays in a group of people, known as the birthday paradox.</a:t>
            </a:r>
          </a:p>
          <a:p>
            <a:pPr algn="l">
              <a:buFont typeface="+mj-lt"/>
              <a:buAutoNum type="arabicPeriod"/>
            </a:pPr>
            <a:r>
              <a:rPr lang="en-US" b="0" i="0" dirty="0">
                <a:solidFill>
                  <a:srgbClr val="374151"/>
                </a:solidFill>
                <a:effectLst/>
                <a:latin typeface="Söhne"/>
              </a:rPr>
              <a:t>Physics: In physics, the Dirichlet principle is employed to solve problems related to the equilibrium state of physical systems. For example, it can be used to determine the shape of a suspended chain or the electric potential distribution in a conductive material.</a:t>
            </a:r>
          </a:p>
        </p:txBody>
      </p:sp>
      <p:sp>
        <p:nvSpPr>
          <p:cNvPr id="4" name="Slide Number Placeholder 3"/>
          <p:cNvSpPr>
            <a:spLocks noGrp="1"/>
          </p:cNvSpPr>
          <p:nvPr>
            <p:ph type="sldNum" sz="quarter" idx="10"/>
          </p:nvPr>
        </p:nvSpPr>
        <p:spPr/>
        <p:txBody>
          <a:bodyPr/>
          <a:lstStyle/>
          <a:p>
            <a:fld id="{DD95EC57-C814-4592-A4AB-B8F918BE7C9B}" type="slidenum">
              <a:rPr lang="en-US" smtClean="0"/>
              <a:pPr/>
              <a:t>21</a:t>
            </a:fld>
            <a:endParaRPr lang="en-US"/>
          </a:p>
        </p:txBody>
      </p:sp>
    </p:spTree>
    <p:extLst>
      <p:ext uri="{BB962C8B-B14F-4D97-AF65-F5344CB8AC3E}">
        <p14:creationId xmlns:p14="http://schemas.microsoft.com/office/powerpoint/2010/main" val="143939338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22</a:t>
            </a:fld>
            <a:endParaRPr lang="en-US"/>
          </a:p>
        </p:txBody>
      </p:sp>
    </p:spTree>
    <p:extLst>
      <p:ext uri="{BB962C8B-B14F-4D97-AF65-F5344CB8AC3E}">
        <p14:creationId xmlns:p14="http://schemas.microsoft.com/office/powerpoint/2010/main" val="70098822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pPr algn="l"/>
            <a:br>
              <a:rPr lang="en-US" b="0" i="0" dirty="0">
                <a:solidFill>
                  <a:srgbClr val="374151"/>
                </a:solidFill>
                <a:effectLst/>
                <a:latin typeface="Söhne"/>
              </a:rPr>
            </a:br>
            <a:r>
              <a:rPr lang="en-US" b="0" i="0" dirty="0">
                <a:solidFill>
                  <a:srgbClr val="374151"/>
                </a:solidFill>
                <a:effectLst/>
                <a:latin typeface="Söhne"/>
              </a:rPr>
              <a:t>The Dirichlet principle, also known as the Dirichlet's principle of the pigeonhole principle, is a fundamental concept in mathematics that has numerous applications across various fields. The principle states that if you distribute more objects into fewer containers, at least one of the containers must contain more than one object. Here are a few applications of the Dirichlet principle:</a:t>
            </a:r>
          </a:p>
          <a:p>
            <a:pPr algn="l">
              <a:buFont typeface="+mj-lt"/>
              <a:buAutoNum type="arabicPeriod"/>
            </a:pPr>
            <a:r>
              <a:rPr lang="en-US" b="0" i="0" dirty="0">
                <a:solidFill>
                  <a:srgbClr val="374151"/>
                </a:solidFill>
                <a:effectLst/>
                <a:latin typeface="Söhne"/>
              </a:rPr>
              <a:t>Number theory: The Dirichlet principle is often used in number theory to prove the existence of prime numbers in certain arithmetic progressions. This is known as Dirichlet's theorem on arithmetic progressions, which states that for any two positive coprime integers a and d, there are infinitely many primes of the form a + </a:t>
            </a:r>
            <a:r>
              <a:rPr lang="en-US" b="0" i="0" dirty="0" err="1">
                <a:solidFill>
                  <a:srgbClr val="374151"/>
                </a:solidFill>
                <a:effectLst/>
                <a:latin typeface="Söhne"/>
              </a:rPr>
              <a:t>nd</a:t>
            </a:r>
            <a:r>
              <a:rPr lang="en-US" b="0" i="0" dirty="0">
                <a:solidFill>
                  <a:srgbClr val="374151"/>
                </a:solidFill>
                <a:effectLst/>
                <a:latin typeface="Söhne"/>
              </a:rPr>
              <a:t>, where n is a non-negative integer.</a:t>
            </a:r>
          </a:p>
          <a:p>
            <a:pPr algn="l">
              <a:buFont typeface="+mj-lt"/>
              <a:buAutoNum type="arabicPeriod"/>
            </a:pPr>
            <a:r>
              <a:rPr lang="en-US" b="0" i="0" dirty="0">
                <a:solidFill>
                  <a:srgbClr val="374151"/>
                </a:solidFill>
                <a:effectLst/>
                <a:latin typeface="Söhne"/>
              </a:rPr>
              <a:t>Combinatorics: In combinatorics, the Dirichlet principle is applied to prove various results related to counting and pigeonhole problems. It helps establish the existence of certain combinatorial structures, such as combinatorial designs, Latin squares, and Hamiltonian cycles.</a:t>
            </a:r>
          </a:p>
          <a:p>
            <a:pPr algn="l">
              <a:buFont typeface="+mj-lt"/>
              <a:buAutoNum type="arabicPeriod"/>
            </a:pPr>
            <a:r>
              <a:rPr lang="en-US" b="0" i="0" dirty="0">
                <a:solidFill>
                  <a:srgbClr val="374151"/>
                </a:solidFill>
                <a:effectLst/>
                <a:latin typeface="Söhne"/>
              </a:rPr>
              <a:t>Optimization: The Dirichlet principle finds applications in optimization problems. It is used to show the existence of optimal solutions or to prove properties of optimal solutions. For example, in calculus of variations, the principle is used to establish the existence of functions that minimize certain functionals.</a:t>
            </a:r>
          </a:p>
          <a:p>
            <a:pPr algn="l">
              <a:buFont typeface="+mj-lt"/>
              <a:buAutoNum type="arabicPeriod"/>
            </a:pPr>
            <a:r>
              <a:rPr lang="en-US" b="0" i="0" dirty="0">
                <a:solidFill>
                  <a:srgbClr val="374151"/>
                </a:solidFill>
                <a:effectLst/>
                <a:latin typeface="Söhne"/>
              </a:rPr>
              <a:t>Probability theory: The Dirichlet principle has applications in probability theory, especially in problems related to the pigeonhole principle. It is used to prove results like the existence of a pair of matching birthdays in a group of people, known as the birthday paradox.</a:t>
            </a:r>
          </a:p>
          <a:p>
            <a:pPr algn="l">
              <a:buFont typeface="+mj-lt"/>
              <a:buAutoNum type="arabicPeriod"/>
            </a:pPr>
            <a:r>
              <a:rPr lang="en-US" b="0" i="0" dirty="0">
                <a:solidFill>
                  <a:srgbClr val="374151"/>
                </a:solidFill>
                <a:effectLst/>
                <a:latin typeface="Söhne"/>
              </a:rPr>
              <a:t>Physics: In physics, the Dirichlet principle is employed to solve problems related to the equilibrium state of physical systems. For example, it can be used to determine the shape of a suspended chain or the electric potential distribution in a conductive material.</a:t>
            </a:r>
          </a:p>
        </p:txBody>
      </p:sp>
      <p:sp>
        <p:nvSpPr>
          <p:cNvPr id="4" name="Slide Number Placeholder 3"/>
          <p:cNvSpPr>
            <a:spLocks noGrp="1"/>
          </p:cNvSpPr>
          <p:nvPr>
            <p:ph type="sldNum" sz="quarter" idx="10"/>
          </p:nvPr>
        </p:nvSpPr>
        <p:spPr/>
        <p:txBody>
          <a:bodyPr/>
          <a:lstStyle/>
          <a:p>
            <a:fld id="{DD95EC57-C814-4592-A4AB-B8F918BE7C9B}" type="slidenum">
              <a:rPr lang="en-US" smtClean="0"/>
              <a:pPr/>
              <a:t>23</a:t>
            </a:fld>
            <a:endParaRPr lang="en-US"/>
          </a:p>
        </p:txBody>
      </p:sp>
    </p:spTree>
    <p:extLst>
      <p:ext uri="{BB962C8B-B14F-4D97-AF65-F5344CB8AC3E}">
        <p14:creationId xmlns:p14="http://schemas.microsoft.com/office/powerpoint/2010/main" val="18687250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a:bodyPr>
          <a:lstStyle/>
          <a:p>
            <a:pPr algn="l"/>
            <a:br>
              <a:rPr lang="en-US" b="0" i="0" dirty="0">
                <a:solidFill>
                  <a:srgbClr val="374151"/>
                </a:solidFill>
                <a:effectLst/>
                <a:latin typeface="Söhne"/>
              </a:rPr>
            </a:br>
            <a:r>
              <a:rPr lang="en-US" b="0" i="0" dirty="0">
                <a:solidFill>
                  <a:srgbClr val="374151"/>
                </a:solidFill>
                <a:effectLst/>
                <a:latin typeface="Söhne"/>
              </a:rPr>
              <a:t>The Dirichlet principle, also known as the Dirichlet's principle of the pigeonhole principle, is a fundamental concept in mathematics that has numerous applications across various fields. The principle states that if you distribute more objects into fewer containers, at least one of the containers must contain more than one object. Here are a few applications of the Dirichlet principle:</a:t>
            </a:r>
          </a:p>
          <a:p>
            <a:pPr algn="l">
              <a:buFont typeface="+mj-lt"/>
              <a:buAutoNum type="arabicPeriod"/>
            </a:pPr>
            <a:r>
              <a:rPr lang="en-US" b="0" i="0" dirty="0">
                <a:solidFill>
                  <a:srgbClr val="374151"/>
                </a:solidFill>
                <a:effectLst/>
                <a:latin typeface="Söhne"/>
              </a:rPr>
              <a:t>Number theory: The Dirichlet principle is often used in number theory to prove the existence of prime numbers in certain arithmetic progressions. This is known as Dirichlet's theorem on arithmetic progressions, which states that for any two positive coprime integers a and d, there are infinitely many primes of the form a + </a:t>
            </a:r>
            <a:r>
              <a:rPr lang="en-US" b="0" i="0" dirty="0" err="1">
                <a:solidFill>
                  <a:srgbClr val="374151"/>
                </a:solidFill>
                <a:effectLst/>
                <a:latin typeface="Söhne"/>
              </a:rPr>
              <a:t>nd</a:t>
            </a:r>
            <a:r>
              <a:rPr lang="en-US" b="0" i="0" dirty="0">
                <a:solidFill>
                  <a:srgbClr val="374151"/>
                </a:solidFill>
                <a:effectLst/>
                <a:latin typeface="Söhne"/>
              </a:rPr>
              <a:t>, where n is a non-negative integer.</a:t>
            </a:r>
          </a:p>
          <a:p>
            <a:pPr algn="l">
              <a:buFont typeface="+mj-lt"/>
              <a:buAutoNum type="arabicPeriod"/>
            </a:pPr>
            <a:r>
              <a:rPr lang="en-US" b="0" i="0" dirty="0">
                <a:solidFill>
                  <a:srgbClr val="374151"/>
                </a:solidFill>
                <a:effectLst/>
                <a:latin typeface="Söhne"/>
              </a:rPr>
              <a:t>Combinatorics: In combinatorics, the Dirichlet principle is applied to prove various results related to counting and pigeonhole problems. It helps establish the existence of certain combinatorial structures, such as combinatorial designs, Latin squares, and Hamiltonian cycles.</a:t>
            </a:r>
          </a:p>
          <a:p>
            <a:pPr algn="l">
              <a:buFont typeface="+mj-lt"/>
              <a:buAutoNum type="arabicPeriod"/>
            </a:pPr>
            <a:r>
              <a:rPr lang="en-US" b="0" i="0" dirty="0">
                <a:solidFill>
                  <a:srgbClr val="374151"/>
                </a:solidFill>
                <a:effectLst/>
                <a:latin typeface="Söhne"/>
              </a:rPr>
              <a:t>Optimization: The Dirichlet principle finds applications in optimization problems. It is used to show the existence of optimal solutions or to prove properties of optimal solutions. For example, in calculus of variations, the principle is used to establish the existence of functions that minimize certain functionals.</a:t>
            </a:r>
          </a:p>
          <a:p>
            <a:pPr algn="l">
              <a:buFont typeface="+mj-lt"/>
              <a:buAutoNum type="arabicPeriod"/>
            </a:pPr>
            <a:r>
              <a:rPr lang="en-US" b="0" i="0" dirty="0">
                <a:solidFill>
                  <a:srgbClr val="374151"/>
                </a:solidFill>
                <a:effectLst/>
                <a:latin typeface="Söhne"/>
              </a:rPr>
              <a:t>Probability theory: The Dirichlet principle has applications in probability theory, especially in problems related to the pigeonhole principle. It is used to prove results like the existence of a pair of matching birthdays in a group of people, known as the birthday paradox.</a:t>
            </a:r>
          </a:p>
          <a:p>
            <a:pPr algn="l">
              <a:buFont typeface="+mj-lt"/>
              <a:buAutoNum type="arabicPeriod"/>
            </a:pPr>
            <a:r>
              <a:rPr lang="en-US" b="0" i="0" dirty="0">
                <a:solidFill>
                  <a:srgbClr val="374151"/>
                </a:solidFill>
                <a:effectLst/>
                <a:latin typeface="Söhne"/>
              </a:rPr>
              <a:t>Physics: In physics, the Dirichlet principle is employed to solve problems related to the equilibrium state of physical systems. For example, it can be used to determine the shape of a suspended chain or the electric potential distribution in a conductive material.</a:t>
            </a:r>
          </a:p>
        </p:txBody>
      </p:sp>
      <p:sp>
        <p:nvSpPr>
          <p:cNvPr id="4" name="Slide Number Placeholder 3"/>
          <p:cNvSpPr>
            <a:spLocks noGrp="1"/>
          </p:cNvSpPr>
          <p:nvPr>
            <p:ph type="sldNum" sz="quarter" idx="10"/>
          </p:nvPr>
        </p:nvSpPr>
        <p:spPr/>
        <p:txBody>
          <a:bodyPr/>
          <a:lstStyle/>
          <a:p>
            <a:fld id="{DD95EC57-C814-4592-A4AB-B8F918BE7C9B}" type="slidenum">
              <a:rPr lang="en-US" smtClean="0"/>
              <a:pPr/>
              <a:t>24</a:t>
            </a:fld>
            <a:endParaRPr lang="en-US"/>
          </a:p>
        </p:txBody>
      </p:sp>
    </p:spTree>
    <p:extLst>
      <p:ext uri="{BB962C8B-B14F-4D97-AF65-F5344CB8AC3E}">
        <p14:creationId xmlns:p14="http://schemas.microsoft.com/office/powerpoint/2010/main" val="81025963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l"/>
            <a:endParaRPr lang="en-US" b="0" i="0" dirty="0">
              <a:solidFill>
                <a:srgbClr val="374151"/>
              </a:solidFill>
              <a:effectLst/>
              <a:latin typeface="Söhne"/>
            </a:endParaRPr>
          </a:p>
        </p:txBody>
      </p:sp>
      <p:sp>
        <p:nvSpPr>
          <p:cNvPr id="4" name="Slide Number Placeholder 3"/>
          <p:cNvSpPr>
            <a:spLocks noGrp="1"/>
          </p:cNvSpPr>
          <p:nvPr>
            <p:ph type="sldNum" sz="quarter" idx="10"/>
          </p:nvPr>
        </p:nvSpPr>
        <p:spPr/>
        <p:txBody>
          <a:bodyPr/>
          <a:lstStyle/>
          <a:p>
            <a:fld id="{DD95EC57-C814-4592-A4AB-B8F918BE7C9B}" type="slidenum">
              <a:rPr lang="en-US" smtClean="0"/>
              <a:pPr/>
              <a:t>25</a:t>
            </a:fld>
            <a:endParaRPr lang="en-US"/>
          </a:p>
        </p:txBody>
      </p:sp>
    </p:spTree>
    <p:extLst>
      <p:ext uri="{BB962C8B-B14F-4D97-AF65-F5344CB8AC3E}">
        <p14:creationId xmlns:p14="http://schemas.microsoft.com/office/powerpoint/2010/main" val="183686463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l"/>
            <a:endParaRPr lang="en-US" b="0" i="0" dirty="0">
              <a:solidFill>
                <a:srgbClr val="374151"/>
              </a:solidFill>
              <a:effectLst/>
              <a:latin typeface="Söhne"/>
            </a:endParaRPr>
          </a:p>
        </p:txBody>
      </p:sp>
      <p:sp>
        <p:nvSpPr>
          <p:cNvPr id="4" name="Slide Number Placeholder 3"/>
          <p:cNvSpPr>
            <a:spLocks noGrp="1"/>
          </p:cNvSpPr>
          <p:nvPr>
            <p:ph type="sldNum" sz="quarter" idx="10"/>
          </p:nvPr>
        </p:nvSpPr>
        <p:spPr/>
        <p:txBody>
          <a:bodyPr/>
          <a:lstStyle/>
          <a:p>
            <a:fld id="{DD95EC57-C814-4592-A4AB-B8F918BE7C9B}" type="slidenum">
              <a:rPr lang="en-US" smtClean="0"/>
              <a:pPr/>
              <a:t>26</a:t>
            </a:fld>
            <a:endParaRPr lang="en-US"/>
          </a:p>
        </p:txBody>
      </p:sp>
    </p:spTree>
    <p:extLst>
      <p:ext uri="{BB962C8B-B14F-4D97-AF65-F5344CB8AC3E}">
        <p14:creationId xmlns:p14="http://schemas.microsoft.com/office/powerpoint/2010/main" val="2196149327"/>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l"/>
            <a:endParaRPr lang="en-US" b="0" i="0" dirty="0">
              <a:solidFill>
                <a:srgbClr val="374151"/>
              </a:solidFill>
              <a:effectLst/>
              <a:latin typeface="Söhne"/>
            </a:endParaRPr>
          </a:p>
        </p:txBody>
      </p:sp>
      <p:sp>
        <p:nvSpPr>
          <p:cNvPr id="4" name="Slide Number Placeholder 3"/>
          <p:cNvSpPr>
            <a:spLocks noGrp="1"/>
          </p:cNvSpPr>
          <p:nvPr>
            <p:ph type="sldNum" sz="quarter" idx="10"/>
          </p:nvPr>
        </p:nvSpPr>
        <p:spPr/>
        <p:txBody>
          <a:bodyPr/>
          <a:lstStyle/>
          <a:p>
            <a:fld id="{DD95EC57-C814-4592-A4AB-B8F918BE7C9B}" type="slidenum">
              <a:rPr lang="en-US" smtClean="0"/>
              <a:pPr/>
              <a:t>27</a:t>
            </a:fld>
            <a:endParaRPr lang="en-US"/>
          </a:p>
        </p:txBody>
      </p:sp>
    </p:spTree>
    <p:extLst>
      <p:ext uri="{BB962C8B-B14F-4D97-AF65-F5344CB8AC3E}">
        <p14:creationId xmlns:p14="http://schemas.microsoft.com/office/powerpoint/2010/main" val="401294226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l"/>
            <a:endParaRPr lang="en-US" b="0" i="0" dirty="0">
              <a:solidFill>
                <a:srgbClr val="374151"/>
              </a:solidFill>
              <a:effectLst/>
              <a:latin typeface="Söhne"/>
            </a:endParaRPr>
          </a:p>
        </p:txBody>
      </p:sp>
      <p:sp>
        <p:nvSpPr>
          <p:cNvPr id="4" name="Slide Number Placeholder 3"/>
          <p:cNvSpPr>
            <a:spLocks noGrp="1"/>
          </p:cNvSpPr>
          <p:nvPr>
            <p:ph type="sldNum" sz="quarter" idx="10"/>
          </p:nvPr>
        </p:nvSpPr>
        <p:spPr/>
        <p:txBody>
          <a:bodyPr/>
          <a:lstStyle/>
          <a:p>
            <a:fld id="{DD95EC57-C814-4592-A4AB-B8F918BE7C9B}" type="slidenum">
              <a:rPr lang="en-US" smtClean="0"/>
              <a:pPr/>
              <a:t>28</a:t>
            </a:fld>
            <a:endParaRPr lang="en-US"/>
          </a:p>
        </p:txBody>
      </p:sp>
    </p:spTree>
    <p:extLst>
      <p:ext uri="{BB962C8B-B14F-4D97-AF65-F5344CB8AC3E}">
        <p14:creationId xmlns:p14="http://schemas.microsoft.com/office/powerpoint/2010/main" val="189893831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algn="l"/>
            <a:endParaRPr lang="en-US" b="0" i="0" dirty="0">
              <a:solidFill>
                <a:srgbClr val="374151"/>
              </a:solidFill>
              <a:effectLst/>
              <a:latin typeface="Söhne"/>
            </a:endParaRPr>
          </a:p>
        </p:txBody>
      </p:sp>
      <p:sp>
        <p:nvSpPr>
          <p:cNvPr id="4" name="Slide Number Placeholder 3"/>
          <p:cNvSpPr>
            <a:spLocks noGrp="1"/>
          </p:cNvSpPr>
          <p:nvPr>
            <p:ph type="sldNum" sz="quarter" idx="10"/>
          </p:nvPr>
        </p:nvSpPr>
        <p:spPr/>
        <p:txBody>
          <a:bodyPr/>
          <a:lstStyle/>
          <a:p>
            <a:fld id="{DD95EC57-C814-4592-A4AB-B8F918BE7C9B}" type="slidenum">
              <a:rPr lang="en-US" smtClean="0"/>
              <a:pPr/>
              <a:t>29</a:t>
            </a:fld>
            <a:endParaRPr lang="en-US"/>
          </a:p>
        </p:txBody>
      </p:sp>
    </p:spTree>
    <p:extLst>
      <p:ext uri="{BB962C8B-B14F-4D97-AF65-F5344CB8AC3E}">
        <p14:creationId xmlns:p14="http://schemas.microsoft.com/office/powerpoint/2010/main" val="282697475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DD95EC57-C814-4592-A4AB-B8F918BE7C9B}" type="slidenum">
              <a:rPr lang="en-US" smtClean="0"/>
              <a:pPr/>
              <a:t>30</a:t>
            </a:fld>
            <a:endParaRPr lang="en-US"/>
          </a:p>
        </p:txBody>
      </p:sp>
    </p:spTree>
    <p:extLst>
      <p:ext uri="{BB962C8B-B14F-4D97-AF65-F5344CB8AC3E}">
        <p14:creationId xmlns:p14="http://schemas.microsoft.com/office/powerpoint/2010/main" val="25158947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3AC21E6B-3A2F-473C-89AA-FC2BCE914454}" type="datetimeFigureOut">
              <a:rPr lang="en-US" smtClean="0"/>
              <a:pPr/>
              <a:t>7/11/2023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AC21E6B-3A2F-473C-89AA-FC2BCE914454}" type="datetimeFigureOut">
              <a:rPr lang="en-US" smtClean="0"/>
              <a:pPr/>
              <a:t>7/11/2023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AC21E6B-3A2F-473C-89AA-FC2BCE914454}" type="datetimeFigureOut">
              <a:rPr lang="en-US" smtClean="0"/>
              <a:pPr/>
              <a:t>7/11/2023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AC21E6B-3A2F-473C-89AA-FC2BCE914454}" type="datetimeFigureOut">
              <a:rPr lang="en-US" smtClean="0"/>
              <a:pPr/>
              <a:t>7/11/2023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3AC21E6B-3A2F-473C-89AA-FC2BCE914454}" type="datetimeFigureOut">
              <a:rPr lang="en-US" smtClean="0"/>
              <a:pPr/>
              <a:t>7/11/2023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3AC21E6B-3A2F-473C-89AA-FC2BCE914454}" type="datetimeFigureOut">
              <a:rPr lang="en-US" smtClean="0"/>
              <a:pPr/>
              <a:t>7/11/2023</a:t>
            </a:fld>
            <a:endParaRPr lang="en-US"/>
          </a:p>
        </p:txBody>
      </p:sp>
      <p:sp>
        <p:nvSpPr>
          <p:cNvPr id="4" name="Footer Placeholder 3"/>
          <p:cNvSpPr>
            <a:spLocks noGrp="1"/>
          </p:cNvSpPr>
          <p:nvPr>
            <p:ph type="ftr" sz="quarter" idx="11"/>
          </p:nvPr>
        </p:nvSpPr>
        <p:spPr/>
        <p:txBody>
          <a:bodyPr/>
          <a:lstStyle/>
          <a:p>
            <a:fld id="{E3CCC214-B8F5-409F-9C63-0C47CCF096B5}" type="slidenum">
              <a:rPr lang="en-US" smtClean="0"/>
              <a:pPr/>
              <a:t>‹#›</a:t>
            </a:fld>
            <a:endParaRPr lang="en-US" dirty="0"/>
          </a:p>
        </p:txBody>
      </p:sp>
      <p:sp>
        <p:nvSpPr>
          <p:cNvPr id="5" name="Slide Number Placeholder 4"/>
          <p:cNvSpPr>
            <a:spLocks noGrp="1"/>
          </p:cNvSpPr>
          <p:nvPr>
            <p:ph type="sldNum" sz="quarter" idx="12"/>
          </p:nvPr>
        </p:nvSpPr>
        <p:spPr/>
        <p:txBody>
          <a:bodyPr/>
          <a:lstStyle/>
          <a:p>
            <a:r>
              <a:rPr lang="en-US" dirty="0"/>
              <a:t>Footer</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AC21E6B-3A2F-473C-89AA-FC2BCE914454}" type="datetimeFigureOut">
              <a:rPr lang="en-US" smtClean="0"/>
              <a:pPr/>
              <a:t>7/11/2023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AC21E6B-3A2F-473C-89AA-FC2BCE914454}" type="datetimeFigureOut">
              <a:rPr lang="en-US" smtClean="0"/>
              <a:pPr/>
              <a:t>7/11/2023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AC21E6B-3A2F-473C-89AA-FC2BCE914454}" type="datetimeFigureOut">
              <a:rPr lang="en-US" smtClean="0"/>
              <a:pPr/>
              <a:t>7/11/2023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AC21E6B-3A2F-473C-89AA-FC2BCE914454}" type="datetimeFigureOut">
              <a:rPr lang="en-US" smtClean="0"/>
              <a:pPr/>
              <a:t>7/11/2023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AC21E6B-3A2F-473C-89AA-FC2BCE914454}" type="datetimeFigureOut">
              <a:rPr lang="en-US" smtClean="0"/>
              <a:pPr/>
              <a:t>7/11/2023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3CCC214-B8F5-409F-9C63-0C47CCF096B5}"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AC21E6B-3A2F-473C-89AA-FC2BCE914454}" type="datetimeFigureOut">
              <a:rPr lang="en-US" smtClean="0"/>
              <a:pPr/>
              <a:t>7/11/2023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fld id="{E3CCC214-B8F5-409F-9C63-0C47CCF096B5}" type="slidenum">
              <a:rPr lang="en-US" smtClean="0"/>
              <a:pPr/>
              <a:t>‹#›</a:t>
            </a:fld>
            <a:endParaRPr lang="en-US"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r>
              <a:rPr lang="en-US" dirty="0"/>
              <a:t>Footer</a:t>
            </a:r>
          </a:p>
        </p:txBody>
      </p:sp>
    </p:spTree>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3.bin"/><Relationship Id="rId13" Type="http://schemas.openxmlformats.org/officeDocument/2006/relationships/image" Target="../media/image10.wmf"/><Relationship Id="rId3" Type="http://schemas.openxmlformats.org/officeDocument/2006/relationships/image" Target="../media/image1.png"/><Relationship Id="rId7" Type="http://schemas.openxmlformats.org/officeDocument/2006/relationships/image" Target="../media/image7.wmf"/><Relationship Id="rId12" Type="http://schemas.openxmlformats.org/officeDocument/2006/relationships/oleObject" Target="../embeddings/oleObject5.bin"/><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oleObject" Target="../embeddings/oleObject2.bin"/><Relationship Id="rId11" Type="http://schemas.openxmlformats.org/officeDocument/2006/relationships/image" Target="../media/image9.wmf"/><Relationship Id="rId5" Type="http://schemas.openxmlformats.org/officeDocument/2006/relationships/image" Target="../media/image6.wmf"/><Relationship Id="rId10" Type="http://schemas.openxmlformats.org/officeDocument/2006/relationships/oleObject" Target="../embeddings/oleObject4.bin"/><Relationship Id="rId4" Type="http://schemas.openxmlformats.org/officeDocument/2006/relationships/oleObject" Target="../embeddings/oleObject1.bin"/><Relationship Id="rId9" Type="http://schemas.openxmlformats.org/officeDocument/2006/relationships/image" Target="../media/image8.wmf"/></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13.png"/></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8.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a:t>
            </a:r>
            <a:endParaRPr lang="en-US" dirty="0"/>
          </a:p>
        </p:txBody>
      </p:sp>
      <p:sp>
        <p:nvSpPr>
          <p:cNvPr id="13" name="Rectangle 4">
            <a:extLst>
              <a:ext uri="{FF2B5EF4-FFF2-40B4-BE49-F238E27FC236}">
                <a16:creationId xmlns:a16="http://schemas.microsoft.com/office/drawing/2014/main" id="{5FBB59F0-8E3C-4F5A-961F-C6A90C66C622}"/>
              </a:ext>
            </a:extLst>
          </p:cNvPr>
          <p:cNvSpPr>
            <a:spLocks noChangeArrowheads="1"/>
          </p:cNvSpPr>
          <p:nvPr/>
        </p:nvSpPr>
        <p:spPr bwMode="auto">
          <a:xfrm>
            <a:off x="392113" y="1500188"/>
            <a:ext cx="8359775" cy="2071687"/>
          </a:xfrm>
          <a:prstGeom prst="rect">
            <a:avLst/>
          </a:prstGeom>
          <a:solidFill>
            <a:srgbClr val="0066FF"/>
          </a:solidFill>
          <a:ln w="9525">
            <a:noFill/>
            <a:miter lim="800000"/>
            <a:headEnd/>
            <a:tailEnd/>
          </a:ln>
          <a:effectLst>
            <a:outerShdw blurRad="50800" dist="50800" dir="5400000" algn="ctr" rotWithShape="0">
              <a:schemeClr val="accent2"/>
            </a:outerShdw>
          </a:effectLst>
        </p:spPr>
        <p:txBody>
          <a:bodyPr anchor="ctr"/>
          <a:lstStyle/>
          <a:p>
            <a:pPr algn="ctr" eaLnBrk="0" hangingPunct="0">
              <a:lnSpc>
                <a:spcPct val="150000"/>
              </a:lnSpc>
              <a:defRPr/>
            </a:pPr>
            <a:r>
              <a:rPr lang="en-US" sz="2200" b="1" dirty="0">
                <a:solidFill>
                  <a:schemeClr val="bg1"/>
                </a:solidFill>
                <a:effectLst/>
                <a:latin typeface="Times New Roman" panose="02020603050405020304" pitchFamily="18" charset="0"/>
                <a:ea typeface="Times New Roman" panose="02020603050405020304" pitchFamily="18" charset="0"/>
              </a:rPr>
              <a:t>DISCRETE MATHEMATICS</a:t>
            </a:r>
          </a:p>
          <a:p>
            <a:pPr algn="ctr" eaLnBrk="0" hangingPunct="0">
              <a:lnSpc>
                <a:spcPct val="150000"/>
              </a:lnSpc>
              <a:defRPr/>
            </a:pPr>
            <a:r>
              <a:rPr lang="en-US" altLang="ko-KR" sz="2200" b="1" dirty="0">
                <a:solidFill>
                  <a:schemeClr val="bg1"/>
                </a:solidFill>
                <a:latin typeface="Times New Roman" panose="02020603050405020304" pitchFamily="18" charset="0"/>
                <a:ea typeface="HY견고딕" pitchFamily="18" charset="-127"/>
                <a:cs typeface="Times New Roman" pitchFamily="18" charset="0"/>
              </a:rPr>
              <a:t>Chapter 3:</a:t>
            </a:r>
          </a:p>
          <a:p>
            <a:pPr algn="ctr" eaLnBrk="0" hangingPunct="0">
              <a:lnSpc>
                <a:spcPct val="150000"/>
              </a:lnSpc>
              <a:defRPr/>
            </a:pPr>
            <a:r>
              <a:rPr lang="en-US" altLang="ko-KR" sz="2200" b="1" dirty="0">
                <a:solidFill>
                  <a:schemeClr val="bg1"/>
                </a:solidFill>
                <a:latin typeface="Times New Roman" panose="02020603050405020304" pitchFamily="18" charset="0"/>
                <a:ea typeface="HY견고딕" pitchFamily="18" charset="-127"/>
                <a:cs typeface="Times New Roman" pitchFamily="18" charset="0"/>
              </a:rPr>
              <a:t>COUNTING THEORY</a:t>
            </a:r>
            <a:endParaRPr lang="en-US" altLang="ko-KR" sz="2200" b="1" dirty="0">
              <a:solidFill>
                <a:schemeClr val="bg1"/>
              </a:solidFill>
              <a:effectLst>
                <a:outerShdw blurRad="38100" dist="38100" dir="2700000" algn="tl">
                  <a:srgbClr val="000000"/>
                </a:outerShdw>
              </a:effectLst>
              <a:latin typeface="Times New Roman" pitchFamily="18" charset="0"/>
              <a:ea typeface="HY견고딕" pitchFamily="18" charset="-127"/>
              <a:cs typeface="Times New Roman" pitchFamily="18" charset="0"/>
            </a:endParaRPr>
          </a:p>
        </p:txBody>
      </p:sp>
      <p:sp>
        <p:nvSpPr>
          <p:cNvPr id="17" name="Rectangle 5">
            <a:extLst>
              <a:ext uri="{FF2B5EF4-FFF2-40B4-BE49-F238E27FC236}">
                <a16:creationId xmlns:a16="http://schemas.microsoft.com/office/drawing/2014/main" id="{FD5832E7-EF07-450C-B1CF-432F81602748}"/>
              </a:ext>
            </a:extLst>
          </p:cNvPr>
          <p:cNvSpPr>
            <a:spLocks noGrp="1" noChangeArrowheads="1"/>
          </p:cNvSpPr>
          <p:nvPr>
            <p:ph type="subTitle" idx="1"/>
          </p:nvPr>
        </p:nvSpPr>
        <p:spPr bwMode="auto">
          <a:xfrm>
            <a:off x="1371600" y="3886200"/>
            <a:ext cx="6400800" cy="17851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algn="ctr" eaLnBrk="1" hangingPunct="1">
              <a:spcBef>
                <a:spcPct val="50000"/>
              </a:spcBef>
            </a:pPr>
            <a:r>
              <a:rPr lang="en-US" altLang="ko-KR" sz="2000" dirty="0">
                <a:latin typeface="Times New Roman" panose="02020603050405020304" pitchFamily="18" charset="0"/>
                <a:ea typeface="HY견고딕" panose="02020500000000000000" pitchFamily="18" charset="-127"/>
                <a:cs typeface="Times New Roman" panose="02020603050405020304" pitchFamily="18" charset="0"/>
              </a:rPr>
              <a:t>Presenter: Ph.D. </a:t>
            </a:r>
            <a:r>
              <a:rPr lang="en-US" altLang="ko-KR" sz="2000" b="1" dirty="0">
                <a:latin typeface="Times New Roman" panose="02020603050405020304" pitchFamily="18" charset="0"/>
                <a:ea typeface="HY견고딕" panose="02020500000000000000" pitchFamily="18" charset="-127"/>
                <a:cs typeface="Times New Roman" panose="02020603050405020304" pitchFamily="18" charset="0"/>
              </a:rPr>
              <a:t>Phu-Nguyen Le</a:t>
            </a:r>
          </a:p>
          <a:p>
            <a:pPr algn="ctr" eaLnBrk="1" hangingPunct="1">
              <a:spcBef>
                <a:spcPct val="50000"/>
              </a:spcBef>
            </a:pPr>
            <a:endParaRPr lang="en-US" altLang="ko-KR" sz="2000" dirty="0">
              <a:latin typeface="Times New Roman" panose="02020603050405020304" pitchFamily="18" charset="0"/>
              <a:ea typeface="HY견고딕" panose="02020500000000000000" pitchFamily="18" charset="-127"/>
              <a:cs typeface="Times New Roman" panose="02020603050405020304" pitchFamily="18" charset="0"/>
            </a:endParaRPr>
          </a:p>
          <a:p>
            <a:pPr algn="ctr" eaLnBrk="1" hangingPunct="1">
              <a:spcBef>
                <a:spcPct val="50000"/>
              </a:spcBef>
            </a:pPr>
            <a:endParaRPr lang="en-US" altLang="ko-KR" sz="2000" dirty="0">
              <a:latin typeface="Times New Roman" panose="02020603050405020304" pitchFamily="18" charset="0"/>
              <a:ea typeface="HY견고딕" panose="02020500000000000000" pitchFamily="18" charset="-127"/>
              <a:cs typeface="Times New Roman" panose="02020603050405020304" pitchFamily="18" charset="0"/>
            </a:endParaRPr>
          </a:p>
          <a:p>
            <a:pPr algn="ctr" eaLnBrk="1" hangingPunct="1">
              <a:spcBef>
                <a:spcPct val="50000"/>
              </a:spcBef>
            </a:pPr>
            <a:r>
              <a:rPr lang="en-US" altLang="ko-KR" sz="2000" dirty="0">
                <a:latin typeface="Times New Roman" panose="02020603050405020304" pitchFamily="18" charset="0"/>
                <a:ea typeface="HY견고딕" panose="02020500000000000000" pitchFamily="18" charset="-127"/>
                <a:cs typeface="Times New Roman" panose="02020603050405020304" pitchFamily="18" charset="0"/>
              </a:rPr>
              <a:t>June 7th, 2023</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41783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Chapter 3</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528851" y="637643"/>
            <a:ext cx="7772400" cy="5266250"/>
          </a:xfrm>
          <a:prstGeom prst="rect">
            <a:avLst/>
          </a:prstGeom>
          <a:noFill/>
          <a:ln w="9525">
            <a:noFill/>
            <a:miter lim="800000"/>
            <a:headEnd/>
            <a:tailEnd/>
          </a:ln>
        </p:spPr>
        <p:txBody>
          <a:bodyPr wrap="square">
            <a:spAutoFit/>
          </a:bodyPr>
          <a:lstStyle/>
          <a:p>
            <a:pPr algn="just">
              <a:lnSpc>
                <a:spcPct val="200000"/>
              </a:lnSpc>
              <a:defRPr/>
            </a:pPr>
            <a:r>
              <a:rPr lang="en-US" sz="1900" b="1" dirty="0">
                <a:solidFill>
                  <a:schemeClr val="tx2"/>
                </a:solidFill>
                <a:latin typeface="Times New Roman" pitchFamily="18" charset="0"/>
                <a:cs typeface="Times New Roman" pitchFamily="18" charset="0"/>
              </a:rPr>
              <a:t>3.1. THE FUNDAMENTAL OF COUNTING. </a:t>
            </a:r>
          </a:p>
          <a:p>
            <a:pPr algn="just">
              <a:lnSpc>
                <a:spcPct val="200000"/>
              </a:lnSpc>
              <a:defRPr/>
            </a:pPr>
            <a:r>
              <a:rPr lang="en-US" sz="1900" b="1" dirty="0">
                <a:solidFill>
                  <a:schemeClr val="tx2"/>
                </a:solidFill>
                <a:latin typeface="Times New Roman" pitchFamily="18" charset="0"/>
                <a:cs typeface="Times New Roman" pitchFamily="18" charset="0"/>
              </a:rPr>
              <a:t>	3.1.1. Basic principles. </a:t>
            </a:r>
          </a:p>
          <a:p>
            <a:pPr algn="just">
              <a:lnSpc>
                <a:spcPct val="200000"/>
              </a:lnSpc>
              <a:defRPr/>
            </a:pPr>
            <a:r>
              <a:rPr lang="en-US" sz="1900" b="1" dirty="0">
                <a:solidFill>
                  <a:schemeClr val="tx2"/>
                </a:solidFill>
                <a:latin typeface="Times New Roman" pitchFamily="18" charset="0"/>
                <a:cs typeface="Times New Roman" pitchFamily="18" charset="0"/>
              </a:rPr>
              <a:t>	3.1.2. Compensation principle. </a:t>
            </a:r>
          </a:p>
          <a:p>
            <a:pPr algn="just">
              <a:lnSpc>
                <a:spcPct val="200000"/>
              </a:lnSpc>
              <a:defRPr/>
            </a:pPr>
            <a:r>
              <a:rPr lang="en-US" sz="1900" b="1" dirty="0">
                <a:solidFill>
                  <a:schemeClr val="tx2"/>
                </a:solidFill>
                <a:latin typeface="Times New Roman" pitchFamily="18" charset="0"/>
                <a:cs typeface="Times New Roman" pitchFamily="18" charset="0"/>
              </a:rPr>
              <a:t>	3.1.3 Combinations and Permutations. </a:t>
            </a:r>
            <a:endParaRPr lang="en-US" altLang="ko-KR" sz="1900" b="1" dirty="0">
              <a:solidFill>
                <a:schemeClr val="tx2"/>
              </a:solidFill>
              <a:latin typeface="Times New Roman" pitchFamily="18" charset="0"/>
              <a:cs typeface="Times New Roman" pitchFamily="18" charset="0"/>
            </a:endParaRPr>
          </a:p>
          <a:p>
            <a:pPr algn="just">
              <a:lnSpc>
                <a:spcPct val="200000"/>
              </a:lnSpc>
              <a:defRPr/>
            </a:pPr>
            <a:endParaRPr lang="en-US" sz="1900" b="1" dirty="0">
              <a:solidFill>
                <a:schemeClr val="tx2"/>
              </a:solidFill>
              <a:latin typeface="Times New Roman" pitchFamily="18" charset="0"/>
              <a:cs typeface="Times New Roman" pitchFamily="18" charset="0"/>
            </a:endParaRPr>
          </a:p>
          <a:p>
            <a:pPr algn="just">
              <a:lnSpc>
                <a:spcPct val="200000"/>
              </a:lnSpc>
              <a:defRPr/>
            </a:pPr>
            <a:r>
              <a:rPr lang="en-US" sz="1900" b="1" dirty="0">
                <a:solidFill>
                  <a:schemeClr val="tx2"/>
                </a:solidFill>
                <a:latin typeface="Times New Roman" pitchFamily="18" charset="0"/>
                <a:cs typeface="Times New Roman" pitchFamily="18" charset="0"/>
              </a:rPr>
              <a:t>3.2. THE PIGEONHOLE PRINCIPLE. </a:t>
            </a:r>
          </a:p>
          <a:p>
            <a:pPr algn="just">
              <a:lnSpc>
                <a:spcPct val="200000"/>
              </a:lnSpc>
              <a:defRPr/>
            </a:pPr>
            <a:r>
              <a:rPr lang="en-US" sz="1900" b="1" dirty="0">
                <a:solidFill>
                  <a:schemeClr val="tx2"/>
                </a:solidFill>
                <a:latin typeface="Times New Roman" pitchFamily="18" charset="0"/>
                <a:cs typeface="Times New Roman" pitchFamily="18" charset="0"/>
              </a:rPr>
              <a:t>	3.2.1 Introduction. </a:t>
            </a:r>
          </a:p>
          <a:p>
            <a:pPr algn="just">
              <a:lnSpc>
                <a:spcPct val="200000"/>
              </a:lnSpc>
              <a:defRPr/>
            </a:pPr>
            <a:r>
              <a:rPr lang="en-US" sz="1900" b="1" dirty="0">
                <a:solidFill>
                  <a:schemeClr val="tx2"/>
                </a:solidFill>
                <a:latin typeface="Times New Roman" pitchFamily="18" charset="0"/>
                <a:cs typeface="Times New Roman" pitchFamily="18" charset="0"/>
              </a:rPr>
              <a:t>	3.2.2. The Dirichlet Principle. .</a:t>
            </a:r>
          </a:p>
          <a:p>
            <a:pPr algn="just">
              <a:lnSpc>
                <a:spcPct val="200000"/>
              </a:lnSpc>
              <a:defRPr/>
            </a:pPr>
            <a:r>
              <a:rPr lang="en-US" sz="1900" b="1" dirty="0">
                <a:solidFill>
                  <a:schemeClr val="tx2"/>
                </a:solidFill>
                <a:latin typeface="Times New Roman" pitchFamily="18" charset="0"/>
                <a:cs typeface="Times New Roman" pitchFamily="18" charset="0"/>
              </a:rPr>
              <a:t>	3.2.3. Application.</a:t>
            </a:r>
          </a:p>
        </p:txBody>
      </p:sp>
    </p:spTree>
    <p:extLst>
      <p:ext uri="{BB962C8B-B14F-4D97-AF65-F5344CB8AC3E}">
        <p14:creationId xmlns:p14="http://schemas.microsoft.com/office/powerpoint/2010/main" val="3181989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3</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7073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3.1. THE FUNDAMENTAL OF COUNTING</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88899" y="803195"/>
            <a:ext cx="8988425" cy="4191981"/>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altLang="ko-KR" dirty="0"/>
              <a:t>3.1.1 </a:t>
            </a:r>
            <a:r>
              <a:rPr lang="en-US" sz="2000" b="1" dirty="0">
                <a:solidFill>
                  <a:schemeClr val="tx2"/>
                </a:solidFill>
                <a:latin typeface="Times New Roman" pitchFamily="18" charset="0"/>
                <a:cs typeface="Times New Roman" pitchFamily="18" charset="0"/>
              </a:rPr>
              <a:t>Basic principles</a:t>
            </a:r>
            <a:r>
              <a:rPr lang="en-US" altLang="ko-KR" dirty="0"/>
              <a:t>.</a:t>
            </a:r>
          </a:p>
          <a:p>
            <a:pPr marL="342900" indent="-342900">
              <a:buFont typeface="Arial" panose="020B0604020202020204" pitchFamily="34" charset="0"/>
              <a:buChar char="•"/>
            </a:pPr>
            <a:r>
              <a:rPr lang="en-US" altLang="ko-KR" b="0" dirty="0"/>
              <a:t>A person goes from Ho Chi Minh City to Hanoi, there are 3 ways:</a:t>
            </a:r>
          </a:p>
          <a:p>
            <a:r>
              <a:rPr lang="en-US" altLang="ko-KR" b="0" dirty="0"/>
              <a:t>	By train: there are 3 ways (S train, E train or SE train)</a:t>
            </a:r>
          </a:p>
          <a:p>
            <a:r>
              <a:rPr lang="en-US" altLang="ko-KR" b="0" dirty="0"/>
              <a:t>	By plane: there are 2 ways (VN Airlines or Pacific Airlines)	</a:t>
            </a:r>
          </a:p>
          <a:p>
            <a:r>
              <a:rPr lang="en-US" altLang="ko-KR" b="0" dirty="0"/>
              <a:t>	By car: there are 2 ways (rent a car or take a bus).</a:t>
            </a:r>
          </a:p>
          <a:p>
            <a:r>
              <a:rPr lang="en-US" altLang="ko-KR" dirty="0"/>
              <a:t>	How many ways are there in total from HCMC to Hanoi?</a:t>
            </a:r>
          </a:p>
          <a:p>
            <a:pPr marL="342900" indent="-342900">
              <a:buFont typeface="Arial" panose="020B0604020202020204" pitchFamily="34" charset="0"/>
              <a:buChar char="•"/>
            </a:pPr>
            <a:r>
              <a:rPr lang="en-US" altLang="ko-KR" b="0" dirty="0"/>
              <a:t>A has 3 long sleeves and 5 short sleeves.</a:t>
            </a:r>
          </a:p>
          <a:p>
            <a:r>
              <a:rPr lang="en-US" altLang="ko-KR" dirty="0"/>
              <a:t>How many ways does A have to choose a shirt?</a:t>
            </a:r>
          </a:p>
          <a:p>
            <a:endParaRPr lang="en-US" altLang="ko-KR" dirty="0"/>
          </a:p>
        </p:txBody>
      </p:sp>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6774157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4</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7073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3.1. THE FUNDAMENTAL OF COUNTING</a:t>
            </a:r>
          </a:p>
        </p:txBody>
      </p:sp>
      <mc:AlternateContent xmlns:mc="http://schemas.openxmlformats.org/markup-compatibility/2006" xmlns:a14="http://schemas.microsoft.com/office/drawing/2010/main">
        <mc:Choice Requires="a14">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88899" y="803195"/>
                <a:ext cx="8988425" cy="5115311"/>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altLang="ko-KR" dirty="0"/>
                  <a:t>3.1.1 </a:t>
                </a:r>
                <a:r>
                  <a:rPr lang="en-US" sz="2000" b="1" dirty="0">
                    <a:solidFill>
                      <a:schemeClr val="tx2"/>
                    </a:solidFill>
                    <a:latin typeface="Times New Roman" pitchFamily="18" charset="0"/>
                    <a:cs typeface="Times New Roman" pitchFamily="18" charset="0"/>
                  </a:rPr>
                  <a:t>Basic principles</a:t>
                </a:r>
                <a:r>
                  <a:rPr lang="en-US" altLang="ko-KR" dirty="0"/>
                  <a:t>.</a:t>
                </a:r>
              </a:p>
              <a:p>
                <a:pPr marL="342900" indent="-342900">
                  <a:buFont typeface="Arial" panose="020B0604020202020204" pitchFamily="34" charset="0"/>
                  <a:buChar char="•"/>
                </a:pPr>
                <a:r>
                  <a:rPr lang="en-US" altLang="ko-KR" dirty="0"/>
                  <a:t>Additive principle:</a:t>
                </a:r>
              </a:p>
              <a:p>
                <a:r>
                  <a:rPr lang="en-US" b="0" dirty="0"/>
                  <a:t>The additive principle states that if event </a:t>
                </a:r>
                <a:r>
                  <a:rPr lang="en-US" b="0" i="1" dirty="0"/>
                  <a:t>A</a:t>
                </a:r>
                <a:r>
                  <a:rPr lang="en-US" b="0" dirty="0"/>
                  <a:t> can occur in </a:t>
                </a:r>
                <a:r>
                  <a:rPr lang="en-US" b="0" i="1" dirty="0"/>
                  <a:t>m</a:t>
                </a:r>
                <a:r>
                  <a:rPr lang="en-US" b="0" dirty="0"/>
                  <a:t> ways, and event B can occur in </a:t>
                </a:r>
                <a:r>
                  <a:rPr lang="en-US" b="0" i="1" dirty="0"/>
                  <a:t>n</a:t>
                </a:r>
                <a:r>
                  <a:rPr lang="en-US" b="0" dirty="0"/>
                  <a:t> disjoint ways, then the event “</a:t>
                </a:r>
                <a:r>
                  <a:rPr lang="en-US" b="0" i="1" dirty="0"/>
                  <a:t>A</a:t>
                </a:r>
                <a:r>
                  <a:rPr lang="en-US" b="0" dirty="0"/>
                  <a:t> or </a:t>
                </a:r>
                <a:r>
                  <a:rPr lang="en-US" b="0" i="1" dirty="0"/>
                  <a:t>B</a:t>
                </a:r>
                <a:r>
                  <a:rPr lang="en-US" b="0" dirty="0"/>
                  <a:t>” can occur in </a:t>
                </a:r>
                <a14:m>
                  <m:oMath xmlns:m="http://schemas.openxmlformats.org/officeDocument/2006/math">
                    <m:r>
                      <a:rPr lang="en-US" b="0" i="1" dirty="0" smtClean="0">
                        <a:latin typeface="Cambria Math" panose="02040503050406030204" pitchFamily="18" charset="0"/>
                      </a:rPr>
                      <m:t>𝑚</m:t>
                    </m:r>
                    <m:r>
                      <a:rPr lang="en-US" b="0" i="1" dirty="0" smtClean="0">
                        <a:latin typeface="Cambria Math" panose="02040503050406030204" pitchFamily="18" charset="0"/>
                      </a:rPr>
                      <m:t>+</m:t>
                    </m:r>
                    <m:r>
                      <a:rPr lang="en-US" b="0" i="1" dirty="0" smtClean="0">
                        <a:latin typeface="Cambria Math" panose="02040503050406030204" pitchFamily="18" charset="0"/>
                      </a:rPr>
                      <m:t>𝑛</m:t>
                    </m:r>
                  </m:oMath>
                </a14:m>
                <a:r>
                  <a:rPr lang="en-US" b="0" dirty="0"/>
                  <a:t> ways.</a:t>
                </a:r>
                <a:endParaRPr lang="en-US" altLang="ko-KR" b="0" dirty="0"/>
              </a:p>
              <a:p>
                <a:pPr marL="342900" indent="-342900">
                  <a:buFont typeface="Arial" panose="020B0604020202020204" pitchFamily="34" charset="0"/>
                  <a:buChar char="•"/>
                </a:pPr>
                <a:r>
                  <a:rPr lang="en-US" altLang="ko-KR" dirty="0"/>
                  <a:t>NOTE:</a:t>
                </a:r>
              </a:p>
              <a:p>
                <a:pPr marL="342900" indent="-342900">
                  <a:buFont typeface="Arial" panose="020B0604020202020204" pitchFamily="34" charset="0"/>
                  <a:buChar char="•"/>
                </a:pPr>
                <a:r>
                  <a:rPr lang="en-US" b="0" dirty="0"/>
                  <a:t>It is important that the events be disjoint: i.e., that there is no way for A and B to both happen at the same time. </a:t>
                </a:r>
              </a:p>
              <a:p>
                <a:pPr marL="342900" indent="-342900">
                  <a:buFont typeface="Arial" panose="020B0604020202020204" pitchFamily="34" charset="0"/>
                  <a:buChar char="•"/>
                </a:pPr>
                <a:r>
                  <a:rPr lang="en-US" b="0" dirty="0"/>
                  <a:t>For example, a standard deck of 52 cards contains 26 red cards and 12 face cards. However, the number of ways to select a card which is either red or a face card is not 26+12=38. This is because there are 6 cards which are both red and face cards.</a:t>
                </a:r>
                <a:endParaRPr lang="en-US" altLang="ko-KR" b="0" dirty="0"/>
              </a:p>
              <a:p>
                <a:endParaRPr lang="en-US" altLang="ko-KR" dirty="0"/>
              </a:p>
            </p:txBody>
          </p:sp>
        </mc:Choice>
        <mc:Fallback xmlns="">
          <p:sp>
            <p:nvSpPr>
              <p:cNvPr id="14" name="TextBox 8">
                <a:extLst>
                  <a:ext uri="{FF2B5EF4-FFF2-40B4-BE49-F238E27FC236}">
                    <a16:creationId xmlns:a16="http://schemas.microsoft.com/office/drawing/2014/main" id="{5E0E49AF-A33A-4CE4-9269-AA7280AB1AAC}"/>
                  </a:ext>
                </a:extLst>
              </p:cNvPr>
              <p:cNvSpPr txBox="1">
                <a:spLocks noRot="1" noChangeAspect="1" noMove="1" noResize="1" noEditPoints="1" noAdjustHandles="1" noChangeArrowheads="1" noChangeShapeType="1" noTextEdit="1"/>
              </p:cNvSpPr>
              <p:nvPr/>
            </p:nvSpPr>
            <p:spPr bwMode="auto">
              <a:xfrm>
                <a:off x="88899" y="803195"/>
                <a:ext cx="8988425" cy="5115311"/>
              </a:xfrm>
              <a:prstGeom prst="rect">
                <a:avLst/>
              </a:prstGeom>
              <a:blipFill>
                <a:blip r:embed="rId4"/>
                <a:stretch>
                  <a:fillRect l="-746" r="-678"/>
                </a:stretch>
              </a:blipFill>
              <a:ln w="9525">
                <a:noFill/>
                <a:miter lim="800000"/>
                <a:headEnd/>
                <a:tailEnd/>
              </a:ln>
            </p:spPr>
            <p:txBody>
              <a:bodyPr/>
              <a:lstStyle/>
              <a:p>
                <a:r>
                  <a:rPr lang="en-US">
                    <a:noFill/>
                  </a:rPr>
                  <a:t> </a:t>
                </a:r>
              </a:p>
            </p:txBody>
          </p:sp>
        </mc:Fallback>
      </mc:AlternateContent>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106387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5</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7073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3.1. THE FUNDAMENTAL OF COUNTING</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88899" y="803195"/>
            <a:ext cx="8988425" cy="4191981"/>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altLang="ko-KR" dirty="0"/>
              <a:t>3.1.1 </a:t>
            </a:r>
            <a:r>
              <a:rPr lang="en-US" sz="2000" b="1" dirty="0">
                <a:solidFill>
                  <a:schemeClr val="tx2"/>
                </a:solidFill>
                <a:latin typeface="Times New Roman" pitchFamily="18" charset="0"/>
                <a:cs typeface="Times New Roman" pitchFamily="18" charset="0"/>
              </a:rPr>
              <a:t>Basic principles</a:t>
            </a:r>
            <a:r>
              <a:rPr lang="en-US" altLang="ko-KR" dirty="0"/>
              <a:t>.</a:t>
            </a:r>
          </a:p>
          <a:p>
            <a:pPr marL="342900" indent="-342900">
              <a:buFont typeface="Arial" panose="020B0604020202020204" pitchFamily="34" charset="0"/>
              <a:buChar char="•"/>
            </a:pPr>
            <a:r>
              <a:rPr lang="en-US" dirty="0"/>
              <a:t>Multiplicative</a:t>
            </a:r>
            <a:r>
              <a:rPr lang="en-US" altLang="ko-KR" dirty="0"/>
              <a:t> principle:</a:t>
            </a:r>
            <a:endParaRPr lang="en-US" dirty="0"/>
          </a:p>
          <a:p>
            <a:r>
              <a:rPr lang="en-US" b="0" dirty="0"/>
              <a:t>How many two letter words start with one of the 5 vowels?</a:t>
            </a:r>
          </a:p>
          <a:p>
            <a:endParaRPr lang="en-US" b="0" dirty="0"/>
          </a:p>
          <a:p>
            <a:r>
              <a:rPr lang="en-US" b="0" dirty="0"/>
              <a:t>There are 26 two letter words starting with A, another 26 starting with E, and so on. We will have 5 groups of 26. So we add 26 to itself 5 times. Of course it would be easier to just multiply 5⋅26. We are really using the additive principle again, just using multiplication as a shortcut.</a:t>
            </a:r>
          </a:p>
          <a:p>
            <a:endParaRPr lang="en-US" altLang="ko-KR" dirty="0"/>
          </a:p>
        </p:txBody>
      </p:sp>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59468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6</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7073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3.1. THE FUNDAMENTAL OF COUNTING</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88899" y="803195"/>
            <a:ext cx="8988425" cy="5115311"/>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altLang="ko-KR" dirty="0"/>
              <a:t>3.1.1 </a:t>
            </a:r>
            <a:r>
              <a:rPr lang="en-US" sz="2000" b="1" dirty="0">
                <a:solidFill>
                  <a:schemeClr val="tx2"/>
                </a:solidFill>
                <a:latin typeface="Times New Roman" pitchFamily="18" charset="0"/>
                <a:cs typeface="Times New Roman" pitchFamily="18" charset="0"/>
              </a:rPr>
              <a:t>Basic principles</a:t>
            </a:r>
            <a:r>
              <a:rPr lang="en-US" altLang="ko-KR" dirty="0"/>
              <a:t>.</a:t>
            </a:r>
          </a:p>
          <a:p>
            <a:pPr marL="342900" indent="-342900">
              <a:buFont typeface="Arial" panose="020B0604020202020204" pitchFamily="34" charset="0"/>
              <a:buChar char="•"/>
            </a:pPr>
            <a:r>
              <a:rPr lang="en-US" dirty="0"/>
              <a:t>Multiplicative</a:t>
            </a:r>
            <a:r>
              <a:rPr lang="en-US" altLang="ko-KR" dirty="0"/>
              <a:t> principle:</a:t>
            </a:r>
            <a:endParaRPr lang="en-US" dirty="0"/>
          </a:p>
          <a:p>
            <a:pPr algn="l"/>
            <a:r>
              <a:rPr lang="en-US" b="1" i="0" dirty="0">
                <a:solidFill>
                  <a:srgbClr val="000000"/>
                </a:solidFill>
                <a:effectLst/>
                <a:latin typeface="PT Serif" panose="020A0603040505020204" pitchFamily="18" charset="0"/>
              </a:rPr>
              <a:t> </a:t>
            </a:r>
          </a:p>
          <a:p>
            <a:pPr algn="l"/>
            <a:r>
              <a:rPr lang="en-US" b="0" dirty="0"/>
              <a:t>Suppose you are going for some fro-yo. You can pick one of 6 yogurt choices, and one of 4 toppings. How many choices do you have?</a:t>
            </a:r>
          </a:p>
          <a:p>
            <a:endParaRPr lang="en-US" b="0" dirty="0"/>
          </a:p>
          <a:p>
            <a:r>
              <a:rPr lang="en-US" b="0" dirty="0"/>
              <a:t>There are 26 two letter words starting with A, another 26 starting with E, and so on. We will have 5 groups of 26. So we add 26 to itself 5 times. Of course it would be easier to just multiply 5⋅26. We are really using the additive principle again, just using multiplication as a shortcut.</a:t>
            </a:r>
          </a:p>
          <a:p>
            <a:endParaRPr lang="en-US" altLang="ko-KR" dirty="0"/>
          </a:p>
        </p:txBody>
      </p:sp>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443944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7</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7073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3.1. THE FUNDAMENTAL OF COUNTING</a:t>
            </a:r>
          </a:p>
        </p:txBody>
      </p:sp>
      <mc:AlternateContent xmlns:mc="http://schemas.openxmlformats.org/markup-compatibility/2006" xmlns:a14="http://schemas.microsoft.com/office/drawing/2010/main">
        <mc:Choice Requires="a14">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88899" y="803195"/>
                <a:ext cx="8988425" cy="3268652"/>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altLang="ko-KR" dirty="0"/>
                  <a:t>3.1.1 </a:t>
                </a:r>
                <a:r>
                  <a:rPr lang="en-US" sz="2000" b="1" dirty="0">
                    <a:solidFill>
                      <a:schemeClr val="tx2"/>
                    </a:solidFill>
                    <a:latin typeface="Times New Roman" pitchFamily="18" charset="0"/>
                    <a:cs typeface="Times New Roman" pitchFamily="18" charset="0"/>
                  </a:rPr>
                  <a:t>Basic principles</a:t>
                </a:r>
                <a:r>
                  <a:rPr lang="en-US" altLang="ko-KR" dirty="0"/>
                  <a:t>.</a:t>
                </a:r>
              </a:p>
              <a:p>
                <a:pPr marL="342900" indent="-342900">
                  <a:buFont typeface="Arial" panose="020B0604020202020204" pitchFamily="34" charset="0"/>
                  <a:buChar char="•"/>
                </a:pPr>
                <a:r>
                  <a:rPr lang="en-US" dirty="0"/>
                  <a:t>Multiplicative</a:t>
                </a:r>
                <a:r>
                  <a:rPr lang="en-US" altLang="ko-KR" dirty="0"/>
                  <a:t> principle:</a:t>
                </a:r>
                <a:endParaRPr lang="en-US" dirty="0"/>
              </a:p>
              <a:p>
                <a:pPr algn="l"/>
                <a:r>
                  <a:rPr lang="en-US" b="1" i="0" dirty="0">
                    <a:solidFill>
                      <a:srgbClr val="000000"/>
                    </a:solidFill>
                    <a:effectLst/>
                    <a:latin typeface="PT Serif" panose="020A0603040505020204" pitchFamily="18" charset="0"/>
                  </a:rPr>
                  <a:t> </a:t>
                </a:r>
              </a:p>
              <a:p>
                <a:pPr algn="l"/>
                <a:r>
                  <a:rPr lang="en-US" b="0" dirty="0"/>
                  <a:t>The multiplicative principle states that if event A can occur in m ways, and each possibility for A allows for exactly n ways for event B, then the event “A and B” can occur in </a:t>
                </a:r>
                <a14:m>
                  <m:oMath xmlns:m="http://schemas.openxmlformats.org/officeDocument/2006/math">
                    <m:r>
                      <a:rPr lang="en-US" b="0" i="1" dirty="0" smtClean="0">
                        <a:latin typeface="Cambria Math" panose="02040503050406030204" pitchFamily="18" charset="0"/>
                      </a:rPr>
                      <m:t>𝑚</m:t>
                    </m:r>
                    <m:r>
                      <a:rPr lang="en-US" b="0" i="1" dirty="0" smtClean="0">
                        <a:latin typeface="Cambria Math" panose="02040503050406030204" pitchFamily="18" charset="0"/>
                      </a:rPr>
                      <m:t>⋅</m:t>
                    </m:r>
                    <m:r>
                      <a:rPr lang="en-US" b="0" i="1" dirty="0" smtClean="0">
                        <a:latin typeface="Cambria Math" panose="02040503050406030204" pitchFamily="18" charset="0"/>
                      </a:rPr>
                      <m:t>𝑛</m:t>
                    </m:r>
                  </m:oMath>
                </a14:m>
                <a:r>
                  <a:rPr lang="en-US" b="0" dirty="0"/>
                  <a:t> ways.</a:t>
                </a:r>
              </a:p>
              <a:p>
                <a:r>
                  <a:rPr lang="en-US" altLang="ko-KR" dirty="0"/>
                  <a:t>EX:?</a:t>
                </a:r>
              </a:p>
            </p:txBody>
          </p:sp>
        </mc:Choice>
        <mc:Fallback xmlns="">
          <p:sp>
            <p:nvSpPr>
              <p:cNvPr id="14" name="TextBox 8">
                <a:extLst>
                  <a:ext uri="{FF2B5EF4-FFF2-40B4-BE49-F238E27FC236}">
                    <a16:creationId xmlns:a16="http://schemas.microsoft.com/office/drawing/2014/main" id="{5E0E49AF-A33A-4CE4-9269-AA7280AB1AAC}"/>
                  </a:ext>
                </a:extLst>
              </p:cNvPr>
              <p:cNvSpPr txBox="1">
                <a:spLocks noRot="1" noChangeAspect="1" noMove="1" noResize="1" noEditPoints="1" noAdjustHandles="1" noChangeArrowheads="1" noChangeShapeType="1" noTextEdit="1"/>
              </p:cNvSpPr>
              <p:nvPr/>
            </p:nvSpPr>
            <p:spPr bwMode="auto">
              <a:xfrm>
                <a:off x="88899" y="803195"/>
                <a:ext cx="8988425" cy="3268652"/>
              </a:xfrm>
              <a:prstGeom prst="rect">
                <a:avLst/>
              </a:prstGeom>
              <a:blipFill>
                <a:blip r:embed="rId4"/>
                <a:stretch>
                  <a:fillRect l="-746" b="-2425"/>
                </a:stretch>
              </a:blipFill>
              <a:ln w="9525">
                <a:noFill/>
                <a:miter lim="800000"/>
                <a:headEnd/>
                <a:tailEnd/>
              </a:ln>
            </p:spPr>
            <p:txBody>
              <a:bodyPr/>
              <a:lstStyle/>
              <a:p>
                <a:r>
                  <a:rPr lang="en-US">
                    <a:noFill/>
                  </a:rPr>
                  <a:t> </a:t>
                </a:r>
              </a:p>
            </p:txBody>
          </p:sp>
        </mc:Fallback>
      </mc:AlternateContent>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716487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8</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7073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3.1. THE FUNDAMENTAL OF COUNTING</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88899" y="803195"/>
            <a:ext cx="8988425" cy="2806987"/>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altLang="ko-KR" dirty="0"/>
              <a:t>3.1.1 </a:t>
            </a:r>
            <a:r>
              <a:rPr lang="en-US" sz="2000" b="1" dirty="0">
                <a:solidFill>
                  <a:schemeClr val="tx2"/>
                </a:solidFill>
                <a:latin typeface="Times New Roman" pitchFamily="18" charset="0"/>
                <a:cs typeface="Times New Roman" pitchFamily="18" charset="0"/>
              </a:rPr>
              <a:t>Basic principles</a:t>
            </a:r>
            <a:r>
              <a:rPr lang="en-US" altLang="ko-KR" dirty="0"/>
              <a:t>.</a:t>
            </a:r>
          </a:p>
          <a:p>
            <a:pPr marL="342900" indent="-342900">
              <a:buFont typeface="Arial" panose="020B0604020202020204" pitchFamily="34" charset="0"/>
              <a:buChar char="•"/>
            </a:pPr>
            <a:r>
              <a:rPr lang="en-US" dirty="0"/>
              <a:t>Multiplicative</a:t>
            </a:r>
            <a:r>
              <a:rPr lang="en-US" altLang="ko-KR" dirty="0"/>
              <a:t> principle:</a:t>
            </a:r>
            <a:endParaRPr lang="en-US" b="1" i="0" dirty="0">
              <a:solidFill>
                <a:srgbClr val="000000"/>
              </a:solidFill>
              <a:effectLst/>
              <a:latin typeface="PT Serif" panose="020A0603040505020204" pitchFamily="18" charset="0"/>
            </a:endParaRPr>
          </a:p>
          <a:p>
            <a:pPr algn="l"/>
            <a:r>
              <a:rPr lang="en-US" b="0" dirty="0"/>
              <a:t>A person goes from Ho Chi Minh City to Hanoi, but has to stop by Hue:</a:t>
            </a:r>
          </a:p>
          <a:p>
            <a:pPr algn="l"/>
            <a:r>
              <a:rPr lang="en-US" b="0" dirty="0"/>
              <a:t>Ho Chi Minh City - Hue: there are 3 ways (airplane, train, car)</a:t>
            </a:r>
          </a:p>
          <a:p>
            <a:pPr algn="l"/>
            <a:r>
              <a:rPr lang="en-US" b="0" dirty="0"/>
              <a:t>Hue - Hanoi: there are 3 ways (airplane, train, car)</a:t>
            </a:r>
          </a:p>
          <a:p>
            <a:pPr algn="l"/>
            <a:r>
              <a:rPr lang="en-US" b="0" dirty="0"/>
              <a:t>How many ways are there in total from Ho Chi Minh City - Hue - Hanoi?</a:t>
            </a:r>
            <a:endParaRPr lang="en-US" altLang="ko-KR" dirty="0"/>
          </a:p>
        </p:txBody>
      </p:sp>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7510238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300082"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9</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7073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3.1. THE FUNDAMENTAL OF COUNTING</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88899" y="803195"/>
            <a:ext cx="8988425" cy="4191981"/>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altLang="ko-KR" dirty="0"/>
              <a:t>3.1.1 </a:t>
            </a:r>
            <a:r>
              <a:rPr lang="en-US" sz="2000" b="1" dirty="0">
                <a:solidFill>
                  <a:schemeClr val="tx2"/>
                </a:solidFill>
                <a:latin typeface="Times New Roman" pitchFamily="18" charset="0"/>
                <a:cs typeface="Times New Roman" pitchFamily="18" charset="0"/>
              </a:rPr>
              <a:t>Basic principles</a:t>
            </a:r>
            <a:r>
              <a:rPr lang="en-US" altLang="ko-KR" dirty="0"/>
              <a:t>.</a:t>
            </a:r>
          </a:p>
          <a:p>
            <a:pPr marL="342900" indent="-342900">
              <a:buFont typeface="Arial" panose="020B0604020202020204" pitchFamily="34" charset="0"/>
              <a:buChar char="•"/>
            </a:pPr>
            <a:r>
              <a:rPr lang="en-US" dirty="0"/>
              <a:t>Multiplicative</a:t>
            </a:r>
            <a:r>
              <a:rPr lang="en-US" altLang="ko-KR" dirty="0"/>
              <a:t> principle:</a:t>
            </a:r>
            <a:endParaRPr lang="en-US" b="1" i="0" dirty="0">
              <a:solidFill>
                <a:srgbClr val="000000"/>
              </a:solidFill>
              <a:effectLst/>
              <a:latin typeface="PT Serif" panose="020A0603040505020204" pitchFamily="18" charset="0"/>
            </a:endParaRPr>
          </a:p>
          <a:p>
            <a:pPr algn="l"/>
            <a:r>
              <a:rPr lang="en-US" b="0" dirty="0"/>
              <a:t>A person has 3 shirts, 4 trousers and 2 pairs of shoes. </a:t>
            </a:r>
          </a:p>
          <a:p>
            <a:pPr algn="l"/>
            <a:r>
              <a:rPr lang="en-US" b="0" dirty="0"/>
              <a:t>Ask this person how many different ways to choose a set (shirt – pants – shoes) to wear</a:t>
            </a:r>
          </a:p>
          <a:p>
            <a:pPr algn="l"/>
            <a:r>
              <a:rPr lang="en-US" b="0" dirty="0"/>
              <a:t>A 4-character cipher that is the letters of the English alphabet (26 characters). How many different codes are there if:</a:t>
            </a:r>
          </a:p>
          <a:p>
            <a:pPr algn="l"/>
            <a:r>
              <a:rPr lang="en-US" b="0" dirty="0"/>
              <a:t>There is no binding.</a:t>
            </a:r>
          </a:p>
          <a:p>
            <a:pPr algn="l"/>
            <a:r>
              <a:rPr lang="en-US" b="0" dirty="0"/>
              <a:t>The letters must be different.</a:t>
            </a:r>
            <a:endParaRPr lang="en-US" altLang="ko-KR" dirty="0"/>
          </a:p>
        </p:txBody>
      </p:sp>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0208443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10</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7073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3.1. THE FUNDAMENTAL OF COUNTING</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88899" y="803195"/>
            <a:ext cx="8988425" cy="2806987"/>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altLang="ko-KR" dirty="0"/>
              <a:t>3.1.1 </a:t>
            </a:r>
            <a:r>
              <a:rPr lang="en-US" sz="2000" b="1" dirty="0">
                <a:solidFill>
                  <a:schemeClr val="tx2"/>
                </a:solidFill>
                <a:latin typeface="Times New Roman" pitchFamily="18" charset="0"/>
                <a:cs typeface="Times New Roman" pitchFamily="18" charset="0"/>
              </a:rPr>
              <a:t>Basic principles</a:t>
            </a:r>
            <a:r>
              <a:rPr lang="en-US" altLang="ko-KR" dirty="0"/>
              <a:t>.</a:t>
            </a:r>
          </a:p>
          <a:p>
            <a:pPr marL="342900" indent="-342900">
              <a:buFont typeface="Arial" panose="020B0604020202020204" pitchFamily="34" charset="0"/>
              <a:buChar char="•"/>
            </a:pPr>
            <a:r>
              <a:rPr lang="en-US" dirty="0"/>
              <a:t>Multiplicative</a:t>
            </a:r>
            <a:r>
              <a:rPr lang="en-US" altLang="ko-KR" dirty="0"/>
              <a:t> principle:</a:t>
            </a:r>
            <a:endParaRPr lang="en-US" b="1" i="0" dirty="0">
              <a:solidFill>
                <a:srgbClr val="000000"/>
              </a:solidFill>
              <a:effectLst/>
              <a:latin typeface="PT Serif" panose="020A0603040505020204" pitchFamily="18" charset="0"/>
            </a:endParaRPr>
          </a:p>
          <a:p>
            <a:pPr algn="l"/>
            <a:r>
              <a:rPr lang="en-US" b="0" dirty="0"/>
              <a:t>In a group of 50 people. In which, 30 people have bicycles, 25 people have cameras and 5 people have both bicycles and cameras.</a:t>
            </a:r>
          </a:p>
          <a:p>
            <a:pPr algn="l"/>
            <a:r>
              <a:rPr lang="en-US" b="0" dirty="0"/>
              <a:t>How many people have neither bicycles nor cameras?</a:t>
            </a:r>
          </a:p>
          <a:p>
            <a:pPr algn="l"/>
            <a:r>
              <a:rPr lang="en-US" b="0" dirty="0"/>
              <a:t>How many people have bicycles without cameras. </a:t>
            </a:r>
            <a:endParaRPr lang="en-US" altLang="ko-KR" dirty="0"/>
          </a:p>
        </p:txBody>
      </p:sp>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5551077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06906"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11</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7073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3.1. THE FUNDAMENTAL OF COUNTING</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88899" y="803195"/>
            <a:ext cx="8988425" cy="6038641"/>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altLang="ko-KR" dirty="0"/>
              <a:t>3.1.1 </a:t>
            </a:r>
            <a:r>
              <a:rPr lang="en-US" sz="2000" b="1" dirty="0">
                <a:solidFill>
                  <a:schemeClr val="tx2"/>
                </a:solidFill>
                <a:latin typeface="Times New Roman" pitchFamily="18" charset="0"/>
                <a:cs typeface="Times New Roman" pitchFamily="18" charset="0"/>
              </a:rPr>
              <a:t>Basic principles</a:t>
            </a:r>
            <a:r>
              <a:rPr lang="en-US" altLang="ko-KR" dirty="0"/>
              <a:t>.</a:t>
            </a:r>
          </a:p>
          <a:p>
            <a:pPr marL="342900" indent="-342900">
              <a:buFont typeface="Arial" panose="020B0604020202020204" pitchFamily="34" charset="0"/>
              <a:buChar char="•"/>
            </a:pPr>
            <a:r>
              <a:rPr lang="en-US" dirty="0"/>
              <a:t>Counting With Sets </a:t>
            </a:r>
            <a:r>
              <a:rPr lang="en-US" altLang="ko-KR" dirty="0"/>
              <a:t>:</a:t>
            </a:r>
          </a:p>
          <a:p>
            <a:pPr marL="342900" indent="-342900">
              <a:buFont typeface="Arial" panose="020B0604020202020204" pitchFamily="34" charset="0"/>
              <a:buChar char="•"/>
            </a:pPr>
            <a:r>
              <a:rPr lang="en-US" dirty="0"/>
              <a:t>Additive Principle (with sets)</a:t>
            </a:r>
          </a:p>
          <a:p>
            <a:pPr algn="l"/>
            <a:r>
              <a:rPr lang="en-US" b="0" dirty="0"/>
              <a:t>Given two sets A and B, if A∩B=∅ (that is, if there is no element in common to both A and B), then</a:t>
            </a:r>
          </a:p>
          <a:p>
            <a:pPr algn="ctr"/>
            <a:r>
              <a:rPr lang="en-US" b="0" dirty="0"/>
              <a:t>|A∪B|=|A|+|B|.</a:t>
            </a:r>
          </a:p>
          <a:p>
            <a:pPr marL="342900" indent="-342900" algn="l">
              <a:buFont typeface="Arial" panose="020B0604020202020204" pitchFamily="34" charset="0"/>
              <a:buChar char="•"/>
            </a:pPr>
            <a:r>
              <a:rPr lang="en-US" dirty="0"/>
              <a:t>Cartesian Product</a:t>
            </a:r>
          </a:p>
          <a:p>
            <a:pPr algn="l"/>
            <a:r>
              <a:rPr lang="en-US" b="0" dirty="0"/>
              <a:t>Given sets A and B, we can form the set A×B={(x, y):</a:t>
            </a:r>
            <a:r>
              <a:rPr lang="en-US" b="0" dirty="0" err="1"/>
              <a:t>x∈A∧y∈B</a:t>
            </a:r>
            <a:r>
              <a:rPr lang="en-US" b="0" dirty="0"/>
              <a:t>} to be the set of all ordered pairs (x, y) where x is an element of A and y is an element of B. We call A×B the Cartesian product of A and B.</a:t>
            </a:r>
          </a:p>
          <a:p>
            <a:pPr algn="l"/>
            <a:endParaRPr lang="en-US" b="0" dirty="0"/>
          </a:p>
          <a:p>
            <a:pPr algn="ctr"/>
            <a:endParaRPr lang="en-US" b="0" dirty="0"/>
          </a:p>
          <a:p>
            <a:pPr algn="ctr"/>
            <a:endParaRPr lang="en-US" altLang="ko-KR" b="0" dirty="0"/>
          </a:p>
        </p:txBody>
      </p:sp>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539752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12</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7073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3.1. THE FUNDAMENTAL OF COUNTING</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88899" y="803195"/>
            <a:ext cx="8988425" cy="3730317"/>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altLang="ko-KR" dirty="0"/>
              <a:t>3.1.1 </a:t>
            </a:r>
            <a:r>
              <a:rPr lang="en-US" sz="2000" b="1" dirty="0">
                <a:solidFill>
                  <a:schemeClr val="tx2"/>
                </a:solidFill>
                <a:latin typeface="Times New Roman" pitchFamily="18" charset="0"/>
                <a:cs typeface="Times New Roman" pitchFamily="18" charset="0"/>
              </a:rPr>
              <a:t>Basic principles</a:t>
            </a:r>
            <a:r>
              <a:rPr lang="en-US" altLang="ko-KR" dirty="0"/>
              <a:t>.</a:t>
            </a:r>
          </a:p>
          <a:p>
            <a:pPr marL="342900" indent="-342900">
              <a:buFont typeface="Arial" panose="020B0604020202020204" pitchFamily="34" charset="0"/>
              <a:buChar char="•"/>
            </a:pPr>
            <a:r>
              <a:rPr lang="en-US" dirty="0"/>
              <a:t>Counting With Sets </a:t>
            </a:r>
            <a:r>
              <a:rPr lang="en-US" altLang="ko-KR" dirty="0"/>
              <a:t>:</a:t>
            </a:r>
          </a:p>
          <a:p>
            <a:pPr marL="342900" indent="-342900">
              <a:buFont typeface="Arial" panose="020B0604020202020204" pitchFamily="34" charset="0"/>
              <a:buChar char="•"/>
            </a:pPr>
            <a:r>
              <a:rPr lang="en-US" dirty="0"/>
              <a:t>Multiplicative Principle (with sets)</a:t>
            </a:r>
          </a:p>
          <a:p>
            <a:pPr algn="l"/>
            <a:r>
              <a:rPr lang="en-US" b="0" dirty="0"/>
              <a:t>Given two sets A and B, we have </a:t>
            </a:r>
          </a:p>
          <a:p>
            <a:pPr algn="ctr"/>
            <a:r>
              <a:rPr lang="en-US" b="0" dirty="0"/>
              <a:t>|A×B|=|A|⋅|B|.</a:t>
            </a:r>
          </a:p>
          <a:p>
            <a:pPr algn="l"/>
            <a:endParaRPr lang="en-US" b="0" dirty="0"/>
          </a:p>
          <a:p>
            <a:pPr algn="ctr"/>
            <a:endParaRPr lang="en-US" b="0" dirty="0"/>
          </a:p>
          <a:p>
            <a:pPr algn="ctr"/>
            <a:endParaRPr lang="en-US" altLang="ko-KR" b="0" dirty="0"/>
          </a:p>
        </p:txBody>
      </p:sp>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40052986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13</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7073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3.1. THE FUNDAMENTAL OF COUNTING</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41275" y="818502"/>
            <a:ext cx="9036050" cy="5576976"/>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sz="2000" b="1" dirty="0">
                <a:solidFill>
                  <a:schemeClr val="tx2"/>
                </a:solidFill>
                <a:latin typeface="Times New Roman" pitchFamily="18" charset="0"/>
                <a:cs typeface="Times New Roman" pitchFamily="18" charset="0"/>
              </a:rPr>
              <a:t>3.1.2. Compensation principle. </a:t>
            </a:r>
            <a:endParaRPr lang="en-US" altLang="ko-KR" dirty="0"/>
          </a:p>
          <a:p>
            <a:pPr marL="342900" indent="-342900" algn="l">
              <a:buFont typeface="Arial" panose="020B0604020202020204" pitchFamily="34" charset="0"/>
              <a:buChar char="•"/>
            </a:pPr>
            <a:r>
              <a:rPr lang="en-US" dirty="0"/>
              <a:t>Cardinality of a union (2 sets)</a:t>
            </a:r>
          </a:p>
          <a:p>
            <a:pPr algn="l"/>
            <a:r>
              <a:rPr lang="en-US" b="0" dirty="0"/>
              <a:t>For any finite sets A and B,</a:t>
            </a:r>
          </a:p>
          <a:p>
            <a:pPr algn="ctr"/>
            <a:r>
              <a:rPr lang="en-US" b="0" dirty="0"/>
              <a:t>|A∪B|=|A|+|B|−|A∩B|.</a:t>
            </a:r>
          </a:p>
          <a:p>
            <a:pPr marL="342900" indent="-342900" algn="l">
              <a:buFont typeface="Arial" panose="020B0604020202020204" pitchFamily="34" charset="0"/>
              <a:buChar char="•"/>
            </a:pPr>
            <a:r>
              <a:rPr lang="en-US" dirty="0"/>
              <a:t>Cardinality of a union (3 sets)</a:t>
            </a:r>
          </a:p>
          <a:p>
            <a:pPr algn="l"/>
            <a:r>
              <a:rPr lang="en-US" b="0" dirty="0"/>
              <a:t>For any finite sets A, B, and C</a:t>
            </a:r>
          </a:p>
          <a:p>
            <a:pPr algn="ctr"/>
            <a:r>
              <a:rPr lang="en-US" b="0" dirty="0"/>
              <a:t>|A∪B∪C|=|A|+|B|+|C|−|A∩B|−|A∩C|−|B∩C|+|A∩B∩C|</a:t>
            </a:r>
          </a:p>
          <a:p>
            <a:pPr algn="l"/>
            <a:br>
              <a:rPr lang="en-US" dirty="0"/>
            </a:br>
            <a:r>
              <a:rPr lang="en-US" b="0" dirty="0"/>
              <a:t>In a French English class. There are 24 students studying French, 26 students learn English. 15 students learn English and French. How many people are there in the class?</a:t>
            </a:r>
          </a:p>
          <a:p>
            <a:pPr algn="ctr"/>
            <a:endParaRPr lang="en-US" altLang="ko-KR" b="0" dirty="0"/>
          </a:p>
        </p:txBody>
      </p:sp>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7495400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14</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7073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3.1. THE FUNDAMENTAL OF COUNTING</a:t>
            </a:r>
          </a:p>
        </p:txBody>
      </p:sp>
      <mc:AlternateContent xmlns:mc="http://schemas.openxmlformats.org/markup-compatibility/2006" xmlns:a14="http://schemas.microsoft.com/office/drawing/2010/main">
        <mc:Choice Requires="a14">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41275" y="818502"/>
                <a:ext cx="9036050" cy="4706930"/>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sz="2000" b="1" dirty="0">
                    <a:solidFill>
                      <a:schemeClr val="tx2"/>
                    </a:solidFill>
                    <a:latin typeface="Times New Roman" pitchFamily="18" charset="0"/>
                    <a:cs typeface="Times New Roman" pitchFamily="18" charset="0"/>
                  </a:rPr>
                  <a:t>3.1.3. </a:t>
                </a:r>
                <a:r>
                  <a:rPr lang="en-US" dirty="0"/>
                  <a:t>Combinations, Arrangements and Permutations. </a:t>
                </a:r>
              </a:p>
              <a:p>
                <a:r>
                  <a:rPr lang="en-US" dirty="0"/>
                  <a:t>Combinations</a:t>
                </a:r>
              </a:p>
              <a:p>
                <a:r>
                  <a:rPr lang="en-US" b="0" dirty="0"/>
                  <a:t>A combination is a selection of k items from a set n items that has distinct members, such that the order of selection does not matter</a:t>
                </a:r>
              </a:p>
              <a:p>
                <a:pPr algn="l"/>
                <a:r>
                  <a:rPr lang="en-US" dirty="0"/>
                  <a:t>k-different items</a:t>
                </a:r>
              </a:p>
              <a:p>
                <a:pPr algn="l"/>
                <a14:m>
                  <m:oMathPara xmlns:m="http://schemas.openxmlformats.org/officeDocument/2006/math">
                    <m:oMathParaPr>
                      <m:jc m:val="centerGroup"/>
                    </m:oMathParaPr>
                    <m:oMath xmlns:m="http://schemas.openxmlformats.org/officeDocument/2006/math">
                      <m:sSubSup>
                        <m:sSubSupPr>
                          <m:ctrlPr>
                            <a:rPr lang="en-US" b="0" i="1" dirty="0" smtClean="0">
                              <a:latin typeface="Cambria Math" panose="02040503050406030204" pitchFamily="18" charset="0"/>
                            </a:rPr>
                          </m:ctrlPr>
                        </m:sSubSupPr>
                        <m:e>
                          <m:r>
                            <a:rPr lang="en-US" b="0" i="1" dirty="0" smtClean="0">
                              <a:latin typeface="Cambria Math" panose="02040503050406030204" pitchFamily="18" charset="0"/>
                            </a:rPr>
                            <m:t>𝐶</m:t>
                          </m:r>
                        </m:e>
                        <m:sub>
                          <m:r>
                            <a:rPr lang="en-US" b="0" i="1" dirty="0" smtClean="0">
                              <a:latin typeface="Cambria Math" panose="02040503050406030204" pitchFamily="18" charset="0"/>
                            </a:rPr>
                            <m:t>𝑛</m:t>
                          </m:r>
                        </m:sub>
                        <m:sup>
                          <m:r>
                            <a:rPr lang="en-US" b="0" i="1" dirty="0" smtClean="0">
                              <a:latin typeface="Cambria Math" panose="02040503050406030204" pitchFamily="18" charset="0"/>
                            </a:rPr>
                            <m:t>𝑘</m:t>
                          </m:r>
                        </m:sup>
                      </m:sSubSup>
                      <m:r>
                        <a:rPr lang="en-US" b="0" i="1" dirty="0" smtClean="0">
                          <a:latin typeface="Cambria Math" panose="02040503050406030204" pitchFamily="18" charset="0"/>
                        </a:rPr>
                        <m:t>=</m:t>
                      </m:r>
                      <m:f>
                        <m:fPr>
                          <m:ctrlPr>
                            <a:rPr lang="en-US" b="0" i="1" dirty="0" smtClean="0">
                              <a:latin typeface="Cambria Math" panose="02040503050406030204" pitchFamily="18" charset="0"/>
                            </a:rPr>
                          </m:ctrlPr>
                        </m:fPr>
                        <m:num>
                          <m:r>
                            <a:rPr lang="en-US" b="0" i="1" dirty="0">
                              <a:latin typeface="Cambria Math" panose="02040503050406030204" pitchFamily="18" charset="0"/>
                            </a:rPr>
                            <m:t>𝑛</m:t>
                          </m:r>
                          <m:r>
                            <a:rPr lang="en-US" b="0" i="1" dirty="0">
                              <a:latin typeface="Cambria Math" panose="02040503050406030204" pitchFamily="18" charset="0"/>
                            </a:rPr>
                            <m:t>!</m:t>
                          </m:r>
                        </m:num>
                        <m:den>
                          <m:r>
                            <a:rPr lang="en-US" b="0" i="1" dirty="0" smtClean="0">
                              <a:latin typeface="Cambria Math" panose="02040503050406030204" pitchFamily="18" charset="0"/>
                            </a:rPr>
                            <m:t>𝑘</m:t>
                          </m:r>
                          <m:r>
                            <a:rPr lang="en-US" b="0" i="1" dirty="0" smtClean="0">
                              <a:latin typeface="Cambria Math" panose="02040503050406030204" pitchFamily="18" charset="0"/>
                            </a:rPr>
                            <m:t>!(</m:t>
                          </m:r>
                          <m:r>
                            <a:rPr lang="en-US" b="0" i="1" dirty="0">
                              <a:latin typeface="Cambria Math" panose="02040503050406030204" pitchFamily="18" charset="0"/>
                            </a:rPr>
                            <m:t>𝑛</m:t>
                          </m:r>
                          <m:r>
                            <a:rPr lang="en-US" b="0" i="1" dirty="0">
                              <a:latin typeface="Cambria Math" panose="02040503050406030204" pitchFamily="18" charset="0"/>
                            </a:rPr>
                            <m:t>−</m:t>
                          </m:r>
                          <m:r>
                            <a:rPr lang="en-US" b="0" i="1" dirty="0">
                              <a:latin typeface="Cambria Math" panose="02040503050406030204" pitchFamily="18" charset="0"/>
                            </a:rPr>
                            <m:t>𝑘</m:t>
                          </m:r>
                          <m:r>
                            <a:rPr lang="en-US" b="0" i="1" dirty="0">
                              <a:latin typeface="Cambria Math" panose="02040503050406030204" pitchFamily="18" charset="0"/>
                            </a:rPr>
                            <m:t>)!</m:t>
                          </m:r>
                        </m:den>
                      </m:f>
                    </m:oMath>
                  </m:oMathPara>
                </a14:m>
                <a:endParaRPr lang="en-US" dirty="0"/>
              </a:p>
              <a:p>
                <a:pPr algn="l"/>
                <a:r>
                  <a:rPr lang="en-US" dirty="0"/>
                  <a:t>k- items without biding</a:t>
                </a:r>
              </a:p>
              <a:p>
                <a:pPr/>
                <a14:m>
                  <m:oMathPara xmlns:m="http://schemas.openxmlformats.org/officeDocument/2006/math">
                    <m:oMathParaPr>
                      <m:jc m:val="centerGroup"/>
                    </m:oMathParaPr>
                    <m:oMath xmlns:m="http://schemas.openxmlformats.org/officeDocument/2006/math">
                      <m:sSubSup>
                        <m:sSubSupPr>
                          <m:ctrlPr>
                            <a:rPr lang="en-US" b="0" i="1" dirty="0" smtClean="0">
                              <a:latin typeface="Cambria Math" panose="02040503050406030204" pitchFamily="18" charset="0"/>
                            </a:rPr>
                          </m:ctrlPr>
                        </m:sSubSupPr>
                        <m:e>
                          <m:r>
                            <a:rPr lang="en-US" b="0" i="1" dirty="0" smtClean="0">
                              <a:latin typeface="Cambria Math" panose="02040503050406030204" pitchFamily="18" charset="0"/>
                            </a:rPr>
                            <m:t>𝐶</m:t>
                          </m:r>
                        </m:e>
                        <m:sub>
                          <m:r>
                            <a:rPr lang="en-US" b="0" i="1" dirty="0" smtClean="0">
                              <a:latin typeface="Cambria Math" panose="02040503050406030204" pitchFamily="18" charset="0"/>
                            </a:rPr>
                            <m:t>𝑛</m:t>
                          </m:r>
                          <m:r>
                            <a:rPr lang="en-US" b="0" i="1" dirty="0" smtClean="0">
                              <a:latin typeface="Cambria Math" panose="02040503050406030204" pitchFamily="18" charset="0"/>
                            </a:rPr>
                            <m:t>+</m:t>
                          </m:r>
                          <m:r>
                            <a:rPr lang="en-US" b="0" i="1" dirty="0" smtClean="0">
                              <a:latin typeface="Cambria Math" panose="02040503050406030204" pitchFamily="18" charset="0"/>
                            </a:rPr>
                            <m:t>𝑘</m:t>
                          </m:r>
                          <m:r>
                            <a:rPr lang="en-US" b="0" i="1" dirty="0" smtClean="0">
                              <a:latin typeface="Cambria Math" panose="02040503050406030204" pitchFamily="18" charset="0"/>
                            </a:rPr>
                            <m:t>−1</m:t>
                          </m:r>
                        </m:sub>
                        <m:sup>
                          <m:r>
                            <a:rPr lang="en-US" b="0" i="1" dirty="0" smtClean="0">
                              <a:latin typeface="Cambria Math" panose="02040503050406030204" pitchFamily="18" charset="0"/>
                            </a:rPr>
                            <m:t>𝑘</m:t>
                          </m:r>
                        </m:sup>
                      </m:sSubSup>
                    </m:oMath>
                  </m:oMathPara>
                </a14:m>
                <a:endParaRPr lang="en-US" b="0" dirty="0"/>
              </a:p>
              <a:p>
                <a:pPr algn="ctr"/>
                <a:r>
                  <a:rPr lang="en-US" altLang="ko-KR" b="0" dirty="0"/>
                  <a:t>A class has 30 students. How many ways are there to choose 10 students?</a:t>
                </a:r>
              </a:p>
            </p:txBody>
          </p:sp>
        </mc:Choice>
        <mc:Fallback xmlns="">
          <p:sp>
            <p:nvSpPr>
              <p:cNvPr id="14" name="TextBox 8">
                <a:extLst>
                  <a:ext uri="{FF2B5EF4-FFF2-40B4-BE49-F238E27FC236}">
                    <a16:creationId xmlns:a16="http://schemas.microsoft.com/office/drawing/2014/main" id="{5E0E49AF-A33A-4CE4-9269-AA7280AB1AAC}"/>
                  </a:ext>
                </a:extLst>
              </p:cNvPr>
              <p:cNvSpPr txBox="1">
                <a:spLocks noRot="1" noChangeAspect="1" noMove="1" noResize="1" noEditPoints="1" noAdjustHandles="1" noChangeArrowheads="1" noChangeShapeType="1" noTextEdit="1"/>
              </p:cNvSpPr>
              <p:nvPr/>
            </p:nvSpPr>
            <p:spPr bwMode="auto">
              <a:xfrm>
                <a:off x="41275" y="818502"/>
                <a:ext cx="9036050" cy="4706930"/>
              </a:xfrm>
              <a:prstGeom prst="rect">
                <a:avLst/>
              </a:prstGeom>
              <a:blipFill>
                <a:blip r:embed="rId4"/>
                <a:stretch>
                  <a:fillRect l="-742" r="-675" b="-1425"/>
                </a:stretch>
              </a:blipFill>
              <a:ln w="9525">
                <a:noFill/>
                <a:miter lim="800000"/>
                <a:headEnd/>
                <a:tailEnd/>
              </a:ln>
            </p:spPr>
            <p:txBody>
              <a:bodyPr/>
              <a:lstStyle/>
              <a:p>
                <a:r>
                  <a:rPr lang="en-US">
                    <a:noFill/>
                  </a:rPr>
                  <a:t> </a:t>
                </a:r>
              </a:p>
            </p:txBody>
          </p:sp>
        </mc:Fallback>
      </mc:AlternateContent>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92111957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15</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7073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3.1. THE FUNDAMENTAL OF COUNTING</a:t>
            </a:r>
          </a:p>
        </p:txBody>
      </p:sp>
      <mc:AlternateContent xmlns:mc="http://schemas.openxmlformats.org/markup-compatibility/2006">
        <mc:Choice xmlns:a14="http://schemas.microsoft.com/office/drawing/2010/main" Requires="a14">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41275" y="818502"/>
                <a:ext cx="9036050" cy="5146473"/>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sz="2000" b="1" dirty="0">
                    <a:solidFill>
                      <a:schemeClr val="tx2"/>
                    </a:solidFill>
                    <a:latin typeface="Times New Roman" pitchFamily="18" charset="0"/>
                    <a:cs typeface="Times New Roman" pitchFamily="18" charset="0"/>
                  </a:rPr>
                  <a:t>3.1.3. </a:t>
                </a:r>
                <a:r>
                  <a:rPr lang="en-US" dirty="0"/>
                  <a:t>Combinations, Partial permutation and Permutations. </a:t>
                </a:r>
              </a:p>
              <a:p>
                <a:r>
                  <a:rPr lang="en-US" dirty="0"/>
                  <a:t>Partial permutation (Arrangements)</a:t>
                </a:r>
              </a:p>
              <a:p>
                <a:r>
                  <a:rPr lang="en-US" b="0" dirty="0"/>
                  <a:t>A </a:t>
                </a:r>
                <a:r>
                  <a:rPr lang="en-US" dirty="0"/>
                  <a:t> Partial permutation </a:t>
                </a:r>
                <a:r>
                  <a:rPr lang="en-US" b="0" dirty="0"/>
                  <a:t> is a selection of k items from a set n items that has distinct members, such that the order of selection matter</a:t>
                </a:r>
              </a:p>
              <a:p>
                <a:pPr algn="l"/>
                <a:r>
                  <a:rPr lang="en-US" dirty="0"/>
                  <a:t>k-different items</a:t>
                </a:r>
              </a:p>
              <a:p>
                <a:pPr algn="l"/>
                <a14:m>
                  <m:oMathPara xmlns:m="http://schemas.openxmlformats.org/officeDocument/2006/math">
                    <m:oMathParaPr>
                      <m:jc m:val="centerGroup"/>
                    </m:oMathParaPr>
                    <m:oMath xmlns:m="http://schemas.openxmlformats.org/officeDocument/2006/math">
                      <m:sSubSup>
                        <m:sSubSupPr>
                          <m:ctrlPr>
                            <a:rPr lang="en-US" b="0" i="1" dirty="0" smtClean="0">
                              <a:latin typeface="Cambria Math" panose="02040503050406030204" pitchFamily="18" charset="0"/>
                            </a:rPr>
                          </m:ctrlPr>
                        </m:sSubSupPr>
                        <m:e>
                          <m:r>
                            <a:rPr lang="en-US" b="0" i="1" dirty="0" smtClean="0">
                              <a:latin typeface="Cambria Math" panose="02040503050406030204" pitchFamily="18" charset="0"/>
                            </a:rPr>
                            <m:t>𝐴</m:t>
                          </m:r>
                        </m:e>
                        <m:sub>
                          <m:r>
                            <a:rPr lang="en-US" b="0" i="1" dirty="0" smtClean="0">
                              <a:latin typeface="Cambria Math" panose="02040503050406030204" pitchFamily="18" charset="0"/>
                            </a:rPr>
                            <m:t>𝑛</m:t>
                          </m:r>
                        </m:sub>
                        <m:sup>
                          <m:r>
                            <a:rPr lang="en-US" b="0" i="1" dirty="0" smtClean="0">
                              <a:latin typeface="Cambria Math" panose="02040503050406030204" pitchFamily="18" charset="0"/>
                            </a:rPr>
                            <m:t>𝑘</m:t>
                          </m:r>
                        </m:sup>
                      </m:sSubSup>
                      <m:r>
                        <a:rPr lang="en-US" b="0" i="1" dirty="0" smtClean="0">
                          <a:latin typeface="Cambria Math" panose="02040503050406030204" pitchFamily="18" charset="0"/>
                        </a:rPr>
                        <m:t>=</m:t>
                      </m:r>
                      <m:f>
                        <m:fPr>
                          <m:ctrlPr>
                            <a:rPr lang="en-US" b="0" i="1" dirty="0" smtClean="0">
                              <a:latin typeface="Cambria Math" panose="02040503050406030204" pitchFamily="18" charset="0"/>
                            </a:rPr>
                          </m:ctrlPr>
                        </m:fPr>
                        <m:num>
                          <m:r>
                            <a:rPr lang="en-US" b="0" i="1" dirty="0">
                              <a:latin typeface="Cambria Math" panose="02040503050406030204" pitchFamily="18" charset="0"/>
                            </a:rPr>
                            <m:t>𝑛</m:t>
                          </m:r>
                          <m:r>
                            <a:rPr lang="en-US" b="0" i="1" dirty="0">
                              <a:latin typeface="Cambria Math" panose="02040503050406030204" pitchFamily="18" charset="0"/>
                            </a:rPr>
                            <m:t>!</m:t>
                          </m:r>
                        </m:num>
                        <m:den>
                          <m:r>
                            <a:rPr lang="en-US" b="0" i="1" dirty="0" smtClean="0">
                              <a:latin typeface="Cambria Math" panose="02040503050406030204" pitchFamily="18" charset="0"/>
                            </a:rPr>
                            <m:t>(</m:t>
                          </m:r>
                          <m:r>
                            <a:rPr lang="en-US" b="0" i="1" dirty="0">
                              <a:latin typeface="Cambria Math" panose="02040503050406030204" pitchFamily="18" charset="0"/>
                            </a:rPr>
                            <m:t>𝑛</m:t>
                          </m:r>
                          <m:r>
                            <a:rPr lang="en-US" b="0" i="1" dirty="0">
                              <a:latin typeface="Cambria Math" panose="02040503050406030204" pitchFamily="18" charset="0"/>
                            </a:rPr>
                            <m:t>−</m:t>
                          </m:r>
                          <m:r>
                            <a:rPr lang="en-US" b="0" i="1" dirty="0">
                              <a:latin typeface="Cambria Math" panose="02040503050406030204" pitchFamily="18" charset="0"/>
                            </a:rPr>
                            <m:t>𝑘</m:t>
                          </m:r>
                          <m:r>
                            <a:rPr lang="en-US" b="0" i="1" dirty="0">
                              <a:latin typeface="Cambria Math" panose="02040503050406030204" pitchFamily="18" charset="0"/>
                            </a:rPr>
                            <m:t>)!</m:t>
                          </m:r>
                        </m:den>
                      </m:f>
                    </m:oMath>
                  </m:oMathPara>
                </a14:m>
                <a:endParaRPr lang="en-US" dirty="0"/>
              </a:p>
              <a:p>
                <a:pPr algn="l"/>
                <a:r>
                  <a:rPr lang="en-US" dirty="0"/>
                  <a:t>k- items without biding</a:t>
                </a:r>
              </a:p>
              <a:p>
                <a:pPr/>
                <a14:m>
                  <m:oMathPara xmlns:m="http://schemas.openxmlformats.org/officeDocument/2006/math">
                    <m:oMathParaPr>
                      <m:jc m:val="centerGroup"/>
                    </m:oMathParaPr>
                    <m:oMath xmlns:m="http://schemas.openxmlformats.org/officeDocument/2006/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𝑛</m:t>
                          </m:r>
                        </m:e>
                        <m:sup>
                          <m:r>
                            <a:rPr lang="en-US" b="0" i="1" smtClean="0">
                              <a:latin typeface="Cambria Math" panose="02040503050406030204" pitchFamily="18" charset="0"/>
                            </a:rPr>
                            <m:t>𝑘</m:t>
                          </m:r>
                        </m:sup>
                      </m:sSup>
                    </m:oMath>
                  </m:oMathPara>
                </a14:m>
                <a:endParaRPr lang="en-US" b="0" dirty="0"/>
              </a:p>
              <a:p>
                <a:r>
                  <a:rPr lang="en-US" b="0" dirty="0"/>
                  <a:t>How many 3-digit natural numbers are generated? from 1,2,3,4,5,6.</a:t>
                </a:r>
              </a:p>
              <a:p>
                <a:pPr algn="ctr"/>
                <a:endParaRPr lang="en-US" altLang="ko-KR" b="0" dirty="0"/>
              </a:p>
            </p:txBody>
          </p:sp>
        </mc:Choice>
        <mc:Fallback>
          <p:sp>
            <p:nvSpPr>
              <p:cNvPr id="14" name="TextBox 8">
                <a:extLst>
                  <a:ext uri="{FF2B5EF4-FFF2-40B4-BE49-F238E27FC236}">
                    <a16:creationId xmlns:a16="http://schemas.microsoft.com/office/drawing/2014/main" id="{5E0E49AF-A33A-4CE4-9269-AA7280AB1AAC}"/>
                  </a:ext>
                </a:extLst>
              </p:cNvPr>
              <p:cNvSpPr txBox="1">
                <a:spLocks noRot="1" noChangeAspect="1" noMove="1" noResize="1" noEditPoints="1" noAdjustHandles="1" noChangeArrowheads="1" noChangeShapeType="1" noTextEdit="1"/>
              </p:cNvSpPr>
              <p:nvPr/>
            </p:nvSpPr>
            <p:spPr bwMode="auto">
              <a:xfrm>
                <a:off x="41275" y="818502"/>
                <a:ext cx="9036050" cy="5146473"/>
              </a:xfrm>
              <a:prstGeom prst="rect">
                <a:avLst/>
              </a:prstGeom>
              <a:blipFill>
                <a:blip r:embed="rId4"/>
                <a:stretch>
                  <a:fillRect l="-742" r="-675"/>
                </a:stretch>
              </a:blipFill>
              <a:ln w="9525">
                <a:noFill/>
                <a:miter lim="800000"/>
                <a:headEnd/>
                <a:tailEnd/>
              </a:ln>
            </p:spPr>
            <p:txBody>
              <a:bodyPr/>
              <a:lstStyle/>
              <a:p>
                <a:r>
                  <a:rPr lang="en-US">
                    <a:noFill/>
                  </a:rPr>
                  <a:t> </a:t>
                </a:r>
              </a:p>
            </p:txBody>
          </p:sp>
        </mc:Fallback>
      </mc:AlternateContent>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3860265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16</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7073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3.1. THE FUNDAMENTAL OF COUNTING</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41275" y="818502"/>
            <a:ext cx="9036050" cy="5115311"/>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sz="2000" b="1" dirty="0">
                <a:solidFill>
                  <a:schemeClr val="tx2"/>
                </a:solidFill>
                <a:latin typeface="Times New Roman" pitchFamily="18" charset="0"/>
                <a:cs typeface="Times New Roman" pitchFamily="18" charset="0"/>
              </a:rPr>
              <a:t>3.1.3. </a:t>
            </a:r>
            <a:r>
              <a:rPr lang="en-US" dirty="0"/>
              <a:t>Combinations, Partial permutation and Permutations. </a:t>
            </a:r>
          </a:p>
          <a:p>
            <a:r>
              <a:rPr lang="en-US" dirty="0"/>
              <a:t>Permutations </a:t>
            </a:r>
          </a:p>
          <a:p>
            <a:pPr algn="l"/>
            <a:r>
              <a:rPr lang="en-US" b="0" dirty="0"/>
              <a:t>A permutation is a (possible) rearrangement of objects. For example, there are 6 permutations of the letters a, b, c:</a:t>
            </a:r>
          </a:p>
          <a:p>
            <a:r>
              <a:rPr lang="en-US" b="0" dirty="0" err="1"/>
              <a:t>abc</a:t>
            </a:r>
            <a:r>
              <a:rPr lang="en-US" b="0" dirty="0"/>
              <a:t>,  </a:t>
            </a:r>
            <a:r>
              <a:rPr lang="en-US" b="0" dirty="0" err="1"/>
              <a:t>acb</a:t>
            </a:r>
            <a:r>
              <a:rPr lang="en-US" b="0" dirty="0"/>
              <a:t>,  bac,  </a:t>
            </a:r>
            <a:r>
              <a:rPr lang="en-US" b="0" dirty="0" err="1"/>
              <a:t>bca</a:t>
            </a:r>
            <a:r>
              <a:rPr lang="en-US" b="0" dirty="0"/>
              <a:t>,  cab,  cba. </a:t>
            </a:r>
          </a:p>
          <a:p>
            <a:pPr algn="l"/>
            <a:r>
              <a:rPr lang="en-US" dirty="0"/>
              <a:t>Permutations of n elements</a:t>
            </a:r>
          </a:p>
          <a:p>
            <a:pPr algn="l"/>
            <a:r>
              <a:rPr lang="en-US" b="0" dirty="0"/>
              <a:t>There are n!=n⋅(n−1)⋅(n−2)⋅⋯⋅2⋅1permutations of n (distinct) elements</a:t>
            </a:r>
            <a:r>
              <a:rPr lang="en-US" b="0" i="0" dirty="0">
                <a:solidFill>
                  <a:srgbClr val="000000"/>
                </a:solidFill>
                <a:effectLst/>
                <a:latin typeface="Open Sans" panose="020B0606030504020204" pitchFamily="34" charset="0"/>
              </a:rPr>
              <a:t>.</a:t>
            </a:r>
          </a:p>
          <a:p>
            <a:pPr algn="l"/>
            <a:r>
              <a:rPr lang="en-US" dirty="0"/>
              <a:t>Let X ={1,2,3,4,5}.How many distinct 5-digit natural numbers are generated from the set X</a:t>
            </a:r>
          </a:p>
          <a:p>
            <a:endParaRPr lang="en-US" b="0" dirty="0"/>
          </a:p>
          <a:p>
            <a:pPr algn="ctr"/>
            <a:endParaRPr lang="en-US" altLang="ko-KR" b="0" dirty="0"/>
          </a:p>
        </p:txBody>
      </p:sp>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97291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17</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70739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3.1. THE FUNDAMENTAL OF COUNTING</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41275" y="818502"/>
            <a:ext cx="9036050" cy="1421992"/>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sz="2000" b="1" dirty="0">
                <a:solidFill>
                  <a:schemeClr val="tx2"/>
                </a:solidFill>
                <a:latin typeface="Times New Roman" pitchFamily="18" charset="0"/>
                <a:cs typeface="Times New Roman" pitchFamily="18" charset="0"/>
              </a:rPr>
              <a:t>3.1.3. </a:t>
            </a:r>
            <a:r>
              <a:rPr lang="en-US" dirty="0"/>
              <a:t>Combinations, Partial permutation and Permutations. </a:t>
            </a:r>
          </a:p>
          <a:p>
            <a:endParaRPr lang="en-US" b="0" dirty="0"/>
          </a:p>
          <a:p>
            <a:pPr algn="ctr"/>
            <a:endParaRPr lang="en-US" altLang="ko-KR" b="0" dirty="0"/>
          </a:p>
        </p:txBody>
      </p:sp>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9" name="Rounded Rectangle 6">
            <a:extLst>
              <a:ext uri="{FF2B5EF4-FFF2-40B4-BE49-F238E27FC236}">
                <a16:creationId xmlns:a16="http://schemas.microsoft.com/office/drawing/2014/main" id="{0F96B547-AD04-EA9B-BA73-11DEF01C8854}"/>
              </a:ext>
            </a:extLst>
          </p:cNvPr>
          <p:cNvSpPr>
            <a:spLocks noChangeArrowheads="1"/>
          </p:cNvSpPr>
          <p:nvPr/>
        </p:nvSpPr>
        <p:spPr bwMode="auto">
          <a:xfrm>
            <a:off x="3460750" y="1344533"/>
            <a:ext cx="1633347" cy="510778"/>
          </a:xfrm>
          <a:prstGeom prst="roundRect">
            <a:avLst>
              <a:gd name="adj" fmla="val 16667"/>
            </a:avLst>
          </a:prstGeom>
          <a:solidFill>
            <a:srgbClr val="FFFF00"/>
          </a:solidFill>
          <a:ln w="9525" algn="ctr">
            <a:solidFill>
              <a:schemeClr val="tx1"/>
            </a:solidFill>
            <a:round/>
            <a:headEnd/>
            <a:tailEnd/>
          </a:ln>
        </p:spPr>
        <p:txBody>
          <a:bodyPr wrap="none" anchor="ctr">
            <a:spAutoFit/>
          </a:bodyPr>
          <a:lstStyle>
            <a:lvl1pPr>
              <a:spcBef>
                <a:spcPct val="20000"/>
              </a:spcBef>
              <a:buClr>
                <a:srgbClr val="800000"/>
              </a:buClr>
              <a:buFont typeface="Wingdings" panose="05000000000000000000" pitchFamily="2" charset="2"/>
              <a:buChar char="§"/>
              <a:defRPr kumimoji="1" sz="2800">
                <a:solidFill>
                  <a:srgbClr val="003366"/>
                </a:solidFill>
                <a:latin typeface="Arial" panose="020B0604020202020204" pitchFamily="34" charset="0"/>
              </a:defRPr>
            </a:lvl1pPr>
            <a:lvl2pPr marL="742950" indent="-285750">
              <a:spcBef>
                <a:spcPct val="20000"/>
              </a:spcBef>
              <a:buClr>
                <a:srgbClr val="800000"/>
              </a:buClr>
              <a:buFont typeface="Wingdings" panose="05000000000000000000" pitchFamily="2" charset="2"/>
              <a:buChar char="§"/>
              <a:defRPr kumimoji="1" sz="2400">
                <a:solidFill>
                  <a:srgbClr val="003366"/>
                </a:solidFill>
                <a:latin typeface="Arial" panose="020B0604020202020204" pitchFamily="34" charset="0"/>
              </a:defRPr>
            </a:lvl2pPr>
            <a:lvl3pPr marL="1143000" indent="-228600">
              <a:spcBef>
                <a:spcPct val="20000"/>
              </a:spcBef>
              <a:buClr>
                <a:srgbClr val="800000"/>
              </a:buClr>
              <a:buFont typeface="Wingdings" panose="05000000000000000000" pitchFamily="2" charset="2"/>
              <a:buChar char=""/>
              <a:defRPr kumimoji="1" sz="2000">
                <a:solidFill>
                  <a:srgbClr val="003366"/>
                </a:solidFill>
                <a:latin typeface="Arial" panose="020B0604020202020204" pitchFamily="34" charset="0"/>
              </a:defRPr>
            </a:lvl3pPr>
            <a:lvl4pPr marL="1600200" indent="-228600">
              <a:spcBef>
                <a:spcPct val="20000"/>
              </a:spcBef>
              <a:buClr>
                <a:srgbClr val="CC0000"/>
              </a:buClr>
              <a:buFont typeface="Wingdings" panose="05000000000000000000" pitchFamily="2" charset="2"/>
              <a:buChar char="s"/>
              <a:defRPr kumimoji="1" sz="2000">
                <a:solidFill>
                  <a:srgbClr val="003366"/>
                </a:solidFill>
                <a:latin typeface="Arial" panose="020B0604020202020204" pitchFamily="34" charset="0"/>
              </a:defRPr>
            </a:lvl4pPr>
            <a:lvl5pPr marL="2057400" indent="-228600">
              <a:spcBef>
                <a:spcPct val="20000"/>
              </a:spcBef>
              <a:buClr>
                <a:srgbClr val="CC0000"/>
              </a:buClr>
              <a:buFont typeface="Wingdings" panose="05000000000000000000" pitchFamily="2" charset="2"/>
              <a:buChar char=" "/>
              <a:defRPr kumimoji="1" sz="2000">
                <a:solidFill>
                  <a:srgbClr val="003366"/>
                </a:solidFill>
                <a:latin typeface="Arial" panose="020B0604020202020204" pitchFamily="34" charset="0"/>
              </a:defRPr>
            </a:lvl5pPr>
            <a:lvl6pPr marL="25146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6pPr>
            <a:lvl7pPr marL="29718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7pPr>
            <a:lvl8pPr marL="34290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8pPr>
            <a:lvl9pPr marL="38862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9pPr>
          </a:lstStyle>
          <a:p>
            <a:pPr eaLnBrk="1" hangingPunct="1">
              <a:spcBef>
                <a:spcPct val="0"/>
              </a:spcBef>
              <a:buClrTx/>
              <a:buFontTx/>
              <a:buNone/>
            </a:pPr>
            <a:r>
              <a:rPr kumimoji="0" lang="en-US" altLang="en-US" sz="2400" b="1" dirty="0">
                <a:solidFill>
                  <a:srgbClr val="FF0000"/>
                </a:solidFill>
              </a:rPr>
              <a:t>Problems</a:t>
            </a:r>
          </a:p>
        </p:txBody>
      </p:sp>
      <p:cxnSp>
        <p:nvCxnSpPr>
          <p:cNvPr id="10" name="Straight Arrow Connector 9">
            <a:extLst>
              <a:ext uri="{FF2B5EF4-FFF2-40B4-BE49-F238E27FC236}">
                <a16:creationId xmlns:a16="http://schemas.microsoft.com/office/drawing/2014/main" id="{31991117-5EC5-7AC8-5CBF-A8DB042F524B}"/>
              </a:ext>
            </a:extLst>
          </p:cNvPr>
          <p:cNvCxnSpPr>
            <a:cxnSpLocks noChangeShapeType="1"/>
            <a:stCxn id="9" idx="2"/>
            <a:endCxn id="16" idx="0"/>
          </p:cNvCxnSpPr>
          <p:nvPr/>
        </p:nvCxnSpPr>
        <p:spPr bwMode="auto">
          <a:xfrm flipH="1">
            <a:off x="3253057" y="1855311"/>
            <a:ext cx="1024367" cy="607754"/>
          </a:xfrm>
          <a:prstGeom prst="straightConnector1">
            <a:avLst/>
          </a:prstGeom>
          <a:noFill/>
          <a:ln w="38100" algn="ctr">
            <a:solidFill>
              <a:srgbClr val="57A6C9"/>
            </a:solidFill>
            <a:round/>
            <a:headEnd/>
            <a:tailEnd type="arrow" w="med" len="med"/>
          </a:ln>
          <a:extLst>
            <a:ext uri="{909E8E84-426E-40DD-AFC4-6F175D3DCCD1}">
              <a14:hiddenFill xmlns:a14="http://schemas.microsoft.com/office/drawing/2010/main">
                <a:noFill/>
              </a14:hiddenFill>
            </a:ext>
          </a:extLst>
        </p:spPr>
      </p:cxnSp>
      <p:cxnSp>
        <p:nvCxnSpPr>
          <p:cNvPr id="12" name="Straight Arrow Connector 11">
            <a:extLst>
              <a:ext uri="{FF2B5EF4-FFF2-40B4-BE49-F238E27FC236}">
                <a16:creationId xmlns:a16="http://schemas.microsoft.com/office/drawing/2014/main" id="{4657D618-1D72-44FD-E714-AC33D77ADE3B}"/>
              </a:ext>
            </a:extLst>
          </p:cNvPr>
          <p:cNvCxnSpPr>
            <a:cxnSpLocks noChangeShapeType="1"/>
            <a:stCxn id="9" idx="2"/>
            <a:endCxn id="17" idx="0"/>
          </p:cNvCxnSpPr>
          <p:nvPr/>
        </p:nvCxnSpPr>
        <p:spPr bwMode="auto">
          <a:xfrm>
            <a:off x="4277424" y="1855311"/>
            <a:ext cx="1940851" cy="791986"/>
          </a:xfrm>
          <a:prstGeom prst="straightConnector1">
            <a:avLst/>
          </a:prstGeom>
          <a:noFill/>
          <a:ln w="38100" algn="ctr">
            <a:solidFill>
              <a:srgbClr val="57A6C9"/>
            </a:solidFill>
            <a:round/>
            <a:headEnd/>
            <a:tailEnd type="arrow" w="med" len="med"/>
          </a:ln>
          <a:extLst>
            <a:ext uri="{909E8E84-426E-40DD-AFC4-6F175D3DCCD1}">
              <a14:hiddenFill xmlns:a14="http://schemas.microsoft.com/office/drawing/2010/main">
                <a:noFill/>
              </a14:hiddenFill>
            </a:ext>
          </a:extLst>
        </p:spPr>
      </p:cxnSp>
      <p:sp>
        <p:nvSpPr>
          <p:cNvPr id="16" name="Oval 15">
            <a:extLst>
              <a:ext uri="{FF2B5EF4-FFF2-40B4-BE49-F238E27FC236}">
                <a16:creationId xmlns:a16="http://schemas.microsoft.com/office/drawing/2014/main" id="{5AF63B8A-6B8E-531A-9EEF-FC53DFF95FFB}"/>
              </a:ext>
            </a:extLst>
          </p:cNvPr>
          <p:cNvSpPr>
            <a:spLocks noChangeArrowheads="1"/>
          </p:cNvSpPr>
          <p:nvPr/>
        </p:nvSpPr>
        <p:spPr bwMode="auto">
          <a:xfrm>
            <a:off x="1733550" y="2463065"/>
            <a:ext cx="3039013" cy="562630"/>
          </a:xfrm>
          <a:prstGeom prst="ellipse">
            <a:avLst/>
          </a:prstGeom>
          <a:solidFill>
            <a:schemeClr val="accent1"/>
          </a:solidFill>
          <a:ln w="9525" algn="ctr">
            <a:solidFill>
              <a:schemeClr val="tx1"/>
            </a:solidFill>
            <a:round/>
            <a:headEnd/>
            <a:tailEnd/>
          </a:ln>
        </p:spPr>
        <p:txBody>
          <a:bodyPr wrap="none" anchor="ctr">
            <a:spAutoFit/>
          </a:bodyPr>
          <a:lstStyle>
            <a:lvl1pPr>
              <a:spcBef>
                <a:spcPct val="20000"/>
              </a:spcBef>
              <a:buClr>
                <a:srgbClr val="800000"/>
              </a:buClr>
              <a:buFont typeface="Wingdings" panose="05000000000000000000" pitchFamily="2" charset="2"/>
              <a:buChar char="§"/>
              <a:defRPr kumimoji="1" sz="2800">
                <a:solidFill>
                  <a:srgbClr val="003366"/>
                </a:solidFill>
                <a:latin typeface="Arial" panose="020B0604020202020204" pitchFamily="34" charset="0"/>
              </a:defRPr>
            </a:lvl1pPr>
            <a:lvl2pPr marL="742950" indent="-285750">
              <a:spcBef>
                <a:spcPct val="20000"/>
              </a:spcBef>
              <a:buClr>
                <a:srgbClr val="800000"/>
              </a:buClr>
              <a:buFont typeface="Wingdings" panose="05000000000000000000" pitchFamily="2" charset="2"/>
              <a:buChar char="§"/>
              <a:defRPr kumimoji="1" sz="2400">
                <a:solidFill>
                  <a:srgbClr val="003366"/>
                </a:solidFill>
                <a:latin typeface="Arial" panose="020B0604020202020204" pitchFamily="34" charset="0"/>
              </a:defRPr>
            </a:lvl2pPr>
            <a:lvl3pPr marL="1143000" indent="-228600">
              <a:spcBef>
                <a:spcPct val="20000"/>
              </a:spcBef>
              <a:buClr>
                <a:srgbClr val="800000"/>
              </a:buClr>
              <a:buFont typeface="Wingdings" panose="05000000000000000000" pitchFamily="2" charset="2"/>
              <a:buChar char=""/>
              <a:defRPr kumimoji="1" sz="2000">
                <a:solidFill>
                  <a:srgbClr val="003366"/>
                </a:solidFill>
                <a:latin typeface="Arial" panose="020B0604020202020204" pitchFamily="34" charset="0"/>
              </a:defRPr>
            </a:lvl3pPr>
            <a:lvl4pPr marL="1600200" indent="-228600">
              <a:spcBef>
                <a:spcPct val="20000"/>
              </a:spcBef>
              <a:buClr>
                <a:srgbClr val="CC0000"/>
              </a:buClr>
              <a:buFont typeface="Wingdings" panose="05000000000000000000" pitchFamily="2" charset="2"/>
              <a:buChar char="s"/>
              <a:defRPr kumimoji="1" sz="2000">
                <a:solidFill>
                  <a:srgbClr val="003366"/>
                </a:solidFill>
                <a:latin typeface="Arial" panose="020B0604020202020204" pitchFamily="34" charset="0"/>
              </a:defRPr>
            </a:lvl4pPr>
            <a:lvl5pPr marL="2057400" indent="-228600">
              <a:spcBef>
                <a:spcPct val="20000"/>
              </a:spcBef>
              <a:buClr>
                <a:srgbClr val="CC0000"/>
              </a:buClr>
              <a:buFont typeface="Wingdings" panose="05000000000000000000" pitchFamily="2" charset="2"/>
              <a:buChar char=" "/>
              <a:defRPr kumimoji="1" sz="2000">
                <a:solidFill>
                  <a:srgbClr val="003366"/>
                </a:solidFill>
                <a:latin typeface="Arial" panose="020B0604020202020204" pitchFamily="34" charset="0"/>
              </a:defRPr>
            </a:lvl5pPr>
            <a:lvl6pPr marL="25146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6pPr>
            <a:lvl7pPr marL="29718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7pPr>
            <a:lvl8pPr marL="34290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8pPr>
            <a:lvl9pPr marL="38862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9pPr>
          </a:lstStyle>
          <a:p>
            <a:pPr eaLnBrk="1" hangingPunct="1">
              <a:spcBef>
                <a:spcPct val="0"/>
              </a:spcBef>
              <a:buClrTx/>
              <a:buFontTx/>
              <a:buNone/>
            </a:pPr>
            <a:r>
              <a:rPr kumimoji="0" lang="en-US" altLang="en-US" sz="2000" b="1" dirty="0">
                <a:solidFill>
                  <a:schemeClr val="tx1"/>
                </a:solidFill>
              </a:rPr>
              <a:t>Order of n items</a:t>
            </a:r>
          </a:p>
        </p:txBody>
      </p:sp>
      <p:sp>
        <p:nvSpPr>
          <p:cNvPr id="17" name="Oval 16">
            <a:extLst>
              <a:ext uri="{FF2B5EF4-FFF2-40B4-BE49-F238E27FC236}">
                <a16:creationId xmlns:a16="http://schemas.microsoft.com/office/drawing/2014/main" id="{C3F498BC-8C36-8595-3CD1-9E2708051CDC}"/>
              </a:ext>
            </a:extLst>
          </p:cNvPr>
          <p:cNvSpPr>
            <a:spLocks noChangeArrowheads="1"/>
          </p:cNvSpPr>
          <p:nvPr/>
        </p:nvSpPr>
        <p:spPr bwMode="auto">
          <a:xfrm>
            <a:off x="4758503" y="2647297"/>
            <a:ext cx="2919544" cy="562630"/>
          </a:xfrm>
          <a:prstGeom prst="ellipse">
            <a:avLst/>
          </a:prstGeom>
          <a:solidFill>
            <a:schemeClr val="accent1"/>
          </a:solidFill>
          <a:ln w="9525" algn="ctr">
            <a:solidFill>
              <a:schemeClr val="tx1"/>
            </a:solidFill>
            <a:round/>
            <a:headEnd/>
            <a:tailEnd/>
          </a:ln>
        </p:spPr>
        <p:txBody>
          <a:bodyPr wrap="none" anchor="ctr">
            <a:spAutoFit/>
          </a:bodyPr>
          <a:lstStyle>
            <a:lvl1pPr>
              <a:spcBef>
                <a:spcPct val="20000"/>
              </a:spcBef>
              <a:buClr>
                <a:srgbClr val="800000"/>
              </a:buClr>
              <a:buFont typeface="Wingdings" panose="05000000000000000000" pitchFamily="2" charset="2"/>
              <a:buChar char="§"/>
              <a:defRPr kumimoji="1" sz="2800">
                <a:solidFill>
                  <a:srgbClr val="003366"/>
                </a:solidFill>
                <a:latin typeface="Arial" panose="020B0604020202020204" pitchFamily="34" charset="0"/>
              </a:defRPr>
            </a:lvl1pPr>
            <a:lvl2pPr marL="742950" indent="-285750">
              <a:spcBef>
                <a:spcPct val="20000"/>
              </a:spcBef>
              <a:buClr>
                <a:srgbClr val="800000"/>
              </a:buClr>
              <a:buFont typeface="Wingdings" panose="05000000000000000000" pitchFamily="2" charset="2"/>
              <a:buChar char="§"/>
              <a:defRPr kumimoji="1" sz="2400">
                <a:solidFill>
                  <a:srgbClr val="003366"/>
                </a:solidFill>
                <a:latin typeface="Arial" panose="020B0604020202020204" pitchFamily="34" charset="0"/>
              </a:defRPr>
            </a:lvl2pPr>
            <a:lvl3pPr marL="1143000" indent="-228600">
              <a:spcBef>
                <a:spcPct val="20000"/>
              </a:spcBef>
              <a:buClr>
                <a:srgbClr val="800000"/>
              </a:buClr>
              <a:buFont typeface="Wingdings" panose="05000000000000000000" pitchFamily="2" charset="2"/>
              <a:buChar char=""/>
              <a:defRPr kumimoji="1" sz="2000">
                <a:solidFill>
                  <a:srgbClr val="003366"/>
                </a:solidFill>
                <a:latin typeface="Arial" panose="020B0604020202020204" pitchFamily="34" charset="0"/>
              </a:defRPr>
            </a:lvl3pPr>
            <a:lvl4pPr marL="1600200" indent="-228600">
              <a:spcBef>
                <a:spcPct val="20000"/>
              </a:spcBef>
              <a:buClr>
                <a:srgbClr val="CC0000"/>
              </a:buClr>
              <a:buFont typeface="Wingdings" panose="05000000000000000000" pitchFamily="2" charset="2"/>
              <a:buChar char="s"/>
              <a:defRPr kumimoji="1" sz="2000">
                <a:solidFill>
                  <a:srgbClr val="003366"/>
                </a:solidFill>
                <a:latin typeface="Arial" panose="020B0604020202020204" pitchFamily="34" charset="0"/>
              </a:defRPr>
            </a:lvl4pPr>
            <a:lvl5pPr marL="2057400" indent="-228600">
              <a:spcBef>
                <a:spcPct val="20000"/>
              </a:spcBef>
              <a:buClr>
                <a:srgbClr val="CC0000"/>
              </a:buClr>
              <a:buFont typeface="Wingdings" panose="05000000000000000000" pitchFamily="2" charset="2"/>
              <a:buChar char=" "/>
              <a:defRPr kumimoji="1" sz="2000">
                <a:solidFill>
                  <a:srgbClr val="003366"/>
                </a:solidFill>
                <a:latin typeface="Arial" panose="020B0604020202020204" pitchFamily="34" charset="0"/>
              </a:defRPr>
            </a:lvl5pPr>
            <a:lvl6pPr marL="25146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6pPr>
            <a:lvl7pPr marL="29718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7pPr>
            <a:lvl8pPr marL="34290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8pPr>
            <a:lvl9pPr marL="38862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9pPr>
          </a:lstStyle>
          <a:p>
            <a:pPr eaLnBrk="1" hangingPunct="1">
              <a:spcBef>
                <a:spcPct val="0"/>
              </a:spcBef>
              <a:buClrTx/>
              <a:buFontTx/>
              <a:buNone/>
            </a:pPr>
            <a:r>
              <a:rPr kumimoji="0" lang="en-US" altLang="en-US" sz="2000" b="1" dirty="0">
                <a:solidFill>
                  <a:schemeClr val="tx1"/>
                </a:solidFill>
              </a:rPr>
              <a:t>K in set n items</a:t>
            </a:r>
          </a:p>
        </p:txBody>
      </p:sp>
      <p:cxnSp>
        <p:nvCxnSpPr>
          <p:cNvPr id="18" name="Straight Arrow Connector 17">
            <a:extLst>
              <a:ext uri="{FF2B5EF4-FFF2-40B4-BE49-F238E27FC236}">
                <a16:creationId xmlns:a16="http://schemas.microsoft.com/office/drawing/2014/main" id="{05A06776-B01D-6E1B-2CFC-ACD22A71C567}"/>
              </a:ext>
            </a:extLst>
          </p:cNvPr>
          <p:cNvCxnSpPr>
            <a:cxnSpLocks noChangeShapeType="1"/>
            <a:stCxn id="16" idx="4"/>
            <a:endCxn id="21" idx="0"/>
          </p:cNvCxnSpPr>
          <p:nvPr/>
        </p:nvCxnSpPr>
        <p:spPr bwMode="auto">
          <a:xfrm flipH="1">
            <a:off x="1995907" y="3025695"/>
            <a:ext cx="1257150" cy="354259"/>
          </a:xfrm>
          <a:prstGeom prst="straightConnector1">
            <a:avLst/>
          </a:prstGeom>
          <a:noFill/>
          <a:ln w="38100" algn="ctr">
            <a:solidFill>
              <a:srgbClr val="57A6C9"/>
            </a:solidFill>
            <a:round/>
            <a:headEnd/>
            <a:tailEnd type="arrow" w="med" len="med"/>
          </a:ln>
          <a:extLst>
            <a:ext uri="{909E8E84-426E-40DD-AFC4-6F175D3DCCD1}">
              <a14:hiddenFill xmlns:a14="http://schemas.microsoft.com/office/drawing/2010/main">
                <a:noFill/>
              </a14:hiddenFill>
            </a:ext>
          </a:extLst>
        </p:spPr>
      </p:cxnSp>
      <p:sp>
        <p:nvSpPr>
          <p:cNvPr id="21" name="Rectangle 20">
            <a:extLst>
              <a:ext uri="{FF2B5EF4-FFF2-40B4-BE49-F238E27FC236}">
                <a16:creationId xmlns:a16="http://schemas.microsoft.com/office/drawing/2014/main" id="{7F74B24E-1E5F-9C9F-2163-EE4C115F8480}"/>
              </a:ext>
            </a:extLst>
          </p:cNvPr>
          <p:cNvSpPr>
            <a:spLocks noChangeArrowheads="1"/>
          </p:cNvSpPr>
          <p:nvPr/>
        </p:nvSpPr>
        <p:spPr bwMode="auto">
          <a:xfrm>
            <a:off x="1230313" y="3379954"/>
            <a:ext cx="1531188" cy="369332"/>
          </a:xfrm>
          <a:prstGeom prst="rect">
            <a:avLst/>
          </a:prstGeom>
          <a:solidFill>
            <a:srgbClr val="FF0000"/>
          </a:solidFill>
          <a:ln w="9525" algn="ctr">
            <a:solidFill>
              <a:schemeClr val="tx1"/>
            </a:solidFill>
            <a:round/>
            <a:headEnd/>
            <a:tailEnd/>
          </a:ln>
        </p:spPr>
        <p:txBody>
          <a:bodyPr wrap="none" anchor="ctr">
            <a:spAutoFit/>
          </a:bodyPr>
          <a:lstStyle>
            <a:lvl1pPr>
              <a:spcBef>
                <a:spcPct val="20000"/>
              </a:spcBef>
              <a:buClr>
                <a:srgbClr val="800000"/>
              </a:buClr>
              <a:buFont typeface="Wingdings" panose="05000000000000000000" pitchFamily="2" charset="2"/>
              <a:buChar char="§"/>
              <a:defRPr kumimoji="1" sz="2800">
                <a:solidFill>
                  <a:srgbClr val="003366"/>
                </a:solidFill>
                <a:latin typeface="Arial" panose="020B0604020202020204" pitchFamily="34" charset="0"/>
              </a:defRPr>
            </a:lvl1pPr>
            <a:lvl2pPr marL="742950" indent="-285750">
              <a:spcBef>
                <a:spcPct val="20000"/>
              </a:spcBef>
              <a:buClr>
                <a:srgbClr val="800000"/>
              </a:buClr>
              <a:buFont typeface="Wingdings" panose="05000000000000000000" pitchFamily="2" charset="2"/>
              <a:buChar char="§"/>
              <a:defRPr kumimoji="1" sz="2400">
                <a:solidFill>
                  <a:srgbClr val="003366"/>
                </a:solidFill>
                <a:latin typeface="Arial" panose="020B0604020202020204" pitchFamily="34" charset="0"/>
              </a:defRPr>
            </a:lvl2pPr>
            <a:lvl3pPr marL="1143000" indent="-228600">
              <a:spcBef>
                <a:spcPct val="20000"/>
              </a:spcBef>
              <a:buClr>
                <a:srgbClr val="800000"/>
              </a:buClr>
              <a:buFont typeface="Wingdings" panose="05000000000000000000" pitchFamily="2" charset="2"/>
              <a:buChar char=""/>
              <a:defRPr kumimoji="1" sz="2000">
                <a:solidFill>
                  <a:srgbClr val="003366"/>
                </a:solidFill>
                <a:latin typeface="Arial" panose="020B0604020202020204" pitchFamily="34" charset="0"/>
              </a:defRPr>
            </a:lvl3pPr>
            <a:lvl4pPr marL="1600200" indent="-228600">
              <a:spcBef>
                <a:spcPct val="20000"/>
              </a:spcBef>
              <a:buClr>
                <a:srgbClr val="CC0000"/>
              </a:buClr>
              <a:buFont typeface="Wingdings" panose="05000000000000000000" pitchFamily="2" charset="2"/>
              <a:buChar char="s"/>
              <a:defRPr kumimoji="1" sz="2000">
                <a:solidFill>
                  <a:srgbClr val="003366"/>
                </a:solidFill>
                <a:latin typeface="Arial" panose="020B0604020202020204" pitchFamily="34" charset="0"/>
              </a:defRPr>
            </a:lvl4pPr>
            <a:lvl5pPr marL="2057400" indent="-228600">
              <a:spcBef>
                <a:spcPct val="20000"/>
              </a:spcBef>
              <a:buClr>
                <a:srgbClr val="CC0000"/>
              </a:buClr>
              <a:buFont typeface="Wingdings" panose="05000000000000000000" pitchFamily="2" charset="2"/>
              <a:buChar char=" "/>
              <a:defRPr kumimoji="1" sz="2000">
                <a:solidFill>
                  <a:srgbClr val="003366"/>
                </a:solidFill>
                <a:latin typeface="Arial" panose="020B0604020202020204" pitchFamily="34" charset="0"/>
              </a:defRPr>
            </a:lvl5pPr>
            <a:lvl6pPr marL="25146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6pPr>
            <a:lvl7pPr marL="29718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7pPr>
            <a:lvl8pPr marL="34290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8pPr>
            <a:lvl9pPr marL="38862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9pPr>
          </a:lstStyle>
          <a:p>
            <a:pPr eaLnBrk="1" hangingPunct="1">
              <a:spcBef>
                <a:spcPct val="0"/>
              </a:spcBef>
              <a:buClrTx/>
              <a:buFontTx/>
              <a:buNone/>
            </a:pPr>
            <a:r>
              <a:rPr kumimoji="0" lang="en-US" altLang="en-US" sz="1800" b="1" dirty="0">
                <a:solidFill>
                  <a:srgbClr val="FFFF00"/>
                </a:solidFill>
              </a:rPr>
              <a:t>Permutation</a:t>
            </a:r>
          </a:p>
        </p:txBody>
      </p:sp>
      <p:cxnSp>
        <p:nvCxnSpPr>
          <p:cNvPr id="24" name="Straight Arrow Connector 23">
            <a:extLst>
              <a:ext uri="{FF2B5EF4-FFF2-40B4-BE49-F238E27FC236}">
                <a16:creationId xmlns:a16="http://schemas.microsoft.com/office/drawing/2014/main" id="{6196F5A7-3EBA-58C8-DBEC-317CC566C008}"/>
              </a:ext>
            </a:extLst>
          </p:cNvPr>
          <p:cNvCxnSpPr>
            <a:cxnSpLocks noChangeShapeType="1"/>
            <a:stCxn id="17" idx="4"/>
            <a:endCxn id="28" idx="0"/>
          </p:cNvCxnSpPr>
          <p:nvPr/>
        </p:nvCxnSpPr>
        <p:spPr bwMode="auto">
          <a:xfrm flipH="1">
            <a:off x="4063887" y="3209927"/>
            <a:ext cx="2154388" cy="1009642"/>
          </a:xfrm>
          <a:prstGeom prst="straightConnector1">
            <a:avLst/>
          </a:prstGeom>
          <a:noFill/>
          <a:ln w="38100" algn="ctr">
            <a:solidFill>
              <a:srgbClr val="57A6C9"/>
            </a:solidFill>
            <a:round/>
            <a:headEnd/>
            <a:tailEnd type="arrow" w="med" len="med"/>
          </a:ln>
          <a:extLst>
            <a:ext uri="{909E8E84-426E-40DD-AFC4-6F175D3DCCD1}">
              <a14:hiddenFill xmlns:a14="http://schemas.microsoft.com/office/drawing/2010/main">
                <a:noFill/>
              </a14:hiddenFill>
            </a:ext>
          </a:extLst>
        </p:spPr>
      </p:cxnSp>
      <p:cxnSp>
        <p:nvCxnSpPr>
          <p:cNvPr id="25" name="Straight Arrow Connector 24">
            <a:extLst>
              <a:ext uri="{FF2B5EF4-FFF2-40B4-BE49-F238E27FC236}">
                <a16:creationId xmlns:a16="http://schemas.microsoft.com/office/drawing/2014/main" id="{C158EB2B-BCFE-C6CF-DF6E-E57C2A487852}"/>
              </a:ext>
            </a:extLst>
          </p:cNvPr>
          <p:cNvCxnSpPr>
            <a:cxnSpLocks noChangeShapeType="1"/>
            <a:stCxn id="17" idx="4"/>
            <a:endCxn id="29" idx="0"/>
          </p:cNvCxnSpPr>
          <p:nvPr/>
        </p:nvCxnSpPr>
        <p:spPr bwMode="auto">
          <a:xfrm>
            <a:off x="6218275" y="3209927"/>
            <a:ext cx="997323" cy="1043576"/>
          </a:xfrm>
          <a:prstGeom prst="straightConnector1">
            <a:avLst/>
          </a:prstGeom>
          <a:noFill/>
          <a:ln w="38100" algn="ctr">
            <a:solidFill>
              <a:srgbClr val="57A6C9"/>
            </a:solidFill>
            <a:round/>
            <a:headEnd/>
            <a:tailEnd type="arrow" w="med" len="med"/>
          </a:ln>
          <a:extLst>
            <a:ext uri="{909E8E84-426E-40DD-AFC4-6F175D3DCCD1}">
              <a14:hiddenFill xmlns:a14="http://schemas.microsoft.com/office/drawing/2010/main">
                <a:noFill/>
              </a14:hiddenFill>
            </a:ext>
          </a:extLst>
        </p:spPr>
      </p:cxnSp>
      <p:sp>
        <p:nvSpPr>
          <p:cNvPr id="26" name="TextBox 25">
            <a:extLst>
              <a:ext uri="{FF2B5EF4-FFF2-40B4-BE49-F238E27FC236}">
                <a16:creationId xmlns:a16="http://schemas.microsoft.com/office/drawing/2014/main" id="{5EC78BE5-D293-B3A4-A2E4-CDD06A252FC3}"/>
              </a:ext>
            </a:extLst>
          </p:cNvPr>
          <p:cNvSpPr txBox="1">
            <a:spLocks noChangeArrowheads="1"/>
          </p:cNvSpPr>
          <p:nvPr/>
        </p:nvSpPr>
        <p:spPr bwMode="auto">
          <a:xfrm>
            <a:off x="3622562" y="3656317"/>
            <a:ext cx="1581841"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800000"/>
              </a:buClr>
              <a:buFont typeface="Wingdings" panose="05000000000000000000" pitchFamily="2" charset="2"/>
              <a:buChar char="§"/>
              <a:defRPr kumimoji="1" sz="2800">
                <a:solidFill>
                  <a:srgbClr val="003366"/>
                </a:solidFill>
                <a:latin typeface="Arial" panose="020B0604020202020204" pitchFamily="34" charset="0"/>
              </a:defRPr>
            </a:lvl1pPr>
            <a:lvl2pPr marL="742950" indent="-285750">
              <a:spcBef>
                <a:spcPct val="20000"/>
              </a:spcBef>
              <a:buClr>
                <a:srgbClr val="800000"/>
              </a:buClr>
              <a:buFont typeface="Wingdings" panose="05000000000000000000" pitchFamily="2" charset="2"/>
              <a:buChar char="§"/>
              <a:defRPr kumimoji="1" sz="2400">
                <a:solidFill>
                  <a:srgbClr val="003366"/>
                </a:solidFill>
                <a:latin typeface="Arial" panose="020B0604020202020204" pitchFamily="34" charset="0"/>
              </a:defRPr>
            </a:lvl2pPr>
            <a:lvl3pPr marL="1143000" indent="-228600">
              <a:spcBef>
                <a:spcPct val="20000"/>
              </a:spcBef>
              <a:buClr>
                <a:srgbClr val="800000"/>
              </a:buClr>
              <a:buFont typeface="Wingdings" panose="05000000000000000000" pitchFamily="2" charset="2"/>
              <a:buChar char=""/>
              <a:defRPr kumimoji="1" sz="2000">
                <a:solidFill>
                  <a:srgbClr val="003366"/>
                </a:solidFill>
                <a:latin typeface="Arial" panose="020B0604020202020204" pitchFamily="34" charset="0"/>
              </a:defRPr>
            </a:lvl3pPr>
            <a:lvl4pPr marL="1600200" indent="-228600">
              <a:spcBef>
                <a:spcPct val="20000"/>
              </a:spcBef>
              <a:buClr>
                <a:srgbClr val="CC0000"/>
              </a:buClr>
              <a:buFont typeface="Wingdings" panose="05000000000000000000" pitchFamily="2" charset="2"/>
              <a:buChar char="s"/>
              <a:defRPr kumimoji="1" sz="2000">
                <a:solidFill>
                  <a:srgbClr val="003366"/>
                </a:solidFill>
                <a:latin typeface="Arial" panose="020B0604020202020204" pitchFamily="34" charset="0"/>
              </a:defRPr>
            </a:lvl4pPr>
            <a:lvl5pPr marL="2057400" indent="-228600">
              <a:spcBef>
                <a:spcPct val="20000"/>
              </a:spcBef>
              <a:buClr>
                <a:srgbClr val="CC0000"/>
              </a:buClr>
              <a:buFont typeface="Wingdings" panose="05000000000000000000" pitchFamily="2" charset="2"/>
              <a:buChar char=" "/>
              <a:defRPr kumimoji="1" sz="2000">
                <a:solidFill>
                  <a:srgbClr val="003366"/>
                </a:solidFill>
                <a:latin typeface="Arial" panose="020B0604020202020204" pitchFamily="34" charset="0"/>
              </a:defRPr>
            </a:lvl5pPr>
            <a:lvl6pPr marL="25146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6pPr>
            <a:lvl7pPr marL="29718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7pPr>
            <a:lvl8pPr marL="34290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8pPr>
            <a:lvl9pPr marL="38862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9pPr>
          </a:lstStyle>
          <a:p>
            <a:pPr eaLnBrk="1" hangingPunct="1">
              <a:spcBef>
                <a:spcPct val="0"/>
              </a:spcBef>
              <a:buClrTx/>
              <a:buFontTx/>
              <a:buNone/>
            </a:pPr>
            <a:r>
              <a:rPr kumimoji="0" lang="en-US" altLang="en-US" sz="2000" b="1" dirty="0">
                <a:solidFill>
                  <a:schemeClr val="tx1"/>
                </a:solidFill>
              </a:rPr>
              <a:t>With order</a:t>
            </a:r>
          </a:p>
        </p:txBody>
      </p:sp>
      <p:sp>
        <p:nvSpPr>
          <p:cNvPr id="27" name="TextBox 26">
            <a:extLst>
              <a:ext uri="{FF2B5EF4-FFF2-40B4-BE49-F238E27FC236}">
                <a16:creationId xmlns:a16="http://schemas.microsoft.com/office/drawing/2014/main" id="{7DEC5F88-1B2A-CCE4-0A5D-377C90A190F2}"/>
              </a:ext>
            </a:extLst>
          </p:cNvPr>
          <p:cNvSpPr txBox="1">
            <a:spLocks noChangeArrowheads="1"/>
          </p:cNvSpPr>
          <p:nvPr/>
        </p:nvSpPr>
        <p:spPr bwMode="auto">
          <a:xfrm>
            <a:off x="7018338" y="3659769"/>
            <a:ext cx="152400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800000"/>
              </a:buClr>
              <a:buFont typeface="Wingdings" panose="05000000000000000000" pitchFamily="2" charset="2"/>
              <a:buChar char="§"/>
              <a:defRPr kumimoji="1" sz="2800">
                <a:solidFill>
                  <a:srgbClr val="003366"/>
                </a:solidFill>
                <a:latin typeface="Arial" panose="020B0604020202020204" pitchFamily="34" charset="0"/>
              </a:defRPr>
            </a:lvl1pPr>
            <a:lvl2pPr marL="742950" indent="-285750">
              <a:spcBef>
                <a:spcPct val="20000"/>
              </a:spcBef>
              <a:buClr>
                <a:srgbClr val="800000"/>
              </a:buClr>
              <a:buFont typeface="Wingdings" panose="05000000000000000000" pitchFamily="2" charset="2"/>
              <a:buChar char="§"/>
              <a:defRPr kumimoji="1" sz="2400">
                <a:solidFill>
                  <a:srgbClr val="003366"/>
                </a:solidFill>
                <a:latin typeface="Arial" panose="020B0604020202020204" pitchFamily="34" charset="0"/>
              </a:defRPr>
            </a:lvl2pPr>
            <a:lvl3pPr marL="1143000" indent="-228600">
              <a:spcBef>
                <a:spcPct val="20000"/>
              </a:spcBef>
              <a:buClr>
                <a:srgbClr val="800000"/>
              </a:buClr>
              <a:buFont typeface="Wingdings" panose="05000000000000000000" pitchFamily="2" charset="2"/>
              <a:buChar char=""/>
              <a:defRPr kumimoji="1" sz="2000">
                <a:solidFill>
                  <a:srgbClr val="003366"/>
                </a:solidFill>
                <a:latin typeface="Arial" panose="020B0604020202020204" pitchFamily="34" charset="0"/>
              </a:defRPr>
            </a:lvl3pPr>
            <a:lvl4pPr marL="1600200" indent="-228600">
              <a:spcBef>
                <a:spcPct val="20000"/>
              </a:spcBef>
              <a:buClr>
                <a:srgbClr val="CC0000"/>
              </a:buClr>
              <a:buFont typeface="Wingdings" panose="05000000000000000000" pitchFamily="2" charset="2"/>
              <a:buChar char="s"/>
              <a:defRPr kumimoji="1" sz="2000">
                <a:solidFill>
                  <a:srgbClr val="003366"/>
                </a:solidFill>
                <a:latin typeface="Arial" panose="020B0604020202020204" pitchFamily="34" charset="0"/>
              </a:defRPr>
            </a:lvl4pPr>
            <a:lvl5pPr marL="2057400" indent="-228600">
              <a:spcBef>
                <a:spcPct val="20000"/>
              </a:spcBef>
              <a:buClr>
                <a:srgbClr val="CC0000"/>
              </a:buClr>
              <a:buFont typeface="Wingdings" panose="05000000000000000000" pitchFamily="2" charset="2"/>
              <a:buChar char=" "/>
              <a:defRPr kumimoji="1" sz="2000">
                <a:solidFill>
                  <a:srgbClr val="003366"/>
                </a:solidFill>
                <a:latin typeface="Arial" panose="020B0604020202020204" pitchFamily="34" charset="0"/>
              </a:defRPr>
            </a:lvl5pPr>
            <a:lvl6pPr marL="25146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6pPr>
            <a:lvl7pPr marL="29718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7pPr>
            <a:lvl8pPr marL="34290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8pPr>
            <a:lvl9pPr marL="38862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9pPr>
          </a:lstStyle>
          <a:p>
            <a:pPr eaLnBrk="1" hangingPunct="1">
              <a:spcBef>
                <a:spcPct val="0"/>
              </a:spcBef>
              <a:buClrTx/>
              <a:buFontTx/>
              <a:buNone/>
            </a:pPr>
            <a:r>
              <a:rPr kumimoji="0" lang="en-US" altLang="en-US" sz="2000" b="1" dirty="0">
                <a:solidFill>
                  <a:schemeClr val="tx1"/>
                </a:solidFill>
              </a:rPr>
              <a:t>No order</a:t>
            </a:r>
          </a:p>
        </p:txBody>
      </p:sp>
      <p:sp>
        <p:nvSpPr>
          <p:cNvPr id="28" name="Oval 27">
            <a:extLst>
              <a:ext uri="{FF2B5EF4-FFF2-40B4-BE49-F238E27FC236}">
                <a16:creationId xmlns:a16="http://schemas.microsoft.com/office/drawing/2014/main" id="{C1C3DA02-D82F-B892-9933-C6F30A83C9EB}"/>
              </a:ext>
            </a:extLst>
          </p:cNvPr>
          <p:cNvSpPr>
            <a:spLocks noChangeArrowheads="1"/>
          </p:cNvSpPr>
          <p:nvPr/>
        </p:nvSpPr>
        <p:spPr bwMode="auto">
          <a:xfrm>
            <a:off x="2802478" y="4219569"/>
            <a:ext cx="2522818" cy="562630"/>
          </a:xfrm>
          <a:prstGeom prst="ellipse">
            <a:avLst/>
          </a:prstGeom>
          <a:solidFill>
            <a:schemeClr val="accent1"/>
          </a:solidFill>
          <a:ln w="9525" algn="ctr">
            <a:solidFill>
              <a:schemeClr val="tx1"/>
            </a:solidFill>
            <a:round/>
            <a:headEnd/>
            <a:tailEnd/>
          </a:ln>
        </p:spPr>
        <p:txBody>
          <a:bodyPr wrap="none" anchor="ctr">
            <a:spAutoFit/>
          </a:bodyPr>
          <a:lstStyle>
            <a:lvl1pPr>
              <a:spcBef>
                <a:spcPct val="20000"/>
              </a:spcBef>
              <a:buClr>
                <a:srgbClr val="800000"/>
              </a:buClr>
              <a:buFont typeface="Wingdings" panose="05000000000000000000" pitchFamily="2" charset="2"/>
              <a:buChar char="§"/>
              <a:defRPr kumimoji="1" sz="2800">
                <a:solidFill>
                  <a:srgbClr val="003366"/>
                </a:solidFill>
                <a:latin typeface="Arial" panose="020B0604020202020204" pitchFamily="34" charset="0"/>
              </a:defRPr>
            </a:lvl1pPr>
            <a:lvl2pPr marL="742950" indent="-285750">
              <a:spcBef>
                <a:spcPct val="20000"/>
              </a:spcBef>
              <a:buClr>
                <a:srgbClr val="800000"/>
              </a:buClr>
              <a:buFont typeface="Wingdings" panose="05000000000000000000" pitchFamily="2" charset="2"/>
              <a:buChar char="§"/>
              <a:defRPr kumimoji="1" sz="2400">
                <a:solidFill>
                  <a:srgbClr val="003366"/>
                </a:solidFill>
                <a:latin typeface="Arial" panose="020B0604020202020204" pitchFamily="34" charset="0"/>
              </a:defRPr>
            </a:lvl2pPr>
            <a:lvl3pPr marL="1143000" indent="-228600">
              <a:spcBef>
                <a:spcPct val="20000"/>
              </a:spcBef>
              <a:buClr>
                <a:srgbClr val="800000"/>
              </a:buClr>
              <a:buFont typeface="Wingdings" panose="05000000000000000000" pitchFamily="2" charset="2"/>
              <a:buChar char=""/>
              <a:defRPr kumimoji="1" sz="2000">
                <a:solidFill>
                  <a:srgbClr val="003366"/>
                </a:solidFill>
                <a:latin typeface="Arial" panose="020B0604020202020204" pitchFamily="34" charset="0"/>
              </a:defRPr>
            </a:lvl3pPr>
            <a:lvl4pPr marL="1600200" indent="-228600">
              <a:spcBef>
                <a:spcPct val="20000"/>
              </a:spcBef>
              <a:buClr>
                <a:srgbClr val="CC0000"/>
              </a:buClr>
              <a:buFont typeface="Wingdings" panose="05000000000000000000" pitchFamily="2" charset="2"/>
              <a:buChar char="s"/>
              <a:defRPr kumimoji="1" sz="2000">
                <a:solidFill>
                  <a:srgbClr val="003366"/>
                </a:solidFill>
                <a:latin typeface="Arial" panose="020B0604020202020204" pitchFamily="34" charset="0"/>
              </a:defRPr>
            </a:lvl4pPr>
            <a:lvl5pPr marL="2057400" indent="-228600">
              <a:spcBef>
                <a:spcPct val="20000"/>
              </a:spcBef>
              <a:buClr>
                <a:srgbClr val="CC0000"/>
              </a:buClr>
              <a:buFont typeface="Wingdings" panose="05000000000000000000" pitchFamily="2" charset="2"/>
              <a:buChar char=" "/>
              <a:defRPr kumimoji="1" sz="2000">
                <a:solidFill>
                  <a:srgbClr val="003366"/>
                </a:solidFill>
                <a:latin typeface="Arial" panose="020B0604020202020204" pitchFamily="34" charset="0"/>
              </a:defRPr>
            </a:lvl5pPr>
            <a:lvl6pPr marL="25146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6pPr>
            <a:lvl7pPr marL="29718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7pPr>
            <a:lvl8pPr marL="34290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8pPr>
            <a:lvl9pPr marL="38862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9pPr>
          </a:lstStyle>
          <a:p>
            <a:pPr>
              <a:spcBef>
                <a:spcPct val="0"/>
              </a:spcBef>
              <a:buClrTx/>
              <a:buNone/>
            </a:pPr>
            <a:r>
              <a:rPr lang="en-US" sz="2000" dirty="0"/>
              <a:t>Arrangements</a:t>
            </a:r>
            <a:endParaRPr kumimoji="0" lang="en-US" altLang="en-US" sz="2000" b="1" dirty="0">
              <a:solidFill>
                <a:schemeClr val="tx1"/>
              </a:solidFill>
            </a:endParaRPr>
          </a:p>
        </p:txBody>
      </p:sp>
      <p:sp>
        <p:nvSpPr>
          <p:cNvPr id="29" name="Oval 28">
            <a:extLst>
              <a:ext uri="{FF2B5EF4-FFF2-40B4-BE49-F238E27FC236}">
                <a16:creationId xmlns:a16="http://schemas.microsoft.com/office/drawing/2014/main" id="{AC2D87DB-7D72-91FF-69E6-770B65C7DF01}"/>
              </a:ext>
            </a:extLst>
          </p:cNvPr>
          <p:cNvSpPr>
            <a:spLocks noChangeArrowheads="1"/>
          </p:cNvSpPr>
          <p:nvPr/>
        </p:nvSpPr>
        <p:spPr bwMode="auto">
          <a:xfrm>
            <a:off x="5983492" y="4253503"/>
            <a:ext cx="2464211" cy="562630"/>
          </a:xfrm>
          <a:prstGeom prst="ellipse">
            <a:avLst/>
          </a:prstGeom>
          <a:solidFill>
            <a:schemeClr val="accent1"/>
          </a:solidFill>
          <a:ln w="9525" algn="ctr">
            <a:solidFill>
              <a:schemeClr val="tx1"/>
            </a:solidFill>
            <a:round/>
            <a:headEnd/>
            <a:tailEnd/>
          </a:ln>
        </p:spPr>
        <p:txBody>
          <a:bodyPr wrap="none" anchor="ctr">
            <a:spAutoFit/>
          </a:bodyPr>
          <a:lstStyle>
            <a:lvl1pPr>
              <a:spcBef>
                <a:spcPct val="20000"/>
              </a:spcBef>
              <a:buClr>
                <a:srgbClr val="800000"/>
              </a:buClr>
              <a:buFont typeface="Wingdings" panose="05000000000000000000" pitchFamily="2" charset="2"/>
              <a:buChar char="§"/>
              <a:defRPr kumimoji="1" sz="2800">
                <a:solidFill>
                  <a:srgbClr val="003366"/>
                </a:solidFill>
                <a:latin typeface="Arial" panose="020B0604020202020204" pitchFamily="34" charset="0"/>
              </a:defRPr>
            </a:lvl1pPr>
            <a:lvl2pPr marL="742950" indent="-285750">
              <a:spcBef>
                <a:spcPct val="20000"/>
              </a:spcBef>
              <a:buClr>
                <a:srgbClr val="800000"/>
              </a:buClr>
              <a:buFont typeface="Wingdings" panose="05000000000000000000" pitchFamily="2" charset="2"/>
              <a:buChar char="§"/>
              <a:defRPr kumimoji="1" sz="2400">
                <a:solidFill>
                  <a:srgbClr val="003366"/>
                </a:solidFill>
                <a:latin typeface="Arial" panose="020B0604020202020204" pitchFamily="34" charset="0"/>
              </a:defRPr>
            </a:lvl2pPr>
            <a:lvl3pPr marL="1143000" indent="-228600">
              <a:spcBef>
                <a:spcPct val="20000"/>
              </a:spcBef>
              <a:buClr>
                <a:srgbClr val="800000"/>
              </a:buClr>
              <a:buFont typeface="Wingdings" panose="05000000000000000000" pitchFamily="2" charset="2"/>
              <a:buChar char=""/>
              <a:defRPr kumimoji="1" sz="2000">
                <a:solidFill>
                  <a:srgbClr val="003366"/>
                </a:solidFill>
                <a:latin typeface="Arial" panose="020B0604020202020204" pitchFamily="34" charset="0"/>
              </a:defRPr>
            </a:lvl3pPr>
            <a:lvl4pPr marL="1600200" indent="-228600">
              <a:spcBef>
                <a:spcPct val="20000"/>
              </a:spcBef>
              <a:buClr>
                <a:srgbClr val="CC0000"/>
              </a:buClr>
              <a:buFont typeface="Wingdings" panose="05000000000000000000" pitchFamily="2" charset="2"/>
              <a:buChar char="s"/>
              <a:defRPr kumimoji="1" sz="2000">
                <a:solidFill>
                  <a:srgbClr val="003366"/>
                </a:solidFill>
                <a:latin typeface="Arial" panose="020B0604020202020204" pitchFamily="34" charset="0"/>
              </a:defRPr>
            </a:lvl4pPr>
            <a:lvl5pPr marL="2057400" indent="-228600">
              <a:spcBef>
                <a:spcPct val="20000"/>
              </a:spcBef>
              <a:buClr>
                <a:srgbClr val="CC0000"/>
              </a:buClr>
              <a:buFont typeface="Wingdings" panose="05000000000000000000" pitchFamily="2" charset="2"/>
              <a:buChar char=" "/>
              <a:defRPr kumimoji="1" sz="2000">
                <a:solidFill>
                  <a:srgbClr val="003366"/>
                </a:solidFill>
                <a:latin typeface="Arial" panose="020B0604020202020204" pitchFamily="34" charset="0"/>
              </a:defRPr>
            </a:lvl5pPr>
            <a:lvl6pPr marL="25146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6pPr>
            <a:lvl7pPr marL="29718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7pPr>
            <a:lvl8pPr marL="34290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8pPr>
            <a:lvl9pPr marL="38862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9pPr>
          </a:lstStyle>
          <a:p>
            <a:pPr eaLnBrk="1" hangingPunct="1">
              <a:spcBef>
                <a:spcPct val="0"/>
              </a:spcBef>
              <a:buClrTx/>
              <a:buFontTx/>
              <a:buNone/>
            </a:pPr>
            <a:r>
              <a:rPr kumimoji="0" lang="en-US" altLang="en-US" sz="2000" b="1" dirty="0">
                <a:solidFill>
                  <a:schemeClr val="tx1"/>
                </a:solidFill>
              </a:rPr>
              <a:t>Combination</a:t>
            </a:r>
          </a:p>
        </p:txBody>
      </p:sp>
      <p:cxnSp>
        <p:nvCxnSpPr>
          <p:cNvPr id="30" name="Straight Arrow Connector 29">
            <a:extLst>
              <a:ext uri="{FF2B5EF4-FFF2-40B4-BE49-F238E27FC236}">
                <a16:creationId xmlns:a16="http://schemas.microsoft.com/office/drawing/2014/main" id="{6D095416-6E16-7482-206B-25A69F924C01}"/>
              </a:ext>
            </a:extLst>
          </p:cNvPr>
          <p:cNvCxnSpPr>
            <a:cxnSpLocks noChangeShapeType="1"/>
            <a:stCxn id="28" idx="4"/>
            <a:endCxn id="33" idx="0"/>
          </p:cNvCxnSpPr>
          <p:nvPr/>
        </p:nvCxnSpPr>
        <p:spPr bwMode="auto">
          <a:xfrm flipH="1">
            <a:off x="1603613" y="4782199"/>
            <a:ext cx="2460274" cy="503886"/>
          </a:xfrm>
          <a:prstGeom prst="straightConnector1">
            <a:avLst/>
          </a:prstGeom>
          <a:noFill/>
          <a:ln w="38100" algn="ctr">
            <a:solidFill>
              <a:srgbClr val="57A6C9"/>
            </a:solidFill>
            <a:round/>
            <a:headEnd/>
            <a:tailEnd type="arrow" w="med" len="med"/>
          </a:ln>
          <a:extLst>
            <a:ext uri="{909E8E84-426E-40DD-AFC4-6F175D3DCCD1}">
              <a14:hiddenFill xmlns:a14="http://schemas.microsoft.com/office/drawing/2010/main">
                <a:noFill/>
              </a14:hiddenFill>
            </a:ext>
          </a:extLst>
        </p:spPr>
      </p:cxnSp>
      <p:cxnSp>
        <p:nvCxnSpPr>
          <p:cNvPr id="31" name="Straight Arrow Connector 30">
            <a:extLst>
              <a:ext uri="{FF2B5EF4-FFF2-40B4-BE49-F238E27FC236}">
                <a16:creationId xmlns:a16="http://schemas.microsoft.com/office/drawing/2014/main" id="{C77A7D16-29F5-8D15-4EF5-57A131C7B7DB}"/>
              </a:ext>
            </a:extLst>
          </p:cNvPr>
          <p:cNvCxnSpPr>
            <a:cxnSpLocks noChangeShapeType="1"/>
            <a:stCxn id="28" idx="4"/>
            <a:endCxn id="35" idx="0"/>
          </p:cNvCxnSpPr>
          <p:nvPr/>
        </p:nvCxnSpPr>
        <p:spPr bwMode="auto">
          <a:xfrm flipH="1">
            <a:off x="3427008" y="4782199"/>
            <a:ext cx="636879" cy="475879"/>
          </a:xfrm>
          <a:prstGeom prst="straightConnector1">
            <a:avLst/>
          </a:prstGeom>
          <a:noFill/>
          <a:ln w="38100" algn="ctr">
            <a:solidFill>
              <a:srgbClr val="57A6C9"/>
            </a:solidFill>
            <a:round/>
            <a:headEnd/>
            <a:tailEnd type="arrow" w="med" len="med"/>
          </a:ln>
          <a:extLst>
            <a:ext uri="{909E8E84-426E-40DD-AFC4-6F175D3DCCD1}">
              <a14:hiddenFill xmlns:a14="http://schemas.microsoft.com/office/drawing/2010/main">
                <a:noFill/>
              </a14:hiddenFill>
            </a:ext>
          </a:extLst>
        </p:spPr>
      </p:cxnSp>
      <p:sp>
        <p:nvSpPr>
          <p:cNvPr id="33" name="Rectangle 32">
            <a:extLst>
              <a:ext uri="{FF2B5EF4-FFF2-40B4-BE49-F238E27FC236}">
                <a16:creationId xmlns:a16="http://schemas.microsoft.com/office/drawing/2014/main" id="{F77BACD2-044E-BE6B-89AC-9FB63D8D8498}"/>
              </a:ext>
            </a:extLst>
          </p:cNvPr>
          <p:cNvSpPr>
            <a:spLocks noChangeArrowheads="1"/>
          </p:cNvSpPr>
          <p:nvPr/>
        </p:nvSpPr>
        <p:spPr bwMode="auto">
          <a:xfrm>
            <a:off x="692626" y="5286085"/>
            <a:ext cx="1821974" cy="369332"/>
          </a:xfrm>
          <a:prstGeom prst="rect">
            <a:avLst/>
          </a:prstGeom>
          <a:solidFill>
            <a:srgbClr val="FF0000"/>
          </a:solidFill>
          <a:ln w="9525" algn="ctr">
            <a:solidFill>
              <a:schemeClr val="tx1"/>
            </a:solidFill>
            <a:round/>
            <a:headEnd/>
            <a:tailEnd/>
          </a:ln>
        </p:spPr>
        <p:txBody>
          <a:bodyPr wrap="none" anchor="ctr">
            <a:spAutoFit/>
          </a:bodyPr>
          <a:lstStyle>
            <a:lvl1pPr>
              <a:spcBef>
                <a:spcPct val="20000"/>
              </a:spcBef>
              <a:buClr>
                <a:srgbClr val="800000"/>
              </a:buClr>
              <a:buFont typeface="Wingdings" panose="05000000000000000000" pitchFamily="2" charset="2"/>
              <a:buChar char="§"/>
              <a:defRPr kumimoji="1" sz="2800">
                <a:solidFill>
                  <a:srgbClr val="003366"/>
                </a:solidFill>
                <a:latin typeface="Arial" panose="020B0604020202020204" pitchFamily="34" charset="0"/>
              </a:defRPr>
            </a:lvl1pPr>
            <a:lvl2pPr marL="742950" indent="-285750">
              <a:spcBef>
                <a:spcPct val="20000"/>
              </a:spcBef>
              <a:buClr>
                <a:srgbClr val="800000"/>
              </a:buClr>
              <a:buFont typeface="Wingdings" panose="05000000000000000000" pitchFamily="2" charset="2"/>
              <a:buChar char="§"/>
              <a:defRPr kumimoji="1" sz="2400">
                <a:solidFill>
                  <a:srgbClr val="003366"/>
                </a:solidFill>
                <a:latin typeface="Arial" panose="020B0604020202020204" pitchFamily="34" charset="0"/>
              </a:defRPr>
            </a:lvl2pPr>
            <a:lvl3pPr marL="1143000" indent="-228600">
              <a:spcBef>
                <a:spcPct val="20000"/>
              </a:spcBef>
              <a:buClr>
                <a:srgbClr val="800000"/>
              </a:buClr>
              <a:buFont typeface="Wingdings" panose="05000000000000000000" pitchFamily="2" charset="2"/>
              <a:buChar char=""/>
              <a:defRPr kumimoji="1" sz="2000">
                <a:solidFill>
                  <a:srgbClr val="003366"/>
                </a:solidFill>
                <a:latin typeface="Arial" panose="020B0604020202020204" pitchFamily="34" charset="0"/>
              </a:defRPr>
            </a:lvl3pPr>
            <a:lvl4pPr marL="1600200" indent="-228600">
              <a:spcBef>
                <a:spcPct val="20000"/>
              </a:spcBef>
              <a:buClr>
                <a:srgbClr val="CC0000"/>
              </a:buClr>
              <a:buFont typeface="Wingdings" panose="05000000000000000000" pitchFamily="2" charset="2"/>
              <a:buChar char="s"/>
              <a:defRPr kumimoji="1" sz="2000">
                <a:solidFill>
                  <a:srgbClr val="003366"/>
                </a:solidFill>
                <a:latin typeface="Arial" panose="020B0604020202020204" pitchFamily="34" charset="0"/>
              </a:defRPr>
            </a:lvl4pPr>
            <a:lvl5pPr marL="2057400" indent="-228600">
              <a:spcBef>
                <a:spcPct val="20000"/>
              </a:spcBef>
              <a:buClr>
                <a:srgbClr val="CC0000"/>
              </a:buClr>
              <a:buFont typeface="Wingdings" panose="05000000000000000000" pitchFamily="2" charset="2"/>
              <a:buChar char=" "/>
              <a:defRPr kumimoji="1" sz="2000">
                <a:solidFill>
                  <a:srgbClr val="003366"/>
                </a:solidFill>
                <a:latin typeface="Arial" panose="020B0604020202020204" pitchFamily="34" charset="0"/>
              </a:defRPr>
            </a:lvl5pPr>
            <a:lvl6pPr marL="25146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6pPr>
            <a:lvl7pPr marL="29718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7pPr>
            <a:lvl8pPr marL="34290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8pPr>
            <a:lvl9pPr marL="38862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9pPr>
          </a:lstStyle>
          <a:p>
            <a:pPr>
              <a:spcBef>
                <a:spcPct val="0"/>
              </a:spcBef>
              <a:buClrTx/>
              <a:buNone/>
            </a:pPr>
            <a:r>
              <a:rPr lang="en-US" sz="1800" dirty="0"/>
              <a:t>k-different items</a:t>
            </a:r>
          </a:p>
        </p:txBody>
      </p:sp>
      <p:sp>
        <p:nvSpPr>
          <p:cNvPr id="35" name="Rectangle 34">
            <a:extLst>
              <a:ext uri="{FF2B5EF4-FFF2-40B4-BE49-F238E27FC236}">
                <a16:creationId xmlns:a16="http://schemas.microsoft.com/office/drawing/2014/main" id="{B637F68D-6B50-FEDA-F164-2C07C701B79A}"/>
              </a:ext>
            </a:extLst>
          </p:cNvPr>
          <p:cNvSpPr>
            <a:spLocks noChangeArrowheads="1"/>
          </p:cNvSpPr>
          <p:nvPr/>
        </p:nvSpPr>
        <p:spPr bwMode="auto">
          <a:xfrm>
            <a:off x="2802478" y="5258078"/>
            <a:ext cx="1249060" cy="369332"/>
          </a:xfrm>
          <a:prstGeom prst="rect">
            <a:avLst/>
          </a:prstGeom>
          <a:solidFill>
            <a:srgbClr val="FF0000"/>
          </a:solidFill>
          <a:ln w="9525" algn="ctr">
            <a:solidFill>
              <a:schemeClr val="tx1"/>
            </a:solidFill>
            <a:round/>
            <a:headEnd/>
            <a:tailEnd/>
          </a:ln>
        </p:spPr>
        <p:txBody>
          <a:bodyPr wrap="none" anchor="ctr">
            <a:spAutoFit/>
          </a:bodyPr>
          <a:lstStyle>
            <a:lvl1pPr>
              <a:spcBef>
                <a:spcPct val="20000"/>
              </a:spcBef>
              <a:buClr>
                <a:srgbClr val="800000"/>
              </a:buClr>
              <a:buFont typeface="Wingdings" panose="05000000000000000000" pitchFamily="2" charset="2"/>
              <a:buChar char="§"/>
              <a:defRPr kumimoji="1" sz="2800">
                <a:solidFill>
                  <a:srgbClr val="003366"/>
                </a:solidFill>
                <a:latin typeface="Arial" panose="020B0604020202020204" pitchFamily="34" charset="0"/>
              </a:defRPr>
            </a:lvl1pPr>
            <a:lvl2pPr marL="742950" indent="-285750">
              <a:spcBef>
                <a:spcPct val="20000"/>
              </a:spcBef>
              <a:buClr>
                <a:srgbClr val="800000"/>
              </a:buClr>
              <a:buFont typeface="Wingdings" panose="05000000000000000000" pitchFamily="2" charset="2"/>
              <a:buChar char="§"/>
              <a:defRPr kumimoji="1" sz="2400">
                <a:solidFill>
                  <a:srgbClr val="003366"/>
                </a:solidFill>
                <a:latin typeface="Arial" panose="020B0604020202020204" pitchFamily="34" charset="0"/>
              </a:defRPr>
            </a:lvl2pPr>
            <a:lvl3pPr marL="1143000" indent="-228600">
              <a:spcBef>
                <a:spcPct val="20000"/>
              </a:spcBef>
              <a:buClr>
                <a:srgbClr val="800000"/>
              </a:buClr>
              <a:buFont typeface="Wingdings" panose="05000000000000000000" pitchFamily="2" charset="2"/>
              <a:buChar char=""/>
              <a:defRPr kumimoji="1" sz="2000">
                <a:solidFill>
                  <a:srgbClr val="003366"/>
                </a:solidFill>
                <a:latin typeface="Arial" panose="020B0604020202020204" pitchFamily="34" charset="0"/>
              </a:defRPr>
            </a:lvl3pPr>
            <a:lvl4pPr marL="1600200" indent="-228600">
              <a:spcBef>
                <a:spcPct val="20000"/>
              </a:spcBef>
              <a:buClr>
                <a:srgbClr val="CC0000"/>
              </a:buClr>
              <a:buFont typeface="Wingdings" panose="05000000000000000000" pitchFamily="2" charset="2"/>
              <a:buChar char="s"/>
              <a:defRPr kumimoji="1" sz="2000">
                <a:solidFill>
                  <a:srgbClr val="003366"/>
                </a:solidFill>
                <a:latin typeface="Arial" panose="020B0604020202020204" pitchFamily="34" charset="0"/>
              </a:defRPr>
            </a:lvl4pPr>
            <a:lvl5pPr marL="2057400" indent="-228600">
              <a:spcBef>
                <a:spcPct val="20000"/>
              </a:spcBef>
              <a:buClr>
                <a:srgbClr val="CC0000"/>
              </a:buClr>
              <a:buFont typeface="Wingdings" panose="05000000000000000000" pitchFamily="2" charset="2"/>
              <a:buChar char=" "/>
              <a:defRPr kumimoji="1" sz="2000">
                <a:solidFill>
                  <a:srgbClr val="003366"/>
                </a:solidFill>
                <a:latin typeface="Arial" panose="020B0604020202020204" pitchFamily="34" charset="0"/>
              </a:defRPr>
            </a:lvl5pPr>
            <a:lvl6pPr marL="25146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6pPr>
            <a:lvl7pPr marL="29718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7pPr>
            <a:lvl8pPr marL="34290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8pPr>
            <a:lvl9pPr marL="38862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9pPr>
          </a:lstStyle>
          <a:p>
            <a:pPr eaLnBrk="1" hangingPunct="1">
              <a:spcBef>
                <a:spcPct val="0"/>
              </a:spcBef>
              <a:buClrTx/>
              <a:buFontTx/>
              <a:buNone/>
            </a:pPr>
            <a:r>
              <a:rPr kumimoji="0" lang="en-US" altLang="en-US" sz="1800" b="1" dirty="0">
                <a:solidFill>
                  <a:srgbClr val="FFFF00"/>
                </a:solidFill>
              </a:rPr>
              <a:t>No biding</a:t>
            </a:r>
          </a:p>
        </p:txBody>
      </p:sp>
      <p:cxnSp>
        <p:nvCxnSpPr>
          <p:cNvPr id="36" name="Straight Arrow Connector 35">
            <a:extLst>
              <a:ext uri="{FF2B5EF4-FFF2-40B4-BE49-F238E27FC236}">
                <a16:creationId xmlns:a16="http://schemas.microsoft.com/office/drawing/2014/main" id="{28C4552D-7307-0ABE-9804-9327B22180AE}"/>
              </a:ext>
            </a:extLst>
          </p:cNvPr>
          <p:cNvCxnSpPr>
            <a:cxnSpLocks noChangeShapeType="1"/>
            <a:stCxn id="29" idx="4"/>
            <a:endCxn id="39" idx="0"/>
          </p:cNvCxnSpPr>
          <p:nvPr/>
        </p:nvCxnSpPr>
        <p:spPr bwMode="auto">
          <a:xfrm flipH="1">
            <a:off x="5887484" y="4816133"/>
            <a:ext cx="1328114" cy="422882"/>
          </a:xfrm>
          <a:prstGeom prst="straightConnector1">
            <a:avLst/>
          </a:prstGeom>
          <a:noFill/>
          <a:ln w="38100" algn="ctr">
            <a:solidFill>
              <a:srgbClr val="57A6C9"/>
            </a:solidFill>
            <a:round/>
            <a:headEnd/>
            <a:tailEnd type="arrow" w="med" len="med"/>
          </a:ln>
          <a:extLst>
            <a:ext uri="{909E8E84-426E-40DD-AFC4-6F175D3DCCD1}">
              <a14:hiddenFill xmlns:a14="http://schemas.microsoft.com/office/drawing/2010/main">
                <a:noFill/>
              </a14:hiddenFill>
            </a:ext>
          </a:extLst>
        </p:spPr>
      </p:cxnSp>
      <p:cxnSp>
        <p:nvCxnSpPr>
          <p:cNvPr id="37" name="Straight Arrow Connector 36">
            <a:extLst>
              <a:ext uri="{FF2B5EF4-FFF2-40B4-BE49-F238E27FC236}">
                <a16:creationId xmlns:a16="http://schemas.microsoft.com/office/drawing/2014/main" id="{6D65D824-FAB2-F64C-070B-BB812F175A58}"/>
              </a:ext>
            </a:extLst>
          </p:cNvPr>
          <p:cNvCxnSpPr>
            <a:cxnSpLocks noChangeShapeType="1"/>
            <a:stCxn id="29" idx="4"/>
            <a:endCxn id="41" idx="0"/>
          </p:cNvCxnSpPr>
          <p:nvPr/>
        </p:nvCxnSpPr>
        <p:spPr bwMode="auto">
          <a:xfrm>
            <a:off x="7215598" y="4816133"/>
            <a:ext cx="806682" cy="441945"/>
          </a:xfrm>
          <a:prstGeom prst="straightConnector1">
            <a:avLst/>
          </a:prstGeom>
          <a:noFill/>
          <a:ln w="38100" algn="ctr">
            <a:solidFill>
              <a:srgbClr val="57A6C9"/>
            </a:solidFill>
            <a:round/>
            <a:headEnd/>
            <a:tailEnd type="arrow" w="med" len="med"/>
          </a:ln>
          <a:extLst>
            <a:ext uri="{909E8E84-426E-40DD-AFC4-6F175D3DCCD1}">
              <a14:hiddenFill xmlns:a14="http://schemas.microsoft.com/office/drawing/2010/main">
                <a:noFill/>
              </a14:hiddenFill>
            </a:ext>
          </a:extLst>
        </p:spPr>
      </p:cxnSp>
      <p:sp>
        <p:nvSpPr>
          <p:cNvPr id="39" name="Rectangle 38">
            <a:extLst>
              <a:ext uri="{FF2B5EF4-FFF2-40B4-BE49-F238E27FC236}">
                <a16:creationId xmlns:a16="http://schemas.microsoft.com/office/drawing/2014/main" id="{551BD67F-63B3-EABD-FE77-2C2A1A2D0BB1}"/>
              </a:ext>
            </a:extLst>
          </p:cNvPr>
          <p:cNvSpPr>
            <a:spLocks noChangeArrowheads="1"/>
          </p:cNvSpPr>
          <p:nvPr/>
        </p:nvSpPr>
        <p:spPr bwMode="auto">
          <a:xfrm>
            <a:off x="4976497" y="5239015"/>
            <a:ext cx="1821974" cy="369332"/>
          </a:xfrm>
          <a:prstGeom prst="rect">
            <a:avLst/>
          </a:prstGeom>
          <a:solidFill>
            <a:srgbClr val="FF0000"/>
          </a:solidFill>
          <a:ln w="9525" algn="ctr">
            <a:solidFill>
              <a:schemeClr val="tx1"/>
            </a:solidFill>
            <a:round/>
            <a:headEnd/>
            <a:tailEnd/>
          </a:ln>
        </p:spPr>
        <p:txBody>
          <a:bodyPr wrap="none" anchor="ctr">
            <a:spAutoFit/>
          </a:bodyPr>
          <a:lstStyle>
            <a:lvl1pPr>
              <a:spcBef>
                <a:spcPct val="20000"/>
              </a:spcBef>
              <a:buClr>
                <a:srgbClr val="800000"/>
              </a:buClr>
              <a:buFont typeface="Wingdings" panose="05000000000000000000" pitchFamily="2" charset="2"/>
              <a:buChar char="§"/>
              <a:defRPr kumimoji="1" sz="2800">
                <a:solidFill>
                  <a:srgbClr val="003366"/>
                </a:solidFill>
                <a:latin typeface="Arial" panose="020B0604020202020204" pitchFamily="34" charset="0"/>
              </a:defRPr>
            </a:lvl1pPr>
            <a:lvl2pPr marL="742950" indent="-285750">
              <a:spcBef>
                <a:spcPct val="20000"/>
              </a:spcBef>
              <a:buClr>
                <a:srgbClr val="800000"/>
              </a:buClr>
              <a:buFont typeface="Wingdings" panose="05000000000000000000" pitchFamily="2" charset="2"/>
              <a:buChar char="§"/>
              <a:defRPr kumimoji="1" sz="2400">
                <a:solidFill>
                  <a:srgbClr val="003366"/>
                </a:solidFill>
                <a:latin typeface="Arial" panose="020B0604020202020204" pitchFamily="34" charset="0"/>
              </a:defRPr>
            </a:lvl2pPr>
            <a:lvl3pPr marL="1143000" indent="-228600">
              <a:spcBef>
                <a:spcPct val="20000"/>
              </a:spcBef>
              <a:buClr>
                <a:srgbClr val="800000"/>
              </a:buClr>
              <a:buFont typeface="Wingdings" panose="05000000000000000000" pitchFamily="2" charset="2"/>
              <a:buChar char=""/>
              <a:defRPr kumimoji="1" sz="2000">
                <a:solidFill>
                  <a:srgbClr val="003366"/>
                </a:solidFill>
                <a:latin typeface="Arial" panose="020B0604020202020204" pitchFamily="34" charset="0"/>
              </a:defRPr>
            </a:lvl3pPr>
            <a:lvl4pPr marL="1600200" indent="-228600">
              <a:spcBef>
                <a:spcPct val="20000"/>
              </a:spcBef>
              <a:buClr>
                <a:srgbClr val="CC0000"/>
              </a:buClr>
              <a:buFont typeface="Wingdings" panose="05000000000000000000" pitchFamily="2" charset="2"/>
              <a:buChar char="s"/>
              <a:defRPr kumimoji="1" sz="2000">
                <a:solidFill>
                  <a:srgbClr val="003366"/>
                </a:solidFill>
                <a:latin typeface="Arial" panose="020B0604020202020204" pitchFamily="34" charset="0"/>
              </a:defRPr>
            </a:lvl4pPr>
            <a:lvl5pPr marL="2057400" indent="-228600">
              <a:spcBef>
                <a:spcPct val="20000"/>
              </a:spcBef>
              <a:buClr>
                <a:srgbClr val="CC0000"/>
              </a:buClr>
              <a:buFont typeface="Wingdings" panose="05000000000000000000" pitchFamily="2" charset="2"/>
              <a:buChar char=" "/>
              <a:defRPr kumimoji="1" sz="2000">
                <a:solidFill>
                  <a:srgbClr val="003366"/>
                </a:solidFill>
                <a:latin typeface="Arial" panose="020B0604020202020204" pitchFamily="34" charset="0"/>
              </a:defRPr>
            </a:lvl5pPr>
            <a:lvl6pPr marL="25146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6pPr>
            <a:lvl7pPr marL="29718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7pPr>
            <a:lvl8pPr marL="34290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8pPr>
            <a:lvl9pPr marL="38862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9pPr>
          </a:lstStyle>
          <a:p>
            <a:pPr>
              <a:spcBef>
                <a:spcPct val="0"/>
              </a:spcBef>
              <a:buClrTx/>
              <a:buNone/>
            </a:pPr>
            <a:r>
              <a:rPr lang="en-US" sz="1800" dirty="0"/>
              <a:t>k-different items</a:t>
            </a:r>
          </a:p>
        </p:txBody>
      </p:sp>
      <p:sp>
        <p:nvSpPr>
          <p:cNvPr id="41" name="Rectangle 40">
            <a:extLst>
              <a:ext uri="{FF2B5EF4-FFF2-40B4-BE49-F238E27FC236}">
                <a16:creationId xmlns:a16="http://schemas.microsoft.com/office/drawing/2014/main" id="{526EB44D-F7DB-FAC8-B525-7EA96EFF8C9E}"/>
              </a:ext>
            </a:extLst>
          </p:cNvPr>
          <p:cNvSpPr>
            <a:spLocks noChangeArrowheads="1"/>
          </p:cNvSpPr>
          <p:nvPr/>
        </p:nvSpPr>
        <p:spPr bwMode="auto">
          <a:xfrm>
            <a:off x="7397750" y="5258078"/>
            <a:ext cx="1249060" cy="369332"/>
          </a:xfrm>
          <a:prstGeom prst="rect">
            <a:avLst/>
          </a:prstGeom>
          <a:solidFill>
            <a:srgbClr val="FF0000"/>
          </a:solidFill>
          <a:ln w="9525" algn="ctr">
            <a:solidFill>
              <a:schemeClr val="tx1"/>
            </a:solidFill>
            <a:round/>
            <a:headEnd/>
            <a:tailEnd/>
          </a:ln>
        </p:spPr>
        <p:txBody>
          <a:bodyPr wrap="none" anchor="ctr">
            <a:spAutoFit/>
          </a:bodyPr>
          <a:lstStyle>
            <a:lvl1pPr>
              <a:spcBef>
                <a:spcPct val="20000"/>
              </a:spcBef>
              <a:buClr>
                <a:srgbClr val="800000"/>
              </a:buClr>
              <a:buFont typeface="Wingdings" panose="05000000000000000000" pitchFamily="2" charset="2"/>
              <a:buChar char="§"/>
              <a:defRPr kumimoji="1" sz="2800">
                <a:solidFill>
                  <a:srgbClr val="003366"/>
                </a:solidFill>
                <a:latin typeface="Arial" panose="020B0604020202020204" pitchFamily="34" charset="0"/>
              </a:defRPr>
            </a:lvl1pPr>
            <a:lvl2pPr marL="742950" indent="-285750">
              <a:spcBef>
                <a:spcPct val="20000"/>
              </a:spcBef>
              <a:buClr>
                <a:srgbClr val="800000"/>
              </a:buClr>
              <a:buFont typeface="Wingdings" panose="05000000000000000000" pitchFamily="2" charset="2"/>
              <a:buChar char="§"/>
              <a:defRPr kumimoji="1" sz="2400">
                <a:solidFill>
                  <a:srgbClr val="003366"/>
                </a:solidFill>
                <a:latin typeface="Arial" panose="020B0604020202020204" pitchFamily="34" charset="0"/>
              </a:defRPr>
            </a:lvl2pPr>
            <a:lvl3pPr marL="1143000" indent="-228600">
              <a:spcBef>
                <a:spcPct val="20000"/>
              </a:spcBef>
              <a:buClr>
                <a:srgbClr val="800000"/>
              </a:buClr>
              <a:buFont typeface="Wingdings" panose="05000000000000000000" pitchFamily="2" charset="2"/>
              <a:buChar char=""/>
              <a:defRPr kumimoji="1" sz="2000">
                <a:solidFill>
                  <a:srgbClr val="003366"/>
                </a:solidFill>
                <a:latin typeface="Arial" panose="020B0604020202020204" pitchFamily="34" charset="0"/>
              </a:defRPr>
            </a:lvl3pPr>
            <a:lvl4pPr marL="1600200" indent="-228600">
              <a:spcBef>
                <a:spcPct val="20000"/>
              </a:spcBef>
              <a:buClr>
                <a:srgbClr val="CC0000"/>
              </a:buClr>
              <a:buFont typeface="Wingdings" panose="05000000000000000000" pitchFamily="2" charset="2"/>
              <a:buChar char="s"/>
              <a:defRPr kumimoji="1" sz="2000">
                <a:solidFill>
                  <a:srgbClr val="003366"/>
                </a:solidFill>
                <a:latin typeface="Arial" panose="020B0604020202020204" pitchFamily="34" charset="0"/>
              </a:defRPr>
            </a:lvl4pPr>
            <a:lvl5pPr marL="2057400" indent="-228600">
              <a:spcBef>
                <a:spcPct val="20000"/>
              </a:spcBef>
              <a:buClr>
                <a:srgbClr val="CC0000"/>
              </a:buClr>
              <a:buFont typeface="Wingdings" panose="05000000000000000000" pitchFamily="2" charset="2"/>
              <a:buChar char=" "/>
              <a:defRPr kumimoji="1" sz="2000">
                <a:solidFill>
                  <a:srgbClr val="003366"/>
                </a:solidFill>
                <a:latin typeface="Arial" panose="020B0604020202020204" pitchFamily="34" charset="0"/>
              </a:defRPr>
            </a:lvl5pPr>
            <a:lvl6pPr marL="25146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6pPr>
            <a:lvl7pPr marL="29718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7pPr>
            <a:lvl8pPr marL="34290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8pPr>
            <a:lvl9pPr marL="3886200" indent="-228600" eaLnBrk="0" fontAlgn="base" hangingPunct="0">
              <a:spcBef>
                <a:spcPct val="20000"/>
              </a:spcBef>
              <a:spcAft>
                <a:spcPct val="0"/>
              </a:spcAft>
              <a:buClr>
                <a:srgbClr val="CC0000"/>
              </a:buClr>
              <a:buFont typeface="Wingdings" panose="05000000000000000000" pitchFamily="2" charset="2"/>
              <a:buChar char=" "/>
              <a:defRPr kumimoji="1" sz="2000">
                <a:solidFill>
                  <a:srgbClr val="003366"/>
                </a:solidFill>
                <a:latin typeface="Arial" panose="020B0604020202020204" pitchFamily="34" charset="0"/>
              </a:defRPr>
            </a:lvl9pPr>
          </a:lstStyle>
          <a:p>
            <a:pPr>
              <a:spcBef>
                <a:spcPct val="0"/>
              </a:spcBef>
              <a:buClrTx/>
              <a:buNone/>
            </a:pPr>
            <a:r>
              <a:rPr kumimoji="0" lang="en-US" altLang="en-US" sz="1800" b="1" dirty="0">
                <a:solidFill>
                  <a:srgbClr val="FFFF00"/>
                </a:solidFill>
              </a:rPr>
              <a:t>No biding</a:t>
            </a:r>
          </a:p>
        </p:txBody>
      </p:sp>
      <p:graphicFrame>
        <p:nvGraphicFramePr>
          <p:cNvPr id="42" name="Object 2">
            <a:extLst>
              <a:ext uri="{FF2B5EF4-FFF2-40B4-BE49-F238E27FC236}">
                <a16:creationId xmlns:a16="http://schemas.microsoft.com/office/drawing/2014/main" id="{127FDB1E-E3FA-59A1-D06F-218EEFFC0DAB}"/>
              </a:ext>
            </a:extLst>
          </p:cNvPr>
          <p:cNvGraphicFramePr>
            <a:graphicFrameLocks noChangeAspect="1"/>
          </p:cNvGraphicFramePr>
          <p:nvPr>
            <p:extLst>
              <p:ext uri="{D42A27DB-BD31-4B8C-83A1-F6EECF244321}">
                <p14:modId xmlns:p14="http://schemas.microsoft.com/office/powerpoint/2010/main" val="796432532"/>
              </p:ext>
            </p:extLst>
          </p:nvPr>
        </p:nvGraphicFramePr>
        <p:xfrm>
          <a:off x="622300" y="5609286"/>
          <a:ext cx="1825625" cy="925513"/>
        </p:xfrm>
        <a:graphic>
          <a:graphicData uri="http://schemas.openxmlformats.org/presentationml/2006/ole">
            <mc:AlternateContent xmlns:mc="http://schemas.openxmlformats.org/markup-compatibility/2006">
              <mc:Choice xmlns:v="urn:schemas-microsoft-com:vml" Requires="v">
                <p:oleObj name="Equation" r:id="rId4" imgW="825500" imgH="419100" progId="Equation.DSMT4">
                  <p:embed/>
                </p:oleObj>
              </mc:Choice>
              <mc:Fallback>
                <p:oleObj name="Equation" r:id="rId4" imgW="825500" imgH="419100" progId="Equation.DSMT4">
                  <p:embed/>
                  <p:pic>
                    <p:nvPicPr>
                      <p:cNvPr id="84994" name="Object 2">
                        <a:extLst>
                          <a:ext uri="{FF2B5EF4-FFF2-40B4-BE49-F238E27FC236}">
                            <a16:creationId xmlns:a16="http://schemas.microsoft.com/office/drawing/2014/main" id="{AC1FE4F3-72E2-05B2-966A-26B224CEFCE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22300" y="5609286"/>
                        <a:ext cx="1825625" cy="925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3" name="Object 3">
            <a:extLst>
              <a:ext uri="{FF2B5EF4-FFF2-40B4-BE49-F238E27FC236}">
                <a16:creationId xmlns:a16="http://schemas.microsoft.com/office/drawing/2014/main" id="{49F5EB6B-23C6-49D6-6FBE-7A42A59A92F6}"/>
              </a:ext>
            </a:extLst>
          </p:cNvPr>
          <p:cNvGraphicFramePr>
            <a:graphicFrameLocks noChangeAspect="1"/>
          </p:cNvGraphicFramePr>
          <p:nvPr>
            <p:extLst>
              <p:ext uri="{D42A27DB-BD31-4B8C-83A1-F6EECF244321}">
                <p14:modId xmlns:p14="http://schemas.microsoft.com/office/powerpoint/2010/main" val="313286668"/>
              </p:ext>
            </p:extLst>
          </p:nvPr>
        </p:nvGraphicFramePr>
        <p:xfrm>
          <a:off x="4791077" y="5597896"/>
          <a:ext cx="2133600" cy="925512"/>
        </p:xfrm>
        <a:graphic>
          <a:graphicData uri="http://schemas.openxmlformats.org/presentationml/2006/ole">
            <mc:AlternateContent xmlns:mc="http://schemas.openxmlformats.org/markup-compatibility/2006">
              <mc:Choice xmlns:v="urn:schemas-microsoft-com:vml" Requires="v">
                <p:oleObj name="Equation" r:id="rId6" imgW="965200" imgH="419100" progId="Equation.DSMT4">
                  <p:embed/>
                </p:oleObj>
              </mc:Choice>
              <mc:Fallback>
                <p:oleObj name="Equation" r:id="rId6" imgW="965200" imgH="419100" progId="Equation.DSMT4">
                  <p:embed/>
                  <p:pic>
                    <p:nvPicPr>
                      <p:cNvPr id="79" name="Object 3">
                        <a:extLst>
                          <a:ext uri="{FF2B5EF4-FFF2-40B4-BE49-F238E27FC236}">
                            <a16:creationId xmlns:a16="http://schemas.microsoft.com/office/drawing/2014/main" id="{E57A337E-3272-24B0-BEE6-76E841333A8D}"/>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4791077" y="5597896"/>
                        <a:ext cx="2133600" cy="9255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 name="Object 4">
            <a:extLst>
              <a:ext uri="{FF2B5EF4-FFF2-40B4-BE49-F238E27FC236}">
                <a16:creationId xmlns:a16="http://schemas.microsoft.com/office/drawing/2014/main" id="{9ED13BF4-ADE2-0AEE-2033-59AA1EAA1799}"/>
              </a:ext>
            </a:extLst>
          </p:cNvPr>
          <p:cNvGraphicFramePr>
            <a:graphicFrameLocks noChangeAspect="1"/>
          </p:cNvGraphicFramePr>
          <p:nvPr>
            <p:extLst>
              <p:ext uri="{D42A27DB-BD31-4B8C-83A1-F6EECF244321}">
                <p14:modId xmlns:p14="http://schemas.microsoft.com/office/powerpoint/2010/main" val="2254406174"/>
              </p:ext>
            </p:extLst>
          </p:nvPr>
        </p:nvGraphicFramePr>
        <p:xfrm>
          <a:off x="3179072" y="5800076"/>
          <a:ext cx="393700" cy="449263"/>
        </p:xfrm>
        <a:graphic>
          <a:graphicData uri="http://schemas.openxmlformats.org/presentationml/2006/ole">
            <mc:AlternateContent xmlns:mc="http://schemas.openxmlformats.org/markup-compatibility/2006">
              <mc:Choice xmlns:v="urn:schemas-microsoft-com:vml" Requires="v">
                <p:oleObj name="Equation" r:id="rId8" imgW="177569" imgH="202936" progId="Equation.DSMT4">
                  <p:embed/>
                </p:oleObj>
              </mc:Choice>
              <mc:Fallback>
                <p:oleObj name="Equation" r:id="rId8" imgW="177569" imgH="202936" progId="Equation.DSMT4">
                  <p:embed/>
                  <p:pic>
                    <p:nvPicPr>
                      <p:cNvPr id="80" name="Object 4">
                        <a:extLst>
                          <a:ext uri="{FF2B5EF4-FFF2-40B4-BE49-F238E27FC236}">
                            <a16:creationId xmlns:a16="http://schemas.microsoft.com/office/drawing/2014/main" id="{A3B9A96D-DA04-7070-C687-8DCBF50EC756}"/>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179072" y="5800076"/>
                        <a:ext cx="393700" cy="449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5" name="Object 5">
            <a:extLst>
              <a:ext uri="{FF2B5EF4-FFF2-40B4-BE49-F238E27FC236}">
                <a16:creationId xmlns:a16="http://schemas.microsoft.com/office/drawing/2014/main" id="{532AE24B-A17F-AEFE-9187-7265455AFD0F}"/>
              </a:ext>
            </a:extLst>
          </p:cNvPr>
          <p:cNvGraphicFramePr>
            <a:graphicFrameLocks noChangeAspect="1"/>
          </p:cNvGraphicFramePr>
          <p:nvPr/>
        </p:nvGraphicFramePr>
        <p:xfrm>
          <a:off x="7473950" y="5562600"/>
          <a:ext cx="1517650" cy="960438"/>
        </p:xfrm>
        <a:graphic>
          <a:graphicData uri="http://schemas.openxmlformats.org/presentationml/2006/ole">
            <mc:AlternateContent xmlns:mc="http://schemas.openxmlformats.org/markup-compatibility/2006">
              <mc:Choice xmlns:v="urn:schemas-microsoft-com:vml" Requires="v">
                <p:oleObj name="Equation" r:id="rId10" imgW="380835" imgH="241195" progId="Equation.DSMT4">
                  <p:embed/>
                </p:oleObj>
              </mc:Choice>
              <mc:Fallback>
                <p:oleObj name="Equation" r:id="rId10" imgW="380835" imgH="241195" progId="Equation.DSMT4">
                  <p:embed/>
                  <p:pic>
                    <p:nvPicPr>
                      <p:cNvPr id="84997" name="Object 5">
                        <a:extLst>
                          <a:ext uri="{FF2B5EF4-FFF2-40B4-BE49-F238E27FC236}">
                            <a16:creationId xmlns:a16="http://schemas.microsoft.com/office/drawing/2014/main" id="{FA798B83-FFD6-1204-0F88-1189068A8BB4}"/>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473950" y="5562600"/>
                        <a:ext cx="1517650" cy="960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7" name="Object 7">
            <a:extLst>
              <a:ext uri="{FF2B5EF4-FFF2-40B4-BE49-F238E27FC236}">
                <a16:creationId xmlns:a16="http://schemas.microsoft.com/office/drawing/2014/main" id="{64F12E5A-E6E7-7E0C-8C72-2AEFF14FDFA2}"/>
              </a:ext>
            </a:extLst>
          </p:cNvPr>
          <p:cNvGraphicFramePr>
            <a:graphicFrameLocks noChangeAspect="1"/>
          </p:cNvGraphicFramePr>
          <p:nvPr>
            <p:extLst>
              <p:ext uri="{D42A27DB-BD31-4B8C-83A1-F6EECF244321}">
                <p14:modId xmlns:p14="http://schemas.microsoft.com/office/powerpoint/2010/main" val="1134761137"/>
              </p:ext>
            </p:extLst>
          </p:nvPr>
        </p:nvGraphicFramePr>
        <p:xfrm>
          <a:off x="1628775" y="3764327"/>
          <a:ext cx="544513" cy="584200"/>
        </p:xfrm>
        <a:graphic>
          <a:graphicData uri="http://schemas.openxmlformats.org/presentationml/2006/ole">
            <mc:AlternateContent xmlns:mc="http://schemas.openxmlformats.org/markup-compatibility/2006">
              <mc:Choice xmlns:v="urn:schemas-microsoft-com:vml" Requires="v">
                <p:oleObj name="Equation" r:id="rId12" imgW="164814" imgH="177492" progId="Equation.DSMT4">
                  <p:embed/>
                </p:oleObj>
              </mc:Choice>
              <mc:Fallback>
                <p:oleObj name="Equation" r:id="rId12" imgW="164814" imgH="177492" progId="Equation.DSMT4">
                  <p:embed/>
                  <p:pic>
                    <p:nvPicPr>
                      <p:cNvPr id="83" name="Object 7">
                        <a:extLst>
                          <a:ext uri="{FF2B5EF4-FFF2-40B4-BE49-F238E27FC236}">
                            <a16:creationId xmlns:a16="http://schemas.microsoft.com/office/drawing/2014/main" id="{4AF9C4C5-9DE1-9E93-0841-07E7F3C64A37}"/>
                          </a:ext>
                        </a:extLst>
                      </p:cNvPr>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628775" y="3764327"/>
                        <a:ext cx="544513" cy="584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79853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ox(in)">
                                      <p:cBhvr>
                                        <p:cTn id="7" dur="500"/>
                                        <p:tgtEl>
                                          <p:spTgt spid="9"/>
                                        </p:tgtEl>
                                      </p:cBhvr>
                                    </p:animEffect>
                                  </p:childTnLst>
                                </p:cTn>
                              </p:par>
                              <p:par>
                                <p:cTn id="8" presetID="4" presetClass="entr" presetSubtype="16"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box(in)">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animEffect transition="in" filter="box(in)">
                                      <p:cBhvr>
                                        <p:cTn id="15" dur="500"/>
                                        <p:tgtEl>
                                          <p:spTgt spid="16"/>
                                        </p:tgtEl>
                                      </p:cBhvr>
                                    </p:animEffect>
                                  </p:childTnLst>
                                </p:cTn>
                              </p:par>
                              <p:par>
                                <p:cTn id="16" presetID="4" presetClass="entr" presetSubtype="16" fill="hold" nodeType="with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box(in)">
                                      <p:cBhvr>
                                        <p:cTn id="18" dur="500"/>
                                        <p:tgtEl>
                                          <p:spTgt spid="18"/>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nodeType="clickEffect">
                                  <p:stCondLst>
                                    <p:cond delay="0"/>
                                  </p:stCondLst>
                                  <p:childTnLst>
                                    <p:set>
                                      <p:cBhvr>
                                        <p:cTn id="22" dur="1" fill="hold">
                                          <p:stCondLst>
                                            <p:cond delay="0"/>
                                          </p:stCondLst>
                                        </p:cTn>
                                        <p:tgtEl>
                                          <p:spTgt spid="21"/>
                                        </p:tgtEl>
                                        <p:attrNameLst>
                                          <p:attrName>style.visibility</p:attrName>
                                        </p:attrNameLst>
                                      </p:cBhvr>
                                      <p:to>
                                        <p:strVal val="visible"/>
                                      </p:to>
                                    </p:set>
                                    <p:animEffect transition="in" filter="box(in)">
                                      <p:cBhvr>
                                        <p:cTn id="23" dur="500"/>
                                        <p:tgtEl>
                                          <p:spTgt spid="21"/>
                                        </p:tgtEl>
                                      </p:cBhvr>
                                    </p:animEffect>
                                  </p:childTnLst>
                                </p:cTn>
                              </p:par>
                              <p:par>
                                <p:cTn id="24" presetID="4" presetClass="entr" presetSubtype="16" fill="hold" nodeType="withEffect">
                                  <p:stCondLst>
                                    <p:cond delay="0"/>
                                  </p:stCondLst>
                                  <p:childTnLst>
                                    <p:set>
                                      <p:cBhvr>
                                        <p:cTn id="25" dur="1" fill="hold">
                                          <p:stCondLst>
                                            <p:cond delay="0"/>
                                          </p:stCondLst>
                                        </p:cTn>
                                        <p:tgtEl>
                                          <p:spTgt spid="47"/>
                                        </p:tgtEl>
                                        <p:attrNameLst>
                                          <p:attrName>style.visibility</p:attrName>
                                        </p:attrNameLst>
                                      </p:cBhvr>
                                      <p:to>
                                        <p:strVal val="visible"/>
                                      </p:to>
                                    </p:set>
                                    <p:animEffect transition="in" filter="box(in)">
                                      <p:cBhvr>
                                        <p:cTn id="26" dur="500"/>
                                        <p:tgtEl>
                                          <p:spTgt spid="47"/>
                                        </p:tgtEl>
                                      </p:cBhvr>
                                    </p:animEffect>
                                  </p:childTnLst>
                                </p:cTn>
                              </p:par>
                              <p:par>
                                <p:cTn id="27" presetID="4" presetClass="entr" presetSubtype="16" fill="hold"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box(in)">
                                      <p:cBhvr>
                                        <p:cTn id="29" dur="500"/>
                                        <p:tgtEl>
                                          <p:spTgt spid="12"/>
                                        </p:tgtEl>
                                      </p:cBhvr>
                                    </p:animEffect>
                                  </p:childTnLst>
                                </p:cTn>
                              </p:par>
                            </p:childTnLst>
                          </p:cTn>
                        </p:par>
                      </p:childTnLst>
                    </p:cTn>
                  </p:par>
                  <p:par>
                    <p:cTn id="30" fill="hold">
                      <p:stCondLst>
                        <p:cond delay="indefinite"/>
                      </p:stCondLst>
                      <p:childTnLst>
                        <p:par>
                          <p:cTn id="31" fill="hold">
                            <p:stCondLst>
                              <p:cond delay="0"/>
                            </p:stCondLst>
                            <p:childTnLst>
                              <p:par>
                                <p:cTn id="32" presetID="4" presetClass="entr" presetSubtype="16" fill="hold" nodeType="clickEffect">
                                  <p:stCondLst>
                                    <p:cond delay="0"/>
                                  </p:stCondLst>
                                  <p:childTnLst>
                                    <p:set>
                                      <p:cBhvr>
                                        <p:cTn id="33" dur="1" fill="hold">
                                          <p:stCondLst>
                                            <p:cond delay="0"/>
                                          </p:stCondLst>
                                        </p:cTn>
                                        <p:tgtEl>
                                          <p:spTgt spid="17"/>
                                        </p:tgtEl>
                                        <p:attrNameLst>
                                          <p:attrName>style.visibility</p:attrName>
                                        </p:attrNameLst>
                                      </p:cBhvr>
                                      <p:to>
                                        <p:strVal val="visible"/>
                                      </p:to>
                                    </p:set>
                                    <p:animEffect transition="in" filter="box(in)">
                                      <p:cBhvr>
                                        <p:cTn id="34" dur="500"/>
                                        <p:tgtEl>
                                          <p:spTgt spid="17"/>
                                        </p:tgtEl>
                                      </p:cBhvr>
                                    </p:animEffect>
                                  </p:childTnLst>
                                </p:cTn>
                              </p:par>
                            </p:childTnLst>
                          </p:cTn>
                        </p:par>
                      </p:childTnLst>
                    </p:cTn>
                  </p:par>
                  <p:par>
                    <p:cTn id="35" fill="hold">
                      <p:stCondLst>
                        <p:cond delay="indefinite"/>
                      </p:stCondLst>
                      <p:childTnLst>
                        <p:par>
                          <p:cTn id="36" fill="hold">
                            <p:stCondLst>
                              <p:cond delay="0"/>
                            </p:stCondLst>
                            <p:childTnLst>
                              <p:par>
                                <p:cTn id="37" presetID="4" presetClass="entr" presetSubtype="16" fill="hold" nodeType="clickEffect">
                                  <p:stCondLst>
                                    <p:cond delay="0"/>
                                  </p:stCondLst>
                                  <p:childTnLst>
                                    <p:set>
                                      <p:cBhvr>
                                        <p:cTn id="38" dur="1" fill="hold">
                                          <p:stCondLst>
                                            <p:cond delay="0"/>
                                          </p:stCondLst>
                                        </p:cTn>
                                        <p:tgtEl>
                                          <p:spTgt spid="26"/>
                                        </p:tgtEl>
                                        <p:attrNameLst>
                                          <p:attrName>style.visibility</p:attrName>
                                        </p:attrNameLst>
                                      </p:cBhvr>
                                      <p:to>
                                        <p:strVal val="visible"/>
                                      </p:to>
                                    </p:set>
                                    <p:animEffect transition="in" filter="box(in)">
                                      <p:cBhvr>
                                        <p:cTn id="39" dur="500"/>
                                        <p:tgtEl>
                                          <p:spTgt spid="26"/>
                                        </p:tgtEl>
                                      </p:cBhvr>
                                    </p:animEffect>
                                  </p:childTnLst>
                                </p:cTn>
                              </p:par>
                              <p:par>
                                <p:cTn id="40" presetID="4" presetClass="entr" presetSubtype="16" fill="hold" nodeType="with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box(in)">
                                      <p:cBhvr>
                                        <p:cTn id="42" dur="500"/>
                                        <p:tgtEl>
                                          <p:spTgt spid="24"/>
                                        </p:tgtEl>
                                      </p:cBhvr>
                                    </p:animEffect>
                                  </p:childTnLst>
                                </p:cTn>
                              </p:par>
                              <p:par>
                                <p:cTn id="43" presetID="4" presetClass="entr" presetSubtype="16" fill="hold" nodeType="withEffect">
                                  <p:stCondLst>
                                    <p:cond delay="0"/>
                                  </p:stCondLst>
                                  <p:childTnLst>
                                    <p:set>
                                      <p:cBhvr>
                                        <p:cTn id="44" dur="1" fill="hold">
                                          <p:stCondLst>
                                            <p:cond delay="0"/>
                                          </p:stCondLst>
                                        </p:cTn>
                                        <p:tgtEl>
                                          <p:spTgt spid="25"/>
                                        </p:tgtEl>
                                        <p:attrNameLst>
                                          <p:attrName>style.visibility</p:attrName>
                                        </p:attrNameLst>
                                      </p:cBhvr>
                                      <p:to>
                                        <p:strVal val="visible"/>
                                      </p:to>
                                    </p:set>
                                    <p:animEffect transition="in" filter="box(in)">
                                      <p:cBhvr>
                                        <p:cTn id="45" dur="500"/>
                                        <p:tgtEl>
                                          <p:spTgt spid="25"/>
                                        </p:tgtEl>
                                      </p:cBhvr>
                                    </p:animEffect>
                                  </p:childTnLst>
                                </p:cTn>
                              </p:par>
                              <p:par>
                                <p:cTn id="46" presetID="4" presetClass="entr" presetSubtype="16" fill="hold" nodeType="withEffect">
                                  <p:stCondLst>
                                    <p:cond delay="0"/>
                                  </p:stCondLst>
                                  <p:childTnLst>
                                    <p:set>
                                      <p:cBhvr>
                                        <p:cTn id="47" dur="1" fill="hold">
                                          <p:stCondLst>
                                            <p:cond delay="0"/>
                                          </p:stCondLst>
                                        </p:cTn>
                                        <p:tgtEl>
                                          <p:spTgt spid="27"/>
                                        </p:tgtEl>
                                        <p:attrNameLst>
                                          <p:attrName>style.visibility</p:attrName>
                                        </p:attrNameLst>
                                      </p:cBhvr>
                                      <p:to>
                                        <p:strVal val="visible"/>
                                      </p:to>
                                    </p:set>
                                    <p:animEffect transition="in" filter="box(in)">
                                      <p:cBhvr>
                                        <p:cTn id="48" dur="500"/>
                                        <p:tgtEl>
                                          <p:spTgt spid="27"/>
                                        </p:tgtEl>
                                      </p:cBhvr>
                                    </p:animEffect>
                                  </p:childTnLst>
                                </p:cTn>
                              </p:par>
                            </p:childTnLst>
                          </p:cTn>
                        </p:par>
                      </p:childTnLst>
                    </p:cTn>
                  </p:par>
                  <p:par>
                    <p:cTn id="49" fill="hold">
                      <p:stCondLst>
                        <p:cond delay="indefinite"/>
                      </p:stCondLst>
                      <p:childTnLst>
                        <p:par>
                          <p:cTn id="50" fill="hold">
                            <p:stCondLst>
                              <p:cond delay="0"/>
                            </p:stCondLst>
                            <p:childTnLst>
                              <p:par>
                                <p:cTn id="51" presetID="4" presetClass="entr" presetSubtype="16" fill="hold" nodeType="clickEffect">
                                  <p:stCondLst>
                                    <p:cond delay="0"/>
                                  </p:stCondLst>
                                  <p:childTnLst>
                                    <p:set>
                                      <p:cBhvr>
                                        <p:cTn id="52" dur="1" fill="hold">
                                          <p:stCondLst>
                                            <p:cond delay="0"/>
                                          </p:stCondLst>
                                        </p:cTn>
                                        <p:tgtEl>
                                          <p:spTgt spid="28"/>
                                        </p:tgtEl>
                                        <p:attrNameLst>
                                          <p:attrName>style.visibility</p:attrName>
                                        </p:attrNameLst>
                                      </p:cBhvr>
                                      <p:to>
                                        <p:strVal val="visible"/>
                                      </p:to>
                                    </p:set>
                                    <p:animEffect transition="in" filter="box(in)">
                                      <p:cBhvr>
                                        <p:cTn id="53" dur="500"/>
                                        <p:tgtEl>
                                          <p:spTgt spid="28"/>
                                        </p:tgtEl>
                                      </p:cBhvr>
                                    </p:animEffect>
                                  </p:childTnLst>
                                </p:cTn>
                              </p:par>
                              <p:par>
                                <p:cTn id="54" presetID="4" presetClass="entr" presetSubtype="16" fill="hold" nodeType="withEffect">
                                  <p:stCondLst>
                                    <p:cond delay="0"/>
                                  </p:stCondLst>
                                  <p:childTnLst>
                                    <p:set>
                                      <p:cBhvr>
                                        <p:cTn id="55" dur="1" fill="hold">
                                          <p:stCondLst>
                                            <p:cond delay="0"/>
                                          </p:stCondLst>
                                        </p:cTn>
                                        <p:tgtEl>
                                          <p:spTgt spid="30"/>
                                        </p:tgtEl>
                                        <p:attrNameLst>
                                          <p:attrName>style.visibility</p:attrName>
                                        </p:attrNameLst>
                                      </p:cBhvr>
                                      <p:to>
                                        <p:strVal val="visible"/>
                                      </p:to>
                                    </p:set>
                                    <p:animEffect transition="in" filter="box(in)">
                                      <p:cBhvr>
                                        <p:cTn id="56" dur="500"/>
                                        <p:tgtEl>
                                          <p:spTgt spid="30"/>
                                        </p:tgtEl>
                                      </p:cBhvr>
                                    </p:animEffect>
                                  </p:childTnLst>
                                </p:cTn>
                              </p:par>
                              <p:par>
                                <p:cTn id="57" presetID="4" presetClass="entr" presetSubtype="16" fill="hold" nodeType="withEffect">
                                  <p:stCondLst>
                                    <p:cond delay="0"/>
                                  </p:stCondLst>
                                  <p:childTnLst>
                                    <p:set>
                                      <p:cBhvr>
                                        <p:cTn id="58" dur="1" fill="hold">
                                          <p:stCondLst>
                                            <p:cond delay="0"/>
                                          </p:stCondLst>
                                        </p:cTn>
                                        <p:tgtEl>
                                          <p:spTgt spid="31"/>
                                        </p:tgtEl>
                                        <p:attrNameLst>
                                          <p:attrName>style.visibility</p:attrName>
                                        </p:attrNameLst>
                                      </p:cBhvr>
                                      <p:to>
                                        <p:strVal val="visible"/>
                                      </p:to>
                                    </p:set>
                                    <p:animEffect transition="in" filter="box(in)">
                                      <p:cBhvr>
                                        <p:cTn id="59" dur="500"/>
                                        <p:tgtEl>
                                          <p:spTgt spid="31"/>
                                        </p:tgtEl>
                                      </p:cBhvr>
                                    </p:animEffect>
                                  </p:childTnLst>
                                </p:cTn>
                              </p:par>
                            </p:childTnLst>
                          </p:cTn>
                        </p:par>
                      </p:childTnLst>
                    </p:cTn>
                  </p:par>
                  <p:par>
                    <p:cTn id="60" fill="hold">
                      <p:stCondLst>
                        <p:cond delay="indefinite"/>
                      </p:stCondLst>
                      <p:childTnLst>
                        <p:par>
                          <p:cTn id="61" fill="hold">
                            <p:stCondLst>
                              <p:cond delay="0"/>
                            </p:stCondLst>
                            <p:childTnLst>
                              <p:par>
                                <p:cTn id="62" presetID="4" presetClass="entr" presetSubtype="16" fill="hold" nodeType="clickEffect">
                                  <p:stCondLst>
                                    <p:cond delay="0"/>
                                  </p:stCondLst>
                                  <p:childTnLst>
                                    <p:set>
                                      <p:cBhvr>
                                        <p:cTn id="63" dur="1" fill="hold">
                                          <p:stCondLst>
                                            <p:cond delay="0"/>
                                          </p:stCondLst>
                                        </p:cTn>
                                        <p:tgtEl>
                                          <p:spTgt spid="33"/>
                                        </p:tgtEl>
                                        <p:attrNameLst>
                                          <p:attrName>style.visibility</p:attrName>
                                        </p:attrNameLst>
                                      </p:cBhvr>
                                      <p:to>
                                        <p:strVal val="visible"/>
                                      </p:to>
                                    </p:set>
                                    <p:animEffect transition="in" filter="box(in)">
                                      <p:cBhvr>
                                        <p:cTn id="64" dur="500"/>
                                        <p:tgtEl>
                                          <p:spTgt spid="33"/>
                                        </p:tgtEl>
                                      </p:cBhvr>
                                    </p:animEffect>
                                  </p:childTnLst>
                                </p:cTn>
                              </p:par>
                              <p:par>
                                <p:cTn id="65" presetID="4" presetClass="entr" presetSubtype="16" fill="hold" nodeType="withEffect">
                                  <p:stCondLst>
                                    <p:cond delay="0"/>
                                  </p:stCondLst>
                                  <p:childTnLst>
                                    <p:set>
                                      <p:cBhvr>
                                        <p:cTn id="66" dur="1" fill="hold">
                                          <p:stCondLst>
                                            <p:cond delay="0"/>
                                          </p:stCondLst>
                                        </p:cTn>
                                        <p:tgtEl>
                                          <p:spTgt spid="42"/>
                                        </p:tgtEl>
                                        <p:attrNameLst>
                                          <p:attrName>style.visibility</p:attrName>
                                        </p:attrNameLst>
                                      </p:cBhvr>
                                      <p:to>
                                        <p:strVal val="visible"/>
                                      </p:to>
                                    </p:set>
                                    <p:animEffect transition="in" filter="box(in)">
                                      <p:cBhvr>
                                        <p:cTn id="67" dur="500"/>
                                        <p:tgtEl>
                                          <p:spTgt spid="42"/>
                                        </p:tgtEl>
                                      </p:cBhvr>
                                    </p:animEffect>
                                  </p:childTnLst>
                                </p:cTn>
                              </p:par>
                            </p:childTnLst>
                          </p:cTn>
                        </p:par>
                      </p:childTnLst>
                    </p:cTn>
                  </p:par>
                  <p:par>
                    <p:cTn id="68" fill="hold">
                      <p:stCondLst>
                        <p:cond delay="indefinite"/>
                      </p:stCondLst>
                      <p:childTnLst>
                        <p:par>
                          <p:cTn id="69" fill="hold">
                            <p:stCondLst>
                              <p:cond delay="0"/>
                            </p:stCondLst>
                            <p:childTnLst>
                              <p:par>
                                <p:cTn id="70" presetID="4" presetClass="entr" presetSubtype="16" fill="hold" nodeType="clickEffect">
                                  <p:stCondLst>
                                    <p:cond delay="0"/>
                                  </p:stCondLst>
                                  <p:childTnLst>
                                    <p:set>
                                      <p:cBhvr>
                                        <p:cTn id="71" dur="1" fill="hold">
                                          <p:stCondLst>
                                            <p:cond delay="0"/>
                                          </p:stCondLst>
                                        </p:cTn>
                                        <p:tgtEl>
                                          <p:spTgt spid="35"/>
                                        </p:tgtEl>
                                        <p:attrNameLst>
                                          <p:attrName>style.visibility</p:attrName>
                                        </p:attrNameLst>
                                      </p:cBhvr>
                                      <p:to>
                                        <p:strVal val="visible"/>
                                      </p:to>
                                    </p:set>
                                    <p:animEffect transition="in" filter="box(in)">
                                      <p:cBhvr>
                                        <p:cTn id="72" dur="500"/>
                                        <p:tgtEl>
                                          <p:spTgt spid="35"/>
                                        </p:tgtEl>
                                      </p:cBhvr>
                                    </p:animEffect>
                                  </p:childTnLst>
                                </p:cTn>
                              </p:par>
                              <p:par>
                                <p:cTn id="73" presetID="4" presetClass="entr" presetSubtype="16" fill="hold" nodeType="withEffect">
                                  <p:stCondLst>
                                    <p:cond delay="0"/>
                                  </p:stCondLst>
                                  <p:childTnLst>
                                    <p:set>
                                      <p:cBhvr>
                                        <p:cTn id="74" dur="1" fill="hold">
                                          <p:stCondLst>
                                            <p:cond delay="0"/>
                                          </p:stCondLst>
                                        </p:cTn>
                                        <p:tgtEl>
                                          <p:spTgt spid="44"/>
                                        </p:tgtEl>
                                        <p:attrNameLst>
                                          <p:attrName>style.visibility</p:attrName>
                                        </p:attrNameLst>
                                      </p:cBhvr>
                                      <p:to>
                                        <p:strVal val="visible"/>
                                      </p:to>
                                    </p:set>
                                    <p:animEffect transition="in" filter="box(in)">
                                      <p:cBhvr>
                                        <p:cTn id="75" dur="500"/>
                                        <p:tgtEl>
                                          <p:spTgt spid="44"/>
                                        </p:tgtEl>
                                      </p:cBhvr>
                                    </p:animEffect>
                                  </p:childTnLst>
                                </p:cTn>
                              </p:par>
                            </p:childTnLst>
                          </p:cTn>
                        </p:par>
                      </p:childTnLst>
                    </p:cTn>
                  </p:par>
                  <p:par>
                    <p:cTn id="76" fill="hold">
                      <p:stCondLst>
                        <p:cond delay="indefinite"/>
                      </p:stCondLst>
                      <p:childTnLst>
                        <p:par>
                          <p:cTn id="77" fill="hold">
                            <p:stCondLst>
                              <p:cond delay="0"/>
                            </p:stCondLst>
                            <p:childTnLst>
                              <p:par>
                                <p:cTn id="78" presetID="4" presetClass="entr" presetSubtype="16" fill="hold" nodeType="clickEffect">
                                  <p:stCondLst>
                                    <p:cond delay="0"/>
                                  </p:stCondLst>
                                  <p:childTnLst>
                                    <p:set>
                                      <p:cBhvr>
                                        <p:cTn id="79" dur="1" fill="hold">
                                          <p:stCondLst>
                                            <p:cond delay="0"/>
                                          </p:stCondLst>
                                        </p:cTn>
                                        <p:tgtEl>
                                          <p:spTgt spid="29"/>
                                        </p:tgtEl>
                                        <p:attrNameLst>
                                          <p:attrName>style.visibility</p:attrName>
                                        </p:attrNameLst>
                                      </p:cBhvr>
                                      <p:to>
                                        <p:strVal val="visible"/>
                                      </p:to>
                                    </p:set>
                                    <p:animEffect transition="in" filter="box(in)">
                                      <p:cBhvr>
                                        <p:cTn id="80" dur="500"/>
                                        <p:tgtEl>
                                          <p:spTgt spid="29"/>
                                        </p:tgtEl>
                                      </p:cBhvr>
                                    </p:animEffect>
                                  </p:childTnLst>
                                </p:cTn>
                              </p:par>
                            </p:childTnLst>
                          </p:cTn>
                        </p:par>
                      </p:childTnLst>
                    </p:cTn>
                  </p:par>
                  <p:par>
                    <p:cTn id="81" fill="hold">
                      <p:stCondLst>
                        <p:cond delay="indefinite"/>
                      </p:stCondLst>
                      <p:childTnLst>
                        <p:par>
                          <p:cTn id="82" fill="hold">
                            <p:stCondLst>
                              <p:cond delay="0"/>
                            </p:stCondLst>
                            <p:childTnLst>
                              <p:par>
                                <p:cTn id="83" presetID="4" presetClass="entr" presetSubtype="16" fill="hold" nodeType="clickEffect">
                                  <p:stCondLst>
                                    <p:cond delay="0"/>
                                  </p:stCondLst>
                                  <p:childTnLst>
                                    <p:set>
                                      <p:cBhvr>
                                        <p:cTn id="84" dur="1" fill="hold">
                                          <p:stCondLst>
                                            <p:cond delay="0"/>
                                          </p:stCondLst>
                                        </p:cTn>
                                        <p:tgtEl>
                                          <p:spTgt spid="36"/>
                                        </p:tgtEl>
                                        <p:attrNameLst>
                                          <p:attrName>style.visibility</p:attrName>
                                        </p:attrNameLst>
                                      </p:cBhvr>
                                      <p:to>
                                        <p:strVal val="visible"/>
                                      </p:to>
                                    </p:set>
                                    <p:animEffect transition="in" filter="box(in)">
                                      <p:cBhvr>
                                        <p:cTn id="85" dur="500"/>
                                        <p:tgtEl>
                                          <p:spTgt spid="36"/>
                                        </p:tgtEl>
                                      </p:cBhvr>
                                    </p:animEffect>
                                  </p:childTnLst>
                                </p:cTn>
                              </p:par>
                              <p:par>
                                <p:cTn id="86" presetID="4" presetClass="entr" presetSubtype="16" fill="hold" nodeType="withEffect">
                                  <p:stCondLst>
                                    <p:cond delay="0"/>
                                  </p:stCondLst>
                                  <p:childTnLst>
                                    <p:set>
                                      <p:cBhvr>
                                        <p:cTn id="87" dur="1" fill="hold">
                                          <p:stCondLst>
                                            <p:cond delay="0"/>
                                          </p:stCondLst>
                                        </p:cTn>
                                        <p:tgtEl>
                                          <p:spTgt spid="37"/>
                                        </p:tgtEl>
                                        <p:attrNameLst>
                                          <p:attrName>style.visibility</p:attrName>
                                        </p:attrNameLst>
                                      </p:cBhvr>
                                      <p:to>
                                        <p:strVal val="visible"/>
                                      </p:to>
                                    </p:set>
                                    <p:animEffect transition="in" filter="box(in)">
                                      <p:cBhvr>
                                        <p:cTn id="88" dur="500"/>
                                        <p:tgtEl>
                                          <p:spTgt spid="37"/>
                                        </p:tgtEl>
                                      </p:cBhvr>
                                    </p:animEffect>
                                  </p:childTnLst>
                                </p:cTn>
                              </p:par>
                            </p:childTnLst>
                          </p:cTn>
                        </p:par>
                      </p:childTnLst>
                    </p:cTn>
                  </p:par>
                  <p:par>
                    <p:cTn id="89" fill="hold">
                      <p:stCondLst>
                        <p:cond delay="indefinite"/>
                      </p:stCondLst>
                      <p:childTnLst>
                        <p:par>
                          <p:cTn id="90" fill="hold">
                            <p:stCondLst>
                              <p:cond delay="0"/>
                            </p:stCondLst>
                            <p:childTnLst>
                              <p:par>
                                <p:cTn id="91" presetID="4" presetClass="entr" presetSubtype="16" fill="hold" nodeType="clickEffect">
                                  <p:stCondLst>
                                    <p:cond delay="0"/>
                                  </p:stCondLst>
                                  <p:childTnLst>
                                    <p:set>
                                      <p:cBhvr>
                                        <p:cTn id="92" dur="1" fill="hold">
                                          <p:stCondLst>
                                            <p:cond delay="0"/>
                                          </p:stCondLst>
                                        </p:cTn>
                                        <p:tgtEl>
                                          <p:spTgt spid="39"/>
                                        </p:tgtEl>
                                        <p:attrNameLst>
                                          <p:attrName>style.visibility</p:attrName>
                                        </p:attrNameLst>
                                      </p:cBhvr>
                                      <p:to>
                                        <p:strVal val="visible"/>
                                      </p:to>
                                    </p:set>
                                    <p:animEffect transition="in" filter="box(in)">
                                      <p:cBhvr>
                                        <p:cTn id="93" dur="500"/>
                                        <p:tgtEl>
                                          <p:spTgt spid="39"/>
                                        </p:tgtEl>
                                      </p:cBhvr>
                                    </p:animEffect>
                                  </p:childTnLst>
                                </p:cTn>
                              </p:par>
                              <p:par>
                                <p:cTn id="94" presetID="4" presetClass="entr" presetSubtype="16" fill="hold" nodeType="withEffect">
                                  <p:stCondLst>
                                    <p:cond delay="0"/>
                                  </p:stCondLst>
                                  <p:childTnLst>
                                    <p:set>
                                      <p:cBhvr>
                                        <p:cTn id="95" dur="1" fill="hold">
                                          <p:stCondLst>
                                            <p:cond delay="0"/>
                                          </p:stCondLst>
                                        </p:cTn>
                                        <p:tgtEl>
                                          <p:spTgt spid="43"/>
                                        </p:tgtEl>
                                        <p:attrNameLst>
                                          <p:attrName>style.visibility</p:attrName>
                                        </p:attrNameLst>
                                      </p:cBhvr>
                                      <p:to>
                                        <p:strVal val="visible"/>
                                      </p:to>
                                    </p:set>
                                    <p:animEffect transition="in" filter="box(in)">
                                      <p:cBhvr>
                                        <p:cTn id="96" dur="500"/>
                                        <p:tgtEl>
                                          <p:spTgt spid="43"/>
                                        </p:tgtEl>
                                      </p:cBhvr>
                                    </p:animEffect>
                                  </p:childTnLst>
                                </p:cTn>
                              </p:par>
                            </p:childTnLst>
                          </p:cTn>
                        </p:par>
                      </p:childTnLst>
                    </p:cTn>
                  </p:par>
                  <p:par>
                    <p:cTn id="97" fill="hold">
                      <p:stCondLst>
                        <p:cond delay="indefinite"/>
                      </p:stCondLst>
                      <p:childTnLst>
                        <p:par>
                          <p:cTn id="98" fill="hold">
                            <p:stCondLst>
                              <p:cond delay="0"/>
                            </p:stCondLst>
                            <p:childTnLst>
                              <p:par>
                                <p:cTn id="99" presetID="4" presetClass="entr" presetSubtype="16" fill="hold" nodeType="clickEffect">
                                  <p:stCondLst>
                                    <p:cond delay="0"/>
                                  </p:stCondLst>
                                  <p:childTnLst>
                                    <p:set>
                                      <p:cBhvr>
                                        <p:cTn id="100" dur="1" fill="hold">
                                          <p:stCondLst>
                                            <p:cond delay="0"/>
                                          </p:stCondLst>
                                        </p:cTn>
                                        <p:tgtEl>
                                          <p:spTgt spid="41"/>
                                        </p:tgtEl>
                                        <p:attrNameLst>
                                          <p:attrName>style.visibility</p:attrName>
                                        </p:attrNameLst>
                                      </p:cBhvr>
                                      <p:to>
                                        <p:strVal val="visible"/>
                                      </p:to>
                                    </p:set>
                                    <p:animEffect transition="in" filter="box(in)">
                                      <p:cBhvr>
                                        <p:cTn id="101" dur="500"/>
                                        <p:tgtEl>
                                          <p:spTgt spid="41"/>
                                        </p:tgtEl>
                                      </p:cBhvr>
                                    </p:animEffect>
                                  </p:childTnLst>
                                </p:cTn>
                              </p:par>
                              <p:par>
                                <p:cTn id="102" presetID="4" presetClass="entr" presetSubtype="16" fill="hold" nodeType="withEffect">
                                  <p:stCondLst>
                                    <p:cond delay="0"/>
                                  </p:stCondLst>
                                  <p:childTnLst>
                                    <p:set>
                                      <p:cBhvr>
                                        <p:cTn id="103" dur="1" fill="hold">
                                          <p:stCondLst>
                                            <p:cond delay="0"/>
                                          </p:stCondLst>
                                        </p:cTn>
                                        <p:tgtEl>
                                          <p:spTgt spid="45"/>
                                        </p:tgtEl>
                                        <p:attrNameLst>
                                          <p:attrName>style.visibility</p:attrName>
                                        </p:attrNameLst>
                                      </p:cBhvr>
                                      <p:to>
                                        <p:strVal val="visible"/>
                                      </p:to>
                                    </p:set>
                                    <p:animEffect transition="in" filter="box(in)">
                                      <p:cBhvr>
                                        <p:cTn id="104"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6" grpId="0" animBg="1"/>
      <p:bldP spid="17" grpId="0" animBg="1"/>
      <p:bldP spid="21" grpId="0" animBg="1"/>
      <p:bldP spid="26" grpId="0"/>
      <p:bldP spid="27" grpId="0"/>
      <p:bldP spid="28" grpId="0" animBg="1"/>
      <p:bldP spid="29" grpId="0" animBg="1"/>
      <p:bldP spid="33" grpId="0" animBg="1"/>
      <p:bldP spid="35" grpId="0" animBg="1"/>
      <p:bldP spid="39" grpId="0" animBg="1"/>
      <p:bldP spid="4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19</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7073900"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3.2. THE PIGEONHOLE PRINCIPLE. </a:t>
            </a:r>
          </a:p>
          <a:p>
            <a:pPr eaLnBrk="1" hangingPunct="1">
              <a:spcBef>
                <a:spcPct val="50000"/>
              </a:spcBef>
            </a:pPr>
            <a:endPar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41275" y="818502"/>
            <a:ext cx="9036050" cy="5115311"/>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sz="2000" b="1" dirty="0">
                <a:solidFill>
                  <a:schemeClr val="tx2"/>
                </a:solidFill>
                <a:latin typeface="Times New Roman" pitchFamily="18" charset="0"/>
                <a:cs typeface="Times New Roman" pitchFamily="18" charset="0"/>
              </a:rPr>
              <a:t>3.2.1. Introduction </a:t>
            </a:r>
          </a:p>
          <a:p>
            <a:r>
              <a:rPr lang="en-US" b="0" dirty="0"/>
              <a:t>In mathematics, the pigeonhole principle states that if n items are put into m containers, with n &gt; m, then at least one container must contain more than one item</a:t>
            </a:r>
          </a:p>
          <a:p>
            <a:r>
              <a:rPr lang="en-US" b="0" dirty="0"/>
              <a:t>EX: </a:t>
            </a:r>
          </a:p>
          <a:p>
            <a:pPr algn="l"/>
            <a:r>
              <a:rPr lang="en-US" b="0" dirty="0"/>
              <a:t>Sock picking</a:t>
            </a:r>
          </a:p>
          <a:p>
            <a:pPr algn="l"/>
            <a:r>
              <a:rPr lang="en-US" b="0" dirty="0"/>
              <a:t>Assume a drawer contains a mixture of black socks and blue socks, each of which can be worn on either foot, and that you are pulling a number of socks from the drawer without looking. What is the minimum number of pulled socks required to guarantee a pair of the same color? </a:t>
            </a:r>
          </a:p>
          <a:p>
            <a:pPr algn="ctr"/>
            <a:endParaRPr lang="en-US" altLang="ko-KR" b="0" dirty="0"/>
          </a:p>
        </p:txBody>
      </p:sp>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659096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19</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7073900"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3.2. THE PIGEONHOLE PRINCIPLE. </a:t>
            </a:r>
          </a:p>
          <a:p>
            <a:pPr eaLnBrk="1" hangingPunct="1">
              <a:spcBef>
                <a:spcPct val="50000"/>
              </a:spcBef>
            </a:pPr>
            <a:endPar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57612"/>
            <a:ext cx="9036050" cy="2806987"/>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sz="2000" b="1" dirty="0">
                <a:solidFill>
                  <a:schemeClr val="tx2"/>
                </a:solidFill>
                <a:latin typeface="Times New Roman" pitchFamily="18" charset="0"/>
                <a:cs typeface="Times New Roman" pitchFamily="18" charset="0"/>
              </a:rPr>
              <a:t>3.2.1. Introduction </a:t>
            </a:r>
          </a:p>
          <a:p>
            <a:r>
              <a:rPr lang="en-US" b="0" dirty="0"/>
              <a:t>In a group of 3 people, there is bound to be 2 people of the same gender.</a:t>
            </a:r>
          </a:p>
          <a:p>
            <a:r>
              <a:rPr lang="en-US" b="0" dirty="0"/>
              <a:t>Of any 6 natural numbers, there are always 2 whose difference is divisible by 5 .</a:t>
            </a:r>
          </a:p>
          <a:p>
            <a:r>
              <a:rPr lang="en-US" b="0" dirty="0"/>
              <a:t>Q.</a:t>
            </a:r>
          </a:p>
          <a:p>
            <a:r>
              <a:rPr lang="en-US" b="0" dirty="0"/>
              <a:t>How many times do you need to roll the dice to make sure that a certain face appears twice?</a:t>
            </a:r>
            <a:endParaRPr lang="en-US" altLang="ko-KR" b="0" dirty="0"/>
          </a:p>
        </p:txBody>
      </p:sp>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6535473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20</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7073900"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3.2. THE PIGEONHOLE PRINCIPLE. </a:t>
            </a:r>
          </a:p>
          <a:p>
            <a:pPr eaLnBrk="1" hangingPunct="1">
              <a:spcBef>
                <a:spcPct val="50000"/>
              </a:spcBef>
            </a:pPr>
            <a:endPar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57612"/>
            <a:ext cx="9036050" cy="3730317"/>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sz="2000" b="1" dirty="0">
                <a:solidFill>
                  <a:schemeClr val="tx2"/>
                </a:solidFill>
                <a:latin typeface="Times New Roman" pitchFamily="18" charset="0"/>
                <a:cs typeface="Times New Roman" pitchFamily="18" charset="0"/>
              </a:rPr>
              <a:t>3.2.2. Dirichlet principle </a:t>
            </a:r>
          </a:p>
          <a:p>
            <a:r>
              <a:rPr lang="en-US" b="0" dirty="0"/>
              <a:t>General principle: If n pigeons are put in k doors, there is bound to be a door containing no less than n/k birds.</a:t>
            </a:r>
          </a:p>
          <a:p>
            <a:r>
              <a:rPr lang="en-US" b="0" dirty="0"/>
              <a:t>VD:</a:t>
            </a:r>
          </a:p>
          <a:p>
            <a:r>
              <a:rPr lang="en-US" b="0" dirty="0"/>
              <a:t> Prove that in a class of 100 people, there are at least 9 people with birthdays in the same month.</a:t>
            </a:r>
          </a:p>
          <a:p>
            <a:r>
              <a:rPr lang="en-US" b="0" dirty="0"/>
              <a:t>Prove that in any conference with n participants, there are always 2 participants with the same number of acquaintances in the conference.</a:t>
            </a:r>
            <a:endParaRPr lang="en-US" altLang="ko-KR" b="0" dirty="0"/>
          </a:p>
        </p:txBody>
      </p:sp>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5087993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21</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7073900"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3.2. THE PIGEONHOLE PRINCIPLE. </a:t>
            </a:r>
          </a:p>
          <a:p>
            <a:pPr eaLnBrk="1" hangingPunct="1">
              <a:spcBef>
                <a:spcPct val="50000"/>
              </a:spcBef>
            </a:pPr>
            <a:endPar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endParaRP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57612"/>
            <a:ext cx="9036050" cy="4191981"/>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sz="2000" b="1" dirty="0">
                <a:solidFill>
                  <a:schemeClr val="tx2"/>
                </a:solidFill>
                <a:latin typeface="Times New Roman" pitchFamily="18" charset="0"/>
                <a:cs typeface="Times New Roman" pitchFamily="18" charset="0"/>
              </a:rPr>
              <a:t>3.2.3. Application</a:t>
            </a:r>
          </a:p>
          <a:p>
            <a:pPr marL="342900" indent="-342900" algn="l">
              <a:buFont typeface="Arial" panose="020B0604020202020204" pitchFamily="34" charset="0"/>
              <a:buChar char="•"/>
            </a:pPr>
            <a:r>
              <a:rPr lang="en-US" b="0" dirty="0"/>
              <a:t>Optimization: The Dirichlet principle finds applications in optimization problems. It is used to show the existence of optimal solutions or to prove properties of optimal solutions. For example, in calculus of variations, the principle is used to establish the existence of functions that minimize certain functionals.</a:t>
            </a:r>
          </a:p>
          <a:p>
            <a:pPr marL="342900" indent="-342900" algn="l">
              <a:buFont typeface="Arial" panose="020B0604020202020204" pitchFamily="34" charset="0"/>
              <a:buChar char="•"/>
            </a:pPr>
            <a:r>
              <a:rPr lang="en-US" b="0" dirty="0"/>
              <a:t>Probability theory: The Dirichlet principle has applications in probability theory, especially in problems related to the pigeonhole principle. It is used to prove results like the existence of a pair of matching birthdays in a group of people, known as the birthday paradox.</a:t>
            </a:r>
          </a:p>
        </p:txBody>
      </p:sp>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0922063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2" name="Title 1"/>
          <p:cNvSpPr>
            <a:spLocks noGrp="1"/>
          </p:cNvSpPr>
          <p:nvPr>
            <p:ph type="ctrTitle"/>
          </p:nvPr>
        </p:nvSpPr>
        <p:spPr>
          <a:xfrm>
            <a:off x="66675" y="2895600"/>
            <a:ext cx="9144000" cy="1143000"/>
          </a:xfrm>
        </p:spPr>
        <p:txBody>
          <a:bodyPr>
            <a:normAutofit fontScale="90000"/>
          </a:bodyPr>
          <a:lstStyle/>
          <a:p>
            <a:pPr hangingPunct="0"/>
            <a:br>
              <a:rPr lang="en-US" dirty="0"/>
            </a:br>
            <a:br>
              <a:rPr lang="en-US" b="1" dirty="0">
                <a:latin typeface="Times New Roman" panose="02020603050405020304" pitchFamily="18" charset="0"/>
                <a:ea typeface="Times New Roman" panose="02020603050405020304" pitchFamily="18" charset="0"/>
              </a:rPr>
            </a:br>
            <a:br>
              <a:rPr lang="en-US" b="1" dirty="0"/>
            </a:br>
            <a:br>
              <a:rPr lang="en-US" dirty="0"/>
            </a:br>
            <a:br>
              <a:rPr lang="en-US" sz="3200" dirty="0"/>
            </a:br>
            <a:endParaRPr lang="en-US" sz="3200" b="1" dirty="0"/>
          </a:p>
        </p:txBody>
      </p:sp>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22</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900" y="150448"/>
            <a:ext cx="417830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altLang="ko-KR"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Chapter 3</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528851" y="637643"/>
            <a:ext cx="7772400" cy="5661614"/>
          </a:xfrm>
          <a:prstGeom prst="rect">
            <a:avLst/>
          </a:prstGeom>
          <a:noFill/>
          <a:ln w="9525">
            <a:noFill/>
            <a:miter lim="800000"/>
            <a:headEnd/>
            <a:tailEnd/>
          </a:ln>
        </p:spPr>
        <p:txBody>
          <a:bodyPr wrap="square">
            <a:spAutoFit/>
          </a:bodyPr>
          <a:lstStyle>
            <a:defPPr>
              <a:defRPr lang="en-US"/>
            </a:defPPr>
            <a:lvl1pPr algn="just">
              <a:lnSpc>
                <a:spcPct val="200000"/>
              </a:lnSpc>
              <a:defRPr sz="2000" b="1">
                <a:solidFill>
                  <a:schemeClr val="tx2"/>
                </a:solidFill>
                <a:latin typeface="Times New Roman" pitchFamily="18" charset="0"/>
                <a:cs typeface="Times New Roman" pitchFamily="18" charset="0"/>
              </a:defRPr>
            </a:lvl1pPr>
          </a:lstStyle>
          <a:p>
            <a:r>
              <a:rPr lang="en-US" dirty="0"/>
              <a:t>3.3. COMBINATORICS, ARRANGEMENT, PERMUTATION.</a:t>
            </a:r>
          </a:p>
          <a:p>
            <a:r>
              <a:rPr lang="en-US" dirty="0"/>
              <a:t>	 3.3.1. Arrangement.	</a:t>
            </a:r>
          </a:p>
          <a:p>
            <a:r>
              <a:rPr lang="en-US" dirty="0"/>
              <a:t>	 3.3.2. Combinatorics </a:t>
            </a:r>
          </a:p>
          <a:p>
            <a:r>
              <a:rPr lang="en-US" dirty="0"/>
              <a:t>	3.3.3. Permutation. </a:t>
            </a:r>
          </a:p>
          <a:p>
            <a:r>
              <a:rPr lang="en-US" dirty="0"/>
              <a:t>	3.3.4. Newton's system </a:t>
            </a:r>
          </a:p>
          <a:p>
            <a:r>
              <a:rPr lang="en-US" dirty="0"/>
              <a:t>3.4. CORRECTION AND BROAD ANALOGY COMBINATION. 	</a:t>
            </a:r>
          </a:p>
          <a:p>
            <a:r>
              <a:rPr lang="en-US" dirty="0"/>
              <a:t>	3.4.1. </a:t>
            </a:r>
            <a:r>
              <a:rPr lang="en-US" sz="2400" b="1" dirty="0">
                <a:solidFill>
                  <a:schemeClr val="tx2"/>
                </a:solidFill>
                <a:latin typeface="Times New Roman" pitchFamily="18" charset="0"/>
                <a:cs typeface="Times New Roman" pitchFamily="18" charset="0"/>
              </a:rPr>
              <a:t>R</a:t>
            </a:r>
            <a:r>
              <a:rPr lang="en-US" altLang="en-US" dirty="0"/>
              <a:t>ecursive</a:t>
            </a:r>
            <a:endParaRPr lang="en-US" dirty="0"/>
          </a:p>
          <a:p>
            <a:r>
              <a:rPr lang="en-US" dirty="0"/>
              <a:t>	3.4.2. Combinatoric repeats </a:t>
            </a:r>
          </a:p>
          <a:p>
            <a:r>
              <a:rPr lang="en-US" dirty="0"/>
              <a:t>	3.4.3 Loop permutation</a:t>
            </a:r>
          </a:p>
        </p:txBody>
      </p:sp>
    </p:spTree>
    <p:extLst>
      <p:ext uri="{BB962C8B-B14F-4D97-AF65-F5344CB8AC3E}">
        <p14:creationId xmlns:p14="http://schemas.microsoft.com/office/powerpoint/2010/main" val="48997518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23</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899" y="150448"/>
            <a:ext cx="753103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3.3. COMBINATORICS, ARRANGEMENT, PERMUTATION . </a:t>
            </a:r>
          </a:p>
        </p:txBody>
      </p:sp>
      <mc:AlternateContent xmlns:mc="http://schemas.openxmlformats.org/markup-compatibility/2006" xmlns:a14="http://schemas.microsoft.com/office/drawing/2010/main">
        <mc:Choice Requires="a14">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57612"/>
                <a:ext cx="9036050" cy="1421992"/>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sz="2000" b="1" dirty="0">
                    <a:solidFill>
                      <a:schemeClr val="tx2"/>
                    </a:solidFill>
                    <a:latin typeface="Times New Roman" pitchFamily="18" charset="0"/>
                    <a:cs typeface="Times New Roman" pitchFamily="18" charset="0"/>
                  </a:rPr>
                  <a:t>3.4. Newton’s system</a:t>
                </a:r>
              </a:p>
              <a:p>
                <a:r>
                  <a:rPr lang="en-US" dirty="0"/>
                  <a:t>For </a:t>
                </a:r>
                <a14:m>
                  <m:oMath xmlns:m="http://schemas.openxmlformats.org/officeDocument/2006/math">
                    <m:r>
                      <a:rPr lang="en-US" i="1" dirty="0" smtClean="0">
                        <a:latin typeface="Cambria Math" panose="02040503050406030204" pitchFamily="18" charset="0"/>
                      </a:rPr>
                      <m:t>𝑛</m:t>
                    </m:r>
                    <m:r>
                      <a:rPr lang="en-US" i="1" dirty="0" smtClean="0">
                        <a:latin typeface="Cambria Math" panose="02040503050406030204" pitchFamily="18" charset="0"/>
                        <a:ea typeface="Cambria Math" panose="02040503050406030204" pitchFamily="18" charset="0"/>
                      </a:rPr>
                      <m:t>∈</m:t>
                    </m:r>
                    <m:r>
                      <a:rPr lang="en-US" i="1" dirty="0" smtClean="0">
                        <a:latin typeface="Cambria Math" panose="02040503050406030204" pitchFamily="18" charset="0"/>
                      </a:rPr>
                      <m:t> </m:t>
                    </m:r>
                    <m:sSup>
                      <m:sSupPr>
                        <m:ctrlPr>
                          <a:rPr lang="en-US" i="1" dirty="0" smtClean="0">
                            <a:latin typeface="Cambria Math" panose="02040503050406030204" pitchFamily="18" charset="0"/>
                          </a:rPr>
                        </m:ctrlPr>
                      </m:sSupPr>
                      <m:e>
                        <m:r>
                          <a:rPr lang="en-US" b="1" i="1" dirty="0" smtClean="0">
                            <a:latin typeface="Cambria Math" panose="02040503050406030204" pitchFamily="18" charset="0"/>
                          </a:rPr>
                          <m:t>𝒁</m:t>
                        </m:r>
                      </m:e>
                      <m:sup>
                        <m:r>
                          <a:rPr lang="en-US" b="1" i="1" dirty="0" smtClean="0">
                            <a:latin typeface="Cambria Math" panose="02040503050406030204" pitchFamily="18" charset="0"/>
                          </a:rPr>
                          <m:t>+</m:t>
                        </m:r>
                      </m:sup>
                    </m:sSup>
                    <m:r>
                      <a:rPr lang="en-US" i="1" dirty="0" smtClean="0">
                        <a:latin typeface="Cambria Math" panose="02040503050406030204" pitchFamily="18" charset="0"/>
                      </a:rPr>
                      <m:t> , </m:t>
                    </m:r>
                    <m:r>
                      <a:rPr lang="en-US" i="1" dirty="0" smtClean="0">
                        <a:latin typeface="Cambria Math" panose="02040503050406030204" pitchFamily="18" charset="0"/>
                      </a:rPr>
                      <m:t>𝑎𝑏</m:t>
                    </m:r>
                    <m:r>
                      <a:rPr lang="en-US" i="1" dirty="0" smtClean="0">
                        <a:latin typeface="Cambria Math" panose="02040503050406030204" pitchFamily="18" charset="0"/>
                        <a:ea typeface="Cambria Math" panose="02040503050406030204" pitchFamily="18" charset="0"/>
                      </a:rPr>
                      <m:t>∈</m:t>
                    </m:r>
                    <m:r>
                      <a:rPr lang="en-US" i="1" dirty="0" smtClean="0">
                        <a:latin typeface="Cambria Math" panose="02040503050406030204" pitchFamily="18" charset="0"/>
                      </a:rPr>
                      <m:t> </m:t>
                    </m:r>
                    <m:r>
                      <a:rPr lang="en-US" i="1" dirty="0" smtClean="0">
                        <a:latin typeface="Cambria Math" panose="02040503050406030204" pitchFamily="18" charset="0"/>
                      </a:rPr>
                      <m:t>𝑅</m:t>
                    </m:r>
                  </m:oMath>
                </a14:m>
                <a:endParaRPr lang="en-US" dirty="0"/>
              </a:p>
              <a:p>
                <a:endParaRPr lang="en-US" sz="2000" b="1" dirty="0">
                  <a:solidFill>
                    <a:schemeClr val="tx2"/>
                  </a:solidFill>
                  <a:latin typeface="Times New Roman" pitchFamily="18" charset="0"/>
                  <a:cs typeface="Times New Roman" pitchFamily="18" charset="0"/>
                </a:endParaRPr>
              </a:p>
            </p:txBody>
          </p:sp>
        </mc:Choice>
        <mc:Fallback xmlns="">
          <p:sp>
            <p:nvSpPr>
              <p:cNvPr id="14" name="TextBox 8">
                <a:extLst>
                  <a:ext uri="{FF2B5EF4-FFF2-40B4-BE49-F238E27FC236}">
                    <a16:creationId xmlns:a16="http://schemas.microsoft.com/office/drawing/2014/main" id="{5E0E49AF-A33A-4CE4-9269-AA7280AB1AAC}"/>
                  </a:ext>
                </a:extLst>
              </p:cNvPr>
              <p:cNvSpPr txBox="1">
                <a:spLocks noRot="1" noChangeAspect="1" noMove="1" noResize="1" noEditPoints="1" noAdjustHandles="1" noChangeArrowheads="1" noChangeShapeType="1" noTextEdit="1"/>
              </p:cNvSpPr>
              <p:nvPr/>
            </p:nvSpPr>
            <p:spPr bwMode="auto">
              <a:xfrm>
                <a:off x="0" y="757612"/>
                <a:ext cx="9036050" cy="1421992"/>
              </a:xfrm>
              <a:prstGeom prst="rect">
                <a:avLst/>
              </a:prstGeom>
              <a:blipFill>
                <a:blip r:embed="rId4"/>
                <a:stretch>
                  <a:fillRect l="-675"/>
                </a:stretch>
              </a:blipFill>
              <a:ln w="9525">
                <a:noFill/>
                <a:miter lim="800000"/>
                <a:headEnd/>
                <a:tailEnd/>
              </a:ln>
            </p:spPr>
            <p:txBody>
              <a:bodyPr/>
              <a:lstStyle/>
              <a:p>
                <a:r>
                  <a:rPr lang="en-US">
                    <a:noFill/>
                  </a:rPr>
                  <a:t> </a:t>
                </a:r>
              </a:p>
            </p:txBody>
          </p:sp>
        </mc:Fallback>
      </mc:AlternateContent>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2" name="Picture 1">
            <a:extLst>
              <a:ext uri="{FF2B5EF4-FFF2-40B4-BE49-F238E27FC236}">
                <a16:creationId xmlns:a16="http://schemas.microsoft.com/office/drawing/2014/main" id="{BBCD6DFA-B15A-A181-8009-47BA8EE75793}"/>
              </a:ext>
            </a:extLst>
          </p:cNvPr>
          <p:cNvPicPr>
            <a:picLocks noChangeAspect="1"/>
          </p:cNvPicPr>
          <p:nvPr/>
        </p:nvPicPr>
        <p:blipFill>
          <a:blip r:embed="rId5"/>
          <a:stretch>
            <a:fillRect/>
          </a:stretch>
        </p:blipFill>
        <p:spPr>
          <a:xfrm>
            <a:off x="0" y="1826733"/>
            <a:ext cx="9144000" cy="909104"/>
          </a:xfrm>
          <a:prstGeom prst="rect">
            <a:avLst/>
          </a:prstGeom>
        </p:spPr>
      </p:pic>
      <p:pic>
        <p:nvPicPr>
          <p:cNvPr id="3" name="Picture 2">
            <a:extLst>
              <a:ext uri="{FF2B5EF4-FFF2-40B4-BE49-F238E27FC236}">
                <a16:creationId xmlns:a16="http://schemas.microsoft.com/office/drawing/2014/main" id="{B60FDAEA-18E5-1AE4-2C4B-DD064103596F}"/>
              </a:ext>
            </a:extLst>
          </p:cNvPr>
          <p:cNvPicPr>
            <a:picLocks noChangeAspect="1"/>
          </p:cNvPicPr>
          <p:nvPr/>
        </p:nvPicPr>
        <p:blipFill>
          <a:blip r:embed="rId6"/>
          <a:stretch>
            <a:fillRect/>
          </a:stretch>
        </p:blipFill>
        <p:spPr>
          <a:xfrm>
            <a:off x="-9526" y="3174207"/>
            <a:ext cx="9055101" cy="2284088"/>
          </a:xfrm>
          <a:prstGeom prst="rect">
            <a:avLst/>
          </a:prstGeom>
        </p:spPr>
      </p:pic>
    </p:spTree>
    <p:extLst>
      <p:ext uri="{BB962C8B-B14F-4D97-AF65-F5344CB8AC3E}">
        <p14:creationId xmlns:p14="http://schemas.microsoft.com/office/powerpoint/2010/main" val="38423148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23</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899" y="150448"/>
            <a:ext cx="753103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3.3. COMBINATORICS, ARRANGEMENT, PERMUTATION . </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57612"/>
            <a:ext cx="9036050" cy="1421992"/>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sz="2000" b="1" dirty="0">
                <a:solidFill>
                  <a:schemeClr val="tx2"/>
                </a:solidFill>
                <a:latin typeface="Times New Roman" pitchFamily="18" charset="0"/>
                <a:cs typeface="Times New Roman" pitchFamily="18" charset="0"/>
              </a:rPr>
              <a:t>3.3.4. Newton’s system</a:t>
            </a:r>
          </a:p>
          <a:p>
            <a:r>
              <a:rPr lang="en-US" dirty="0"/>
              <a:t>Exercises</a:t>
            </a:r>
          </a:p>
          <a:p>
            <a:endParaRPr lang="en-US" sz="2000" b="1" dirty="0">
              <a:solidFill>
                <a:schemeClr val="tx2"/>
              </a:solidFill>
              <a:latin typeface="Times New Roman" pitchFamily="18" charset="0"/>
              <a:cs typeface="Times New Roman" pitchFamily="18" charset="0"/>
            </a:endParaRPr>
          </a:p>
        </p:txBody>
      </p:sp>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603983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27</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899" y="150448"/>
            <a:ext cx="753103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3.4. CORRECTION AND BROAD ANALOGY COMBINATION</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57612"/>
            <a:ext cx="9036050" cy="5576976"/>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sz="2000" b="1" dirty="0">
                <a:solidFill>
                  <a:schemeClr val="tx2"/>
                </a:solidFill>
                <a:latin typeface="Times New Roman" pitchFamily="18" charset="0"/>
                <a:cs typeface="Times New Roman" pitchFamily="18" charset="0"/>
              </a:rPr>
              <a:t>3.4.1 R</a:t>
            </a:r>
            <a:r>
              <a:rPr lang="en-US" altLang="en-US" dirty="0"/>
              <a:t>ecursive</a:t>
            </a:r>
          </a:p>
          <a:p>
            <a:pPr algn="l"/>
            <a:r>
              <a:rPr lang="en-US" b="0" dirty="0"/>
              <a:t>A recursively defined function provides a function value for the </a:t>
            </a:r>
            <a:r>
              <a:rPr lang="en-US" b="0" dirty="0" err="1"/>
              <a:t>o</a:t>
            </a:r>
            <a:r>
              <a:rPr lang="en-US" b="0" baseline="30000" dirty="0" err="1"/>
              <a:t>th</a:t>
            </a:r>
            <a:r>
              <a:rPr lang="en-US" b="0" dirty="0"/>
              <a:t> term, then defines f(n) in terms of f(n – 1). Sometimes it requires the first k terms to be provided, then f(k + 1) is given in terms of f(1) through f(k). </a:t>
            </a:r>
          </a:p>
          <a:p>
            <a:pPr algn="l"/>
            <a:r>
              <a:rPr lang="en-US" b="0" dirty="0"/>
              <a:t>Example?</a:t>
            </a:r>
          </a:p>
          <a:p>
            <a:pPr marL="342900" indent="-342900" algn="l">
              <a:buFontTx/>
              <a:buChar char="-"/>
            </a:pPr>
            <a:r>
              <a:rPr lang="en-US" b="0" dirty="0"/>
              <a:t>Fibonacci</a:t>
            </a:r>
          </a:p>
          <a:p>
            <a:pPr marL="342900" indent="-342900" algn="l">
              <a:buFontTx/>
              <a:buChar char="-"/>
            </a:pPr>
            <a:r>
              <a:rPr lang="en-US" altLang="en-US" b="0" dirty="0"/>
              <a:t>Arithmetic progression </a:t>
            </a:r>
          </a:p>
          <a:p>
            <a:pPr marL="342900" indent="-342900" algn="l">
              <a:buFontTx/>
              <a:buChar char="-"/>
            </a:pPr>
            <a:r>
              <a:rPr lang="en-US" b="0" dirty="0"/>
              <a:t>Geometric progression</a:t>
            </a:r>
          </a:p>
          <a:p>
            <a:pPr algn="l"/>
            <a:r>
              <a:rPr lang="en-US" dirty="0"/>
              <a:t>How to define?</a:t>
            </a:r>
          </a:p>
          <a:p>
            <a:pPr algn="l"/>
            <a:r>
              <a:rPr lang="en-US" dirty="0"/>
              <a:t>Functions of this type are called well defined, which is to say that its values are found with no ambiguity</a:t>
            </a:r>
            <a:endParaRPr lang="en-US" b="0" dirty="0"/>
          </a:p>
          <a:p>
            <a:pPr algn="l">
              <a:buFont typeface="+mj-lt"/>
              <a:buAutoNum type="arabicPeriod"/>
            </a:pPr>
            <a:endParaRPr lang="en-US" b="0" dirty="0"/>
          </a:p>
        </p:txBody>
      </p:sp>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id="{149F75EE-DEE8-02A4-8ECD-825B8A1E4A8E}"/>
              </a:ext>
            </a:extLst>
          </p:cNvPr>
          <p:cNvSpPr>
            <a:spLocks noChangeArrowheads="1"/>
          </p:cNvSpPr>
          <p:nvPr/>
        </p:nvSpPr>
        <p:spPr bwMode="auto">
          <a:xfrm>
            <a:off x="0" y="195253"/>
            <a:ext cx="17634" cy="66693"/>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 name="Rectangle 1">
            <a:extLst>
              <a:ext uri="{FF2B5EF4-FFF2-40B4-BE49-F238E27FC236}">
                <a16:creationId xmlns:a16="http://schemas.microsoft.com/office/drawing/2014/main" id="{45C00D17-5EC3-BD45-BB36-AB441DDD87B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1155022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28</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899" y="150448"/>
            <a:ext cx="753103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3.4. CORRECTION AND BROAD ANALOGY COMBINATION</a:t>
            </a:r>
          </a:p>
        </p:txBody>
      </p:sp>
      <mc:AlternateContent xmlns:mc="http://schemas.openxmlformats.org/markup-compatibility/2006">
        <mc:Choice xmlns:a14="http://schemas.microsoft.com/office/drawing/2010/main" Requires="a14">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57612"/>
                <a:ext cx="9036050" cy="2431050"/>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dirty="0"/>
                  <a:t>3.4.2. Combinatoric repeats </a:t>
                </a:r>
              </a:p>
              <a:p>
                <a:r>
                  <a:rPr lang="en-US" b="0" dirty="0"/>
                  <a:t> Combination is a selection of k items from a set n items that has distinct members, such that the order of selection does not matter</a:t>
                </a:r>
                <a:endParaRPr lang="en-US" dirty="0"/>
              </a:p>
              <a:p>
                <a:pPr algn="l"/>
                <a:r>
                  <a:rPr lang="en-US" dirty="0"/>
                  <a:t>Combinatoric repeats  -k- items without biding</a:t>
                </a:r>
              </a:p>
              <a:p>
                <a:pPr/>
                <a14:m>
                  <m:oMathPara xmlns:m="http://schemas.openxmlformats.org/officeDocument/2006/math">
                    <m:oMathParaPr>
                      <m:jc m:val="centerGroup"/>
                    </m:oMathParaPr>
                    <m:oMath xmlns:m="http://schemas.openxmlformats.org/officeDocument/2006/math">
                      <m:sSubSup>
                        <m:sSubSupPr>
                          <m:ctrlPr>
                            <a:rPr lang="en-US" b="0" i="1" dirty="0" smtClean="0">
                              <a:latin typeface="Cambria Math" panose="02040503050406030204" pitchFamily="18" charset="0"/>
                            </a:rPr>
                          </m:ctrlPr>
                        </m:sSubSupPr>
                        <m:e>
                          <m:r>
                            <a:rPr lang="en-US" b="0" i="1" dirty="0" smtClean="0">
                              <a:latin typeface="Cambria Math" panose="02040503050406030204" pitchFamily="18" charset="0"/>
                            </a:rPr>
                            <m:t>𝐶</m:t>
                          </m:r>
                        </m:e>
                        <m:sub>
                          <m:r>
                            <a:rPr lang="en-US" b="0" i="1" dirty="0" smtClean="0">
                              <a:latin typeface="Cambria Math" panose="02040503050406030204" pitchFamily="18" charset="0"/>
                            </a:rPr>
                            <m:t>𝑛</m:t>
                          </m:r>
                          <m:r>
                            <a:rPr lang="en-US" b="0" i="1" dirty="0" smtClean="0">
                              <a:latin typeface="Cambria Math" panose="02040503050406030204" pitchFamily="18" charset="0"/>
                            </a:rPr>
                            <m:t>+</m:t>
                          </m:r>
                          <m:r>
                            <a:rPr lang="en-US" b="0" i="1" dirty="0" smtClean="0">
                              <a:latin typeface="Cambria Math" panose="02040503050406030204" pitchFamily="18" charset="0"/>
                            </a:rPr>
                            <m:t>𝑘</m:t>
                          </m:r>
                          <m:r>
                            <a:rPr lang="en-US" b="0" i="1" dirty="0" smtClean="0">
                              <a:latin typeface="Cambria Math" panose="02040503050406030204" pitchFamily="18" charset="0"/>
                            </a:rPr>
                            <m:t>−1</m:t>
                          </m:r>
                        </m:sub>
                        <m:sup>
                          <m:r>
                            <a:rPr lang="en-US" b="0" i="1" dirty="0" smtClean="0">
                              <a:latin typeface="Cambria Math" panose="02040503050406030204" pitchFamily="18" charset="0"/>
                            </a:rPr>
                            <m:t>𝑘</m:t>
                          </m:r>
                        </m:sup>
                      </m:sSubSup>
                    </m:oMath>
                  </m:oMathPara>
                </a14:m>
                <a:endParaRPr lang="en-US" b="0" dirty="0"/>
              </a:p>
            </p:txBody>
          </p:sp>
        </mc:Choice>
        <mc:Fallback>
          <p:sp>
            <p:nvSpPr>
              <p:cNvPr id="14" name="TextBox 8">
                <a:extLst>
                  <a:ext uri="{FF2B5EF4-FFF2-40B4-BE49-F238E27FC236}">
                    <a16:creationId xmlns:a16="http://schemas.microsoft.com/office/drawing/2014/main" id="{5E0E49AF-A33A-4CE4-9269-AA7280AB1AAC}"/>
                  </a:ext>
                </a:extLst>
              </p:cNvPr>
              <p:cNvSpPr txBox="1">
                <a:spLocks noRot="1" noChangeAspect="1" noMove="1" noResize="1" noEditPoints="1" noAdjustHandles="1" noChangeArrowheads="1" noChangeShapeType="1" noTextEdit="1"/>
              </p:cNvSpPr>
              <p:nvPr/>
            </p:nvSpPr>
            <p:spPr bwMode="auto">
              <a:xfrm>
                <a:off x="0" y="757612"/>
                <a:ext cx="9036050" cy="2431050"/>
              </a:xfrm>
              <a:prstGeom prst="rect">
                <a:avLst/>
              </a:prstGeom>
              <a:blipFill>
                <a:blip r:embed="rId4"/>
                <a:stretch>
                  <a:fillRect l="-675" r="-675"/>
                </a:stretch>
              </a:blipFill>
              <a:ln w="9525">
                <a:noFill/>
                <a:miter lim="800000"/>
                <a:headEnd/>
                <a:tailEnd/>
              </a:ln>
            </p:spPr>
            <p:txBody>
              <a:bodyPr/>
              <a:lstStyle/>
              <a:p>
                <a:r>
                  <a:rPr lang="en-US">
                    <a:noFill/>
                  </a:rPr>
                  <a:t> </a:t>
                </a:r>
              </a:p>
            </p:txBody>
          </p:sp>
        </mc:Fallback>
      </mc:AlternateContent>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id="{149F75EE-DEE8-02A4-8ECD-825B8A1E4A8E}"/>
              </a:ext>
            </a:extLst>
          </p:cNvPr>
          <p:cNvSpPr>
            <a:spLocks noChangeArrowheads="1"/>
          </p:cNvSpPr>
          <p:nvPr/>
        </p:nvSpPr>
        <p:spPr bwMode="auto">
          <a:xfrm>
            <a:off x="0" y="195253"/>
            <a:ext cx="17634" cy="66693"/>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 name="Rectangle 1">
            <a:extLst>
              <a:ext uri="{FF2B5EF4-FFF2-40B4-BE49-F238E27FC236}">
                <a16:creationId xmlns:a16="http://schemas.microsoft.com/office/drawing/2014/main" id="{45C00D17-5EC3-BD45-BB36-AB441DDD87B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503611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28</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899" y="150448"/>
            <a:ext cx="753103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3.4. CORRECTION AND BROAD ANALOGY COMBINATION</a:t>
            </a:r>
          </a:p>
        </p:txBody>
      </p:sp>
      <mc:AlternateContent xmlns:mc="http://schemas.openxmlformats.org/markup-compatibility/2006">
        <mc:Choice xmlns:a14="http://schemas.microsoft.com/office/drawing/2010/main" Requires="a14">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57612"/>
                <a:ext cx="9036050" cy="2431050"/>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dirty="0"/>
                  <a:t>3.4.2. Combinatoric repeats </a:t>
                </a:r>
              </a:p>
              <a:p>
                <a:r>
                  <a:rPr lang="en-US" b="0" dirty="0"/>
                  <a:t> Combination is a selection of k items from a set n items that has distinct members, such that the order of selection does not matter</a:t>
                </a:r>
                <a:endParaRPr lang="en-US" dirty="0"/>
              </a:p>
              <a:p>
                <a:pPr algn="l"/>
                <a:r>
                  <a:rPr lang="en-US" dirty="0"/>
                  <a:t>Combinatoric repeats  -k- items without biding</a:t>
                </a:r>
              </a:p>
              <a:p>
                <a:pPr/>
                <a14:m>
                  <m:oMathPara xmlns:m="http://schemas.openxmlformats.org/officeDocument/2006/math">
                    <m:oMathParaPr>
                      <m:jc m:val="centerGroup"/>
                    </m:oMathParaPr>
                    <m:oMath xmlns:m="http://schemas.openxmlformats.org/officeDocument/2006/math">
                      <m:sSubSup>
                        <m:sSubSupPr>
                          <m:ctrlPr>
                            <a:rPr lang="en-US" b="0" i="1" dirty="0" smtClean="0">
                              <a:latin typeface="Cambria Math" panose="02040503050406030204" pitchFamily="18" charset="0"/>
                            </a:rPr>
                          </m:ctrlPr>
                        </m:sSubSupPr>
                        <m:e>
                          <m:r>
                            <a:rPr lang="en-US" b="0" i="1" dirty="0" smtClean="0">
                              <a:latin typeface="Cambria Math" panose="02040503050406030204" pitchFamily="18" charset="0"/>
                            </a:rPr>
                            <m:t>𝐶</m:t>
                          </m:r>
                        </m:e>
                        <m:sub>
                          <m:r>
                            <a:rPr lang="en-US" b="0" i="1" dirty="0" smtClean="0">
                              <a:latin typeface="Cambria Math" panose="02040503050406030204" pitchFamily="18" charset="0"/>
                            </a:rPr>
                            <m:t>𝑛</m:t>
                          </m:r>
                          <m:r>
                            <a:rPr lang="en-US" b="0" i="1" dirty="0" smtClean="0">
                              <a:latin typeface="Cambria Math" panose="02040503050406030204" pitchFamily="18" charset="0"/>
                            </a:rPr>
                            <m:t>+</m:t>
                          </m:r>
                          <m:r>
                            <a:rPr lang="en-US" b="0" i="1" dirty="0" smtClean="0">
                              <a:latin typeface="Cambria Math" panose="02040503050406030204" pitchFamily="18" charset="0"/>
                            </a:rPr>
                            <m:t>𝑘</m:t>
                          </m:r>
                          <m:r>
                            <a:rPr lang="en-US" b="0" i="1" dirty="0" smtClean="0">
                              <a:latin typeface="Cambria Math" panose="02040503050406030204" pitchFamily="18" charset="0"/>
                            </a:rPr>
                            <m:t>−1</m:t>
                          </m:r>
                        </m:sub>
                        <m:sup>
                          <m:r>
                            <a:rPr lang="en-US" b="0" i="1" dirty="0" smtClean="0">
                              <a:latin typeface="Cambria Math" panose="02040503050406030204" pitchFamily="18" charset="0"/>
                            </a:rPr>
                            <m:t>𝑘</m:t>
                          </m:r>
                        </m:sup>
                      </m:sSubSup>
                    </m:oMath>
                  </m:oMathPara>
                </a14:m>
                <a:endParaRPr lang="en-US" b="0" dirty="0"/>
              </a:p>
            </p:txBody>
          </p:sp>
        </mc:Choice>
        <mc:Fallback>
          <p:sp>
            <p:nvSpPr>
              <p:cNvPr id="14" name="TextBox 8">
                <a:extLst>
                  <a:ext uri="{FF2B5EF4-FFF2-40B4-BE49-F238E27FC236}">
                    <a16:creationId xmlns:a16="http://schemas.microsoft.com/office/drawing/2014/main" id="{5E0E49AF-A33A-4CE4-9269-AA7280AB1AAC}"/>
                  </a:ext>
                </a:extLst>
              </p:cNvPr>
              <p:cNvSpPr txBox="1">
                <a:spLocks noRot="1" noChangeAspect="1" noMove="1" noResize="1" noEditPoints="1" noAdjustHandles="1" noChangeArrowheads="1" noChangeShapeType="1" noTextEdit="1"/>
              </p:cNvSpPr>
              <p:nvPr/>
            </p:nvSpPr>
            <p:spPr bwMode="auto">
              <a:xfrm>
                <a:off x="0" y="757612"/>
                <a:ext cx="9036050" cy="2431050"/>
              </a:xfrm>
              <a:prstGeom prst="rect">
                <a:avLst/>
              </a:prstGeom>
              <a:blipFill>
                <a:blip r:embed="rId4"/>
                <a:stretch>
                  <a:fillRect l="-675" r="-675"/>
                </a:stretch>
              </a:blipFill>
              <a:ln w="9525">
                <a:noFill/>
                <a:miter lim="800000"/>
                <a:headEnd/>
                <a:tailEnd/>
              </a:ln>
            </p:spPr>
            <p:txBody>
              <a:bodyPr/>
              <a:lstStyle/>
              <a:p>
                <a:r>
                  <a:rPr lang="en-US">
                    <a:noFill/>
                  </a:rPr>
                  <a:t> </a:t>
                </a:r>
              </a:p>
            </p:txBody>
          </p:sp>
        </mc:Fallback>
      </mc:AlternateContent>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id="{149F75EE-DEE8-02A4-8ECD-825B8A1E4A8E}"/>
              </a:ext>
            </a:extLst>
          </p:cNvPr>
          <p:cNvSpPr>
            <a:spLocks noChangeArrowheads="1"/>
          </p:cNvSpPr>
          <p:nvPr/>
        </p:nvSpPr>
        <p:spPr bwMode="auto">
          <a:xfrm>
            <a:off x="0" y="195253"/>
            <a:ext cx="17634" cy="66693"/>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 name="Rectangle 1">
            <a:extLst>
              <a:ext uri="{FF2B5EF4-FFF2-40B4-BE49-F238E27FC236}">
                <a16:creationId xmlns:a16="http://schemas.microsoft.com/office/drawing/2014/main" id="{45C00D17-5EC3-BD45-BB36-AB441DDD87B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74630412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28</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899" y="150448"/>
            <a:ext cx="753103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3.4. CORRECTION AND BROAD ANALOGY COMBINATION</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57612"/>
            <a:ext cx="9036050" cy="2806987"/>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dirty="0"/>
              <a:t>3.4.3 Loop permutation </a:t>
            </a:r>
          </a:p>
          <a:p>
            <a:pPr algn="l"/>
            <a:r>
              <a:rPr lang="en-US" b="0" dirty="0"/>
              <a:t>  Given n elements, including n</a:t>
            </a:r>
            <a:r>
              <a:rPr lang="en-US" b="0" baseline="-25000" dirty="0"/>
              <a:t>1</a:t>
            </a:r>
            <a:r>
              <a:rPr lang="en-US" b="0" dirty="0"/>
              <a:t> elements x</a:t>
            </a:r>
            <a:r>
              <a:rPr lang="en-US" b="0" baseline="-25000" dirty="0"/>
              <a:t>1</a:t>
            </a:r>
            <a:r>
              <a:rPr lang="en-US" b="0" dirty="0"/>
              <a:t>, n</a:t>
            </a:r>
            <a:r>
              <a:rPr lang="en-US" b="0" baseline="-25000" dirty="0"/>
              <a:t>2</a:t>
            </a:r>
            <a:r>
              <a:rPr lang="en-US" b="0" dirty="0"/>
              <a:t> elements x</a:t>
            </a:r>
            <a:r>
              <a:rPr lang="en-US" b="0" baseline="-25000" dirty="0"/>
              <a:t>2</a:t>
            </a:r>
            <a:r>
              <a:rPr lang="en-US" b="0" dirty="0"/>
              <a:t>, ..., </a:t>
            </a:r>
            <a:r>
              <a:rPr lang="en-US" b="0" dirty="0" err="1"/>
              <a:t>n</a:t>
            </a:r>
            <a:r>
              <a:rPr lang="en-US" b="0" baseline="-25000" dirty="0" err="1"/>
              <a:t>k</a:t>
            </a:r>
            <a:r>
              <a:rPr lang="en-US" b="0" dirty="0"/>
              <a:t> elements </a:t>
            </a:r>
            <a:r>
              <a:rPr lang="en-US" b="0" dirty="0" err="1"/>
              <a:t>x</a:t>
            </a:r>
            <a:r>
              <a:rPr lang="en-US" b="0" baseline="-25000" dirty="0" err="1"/>
              <a:t>k</a:t>
            </a:r>
            <a:r>
              <a:rPr lang="en-US" b="0" dirty="0"/>
              <a:t> (where n</a:t>
            </a:r>
            <a:r>
              <a:rPr lang="en-US" b="0" baseline="-25000" dirty="0"/>
              <a:t>1</a:t>
            </a:r>
            <a:r>
              <a:rPr lang="en-US" b="0" dirty="0"/>
              <a:t> + n</a:t>
            </a:r>
            <a:r>
              <a:rPr lang="en-US" b="0" baseline="-25000" dirty="0"/>
              <a:t>2</a:t>
            </a:r>
            <a:r>
              <a:rPr lang="en-US" b="0" dirty="0"/>
              <a:t> + ... + </a:t>
            </a:r>
            <a:r>
              <a:rPr lang="en-US" b="0" dirty="0" err="1"/>
              <a:t>n</a:t>
            </a:r>
            <a:r>
              <a:rPr lang="en-US" b="0" baseline="-25000" dirty="0" err="1"/>
              <a:t>k</a:t>
            </a:r>
            <a:r>
              <a:rPr lang="en-US" b="0" dirty="0"/>
              <a:t> = n). Each arrangement of these n elements into n positions is called a permutation of the given n elements.</a:t>
            </a:r>
          </a:p>
          <a:p>
            <a:pPr algn="l"/>
            <a:r>
              <a:rPr lang="en-US" b="0" dirty="0"/>
              <a:t>The total number of all permutations of the n elements is </a:t>
            </a:r>
            <a:r>
              <a:rPr lang="en-US" dirty="0"/>
              <a:t>Loop permutation</a:t>
            </a:r>
            <a:r>
              <a:rPr lang="en-US" b="0" dirty="0"/>
              <a:t> </a:t>
            </a:r>
          </a:p>
          <a:p>
            <a:pPr/>
            <a:endParaRPr lang="en-US" b="0" dirty="0"/>
          </a:p>
        </p:txBody>
      </p:sp>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id="{149F75EE-DEE8-02A4-8ECD-825B8A1E4A8E}"/>
              </a:ext>
            </a:extLst>
          </p:cNvPr>
          <p:cNvSpPr>
            <a:spLocks noChangeArrowheads="1"/>
          </p:cNvSpPr>
          <p:nvPr/>
        </p:nvSpPr>
        <p:spPr bwMode="auto">
          <a:xfrm>
            <a:off x="0" y="195253"/>
            <a:ext cx="17634" cy="66693"/>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 name="Rectangle 1">
            <a:extLst>
              <a:ext uri="{FF2B5EF4-FFF2-40B4-BE49-F238E27FC236}">
                <a16:creationId xmlns:a16="http://schemas.microsoft.com/office/drawing/2014/main" id="{45C00D17-5EC3-BD45-BB36-AB441DDD87B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pic>
        <p:nvPicPr>
          <p:cNvPr id="7" name="Picture 6">
            <a:extLst>
              <a:ext uri="{FF2B5EF4-FFF2-40B4-BE49-F238E27FC236}">
                <a16:creationId xmlns:a16="http://schemas.microsoft.com/office/drawing/2014/main" id="{52C02A19-4FDA-29E6-2043-C79A5F1808D4}"/>
              </a:ext>
            </a:extLst>
          </p:cNvPr>
          <p:cNvPicPr>
            <a:picLocks noChangeAspect="1"/>
          </p:cNvPicPr>
          <p:nvPr/>
        </p:nvPicPr>
        <p:blipFill rotWithShape="1">
          <a:blip r:embed="rId4"/>
          <a:srcRect t="8973"/>
          <a:stretch/>
        </p:blipFill>
        <p:spPr>
          <a:xfrm>
            <a:off x="2108200" y="3657600"/>
            <a:ext cx="4819650" cy="910376"/>
          </a:xfrm>
          <a:prstGeom prst="rect">
            <a:avLst/>
          </a:prstGeom>
        </p:spPr>
      </p:pic>
    </p:spTree>
    <p:extLst>
      <p:ext uri="{BB962C8B-B14F-4D97-AF65-F5344CB8AC3E}">
        <p14:creationId xmlns:p14="http://schemas.microsoft.com/office/powerpoint/2010/main" val="6753831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6" name="Rectangle 5"/>
          <p:cNvSpPr/>
          <p:nvPr/>
        </p:nvSpPr>
        <p:spPr>
          <a:xfrm>
            <a:off x="4415051" y="6501530"/>
            <a:ext cx="415498" cy="369332"/>
          </a:xfrm>
          <a:prstGeom prst="rect">
            <a:avLst/>
          </a:prstGeom>
        </p:spPr>
        <p:txBody>
          <a:bodyPr wrap="none">
            <a:spAutoFit/>
          </a:bodyPr>
          <a:lstStyle/>
          <a:p>
            <a:r>
              <a:rPr lang="en-US" dirty="0">
                <a:solidFill>
                  <a:schemeClr val="bg1"/>
                </a:solidFill>
                <a:latin typeface="Times New Roman" pitchFamily="18" charset="0"/>
                <a:cs typeface="Times New Roman" pitchFamily="18" charset="0"/>
              </a:rPr>
              <a:t>28</a:t>
            </a:r>
            <a:endParaRPr lang="en-US" dirty="0"/>
          </a:p>
        </p:txBody>
      </p:sp>
      <p:sp>
        <p:nvSpPr>
          <p:cNvPr id="11" name="Rectangle 5">
            <a:extLst>
              <a:ext uri="{FF2B5EF4-FFF2-40B4-BE49-F238E27FC236}">
                <a16:creationId xmlns:a16="http://schemas.microsoft.com/office/drawing/2014/main" id="{B25B3EC8-88AF-46E9-BF6A-1D48C03F6B72}"/>
              </a:ext>
            </a:extLst>
          </p:cNvPr>
          <p:cNvSpPr>
            <a:spLocks noChangeArrowheads="1"/>
          </p:cNvSpPr>
          <p:nvPr/>
        </p:nvSpPr>
        <p:spPr bwMode="auto">
          <a:xfrm>
            <a:off x="88899" y="150448"/>
            <a:ext cx="7531035"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342900" indent="-342900" eaLnBrk="0" hangingPunct="0">
              <a:defRPr kumimoji="1">
                <a:solidFill>
                  <a:schemeClr val="tx1"/>
                </a:solidFill>
                <a:latin typeface="굴림" panose="020B0600000101010101" pitchFamily="34" charset="-127"/>
                <a:ea typeface="굴림" panose="020B0600000101010101" pitchFamily="34" charset="-127"/>
              </a:defRPr>
            </a:lvl1pPr>
            <a:lvl2pPr marL="742950" indent="-285750" eaLnBrk="0" hangingPunct="0">
              <a:defRPr kumimoji="1">
                <a:solidFill>
                  <a:schemeClr val="tx1"/>
                </a:solidFill>
                <a:latin typeface="굴림" panose="020B0600000101010101" pitchFamily="34" charset="-127"/>
                <a:ea typeface="굴림" panose="020B0600000101010101" pitchFamily="34" charset="-127"/>
              </a:defRPr>
            </a:lvl2pPr>
            <a:lvl3pPr marL="1143000" indent="-228600" eaLnBrk="0" hangingPunct="0">
              <a:defRPr kumimoji="1">
                <a:solidFill>
                  <a:schemeClr val="tx1"/>
                </a:solidFill>
                <a:latin typeface="굴림" panose="020B0600000101010101" pitchFamily="34" charset="-127"/>
                <a:ea typeface="굴림" panose="020B0600000101010101" pitchFamily="34" charset="-127"/>
              </a:defRPr>
            </a:lvl3pPr>
            <a:lvl4pPr marL="1600200" indent="-228600" eaLnBrk="0" hangingPunct="0">
              <a:defRPr kumimoji="1">
                <a:solidFill>
                  <a:schemeClr val="tx1"/>
                </a:solidFill>
                <a:latin typeface="굴림" panose="020B0600000101010101" pitchFamily="34" charset="-127"/>
                <a:ea typeface="굴림" panose="020B0600000101010101" pitchFamily="34" charset="-127"/>
              </a:defRPr>
            </a:lvl4pPr>
            <a:lvl5pPr marL="2057400" indent="-228600" eaLnBrk="0" hangingPunct="0">
              <a:defRPr kumimoji="1">
                <a:solidFill>
                  <a:schemeClr val="tx1"/>
                </a:solidFill>
                <a:latin typeface="굴림" panose="020B0600000101010101" pitchFamily="34" charset="-127"/>
                <a:ea typeface="굴림" panose="020B0600000101010101" pitchFamily="34" charset="-127"/>
              </a:defRPr>
            </a:lvl5pPr>
            <a:lvl6pPr marL="25146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latinLnBrk="1"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1" hangingPunct="1">
              <a:spcBef>
                <a:spcPct val="50000"/>
              </a:spcBef>
            </a:pPr>
            <a:r>
              <a:rPr lang="en-US" sz="2000" b="1" dirty="0">
                <a:solidFill>
                  <a:schemeClr val="bg1"/>
                </a:solidFill>
                <a:latin typeface="Times New Roman" panose="02020603050405020304" pitchFamily="18" charset="0"/>
                <a:ea typeface="HY견고딕" panose="02020500000000000000" pitchFamily="18" charset="-127"/>
                <a:cs typeface="Times New Roman" panose="02020603050405020304" pitchFamily="18" charset="0"/>
              </a:rPr>
              <a:t>3.4. CORRECTION AND BROAD ANALOGY COMBINATION</a:t>
            </a:r>
          </a:p>
        </p:txBody>
      </p:sp>
      <p:sp>
        <p:nvSpPr>
          <p:cNvPr id="14" name="TextBox 8">
            <a:extLst>
              <a:ext uri="{FF2B5EF4-FFF2-40B4-BE49-F238E27FC236}">
                <a16:creationId xmlns:a16="http://schemas.microsoft.com/office/drawing/2014/main" id="{5E0E49AF-A33A-4CE4-9269-AA7280AB1AAC}"/>
              </a:ext>
            </a:extLst>
          </p:cNvPr>
          <p:cNvSpPr txBox="1">
            <a:spLocks noChangeArrowheads="1"/>
          </p:cNvSpPr>
          <p:nvPr/>
        </p:nvSpPr>
        <p:spPr bwMode="auto">
          <a:xfrm>
            <a:off x="0" y="757612"/>
            <a:ext cx="9036050" cy="3268652"/>
          </a:xfrm>
          <a:prstGeom prst="rect">
            <a:avLst/>
          </a:prstGeom>
          <a:noFill/>
          <a:ln w="9525">
            <a:noFill/>
            <a:miter lim="800000"/>
            <a:headEnd/>
            <a:tailEnd/>
          </a:ln>
        </p:spPr>
        <p:txBody>
          <a:bodyPr wrap="square">
            <a:spAutoFit/>
          </a:bodyPr>
          <a:lstStyle>
            <a:defPPr>
              <a:defRPr lang="en-US"/>
            </a:defPPr>
            <a:lvl1pPr algn="just">
              <a:lnSpc>
                <a:spcPct val="150000"/>
              </a:lnSpc>
              <a:defRPr sz="2000" b="1">
                <a:solidFill>
                  <a:schemeClr val="tx2"/>
                </a:solidFill>
                <a:latin typeface="Times New Roman" pitchFamily="18" charset="0"/>
                <a:cs typeface="Times New Roman" pitchFamily="18" charset="0"/>
              </a:defRPr>
            </a:lvl1pPr>
          </a:lstStyle>
          <a:p>
            <a:r>
              <a:rPr lang="en-US" dirty="0"/>
              <a:t>3.4.3 Loop permutation </a:t>
            </a:r>
          </a:p>
          <a:p>
            <a:pPr algn="l"/>
            <a:r>
              <a:rPr lang="en-US" b="0" dirty="0"/>
              <a:t>Example</a:t>
            </a:r>
          </a:p>
          <a:p>
            <a:pPr marL="342900" indent="-342900" algn="l">
              <a:buFont typeface="Arial" panose="020B0604020202020204" pitchFamily="34" charset="0"/>
              <a:buChar char="•"/>
            </a:pPr>
            <a:r>
              <a:rPr lang="en-US" b="0" dirty="0"/>
              <a:t>From the set X = {1, 2, 3, 4, 5, 6, 7, 8}, how many natural numbers with 11 digits can be formed such that the digit 1 appears 4 times and the other digits appear only once?</a:t>
            </a:r>
          </a:p>
          <a:p>
            <a:pPr algn="l"/>
            <a:r>
              <a:rPr lang="en-US" b="0" dirty="0"/>
              <a:t>Exercises</a:t>
            </a:r>
          </a:p>
          <a:p>
            <a:pPr marL="457200" indent="-457200" algn="l">
              <a:buAutoNum type="arabicPeriod"/>
            </a:pPr>
            <a:endParaRPr lang="en-US" b="0" dirty="0"/>
          </a:p>
        </p:txBody>
      </p:sp>
      <p:sp>
        <p:nvSpPr>
          <p:cNvPr id="5" name="Rectangle 2">
            <a:extLst>
              <a:ext uri="{FF2B5EF4-FFF2-40B4-BE49-F238E27FC236}">
                <a16:creationId xmlns:a16="http://schemas.microsoft.com/office/drawing/2014/main" id="{4C3732EC-468F-7421-9895-7D06114FE92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3" name="Rectangle 2">
            <a:extLst>
              <a:ext uri="{FF2B5EF4-FFF2-40B4-BE49-F238E27FC236}">
                <a16:creationId xmlns:a16="http://schemas.microsoft.com/office/drawing/2014/main" id="{149F75EE-DEE8-02A4-8ECD-825B8A1E4A8E}"/>
              </a:ext>
            </a:extLst>
          </p:cNvPr>
          <p:cNvSpPr>
            <a:spLocks noChangeArrowheads="1"/>
          </p:cNvSpPr>
          <p:nvPr/>
        </p:nvSpPr>
        <p:spPr bwMode="auto">
          <a:xfrm>
            <a:off x="0" y="195253"/>
            <a:ext cx="17634" cy="66693"/>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600" b="0" i="0" u="none" strike="noStrike" cap="none" normalizeH="0" baseline="0" dirty="0">
                <a:ln>
                  <a:noFill/>
                </a:ln>
                <a:solidFill>
                  <a:schemeClr val="tx1"/>
                </a:solidFill>
                <a:effectLst/>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2" name="Rectangle 1">
            <a:extLst>
              <a:ext uri="{FF2B5EF4-FFF2-40B4-BE49-F238E27FC236}">
                <a16:creationId xmlns:a16="http://schemas.microsoft.com/office/drawing/2014/main" id="{45C00D17-5EC3-BD45-BB36-AB441DDD87BE}"/>
              </a:ext>
            </a:extLst>
          </p:cNvPr>
          <p:cNvSpPr>
            <a:spLocks noChangeArrowheads="1"/>
          </p:cNvSpPr>
          <p:nvPr/>
        </p:nvSpPr>
        <p:spPr bwMode="auto">
          <a:xfrm>
            <a:off x="0" y="102920"/>
            <a:ext cx="65" cy="251359"/>
          </a:xfrm>
          <a:prstGeom prst="rect">
            <a:avLst/>
          </a:prstGeom>
          <a:solidFill>
            <a:srgbClr val="F8F9FA"/>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12696" rIns="0" bIns="-12696"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86912800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descr="Untitled.png"/>
          <p:cNvPicPr>
            <a:picLocks noChangeAspect="1"/>
          </p:cNvPicPr>
          <p:nvPr/>
        </p:nvPicPr>
        <p:blipFill>
          <a:blip r:embed="rId3"/>
          <a:stretch>
            <a:fillRect/>
          </a:stretch>
        </p:blipFill>
        <p:spPr>
          <a:xfrm>
            <a:off x="0" y="857"/>
            <a:ext cx="9144000" cy="6857143"/>
          </a:xfrm>
          <a:prstGeom prst="rect">
            <a:avLst/>
          </a:prstGeom>
        </p:spPr>
      </p:pic>
      <p:sp>
        <p:nvSpPr>
          <p:cNvPr id="15" name="Title 1"/>
          <p:cNvSpPr txBox="1">
            <a:spLocks/>
          </p:cNvSpPr>
          <p:nvPr/>
        </p:nvSpPr>
        <p:spPr>
          <a:xfrm>
            <a:off x="528851" y="2450665"/>
            <a:ext cx="7772400" cy="685800"/>
          </a:xfrm>
          <a:prstGeom prst="rect">
            <a:avLst/>
          </a:prstGeom>
        </p:spPr>
        <p:txBody>
          <a:bodyPr vert="horz" lIns="91440" tIns="45720" rIns="91440" bIns="45720" rtlCol="0" anchor="ctr">
            <a:normAutofit/>
          </a:bodyPr>
          <a:lstStyle>
            <a:lvl1pPr algn="ctr" defTabSz="914400" rtl="0" eaLnBrk="1" latinLnBrk="0" hangingPunct="1">
              <a:spcBef>
                <a:spcPct val="0"/>
              </a:spcBef>
              <a:buNone/>
              <a:defRPr sz="4400" kern="1200">
                <a:solidFill>
                  <a:schemeClr val="tx1"/>
                </a:solidFill>
                <a:latin typeface="+mj-lt"/>
                <a:ea typeface="+mj-ea"/>
                <a:cs typeface="+mj-cs"/>
              </a:defRPr>
            </a:lvl1pPr>
          </a:lstStyle>
          <a:p>
            <a:r>
              <a:rPr lang="en-US" altLang="ko-KR" sz="3200" dirty="0">
                <a:solidFill>
                  <a:schemeClr val="tx2"/>
                </a:solidFill>
                <a:latin typeface="Times New Roman" panose="02020603050405020304" pitchFamily="18" charset="0"/>
                <a:ea typeface="굴림" pitchFamily="34" charset="-127"/>
                <a:cs typeface="Times New Roman" panose="02020603050405020304" pitchFamily="18" charset="0"/>
              </a:rPr>
              <a:t>THANK YOU!</a:t>
            </a:r>
          </a:p>
        </p:txBody>
      </p:sp>
      <p:sp>
        <p:nvSpPr>
          <p:cNvPr id="9" name="Rectangle 2">
            <a:extLst>
              <a:ext uri="{FF2B5EF4-FFF2-40B4-BE49-F238E27FC236}">
                <a16:creationId xmlns:a16="http://schemas.microsoft.com/office/drawing/2014/main" id="{6BE994F5-821C-499E-8BCE-89F9FB45EF56}"/>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116780786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51711</TotalTime>
  <Words>3753</Words>
  <Application>Microsoft Office PowerPoint</Application>
  <PresentationFormat>On-screen Show (4:3)</PresentationFormat>
  <Paragraphs>324</Paragraphs>
  <Slides>30</Slides>
  <Notes>30</Notes>
  <HiddenSlides>0</HiddenSlides>
  <MMClips>0</MMClips>
  <ScaleCrop>false</ScaleCrop>
  <HeadingPairs>
    <vt:vector size="8" baseType="variant">
      <vt:variant>
        <vt:lpstr>Fonts Used</vt:lpstr>
      </vt:variant>
      <vt:variant>
        <vt:i4>9</vt:i4>
      </vt:variant>
      <vt:variant>
        <vt:lpstr>Theme</vt:lpstr>
      </vt:variant>
      <vt:variant>
        <vt:i4>1</vt:i4>
      </vt:variant>
      <vt:variant>
        <vt:lpstr>Embedded OLE Servers</vt:lpstr>
      </vt:variant>
      <vt:variant>
        <vt:i4>1</vt:i4>
      </vt:variant>
      <vt:variant>
        <vt:lpstr>Slide Titles</vt:lpstr>
      </vt:variant>
      <vt:variant>
        <vt:i4>30</vt:i4>
      </vt:variant>
    </vt:vector>
  </HeadingPairs>
  <TitlesOfParts>
    <vt:vector size="41" baseType="lpstr">
      <vt:lpstr>Arial</vt:lpstr>
      <vt:lpstr>Arial</vt:lpstr>
      <vt:lpstr>Calibri</vt:lpstr>
      <vt:lpstr>Cambria Math</vt:lpstr>
      <vt:lpstr>Open Sans</vt:lpstr>
      <vt:lpstr>PT Serif</vt:lpstr>
      <vt:lpstr>Söhne</vt:lpstr>
      <vt:lpstr>Times New Roman</vt:lpstr>
      <vt:lpstr>Wingdings</vt:lpstr>
      <vt:lpstr>Office Theme</vt:lpstr>
      <vt:lpstr>Equation</vt:lpstr>
      <vt:lpstr>     </vt:lpstr>
      <vt:lpstr>     </vt:lpstr>
      <vt:lpstr>     </vt:lpstr>
      <vt:lpstr>     </vt:lpstr>
      <vt:lpstr>     </vt:lpstr>
      <vt:lpstr>     </vt:lpstr>
      <vt:lpstr>     </vt:lpstr>
      <vt:lpstr>     </vt:lpstr>
      <vt:lpstr>     </vt:lpstr>
      <vt:lpstr>     </vt:lpstr>
      <vt:lpstr>     </vt:lpstr>
      <vt:lpstr>     </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HNBach</dc:creator>
  <cp:lastModifiedBy>Nguyen Van Cuong (FE FPTU HCM)</cp:lastModifiedBy>
  <cp:revision>804</cp:revision>
  <cp:lastPrinted>2019-07-29T14:20:40Z</cp:lastPrinted>
  <dcterms:created xsi:type="dcterms:W3CDTF">2010-12-10T06:50:09Z</dcterms:created>
  <dcterms:modified xsi:type="dcterms:W3CDTF">2023-07-11T20:14:05Z</dcterms:modified>
</cp:coreProperties>
</file>